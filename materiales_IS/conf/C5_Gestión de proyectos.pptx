
<file path=[Content_Types].xml><?xml version="1.0" encoding="utf-8"?>
<Types xmlns="http://schemas.openxmlformats.org/package/2006/content-types">
  <Default Extension="png" ContentType="image/png"/>
  <Default Extension="jfif" ContentType="image/jpe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61"/>
  </p:notesMasterIdLst>
  <p:handoutMasterIdLst>
    <p:handoutMasterId r:id="rId62"/>
  </p:handoutMasterIdLst>
  <p:sldIdLst>
    <p:sldId id="446" r:id="rId2"/>
    <p:sldId id="258" r:id="rId3"/>
    <p:sldId id="389" r:id="rId4"/>
    <p:sldId id="390" r:id="rId5"/>
    <p:sldId id="391" r:id="rId6"/>
    <p:sldId id="393" r:id="rId7"/>
    <p:sldId id="264" r:id="rId8"/>
    <p:sldId id="277" r:id="rId9"/>
    <p:sldId id="395" r:id="rId10"/>
    <p:sldId id="273" r:id="rId11"/>
    <p:sldId id="681" r:id="rId12"/>
    <p:sldId id="682" r:id="rId13"/>
    <p:sldId id="396" r:id="rId14"/>
    <p:sldId id="685" r:id="rId15"/>
    <p:sldId id="405" r:id="rId16"/>
    <p:sldId id="397" r:id="rId17"/>
    <p:sldId id="368" r:id="rId18"/>
    <p:sldId id="399" r:id="rId19"/>
    <p:sldId id="401" r:id="rId20"/>
    <p:sldId id="400" r:id="rId21"/>
    <p:sldId id="398" r:id="rId22"/>
    <p:sldId id="402" r:id="rId23"/>
    <p:sldId id="679" r:id="rId24"/>
    <p:sldId id="683" r:id="rId25"/>
    <p:sldId id="412" r:id="rId26"/>
    <p:sldId id="678" r:id="rId27"/>
    <p:sldId id="416" r:id="rId28"/>
    <p:sldId id="417" r:id="rId29"/>
    <p:sldId id="415" r:id="rId30"/>
    <p:sldId id="418" r:id="rId31"/>
    <p:sldId id="420" r:id="rId32"/>
    <p:sldId id="421" r:id="rId33"/>
    <p:sldId id="422" r:id="rId34"/>
    <p:sldId id="423" r:id="rId35"/>
    <p:sldId id="424" r:id="rId36"/>
    <p:sldId id="425" r:id="rId37"/>
    <p:sldId id="293" r:id="rId38"/>
    <p:sldId id="447" r:id="rId39"/>
    <p:sldId id="448" r:id="rId40"/>
    <p:sldId id="450" r:id="rId41"/>
    <p:sldId id="457" r:id="rId42"/>
    <p:sldId id="458" r:id="rId43"/>
    <p:sldId id="469" r:id="rId44"/>
    <p:sldId id="470" r:id="rId45"/>
    <p:sldId id="471" r:id="rId46"/>
    <p:sldId id="472" r:id="rId47"/>
    <p:sldId id="473" r:id="rId48"/>
    <p:sldId id="686" r:id="rId49"/>
    <p:sldId id="474" r:id="rId50"/>
    <p:sldId id="687" r:id="rId51"/>
    <p:sldId id="475" r:id="rId52"/>
    <p:sldId id="688" r:id="rId53"/>
    <p:sldId id="476" r:id="rId54"/>
    <p:sldId id="478" r:id="rId55"/>
    <p:sldId id="480" r:id="rId56"/>
    <p:sldId id="479" r:id="rId57"/>
    <p:sldId id="676" r:id="rId58"/>
    <p:sldId id="520" r:id="rId59"/>
    <p:sldId id="684" r:id="rId6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acelys García Armenteros" initials="AG" lastIdx="1" clrIdx="0">
    <p:extLst>
      <p:ext uri="{19B8F6BF-5375-455C-9EA6-DF929625EA0E}">
        <p15:presenceInfo xmlns:p15="http://schemas.microsoft.com/office/powerpoint/2012/main" xmlns="" userId="393341743f7d7eb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233" autoAdjust="0"/>
  </p:normalViewPr>
  <p:slideViewPr>
    <p:cSldViewPr snapToGrid="0">
      <p:cViewPr varScale="1">
        <p:scale>
          <a:sx n="56" d="100"/>
          <a:sy n="56" d="100"/>
        </p:scale>
        <p:origin x="-1248" y="-96"/>
      </p:cViewPr>
      <p:guideLst>
        <p:guide orient="horz" pos="2160"/>
        <p:guide pos="3840"/>
      </p:guideLst>
    </p:cSldViewPr>
  </p:slideViewPr>
  <p:outlineViewPr>
    <p:cViewPr>
      <p:scale>
        <a:sx n="33" d="100"/>
        <a:sy n="33" d="100"/>
      </p:scale>
      <p:origin x="0" y="-3926"/>
    </p:cViewPr>
  </p:outlineViewPr>
  <p:notesTextViewPr>
    <p:cViewPr>
      <p:scale>
        <a:sx n="1" d="1"/>
        <a:sy n="1" d="1"/>
      </p:scale>
      <p:origin x="0" y="0"/>
    </p:cViewPr>
  </p:notesTextViewPr>
  <p:notesViewPr>
    <p:cSldViewPr snapToGrid="0" showGuides="1">
      <p:cViewPr varScale="1">
        <p:scale>
          <a:sx n="65" d="100"/>
          <a:sy n="65" d="100"/>
        </p:scale>
        <p:origin x="3154" y="3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C3D834-29A6-4C42-A763-E9A700022DD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B06D7D5-1FD6-451C-9775-0B3811917A9F}">
      <dgm:prSet phldrT="[Texto]" custT="1"/>
      <dgm:spPr/>
      <dgm:t>
        <a:bodyPr/>
        <a:lstStyle/>
        <a:p>
          <a:r>
            <a:rPr lang="es-ES_tradnl" sz="2100" b="1" dirty="0" err="1">
              <a:solidFill>
                <a:schemeClr val="tx1"/>
              </a:solidFill>
            </a:rPr>
            <a:t>Standish</a:t>
          </a:r>
          <a:r>
            <a:rPr lang="es-ES_tradnl" sz="2100" b="1" dirty="0">
              <a:solidFill>
                <a:schemeClr val="tx1"/>
              </a:solidFill>
            </a:rPr>
            <a:t> </a:t>
          </a:r>
          <a:r>
            <a:rPr lang="es-ES_tradnl" sz="2100" b="1" dirty="0" err="1">
              <a:solidFill>
                <a:schemeClr val="tx1"/>
              </a:solidFill>
            </a:rPr>
            <a:t>Group</a:t>
          </a:r>
          <a:endParaRPr lang="en-US" sz="2100" dirty="0">
            <a:solidFill>
              <a:schemeClr val="tx1"/>
            </a:solidFill>
          </a:endParaRPr>
        </a:p>
      </dgm:t>
    </dgm:pt>
    <dgm:pt modelId="{6A430F15-F86A-4597-80B0-FBF9521E2345}" type="parTrans" cxnId="{A91DA297-F92A-4984-A95E-2DE7DC520F22}">
      <dgm:prSet/>
      <dgm:spPr/>
      <dgm:t>
        <a:bodyPr/>
        <a:lstStyle/>
        <a:p>
          <a:endParaRPr lang="en-US" sz="2100"/>
        </a:p>
      </dgm:t>
    </dgm:pt>
    <dgm:pt modelId="{7BD8F7E0-8A2B-4B01-A118-2D4FEF1DCA9C}" type="sibTrans" cxnId="{A91DA297-F92A-4984-A95E-2DE7DC520F22}">
      <dgm:prSet/>
      <dgm:spPr/>
      <dgm:t>
        <a:bodyPr/>
        <a:lstStyle/>
        <a:p>
          <a:endParaRPr lang="en-US" sz="2100"/>
        </a:p>
      </dgm:t>
    </dgm:pt>
    <dgm:pt modelId="{0F866795-21DE-4A9D-A5BC-980D0506FDBD}">
      <dgm:prSet phldrT="[Texto]" custT="1"/>
      <dgm:spPr/>
      <dgm:t>
        <a:bodyPr/>
        <a:lstStyle/>
        <a:p>
          <a:r>
            <a:rPr lang="es-ES_tradnl" sz="2100" b="1" dirty="0">
              <a:solidFill>
                <a:schemeClr val="tx1"/>
              </a:solidFill>
            </a:rPr>
            <a:t>CHAOS </a:t>
          </a:r>
          <a:r>
            <a:rPr lang="es-ES_tradnl" sz="2100" b="1" dirty="0" err="1">
              <a:solidFill>
                <a:schemeClr val="tx1"/>
              </a:solidFill>
            </a:rPr>
            <a:t>Research</a:t>
          </a:r>
          <a:r>
            <a:rPr lang="es-ES_tradnl" sz="2100" b="1" dirty="0">
              <a:solidFill>
                <a:schemeClr val="tx1"/>
              </a:solidFill>
            </a:rPr>
            <a:t> </a:t>
          </a:r>
          <a:r>
            <a:rPr lang="es-ES_tradnl" sz="2100" b="1" dirty="0" err="1">
              <a:solidFill>
                <a:schemeClr val="tx1"/>
              </a:solidFill>
            </a:rPr>
            <a:t>Study</a:t>
          </a:r>
          <a:r>
            <a:rPr lang="es-ES_tradnl" sz="2100" b="1" dirty="0">
              <a:solidFill>
                <a:schemeClr val="tx1"/>
              </a:solidFill>
            </a:rPr>
            <a:t> (Reporte Chaos)</a:t>
          </a:r>
          <a:endParaRPr lang="en-US" sz="2100" dirty="0">
            <a:solidFill>
              <a:schemeClr val="tx1"/>
            </a:solidFill>
          </a:endParaRPr>
        </a:p>
      </dgm:t>
    </dgm:pt>
    <dgm:pt modelId="{B74E235B-8A7F-4D8D-A7A4-B7DEC06091F1}" type="parTrans" cxnId="{B7B188B0-CE10-46AF-8E2C-52466C83F6D1}">
      <dgm:prSet/>
      <dgm:spPr/>
      <dgm:t>
        <a:bodyPr/>
        <a:lstStyle/>
        <a:p>
          <a:endParaRPr lang="en-US" sz="2100"/>
        </a:p>
      </dgm:t>
    </dgm:pt>
    <dgm:pt modelId="{42025DF6-33D3-4F9C-8B61-96E1F403E63F}" type="sibTrans" cxnId="{B7B188B0-CE10-46AF-8E2C-52466C83F6D1}">
      <dgm:prSet/>
      <dgm:spPr/>
      <dgm:t>
        <a:bodyPr/>
        <a:lstStyle/>
        <a:p>
          <a:endParaRPr lang="en-US" sz="2100"/>
        </a:p>
      </dgm:t>
    </dgm:pt>
    <dgm:pt modelId="{D1A9BC76-EC34-47A5-8ED4-D01A22606AD6}">
      <dgm:prSet phldrT="[Texto]" custT="1"/>
      <dgm:spPr/>
      <dgm:t>
        <a:bodyPr/>
        <a:lstStyle/>
        <a:p>
          <a:r>
            <a:rPr lang="es-ES" sz="2100" b="1" i="0" dirty="0">
              <a:solidFill>
                <a:schemeClr val="tx1"/>
              </a:solidFill>
              <a:effectLst/>
              <a:latin typeface="+mn-lt"/>
              <a:ea typeface="+mn-ea"/>
              <a:cs typeface="+mn-cs"/>
            </a:rPr>
            <a:t>Cambios en el enfoque</a:t>
          </a:r>
          <a:endParaRPr lang="en-US" sz="2100" dirty="0"/>
        </a:p>
      </dgm:t>
    </dgm:pt>
    <dgm:pt modelId="{D4009C35-B1F5-4B68-95D9-BA6EB6807F33}" type="parTrans" cxnId="{0D4061B9-5B12-4EB0-BDFE-BCFA92C56EA6}">
      <dgm:prSet/>
      <dgm:spPr/>
      <dgm:t>
        <a:bodyPr/>
        <a:lstStyle/>
        <a:p>
          <a:endParaRPr lang="en-US" sz="2100"/>
        </a:p>
      </dgm:t>
    </dgm:pt>
    <dgm:pt modelId="{2A457379-4692-481B-B2A4-FBFC5C1F1714}" type="sibTrans" cxnId="{0D4061B9-5B12-4EB0-BDFE-BCFA92C56EA6}">
      <dgm:prSet/>
      <dgm:spPr/>
      <dgm:t>
        <a:bodyPr/>
        <a:lstStyle/>
        <a:p>
          <a:endParaRPr lang="en-US" sz="2100"/>
        </a:p>
      </dgm:t>
    </dgm:pt>
    <dgm:pt modelId="{DFB087D6-AB98-4CF9-9382-14E30DF64B77}">
      <dgm:prSet custT="1"/>
      <dgm:spPr/>
      <dgm:t>
        <a:bodyPr/>
        <a:lstStyle/>
        <a:p>
          <a:pPr>
            <a:buNone/>
          </a:pPr>
          <a:r>
            <a:rPr lang="es-ES_tradnl" sz="2100" dirty="0"/>
            <a:t>Consultora con fuerte especialización en el análisis de las razones de desastres en los proyectos de software</a:t>
          </a:r>
          <a:endParaRPr lang="en-US" sz="2100" dirty="0"/>
        </a:p>
      </dgm:t>
    </dgm:pt>
    <dgm:pt modelId="{ED6D3C8B-A138-4B2D-9353-9D374A016E22}" type="parTrans" cxnId="{F4731534-A019-470A-BD5E-BE361A2B5D3B}">
      <dgm:prSet/>
      <dgm:spPr/>
      <dgm:t>
        <a:bodyPr/>
        <a:lstStyle/>
        <a:p>
          <a:endParaRPr lang="en-US" sz="2100"/>
        </a:p>
      </dgm:t>
    </dgm:pt>
    <dgm:pt modelId="{166C7F83-DF9E-470D-83DE-284DC954ED44}" type="sibTrans" cxnId="{F4731534-A019-470A-BD5E-BE361A2B5D3B}">
      <dgm:prSet/>
      <dgm:spPr/>
      <dgm:t>
        <a:bodyPr/>
        <a:lstStyle/>
        <a:p>
          <a:endParaRPr lang="en-US" sz="2100"/>
        </a:p>
      </dgm:t>
    </dgm:pt>
    <dgm:pt modelId="{34318FC2-AE3E-41AF-B609-A4BD15FCB118}">
      <dgm:prSet custT="1"/>
      <dgm:spPr/>
      <dgm:t>
        <a:bodyPr/>
        <a:lstStyle/>
        <a:p>
          <a:pPr>
            <a:buNone/>
          </a:pPr>
          <a:r>
            <a:rPr lang="es-ES_tradnl" sz="2100" dirty="0"/>
            <a:t>Referencia en la evaluación del éxito de los proyectos de tecnología y el coste asociado a los mismos</a:t>
          </a:r>
          <a:endParaRPr lang="en-US" sz="2100" dirty="0"/>
        </a:p>
      </dgm:t>
    </dgm:pt>
    <dgm:pt modelId="{34E6FB3B-52A1-45C7-8A6C-A075B392749A}" type="parTrans" cxnId="{4E95D467-658E-457B-84DE-44274C819D99}">
      <dgm:prSet/>
      <dgm:spPr/>
      <dgm:t>
        <a:bodyPr/>
        <a:lstStyle/>
        <a:p>
          <a:endParaRPr lang="en-US" sz="2100"/>
        </a:p>
      </dgm:t>
    </dgm:pt>
    <dgm:pt modelId="{01F31F47-4876-4F03-B284-0776406B93A9}" type="sibTrans" cxnId="{4E95D467-658E-457B-84DE-44274C819D99}">
      <dgm:prSet/>
      <dgm:spPr/>
      <dgm:t>
        <a:bodyPr/>
        <a:lstStyle/>
        <a:p>
          <a:endParaRPr lang="en-US" sz="2100"/>
        </a:p>
      </dgm:t>
    </dgm:pt>
    <dgm:pt modelId="{5163EFFB-5DC7-4F49-9B83-FF40BD254CE0}">
      <dgm:prSet custT="1"/>
      <dgm:spPr/>
      <dgm:t>
        <a:bodyPr/>
        <a:lstStyle/>
        <a:p>
          <a:r>
            <a:rPr lang="es-419" sz="2100" dirty="0"/>
            <a:t>Factores clave de éxito: patrocinador, equipo, entorno de trabajo</a:t>
          </a:r>
          <a:endParaRPr lang="en-US" sz="2100" dirty="0"/>
        </a:p>
      </dgm:t>
    </dgm:pt>
    <dgm:pt modelId="{A205A2DF-16A0-4929-9FD1-EC76700CE408}" type="parTrans" cxnId="{763D1420-4BF2-40D7-89F2-4AD76867E9F8}">
      <dgm:prSet/>
      <dgm:spPr/>
      <dgm:t>
        <a:bodyPr/>
        <a:lstStyle/>
        <a:p>
          <a:endParaRPr lang="en-US" sz="2100"/>
        </a:p>
      </dgm:t>
    </dgm:pt>
    <dgm:pt modelId="{7DA7A73A-D9AA-4500-946F-070744716119}" type="sibTrans" cxnId="{763D1420-4BF2-40D7-89F2-4AD76867E9F8}">
      <dgm:prSet/>
      <dgm:spPr/>
      <dgm:t>
        <a:bodyPr/>
        <a:lstStyle/>
        <a:p>
          <a:endParaRPr lang="en-US" sz="2100"/>
        </a:p>
      </dgm:t>
    </dgm:pt>
    <dgm:pt modelId="{1CD70276-C29C-44AF-B796-F7941F12F8C7}">
      <dgm:prSet custT="1"/>
      <dgm:spPr/>
      <dgm:t>
        <a:bodyPr/>
        <a:lstStyle/>
        <a:p>
          <a:r>
            <a:rPr lang="es-419" sz="2100" dirty="0"/>
            <a:t>Desarrollo continuo</a:t>
          </a:r>
          <a:endParaRPr lang="en-US" sz="2100" dirty="0"/>
        </a:p>
      </dgm:t>
    </dgm:pt>
    <dgm:pt modelId="{11E6F055-2F23-4E41-BAD7-83253CB0B752}" type="parTrans" cxnId="{9C0433F7-B2D3-4579-8923-40BAB8A16135}">
      <dgm:prSet/>
      <dgm:spPr/>
      <dgm:t>
        <a:bodyPr/>
        <a:lstStyle/>
        <a:p>
          <a:endParaRPr lang="en-US" sz="2100"/>
        </a:p>
      </dgm:t>
    </dgm:pt>
    <dgm:pt modelId="{F00807B6-BD13-4321-BCAA-900FFF347896}" type="sibTrans" cxnId="{9C0433F7-B2D3-4579-8923-40BAB8A16135}">
      <dgm:prSet/>
      <dgm:spPr/>
      <dgm:t>
        <a:bodyPr/>
        <a:lstStyle/>
        <a:p>
          <a:endParaRPr lang="en-US" sz="2100"/>
        </a:p>
      </dgm:t>
    </dgm:pt>
    <dgm:pt modelId="{DCA6213D-0C7D-4CC2-9E16-81B81260B4A6}">
      <dgm:prSet custT="1"/>
      <dgm:spPr/>
      <dgm:t>
        <a:bodyPr/>
        <a:lstStyle/>
        <a:p>
          <a:r>
            <a:rPr lang="es-419" sz="2100" dirty="0"/>
            <a:t>Menos gestión, más resultados</a:t>
          </a:r>
          <a:endParaRPr lang="en-US" sz="2100" dirty="0"/>
        </a:p>
      </dgm:t>
    </dgm:pt>
    <dgm:pt modelId="{F166381F-1C47-43E0-9D13-BABE2B1126D4}" type="parTrans" cxnId="{2A6A3190-990E-4929-85C1-4E10749B1EAB}">
      <dgm:prSet/>
      <dgm:spPr/>
      <dgm:t>
        <a:bodyPr/>
        <a:lstStyle/>
        <a:p>
          <a:endParaRPr lang="en-US" sz="2100"/>
        </a:p>
      </dgm:t>
    </dgm:pt>
    <dgm:pt modelId="{4AC10A0D-8DCF-448F-8803-8D8173574B9D}" type="sibTrans" cxnId="{2A6A3190-990E-4929-85C1-4E10749B1EAB}">
      <dgm:prSet/>
      <dgm:spPr/>
      <dgm:t>
        <a:bodyPr/>
        <a:lstStyle/>
        <a:p>
          <a:endParaRPr lang="en-US" sz="2100"/>
        </a:p>
      </dgm:t>
    </dgm:pt>
    <dgm:pt modelId="{A964E211-7678-45E6-85E5-1549F6809F8B}" type="pres">
      <dgm:prSet presAssocID="{18C3D834-29A6-4C42-A763-E9A700022DD9}" presName="linear" presStyleCnt="0">
        <dgm:presLayoutVars>
          <dgm:dir/>
          <dgm:animLvl val="lvl"/>
          <dgm:resizeHandles val="exact"/>
        </dgm:presLayoutVars>
      </dgm:prSet>
      <dgm:spPr/>
      <dgm:t>
        <a:bodyPr/>
        <a:lstStyle/>
        <a:p>
          <a:endParaRPr lang="es-ES"/>
        </a:p>
      </dgm:t>
    </dgm:pt>
    <dgm:pt modelId="{B03DD337-4D04-4E15-B580-F6D2E9E372C1}" type="pres">
      <dgm:prSet presAssocID="{4B06D7D5-1FD6-451C-9775-0B3811917A9F}" presName="parentLin" presStyleCnt="0"/>
      <dgm:spPr/>
    </dgm:pt>
    <dgm:pt modelId="{166D9856-DC87-4520-8BF5-A76CE2D5787F}" type="pres">
      <dgm:prSet presAssocID="{4B06D7D5-1FD6-451C-9775-0B3811917A9F}" presName="parentLeftMargin" presStyleLbl="node1" presStyleIdx="0" presStyleCnt="3"/>
      <dgm:spPr/>
      <dgm:t>
        <a:bodyPr/>
        <a:lstStyle/>
        <a:p>
          <a:endParaRPr lang="es-ES"/>
        </a:p>
      </dgm:t>
    </dgm:pt>
    <dgm:pt modelId="{BB31A15F-57F5-4A71-8AAE-6990581691B7}" type="pres">
      <dgm:prSet presAssocID="{4B06D7D5-1FD6-451C-9775-0B3811917A9F}" presName="parentText" presStyleLbl="node1" presStyleIdx="0" presStyleCnt="3" custLinFactNeighborX="2317" custLinFactNeighborY="-1805">
        <dgm:presLayoutVars>
          <dgm:chMax val="0"/>
          <dgm:bulletEnabled val="1"/>
        </dgm:presLayoutVars>
      </dgm:prSet>
      <dgm:spPr/>
      <dgm:t>
        <a:bodyPr/>
        <a:lstStyle/>
        <a:p>
          <a:endParaRPr lang="es-ES"/>
        </a:p>
      </dgm:t>
    </dgm:pt>
    <dgm:pt modelId="{CA607BCB-9E96-4D8B-9FD9-AD91955C0991}" type="pres">
      <dgm:prSet presAssocID="{4B06D7D5-1FD6-451C-9775-0B3811917A9F}" presName="negativeSpace" presStyleCnt="0"/>
      <dgm:spPr/>
    </dgm:pt>
    <dgm:pt modelId="{BDFE794C-2C0F-4016-88C2-57EA577BF5C1}" type="pres">
      <dgm:prSet presAssocID="{4B06D7D5-1FD6-451C-9775-0B3811917A9F}" presName="childText" presStyleLbl="conFgAcc1" presStyleIdx="0" presStyleCnt="3">
        <dgm:presLayoutVars>
          <dgm:bulletEnabled val="1"/>
        </dgm:presLayoutVars>
      </dgm:prSet>
      <dgm:spPr/>
      <dgm:t>
        <a:bodyPr/>
        <a:lstStyle/>
        <a:p>
          <a:endParaRPr lang="es-ES"/>
        </a:p>
      </dgm:t>
    </dgm:pt>
    <dgm:pt modelId="{E709A132-0B14-46E0-AB1F-CBF1FCD8686F}" type="pres">
      <dgm:prSet presAssocID="{7BD8F7E0-8A2B-4B01-A118-2D4FEF1DCA9C}" presName="spaceBetweenRectangles" presStyleCnt="0"/>
      <dgm:spPr/>
    </dgm:pt>
    <dgm:pt modelId="{B5D878FA-F3F9-4576-94B0-27491772C3ED}" type="pres">
      <dgm:prSet presAssocID="{0F866795-21DE-4A9D-A5BC-980D0506FDBD}" presName="parentLin" presStyleCnt="0"/>
      <dgm:spPr/>
    </dgm:pt>
    <dgm:pt modelId="{480CE1EC-DF8D-4E66-9136-172D842515C0}" type="pres">
      <dgm:prSet presAssocID="{0F866795-21DE-4A9D-A5BC-980D0506FDBD}" presName="parentLeftMargin" presStyleLbl="node1" presStyleIdx="0" presStyleCnt="3"/>
      <dgm:spPr/>
      <dgm:t>
        <a:bodyPr/>
        <a:lstStyle/>
        <a:p>
          <a:endParaRPr lang="es-ES"/>
        </a:p>
      </dgm:t>
    </dgm:pt>
    <dgm:pt modelId="{DE4CF412-1AAB-4AF5-93F4-C11A2A9C0CDE}" type="pres">
      <dgm:prSet presAssocID="{0F866795-21DE-4A9D-A5BC-980D0506FDBD}" presName="parentText" presStyleLbl="node1" presStyleIdx="1" presStyleCnt="3">
        <dgm:presLayoutVars>
          <dgm:chMax val="0"/>
          <dgm:bulletEnabled val="1"/>
        </dgm:presLayoutVars>
      </dgm:prSet>
      <dgm:spPr/>
      <dgm:t>
        <a:bodyPr/>
        <a:lstStyle/>
        <a:p>
          <a:endParaRPr lang="es-ES"/>
        </a:p>
      </dgm:t>
    </dgm:pt>
    <dgm:pt modelId="{7934F787-A55D-4428-9A17-1F9CCAA40E08}" type="pres">
      <dgm:prSet presAssocID="{0F866795-21DE-4A9D-A5BC-980D0506FDBD}" presName="negativeSpace" presStyleCnt="0"/>
      <dgm:spPr/>
    </dgm:pt>
    <dgm:pt modelId="{795F12B4-3D36-4691-BB35-2F17498E42F1}" type="pres">
      <dgm:prSet presAssocID="{0F866795-21DE-4A9D-A5BC-980D0506FDBD}" presName="childText" presStyleLbl="conFgAcc1" presStyleIdx="1" presStyleCnt="3">
        <dgm:presLayoutVars>
          <dgm:bulletEnabled val="1"/>
        </dgm:presLayoutVars>
      </dgm:prSet>
      <dgm:spPr/>
      <dgm:t>
        <a:bodyPr/>
        <a:lstStyle/>
        <a:p>
          <a:endParaRPr lang="es-ES"/>
        </a:p>
      </dgm:t>
    </dgm:pt>
    <dgm:pt modelId="{378F90EE-4EE0-40B8-A474-7CF7C4DFEC53}" type="pres">
      <dgm:prSet presAssocID="{42025DF6-33D3-4F9C-8B61-96E1F403E63F}" presName="spaceBetweenRectangles" presStyleCnt="0"/>
      <dgm:spPr/>
    </dgm:pt>
    <dgm:pt modelId="{EDA8AADF-EFD3-46D1-97B3-D3CEC2E4DB31}" type="pres">
      <dgm:prSet presAssocID="{D1A9BC76-EC34-47A5-8ED4-D01A22606AD6}" presName="parentLin" presStyleCnt="0"/>
      <dgm:spPr/>
    </dgm:pt>
    <dgm:pt modelId="{06804E9D-BBD0-4BE6-AD78-191BEE9C4A77}" type="pres">
      <dgm:prSet presAssocID="{D1A9BC76-EC34-47A5-8ED4-D01A22606AD6}" presName="parentLeftMargin" presStyleLbl="node1" presStyleIdx="1" presStyleCnt="3"/>
      <dgm:spPr/>
      <dgm:t>
        <a:bodyPr/>
        <a:lstStyle/>
        <a:p>
          <a:endParaRPr lang="es-ES"/>
        </a:p>
      </dgm:t>
    </dgm:pt>
    <dgm:pt modelId="{BE368B74-469C-4400-8093-AE31C977E191}" type="pres">
      <dgm:prSet presAssocID="{D1A9BC76-EC34-47A5-8ED4-D01A22606AD6}" presName="parentText" presStyleLbl="node1" presStyleIdx="2" presStyleCnt="3">
        <dgm:presLayoutVars>
          <dgm:chMax val="0"/>
          <dgm:bulletEnabled val="1"/>
        </dgm:presLayoutVars>
      </dgm:prSet>
      <dgm:spPr/>
      <dgm:t>
        <a:bodyPr/>
        <a:lstStyle/>
        <a:p>
          <a:endParaRPr lang="es-ES"/>
        </a:p>
      </dgm:t>
    </dgm:pt>
    <dgm:pt modelId="{66D8C428-353E-4DFE-B667-B77790574359}" type="pres">
      <dgm:prSet presAssocID="{D1A9BC76-EC34-47A5-8ED4-D01A22606AD6}" presName="negativeSpace" presStyleCnt="0"/>
      <dgm:spPr/>
    </dgm:pt>
    <dgm:pt modelId="{6C6BF2B6-C653-41F5-8D71-F3BF467A9848}" type="pres">
      <dgm:prSet presAssocID="{D1A9BC76-EC34-47A5-8ED4-D01A22606AD6}" presName="childText" presStyleLbl="conFgAcc1" presStyleIdx="2" presStyleCnt="3" custLinFactNeighborY="-7509">
        <dgm:presLayoutVars>
          <dgm:bulletEnabled val="1"/>
        </dgm:presLayoutVars>
      </dgm:prSet>
      <dgm:spPr/>
      <dgm:t>
        <a:bodyPr/>
        <a:lstStyle/>
        <a:p>
          <a:endParaRPr lang="es-ES"/>
        </a:p>
      </dgm:t>
    </dgm:pt>
  </dgm:ptLst>
  <dgm:cxnLst>
    <dgm:cxn modelId="{0D4061B9-5B12-4EB0-BDFE-BCFA92C56EA6}" srcId="{18C3D834-29A6-4C42-A763-E9A700022DD9}" destId="{D1A9BC76-EC34-47A5-8ED4-D01A22606AD6}" srcOrd="2" destOrd="0" parTransId="{D4009C35-B1F5-4B68-95D9-BA6EB6807F33}" sibTransId="{2A457379-4692-481B-B2A4-FBFC5C1F1714}"/>
    <dgm:cxn modelId="{F4731534-A019-470A-BD5E-BE361A2B5D3B}" srcId="{4B06D7D5-1FD6-451C-9775-0B3811917A9F}" destId="{DFB087D6-AB98-4CF9-9382-14E30DF64B77}" srcOrd="0" destOrd="0" parTransId="{ED6D3C8B-A138-4B2D-9353-9D374A016E22}" sibTransId="{166C7F83-DF9E-470D-83DE-284DC954ED44}"/>
    <dgm:cxn modelId="{E2E40DE9-D5B9-48A7-9C82-568C2B53027D}" type="presOf" srcId="{4B06D7D5-1FD6-451C-9775-0B3811917A9F}" destId="{BB31A15F-57F5-4A71-8AAE-6990581691B7}" srcOrd="1" destOrd="0" presId="urn:microsoft.com/office/officeart/2005/8/layout/list1"/>
    <dgm:cxn modelId="{608A4296-7040-4830-9CAC-166FA95A9737}" type="presOf" srcId="{5163EFFB-5DC7-4F49-9B83-FF40BD254CE0}" destId="{6C6BF2B6-C653-41F5-8D71-F3BF467A9848}" srcOrd="0" destOrd="0" presId="urn:microsoft.com/office/officeart/2005/8/layout/list1"/>
    <dgm:cxn modelId="{A91DA297-F92A-4984-A95E-2DE7DC520F22}" srcId="{18C3D834-29A6-4C42-A763-E9A700022DD9}" destId="{4B06D7D5-1FD6-451C-9775-0B3811917A9F}" srcOrd="0" destOrd="0" parTransId="{6A430F15-F86A-4597-80B0-FBF9521E2345}" sibTransId="{7BD8F7E0-8A2B-4B01-A118-2D4FEF1DCA9C}"/>
    <dgm:cxn modelId="{C0B17516-AB68-47A5-AF8F-4D22F67ECD7D}" type="presOf" srcId="{0F866795-21DE-4A9D-A5BC-980D0506FDBD}" destId="{480CE1EC-DF8D-4E66-9136-172D842515C0}" srcOrd="0" destOrd="0" presId="urn:microsoft.com/office/officeart/2005/8/layout/list1"/>
    <dgm:cxn modelId="{F27EA408-F699-4EBE-84D2-4B70DBF87E4D}" type="presOf" srcId="{0F866795-21DE-4A9D-A5BC-980D0506FDBD}" destId="{DE4CF412-1AAB-4AF5-93F4-C11A2A9C0CDE}" srcOrd="1" destOrd="0" presId="urn:microsoft.com/office/officeart/2005/8/layout/list1"/>
    <dgm:cxn modelId="{7242D415-D610-4C05-B666-5C1C5E6E625B}" type="presOf" srcId="{D1A9BC76-EC34-47A5-8ED4-D01A22606AD6}" destId="{06804E9D-BBD0-4BE6-AD78-191BEE9C4A77}" srcOrd="0" destOrd="0" presId="urn:microsoft.com/office/officeart/2005/8/layout/list1"/>
    <dgm:cxn modelId="{A620C506-F00E-4D0B-AD9F-5A391F047D0B}" type="presOf" srcId="{34318FC2-AE3E-41AF-B609-A4BD15FCB118}" destId="{795F12B4-3D36-4691-BB35-2F17498E42F1}" srcOrd="0" destOrd="0" presId="urn:microsoft.com/office/officeart/2005/8/layout/list1"/>
    <dgm:cxn modelId="{2F3AE6AB-80B5-4215-8D94-64324B8D63D6}" type="presOf" srcId="{DCA6213D-0C7D-4CC2-9E16-81B81260B4A6}" destId="{6C6BF2B6-C653-41F5-8D71-F3BF467A9848}" srcOrd="0" destOrd="2" presId="urn:microsoft.com/office/officeart/2005/8/layout/list1"/>
    <dgm:cxn modelId="{763D1420-4BF2-40D7-89F2-4AD76867E9F8}" srcId="{D1A9BC76-EC34-47A5-8ED4-D01A22606AD6}" destId="{5163EFFB-5DC7-4F49-9B83-FF40BD254CE0}" srcOrd="0" destOrd="0" parTransId="{A205A2DF-16A0-4929-9FD1-EC76700CE408}" sibTransId="{7DA7A73A-D9AA-4500-946F-070744716119}"/>
    <dgm:cxn modelId="{9C0433F7-B2D3-4579-8923-40BAB8A16135}" srcId="{D1A9BC76-EC34-47A5-8ED4-D01A22606AD6}" destId="{1CD70276-C29C-44AF-B796-F7941F12F8C7}" srcOrd="1" destOrd="0" parTransId="{11E6F055-2F23-4E41-BAD7-83253CB0B752}" sibTransId="{F00807B6-BD13-4321-BCAA-900FFF347896}"/>
    <dgm:cxn modelId="{5563C6D0-409A-4F22-94FA-2615F7D812D0}" type="presOf" srcId="{DFB087D6-AB98-4CF9-9382-14E30DF64B77}" destId="{BDFE794C-2C0F-4016-88C2-57EA577BF5C1}" srcOrd="0" destOrd="0" presId="urn:microsoft.com/office/officeart/2005/8/layout/list1"/>
    <dgm:cxn modelId="{C3D4C992-08BC-49BF-94BE-43ED5146ADBC}" type="presOf" srcId="{18C3D834-29A6-4C42-A763-E9A700022DD9}" destId="{A964E211-7678-45E6-85E5-1549F6809F8B}" srcOrd="0" destOrd="0" presId="urn:microsoft.com/office/officeart/2005/8/layout/list1"/>
    <dgm:cxn modelId="{B7B188B0-CE10-46AF-8E2C-52466C83F6D1}" srcId="{18C3D834-29A6-4C42-A763-E9A700022DD9}" destId="{0F866795-21DE-4A9D-A5BC-980D0506FDBD}" srcOrd="1" destOrd="0" parTransId="{B74E235B-8A7F-4D8D-A7A4-B7DEC06091F1}" sibTransId="{42025DF6-33D3-4F9C-8B61-96E1F403E63F}"/>
    <dgm:cxn modelId="{2A6A3190-990E-4929-85C1-4E10749B1EAB}" srcId="{D1A9BC76-EC34-47A5-8ED4-D01A22606AD6}" destId="{DCA6213D-0C7D-4CC2-9E16-81B81260B4A6}" srcOrd="2" destOrd="0" parTransId="{F166381F-1C47-43E0-9D13-BABE2B1126D4}" sibTransId="{4AC10A0D-8DCF-448F-8803-8D8173574B9D}"/>
    <dgm:cxn modelId="{F8720765-D7F8-4202-B6E2-8326195D8163}" type="presOf" srcId="{4B06D7D5-1FD6-451C-9775-0B3811917A9F}" destId="{166D9856-DC87-4520-8BF5-A76CE2D5787F}" srcOrd="0" destOrd="0" presId="urn:microsoft.com/office/officeart/2005/8/layout/list1"/>
    <dgm:cxn modelId="{4E95D467-658E-457B-84DE-44274C819D99}" srcId="{0F866795-21DE-4A9D-A5BC-980D0506FDBD}" destId="{34318FC2-AE3E-41AF-B609-A4BD15FCB118}" srcOrd="0" destOrd="0" parTransId="{34E6FB3B-52A1-45C7-8A6C-A075B392749A}" sibTransId="{01F31F47-4876-4F03-B284-0776406B93A9}"/>
    <dgm:cxn modelId="{69318245-F965-475C-9DA7-725588D81CF9}" type="presOf" srcId="{D1A9BC76-EC34-47A5-8ED4-D01A22606AD6}" destId="{BE368B74-469C-4400-8093-AE31C977E191}" srcOrd="1" destOrd="0" presId="urn:microsoft.com/office/officeart/2005/8/layout/list1"/>
    <dgm:cxn modelId="{CF21FA72-C63F-48EA-8FBB-680745C96795}" type="presOf" srcId="{1CD70276-C29C-44AF-B796-F7941F12F8C7}" destId="{6C6BF2B6-C653-41F5-8D71-F3BF467A9848}" srcOrd="0" destOrd="1" presId="urn:microsoft.com/office/officeart/2005/8/layout/list1"/>
    <dgm:cxn modelId="{2E2DA443-D31B-4706-8ED2-98B39F6CB50C}" type="presParOf" srcId="{A964E211-7678-45E6-85E5-1549F6809F8B}" destId="{B03DD337-4D04-4E15-B580-F6D2E9E372C1}" srcOrd="0" destOrd="0" presId="urn:microsoft.com/office/officeart/2005/8/layout/list1"/>
    <dgm:cxn modelId="{4A25954C-36D9-4537-A8AA-0A0FA1139739}" type="presParOf" srcId="{B03DD337-4D04-4E15-B580-F6D2E9E372C1}" destId="{166D9856-DC87-4520-8BF5-A76CE2D5787F}" srcOrd="0" destOrd="0" presId="urn:microsoft.com/office/officeart/2005/8/layout/list1"/>
    <dgm:cxn modelId="{2FE2EDC9-39BF-448D-AA83-D15044AF59FC}" type="presParOf" srcId="{B03DD337-4D04-4E15-B580-F6D2E9E372C1}" destId="{BB31A15F-57F5-4A71-8AAE-6990581691B7}" srcOrd="1" destOrd="0" presId="urn:microsoft.com/office/officeart/2005/8/layout/list1"/>
    <dgm:cxn modelId="{C6EFF470-3B4A-4C36-89B4-B650E6825465}" type="presParOf" srcId="{A964E211-7678-45E6-85E5-1549F6809F8B}" destId="{CA607BCB-9E96-4D8B-9FD9-AD91955C0991}" srcOrd="1" destOrd="0" presId="urn:microsoft.com/office/officeart/2005/8/layout/list1"/>
    <dgm:cxn modelId="{17E64A3D-05C1-46A9-A054-19C34DA6FCC1}" type="presParOf" srcId="{A964E211-7678-45E6-85E5-1549F6809F8B}" destId="{BDFE794C-2C0F-4016-88C2-57EA577BF5C1}" srcOrd="2" destOrd="0" presId="urn:microsoft.com/office/officeart/2005/8/layout/list1"/>
    <dgm:cxn modelId="{738DB21D-3AEE-4E1D-9E79-872BB60AD36C}" type="presParOf" srcId="{A964E211-7678-45E6-85E5-1549F6809F8B}" destId="{E709A132-0B14-46E0-AB1F-CBF1FCD8686F}" srcOrd="3" destOrd="0" presId="urn:microsoft.com/office/officeart/2005/8/layout/list1"/>
    <dgm:cxn modelId="{920C406B-B1D3-4399-8EE7-FA1010F97154}" type="presParOf" srcId="{A964E211-7678-45E6-85E5-1549F6809F8B}" destId="{B5D878FA-F3F9-4576-94B0-27491772C3ED}" srcOrd="4" destOrd="0" presId="urn:microsoft.com/office/officeart/2005/8/layout/list1"/>
    <dgm:cxn modelId="{8006BF4A-C756-4660-961A-D93C25309099}" type="presParOf" srcId="{B5D878FA-F3F9-4576-94B0-27491772C3ED}" destId="{480CE1EC-DF8D-4E66-9136-172D842515C0}" srcOrd="0" destOrd="0" presId="urn:microsoft.com/office/officeart/2005/8/layout/list1"/>
    <dgm:cxn modelId="{AC6D16BF-40BC-43A7-B27C-025682CC98FD}" type="presParOf" srcId="{B5D878FA-F3F9-4576-94B0-27491772C3ED}" destId="{DE4CF412-1AAB-4AF5-93F4-C11A2A9C0CDE}" srcOrd="1" destOrd="0" presId="urn:microsoft.com/office/officeart/2005/8/layout/list1"/>
    <dgm:cxn modelId="{B8B28173-4191-404D-B754-34BA62BFC0F5}" type="presParOf" srcId="{A964E211-7678-45E6-85E5-1549F6809F8B}" destId="{7934F787-A55D-4428-9A17-1F9CCAA40E08}" srcOrd="5" destOrd="0" presId="urn:microsoft.com/office/officeart/2005/8/layout/list1"/>
    <dgm:cxn modelId="{8F9DED03-C00D-4DC5-AEFA-EB489C378B30}" type="presParOf" srcId="{A964E211-7678-45E6-85E5-1549F6809F8B}" destId="{795F12B4-3D36-4691-BB35-2F17498E42F1}" srcOrd="6" destOrd="0" presId="urn:microsoft.com/office/officeart/2005/8/layout/list1"/>
    <dgm:cxn modelId="{8575DC57-54CF-4189-A140-48B130013540}" type="presParOf" srcId="{A964E211-7678-45E6-85E5-1549F6809F8B}" destId="{378F90EE-4EE0-40B8-A474-7CF7C4DFEC53}" srcOrd="7" destOrd="0" presId="urn:microsoft.com/office/officeart/2005/8/layout/list1"/>
    <dgm:cxn modelId="{5A3FB3AC-0493-4F12-AC96-A67CA5F4A450}" type="presParOf" srcId="{A964E211-7678-45E6-85E5-1549F6809F8B}" destId="{EDA8AADF-EFD3-46D1-97B3-D3CEC2E4DB31}" srcOrd="8" destOrd="0" presId="urn:microsoft.com/office/officeart/2005/8/layout/list1"/>
    <dgm:cxn modelId="{0FBC4E78-9F6E-4803-8140-415E5DEF4657}" type="presParOf" srcId="{EDA8AADF-EFD3-46D1-97B3-D3CEC2E4DB31}" destId="{06804E9D-BBD0-4BE6-AD78-191BEE9C4A77}" srcOrd="0" destOrd="0" presId="urn:microsoft.com/office/officeart/2005/8/layout/list1"/>
    <dgm:cxn modelId="{D8978BB4-DF16-42E1-8F70-A262B6EB1B8F}" type="presParOf" srcId="{EDA8AADF-EFD3-46D1-97B3-D3CEC2E4DB31}" destId="{BE368B74-469C-4400-8093-AE31C977E191}" srcOrd="1" destOrd="0" presId="urn:microsoft.com/office/officeart/2005/8/layout/list1"/>
    <dgm:cxn modelId="{D27B17E7-0E5D-4CC9-A9E6-F31919DAD104}" type="presParOf" srcId="{A964E211-7678-45E6-85E5-1549F6809F8B}" destId="{66D8C428-353E-4DFE-B667-B77790574359}" srcOrd="9" destOrd="0" presId="urn:microsoft.com/office/officeart/2005/8/layout/list1"/>
    <dgm:cxn modelId="{4056F0C4-47A1-4D37-A038-2252C659CC31}" type="presParOf" srcId="{A964E211-7678-45E6-85E5-1549F6809F8B}" destId="{6C6BF2B6-C653-41F5-8D71-F3BF467A9848}"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DBD52E-BC7F-4EB8-999E-D7B1708AE00F}" type="doc">
      <dgm:prSet loTypeId="urn:microsoft.com/office/officeart/2005/8/layout/hProcess9" loCatId="process" qsTypeId="urn:microsoft.com/office/officeart/2005/8/quickstyle/simple5" qsCatId="simple" csTypeId="urn:microsoft.com/office/officeart/2005/8/colors/accent1_2" csCatId="accent1" phldr="1"/>
      <dgm:spPr/>
    </dgm:pt>
    <dgm:pt modelId="{0A0943DF-5E39-455B-B1F6-6A767450DC78}">
      <dgm:prSet phldrT="[Texto]" custT="1"/>
      <dgm:spPr/>
      <dgm:t>
        <a:bodyPr/>
        <a:lstStyle/>
        <a:p>
          <a:r>
            <a:rPr lang="es-ES" sz="3600" b="1" dirty="0">
              <a:effectLst>
                <a:outerShdw blurRad="38100" dist="38100" dir="2700000" algn="tl">
                  <a:srgbClr val="000000">
                    <a:alpha val="43137"/>
                  </a:srgbClr>
                </a:outerShdw>
              </a:effectLst>
            </a:rPr>
            <a:t>Inicio</a:t>
          </a:r>
        </a:p>
      </dgm:t>
    </dgm:pt>
    <dgm:pt modelId="{4FA73503-DF8B-4B7D-B3B2-F750A7EE8751}" type="parTrans" cxnId="{683DD9F7-97C3-49CE-87D2-930067061989}">
      <dgm:prSet/>
      <dgm:spPr/>
      <dgm:t>
        <a:bodyPr/>
        <a:lstStyle/>
        <a:p>
          <a:endParaRPr lang="es-ES" sz="2800" b="1"/>
        </a:p>
      </dgm:t>
    </dgm:pt>
    <dgm:pt modelId="{144F492F-2F8B-4D73-97A3-4073B67E04AA}" type="sibTrans" cxnId="{683DD9F7-97C3-49CE-87D2-930067061989}">
      <dgm:prSet/>
      <dgm:spPr/>
      <dgm:t>
        <a:bodyPr/>
        <a:lstStyle/>
        <a:p>
          <a:endParaRPr lang="es-ES" sz="2800" b="1"/>
        </a:p>
      </dgm:t>
    </dgm:pt>
    <dgm:pt modelId="{BBCB0567-0C80-4D45-92D6-235F6B36F23B}">
      <dgm:prSet phldrT="[Texto]" custT="1"/>
      <dgm:spPr/>
      <dgm:t>
        <a:bodyPr/>
        <a:lstStyle/>
        <a:p>
          <a:r>
            <a:rPr lang="es-ES" sz="3600" b="1" dirty="0">
              <a:effectLst>
                <a:outerShdw blurRad="38100" dist="38100" dir="2700000" algn="tl">
                  <a:srgbClr val="000000">
                    <a:alpha val="43137"/>
                  </a:srgbClr>
                </a:outerShdw>
              </a:effectLst>
            </a:rPr>
            <a:t>Durante</a:t>
          </a:r>
        </a:p>
      </dgm:t>
    </dgm:pt>
    <dgm:pt modelId="{1260C0A6-D955-4929-AFA0-CFC274FA457A}" type="parTrans" cxnId="{475D8796-0135-44A9-BC4C-9D3F809792D4}">
      <dgm:prSet/>
      <dgm:spPr/>
      <dgm:t>
        <a:bodyPr/>
        <a:lstStyle/>
        <a:p>
          <a:endParaRPr lang="es-ES" sz="2800" b="1"/>
        </a:p>
      </dgm:t>
    </dgm:pt>
    <dgm:pt modelId="{12D4515F-A50C-4D1F-BD0E-253929C3AFB5}" type="sibTrans" cxnId="{475D8796-0135-44A9-BC4C-9D3F809792D4}">
      <dgm:prSet/>
      <dgm:spPr/>
      <dgm:t>
        <a:bodyPr/>
        <a:lstStyle/>
        <a:p>
          <a:endParaRPr lang="es-ES" sz="2800" b="1"/>
        </a:p>
      </dgm:t>
    </dgm:pt>
    <dgm:pt modelId="{34BC845E-6A43-49F2-B2A0-862918D5EF97}">
      <dgm:prSet phldrT="[Texto]" custT="1"/>
      <dgm:spPr/>
      <dgm:t>
        <a:bodyPr/>
        <a:lstStyle/>
        <a:p>
          <a:r>
            <a:rPr lang="es-ES" sz="3600" b="1" dirty="0">
              <a:effectLst>
                <a:outerShdw blurRad="38100" dist="38100" dir="2700000" algn="tl">
                  <a:srgbClr val="000000">
                    <a:alpha val="43137"/>
                  </a:srgbClr>
                </a:outerShdw>
              </a:effectLst>
            </a:rPr>
            <a:t>Final</a:t>
          </a:r>
        </a:p>
      </dgm:t>
    </dgm:pt>
    <dgm:pt modelId="{24578436-1E96-47FD-8BF2-D585F2AB14B8}" type="parTrans" cxnId="{CBDD0A5B-ADCC-4A94-896C-6826CB8445FF}">
      <dgm:prSet/>
      <dgm:spPr/>
      <dgm:t>
        <a:bodyPr/>
        <a:lstStyle/>
        <a:p>
          <a:endParaRPr lang="es-ES" sz="2800" b="1"/>
        </a:p>
      </dgm:t>
    </dgm:pt>
    <dgm:pt modelId="{D1ADBCA6-54A8-41F8-9586-386EC2EBA08B}" type="sibTrans" cxnId="{CBDD0A5B-ADCC-4A94-896C-6826CB8445FF}">
      <dgm:prSet/>
      <dgm:spPr/>
      <dgm:t>
        <a:bodyPr/>
        <a:lstStyle/>
        <a:p>
          <a:endParaRPr lang="es-ES" sz="2800" b="1"/>
        </a:p>
      </dgm:t>
    </dgm:pt>
    <dgm:pt modelId="{9E434D0C-6117-4B51-A2B0-5FCB0D606B22}" type="pres">
      <dgm:prSet presAssocID="{2CDBD52E-BC7F-4EB8-999E-D7B1708AE00F}" presName="CompostProcess" presStyleCnt="0">
        <dgm:presLayoutVars>
          <dgm:dir/>
          <dgm:resizeHandles val="exact"/>
        </dgm:presLayoutVars>
      </dgm:prSet>
      <dgm:spPr/>
    </dgm:pt>
    <dgm:pt modelId="{D795E3BA-D525-41F5-955C-185CAEFF5F16}" type="pres">
      <dgm:prSet presAssocID="{2CDBD52E-BC7F-4EB8-999E-D7B1708AE00F}" presName="arrow" presStyleLbl="bgShp" presStyleIdx="0" presStyleCnt="1"/>
      <dgm:spPr/>
    </dgm:pt>
    <dgm:pt modelId="{F0EFC01B-BA5F-41AF-8800-68A5E333D779}" type="pres">
      <dgm:prSet presAssocID="{2CDBD52E-BC7F-4EB8-999E-D7B1708AE00F}" presName="linearProcess" presStyleCnt="0"/>
      <dgm:spPr/>
    </dgm:pt>
    <dgm:pt modelId="{D0EF0472-54F8-4123-9458-AF22EF19D2DF}" type="pres">
      <dgm:prSet presAssocID="{0A0943DF-5E39-455B-B1F6-6A767450DC78}" presName="textNode" presStyleLbl="node1" presStyleIdx="0" presStyleCnt="3">
        <dgm:presLayoutVars>
          <dgm:bulletEnabled val="1"/>
        </dgm:presLayoutVars>
      </dgm:prSet>
      <dgm:spPr/>
      <dgm:t>
        <a:bodyPr/>
        <a:lstStyle/>
        <a:p>
          <a:endParaRPr lang="es-ES"/>
        </a:p>
      </dgm:t>
    </dgm:pt>
    <dgm:pt modelId="{E04021F5-1725-47C9-8B6E-6D9C937E59F3}" type="pres">
      <dgm:prSet presAssocID="{144F492F-2F8B-4D73-97A3-4073B67E04AA}" presName="sibTrans" presStyleCnt="0"/>
      <dgm:spPr/>
    </dgm:pt>
    <dgm:pt modelId="{83CC8B7E-D573-4A2F-BE88-12852C6FCB3A}" type="pres">
      <dgm:prSet presAssocID="{BBCB0567-0C80-4D45-92D6-235F6B36F23B}" presName="textNode" presStyleLbl="node1" presStyleIdx="1" presStyleCnt="3">
        <dgm:presLayoutVars>
          <dgm:bulletEnabled val="1"/>
        </dgm:presLayoutVars>
      </dgm:prSet>
      <dgm:spPr/>
      <dgm:t>
        <a:bodyPr/>
        <a:lstStyle/>
        <a:p>
          <a:endParaRPr lang="es-ES"/>
        </a:p>
      </dgm:t>
    </dgm:pt>
    <dgm:pt modelId="{9A1D24D1-CF6F-413C-86CF-84846AA04A1C}" type="pres">
      <dgm:prSet presAssocID="{12D4515F-A50C-4D1F-BD0E-253929C3AFB5}" presName="sibTrans" presStyleCnt="0"/>
      <dgm:spPr/>
    </dgm:pt>
    <dgm:pt modelId="{69048014-5FA4-44DD-BB8F-7F58511CEB3F}" type="pres">
      <dgm:prSet presAssocID="{34BC845E-6A43-49F2-B2A0-862918D5EF97}" presName="textNode" presStyleLbl="node1" presStyleIdx="2" presStyleCnt="3">
        <dgm:presLayoutVars>
          <dgm:bulletEnabled val="1"/>
        </dgm:presLayoutVars>
      </dgm:prSet>
      <dgm:spPr/>
      <dgm:t>
        <a:bodyPr/>
        <a:lstStyle/>
        <a:p>
          <a:endParaRPr lang="es-ES"/>
        </a:p>
      </dgm:t>
    </dgm:pt>
  </dgm:ptLst>
  <dgm:cxnLst>
    <dgm:cxn modelId="{475D8796-0135-44A9-BC4C-9D3F809792D4}" srcId="{2CDBD52E-BC7F-4EB8-999E-D7B1708AE00F}" destId="{BBCB0567-0C80-4D45-92D6-235F6B36F23B}" srcOrd="1" destOrd="0" parTransId="{1260C0A6-D955-4929-AFA0-CFC274FA457A}" sibTransId="{12D4515F-A50C-4D1F-BD0E-253929C3AFB5}"/>
    <dgm:cxn modelId="{683DD9F7-97C3-49CE-87D2-930067061989}" srcId="{2CDBD52E-BC7F-4EB8-999E-D7B1708AE00F}" destId="{0A0943DF-5E39-455B-B1F6-6A767450DC78}" srcOrd="0" destOrd="0" parTransId="{4FA73503-DF8B-4B7D-B3B2-F750A7EE8751}" sibTransId="{144F492F-2F8B-4D73-97A3-4073B67E04AA}"/>
    <dgm:cxn modelId="{A91DF53F-CDD7-4668-AB32-77365E59620D}" type="presOf" srcId="{2CDBD52E-BC7F-4EB8-999E-D7B1708AE00F}" destId="{9E434D0C-6117-4B51-A2B0-5FCB0D606B22}" srcOrd="0" destOrd="0" presId="urn:microsoft.com/office/officeart/2005/8/layout/hProcess9"/>
    <dgm:cxn modelId="{66B0E538-F499-4A0D-BF5B-F1BBFECF1456}" type="presOf" srcId="{BBCB0567-0C80-4D45-92D6-235F6B36F23B}" destId="{83CC8B7E-D573-4A2F-BE88-12852C6FCB3A}" srcOrd="0" destOrd="0" presId="urn:microsoft.com/office/officeart/2005/8/layout/hProcess9"/>
    <dgm:cxn modelId="{12E7EA68-C824-4B4B-916C-D602019F165F}" type="presOf" srcId="{0A0943DF-5E39-455B-B1F6-6A767450DC78}" destId="{D0EF0472-54F8-4123-9458-AF22EF19D2DF}" srcOrd="0" destOrd="0" presId="urn:microsoft.com/office/officeart/2005/8/layout/hProcess9"/>
    <dgm:cxn modelId="{062818BA-976F-472E-9CBD-0FEA6FEC7FE3}" type="presOf" srcId="{34BC845E-6A43-49F2-B2A0-862918D5EF97}" destId="{69048014-5FA4-44DD-BB8F-7F58511CEB3F}" srcOrd="0" destOrd="0" presId="urn:microsoft.com/office/officeart/2005/8/layout/hProcess9"/>
    <dgm:cxn modelId="{CBDD0A5B-ADCC-4A94-896C-6826CB8445FF}" srcId="{2CDBD52E-BC7F-4EB8-999E-D7B1708AE00F}" destId="{34BC845E-6A43-49F2-B2A0-862918D5EF97}" srcOrd="2" destOrd="0" parTransId="{24578436-1E96-47FD-8BF2-D585F2AB14B8}" sibTransId="{D1ADBCA6-54A8-41F8-9586-386EC2EBA08B}"/>
    <dgm:cxn modelId="{B1269203-04CF-4630-B78C-67FE5E62E434}" type="presParOf" srcId="{9E434D0C-6117-4B51-A2B0-5FCB0D606B22}" destId="{D795E3BA-D525-41F5-955C-185CAEFF5F16}" srcOrd="0" destOrd="0" presId="urn:microsoft.com/office/officeart/2005/8/layout/hProcess9"/>
    <dgm:cxn modelId="{DDC7AE12-BC06-421C-B654-A9E55B441773}" type="presParOf" srcId="{9E434D0C-6117-4B51-A2B0-5FCB0D606B22}" destId="{F0EFC01B-BA5F-41AF-8800-68A5E333D779}" srcOrd="1" destOrd="0" presId="urn:microsoft.com/office/officeart/2005/8/layout/hProcess9"/>
    <dgm:cxn modelId="{B687BA22-4C9E-43C8-9D64-D7FFA641D74B}" type="presParOf" srcId="{F0EFC01B-BA5F-41AF-8800-68A5E333D779}" destId="{D0EF0472-54F8-4123-9458-AF22EF19D2DF}" srcOrd="0" destOrd="0" presId="urn:microsoft.com/office/officeart/2005/8/layout/hProcess9"/>
    <dgm:cxn modelId="{C59485CD-5CC0-45CB-87B8-820A726045DB}" type="presParOf" srcId="{F0EFC01B-BA5F-41AF-8800-68A5E333D779}" destId="{E04021F5-1725-47C9-8B6E-6D9C937E59F3}" srcOrd="1" destOrd="0" presId="urn:microsoft.com/office/officeart/2005/8/layout/hProcess9"/>
    <dgm:cxn modelId="{6A934DF3-7439-4785-B2A9-70AF93F3F028}" type="presParOf" srcId="{F0EFC01B-BA5F-41AF-8800-68A5E333D779}" destId="{83CC8B7E-D573-4A2F-BE88-12852C6FCB3A}" srcOrd="2" destOrd="0" presId="urn:microsoft.com/office/officeart/2005/8/layout/hProcess9"/>
    <dgm:cxn modelId="{4A9DB738-2B43-4F52-9E0E-9073B80DF1E2}" type="presParOf" srcId="{F0EFC01B-BA5F-41AF-8800-68A5E333D779}" destId="{9A1D24D1-CF6F-413C-86CF-84846AA04A1C}" srcOrd="3" destOrd="0" presId="urn:microsoft.com/office/officeart/2005/8/layout/hProcess9"/>
    <dgm:cxn modelId="{B55A6D52-AFA6-44BD-8B8F-B84C3D142703}" type="presParOf" srcId="{F0EFC01B-BA5F-41AF-8800-68A5E333D779}" destId="{69048014-5FA4-44DD-BB8F-7F58511CEB3F}"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60C3B2-A851-4D6F-ABB2-7071FF617A7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ES"/>
        </a:p>
      </dgm:t>
    </dgm:pt>
    <dgm:pt modelId="{727CCFBB-0008-4480-B06A-ED769DD89825}">
      <dgm:prSet phldrT="[Texto]" custT="1"/>
      <dgm:spPr/>
      <dgm:t>
        <a:bodyPr/>
        <a:lstStyle/>
        <a:p>
          <a:r>
            <a:rPr lang="es-ES" sz="2200" b="1" dirty="0">
              <a:solidFill>
                <a:schemeClr val="tx1"/>
              </a:solidFill>
            </a:rPr>
            <a:t>Recursos</a:t>
          </a:r>
        </a:p>
      </dgm:t>
    </dgm:pt>
    <dgm:pt modelId="{12FC0E42-ABF3-4C2B-BEC7-69911F93EECF}" type="parTrans" cxnId="{2ACBC977-506E-4282-BA69-2EF9AAEAF418}">
      <dgm:prSet/>
      <dgm:spPr/>
      <dgm:t>
        <a:bodyPr/>
        <a:lstStyle/>
        <a:p>
          <a:endParaRPr lang="es-ES"/>
        </a:p>
      </dgm:t>
    </dgm:pt>
    <dgm:pt modelId="{D7481807-B290-4544-8D9C-12A6B9574CC0}" type="sibTrans" cxnId="{2ACBC977-506E-4282-BA69-2EF9AAEAF418}">
      <dgm:prSet/>
      <dgm:spPr/>
      <dgm:t>
        <a:bodyPr/>
        <a:lstStyle/>
        <a:p>
          <a:endParaRPr lang="es-ES"/>
        </a:p>
      </dgm:t>
    </dgm:pt>
    <dgm:pt modelId="{5CB4E0ED-3AB9-4003-AD62-C5869F74099A}">
      <dgm:prSet phldrT="[Texto]"/>
      <dgm:spPr/>
      <dgm:t>
        <a:bodyPr/>
        <a:lstStyle/>
        <a:p>
          <a:r>
            <a:rPr lang="es-ES" dirty="0"/>
            <a:t>Humanos (Cantidad, Habilidades, Ubicación).</a:t>
          </a:r>
        </a:p>
      </dgm:t>
    </dgm:pt>
    <dgm:pt modelId="{6CBFAD73-9934-4992-987D-83A67D74C01E}" type="parTrans" cxnId="{F76E8145-8496-4C51-970C-5671EE63269A}">
      <dgm:prSet/>
      <dgm:spPr/>
      <dgm:t>
        <a:bodyPr/>
        <a:lstStyle/>
        <a:p>
          <a:endParaRPr lang="es-ES"/>
        </a:p>
      </dgm:t>
    </dgm:pt>
    <dgm:pt modelId="{8DF82A02-B7F3-47C2-9D4C-4C9ECD5CAB4F}" type="sibTrans" cxnId="{F76E8145-8496-4C51-970C-5671EE63269A}">
      <dgm:prSet/>
      <dgm:spPr/>
      <dgm:t>
        <a:bodyPr/>
        <a:lstStyle/>
        <a:p>
          <a:endParaRPr lang="es-ES"/>
        </a:p>
      </dgm:t>
    </dgm:pt>
    <dgm:pt modelId="{23F57316-A8C5-41AC-93B1-418E9EB39736}">
      <dgm:prSet phldrT="[Texto]"/>
      <dgm:spPr/>
      <dgm:t>
        <a:bodyPr/>
        <a:lstStyle/>
        <a:p>
          <a:r>
            <a:rPr lang="es-ES" b="1" dirty="0">
              <a:solidFill>
                <a:schemeClr val="tx1"/>
              </a:solidFill>
            </a:rPr>
            <a:t>Tiempo</a:t>
          </a:r>
        </a:p>
      </dgm:t>
    </dgm:pt>
    <dgm:pt modelId="{6A966729-CFA6-491F-98D4-EF421DA14920}" type="parTrans" cxnId="{492A0526-20EF-4624-8BEC-5E8D27C87891}">
      <dgm:prSet/>
      <dgm:spPr/>
      <dgm:t>
        <a:bodyPr/>
        <a:lstStyle/>
        <a:p>
          <a:endParaRPr lang="es-ES"/>
        </a:p>
      </dgm:t>
    </dgm:pt>
    <dgm:pt modelId="{BCCED5E3-034D-4479-9811-5031EA905D59}" type="sibTrans" cxnId="{492A0526-20EF-4624-8BEC-5E8D27C87891}">
      <dgm:prSet/>
      <dgm:spPr/>
      <dgm:t>
        <a:bodyPr/>
        <a:lstStyle/>
        <a:p>
          <a:endParaRPr lang="es-ES"/>
        </a:p>
      </dgm:t>
    </dgm:pt>
    <dgm:pt modelId="{0F482811-A731-49C1-B75D-924DFE791C18}">
      <dgm:prSet phldrT="[Texto]"/>
      <dgm:spPr/>
      <dgm:t>
        <a:bodyPr/>
        <a:lstStyle/>
        <a:p>
          <a:r>
            <a:rPr lang="es-ES" dirty="0"/>
            <a:t>Horas para completar una Tarea</a:t>
          </a:r>
        </a:p>
      </dgm:t>
    </dgm:pt>
    <dgm:pt modelId="{916A804D-5B5A-4063-ACDB-D50E25E5692F}" type="parTrans" cxnId="{86A1AC06-DBF0-45CC-80EC-0A399133CC3E}">
      <dgm:prSet/>
      <dgm:spPr/>
      <dgm:t>
        <a:bodyPr/>
        <a:lstStyle/>
        <a:p>
          <a:endParaRPr lang="es-ES"/>
        </a:p>
      </dgm:t>
    </dgm:pt>
    <dgm:pt modelId="{65038ABE-B3A0-4031-8710-9D4148AB5BAE}" type="sibTrans" cxnId="{86A1AC06-DBF0-45CC-80EC-0A399133CC3E}">
      <dgm:prSet/>
      <dgm:spPr/>
      <dgm:t>
        <a:bodyPr/>
        <a:lstStyle/>
        <a:p>
          <a:endParaRPr lang="es-ES"/>
        </a:p>
      </dgm:t>
    </dgm:pt>
    <dgm:pt modelId="{D780314C-94B2-4586-A468-2B1025698D07}">
      <dgm:prSet phldrT="[Texto]"/>
      <dgm:spPr/>
      <dgm:t>
        <a:bodyPr/>
        <a:lstStyle/>
        <a:p>
          <a:r>
            <a:rPr lang="es-ES" b="1" dirty="0">
              <a:solidFill>
                <a:schemeClr val="tx1"/>
              </a:solidFill>
            </a:rPr>
            <a:t>Esfuerzo</a:t>
          </a:r>
        </a:p>
      </dgm:t>
    </dgm:pt>
    <dgm:pt modelId="{D0AAE042-DEB5-48EC-B049-F9EBB22728F7}" type="parTrans" cxnId="{DCC5650F-4C3D-4FA4-9F71-D39AC348037F}">
      <dgm:prSet/>
      <dgm:spPr/>
      <dgm:t>
        <a:bodyPr/>
        <a:lstStyle/>
        <a:p>
          <a:endParaRPr lang="es-ES"/>
        </a:p>
      </dgm:t>
    </dgm:pt>
    <dgm:pt modelId="{D3878E2D-D396-4F2B-B9F0-C393B2D143BA}" type="sibTrans" cxnId="{DCC5650F-4C3D-4FA4-9F71-D39AC348037F}">
      <dgm:prSet/>
      <dgm:spPr/>
      <dgm:t>
        <a:bodyPr/>
        <a:lstStyle/>
        <a:p>
          <a:endParaRPr lang="es-ES"/>
        </a:p>
      </dgm:t>
    </dgm:pt>
    <dgm:pt modelId="{68E46A10-240C-4DA3-98E3-F08200DAEFC6}">
      <dgm:prSet phldrT="[Texto]"/>
      <dgm:spPr/>
      <dgm:t>
        <a:bodyPr/>
        <a:lstStyle/>
        <a:p>
          <a:r>
            <a:rPr lang="es-ES" dirty="0"/>
            <a:t>Tiempo (H, D, S, M) en que una Persona logra completar lo planificado. </a:t>
          </a:r>
        </a:p>
      </dgm:t>
    </dgm:pt>
    <dgm:pt modelId="{BA07731A-7E6C-415F-9321-4FF2421B0851}" type="parTrans" cxnId="{6A15D7EE-E720-4E8F-8D99-D5B74E880B4F}">
      <dgm:prSet/>
      <dgm:spPr/>
      <dgm:t>
        <a:bodyPr/>
        <a:lstStyle/>
        <a:p>
          <a:endParaRPr lang="es-ES"/>
        </a:p>
      </dgm:t>
    </dgm:pt>
    <dgm:pt modelId="{9A935812-00D3-4D34-938D-207C39FC5E7F}" type="sibTrans" cxnId="{6A15D7EE-E720-4E8F-8D99-D5B74E880B4F}">
      <dgm:prSet/>
      <dgm:spPr/>
      <dgm:t>
        <a:bodyPr/>
        <a:lstStyle/>
        <a:p>
          <a:endParaRPr lang="es-ES"/>
        </a:p>
      </dgm:t>
    </dgm:pt>
    <dgm:pt modelId="{84157D57-AB8D-4D5D-9152-BCEE5AE4B3D8}">
      <dgm:prSet/>
      <dgm:spPr/>
      <dgm:t>
        <a:bodyPr/>
        <a:lstStyle/>
        <a:p>
          <a:r>
            <a:rPr lang="es-ES" dirty="0"/>
            <a:t>Monetarios (Gastos, Ganancia).</a:t>
          </a:r>
        </a:p>
      </dgm:t>
    </dgm:pt>
    <dgm:pt modelId="{4E192318-521E-4F67-B538-F13954388660}" type="parTrans" cxnId="{D5C56913-D815-425C-97E4-411A9BC8D017}">
      <dgm:prSet/>
      <dgm:spPr/>
      <dgm:t>
        <a:bodyPr/>
        <a:lstStyle/>
        <a:p>
          <a:endParaRPr lang="es-ES"/>
        </a:p>
      </dgm:t>
    </dgm:pt>
    <dgm:pt modelId="{6CD620E7-EBCC-4401-BE26-7E3A07D3EBEB}" type="sibTrans" cxnId="{D5C56913-D815-425C-97E4-411A9BC8D017}">
      <dgm:prSet/>
      <dgm:spPr/>
      <dgm:t>
        <a:bodyPr/>
        <a:lstStyle/>
        <a:p>
          <a:endParaRPr lang="es-ES"/>
        </a:p>
      </dgm:t>
    </dgm:pt>
    <dgm:pt modelId="{4BBC24C2-25E4-464A-A648-AD708938EA12}">
      <dgm:prSet/>
      <dgm:spPr/>
      <dgm:t>
        <a:bodyPr/>
        <a:lstStyle/>
        <a:p>
          <a:r>
            <a:rPr lang="es-ES" dirty="0"/>
            <a:t>Componentes SW reutilizables (componentes ya desarrollados, nuevos componentes)</a:t>
          </a:r>
        </a:p>
      </dgm:t>
    </dgm:pt>
    <dgm:pt modelId="{823878F7-4899-4533-A15D-6DF0BC980139}" type="parTrans" cxnId="{5CA814A1-EFA1-4476-9F27-7D39F3665FB3}">
      <dgm:prSet/>
      <dgm:spPr/>
      <dgm:t>
        <a:bodyPr/>
        <a:lstStyle/>
        <a:p>
          <a:endParaRPr lang="es-ES"/>
        </a:p>
      </dgm:t>
    </dgm:pt>
    <dgm:pt modelId="{2A6540DA-A6CE-4F57-879D-D866DD09B1C8}" type="sibTrans" cxnId="{5CA814A1-EFA1-4476-9F27-7D39F3665FB3}">
      <dgm:prSet/>
      <dgm:spPr/>
      <dgm:t>
        <a:bodyPr/>
        <a:lstStyle/>
        <a:p>
          <a:endParaRPr lang="es-ES"/>
        </a:p>
      </dgm:t>
    </dgm:pt>
    <dgm:pt modelId="{6D6B52BA-1131-4152-9182-61C341DFA09E}">
      <dgm:prSet/>
      <dgm:spPr/>
      <dgm:t>
        <a:bodyPr/>
        <a:lstStyle/>
        <a:p>
          <a:r>
            <a:rPr lang="es-ES" dirty="0"/>
            <a:t>Entorno (Herramientas, Hardware, recursos de red).</a:t>
          </a:r>
        </a:p>
      </dgm:t>
    </dgm:pt>
    <dgm:pt modelId="{36AF6201-CDB8-4C25-9A66-0A5EFC4C24C6}" type="parTrans" cxnId="{51643BBC-B29C-48ED-8255-D5FE3B54693C}">
      <dgm:prSet/>
      <dgm:spPr/>
      <dgm:t>
        <a:bodyPr/>
        <a:lstStyle/>
        <a:p>
          <a:endParaRPr lang="es-ES"/>
        </a:p>
      </dgm:t>
    </dgm:pt>
    <dgm:pt modelId="{2983A5C4-9C89-414B-A2AE-F2B31183A8BC}" type="sibTrans" cxnId="{51643BBC-B29C-48ED-8255-D5FE3B54693C}">
      <dgm:prSet/>
      <dgm:spPr/>
      <dgm:t>
        <a:bodyPr/>
        <a:lstStyle/>
        <a:p>
          <a:endParaRPr lang="es-ES"/>
        </a:p>
      </dgm:t>
    </dgm:pt>
    <dgm:pt modelId="{897491B1-EC0E-4A62-B932-F3559D9CF530}">
      <dgm:prSet/>
      <dgm:spPr/>
      <dgm:t>
        <a:bodyPr/>
        <a:lstStyle/>
        <a:p>
          <a:r>
            <a:rPr lang="es-ES" dirty="0"/>
            <a:t>Días para completar una Actividad</a:t>
          </a:r>
        </a:p>
      </dgm:t>
    </dgm:pt>
    <dgm:pt modelId="{F1D500A8-BFD4-4381-894F-D10B9B52169D}" type="parTrans" cxnId="{7F445082-E502-436F-B598-8B6A3EF873C6}">
      <dgm:prSet/>
      <dgm:spPr/>
      <dgm:t>
        <a:bodyPr/>
        <a:lstStyle/>
        <a:p>
          <a:endParaRPr lang="es-ES"/>
        </a:p>
      </dgm:t>
    </dgm:pt>
    <dgm:pt modelId="{DD7CEAE8-8414-482F-ACAD-3689689E5E47}" type="sibTrans" cxnId="{7F445082-E502-436F-B598-8B6A3EF873C6}">
      <dgm:prSet/>
      <dgm:spPr/>
      <dgm:t>
        <a:bodyPr/>
        <a:lstStyle/>
        <a:p>
          <a:endParaRPr lang="es-ES"/>
        </a:p>
      </dgm:t>
    </dgm:pt>
    <dgm:pt modelId="{349CD132-1539-4F88-89B7-932613DEC079}">
      <dgm:prSet/>
      <dgm:spPr/>
      <dgm:t>
        <a:bodyPr/>
        <a:lstStyle/>
        <a:p>
          <a:r>
            <a:rPr lang="es-ES"/>
            <a:t>Semanas para completar un Hito.</a:t>
          </a:r>
          <a:endParaRPr lang="es-ES" dirty="0"/>
        </a:p>
      </dgm:t>
    </dgm:pt>
    <dgm:pt modelId="{931C2A6F-1F92-4E28-9B06-761D858744FA}" type="parTrans" cxnId="{68556C09-69C5-4095-B093-2A2078A64B61}">
      <dgm:prSet/>
      <dgm:spPr/>
      <dgm:t>
        <a:bodyPr/>
        <a:lstStyle/>
        <a:p>
          <a:endParaRPr lang="es-ES"/>
        </a:p>
      </dgm:t>
    </dgm:pt>
    <dgm:pt modelId="{B98B8A52-9DC2-42BA-9DA1-A49925E4EF07}" type="sibTrans" cxnId="{68556C09-69C5-4095-B093-2A2078A64B61}">
      <dgm:prSet/>
      <dgm:spPr/>
      <dgm:t>
        <a:bodyPr/>
        <a:lstStyle/>
        <a:p>
          <a:endParaRPr lang="es-ES"/>
        </a:p>
      </dgm:t>
    </dgm:pt>
    <dgm:pt modelId="{0A0E97E4-EA15-4C26-AC64-CE59F0BFA89E}">
      <dgm:prSet/>
      <dgm:spPr/>
      <dgm:t>
        <a:bodyPr/>
        <a:lstStyle/>
        <a:p>
          <a:r>
            <a:rPr lang="es-ES" dirty="0"/>
            <a:t>Meses para completar una Etapa o el Proyecto.</a:t>
          </a:r>
        </a:p>
      </dgm:t>
    </dgm:pt>
    <dgm:pt modelId="{9A08B54F-FCCE-4218-9ADE-14CF62A906F1}" type="parTrans" cxnId="{BEE8654A-755C-4BFA-B3B8-F5B46AAB83DC}">
      <dgm:prSet/>
      <dgm:spPr/>
      <dgm:t>
        <a:bodyPr/>
        <a:lstStyle/>
        <a:p>
          <a:endParaRPr lang="es-ES"/>
        </a:p>
      </dgm:t>
    </dgm:pt>
    <dgm:pt modelId="{15BCEADE-B3E4-4940-9A3D-448F5C6782B4}" type="sibTrans" cxnId="{BEE8654A-755C-4BFA-B3B8-F5B46AAB83DC}">
      <dgm:prSet/>
      <dgm:spPr/>
      <dgm:t>
        <a:bodyPr/>
        <a:lstStyle/>
        <a:p>
          <a:endParaRPr lang="es-ES"/>
        </a:p>
      </dgm:t>
    </dgm:pt>
    <dgm:pt modelId="{52124303-DDC5-48AA-8DAB-7CBFC9E805E1}">
      <dgm:prSet/>
      <dgm:spPr/>
      <dgm:t>
        <a:bodyPr/>
        <a:lstStyle/>
        <a:p>
          <a:r>
            <a:rPr lang="es-ES"/>
            <a:t>Razón proporcional entre ¿Qué se hace? ¿Quién lo hace? Y ¿Cuándo se hace?.</a:t>
          </a:r>
          <a:endParaRPr lang="es-ES" dirty="0"/>
        </a:p>
      </dgm:t>
    </dgm:pt>
    <dgm:pt modelId="{324DC681-2DEF-470E-A57C-967D2B76AA26}" type="parTrans" cxnId="{A125769B-7F4C-46E5-8D74-54D4F7C65B87}">
      <dgm:prSet/>
      <dgm:spPr/>
      <dgm:t>
        <a:bodyPr/>
        <a:lstStyle/>
        <a:p>
          <a:endParaRPr lang="es-ES"/>
        </a:p>
      </dgm:t>
    </dgm:pt>
    <dgm:pt modelId="{3832F928-467A-4FB5-B069-09753A3DD391}" type="sibTrans" cxnId="{A125769B-7F4C-46E5-8D74-54D4F7C65B87}">
      <dgm:prSet/>
      <dgm:spPr/>
      <dgm:t>
        <a:bodyPr/>
        <a:lstStyle/>
        <a:p>
          <a:endParaRPr lang="es-ES"/>
        </a:p>
      </dgm:t>
    </dgm:pt>
    <dgm:pt modelId="{FC9418A5-E9B4-4FF0-B469-75CEDEB72BD6}">
      <dgm:prSet/>
      <dgm:spPr/>
      <dgm:t>
        <a:bodyPr/>
        <a:lstStyle/>
        <a:p>
          <a:r>
            <a:rPr lang="es-ES" dirty="0"/>
            <a:t>Productividad (tamaño/esfuerzo)</a:t>
          </a:r>
        </a:p>
      </dgm:t>
    </dgm:pt>
    <dgm:pt modelId="{9DA8586F-9546-41D6-8D9C-B3587E045B5D}" type="parTrans" cxnId="{3C040BE9-4211-4531-ADB3-6FC4DD81952E}">
      <dgm:prSet/>
      <dgm:spPr/>
      <dgm:t>
        <a:bodyPr/>
        <a:lstStyle/>
        <a:p>
          <a:endParaRPr lang="es-ES"/>
        </a:p>
      </dgm:t>
    </dgm:pt>
    <dgm:pt modelId="{ED0E361B-5BA3-4076-AB90-2DF20D56ECDF}" type="sibTrans" cxnId="{3C040BE9-4211-4531-ADB3-6FC4DD81952E}">
      <dgm:prSet/>
      <dgm:spPr/>
      <dgm:t>
        <a:bodyPr/>
        <a:lstStyle/>
        <a:p>
          <a:endParaRPr lang="es-ES"/>
        </a:p>
      </dgm:t>
    </dgm:pt>
    <dgm:pt modelId="{5EC9456B-C8D8-40EA-9F9B-271F8EB710CB}" type="pres">
      <dgm:prSet presAssocID="{C460C3B2-A851-4D6F-ABB2-7071FF617A7D}" presName="Name0" presStyleCnt="0">
        <dgm:presLayoutVars>
          <dgm:dir/>
          <dgm:animLvl val="lvl"/>
          <dgm:resizeHandles val="exact"/>
        </dgm:presLayoutVars>
      </dgm:prSet>
      <dgm:spPr/>
      <dgm:t>
        <a:bodyPr/>
        <a:lstStyle/>
        <a:p>
          <a:endParaRPr lang="es-ES"/>
        </a:p>
      </dgm:t>
    </dgm:pt>
    <dgm:pt modelId="{9AA876CA-EA98-43AB-B8F0-98A3D74E6D8E}" type="pres">
      <dgm:prSet presAssocID="{727CCFBB-0008-4480-B06A-ED769DD89825}" presName="composite" presStyleCnt="0"/>
      <dgm:spPr/>
    </dgm:pt>
    <dgm:pt modelId="{D0312701-FF02-4037-BEBD-234907F3BB5E}" type="pres">
      <dgm:prSet presAssocID="{727CCFBB-0008-4480-B06A-ED769DD89825}" presName="parTx" presStyleLbl="alignNode1" presStyleIdx="0" presStyleCnt="3">
        <dgm:presLayoutVars>
          <dgm:chMax val="0"/>
          <dgm:chPref val="0"/>
          <dgm:bulletEnabled val="1"/>
        </dgm:presLayoutVars>
      </dgm:prSet>
      <dgm:spPr/>
      <dgm:t>
        <a:bodyPr/>
        <a:lstStyle/>
        <a:p>
          <a:endParaRPr lang="es-ES"/>
        </a:p>
      </dgm:t>
    </dgm:pt>
    <dgm:pt modelId="{57EF7ED1-0259-482D-9C5A-516173DEB1A3}" type="pres">
      <dgm:prSet presAssocID="{727CCFBB-0008-4480-B06A-ED769DD89825}" presName="desTx" presStyleLbl="alignAccFollowNode1" presStyleIdx="0" presStyleCnt="3">
        <dgm:presLayoutVars>
          <dgm:bulletEnabled val="1"/>
        </dgm:presLayoutVars>
      </dgm:prSet>
      <dgm:spPr/>
      <dgm:t>
        <a:bodyPr/>
        <a:lstStyle/>
        <a:p>
          <a:endParaRPr lang="es-ES"/>
        </a:p>
      </dgm:t>
    </dgm:pt>
    <dgm:pt modelId="{8B4C5122-D2D0-44E5-B473-E4EADEDD49FF}" type="pres">
      <dgm:prSet presAssocID="{D7481807-B290-4544-8D9C-12A6B9574CC0}" presName="space" presStyleCnt="0"/>
      <dgm:spPr/>
    </dgm:pt>
    <dgm:pt modelId="{4EA636D4-BBE0-4660-9EBB-CF52862EF18B}" type="pres">
      <dgm:prSet presAssocID="{23F57316-A8C5-41AC-93B1-418E9EB39736}" presName="composite" presStyleCnt="0"/>
      <dgm:spPr/>
    </dgm:pt>
    <dgm:pt modelId="{19793856-B475-4304-898A-07F55DD7AA38}" type="pres">
      <dgm:prSet presAssocID="{23F57316-A8C5-41AC-93B1-418E9EB39736}" presName="parTx" presStyleLbl="alignNode1" presStyleIdx="1" presStyleCnt="3">
        <dgm:presLayoutVars>
          <dgm:chMax val="0"/>
          <dgm:chPref val="0"/>
          <dgm:bulletEnabled val="1"/>
        </dgm:presLayoutVars>
      </dgm:prSet>
      <dgm:spPr/>
      <dgm:t>
        <a:bodyPr/>
        <a:lstStyle/>
        <a:p>
          <a:endParaRPr lang="es-ES"/>
        </a:p>
      </dgm:t>
    </dgm:pt>
    <dgm:pt modelId="{445EEEDD-FF31-4B9D-9954-1888A1AEA8F9}" type="pres">
      <dgm:prSet presAssocID="{23F57316-A8C5-41AC-93B1-418E9EB39736}" presName="desTx" presStyleLbl="alignAccFollowNode1" presStyleIdx="1" presStyleCnt="3">
        <dgm:presLayoutVars>
          <dgm:bulletEnabled val="1"/>
        </dgm:presLayoutVars>
      </dgm:prSet>
      <dgm:spPr/>
      <dgm:t>
        <a:bodyPr/>
        <a:lstStyle/>
        <a:p>
          <a:endParaRPr lang="es-ES"/>
        </a:p>
      </dgm:t>
    </dgm:pt>
    <dgm:pt modelId="{2749AD89-9D3D-42C3-9063-0C4D4A197A69}" type="pres">
      <dgm:prSet presAssocID="{BCCED5E3-034D-4479-9811-5031EA905D59}" presName="space" presStyleCnt="0"/>
      <dgm:spPr/>
    </dgm:pt>
    <dgm:pt modelId="{149DEBDE-00AB-4789-8CDF-7E05C727F2C8}" type="pres">
      <dgm:prSet presAssocID="{D780314C-94B2-4586-A468-2B1025698D07}" presName="composite" presStyleCnt="0"/>
      <dgm:spPr/>
    </dgm:pt>
    <dgm:pt modelId="{EA8669F9-F5FF-47F3-874C-04DBF9072BD7}" type="pres">
      <dgm:prSet presAssocID="{D780314C-94B2-4586-A468-2B1025698D07}" presName="parTx" presStyleLbl="alignNode1" presStyleIdx="2" presStyleCnt="3">
        <dgm:presLayoutVars>
          <dgm:chMax val="0"/>
          <dgm:chPref val="0"/>
          <dgm:bulletEnabled val="1"/>
        </dgm:presLayoutVars>
      </dgm:prSet>
      <dgm:spPr/>
      <dgm:t>
        <a:bodyPr/>
        <a:lstStyle/>
        <a:p>
          <a:endParaRPr lang="es-ES"/>
        </a:p>
      </dgm:t>
    </dgm:pt>
    <dgm:pt modelId="{4FF97298-CCEF-4563-BD81-F4CB5599CAB5}" type="pres">
      <dgm:prSet presAssocID="{D780314C-94B2-4586-A468-2B1025698D07}" presName="desTx" presStyleLbl="alignAccFollowNode1" presStyleIdx="2" presStyleCnt="3">
        <dgm:presLayoutVars>
          <dgm:bulletEnabled val="1"/>
        </dgm:presLayoutVars>
      </dgm:prSet>
      <dgm:spPr/>
      <dgm:t>
        <a:bodyPr/>
        <a:lstStyle/>
        <a:p>
          <a:endParaRPr lang="es-ES"/>
        </a:p>
      </dgm:t>
    </dgm:pt>
  </dgm:ptLst>
  <dgm:cxnLst>
    <dgm:cxn modelId="{7F445082-E502-436F-B598-8B6A3EF873C6}" srcId="{23F57316-A8C5-41AC-93B1-418E9EB39736}" destId="{897491B1-EC0E-4A62-B932-F3559D9CF530}" srcOrd="1" destOrd="0" parTransId="{F1D500A8-BFD4-4381-894F-D10B9B52169D}" sibTransId="{DD7CEAE8-8414-482F-ACAD-3689689E5E47}"/>
    <dgm:cxn modelId="{BFFC8D74-4E9A-4600-9F51-6A1256553DF0}" type="presOf" srcId="{23F57316-A8C5-41AC-93B1-418E9EB39736}" destId="{19793856-B475-4304-898A-07F55DD7AA38}" srcOrd="0" destOrd="0" presId="urn:microsoft.com/office/officeart/2005/8/layout/hList1"/>
    <dgm:cxn modelId="{B3D7E8DD-F43F-4AA5-8C80-831CDAD172B2}" type="presOf" srcId="{349CD132-1539-4F88-89B7-932613DEC079}" destId="{445EEEDD-FF31-4B9D-9954-1888A1AEA8F9}" srcOrd="0" destOrd="2" presId="urn:microsoft.com/office/officeart/2005/8/layout/hList1"/>
    <dgm:cxn modelId="{DCC5650F-4C3D-4FA4-9F71-D39AC348037F}" srcId="{C460C3B2-A851-4D6F-ABB2-7071FF617A7D}" destId="{D780314C-94B2-4586-A468-2B1025698D07}" srcOrd="2" destOrd="0" parTransId="{D0AAE042-DEB5-48EC-B049-F9EBB22728F7}" sibTransId="{D3878E2D-D396-4F2B-B9F0-C393B2D143BA}"/>
    <dgm:cxn modelId="{E8E7FDED-E42A-464A-AAA4-733AD56D6272}" type="presOf" srcId="{52124303-DDC5-48AA-8DAB-7CBFC9E805E1}" destId="{4FF97298-CCEF-4563-BD81-F4CB5599CAB5}" srcOrd="0" destOrd="1" presId="urn:microsoft.com/office/officeart/2005/8/layout/hList1"/>
    <dgm:cxn modelId="{3C040BE9-4211-4531-ADB3-6FC4DD81952E}" srcId="{D780314C-94B2-4586-A468-2B1025698D07}" destId="{FC9418A5-E9B4-4FF0-B469-75CEDEB72BD6}" srcOrd="2" destOrd="0" parTransId="{9DA8586F-9546-41D6-8D9C-B3587E045B5D}" sibTransId="{ED0E361B-5BA3-4076-AB90-2DF20D56ECDF}"/>
    <dgm:cxn modelId="{DD533C8F-8B7C-4FDB-B89A-B3F5E76014BB}" type="presOf" srcId="{727CCFBB-0008-4480-B06A-ED769DD89825}" destId="{D0312701-FF02-4037-BEBD-234907F3BB5E}" srcOrd="0" destOrd="0" presId="urn:microsoft.com/office/officeart/2005/8/layout/hList1"/>
    <dgm:cxn modelId="{DD84835B-3452-4E40-BAA2-87590AF48042}" type="presOf" srcId="{84157D57-AB8D-4D5D-9152-BCEE5AE4B3D8}" destId="{57EF7ED1-0259-482D-9C5A-516173DEB1A3}" srcOrd="0" destOrd="1" presId="urn:microsoft.com/office/officeart/2005/8/layout/hList1"/>
    <dgm:cxn modelId="{86A1AC06-DBF0-45CC-80EC-0A399133CC3E}" srcId="{23F57316-A8C5-41AC-93B1-418E9EB39736}" destId="{0F482811-A731-49C1-B75D-924DFE791C18}" srcOrd="0" destOrd="0" parTransId="{916A804D-5B5A-4063-ACDB-D50E25E5692F}" sibTransId="{65038ABE-B3A0-4031-8710-9D4148AB5BAE}"/>
    <dgm:cxn modelId="{BEE8654A-755C-4BFA-B3B8-F5B46AAB83DC}" srcId="{23F57316-A8C5-41AC-93B1-418E9EB39736}" destId="{0A0E97E4-EA15-4C26-AC64-CE59F0BFA89E}" srcOrd="3" destOrd="0" parTransId="{9A08B54F-FCCE-4218-9ADE-14CF62A906F1}" sibTransId="{15BCEADE-B3E4-4940-9A3D-448F5C6782B4}"/>
    <dgm:cxn modelId="{D5C56913-D815-425C-97E4-411A9BC8D017}" srcId="{727CCFBB-0008-4480-B06A-ED769DD89825}" destId="{84157D57-AB8D-4D5D-9152-BCEE5AE4B3D8}" srcOrd="1" destOrd="0" parTransId="{4E192318-521E-4F67-B538-F13954388660}" sibTransId="{6CD620E7-EBCC-4401-BE26-7E3A07D3EBEB}"/>
    <dgm:cxn modelId="{5CA814A1-EFA1-4476-9F27-7D39F3665FB3}" srcId="{727CCFBB-0008-4480-B06A-ED769DD89825}" destId="{4BBC24C2-25E4-464A-A648-AD708938EA12}" srcOrd="2" destOrd="0" parTransId="{823878F7-4899-4533-A15D-6DF0BC980139}" sibTransId="{2A6540DA-A6CE-4F57-879D-D866DD09B1C8}"/>
    <dgm:cxn modelId="{EB959939-C519-4B58-B313-23CF41CFECD5}" type="presOf" srcId="{FC9418A5-E9B4-4FF0-B469-75CEDEB72BD6}" destId="{4FF97298-CCEF-4563-BD81-F4CB5599CAB5}" srcOrd="0" destOrd="2" presId="urn:microsoft.com/office/officeart/2005/8/layout/hList1"/>
    <dgm:cxn modelId="{93024AD7-5B1B-430C-B870-5837B733BCB2}" type="presOf" srcId="{5CB4E0ED-3AB9-4003-AD62-C5869F74099A}" destId="{57EF7ED1-0259-482D-9C5A-516173DEB1A3}" srcOrd="0" destOrd="0" presId="urn:microsoft.com/office/officeart/2005/8/layout/hList1"/>
    <dgm:cxn modelId="{2ACBC977-506E-4282-BA69-2EF9AAEAF418}" srcId="{C460C3B2-A851-4D6F-ABB2-7071FF617A7D}" destId="{727CCFBB-0008-4480-B06A-ED769DD89825}" srcOrd="0" destOrd="0" parTransId="{12FC0E42-ABF3-4C2B-BEC7-69911F93EECF}" sibTransId="{D7481807-B290-4544-8D9C-12A6B9574CC0}"/>
    <dgm:cxn modelId="{61E1E790-F5B2-4A84-B14F-EBFAD6F6B314}" type="presOf" srcId="{0A0E97E4-EA15-4C26-AC64-CE59F0BFA89E}" destId="{445EEEDD-FF31-4B9D-9954-1888A1AEA8F9}" srcOrd="0" destOrd="3" presId="urn:microsoft.com/office/officeart/2005/8/layout/hList1"/>
    <dgm:cxn modelId="{7FB391B9-2FC2-4B08-AFDD-25A6E496F6F9}" type="presOf" srcId="{4BBC24C2-25E4-464A-A648-AD708938EA12}" destId="{57EF7ED1-0259-482D-9C5A-516173DEB1A3}" srcOrd="0" destOrd="2" presId="urn:microsoft.com/office/officeart/2005/8/layout/hList1"/>
    <dgm:cxn modelId="{A125769B-7F4C-46E5-8D74-54D4F7C65B87}" srcId="{D780314C-94B2-4586-A468-2B1025698D07}" destId="{52124303-DDC5-48AA-8DAB-7CBFC9E805E1}" srcOrd="1" destOrd="0" parTransId="{324DC681-2DEF-470E-A57C-967D2B76AA26}" sibTransId="{3832F928-467A-4FB5-B069-09753A3DD391}"/>
    <dgm:cxn modelId="{D164E1C8-8C6E-4DF1-81E5-53F3743D83E5}" type="presOf" srcId="{D780314C-94B2-4586-A468-2B1025698D07}" destId="{EA8669F9-F5FF-47F3-874C-04DBF9072BD7}" srcOrd="0" destOrd="0" presId="urn:microsoft.com/office/officeart/2005/8/layout/hList1"/>
    <dgm:cxn modelId="{68556C09-69C5-4095-B093-2A2078A64B61}" srcId="{23F57316-A8C5-41AC-93B1-418E9EB39736}" destId="{349CD132-1539-4F88-89B7-932613DEC079}" srcOrd="2" destOrd="0" parTransId="{931C2A6F-1F92-4E28-9B06-761D858744FA}" sibTransId="{B98B8A52-9DC2-42BA-9DA1-A49925E4EF07}"/>
    <dgm:cxn modelId="{165202B9-2408-42CE-8E9E-30006C50D705}" type="presOf" srcId="{6D6B52BA-1131-4152-9182-61C341DFA09E}" destId="{57EF7ED1-0259-482D-9C5A-516173DEB1A3}" srcOrd="0" destOrd="3" presId="urn:microsoft.com/office/officeart/2005/8/layout/hList1"/>
    <dgm:cxn modelId="{6A15D7EE-E720-4E8F-8D99-D5B74E880B4F}" srcId="{D780314C-94B2-4586-A468-2B1025698D07}" destId="{68E46A10-240C-4DA3-98E3-F08200DAEFC6}" srcOrd="0" destOrd="0" parTransId="{BA07731A-7E6C-415F-9321-4FF2421B0851}" sibTransId="{9A935812-00D3-4D34-938D-207C39FC5E7F}"/>
    <dgm:cxn modelId="{A6A66A88-3CF0-4133-8089-026504FA62F7}" type="presOf" srcId="{897491B1-EC0E-4A62-B932-F3559D9CF530}" destId="{445EEEDD-FF31-4B9D-9954-1888A1AEA8F9}" srcOrd="0" destOrd="1" presId="urn:microsoft.com/office/officeart/2005/8/layout/hList1"/>
    <dgm:cxn modelId="{5C62DD85-4FE4-44F1-92CE-1967DF2BFFF2}" type="presOf" srcId="{C460C3B2-A851-4D6F-ABB2-7071FF617A7D}" destId="{5EC9456B-C8D8-40EA-9F9B-271F8EB710CB}" srcOrd="0" destOrd="0" presId="urn:microsoft.com/office/officeart/2005/8/layout/hList1"/>
    <dgm:cxn modelId="{51643BBC-B29C-48ED-8255-D5FE3B54693C}" srcId="{727CCFBB-0008-4480-B06A-ED769DD89825}" destId="{6D6B52BA-1131-4152-9182-61C341DFA09E}" srcOrd="3" destOrd="0" parTransId="{36AF6201-CDB8-4C25-9A66-0A5EFC4C24C6}" sibTransId="{2983A5C4-9C89-414B-A2AE-F2B31183A8BC}"/>
    <dgm:cxn modelId="{F07150CB-DA9F-433D-9EED-D37E7FFBB999}" type="presOf" srcId="{68E46A10-240C-4DA3-98E3-F08200DAEFC6}" destId="{4FF97298-CCEF-4563-BD81-F4CB5599CAB5}" srcOrd="0" destOrd="0" presId="urn:microsoft.com/office/officeart/2005/8/layout/hList1"/>
    <dgm:cxn modelId="{F76E8145-8496-4C51-970C-5671EE63269A}" srcId="{727CCFBB-0008-4480-B06A-ED769DD89825}" destId="{5CB4E0ED-3AB9-4003-AD62-C5869F74099A}" srcOrd="0" destOrd="0" parTransId="{6CBFAD73-9934-4992-987D-83A67D74C01E}" sibTransId="{8DF82A02-B7F3-47C2-9D4C-4C9ECD5CAB4F}"/>
    <dgm:cxn modelId="{824987F2-65A4-4775-9FB9-FF6565706B37}" type="presOf" srcId="{0F482811-A731-49C1-B75D-924DFE791C18}" destId="{445EEEDD-FF31-4B9D-9954-1888A1AEA8F9}" srcOrd="0" destOrd="0" presId="urn:microsoft.com/office/officeart/2005/8/layout/hList1"/>
    <dgm:cxn modelId="{492A0526-20EF-4624-8BEC-5E8D27C87891}" srcId="{C460C3B2-A851-4D6F-ABB2-7071FF617A7D}" destId="{23F57316-A8C5-41AC-93B1-418E9EB39736}" srcOrd="1" destOrd="0" parTransId="{6A966729-CFA6-491F-98D4-EF421DA14920}" sibTransId="{BCCED5E3-034D-4479-9811-5031EA905D59}"/>
    <dgm:cxn modelId="{ECA1225D-A44F-4743-8714-08CCFD36858B}" type="presParOf" srcId="{5EC9456B-C8D8-40EA-9F9B-271F8EB710CB}" destId="{9AA876CA-EA98-43AB-B8F0-98A3D74E6D8E}" srcOrd="0" destOrd="0" presId="urn:microsoft.com/office/officeart/2005/8/layout/hList1"/>
    <dgm:cxn modelId="{332EAEE7-45AA-40AA-9BFE-62471CCF394F}" type="presParOf" srcId="{9AA876CA-EA98-43AB-B8F0-98A3D74E6D8E}" destId="{D0312701-FF02-4037-BEBD-234907F3BB5E}" srcOrd="0" destOrd="0" presId="urn:microsoft.com/office/officeart/2005/8/layout/hList1"/>
    <dgm:cxn modelId="{84C4F6A4-A132-4BEB-B78C-DE4DE61A928A}" type="presParOf" srcId="{9AA876CA-EA98-43AB-B8F0-98A3D74E6D8E}" destId="{57EF7ED1-0259-482D-9C5A-516173DEB1A3}" srcOrd="1" destOrd="0" presId="urn:microsoft.com/office/officeart/2005/8/layout/hList1"/>
    <dgm:cxn modelId="{93D161FA-99BB-44E8-B8A1-955620613BC8}" type="presParOf" srcId="{5EC9456B-C8D8-40EA-9F9B-271F8EB710CB}" destId="{8B4C5122-D2D0-44E5-B473-E4EADEDD49FF}" srcOrd="1" destOrd="0" presId="urn:microsoft.com/office/officeart/2005/8/layout/hList1"/>
    <dgm:cxn modelId="{AC5D0B6D-DDC8-40DD-8BFF-E4339AF8B521}" type="presParOf" srcId="{5EC9456B-C8D8-40EA-9F9B-271F8EB710CB}" destId="{4EA636D4-BBE0-4660-9EBB-CF52862EF18B}" srcOrd="2" destOrd="0" presId="urn:microsoft.com/office/officeart/2005/8/layout/hList1"/>
    <dgm:cxn modelId="{D50F917B-4C42-4335-9E18-B604AC3DF6DF}" type="presParOf" srcId="{4EA636D4-BBE0-4660-9EBB-CF52862EF18B}" destId="{19793856-B475-4304-898A-07F55DD7AA38}" srcOrd="0" destOrd="0" presId="urn:microsoft.com/office/officeart/2005/8/layout/hList1"/>
    <dgm:cxn modelId="{D758A1D0-A15D-410B-9167-E4B58623AD91}" type="presParOf" srcId="{4EA636D4-BBE0-4660-9EBB-CF52862EF18B}" destId="{445EEEDD-FF31-4B9D-9954-1888A1AEA8F9}" srcOrd="1" destOrd="0" presId="urn:microsoft.com/office/officeart/2005/8/layout/hList1"/>
    <dgm:cxn modelId="{E64F38A7-C45E-409F-B03F-D6C2281282F5}" type="presParOf" srcId="{5EC9456B-C8D8-40EA-9F9B-271F8EB710CB}" destId="{2749AD89-9D3D-42C3-9063-0C4D4A197A69}" srcOrd="3" destOrd="0" presId="urn:microsoft.com/office/officeart/2005/8/layout/hList1"/>
    <dgm:cxn modelId="{D7FA680E-89DD-469C-A4E3-ACC398B3DBA1}" type="presParOf" srcId="{5EC9456B-C8D8-40EA-9F9B-271F8EB710CB}" destId="{149DEBDE-00AB-4789-8CDF-7E05C727F2C8}" srcOrd="4" destOrd="0" presId="urn:microsoft.com/office/officeart/2005/8/layout/hList1"/>
    <dgm:cxn modelId="{3B4D9607-F5C2-468B-80E7-2AEBB91119FE}" type="presParOf" srcId="{149DEBDE-00AB-4789-8CDF-7E05C727F2C8}" destId="{EA8669F9-F5FF-47F3-874C-04DBF9072BD7}" srcOrd="0" destOrd="0" presId="urn:microsoft.com/office/officeart/2005/8/layout/hList1"/>
    <dgm:cxn modelId="{D166B5B2-1144-4541-A9AE-91978B63AEB1}" type="presParOf" srcId="{149DEBDE-00AB-4789-8CDF-7E05C727F2C8}" destId="{4FF97298-CCEF-4563-BD81-F4CB5599CAB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369643-5414-42DD-BAB9-0CC38B1B1EE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ES"/>
        </a:p>
      </dgm:t>
    </dgm:pt>
    <dgm:pt modelId="{76689A31-6667-4D07-8640-5583679554B4}">
      <dgm:prSet phldrT="[Text]" custT="1"/>
      <dgm:spPr/>
      <dgm:t>
        <a:bodyPr/>
        <a:lstStyle/>
        <a:p>
          <a:r>
            <a:rPr lang="es-ES" sz="2200" b="1" dirty="0">
              <a:solidFill>
                <a:schemeClr val="tx1"/>
              </a:solidFill>
            </a:rPr>
            <a:t>Técnico</a:t>
          </a:r>
        </a:p>
      </dgm:t>
    </dgm:pt>
    <dgm:pt modelId="{FEC62302-6C36-4888-99D5-587DF3389C23}" type="parTrans" cxnId="{24B623CE-0602-47E5-8A40-60E4FAB2A71A}">
      <dgm:prSet/>
      <dgm:spPr/>
      <dgm:t>
        <a:bodyPr/>
        <a:lstStyle/>
        <a:p>
          <a:endParaRPr lang="es-ES" sz="2000" b="1"/>
        </a:p>
      </dgm:t>
    </dgm:pt>
    <dgm:pt modelId="{5FA520AD-5043-4C56-AC5E-3046805B8FDF}" type="sibTrans" cxnId="{24B623CE-0602-47E5-8A40-60E4FAB2A71A}">
      <dgm:prSet/>
      <dgm:spPr/>
      <dgm:t>
        <a:bodyPr/>
        <a:lstStyle/>
        <a:p>
          <a:endParaRPr lang="es-ES" sz="2000" b="1"/>
        </a:p>
      </dgm:t>
    </dgm:pt>
    <dgm:pt modelId="{0EEE2E9F-ABF2-4AD4-8B95-E7861E36BC7C}">
      <dgm:prSet phldrT="[Text]" custT="1"/>
      <dgm:spPr/>
      <dgm:t>
        <a:bodyPr/>
        <a:lstStyle/>
        <a:p>
          <a:r>
            <a:rPr lang="es-ES" sz="2200" b="0" dirty="0"/>
            <a:t>Requisitos</a:t>
          </a:r>
        </a:p>
      </dgm:t>
    </dgm:pt>
    <dgm:pt modelId="{E44096BF-4794-4C9F-9679-E9ED4BAD09FC}" type="parTrans" cxnId="{FD3E48D3-8C8F-4A62-98AA-DD28ADDA1849}">
      <dgm:prSet/>
      <dgm:spPr/>
      <dgm:t>
        <a:bodyPr/>
        <a:lstStyle/>
        <a:p>
          <a:endParaRPr lang="es-ES" sz="2000" b="1"/>
        </a:p>
      </dgm:t>
    </dgm:pt>
    <dgm:pt modelId="{C50D9134-6553-4C42-969F-785EF2A8EE5C}" type="sibTrans" cxnId="{FD3E48D3-8C8F-4A62-98AA-DD28ADDA1849}">
      <dgm:prSet/>
      <dgm:spPr/>
      <dgm:t>
        <a:bodyPr/>
        <a:lstStyle/>
        <a:p>
          <a:endParaRPr lang="es-ES" sz="2000" b="1"/>
        </a:p>
      </dgm:t>
    </dgm:pt>
    <dgm:pt modelId="{81B9348A-A8FC-4D50-934B-237A2913CB42}">
      <dgm:prSet phldrT="[Text]" custT="1"/>
      <dgm:spPr/>
      <dgm:t>
        <a:bodyPr/>
        <a:lstStyle/>
        <a:p>
          <a:r>
            <a:rPr lang="es-ES" sz="2200" b="0" dirty="0"/>
            <a:t>Interfaces</a:t>
          </a:r>
        </a:p>
      </dgm:t>
    </dgm:pt>
    <dgm:pt modelId="{D12AFA66-DCA2-427D-8092-BAACDD110998}" type="parTrans" cxnId="{393673DD-D17F-4A08-94ED-56F6EEE3C7B7}">
      <dgm:prSet/>
      <dgm:spPr/>
      <dgm:t>
        <a:bodyPr/>
        <a:lstStyle/>
        <a:p>
          <a:endParaRPr lang="es-ES" sz="2000" b="1"/>
        </a:p>
      </dgm:t>
    </dgm:pt>
    <dgm:pt modelId="{BA9E584A-F24F-4157-8FD8-0A6AB7EEA1F2}" type="sibTrans" cxnId="{393673DD-D17F-4A08-94ED-56F6EEE3C7B7}">
      <dgm:prSet/>
      <dgm:spPr/>
      <dgm:t>
        <a:bodyPr/>
        <a:lstStyle/>
        <a:p>
          <a:endParaRPr lang="es-ES" sz="2000" b="1"/>
        </a:p>
      </dgm:t>
    </dgm:pt>
    <dgm:pt modelId="{208D8E08-9F4E-4D98-87DD-E8A340DC6E0F}">
      <dgm:prSet phldrT="[Text]" custT="1"/>
      <dgm:spPr/>
      <dgm:t>
        <a:bodyPr/>
        <a:lstStyle/>
        <a:p>
          <a:r>
            <a:rPr lang="es-ES" sz="2200" b="1" dirty="0">
              <a:solidFill>
                <a:schemeClr val="tx1"/>
              </a:solidFill>
            </a:rPr>
            <a:t>Externo</a:t>
          </a:r>
        </a:p>
      </dgm:t>
    </dgm:pt>
    <dgm:pt modelId="{C1F6BDC1-6839-490D-B170-8BF1FA3A4EA8}" type="parTrans" cxnId="{5230FA71-4DD5-4383-B8DD-2B6BF5143079}">
      <dgm:prSet/>
      <dgm:spPr/>
      <dgm:t>
        <a:bodyPr/>
        <a:lstStyle/>
        <a:p>
          <a:endParaRPr lang="es-ES" sz="2000" b="1"/>
        </a:p>
      </dgm:t>
    </dgm:pt>
    <dgm:pt modelId="{C5931E6E-034B-4B1B-BE97-D78ADBC8F770}" type="sibTrans" cxnId="{5230FA71-4DD5-4383-B8DD-2B6BF5143079}">
      <dgm:prSet/>
      <dgm:spPr/>
      <dgm:t>
        <a:bodyPr/>
        <a:lstStyle/>
        <a:p>
          <a:endParaRPr lang="es-ES" sz="2000" b="1"/>
        </a:p>
      </dgm:t>
    </dgm:pt>
    <dgm:pt modelId="{71D22BE2-D3DE-4CB3-98CB-05487804FD83}">
      <dgm:prSet phldrT="[Text]" custT="1"/>
      <dgm:spPr/>
      <dgm:t>
        <a:bodyPr/>
        <a:lstStyle/>
        <a:p>
          <a:r>
            <a:rPr lang="es-ES" sz="2200" b="0" dirty="0"/>
            <a:t>Subcontratistas y proveedores</a:t>
          </a:r>
        </a:p>
      </dgm:t>
    </dgm:pt>
    <dgm:pt modelId="{347D6604-4721-440A-8F38-0F43A9F1F210}" type="parTrans" cxnId="{110630D8-CC5B-456C-B3EA-B2189CF04AEC}">
      <dgm:prSet/>
      <dgm:spPr/>
      <dgm:t>
        <a:bodyPr/>
        <a:lstStyle/>
        <a:p>
          <a:endParaRPr lang="es-ES" sz="2000" b="1"/>
        </a:p>
      </dgm:t>
    </dgm:pt>
    <dgm:pt modelId="{4F129F76-E5B6-4515-8311-B961B70B526F}" type="sibTrans" cxnId="{110630D8-CC5B-456C-B3EA-B2189CF04AEC}">
      <dgm:prSet/>
      <dgm:spPr/>
      <dgm:t>
        <a:bodyPr/>
        <a:lstStyle/>
        <a:p>
          <a:endParaRPr lang="es-ES" sz="2000" b="1"/>
        </a:p>
      </dgm:t>
    </dgm:pt>
    <dgm:pt modelId="{F11F29DB-964D-4414-AE91-99E64576FFF1}">
      <dgm:prSet phldrT="[Text]" custT="1"/>
      <dgm:spPr/>
      <dgm:t>
        <a:bodyPr/>
        <a:lstStyle/>
        <a:p>
          <a:r>
            <a:rPr lang="es-ES" sz="2200" b="0" dirty="0"/>
            <a:t>Condiciones climáticas</a:t>
          </a:r>
        </a:p>
      </dgm:t>
    </dgm:pt>
    <dgm:pt modelId="{B8DCA743-8443-46C0-9D48-6CB4BAD84AFA}" type="parTrans" cxnId="{F3964EF1-AC41-46B6-A437-1E2EE09D7EE4}">
      <dgm:prSet/>
      <dgm:spPr/>
      <dgm:t>
        <a:bodyPr/>
        <a:lstStyle/>
        <a:p>
          <a:endParaRPr lang="es-ES" sz="2000" b="1"/>
        </a:p>
      </dgm:t>
    </dgm:pt>
    <dgm:pt modelId="{F69C5FE7-097F-419F-AF1D-411E5CDE1C24}" type="sibTrans" cxnId="{F3964EF1-AC41-46B6-A437-1E2EE09D7EE4}">
      <dgm:prSet/>
      <dgm:spPr/>
      <dgm:t>
        <a:bodyPr/>
        <a:lstStyle/>
        <a:p>
          <a:endParaRPr lang="es-ES" sz="2000" b="1"/>
        </a:p>
      </dgm:t>
    </dgm:pt>
    <dgm:pt modelId="{01B5201B-86BB-41BB-B935-D1BF9A9588E9}">
      <dgm:prSet phldrT="[Text]" custT="1"/>
      <dgm:spPr/>
      <dgm:t>
        <a:bodyPr/>
        <a:lstStyle/>
        <a:p>
          <a:r>
            <a:rPr lang="es-ES" sz="2200" b="1" dirty="0">
              <a:solidFill>
                <a:schemeClr val="tx1"/>
              </a:solidFill>
            </a:rPr>
            <a:t>De la organización</a:t>
          </a:r>
        </a:p>
      </dgm:t>
    </dgm:pt>
    <dgm:pt modelId="{A885A975-327F-4EA0-9F6A-E1EAC19829CD}" type="parTrans" cxnId="{43345B2F-9130-49FB-BC5F-60036CAFCB9C}">
      <dgm:prSet/>
      <dgm:spPr/>
      <dgm:t>
        <a:bodyPr/>
        <a:lstStyle/>
        <a:p>
          <a:endParaRPr lang="es-ES" sz="2000" b="1"/>
        </a:p>
      </dgm:t>
    </dgm:pt>
    <dgm:pt modelId="{28153949-962B-433E-A367-526D10124E8E}" type="sibTrans" cxnId="{43345B2F-9130-49FB-BC5F-60036CAFCB9C}">
      <dgm:prSet/>
      <dgm:spPr/>
      <dgm:t>
        <a:bodyPr/>
        <a:lstStyle/>
        <a:p>
          <a:endParaRPr lang="es-ES" sz="2000" b="1"/>
        </a:p>
      </dgm:t>
    </dgm:pt>
    <dgm:pt modelId="{96764234-6BDD-4FC3-9416-674813216C5F}">
      <dgm:prSet phldrT="[Text]" custT="1"/>
      <dgm:spPr/>
      <dgm:t>
        <a:bodyPr/>
        <a:lstStyle/>
        <a:p>
          <a:r>
            <a:rPr lang="es-ES" sz="2200" b="0" dirty="0"/>
            <a:t>Dependencias del proyecto</a:t>
          </a:r>
        </a:p>
      </dgm:t>
    </dgm:pt>
    <dgm:pt modelId="{70D87C29-56C7-4336-8C04-D3F3D1B030C5}" type="parTrans" cxnId="{4FD2E1BA-8FA4-4CD4-AA26-B36E877FC03C}">
      <dgm:prSet/>
      <dgm:spPr/>
      <dgm:t>
        <a:bodyPr/>
        <a:lstStyle/>
        <a:p>
          <a:endParaRPr lang="es-ES" sz="2000" b="1"/>
        </a:p>
      </dgm:t>
    </dgm:pt>
    <dgm:pt modelId="{4D3F80D9-6EEE-41F0-B4AC-220A1C2E54B8}" type="sibTrans" cxnId="{4FD2E1BA-8FA4-4CD4-AA26-B36E877FC03C}">
      <dgm:prSet/>
      <dgm:spPr/>
      <dgm:t>
        <a:bodyPr/>
        <a:lstStyle/>
        <a:p>
          <a:endParaRPr lang="es-ES" sz="2000" b="1"/>
        </a:p>
      </dgm:t>
    </dgm:pt>
    <dgm:pt modelId="{16271BF6-FE75-4DCE-A077-C9D6AB854B94}">
      <dgm:prSet phldrT="[Text]" custT="1"/>
      <dgm:spPr/>
      <dgm:t>
        <a:bodyPr/>
        <a:lstStyle/>
        <a:p>
          <a:r>
            <a:rPr lang="es-ES" sz="2200" b="0" dirty="0"/>
            <a:t>Recursos</a:t>
          </a:r>
        </a:p>
      </dgm:t>
    </dgm:pt>
    <dgm:pt modelId="{4C09EA84-D6FD-4E28-91B5-9FCBD04FC1EE}" type="parTrans" cxnId="{6E5BD57D-D81F-4998-9D2D-D9D8CF7C3337}">
      <dgm:prSet/>
      <dgm:spPr/>
      <dgm:t>
        <a:bodyPr/>
        <a:lstStyle/>
        <a:p>
          <a:endParaRPr lang="es-ES" sz="2000" b="1"/>
        </a:p>
      </dgm:t>
    </dgm:pt>
    <dgm:pt modelId="{0389FFC2-0F3A-4ED3-B7FB-561B3842B4A2}" type="sibTrans" cxnId="{6E5BD57D-D81F-4998-9D2D-D9D8CF7C3337}">
      <dgm:prSet/>
      <dgm:spPr/>
      <dgm:t>
        <a:bodyPr/>
        <a:lstStyle/>
        <a:p>
          <a:endParaRPr lang="es-ES" sz="2000" b="1"/>
        </a:p>
      </dgm:t>
    </dgm:pt>
    <dgm:pt modelId="{FD818439-D8BD-47FF-AF17-9337D0094935}">
      <dgm:prSet custT="1"/>
      <dgm:spPr/>
      <dgm:t>
        <a:bodyPr/>
        <a:lstStyle/>
        <a:p>
          <a:r>
            <a:rPr lang="es-ES" sz="2200" b="1" dirty="0">
              <a:solidFill>
                <a:schemeClr val="tx1"/>
              </a:solidFill>
            </a:rPr>
            <a:t>Dirección de Proyectos</a:t>
          </a:r>
        </a:p>
      </dgm:t>
    </dgm:pt>
    <dgm:pt modelId="{26BB18BD-5B27-468F-BFC4-2EC669B5C703}" type="parTrans" cxnId="{6A8C6140-F061-45F8-92C5-C5488D33106D}">
      <dgm:prSet/>
      <dgm:spPr/>
      <dgm:t>
        <a:bodyPr/>
        <a:lstStyle/>
        <a:p>
          <a:endParaRPr lang="es-ES" sz="2000" b="1"/>
        </a:p>
      </dgm:t>
    </dgm:pt>
    <dgm:pt modelId="{394A04C9-D96D-42EB-A100-DDEADB6993F1}" type="sibTrans" cxnId="{6A8C6140-F061-45F8-92C5-C5488D33106D}">
      <dgm:prSet/>
      <dgm:spPr/>
      <dgm:t>
        <a:bodyPr/>
        <a:lstStyle/>
        <a:p>
          <a:endParaRPr lang="es-ES" sz="2000" b="1"/>
        </a:p>
      </dgm:t>
    </dgm:pt>
    <dgm:pt modelId="{1B6F33E3-ED03-494F-97C4-C67C5728B04F}">
      <dgm:prSet phldrT="[Text]" custT="1"/>
      <dgm:spPr/>
      <dgm:t>
        <a:bodyPr/>
        <a:lstStyle/>
        <a:p>
          <a:r>
            <a:rPr lang="es-ES" sz="2200" b="0" dirty="0"/>
            <a:t>Tecnología</a:t>
          </a:r>
        </a:p>
      </dgm:t>
    </dgm:pt>
    <dgm:pt modelId="{5159B248-E785-4EDF-9CDF-7F9BC82A2230}" type="parTrans" cxnId="{CEE7F29F-C3EF-4E0A-8A1D-4AA68C6BC099}">
      <dgm:prSet/>
      <dgm:spPr/>
      <dgm:t>
        <a:bodyPr/>
        <a:lstStyle/>
        <a:p>
          <a:endParaRPr lang="es-ES" sz="2000" b="1"/>
        </a:p>
      </dgm:t>
    </dgm:pt>
    <dgm:pt modelId="{FAA0DF1A-A341-48E3-AF25-4EFF7CB5C4B9}" type="sibTrans" cxnId="{CEE7F29F-C3EF-4E0A-8A1D-4AA68C6BC099}">
      <dgm:prSet/>
      <dgm:spPr/>
      <dgm:t>
        <a:bodyPr/>
        <a:lstStyle/>
        <a:p>
          <a:endParaRPr lang="es-ES" sz="2000" b="1"/>
        </a:p>
      </dgm:t>
    </dgm:pt>
    <dgm:pt modelId="{21A027AD-5A62-4B07-9AFC-E5CD2617C6B9}">
      <dgm:prSet phldrT="[Text]" custT="1"/>
      <dgm:spPr/>
      <dgm:t>
        <a:bodyPr/>
        <a:lstStyle/>
        <a:p>
          <a:r>
            <a:rPr lang="es-ES" sz="2200" b="0" dirty="0"/>
            <a:t>Seguridad</a:t>
          </a:r>
        </a:p>
      </dgm:t>
    </dgm:pt>
    <dgm:pt modelId="{12670A41-96DD-4CF6-A164-F6251C8DF15A}" type="parTrans" cxnId="{F10DCEC6-AE9E-42DF-B4C5-CB2BCC0835BD}">
      <dgm:prSet/>
      <dgm:spPr/>
      <dgm:t>
        <a:bodyPr/>
        <a:lstStyle/>
        <a:p>
          <a:endParaRPr lang="es-ES" sz="2000" b="1"/>
        </a:p>
      </dgm:t>
    </dgm:pt>
    <dgm:pt modelId="{02F83EAB-943F-41BD-BFB9-D1563283A022}" type="sibTrans" cxnId="{F10DCEC6-AE9E-42DF-B4C5-CB2BCC0835BD}">
      <dgm:prSet/>
      <dgm:spPr/>
      <dgm:t>
        <a:bodyPr/>
        <a:lstStyle/>
        <a:p>
          <a:endParaRPr lang="es-ES" sz="2000" b="1"/>
        </a:p>
      </dgm:t>
    </dgm:pt>
    <dgm:pt modelId="{B62B8E89-2121-4F01-98F5-0608E9345C65}">
      <dgm:prSet phldrT="[Text]" custT="1"/>
      <dgm:spPr/>
      <dgm:t>
        <a:bodyPr/>
        <a:lstStyle/>
        <a:p>
          <a:r>
            <a:rPr lang="es-ES" sz="2200" b="0" dirty="0"/>
            <a:t>Rendimiento y fiabilidad</a:t>
          </a:r>
        </a:p>
      </dgm:t>
    </dgm:pt>
    <dgm:pt modelId="{B0BBF76D-B7C2-49C7-9E78-D025015E7CA2}" type="parTrans" cxnId="{08BA4D9F-E038-45A7-9227-BFBDBDC178F0}">
      <dgm:prSet/>
      <dgm:spPr/>
      <dgm:t>
        <a:bodyPr/>
        <a:lstStyle/>
        <a:p>
          <a:endParaRPr lang="es-ES" sz="2000" b="1"/>
        </a:p>
      </dgm:t>
    </dgm:pt>
    <dgm:pt modelId="{1BB1262E-AF60-432F-905E-833C91A982A7}" type="sibTrans" cxnId="{08BA4D9F-E038-45A7-9227-BFBDBDC178F0}">
      <dgm:prSet/>
      <dgm:spPr/>
      <dgm:t>
        <a:bodyPr/>
        <a:lstStyle/>
        <a:p>
          <a:endParaRPr lang="es-ES" sz="2000" b="1"/>
        </a:p>
      </dgm:t>
    </dgm:pt>
    <dgm:pt modelId="{FA4C436E-445F-4BA6-9C31-F9BF937370CB}">
      <dgm:prSet phldrT="[Text]" custT="1"/>
      <dgm:spPr/>
      <dgm:t>
        <a:bodyPr/>
        <a:lstStyle/>
        <a:p>
          <a:r>
            <a:rPr lang="es-ES" sz="2200" b="0" dirty="0"/>
            <a:t>Regulatorio</a:t>
          </a:r>
        </a:p>
      </dgm:t>
    </dgm:pt>
    <dgm:pt modelId="{39F35400-A278-4142-873A-DA62BC464995}" type="parTrans" cxnId="{C867D4A7-19FE-4A09-8C14-2CB1B3350C52}">
      <dgm:prSet/>
      <dgm:spPr/>
      <dgm:t>
        <a:bodyPr/>
        <a:lstStyle/>
        <a:p>
          <a:endParaRPr lang="es-ES" sz="2000" b="1"/>
        </a:p>
      </dgm:t>
    </dgm:pt>
    <dgm:pt modelId="{CD8609E9-30D9-4DD7-88BA-9D7066FC90B0}" type="sibTrans" cxnId="{C867D4A7-19FE-4A09-8C14-2CB1B3350C52}">
      <dgm:prSet/>
      <dgm:spPr/>
      <dgm:t>
        <a:bodyPr/>
        <a:lstStyle/>
        <a:p>
          <a:endParaRPr lang="es-ES" sz="2000" b="1"/>
        </a:p>
      </dgm:t>
    </dgm:pt>
    <dgm:pt modelId="{875FA52F-51E3-4861-AF95-71931B001941}">
      <dgm:prSet phldrT="[Text]" custT="1"/>
      <dgm:spPr/>
      <dgm:t>
        <a:bodyPr/>
        <a:lstStyle/>
        <a:p>
          <a:r>
            <a:rPr lang="es-ES" sz="2200" b="0" dirty="0"/>
            <a:t>Mercado</a:t>
          </a:r>
        </a:p>
      </dgm:t>
    </dgm:pt>
    <dgm:pt modelId="{417B7796-22A8-4987-8A57-425FB087313C}" type="parTrans" cxnId="{B245C20B-83A8-496B-A295-71E2BD11C207}">
      <dgm:prSet/>
      <dgm:spPr/>
      <dgm:t>
        <a:bodyPr/>
        <a:lstStyle/>
        <a:p>
          <a:endParaRPr lang="es-ES" sz="2000" b="1"/>
        </a:p>
      </dgm:t>
    </dgm:pt>
    <dgm:pt modelId="{EF2E3E34-3C78-4C42-922D-29F08524AEAB}" type="sibTrans" cxnId="{B245C20B-83A8-496B-A295-71E2BD11C207}">
      <dgm:prSet/>
      <dgm:spPr/>
      <dgm:t>
        <a:bodyPr/>
        <a:lstStyle/>
        <a:p>
          <a:endParaRPr lang="es-ES" sz="2000" b="1"/>
        </a:p>
      </dgm:t>
    </dgm:pt>
    <dgm:pt modelId="{C43EFE93-89A9-498B-B1A9-1B74C81C5EC5}">
      <dgm:prSet phldrT="[Text]" custT="1"/>
      <dgm:spPr/>
      <dgm:t>
        <a:bodyPr/>
        <a:lstStyle/>
        <a:p>
          <a:r>
            <a:rPr lang="es-ES" sz="2200" b="0" dirty="0"/>
            <a:t>Cliente</a:t>
          </a:r>
        </a:p>
      </dgm:t>
    </dgm:pt>
    <dgm:pt modelId="{7A585685-CB18-4D48-9EBF-2998F2DA5A72}" type="parTrans" cxnId="{D4C9566E-F335-4256-BE00-3C30A2BC03F8}">
      <dgm:prSet/>
      <dgm:spPr/>
      <dgm:t>
        <a:bodyPr/>
        <a:lstStyle/>
        <a:p>
          <a:endParaRPr lang="es-ES" sz="2000" b="1"/>
        </a:p>
      </dgm:t>
    </dgm:pt>
    <dgm:pt modelId="{19F38EEF-0540-440A-96F4-D24777DE924D}" type="sibTrans" cxnId="{D4C9566E-F335-4256-BE00-3C30A2BC03F8}">
      <dgm:prSet/>
      <dgm:spPr/>
      <dgm:t>
        <a:bodyPr/>
        <a:lstStyle/>
        <a:p>
          <a:endParaRPr lang="es-ES" sz="2000" b="1"/>
        </a:p>
      </dgm:t>
    </dgm:pt>
    <dgm:pt modelId="{44B04014-8287-4F2B-95B4-DB602B7FE500}">
      <dgm:prSet phldrT="[Text]" custT="1"/>
      <dgm:spPr/>
      <dgm:t>
        <a:bodyPr/>
        <a:lstStyle/>
        <a:p>
          <a:r>
            <a:rPr lang="es-ES" sz="2200" b="0" dirty="0"/>
            <a:t>Financiación</a:t>
          </a:r>
        </a:p>
      </dgm:t>
    </dgm:pt>
    <dgm:pt modelId="{11A85E84-EB7E-48FA-BF03-1ACA6992E8CE}" type="parTrans" cxnId="{187ACEA6-C97E-4DB4-A039-43B799697E72}">
      <dgm:prSet/>
      <dgm:spPr/>
      <dgm:t>
        <a:bodyPr/>
        <a:lstStyle/>
        <a:p>
          <a:endParaRPr lang="es-ES" sz="2000" b="1"/>
        </a:p>
      </dgm:t>
    </dgm:pt>
    <dgm:pt modelId="{736AF185-213C-45B8-BF6C-FD127CBCAE99}" type="sibTrans" cxnId="{187ACEA6-C97E-4DB4-A039-43B799697E72}">
      <dgm:prSet/>
      <dgm:spPr/>
      <dgm:t>
        <a:bodyPr/>
        <a:lstStyle/>
        <a:p>
          <a:endParaRPr lang="es-ES" sz="2000" b="1"/>
        </a:p>
      </dgm:t>
    </dgm:pt>
    <dgm:pt modelId="{6E381A17-DD9D-44A9-BAE2-B7EC4344B578}">
      <dgm:prSet phldrT="[Text]" custT="1"/>
      <dgm:spPr/>
      <dgm:t>
        <a:bodyPr/>
        <a:lstStyle/>
        <a:p>
          <a:r>
            <a:rPr lang="es-ES" sz="2200" b="0" dirty="0"/>
            <a:t>Priorización</a:t>
          </a:r>
        </a:p>
      </dgm:t>
    </dgm:pt>
    <dgm:pt modelId="{E0BC9D40-FD37-43EB-B26D-3B5624C76C95}" type="parTrans" cxnId="{BBEFE9DD-87EA-4EBC-8A8F-F96D0D509596}">
      <dgm:prSet/>
      <dgm:spPr/>
      <dgm:t>
        <a:bodyPr/>
        <a:lstStyle/>
        <a:p>
          <a:endParaRPr lang="es-ES" sz="2000" b="1"/>
        </a:p>
      </dgm:t>
    </dgm:pt>
    <dgm:pt modelId="{DA97466F-1E25-4C66-B0E2-F5CBE2016163}" type="sibTrans" cxnId="{BBEFE9DD-87EA-4EBC-8A8F-F96D0D509596}">
      <dgm:prSet/>
      <dgm:spPr/>
      <dgm:t>
        <a:bodyPr/>
        <a:lstStyle/>
        <a:p>
          <a:endParaRPr lang="es-ES" sz="2000" b="1"/>
        </a:p>
      </dgm:t>
    </dgm:pt>
    <dgm:pt modelId="{86A2837D-6A9E-4862-BFA4-34868CC08768}">
      <dgm:prSet custT="1"/>
      <dgm:spPr/>
      <dgm:t>
        <a:bodyPr/>
        <a:lstStyle/>
        <a:p>
          <a:r>
            <a:rPr lang="es-ES" sz="2200" b="0" dirty="0"/>
            <a:t>Estimación</a:t>
          </a:r>
        </a:p>
      </dgm:t>
    </dgm:pt>
    <dgm:pt modelId="{3F31FEE0-AAA0-42A3-A8C5-092E79C71680}" type="parTrans" cxnId="{3FF4C32F-116B-4F58-BB2A-AA7441E461A9}">
      <dgm:prSet/>
      <dgm:spPr/>
      <dgm:t>
        <a:bodyPr/>
        <a:lstStyle/>
        <a:p>
          <a:endParaRPr lang="es-ES" sz="2000" b="1"/>
        </a:p>
      </dgm:t>
    </dgm:pt>
    <dgm:pt modelId="{3E332537-C861-49F3-AEA5-5B7EF4805185}" type="sibTrans" cxnId="{3FF4C32F-116B-4F58-BB2A-AA7441E461A9}">
      <dgm:prSet/>
      <dgm:spPr/>
      <dgm:t>
        <a:bodyPr/>
        <a:lstStyle/>
        <a:p>
          <a:endParaRPr lang="es-ES" sz="2000" b="1"/>
        </a:p>
      </dgm:t>
    </dgm:pt>
    <dgm:pt modelId="{935045FC-CCA3-4FE9-A606-F5B20A340E5F}">
      <dgm:prSet custT="1"/>
      <dgm:spPr/>
      <dgm:t>
        <a:bodyPr/>
        <a:lstStyle/>
        <a:p>
          <a:r>
            <a:rPr lang="es-ES" sz="2200" b="0" dirty="0"/>
            <a:t>Planificación</a:t>
          </a:r>
        </a:p>
      </dgm:t>
    </dgm:pt>
    <dgm:pt modelId="{A29E80FA-B3FF-46A5-B595-8A12909B2844}" type="parTrans" cxnId="{1693C60B-803E-4E55-AB5E-5362B5B49C83}">
      <dgm:prSet/>
      <dgm:spPr/>
      <dgm:t>
        <a:bodyPr/>
        <a:lstStyle/>
        <a:p>
          <a:endParaRPr lang="es-ES" sz="2000" b="1"/>
        </a:p>
      </dgm:t>
    </dgm:pt>
    <dgm:pt modelId="{66559403-15D0-4073-805C-BDC0FCD90AB1}" type="sibTrans" cxnId="{1693C60B-803E-4E55-AB5E-5362B5B49C83}">
      <dgm:prSet/>
      <dgm:spPr/>
      <dgm:t>
        <a:bodyPr/>
        <a:lstStyle/>
        <a:p>
          <a:endParaRPr lang="es-ES" sz="2000" b="1"/>
        </a:p>
      </dgm:t>
    </dgm:pt>
    <dgm:pt modelId="{D79ED489-BABE-4474-912D-E8844CCC1146}">
      <dgm:prSet custT="1"/>
      <dgm:spPr/>
      <dgm:t>
        <a:bodyPr/>
        <a:lstStyle/>
        <a:p>
          <a:r>
            <a:rPr lang="es-ES" sz="2200" b="0" dirty="0"/>
            <a:t>Control</a:t>
          </a:r>
        </a:p>
      </dgm:t>
    </dgm:pt>
    <dgm:pt modelId="{FE796D7A-63C1-4930-AD97-7A2E1D000783}" type="parTrans" cxnId="{29D98D1C-5F33-4D26-84D8-D5A9367104C4}">
      <dgm:prSet/>
      <dgm:spPr/>
      <dgm:t>
        <a:bodyPr/>
        <a:lstStyle/>
        <a:p>
          <a:endParaRPr lang="es-ES" sz="2000" b="1"/>
        </a:p>
      </dgm:t>
    </dgm:pt>
    <dgm:pt modelId="{100C6733-4E3E-4A59-8C11-175545307A6B}" type="sibTrans" cxnId="{29D98D1C-5F33-4D26-84D8-D5A9367104C4}">
      <dgm:prSet/>
      <dgm:spPr/>
      <dgm:t>
        <a:bodyPr/>
        <a:lstStyle/>
        <a:p>
          <a:endParaRPr lang="es-ES" sz="2000" b="1"/>
        </a:p>
      </dgm:t>
    </dgm:pt>
    <dgm:pt modelId="{BCE4C01B-2517-4A49-8930-846C5D1B1312}">
      <dgm:prSet custT="1"/>
      <dgm:spPr/>
      <dgm:t>
        <a:bodyPr/>
        <a:lstStyle/>
        <a:p>
          <a:r>
            <a:rPr lang="es-ES" sz="2200" b="0" dirty="0"/>
            <a:t>Comunicación</a:t>
          </a:r>
        </a:p>
      </dgm:t>
    </dgm:pt>
    <dgm:pt modelId="{EC45E0B6-A1D3-4959-A1A2-1CBA0BABE2D1}" type="parTrans" cxnId="{71491FE4-9B46-47D0-9854-3852BADBF99D}">
      <dgm:prSet/>
      <dgm:spPr/>
      <dgm:t>
        <a:bodyPr/>
        <a:lstStyle/>
        <a:p>
          <a:endParaRPr lang="es-ES" sz="2000" b="1"/>
        </a:p>
      </dgm:t>
    </dgm:pt>
    <dgm:pt modelId="{EA5FA7DC-2087-41BA-BF57-00A8AE775425}" type="sibTrans" cxnId="{71491FE4-9B46-47D0-9854-3852BADBF99D}">
      <dgm:prSet/>
      <dgm:spPr/>
      <dgm:t>
        <a:bodyPr/>
        <a:lstStyle/>
        <a:p>
          <a:endParaRPr lang="es-ES" sz="2000" b="1"/>
        </a:p>
      </dgm:t>
    </dgm:pt>
    <dgm:pt modelId="{287F59C7-03E4-4A1E-BF3E-9FD7D0DFF1F0}" type="pres">
      <dgm:prSet presAssocID="{3B369643-5414-42DD-BAB9-0CC38B1B1EE9}" presName="Name0" presStyleCnt="0">
        <dgm:presLayoutVars>
          <dgm:dir/>
          <dgm:animLvl val="lvl"/>
          <dgm:resizeHandles val="exact"/>
        </dgm:presLayoutVars>
      </dgm:prSet>
      <dgm:spPr/>
      <dgm:t>
        <a:bodyPr/>
        <a:lstStyle/>
        <a:p>
          <a:endParaRPr lang="es-ES"/>
        </a:p>
      </dgm:t>
    </dgm:pt>
    <dgm:pt modelId="{A2E9A254-7EB5-4939-9D15-57C8F027315E}" type="pres">
      <dgm:prSet presAssocID="{76689A31-6667-4D07-8640-5583679554B4}" presName="composite" presStyleCnt="0"/>
      <dgm:spPr/>
    </dgm:pt>
    <dgm:pt modelId="{DD5A391D-50C6-45E9-8DDD-9E4D89B7119D}" type="pres">
      <dgm:prSet presAssocID="{76689A31-6667-4D07-8640-5583679554B4}" presName="parTx" presStyleLbl="alignNode1" presStyleIdx="0" presStyleCnt="4">
        <dgm:presLayoutVars>
          <dgm:chMax val="0"/>
          <dgm:chPref val="0"/>
          <dgm:bulletEnabled val="1"/>
        </dgm:presLayoutVars>
      </dgm:prSet>
      <dgm:spPr/>
      <dgm:t>
        <a:bodyPr/>
        <a:lstStyle/>
        <a:p>
          <a:endParaRPr lang="es-ES"/>
        </a:p>
      </dgm:t>
    </dgm:pt>
    <dgm:pt modelId="{CF3D9494-DEFC-4583-93BB-AD6647A38860}" type="pres">
      <dgm:prSet presAssocID="{76689A31-6667-4D07-8640-5583679554B4}" presName="desTx" presStyleLbl="alignAccFollowNode1" presStyleIdx="0" presStyleCnt="4">
        <dgm:presLayoutVars>
          <dgm:bulletEnabled val="1"/>
        </dgm:presLayoutVars>
      </dgm:prSet>
      <dgm:spPr/>
      <dgm:t>
        <a:bodyPr/>
        <a:lstStyle/>
        <a:p>
          <a:endParaRPr lang="es-ES"/>
        </a:p>
      </dgm:t>
    </dgm:pt>
    <dgm:pt modelId="{713D540E-C048-44B4-ABDB-C933E58CA5AA}" type="pres">
      <dgm:prSet presAssocID="{5FA520AD-5043-4C56-AC5E-3046805B8FDF}" presName="space" presStyleCnt="0"/>
      <dgm:spPr/>
    </dgm:pt>
    <dgm:pt modelId="{2A81732F-8652-447E-9FAA-222030579A08}" type="pres">
      <dgm:prSet presAssocID="{208D8E08-9F4E-4D98-87DD-E8A340DC6E0F}" presName="composite" presStyleCnt="0"/>
      <dgm:spPr/>
    </dgm:pt>
    <dgm:pt modelId="{40A5A350-16A2-4EC7-AB64-49A63B622249}" type="pres">
      <dgm:prSet presAssocID="{208D8E08-9F4E-4D98-87DD-E8A340DC6E0F}" presName="parTx" presStyleLbl="alignNode1" presStyleIdx="1" presStyleCnt="4">
        <dgm:presLayoutVars>
          <dgm:chMax val="0"/>
          <dgm:chPref val="0"/>
          <dgm:bulletEnabled val="1"/>
        </dgm:presLayoutVars>
      </dgm:prSet>
      <dgm:spPr/>
      <dgm:t>
        <a:bodyPr/>
        <a:lstStyle/>
        <a:p>
          <a:endParaRPr lang="es-ES"/>
        </a:p>
      </dgm:t>
    </dgm:pt>
    <dgm:pt modelId="{306C3608-F1FF-4090-8961-718016B8CCE9}" type="pres">
      <dgm:prSet presAssocID="{208D8E08-9F4E-4D98-87DD-E8A340DC6E0F}" presName="desTx" presStyleLbl="alignAccFollowNode1" presStyleIdx="1" presStyleCnt="4">
        <dgm:presLayoutVars>
          <dgm:bulletEnabled val="1"/>
        </dgm:presLayoutVars>
      </dgm:prSet>
      <dgm:spPr/>
      <dgm:t>
        <a:bodyPr/>
        <a:lstStyle/>
        <a:p>
          <a:endParaRPr lang="es-ES"/>
        </a:p>
      </dgm:t>
    </dgm:pt>
    <dgm:pt modelId="{6F0725AA-A1DC-46A5-98AF-35B3B37576E1}" type="pres">
      <dgm:prSet presAssocID="{C5931E6E-034B-4B1B-BE97-D78ADBC8F770}" presName="space" presStyleCnt="0"/>
      <dgm:spPr/>
    </dgm:pt>
    <dgm:pt modelId="{52C807F4-A89F-40A3-B6A3-C469F1E88D1B}" type="pres">
      <dgm:prSet presAssocID="{01B5201B-86BB-41BB-B935-D1BF9A9588E9}" presName="composite" presStyleCnt="0"/>
      <dgm:spPr/>
    </dgm:pt>
    <dgm:pt modelId="{E2CCC923-0805-4C52-8F57-4414079E4936}" type="pres">
      <dgm:prSet presAssocID="{01B5201B-86BB-41BB-B935-D1BF9A9588E9}" presName="parTx" presStyleLbl="alignNode1" presStyleIdx="2" presStyleCnt="4" custLinFactNeighborX="-1321" custLinFactNeighborY="-5637">
        <dgm:presLayoutVars>
          <dgm:chMax val="0"/>
          <dgm:chPref val="0"/>
          <dgm:bulletEnabled val="1"/>
        </dgm:presLayoutVars>
      </dgm:prSet>
      <dgm:spPr/>
      <dgm:t>
        <a:bodyPr/>
        <a:lstStyle/>
        <a:p>
          <a:endParaRPr lang="es-ES"/>
        </a:p>
      </dgm:t>
    </dgm:pt>
    <dgm:pt modelId="{4006CBE0-5E73-4EEC-BD9C-4453C88E02AE}" type="pres">
      <dgm:prSet presAssocID="{01B5201B-86BB-41BB-B935-D1BF9A9588E9}" presName="desTx" presStyleLbl="alignAccFollowNode1" presStyleIdx="2" presStyleCnt="4">
        <dgm:presLayoutVars>
          <dgm:bulletEnabled val="1"/>
        </dgm:presLayoutVars>
      </dgm:prSet>
      <dgm:spPr/>
      <dgm:t>
        <a:bodyPr/>
        <a:lstStyle/>
        <a:p>
          <a:endParaRPr lang="es-ES"/>
        </a:p>
      </dgm:t>
    </dgm:pt>
    <dgm:pt modelId="{9D21628E-372A-48CF-93CE-23846CF10506}" type="pres">
      <dgm:prSet presAssocID="{28153949-962B-433E-A367-526D10124E8E}" presName="space" presStyleCnt="0"/>
      <dgm:spPr/>
    </dgm:pt>
    <dgm:pt modelId="{55ADCB41-199C-4654-8CA2-7DAE22C5E868}" type="pres">
      <dgm:prSet presAssocID="{FD818439-D8BD-47FF-AF17-9337D0094935}" presName="composite" presStyleCnt="0"/>
      <dgm:spPr/>
    </dgm:pt>
    <dgm:pt modelId="{1F7DB0B5-A560-4A43-81DE-EDA64057A4F5}" type="pres">
      <dgm:prSet presAssocID="{FD818439-D8BD-47FF-AF17-9337D0094935}" presName="parTx" presStyleLbl="alignNode1" presStyleIdx="3" presStyleCnt="4" custScaleX="107596">
        <dgm:presLayoutVars>
          <dgm:chMax val="0"/>
          <dgm:chPref val="0"/>
          <dgm:bulletEnabled val="1"/>
        </dgm:presLayoutVars>
      </dgm:prSet>
      <dgm:spPr/>
      <dgm:t>
        <a:bodyPr/>
        <a:lstStyle/>
        <a:p>
          <a:endParaRPr lang="es-ES"/>
        </a:p>
      </dgm:t>
    </dgm:pt>
    <dgm:pt modelId="{1072C3A0-F4C0-48F7-8AE5-D2EC9E915465}" type="pres">
      <dgm:prSet presAssocID="{FD818439-D8BD-47FF-AF17-9337D0094935}" presName="desTx" presStyleLbl="alignAccFollowNode1" presStyleIdx="3" presStyleCnt="4" custScaleX="110244">
        <dgm:presLayoutVars>
          <dgm:bulletEnabled val="1"/>
        </dgm:presLayoutVars>
      </dgm:prSet>
      <dgm:spPr/>
      <dgm:t>
        <a:bodyPr/>
        <a:lstStyle/>
        <a:p>
          <a:endParaRPr lang="es-ES"/>
        </a:p>
      </dgm:t>
    </dgm:pt>
  </dgm:ptLst>
  <dgm:cxnLst>
    <dgm:cxn modelId="{5230FA71-4DD5-4383-B8DD-2B6BF5143079}" srcId="{3B369643-5414-42DD-BAB9-0CC38B1B1EE9}" destId="{208D8E08-9F4E-4D98-87DD-E8A340DC6E0F}" srcOrd="1" destOrd="0" parTransId="{C1F6BDC1-6839-490D-B170-8BF1FA3A4EA8}" sibTransId="{C5931E6E-034B-4B1B-BE97-D78ADBC8F770}"/>
    <dgm:cxn modelId="{81CA1B7D-AE48-44F2-9667-D1706AFAB036}" type="presOf" srcId="{81B9348A-A8FC-4D50-934B-237A2913CB42}" destId="{CF3D9494-DEFC-4583-93BB-AD6647A38860}" srcOrd="0" destOrd="4" presId="urn:microsoft.com/office/officeart/2005/8/layout/hList1"/>
    <dgm:cxn modelId="{EF8708E9-44EB-4083-87AE-FAAD401E7A68}" type="presOf" srcId="{D79ED489-BABE-4474-912D-E8844CCC1146}" destId="{1072C3A0-F4C0-48F7-8AE5-D2EC9E915465}" srcOrd="0" destOrd="2" presId="urn:microsoft.com/office/officeart/2005/8/layout/hList1"/>
    <dgm:cxn modelId="{2CB8E6D9-2C73-46B8-83D7-6FE20B7EF74B}" type="presOf" srcId="{01B5201B-86BB-41BB-B935-D1BF9A9588E9}" destId="{E2CCC923-0805-4C52-8F57-4414079E4936}" srcOrd="0" destOrd="0" presId="urn:microsoft.com/office/officeart/2005/8/layout/hList1"/>
    <dgm:cxn modelId="{BBEFE9DD-87EA-4EBC-8A8F-F96D0D509596}" srcId="{01B5201B-86BB-41BB-B935-D1BF9A9588E9}" destId="{6E381A17-DD9D-44A9-BAE2-B7EC4344B578}" srcOrd="3" destOrd="0" parTransId="{E0BC9D40-FD37-43EB-B26D-3B5624C76C95}" sibTransId="{DA97466F-1E25-4C66-B0E2-F5CBE2016163}"/>
    <dgm:cxn modelId="{00ECC6E4-E380-4D58-A7FF-71B2762EA6B0}" type="presOf" srcId="{0EEE2E9F-ABF2-4AD4-8B95-E7861E36BC7C}" destId="{CF3D9494-DEFC-4583-93BB-AD6647A38860}" srcOrd="0" destOrd="0" presId="urn:microsoft.com/office/officeart/2005/8/layout/hList1"/>
    <dgm:cxn modelId="{6A8C6140-F061-45F8-92C5-C5488D33106D}" srcId="{3B369643-5414-42DD-BAB9-0CC38B1B1EE9}" destId="{FD818439-D8BD-47FF-AF17-9337D0094935}" srcOrd="3" destOrd="0" parTransId="{26BB18BD-5B27-468F-BFC4-2EC669B5C703}" sibTransId="{394A04C9-D96D-42EB-A100-DDEADB6993F1}"/>
    <dgm:cxn modelId="{172607B6-0D05-49D5-8CC7-DBBB567E5A50}" type="presOf" srcId="{BCE4C01B-2517-4A49-8930-846C5D1B1312}" destId="{1072C3A0-F4C0-48F7-8AE5-D2EC9E915465}" srcOrd="0" destOrd="3" presId="urn:microsoft.com/office/officeart/2005/8/layout/hList1"/>
    <dgm:cxn modelId="{24B623CE-0602-47E5-8A40-60E4FAB2A71A}" srcId="{3B369643-5414-42DD-BAB9-0CC38B1B1EE9}" destId="{76689A31-6667-4D07-8640-5583679554B4}" srcOrd="0" destOrd="0" parTransId="{FEC62302-6C36-4888-99D5-587DF3389C23}" sibTransId="{5FA520AD-5043-4C56-AC5E-3046805B8FDF}"/>
    <dgm:cxn modelId="{0E7D523B-05B6-4643-BC6B-28F8B0823C39}" type="presOf" srcId="{208D8E08-9F4E-4D98-87DD-E8A340DC6E0F}" destId="{40A5A350-16A2-4EC7-AB64-49A63B622249}" srcOrd="0" destOrd="0" presId="urn:microsoft.com/office/officeart/2005/8/layout/hList1"/>
    <dgm:cxn modelId="{110630D8-CC5B-456C-B3EA-B2189CF04AEC}" srcId="{208D8E08-9F4E-4D98-87DD-E8A340DC6E0F}" destId="{71D22BE2-D3DE-4CB3-98CB-05487804FD83}" srcOrd="0" destOrd="0" parTransId="{347D6604-4721-440A-8F38-0F43A9F1F210}" sibTransId="{4F129F76-E5B6-4515-8311-B961B70B526F}"/>
    <dgm:cxn modelId="{1693C60B-803E-4E55-AB5E-5362B5B49C83}" srcId="{FD818439-D8BD-47FF-AF17-9337D0094935}" destId="{935045FC-CCA3-4FE9-A606-F5B20A340E5F}" srcOrd="1" destOrd="0" parTransId="{A29E80FA-B3FF-46A5-B595-8A12909B2844}" sibTransId="{66559403-15D0-4073-805C-BDC0FCD90AB1}"/>
    <dgm:cxn modelId="{08BA4D9F-E038-45A7-9227-BFBDBDC178F0}" srcId="{76689A31-6667-4D07-8640-5583679554B4}" destId="{B62B8E89-2121-4F01-98F5-0608E9345C65}" srcOrd="3" destOrd="0" parTransId="{B0BBF76D-B7C2-49C7-9E78-D025015E7CA2}" sibTransId="{1BB1262E-AF60-432F-905E-833C91A982A7}"/>
    <dgm:cxn modelId="{4FD2E1BA-8FA4-4CD4-AA26-B36E877FC03C}" srcId="{01B5201B-86BB-41BB-B935-D1BF9A9588E9}" destId="{96764234-6BDD-4FC3-9416-674813216C5F}" srcOrd="0" destOrd="0" parTransId="{70D87C29-56C7-4336-8C04-D3F3D1B030C5}" sibTransId="{4D3F80D9-6EEE-41F0-B4AC-220A1C2E54B8}"/>
    <dgm:cxn modelId="{D4C9566E-F335-4256-BE00-3C30A2BC03F8}" srcId="{208D8E08-9F4E-4D98-87DD-E8A340DC6E0F}" destId="{C43EFE93-89A9-498B-B1A9-1B74C81C5EC5}" srcOrd="3" destOrd="0" parTransId="{7A585685-CB18-4D48-9EBF-2998F2DA5A72}" sibTransId="{19F38EEF-0540-440A-96F4-D24777DE924D}"/>
    <dgm:cxn modelId="{A3FA547B-9AF3-4CF8-AE91-ED63532AD4E9}" type="presOf" srcId="{1B6F33E3-ED03-494F-97C4-C67C5728B04F}" destId="{CF3D9494-DEFC-4583-93BB-AD6647A38860}" srcOrd="0" destOrd="1" presId="urn:microsoft.com/office/officeart/2005/8/layout/hList1"/>
    <dgm:cxn modelId="{6E04086A-E1D0-4090-ABFA-CBCA854A2027}" type="presOf" srcId="{44B04014-8287-4F2B-95B4-DB602B7FE500}" destId="{4006CBE0-5E73-4EEC-BD9C-4453C88E02AE}" srcOrd="0" destOrd="2" presId="urn:microsoft.com/office/officeart/2005/8/layout/hList1"/>
    <dgm:cxn modelId="{71491FE4-9B46-47D0-9854-3852BADBF99D}" srcId="{FD818439-D8BD-47FF-AF17-9337D0094935}" destId="{BCE4C01B-2517-4A49-8930-846C5D1B1312}" srcOrd="3" destOrd="0" parTransId="{EC45E0B6-A1D3-4959-A1A2-1CBA0BABE2D1}" sibTransId="{EA5FA7DC-2087-41BA-BF57-00A8AE775425}"/>
    <dgm:cxn modelId="{CA9B78E2-6C2B-4295-A219-3F42F896C359}" type="presOf" srcId="{21A027AD-5A62-4B07-9AFC-E5CD2617C6B9}" destId="{CF3D9494-DEFC-4583-93BB-AD6647A38860}" srcOrd="0" destOrd="2" presId="urn:microsoft.com/office/officeart/2005/8/layout/hList1"/>
    <dgm:cxn modelId="{8852711E-EA98-4C17-B9D5-34B9D42DD02C}" type="presOf" srcId="{875FA52F-51E3-4861-AF95-71931B001941}" destId="{306C3608-F1FF-4090-8961-718016B8CCE9}" srcOrd="0" destOrd="2" presId="urn:microsoft.com/office/officeart/2005/8/layout/hList1"/>
    <dgm:cxn modelId="{2223F22C-0418-415C-A65C-45A9C4063221}" type="presOf" srcId="{6E381A17-DD9D-44A9-BAE2-B7EC4344B578}" destId="{4006CBE0-5E73-4EEC-BD9C-4453C88E02AE}" srcOrd="0" destOrd="3" presId="urn:microsoft.com/office/officeart/2005/8/layout/hList1"/>
    <dgm:cxn modelId="{3CDE6E65-BD97-4B94-B34B-BBA2F57AFDCD}" type="presOf" srcId="{935045FC-CCA3-4FE9-A606-F5B20A340E5F}" destId="{1072C3A0-F4C0-48F7-8AE5-D2EC9E915465}" srcOrd="0" destOrd="1" presId="urn:microsoft.com/office/officeart/2005/8/layout/hList1"/>
    <dgm:cxn modelId="{2E4C0220-814F-4D2A-AFAC-2C110817C2B5}" type="presOf" srcId="{16271BF6-FE75-4DCE-A077-C9D6AB854B94}" destId="{4006CBE0-5E73-4EEC-BD9C-4453C88E02AE}" srcOrd="0" destOrd="1" presId="urn:microsoft.com/office/officeart/2005/8/layout/hList1"/>
    <dgm:cxn modelId="{FB12014A-19D0-44EF-B491-A24E86F76A8A}" type="presOf" srcId="{71D22BE2-D3DE-4CB3-98CB-05487804FD83}" destId="{306C3608-F1FF-4090-8961-718016B8CCE9}" srcOrd="0" destOrd="0" presId="urn:microsoft.com/office/officeart/2005/8/layout/hList1"/>
    <dgm:cxn modelId="{29D98D1C-5F33-4D26-84D8-D5A9367104C4}" srcId="{FD818439-D8BD-47FF-AF17-9337D0094935}" destId="{D79ED489-BABE-4474-912D-E8844CCC1146}" srcOrd="2" destOrd="0" parTransId="{FE796D7A-63C1-4930-AD97-7A2E1D000783}" sibTransId="{100C6733-4E3E-4A59-8C11-175545307A6B}"/>
    <dgm:cxn modelId="{6E5BD57D-D81F-4998-9D2D-D9D8CF7C3337}" srcId="{01B5201B-86BB-41BB-B935-D1BF9A9588E9}" destId="{16271BF6-FE75-4DCE-A077-C9D6AB854B94}" srcOrd="1" destOrd="0" parTransId="{4C09EA84-D6FD-4E28-91B5-9FCBD04FC1EE}" sibTransId="{0389FFC2-0F3A-4ED3-B7FB-561B3842B4A2}"/>
    <dgm:cxn modelId="{91DA439E-D2C6-45EA-B67E-BCFA4985E25B}" type="presOf" srcId="{96764234-6BDD-4FC3-9416-674813216C5F}" destId="{4006CBE0-5E73-4EEC-BD9C-4453C88E02AE}" srcOrd="0" destOrd="0" presId="urn:microsoft.com/office/officeart/2005/8/layout/hList1"/>
    <dgm:cxn modelId="{C867D4A7-19FE-4A09-8C14-2CB1B3350C52}" srcId="{208D8E08-9F4E-4D98-87DD-E8A340DC6E0F}" destId="{FA4C436E-445F-4BA6-9C31-F9BF937370CB}" srcOrd="1" destOrd="0" parTransId="{39F35400-A278-4142-873A-DA62BC464995}" sibTransId="{CD8609E9-30D9-4DD7-88BA-9D7066FC90B0}"/>
    <dgm:cxn modelId="{F3964EF1-AC41-46B6-A437-1E2EE09D7EE4}" srcId="{208D8E08-9F4E-4D98-87DD-E8A340DC6E0F}" destId="{F11F29DB-964D-4414-AE91-99E64576FFF1}" srcOrd="4" destOrd="0" parTransId="{B8DCA743-8443-46C0-9D48-6CB4BAD84AFA}" sibTransId="{F69C5FE7-097F-419F-AF1D-411E5CDE1C24}"/>
    <dgm:cxn modelId="{5EBB7A42-E1BD-4263-8847-26ECBEF1600F}" type="presOf" srcId="{B62B8E89-2121-4F01-98F5-0608E9345C65}" destId="{CF3D9494-DEFC-4583-93BB-AD6647A38860}" srcOrd="0" destOrd="3" presId="urn:microsoft.com/office/officeart/2005/8/layout/hList1"/>
    <dgm:cxn modelId="{3FF4C32F-116B-4F58-BB2A-AA7441E461A9}" srcId="{FD818439-D8BD-47FF-AF17-9337D0094935}" destId="{86A2837D-6A9E-4862-BFA4-34868CC08768}" srcOrd="0" destOrd="0" parTransId="{3F31FEE0-AAA0-42A3-A8C5-092E79C71680}" sibTransId="{3E332537-C861-49F3-AEA5-5B7EF4805185}"/>
    <dgm:cxn modelId="{C98EC502-29F6-48C5-A0CB-BEC706029826}" type="presOf" srcId="{FD818439-D8BD-47FF-AF17-9337D0094935}" destId="{1F7DB0B5-A560-4A43-81DE-EDA64057A4F5}" srcOrd="0" destOrd="0" presId="urn:microsoft.com/office/officeart/2005/8/layout/hList1"/>
    <dgm:cxn modelId="{393673DD-D17F-4A08-94ED-56F6EEE3C7B7}" srcId="{76689A31-6667-4D07-8640-5583679554B4}" destId="{81B9348A-A8FC-4D50-934B-237A2913CB42}" srcOrd="4" destOrd="0" parTransId="{D12AFA66-DCA2-427D-8092-BAACDD110998}" sibTransId="{BA9E584A-F24F-4157-8FD8-0A6AB7EEA1F2}"/>
    <dgm:cxn modelId="{2BDD3596-D2EC-4017-AEE8-FFB2C5066ADE}" type="presOf" srcId="{3B369643-5414-42DD-BAB9-0CC38B1B1EE9}" destId="{287F59C7-03E4-4A1E-BF3E-9FD7D0DFF1F0}" srcOrd="0" destOrd="0" presId="urn:microsoft.com/office/officeart/2005/8/layout/hList1"/>
    <dgm:cxn modelId="{43345B2F-9130-49FB-BC5F-60036CAFCB9C}" srcId="{3B369643-5414-42DD-BAB9-0CC38B1B1EE9}" destId="{01B5201B-86BB-41BB-B935-D1BF9A9588E9}" srcOrd="2" destOrd="0" parTransId="{A885A975-327F-4EA0-9F6A-E1EAC19829CD}" sibTransId="{28153949-962B-433E-A367-526D10124E8E}"/>
    <dgm:cxn modelId="{9A307BF2-08DA-483C-B04A-5E7A260EEF0E}" type="presOf" srcId="{FA4C436E-445F-4BA6-9C31-F9BF937370CB}" destId="{306C3608-F1FF-4090-8961-718016B8CCE9}" srcOrd="0" destOrd="1" presId="urn:microsoft.com/office/officeart/2005/8/layout/hList1"/>
    <dgm:cxn modelId="{CEE7F29F-C3EF-4E0A-8A1D-4AA68C6BC099}" srcId="{76689A31-6667-4D07-8640-5583679554B4}" destId="{1B6F33E3-ED03-494F-97C4-C67C5728B04F}" srcOrd="1" destOrd="0" parTransId="{5159B248-E785-4EDF-9CDF-7F9BC82A2230}" sibTransId="{FAA0DF1A-A341-48E3-AF25-4EFF7CB5C4B9}"/>
    <dgm:cxn modelId="{187ACEA6-C97E-4DB4-A039-43B799697E72}" srcId="{01B5201B-86BB-41BB-B935-D1BF9A9588E9}" destId="{44B04014-8287-4F2B-95B4-DB602B7FE500}" srcOrd="2" destOrd="0" parTransId="{11A85E84-EB7E-48FA-BF03-1ACA6992E8CE}" sibTransId="{736AF185-213C-45B8-BF6C-FD127CBCAE99}"/>
    <dgm:cxn modelId="{FD3E48D3-8C8F-4A62-98AA-DD28ADDA1849}" srcId="{76689A31-6667-4D07-8640-5583679554B4}" destId="{0EEE2E9F-ABF2-4AD4-8B95-E7861E36BC7C}" srcOrd="0" destOrd="0" parTransId="{E44096BF-4794-4C9F-9679-E9ED4BAD09FC}" sibTransId="{C50D9134-6553-4C42-969F-785EF2A8EE5C}"/>
    <dgm:cxn modelId="{7EB377EB-C2BE-4217-A93C-31E70FA88FBD}" type="presOf" srcId="{86A2837D-6A9E-4862-BFA4-34868CC08768}" destId="{1072C3A0-F4C0-48F7-8AE5-D2EC9E915465}" srcOrd="0" destOrd="0" presId="urn:microsoft.com/office/officeart/2005/8/layout/hList1"/>
    <dgm:cxn modelId="{D2CD9D71-1349-47C0-B16B-BDDAD76F9FA0}" type="presOf" srcId="{F11F29DB-964D-4414-AE91-99E64576FFF1}" destId="{306C3608-F1FF-4090-8961-718016B8CCE9}" srcOrd="0" destOrd="4" presId="urn:microsoft.com/office/officeart/2005/8/layout/hList1"/>
    <dgm:cxn modelId="{81BFFFD7-826A-44B2-ACF3-DD1DC2F2B2BC}" type="presOf" srcId="{C43EFE93-89A9-498B-B1A9-1B74C81C5EC5}" destId="{306C3608-F1FF-4090-8961-718016B8CCE9}" srcOrd="0" destOrd="3" presId="urn:microsoft.com/office/officeart/2005/8/layout/hList1"/>
    <dgm:cxn modelId="{29974704-3040-4C55-99F7-1F3772F19141}" type="presOf" srcId="{76689A31-6667-4D07-8640-5583679554B4}" destId="{DD5A391D-50C6-45E9-8DDD-9E4D89B7119D}" srcOrd="0" destOrd="0" presId="urn:microsoft.com/office/officeart/2005/8/layout/hList1"/>
    <dgm:cxn modelId="{F10DCEC6-AE9E-42DF-B4C5-CB2BCC0835BD}" srcId="{76689A31-6667-4D07-8640-5583679554B4}" destId="{21A027AD-5A62-4B07-9AFC-E5CD2617C6B9}" srcOrd="2" destOrd="0" parTransId="{12670A41-96DD-4CF6-A164-F6251C8DF15A}" sibTransId="{02F83EAB-943F-41BD-BFB9-D1563283A022}"/>
    <dgm:cxn modelId="{B245C20B-83A8-496B-A295-71E2BD11C207}" srcId="{208D8E08-9F4E-4D98-87DD-E8A340DC6E0F}" destId="{875FA52F-51E3-4861-AF95-71931B001941}" srcOrd="2" destOrd="0" parTransId="{417B7796-22A8-4987-8A57-425FB087313C}" sibTransId="{EF2E3E34-3C78-4C42-922D-29F08524AEAB}"/>
    <dgm:cxn modelId="{D6894828-77BA-4746-89A0-EF5108AD7289}" type="presParOf" srcId="{287F59C7-03E4-4A1E-BF3E-9FD7D0DFF1F0}" destId="{A2E9A254-7EB5-4939-9D15-57C8F027315E}" srcOrd="0" destOrd="0" presId="urn:microsoft.com/office/officeart/2005/8/layout/hList1"/>
    <dgm:cxn modelId="{A7A9C2FA-973D-4B66-96D9-A6792AE6AB7F}" type="presParOf" srcId="{A2E9A254-7EB5-4939-9D15-57C8F027315E}" destId="{DD5A391D-50C6-45E9-8DDD-9E4D89B7119D}" srcOrd="0" destOrd="0" presId="urn:microsoft.com/office/officeart/2005/8/layout/hList1"/>
    <dgm:cxn modelId="{73A2189F-B89C-4B55-BEC3-91BFFBC1B4F5}" type="presParOf" srcId="{A2E9A254-7EB5-4939-9D15-57C8F027315E}" destId="{CF3D9494-DEFC-4583-93BB-AD6647A38860}" srcOrd="1" destOrd="0" presId="urn:microsoft.com/office/officeart/2005/8/layout/hList1"/>
    <dgm:cxn modelId="{052662EE-79FF-4061-8CA1-D59338151703}" type="presParOf" srcId="{287F59C7-03E4-4A1E-BF3E-9FD7D0DFF1F0}" destId="{713D540E-C048-44B4-ABDB-C933E58CA5AA}" srcOrd="1" destOrd="0" presId="urn:microsoft.com/office/officeart/2005/8/layout/hList1"/>
    <dgm:cxn modelId="{52B6982E-12C5-4371-A8CD-64C2DBE8D79D}" type="presParOf" srcId="{287F59C7-03E4-4A1E-BF3E-9FD7D0DFF1F0}" destId="{2A81732F-8652-447E-9FAA-222030579A08}" srcOrd="2" destOrd="0" presId="urn:microsoft.com/office/officeart/2005/8/layout/hList1"/>
    <dgm:cxn modelId="{1B6AB67A-6A9E-44D7-8384-7207E53043B5}" type="presParOf" srcId="{2A81732F-8652-447E-9FAA-222030579A08}" destId="{40A5A350-16A2-4EC7-AB64-49A63B622249}" srcOrd="0" destOrd="0" presId="urn:microsoft.com/office/officeart/2005/8/layout/hList1"/>
    <dgm:cxn modelId="{366FFA4A-4EB1-4238-B208-B520A56A0E3E}" type="presParOf" srcId="{2A81732F-8652-447E-9FAA-222030579A08}" destId="{306C3608-F1FF-4090-8961-718016B8CCE9}" srcOrd="1" destOrd="0" presId="urn:microsoft.com/office/officeart/2005/8/layout/hList1"/>
    <dgm:cxn modelId="{889DD411-E251-4B98-8129-A218E0059396}" type="presParOf" srcId="{287F59C7-03E4-4A1E-BF3E-9FD7D0DFF1F0}" destId="{6F0725AA-A1DC-46A5-98AF-35B3B37576E1}" srcOrd="3" destOrd="0" presId="urn:microsoft.com/office/officeart/2005/8/layout/hList1"/>
    <dgm:cxn modelId="{88D44793-C240-43A3-A5BC-45F3F6D811BA}" type="presParOf" srcId="{287F59C7-03E4-4A1E-BF3E-9FD7D0DFF1F0}" destId="{52C807F4-A89F-40A3-B6A3-C469F1E88D1B}" srcOrd="4" destOrd="0" presId="urn:microsoft.com/office/officeart/2005/8/layout/hList1"/>
    <dgm:cxn modelId="{FC053B3B-3D79-49D9-A181-FF3609475B8E}" type="presParOf" srcId="{52C807F4-A89F-40A3-B6A3-C469F1E88D1B}" destId="{E2CCC923-0805-4C52-8F57-4414079E4936}" srcOrd="0" destOrd="0" presId="urn:microsoft.com/office/officeart/2005/8/layout/hList1"/>
    <dgm:cxn modelId="{26B379D6-116B-4614-8775-E57D897687E1}" type="presParOf" srcId="{52C807F4-A89F-40A3-B6A3-C469F1E88D1B}" destId="{4006CBE0-5E73-4EEC-BD9C-4453C88E02AE}" srcOrd="1" destOrd="0" presId="urn:microsoft.com/office/officeart/2005/8/layout/hList1"/>
    <dgm:cxn modelId="{3FAD89D2-C828-4AD5-BCC0-7DB1502F7C6A}" type="presParOf" srcId="{287F59C7-03E4-4A1E-BF3E-9FD7D0DFF1F0}" destId="{9D21628E-372A-48CF-93CE-23846CF10506}" srcOrd="5" destOrd="0" presId="urn:microsoft.com/office/officeart/2005/8/layout/hList1"/>
    <dgm:cxn modelId="{D0B57CFB-7E9C-4C42-82A2-410898D11048}" type="presParOf" srcId="{287F59C7-03E4-4A1E-BF3E-9FD7D0DFF1F0}" destId="{55ADCB41-199C-4654-8CA2-7DAE22C5E868}" srcOrd="6" destOrd="0" presId="urn:microsoft.com/office/officeart/2005/8/layout/hList1"/>
    <dgm:cxn modelId="{3A5CA62B-DF26-4CBB-AB3D-778DDD0A541A}" type="presParOf" srcId="{55ADCB41-199C-4654-8CA2-7DAE22C5E868}" destId="{1F7DB0B5-A560-4A43-81DE-EDA64057A4F5}" srcOrd="0" destOrd="0" presId="urn:microsoft.com/office/officeart/2005/8/layout/hList1"/>
    <dgm:cxn modelId="{0069DEE3-B188-4583-9D19-9B6AB73B6A49}" type="presParOf" srcId="{55ADCB41-199C-4654-8CA2-7DAE22C5E868}" destId="{1072C3A0-F4C0-48F7-8AE5-D2EC9E91546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342CA3-85C9-42DF-A799-6FC289EEDF89}"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s-ES"/>
        </a:p>
      </dgm:t>
    </dgm:pt>
    <dgm:pt modelId="{02BFF731-2A9C-417F-BBAC-B06FCD72A1EC}">
      <dgm:prSet phldrT="[Text]"/>
      <dgm:spPr/>
      <dgm:t>
        <a:bodyPr/>
        <a:lstStyle/>
        <a:p>
          <a:r>
            <a:rPr lang="es-ES" b="1" dirty="0">
              <a:solidFill>
                <a:schemeClr val="tx1"/>
              </a:solidFill>
            </a:rPr>
            <a:t>Positivos</a:t>
          </a:r>
        </a:p>
        <a:p>
          <a:r>
            <a:rPr lang="es-ES" b="1" dirty="0">
              <a:solidFill>
                <a:schemeClr val="tx1"/>
              </a:solidFill>
            </a:rPr>
            <a:t>(Oportunidades)</a:t>
          </a:r>
        </a:p>
      </dgm:t>
    </dgm:pt>
    <dgm:pt modelId="{769074DF-94C0-4B80-86C4-EA47980DE15B}" type="parTrans" cxnId="{D44D787B-3702-4C71-BEDD-21C7336D6ADC}">
      <dgm:prSet/>
      <dgm:spPr/>
      <dgm:t>
        <a:bodyPr/>
        <a:lstStyle/>
        <a:p>
          <a:endParaRPr lang="es-ES" b="1"/>
        </a:p>
      </dgm:t>
    </dgm:pt>
    <dgm:pt modelId="{AA22CC4E-98F4-43AA-B162-73A5FC948DA2}" type="sibTrans" cxnId="{D44D787B-3702-4C71-BEDD-21C7336D6ADC}">
      <dgm:prSet/>
      <dgm:spPr/>
      <dgm:t>
        <a:bodyPr/>
        <a:lstStyle/>
        <a:p>
          <a:endParaRPr lang="es-ES" b="1"/>
        </a:p>
      </dgm:t>
    </dgm:pt>
    <dgm:pt modelId="{546E13E2-2D63-4FB0-AC0B-8F50ED0C6E5D}">
      <dgm:prSet phldrT="[Text]"/>
      <dgm:spPr/>
      <dgm:t>
        <a:bodyPr/>
        <a:lstStyle/>
        <a:p>
          <a:r>
            <a:rPr lang="es-ES" b="1" dirty="0"/>
            <a:t>Explotar</a:t>
          </a:r>
        </a:p>
      </dgm:t>
    </dgm:pt>
    <dgm:pt modelId="{F67046B5-96F9-46B6-A33A-55FC428CE76C}" type="parTrans" cxnId="{7828B2A3-E4EF-4292-89CF-E0ABB604E384}">
      <dgm:prSet/>
      <dgm:spPr/>
      <dgm:t>
        <a:bodyPr/>
        <a:lstStyle/>
        <a:p>
          <a:endParaRPr lang="es-ES" b="1"/>
        </a:p>
      </dgm:t>
    </dgm:pt>
    <dgm:pt modelId="{740DF971-7032-4F0D-AFA6-383C5765461F}" type="sibTrans" cxnId="{7828B2A3-E4EF-4292-89CF-E0ABB604E384}">
      <dgm:prSet/>
      <dgm:spPr/>
      <dgm:t>
        <a:bodyPr/>
        <a:lstStyle/>
        <a:p>
          <a:endParaRPr lang="es-ES" b="1"/>
        </a:p>
      </dgm:t>
    </dgm:pt>
    <dgm:pt modelId="{EE542C46-1820-4063-95CB-CD1157C3C841}">
      <dgm:prSet phldrT="[Text]"/>
      <dgm:spPr/>
      <dgm:t>
        <a:bodyPr/>
        <a:lstStyle/>
        <a:p>
          <a:r>
            <a:rPr lang="es-ES" b="1" dirty="0"/>
            <a:t>Compartir</a:t>
          </a:r>
        </a:p>
      </dgm:t>
    </dgm:pt>
    <dgm:pt modelId="{B6D38530-5172-4EAB-9BE2-8A28F949E819}" type="parTrans" cxnId="{EC7B1E60-1E9A-4420-BF05-E291EA67B1A5}">
      <dgm:prSet/>
      <dgm:spPr/>
      <dgm:t>
        <a:bodyPr/>
        <a:lstStyle/>
        <a:p>
          <a:endParaRPr lang="es-ES" b="1"/>
        </a:p>
      </dgm:t>
    </dgm:pt>
    <dgm:pt modelId="{A2A651D8-5F3C-427D-AD40-BEF549EA085C}" type="sibTrans" cxnId="{EC7B1E60-1E9A-4420-BF05-E291EA67B1A5}">
      <dgm:prSet/>
      <dgm:spPr/>
      <dgm:t>
        <a:bodyPr/>
        <a:lstStyle/>
        <a:p>
          <a:endParaRPr lang="es-ES" b="1"/>
        </a:p>
      </dgm:t>
    </dgm:pt>
    <dgm:pt modelId="{CCD0F09A-AF9F-4C08-B98D-D930865AF843}">
      <dgm:prSet phldrT="[Text]"/>
      <dgm:spPr/>
      <dgm:t>
        <a:bodyPr/>
        <a:lstStyle/>
        <a:p>
          <a:r>
            <a:rPr lang="es-ES" b="1" dirty="0">
              <a:solidFill>
                <a:schemeClr val="tx1"/>
              </a:solidFill>
            </a:rPr>
            <a:t>Negativos</a:t>
          </a:r>
        </a:p>
      </dgm:t>
    </dgm:pt>
    <dgm:pt modelId="{3D61CC82-CEF0-441D-8420-85737970609D}" type="parTrans" cxnId="{DABA6DF5-CA4F-4A6B-9C60-AD02C16289C6}">
      <dgm:prSet/>
      <dgm:spPr/>
      <dgm:t>
        <a:bodyPr/>
        <a:lstStyle/>
        <a:p>
          <a:endParaRPr lang="es-ES" b="1"/>
        </a:p>
      </dgm:t>
    </dgm:pt>
    <dgm:pt modelId="{FA790D77-A11F-4603-9E33-7C14AE67A229}" type="sibTrans" cxnId="{DABA6DF5-CA4F-4A6B-9C60-AD02C16289C6}">
      <dgm:prSet/>
      <dgm:spPr/>
      <dgm:t>
        <a:bodyPr/>
        <a:lstStyle/>
        <a:p>
          <a:endParaRPr lang="es-ES" b="1"/>
        </a:p>
      </dgm:t>
    </dgm:pt>
    <dgm:pt modelId="{93970AA2-BE58-46DC-9DC3-0EEEE35CE5B4}">
      <dgm:prSet phldrT="[Text]"/>
      <dgm:spPr/>
      <dgm:t>
        <a:bodyPr/>
        <a:lstStyle/>
        <a:p>
          <a:r>
            <a:rPr lang="es-ES" b="1" dirty="0"/>
            <a:t>Evitar</a:t>
          </a:r>
        </a:p>
      </dgm:t>
    </dgm:pt>
    <dgm:pt modelId="{EF0E2922-9F8F-4790-B231-F52C7D7944A1}" type="parTrans" cxnId="{EFC7FAF8-08D2-450C-B3DF-E4509606BCBC}">
      <dgm:prSet/>
      <dgm:spPr/>
      <dgm:t>
        <a:bodyPr/>
        <a:lstStyle/>
        <a:p>
          <a:endParaRPr lang="es-ES" b="1"/>
        </a:p>
      </dgm:t>
    </dgm:pt>
    <dgm:pt modelId="{2E77432C-8C27-4EBB-8CBD-B5CF5B95D928}" type="sibTrans" cxnId="{EFC7FAF8-08D2-450C-B3DF-E4509606BCBC}">
      <dgm:prSet/>
      <dgm:spPr/>
      <dgm:t>
        <a:bodyPr/>
        <a:lstStyle/>
        <a:p>
          <a:endParaRPr lang="es-ES" b="1"/>
        </a:p>
      </dgm:t>
    </dgm:pt>
    <dgm:pt modelId="{50B50317-FEE9-4ADA-937C-19308BAA18C2}">
      <dgm:prSet phldrT="[Text]"/>
      <dgm:spPr/>
      <dgm:t>
        <a:bodyPr/>
        <a:lstStyle/>
        <a:p>
          <a:r>
            <a:rPr lang="es-ES" b="1" dirty="0"/>
            <a:t>Mitigar</a:t>
          </a:r>
        </a:p>
      </dgm:t>
    </dgm:pt>
    <dgm:pt modelId="{C588DF73-F8C3-40FC-AB8A-5C0F2C691C0C}" type="parTrans" cxnId="{DD381A38-A216-4219-A3A8-C57F2AD47EFD}">
      <dgm:prSet/>
      <dgm:spPr/>
      <dgm:t>
        <a:bodyPr/>
        <a:lstStyle/>
        <a:p>
          <a:endParaRPr lang="es-ES" b="1"/>
        </a:p>
      </dgm:t>
    </dgm:pt>
    <dgm:pt modelId="{5EED0FF8-CA28-4CBA-94E7-E6D4FF4734CB}" type="sibTrans" cxnId="{DD381A38-A216-4219-A3A8-C57F2AD47EFD}">
      <dgm:prSet/>
      <dgm:spPr/>
      <dgm:t>
        <a:bodyPr/>
        <a:lstStyle/>
        <a:p>
          <a:endParaRPr lang="es-ES" b="1"/>
        </a:p>
      </dgm:t>
    </dgm:pt>
    <dgm:pt modelId="{4EB896C4-548C-4C1D-BC1B-BD6CEFD79AEF}">
      <dgm:prSet/>
      <dgm:spPr/>
      <dgm:t>
        <a:bodyPr/>
        <a:lstStyle/>
        <a:p>
          <a:r>
            <a:rPr lang="es-ES" b="1" dirty="0">
              <a:solidFill>
                <a:schemeClr val="tx1"/>
              </a:solidFill>
            </a:rPr>
            <a:t>Positivos y Negativos</a:t>
          </a:r>
        </a:p>
      </dgm:t>
    </dgm:pt>
    <dgm:pt modelId="{9D97673B-7073-4C0C-8C77-83461D30D48D}" type="parTrans" cxnId="{61F4711D-CFD3-475A-9ECA-68721E441BC9}">
      <dgm:prSet/>
      <dgm:spPr/>
      <dgm:t>
        <a:bodyPr/>
        <a:lstStyle/>
        <a:p>
          <a:endParaRPr lang="es-ES" b="1"/>
        </a:p>
      </dgm:t>
    </dgm:pt>
    <dgm:pt modelId="{6F6F8217-4AAF-4B45-AB68-98C7B0C31267}" type="sibTrans" cxnId="{61F4711D-CFD3-475A-9ECA-68721E441BC9}">
      <dgm:prSet/>
      <dgm:spPr/>
      <dgm:t>
        <a:bodyPr/>
        <a:lstStyle/>
        <a:p>
          <a:endParaRPr lang="es-ES" b="1"/>
        </a:p>
      </dgm:t>
    </dgm:pt>
    <dgm:pt modelId="{80A886D4-F4C5-47C6-BBA5-7E6AA2596AC2}">
      <dgm:prSet phldrT="[Text]"/>
      <dgm:spPr/>
      <dgm:t>
        <a:bodyPr/>
        <a:lstStyle/>
        <a:p>
          <a:r>
            <a:rPr lang="es-ES" b="1" dirty="0"/>
            <a:t>Mejorar</a:t>
          </a:r>
        </a:p>
      </dgm:t>
    </dgm:pt>
    <dgm:pt modelId="{78B939E7-EF2E-4231-B5A0-F81E241E242B}" type="parTrans" cxnId="{78CCA3BA-837C-4632-A019-F8DB7B1E402E}">
      <dgm:prSet/>
      <dgm:spPr/>
      <dgm:t>
        <a:bodyPr/>
        <a:lstStyle/>
        <a:p>
          <a:endParaRPr lang="es-ES" b="1"/>
        </a:p>
      </dgm:t>
    </dgm:pt>
    <dgm:pt modelId="{66409F38-3414-4412-AC3D-F554D9191E97}" type="sibTrans" cxnId="{78CCA3BA-837C-4632-A019-F8DB7B1E402E}">
      <dgm:prSet/>
      <dgm:spPr/>
      <dgm:t>
        <a:bodyPr/>
        <a:lstStyle/>
        <a:p>
          <a:endParaRPr lang="es-ES" b="1"/>
        </a:p>
      </dgm:t>
    </dgm:pt>
    <dgm:pt modelId="{67473728-2574-4481-B08A-0BE6D8A8C6BC}">
      <dgm:prSet phldrT="[Text]"/>
      <dgm:spPr/>
      <dgm:t>
        <a:bodyPr/>
        <a:lstStyle/>
        <a:p>
          <a:r>
            <a:rPr lang="es-ES" b="1" dirty="0"/>
            <a:t>Transferir</a:t>
          </a:r>
        </a:p>
      </dgm:t>
    </dgm:pt>
    <dgm:pt modelId="{77C25677-B010-4181-89CE-DE664EF05B45}" type="parTrans" cxnId="{2304BDD5-79AA-41F8-8758-799957FD6DBF}">
      <dgm:prSet/>
      <dgm:spPr/>
      <dgm:t>
        <a:bodyPr/>
        <a:lstStyle/>
        <a:p>
          <a:endParaRPr lang="es-ES" b="1"/>
        </a:p>
      </dgm:t>
    </dgm:pt>
    <dgm:pt modelId="{18D9D237-1E84-4871-9C8D-6772372EA94E}" type="sibTrans" cxnId="{2304BDD5-79AA-41F8-8758-799957FD6DBF}">
      <dgm:prSet/>
      <dgm:spPr/>
      <dgm:t>
        <a:bodyPr/>
        <a:lstStyle/>
        <a:p>
          <a:endParaRPr lang="es-ES" b="1"/>
        </a:p>
      </dgm:t>
    </dgm:pt>
    <dgm:pt modelId="{B38C3C37-68F0-433D-9112-1ABDFFB130B0}">
      <dgm:prSet/>
      <dgm:spPr/>
      <dgm:t>
        <a:bodyPr/>
        <a:lstStyle/>
        <a:p>
          <a:r>
            <a:rPr lang="es-ES" b="1" dirty="0"/>
            <a:t>Aceptar</a:t>
          </a:r>
        </a:p>
      </dgm:t>
    </dgm:pt>
    <dgm:pt modelId="{019C93DB-FEB5-49BA-8C53-FA63FF43F827}" type="parTrans" cxnId="{E00F8734-E089-4EF2-9BC0-2631C55F4F2B}">
      <dgm:prSet/>
      <dgm:spPr/>
      <dgm:t>
        <a:bodyPr/>
        <a:lstStyle/>
        <a:p>
          <a:endParaRPr lang="es-ES" b="1"/>
        </a:p>
      </dgm:t>
    </dgm:pt>
    <dgm:pt modelId="{B8DCC25F-30C0-4582-8F94-E6E8B9118564}" type="sibTrans" cxnId="{E00F8734-E089-4EF2-9BC0-2631C55F4F2B}">
      <dgm:prSet/>
      <dgm:spPr/>
      <dgm:t>
        <a:bodyPr/>
        <a:lstStyle/>
        <a:p>
          <a:endParaRPr lang="es-ES" b="1"/>
        </a:p>
      </dgm:t>
    </dgm:pt>
    <dgm:pt modelId="{CD226AC7-FDC8-4A4D-8A05-DBF67FC7444B}">
      <dgm:prSet/>
      <dgm:spPr/>
      <dgm:t>
        <a:bodyPr/>
        <a:lstStyle/>
        <a:p>
          <a:endParaRPr lang="es-ES" b="1" dirty="0"/>
        </a:p>
      </dgm:t>
    </dgm:pt>
    <dgm:pt modelId="{DA53AF02-1E22-496E-8056-D7F5A999AA66}" type="parTrans" cxnId="{9E9AD3E4-D575-425C-8418-FB8D43113E7D}">
      <dgm:prSet/>
      <dgm:spPr/>
      <dgm:t>
        <a:bodyPr/>
        <a:lstStyle/>
        <a:p>
          <a:endParaRPr lang="es-MX"/>
        </a:p>
      </dgm:t>
    </dgm:pt>
    <dgm:pt modelId="{695BFDE6-D3AF-4DCD-B2DA-67299599617E}" type="sibTrans" cxnId="{9E9AD3E4-D575-425C-8418-FB8D43113E7D}">
      <dgm:prSet/>
      <dgm:spPr/>
      <dgm:t>
        <a:bodyPr/>
        <a:lstStyle/>
        <a:p>
          <a:endParaRPr lang="es-MX"/>
        </a:p>
      </dgm:t>
    </dgm:pt>
    <dgm:pt modelId="{1644F8C6-082F-4687-BA27-D97E0C38FD8B}" type="pres">
      <dgm:prSet presAssocID="{CD342CA3-85C9-42DF-A799-6FC289EEDF89}" presName="Name0" presStyleCnt="0">
        <dgm:presLayoutVars>
          <dgm:dir/>
          <dgm:animLvl val="lvl"/>
          <dgm:resizeHandles/>
        </dgm:presLayoutVars>
      </dgm:prSet>
      <dgm:spPr/>
      <dgm:t>
        <a:bodyPr/>
        <a:lstStyle/>
        <a:p>
          <a:endParaRPr lang="es-ES"/>
        </a:p>
      </dgm:t>
    </dgm:pt>
    <dgm:pt modelId="{94E5B3B2-06AA-4F6D-8C58-6C8784CFC637}" type="pres">
      <dgm:prSet presAssocID="{02BFF731-2A9C-417F-BBAC-B06FCD72A1EC}" presName="linNode" presStyleCnt="0"/>
      <dgm:spPr/>
    </dgm:pt>
    <dgm:pt modelId="{AF9046DF-68C8-4B49-A126-3A0A192FA2A5}" type="pres">
      <dgm:prSet presAssocID="{02BFF731-2A9C-417F-BBAC-B06FCD72A1EC}" presName="parentShp" presStyleLbl="node1" presStyleIdx="0" presStyleCnt="3">
        <dgm:presLayoutVars>
          <dgm:bulletEnabled val="1"/>
        </dgm:presLayoutVars>
      </dgm:prSet>
      <dgm:spPr/>
      <dgm:t>
        <a:bodyPr/>
        <a:lstStyle/>
        <a:p>
          <a:endParaRPr lang="es-ES"/>
        </a:p>
      </dgm:t>
    </dgm:pt>
    <dgm:pt modelId="{EEC74F33-C6A7-47DC-A6F6-9E40051DB6A8}" type="pres">
      <dgm:prSet presAssocID="{02BFF731-2A9C-417F-BBAC-B06FCD72A1EC}" presName="childShp" presStyleLbl="bgAccFollowNode1" presStyleIdx="0" presStyleCnt="3">
        <dgm:presLayoutVars>
          <dgm:bulletEnabled val="1"/>
        </dgm:presLayoutVars>
      </dgm:prSet>
      <dgm:spPr/>
      <dgm:t>
        <a:bodyPr/>
        <a:lstStyle/>
        <a:p>
          <a:endParaRPr lang="es-ES"/>
        </a:p>
      </dgm:t>
    </dgm:pt>
    <dgm:pt modelId="{1AD94F9A-A6EC-4203-9622-8DFC8D03BB70}" type="pres">
      <dgm:prSet presAssocID="{AA22CC4E-98F4-43AA-B162-73A5FC948DA2}" presName="spacing" presStyleCnt="0"/>
      <dgm:spPr/>
    </dgm:pt>
    <dgm:pt modelId="{E702CE42-1D0C-48A2-92F2-7FB0EFB50E5F}" type="pres">
      <dgm:prSet presAssocID="{CCD0F09A-AF9F-4C08-B98D-D930865AF843}" presName="linNode" presStyleCnt="0"/>
      <dgm:spPr/>
    </dgm:pt>
    <dgm:pt modelId="{7AF57CBE-2E11-4AA3-B62B-90F6E28F2268}" type="pres">
      <dgm:prSet presAssocID="{CCD0F09A-AF9F-4C08-B98D-D930865AF843}" presName="parentShp" presStyleLbl="node1" presStyleIdx="1" presStyleCnt="3">
        <dgm:presLayoutVars>
          <dgm:bulletEnabled val="1"/>
        </dgm:presLayoutVars>
      </dgm:prSet>
      <dgm:spPr/>
      <dgm:t>
        <a:bodyPr/>
        <a:lstStyle/>
        <a:p>
          <a:endParaRPr lang="es-ES"/>
        </a:p>
      </dgm:t>
    </dgm:pt>
    <dgm:pt modelId="{E7B57D2D-F22C-41DF-95BA-34BF2A4E0613}" type="pres">
      <dgm:prSet presAssocID="{CCD0F09A-AF9F-4C08-B98D-D930865AF843}" presName="childShp" presStyleLbl="bgAccFollowNode1" presStyleIdx="1" presStyleCnt="3">
        <dgm:presLayoutVars>
          <dgm:bulletEnabled val="1"/>
        </dgm:presLayoutVars>
      </dgm:prSet>
      <dgm:spPr/>
      <dgm:t>
        <a:bodyPr/>
        <a:lstStyle/>
        <a:p>
          <a:endParaRPr lang="es-ES"/>
        </a:p>
      </dgm:t>
    </dgm:pt>
    <dgm:pt modelId="{06B3B622-3259-49E5-9D9E-A6FABE19E875}" type="pres">
      <dgm:prSet presAssocID="{FA790D77-A11F-4603-9E33-7C14AE67A229}" presName="spacing" presStyleCnt="0"/>
      <dgm:spPr/>
    </dgm:pt>
    <dgm:pt modelId="{F3D9E3A4-B99C-484B-8433-190865528E4C}" type="pres">
      <dgm:prSet presAssocID="{4EB896C4-548C-4C1D-BC1B-BD6CEFD79AEF}" presName="linNode" presStyleCnt="0"/>
      <dgm:spPr/>
    </dgm:pt>
    <dgm:pt modelId="{470EFDB9-0333-4511-91EB-D5C590637483}" type="pres">
      <dgm:prSet presAssocID="{4EB896C4-548C-4C1D-BC1B-BD6CEFD79AEF}" presName="parentShp" presStyleLbl="node1" presStyleIdx="2" presStyleCnt="3">
        <dgm:presLayoutVars>
          <dgm:bulletEnabled val="1"/>
        </dgm:presLayoutVars>
      </dgm:prSet>
      <dgm:spPr/>
      <dgm:t>
        <a:bodyPr/>
        <a:lstStyle/>
        <a:p>
          <a:endParaRPr lang="es-ES"/>
        </a:p>
      </dgm:t>
    </dgm:pt>
    <dgm:pt modelId="{3D0BE818-2E26-4680-9D3F-F0FF4112F13E}" type="pres">
      <dgm:prSet presAssocID="{4EB896C4-548C-4C1D-BC1B-BD6CEFD79AEF}" presName="childShp" presStyleLbl="bgAccFollowNode1" presStyleIdx="2" presStyleCnt="3">
        <dgm:presLayoutVars>
          <dgm:bulletEnabled val="1"/>
        </dgm:presLayoutVars>
      </dgm:prSet>
      <dgm:spPr/>
      <dgm:t>
        <a:bodyPr/>
        <a:lstStyle/>
        <a:p>
          <a:endParaRPr lang="es-ES"/>
        </a:p>
      </dgm:t>
    </dgm:pt>
  </dgm:ptLst>
  <dgm:cxnLst>
    <dgm:cxn modelId="{78CCA3BA-837C-4632-A019-F8DB7B1E402E}" srcId="{02BFF731-2A9C-417F-BBAC-B06FCD72A1EC}" destId="{80A886D4-F4C5-47C6-BBA5-7E6AA2596AC2}" srcOrd="2" destOrd="0" parTransId="{78B939E7-EF2E-4231-B5A0-F81E241E242B}" sibTransId="{66409F38-3414-4412-AC3D-F554D9191E97}"/>
    <dgm:cxn modelId="{61F4711D-CFD3-475A-9ECA-68721E441BC9}" srcId="{CD342CA3-85C9-42DF-A799-6FC289EEDF89}" destId="{4EB896C4-548C-4C1D-BC1B-BD6CEFD79AEF}" srcOrd="2" destOrd="0" parTransId="{9D97673B-7073-4C0C-8C77-83461D30D48D}" sibTransId="{6F6F8217-4AAF-4B45-AB68-98C7B0C31267}"/>
    <dgm:cxn modelId="{7B3EE115-0F10-4704-AB63-421C316ECA0B}" type="presOf" srcId="{80A886D4-F4C5-47C6-BBA5-7E6AA2596AC2}" destId="{EEC74F33-C6A7-47DC-A6F6-9E40051DB6A8}" srcOrd="0" destOrd="2" presId="urn:microsoft.com/office/officeart/2005/8/layout/vList6"/>
    <dgm:cxn modelId="{029A0435-DF60-46FB-97C6-740952599955}" type="presOf" srcId="{93970AA2-BE58-46DC-9DC3-0EEEE35CE5B4}" destId="{E7B57D2D-F22C-41DF-95BA-34BF2A4E0613}" srcOrd="0" destOrd="0" presId="urn:microsoft.com/office/officeart/2005/8/layout/vList6"/>
    <dgm:cxn modelId="{EED44DCE-F59E-492F-A7FD-A65BA829F650}" type="presOf" srcId="{B38C3C37-68F0-433D-9112-1ABDFFB130B0}" destId="{3D0BE818-2E26-4680-9D3F-F0FF4112F13E}" srcOrd="0" destOrd="1" presId="urn:microsoft.com/office/officeart/2005/8/layout/vList6"/>
    <dgm:cxn modelId="{BA09423C-E7E5-4248-9EE2-440F7D5E2092}" type="presOf" srcId="{4EB896C4-548C-4C1D-BC1B-BD6CEFD79AEF}" destId="{470EFDB9-0333-4511-91EB-D5C590637483}" srcOrd="0" destOrd="0" presId="urn:microsoft.com/office/officeart/2005/8/layout/vList6"/>
    <dgm:cxn modelId="{3688E182-71FF-42C2-BD2C-C354FDE7C696}" type="presOf" srcId="{EE542C46-1820-4063-95CB-CD1157C3C841}" destId="{EEC74F33-C6A7-47DC-A6F6-9E40051DB6A8}" srcOrd="0" destOrd="1" presId="urn:microsoft.com/office/officeart/2005/8/layout/vList6"/>
    <dgm:cxn modelId="{7828B2A3-E4EF-4292-89CF-E0ABB604E384}" srcId="{02BFF731-2A9C-417F-BBAC-B06FCD72A1EC}" destId="{546E13E2-2D63-4FB0-AC0B-8F50ED0C6E5D}" srcOrd="0" destOrd="0" parTransId="{F67046B5-96F9-46B6-A33A-55FC428CE76C}" sibTransId="{740DF971-7032-4F0D-AFA6-383C5765461F}"/>
    <dgm:cxn modelId="{DD381A38-A216-4219-A3A8-C57F2AD47EFD}" srcId="{CCD0F09A-AF9F-4C08-B98D-D930865AF843}" destId="{50B50317-FEE9-4ADA-937C-19308BAA18C2}" srcOrd="1" destOrd="0" parTransId="{C588DF73-F8C3-40FC-AB8A-5C0F2C691C0C}" sibTransId="{5EED0FF8-CA28-4CBA-94E7-E6D4FF4734CB}"/>
    <dgm:cxn modelId="{B5C2E7FE-378B-4747-8EC4-EBBDE2EB485B}" type="presOf" srcId="{67473728-2574-4481-B08A-0BE6D8A8C6BC}" destId="{E7B57D2D-F22C-41DF-95BA-34BF2A4E0613}" srcOrd="0" destOrd="2" presId="urn:microsoft.com/office/officeart/2005/8/layout/vList6"/>
    <dgm:cxn modelId="{9E30E57B-F6ED-4A95-91C6-B0F456C4E8F2}" type="presOf" srcId="{CD342CA3-85C9-42DF-A799-6FC289EEDF89}" destId="{1644F8C6-082F-4687-BA27-D97E0C38FD8B}" srcOrd="0" destOrd="0" presId="urn:microsoft.com/office/officeart/2005/8/layout/vList6"/>
    <dgm:cxn modelId="{B96B1614-8DF8-4ABC-BA71-7659C3D5B210}" type="presOf" srcId="{546E13E2-2D63-4FB0-AC0B-8F50ED0C6E5D}" destId="{EEC74F33-C6A7-47DC-A6F6-9E40051DB6A8}" srcOrd="0" destOrd="0" presId="urn:microsoft.com/office/officeart/2005/8/layout/vList6"/>
    <dgm:cxn modelId="{EC7B1E60-1E9A-4420-BF05-E291EA67B1A5}" srcId="{02BFF731-2A9C-417F-BBAC-B06FCD72A1EC}" destId="{EE542C46-1820-4063-95CB-CD1157C3C841}" srcOrd="1" destOrd="0" parTransId="{B6D38530-5172-4EAB-9BE2-8A28F949E819}" sibTransId="{A2A651D8-5F3C-427D-AD40-BEF549EA085C}"/>
    <dgm:cxn modelId="{9E9AD3E4-D575-425C-8418-FB8D43113E7D}" srcId="{4EB896C4-548C-4C1D-BC1B-BD6CEFD79AEF}" destId="{CD226AC7-FDC8-4A4D-8A05-DBF67FC7444B}" srcOrd="0" destOrd="0" parTransId="{DA53AF02-1E22-496E-8056-D7F5A999AA66}" sibTransId="{695BFDE6-D3AF-4DCD-B2DA-67299599617E}"/>
    <dgm:cxn modelId="{D44D787B-3702-4C71-BEDD-21C7336D6ADC}" srcId="{CD342CA3-85C9-42DF-A799-6FC289EEDF89}" destId="{02BFF731-2A9C-417F-BBAC-B06FCD72A1EC}" srcOrd="0" destOrd="0" parTransId="{769074DF-94C0-4B80-86C4-EA47980DE15B}" sibTransId="{AA22CC4E-98F4-43AA-B162-73A5FC948DA2}"/>
    <dgm:cxn modelId="{2304BDD5-79AA-41F8-8758-799957FD6DBF}" srcId="{CCD0F09A-AF9F-4C08-B98D-D930865AF843}" destId="{67473728-2574-4481-B08A-0BE6D8A8C6BC}" srcOrd="2" destOrd="0" parTransId="{77C25677-B010-4181-89CE-DE664EF05B45}" sibTransId="{18D9D237-1E84-4871-9C8D-6772372EA94E}"/>
    <dgm:cxn modelId="{86504618-254C-4F43-AC05-692175A22638}" type="presOf" srcId="{CCD0F09A-AF9F-4C08-B98D-D930865AF843}" destId="{7AF57CBE-2E11-4AA3-B62B-90F6E28F2268}" srcOrd="0" destOrd="0" presId="urn:microsoft.com/office/officeart/2005/8/layout/vList6"/>
    <dgm:cxn modelId="{94E3B11D-BA7A-474A-93D4-23762E32E202}" type="presOf" srcId="{CD226AC7-FDC8-4A4D-8A05-DBF67FC7444B}" destId="{3D0BE818-2E26-4680-9D3F-F0FF4112F13E}" srcOrd="0" destOrd="0" presId="urn:microsoft.com/office/officeart/2005/8/layout/vList6"/>
    <dgm:cxn modelId="{B761D8E6-7419-49C9-82FB-D1ADDB497C61}" type="presOf" srcId="{02BFF731-2A9C-417F-BBAC-B06FCD72A1EC}" destId="{AF9046DF-68C8-4B49-A126-3A0A192FA2A5}" srcOrd="0" destOrd="0" presId="urn:microsoft.com/office/officeart/2005/8/layout/vList6"/>
    <dgm:cxn modelId="{DABA6DF5-CA4F-4A6B-9C60-AD02C16289C6}" srcId="{CD342CA3-85C9-42DF-A799-6FC289EEDF89}" destId="{CCD0F09A-AF9F-4C08-B98D-D930865AF843}" srcOrd="1" destOrd="0" parTransId="{3D61CC82-CEF0-441D-8420-85737970609D}" sibTransId="{FA790D77-A11F-4603-9E33-7C14AE67A229}"/>
    <dgm:cxn modelId="{90A690E5-F1CE-48EE-B779-60E3BAC6BF71}" type="presOf" srcId="{50B50317-FEE9-4ADA-937C-19308BAA18C2}" destId="{E7B57D2D-F22C-41DF-95BA-34BF2A4E0613}" srcOrd="0" destOrd="1" presId="urn:microsoft.com/office/officeart/2005/8/layout/vList6"/>
    <dgm:cxn modelId="{E00F8734-E089-4EF2-9BC0-2631C55F4F2B}" srcId="{4EB896C4-548C-4C1D-BC1B-BD6CEFD79AEF}" destId="{B38C3C37-68F0-433D-9112-1ABDFFB130B0}" srcOrd="1" destOrd="0" parTransId="{019C93DB-FEB5-49BA-8C53-FA63FF43F827}" sibTransId="{B8DCC25F-30C0-4582-8F94-E6E8B9118564}"/>
    <dgm:cxn modelId="{EFC7FAF8-08D2-450C-B3DF-E4509606BCBC}" srcId="{CCD0F09A-AF9F-4C08-B98D-D930865AF843}" destId="{93970AA2-BE58-46DC-9DC3-0EEEE35CE5B4}" srcOrd="0" destOrd="0" parTransId="{EF0E2922-9F8F-4790-B231-F52C7D7944A1}" sibTransId="{2E77432C-8C27-4EBB-8CBD-B5CF5B95D928}"/>
    <dgm:cxn modelId="{3429453F-94B3-46A6-9F58-9F0677870A4A}" type="presParOf" srcId="{1644F8C6-082F-4687-BA27-D97E0C38FD8B}" destId="{94E5B3B2-06AA-4F6D-8C58-6C8784CFC637}" srcOrd="0" destOrd="0" presId="urn:microsoft.com/office/officeart/2005/8/layout/vList6"/>
    <dgm:cxn modelId="{4561DD5C-C288-4BE9-9C21-D8D66DAE8AD4}" type="presParOf" srcId="{94E5B3B2-06AA-4F6D-8C58-6C8784CFC637}" destId="{AF9046DF-68C8-4B49-A126-3A0A192FA2A5}" srcOrd="0" destOrd="0" presId="urn:microsoft.com/office/officeart/2005/8/layout/vList6"/>
    <dgm:cxn modelId="{B81EEE6C-50C8-464E-A589-1A190E93BA7B}" type="presParOf" srcId="{94E5B3B2-06AA-4F6D-8C58-6C8784CFC637}" destId="{EEC74F33-C6A7-47DC-A6F6-9E40051DB6A8}" srcOrd="1" destOrd="0" presId="urn:microsoft.com/office/officeart/2005/8/layout/vList6"/>
    <dgm:cxn modelId="{AE3EBF8D-0798-4685-BCB3-826D0BDEA01C}" type="presParOf" srcId="{1644F8C6-082F-4687-BA27-D97E0C38FD8B}" destId="{1AD94F9A-A6EC-4203-9622-8DFC8D03BB70}" srcOrd="1" destOrd="0" presId="urn:microsoft.com/office/officeart/2005/8/layout/vList6"/>
    <dgm:cxn modelId="{8256577A-5BC3-4F83-985D-33ECCBD4B991}" type="presParOf" srcId="{1644F8C6-082F-4687-BA27-D97E0C38FD8B}" destId="{E702CE42-1D0C-48A2-92F2-7FB0EFB50E5F}" srcOrd="2" destOrd="0" presId="urn:microsoft.com/office/officeart/2005/8/layout/vList6"/>
    <dgm:cxn modelId="{FC081234-C7A5-4B9D-8BC6-F2654C551EBD}" type="presParOf" srcId="{E702CE42-1D0C-48A2-92F2-7FB0EFB50E5F}" destId="{7AF57CBE-2E11-4AA3-B62B-90F6E28F2268}" srcOrd="0" destOrd="0" presId="urn:microsoft.com/office/officeart/2005/8/layout/vList6"/>
    <dgm:cxn modelId="{379985AF-43C1-4A22-8424-C89AC01EA859}" type="presParOf" srcId="{E702CE42-1D0C-48A2-92F2-7FB0EFB50E5F}" destId="{E7B57D2D-F22C-41DF-95BA-34BF2A4E0613}" srcOrd="1" destOrd="0" presId="urn:microsoft.com/office/officeart/2005/8/layout/vList6"/>
    <dgm:cxn modelId="{8A5F2605-B2F0-4781-BCC1-B7E11CF424B2}" type="presParOf" srcId="{1644F8C6-082F-4687-BA27-D97E0C38FD8B}" destId="{06B3B622-3259-49E5-9D9E-A6FABE19E875}" srcOrd="3" destOrd="0" presId="urn:microsoft.com/office/officeart/2005/8/layout/vList6"/>
    <dgm:cxn modelId="{554B7DBF-E10A-46C1-862C-8F76ECC52864}" type="presParOf" srcId="{1644F8C6-082F-4687-BA27-D97E0C38FD8B}" destId="{F3D9E3A4-B99C-484B-8433-190865528E4C}" srcOrd="4" destOrd="0" presId="urn:microsoft.com/office/officeart/2005/8/layout/vList6"/>
    <dgm:cxn modelId="{10CDC688-537D-431E-BF08-0E802ECD6112}" type="presParOf" srcId="{F3D9E3A4-B99C-484B-8433-190865528E4C}" destId="{470EFDB9-0333-4511-91EB-D5C590637483}" srcOrd="0" destOrd="0" presId="urn:microsoft.com/office/officeart/2005/8/layout/vList6"/>
    <dgm:cxn modelId="{23A7137B-CBB6-4823-B4A5-741326BB157F}" type="presParOf" srcId="{F3D9E3A4-B99C-484B-8433-190865528E4C}" destId="{3D0BE818-2E26-4680-9D3F-F0FF4112F13E}"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FE794C-2C0F-4016-88C2-57EA577BF5C1}">
      <dsp:nvSpPr>
        <dsp:cNvPr id="0" name=""/>
        <dsp:cNvSpPr/>
      </dsp:nvSpPr>
      <dsp:spPr>
        <a:xfrm>
          <a:off x="0" y="376270"/>
          <a:ext cx="10119359" cy="1212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5375" tIns="458216" rIns="785375" bIns="149352" numCol="1" spcCol="1270" anchor="t" anchorCtr="0">
          <a:noAutofit/>
        </a:bodyPr>
        <a:lstStyle/>
        <a:p>
          <a:pPr marL="228600" lvl="1" indent="-228600" algn="l" defTabSz="933450">
            <a:lnSpc>
              <a:spcPct val="90000"/>
            </a:lnSpc>
            <a:spcBef>
              <a:spcPct val="0"/>
            </a:spcBef>
            <a:spcAft>
              <a:spcPct val="15000"/>
            </a:spcAft>
            <a:buChar char="••"/>
          </a:pPr>
          <a:r>
            <a:rPr lang="es-ES_tradnl" sz="2100" kern="1200" dirty="0"/>
            <a:t>Consultora con fuerte especialización en el análisis de las razones de desastres en los proyectos de software</a:t>
          </a:r>
          <a:endParaRPr lang="en-US" sz="2100" kern="1200" dirty="0"/>
        </a:p>
      </dsp:txBody>
      <dsp:txXfrm>
        <a:off x="0" y="376270"/>
        <a:ext cx="10119359" cy="1212750"/>
      </dsp:txXfrm>
    </dsp:sp>
    <dsp:sp modelId="{BB31A15F-57F5-4A71-8AAE-6990581691B7}">
      <dsp:nvSpPr>
        <dsp:cNvPr id="0" name=""/>
        <dsp:cNvSpPr/>
      </dsp:nvSpPr>
      <dsp:spPr>
        <a:xfrm>
          <a:off x="517691" y="39828"/>
          <a:ext cx="7083552"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741" tIns="0" rIns="267741" bIns="0" numCol="1" spcCol="1270" anchor="ctr" anchorCtr="0">
          <a:noAutofit/>
        </a:bodyPr>
        <a:lstStyle/>
        <a:p>
          <a:pPr lvl="0" algn="l" defTabSz="933450">
            <a:lnSpc>
              <a:spcPct val="90000"/>
            </a:lnSpc>
            <a:spcBef>
              <a:spcPct val="0"/>
            </a:spcBef>
            <a:spcAft>
              <a:spcPct val="35000"/>
            </a:spcAft>
          </a:pPr>
          <a:r>
            <a:rPr lang="es-ES_tradnl" sz="2100" b="1" kern="1200" dirty="0" err="1">
              <a:solidFill>
                <a:schemeClr val="tx1"/>
              </a:solidFill>
            </a:rPr>
            <a:t>Standish</a:t>
          </a:r>
          <a:r>
            <a:rPr lang="es-ES_tradnl" sz="2100" b="1" kern="1200" dirty="0">
              <a:solidFill>
                <a:schemeClr val="tx1"/>
              </a:solidFill>
            </a:rPr>
            <a:t> </a:t>
          </a:r>
          <a:r>
            <a:rPr lang="es-ES_tradnl" sz="2100" b="1" kern="1200" dirty="0" err="1">
              <a:solidFill>
                <a:schemeClr val="tx1"/>
              </a:solidFill>
            </a:rPr>
            <a:t>Group</a:t>
          </a:r>
          <a:endParaRPr lang="en-US" sz="2100" kern="1200" dirty="0">
            <a:solidFill>
              <a:schemeClr val="tx1"/>
            </a:solidFill>
          </a:endParaRPr>
        </a:p>
      </dsp:txBody>
      <dsp:txXfrm>
        <a:off x="549394" y="71531"/>
        <a:ext cx="7020146" cy="586034"/>
      </dsp:txXfrm>
    </dsp:sp>
    <dsp:sp modelId="{795F12B4-3D36-4691-BB35-2F17498E42F1}">
      <dsp:nvSpPr>
        <dsp:cNvPr id="0" name=""/>
        <dsp:cNvSpPr/>
      </dsp:nvSpPr>
      <dsp:spPr>
        <a:xfrm>
          <a:off x="0" y="2032540"/>
          <a:ext cx="10119359" cy="1212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5375" tIns="458216" rIns="785375" bIns="149352" numCol="1" spcCol="1270" anchor="t" anchorCtr="0">
          <a:noAutofit/>
        </a:bodyPr>
        <a:lstStyle/>
        <a:p>
          <a:pPr marL="228600" lvl="1" indent="-228600" algn="l" defTabSz="933450">
            <a:lnSpc>
              <a:spcPct val="90000"/>
            </a:lnSpc>
            <a:spcBef>
              <a:spcPct val="0"/>
            </a:spcBef>
            <a:spcAft>
              <a:spcPct val="15000"/>
            </a:spcAft>
            <a:buChar char="••"/>
          </a:pPr>
          <a:r>
            <a:rPr lang="es-ES_tradnl" sz="2100" kern="1200" dirty="0"/>
            <a:t>Referencia en la evaluación del éxito de los proyectos de tecnología y el coste asociado a los mismos</a:t>
          </a:r>
          <a:endParaRPr lang="en-US" sz="2100" kern="1200" dirty="0"/>
        </a:p>
      </dsp:txBody>
      <dsp:txXfrm>
        <a:off x="0" y="2032540"/>
        <a:ext cx="10119359" cy="1212750"/>
      </dsp:txXfrm>
    </dsp:sp>
    <dsp:sp modelId="{DE4CF412-1AAB-4AF5-93F4-C11A2A9C0CDE}">
      <dsp:nvSpPr>
        <dsp:cNvPr id="0" name=""/>
        <dsp:cNvSpPr/>
      </dsp:nvSpPr>
      <dsp:spPr>
        <a:xfrm>
          <a:off x="505968" y="1707820"/>
          <a:ext cx="7083552"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741" tIns="0" rIns="267741" bIns="0" numCol="1" spcCol="1270" anchor="ctr" anchorCtr="0">
          <a:noAutofit/>
        </a:bodyPr>
        <a:lstStyle/>
        <a:p>
          <a:pPr lvl="0" algn="l" defTabSz="933450">
            <a:lnSpc>
              <a:spcPct val="90000"/>
            </a:lnSpc>
            <a:spcBef>
              <a:spcPct val="0"/>
            </a:spcBef>
            <a:spcAft>
              <a:spcPct val="35000"/>
            </a:spcAft>
          </a:pPr>
          <a:r>
            <a:rPr lang="es-ES_tradnl" sz="2100" b="1" kern="1200" dirty="0">
              <a:solidFill>
                <a:schemeClr val="tx1"/>
              </a:solidFill>
            </a:rPr>
            <a:t>CHAOS </a:t>
          </a:r>
          <a:r>
            <a:rPr lang="es-ES_tradnl" sz="2100" b="1" kern="1200" dirty="0" err="1">
              <a:solidFill>
                <a:schemeClr val="tx1"/>
              </a:solidFill>
            </a:rPr>
            <a:t>Research</a:t>
          </a:r>
          <a:r>
            <a:rPr lang="es-ES_tradnl" sz="2100" b="1" kern="1200" dirty="0">
              <a:solidFill>
                <a:schemeClr val="tx1"/>
              </a:solidFill>
            </a:rPr>
            <a:t> </a:t>
          </a:r>
          <a:r>
            <a:rPr lang="es-ES_tradnl" sz="2100" b="1" kern="1200" dirty="0" err="1">
              <a:solidFill>
                <a:schemeClr val="tx1"/>
              </a:solidFill>
            </a:rPr>
            <a:t>Study</a:t>
          </a:r>
          <a:r>
            <a:rPr lang="es-ES_tradnl" sz="2100" b="1" kern="1200" dirty="0">
              <a:solidFill>
                <a:schemeClr val="tx1"/>
              </a:solidFill>
            </a:rPr>
            <a:t> (Reporte Chaos)</a:t>
          </a:r>
          <a:endParaRPr lang="en-US" sz="2100" kern="1200" dirty="0">
            <a:solidFill>
              <a:schemeClr val="tx1"/>
            </a:solidFill>
          </a:endParaRPr>
        </a:p>
      </dsp:txBody>
      <dsp:txXfrm>
        <a:off x="537671" y="1739523"/>
        <a:ext cx="7020146" cy="586034"/>
      </dsp:txXfrm>
    </dsp:sp>
    <dsp:sp modelId="{6C6BF2B6-C653-41F5-8D71-F3BF467A9848}">
      <dsp:nvSpPr>
        <dsp:cNvPr id="0" name=""/>
        <dsp:cNvSpPr/>
      </dsp:nvSpPr>
      <dsp:spPr>
        <a:xfrm>
          <a:off x="0" y="3664427"/>
          <a:ext cx="10119359" cy="15939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5375" tIns="458216" rIns="785375" bIns="149352" numCol="1" spcCol="1270" anchor="t" anchorCtr="0">
          <a:noAutofit/>
        </a:bodyPr>
        <a:lstStyle/>
        <a:p>
          <a:pPr marL="228600" lvl="1" indent="-228600" algn="l" defTabSz="933450">
            <a:lnSpc>
              <a:spcPct val="90000"/>
            </a:lnSpc>
            <a:spcBef>
              <a:spcPct val="0"/>
            </a:spcBef>
            <a:spcAft>
              <a:spcPct val="15000"/>
            </a:spcAft>
            <a:buChar char="••"/>
          </a:pPr>
          <a:r>
            <a:rPr lang="es-419" sz="2100" kern="1200" dirty="0"/>
            <a:t>Factores clave de éxito: patrocinador, equipo, entorno de trabajo</a:t>
          </a:r>
          <a:endParaRPr lang="en-US" sz="2100" kern="1200" dirty="0"/>
        </a:p>
        <a:p>
          <a:pPr marL="228600" lvl="1" indent="-228600" algn="l" defTabSz="933450">
            <a:lnSpc>
              <a:spcPct val="90000"/>
            </a:lnSpc>
            <a:spcBef>
              <a:spcPct val="0"/>
            </a:spcBef>
            <a:spcAft>
              <a:spcPct val="15000"/>
            </a:spcAft>
            <a:buChar char="••"/>
          </a:pPr>
          <a:r>
            <a:rPr lang="es-419" sz="2100" kern="1200" dirty="0"/>
            <a:t>Desarrollo continuo</a:t>
          </a:r>
          <a:endParaRPr lang="en-US" sz="2100" kern="1200" dirty="0"/>
        </a:p>
        <a:p>
          <a:pPr marL="228600" lvl="1" indent="-228600" algn="l" defTabSz="933450">
            <a:lnSpc>
              <a:spcPct val="90000"/>
            </a:lnSpc>
            <a:spcBef>
              <a:spcPct val="0"/>
            </a:spcBef>
            <a:spcAft>
              <a:spcPct val="15000"/>
            </a:spcAft>
            <a:buChar char="••"/>
          </a:pPr>
          <a:r>
            <a:rPr lang="es-419" sz="2100" kern="1200" dirty="0"/>
            <a:t>Menos gestión, más resultados</a:t>
          </a:r>
          <a:endParaRPr lang="en-US" sz="2100" kern="1200" dirty="0"/>
        </a:p>
      </dsp:txBody>
      <dsp:txXfrm>
        <a:off x="0" y="3664427"/>
        <a:ext cx="10119359" cy="1593900"/>
      </dsp:txXfrm>
    </dsp:sp>
    <dsp:sp modelId="{BE368B74-469C-4400-8093-AE31C977E191}">
      <dsp:nvSpPr>
        <dsp:cNvPr id="0" name=""/>
        <dsp:cNvSpPr/>
      </dsp:nvSpPr>
      <dsp:spPr>
        <a:xfrm>
          <a:off x="505968" y="3364090"/>
          <a:ext cx="7083552"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741" tIns="0" rIns="267741" bIns="0" numCol="1" spcCol="1270" anchor="ctr" anchorCtr="0">
          <a:noAutofit/>
        </a:bodyPr>
        <a:lstStyle/>
        <a:p>
          <a:pPr lvl="0" algn="l" defTabSz="933450">
            <a:lnSpc>
              <a:spcPct val="90000"/>
            </a:lnSpc>
            <a:spcBef>
              <a:spcPct val="0"/>
            </a:spcBef>
            <a:spcAft>
              <a:spcPct val="35000"/>
            </a:spcAft>
          </a:pPr>
          <a:r>
            <a:rPr lang="es-ES" sz="2100" b="1" i="0" kern="1200" dirty="0">
              <a:solidFill>
                <a:schemeClr val="tx1"/>
              </a:solidFill>
              <a:effectLst/>
              <a:latin typeface="+mn-lt"/>
              <a:ea typeface="+mn-ea"/>
              <a:cs typeface="+mn-cs"/>
            </a:rPr>
            <a:t>Cambios en el enfoque</a:t>
          </a:r>
          <a:endParaRPr lang="en-US" sz="2100" kern="1200" dirty="0"/>
        </a:p>
      </dsp:txBody>
      <dsp:txXfrm>
        <a:off x="537671" y="3395793"/>
        <a:ext cx="7020146"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5E3BA-D525-41F5-955C-185CAEFF5F16}">
      <dsp:nvSpPr>
        <dsp:cNvPr id="0" name=""/>
        <dsp:cNvSpPr/>
      </dsp:nvSpPr>
      <dsp:spPr>
        <a:xfrm>
          <a:off x="630316" y="0"/>
          <a:ext cx="7143591" cy="5683249"/>
        </a:xfrm>
        <a:prstGeom prst="rightArrow">
          <a:avLst/>
        </a:prstGeom>
        <a:solidFill>
          <a:schemeClr val="accent1">
            <a:tint val="40000"/>
            <a:hueOff val="0"/>
            <a:satOff val="0"/>
            <a:lumOff val="0"/>
            <a:alphaOff val="0"/>
          </a:schemeClr>
        </a:solidFill>
        <a:ln>
          <a:noFill/>
        </a:ln>
        <a:effectLst>
          <a:outerShdw blurRad="38100" dist="25400" dir="2700000" algn="br" rotWithShape="0">
            <a:srgbClr val="000000">
              <a:alpha val="60000"/>
            </a:srgbClr>
          </a:outerShdw>
        </a:effectLst>
      </dsp:spPr>
      <dsp:style>
        <a:lnRef idx="0">
          <a:scrgbClr r="0" g="0" b="0"/>
        </a:lnRef>
        <a:fillRef idx="1">
          <a:scrgbClr r="0" g="0" b="0"/>
        </a:fillRef>
        <a:effectRef idx="2">
          <a:scrgbClr r="0" g="0" b="0"/>
        </a:effectRef>
        <a:fontRef idx="minor"/>
      </dsp:style>
    </dsp:sp>
    <dsp:sp modelId="{D0EF0472-54F8-4123-9458-AF22EF19D2DF}">
      <dsp:nvSpPr>
        <dsp:cNvPr id="0" name=""/>
        <dsp:cNvSpPr/>
      </dsp:nvSpPr>
      <dsp:spPr>
        <a:xfrm>
          <a:off x="0" y="1704975"/>
          <a:ext cx="2521267" cy="2273300"/>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s-ES" sz="3600" b="1" kern="1200" dirty="0">
              <a:effectLst>
                <a:outerShdw blurRad="38100" dist="38100" dir="2700000" algn="tl">
                  <a:srgbClr val="000000">
                    <a:alpha val="43137"/>
                  </a:srgbClr>
                </a:outerShdw>
              </a:effectLst>
            </a:rPr>
            <a:t>Inicio</a:t>
          </a:r>
        </a:p>
      </dsp:txBody>
      <dsp:txXfrm>
        <a:off x="110973" y="1815948"/>
        <a:ext cx="2299321" cy="2051354"/>
      </dsp:txXfrm>
    </dsp:sp>
    <dsp:sp modelId="{83CC8B7E-D573-4A2F-BE88-12852C6FCB3A}">
      <dsp:nvSpPr>
        <dsp:cNvPr id="0" name=""/>
        <dsp:cNvSpPr/>
      </dsp:nvSpPr>
      <dsp:spPr>
        <a:xfrm>
          <a:off x="2941478" y="1704975"/>
          <a:ext cx="2521267" cy="2273300"/>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s-ES" sz="3600" b="1" kern="1200" dirty="0">
              <a:effectLst>
                <a:outerShdw blurRad="38100" dist="38100" dir="2700000" algn="tl">
                  <a:srgbClr val="000000">
                    <a:alpha val="43137"/>
                  </a:srgbClr>
                </a:outerShdw>
              </a:effectLst>
            </a:rPr>
            <a:t>Durante</a:t>
          </a:r>
        </a:p>
      </dsp:txBody>
      <dsp:txXfrm>
        <a:off x="3052451" y="1815948"/>
        <a:ext cx="2299321" cy="2051354"/>
      </dsp:txXfrm>
    </dsp:sp>
    <dsp:sp modelId="{69048014-5FA4-44DD-BB8F-7F58511CEB3F}">
      <dsp:nvSpPr>
        <dsp:cNvPr id="0" name=""/>
        <dsp:cNvSpPr/>
      </dsp:nvSpPr>
      <dsp:spPr>
        <a:xfrm>
          <a:off x="5882957" y="1704975"/>
          <a:ext cx="2521267" cy="2273300"/>
        </a:xfrm>
        <a:prstGeom prst="roundRect">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s-ES" sz="3600" b="1" kern="1200" dirty="0">
              <a:effectLst>
                <a:outerShdw blurRad="38100" dist="38100" dir="2700000" algn="tl">
                  <a:srgbClr val="000000">
                    <a:alpha val="43137"/>
                  </a:srgbClr>
                </a:outerShdw>
              </a:effectLst>
            </a:rPr>
            <a:t>Final</a:t>
          </a:r>
        </a:p>
      </dsp:txBody>
      <dsp:txXfrm>
        <a:off x="5993930" y="1815948"/>
        <a:ext cx="2299321" cy="20513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312701-FF02-4037-BEBD-234907F3BB5E}">
      <dsp:nvSpPr>
        <dsp:cNvPr id="0" name=""/>
        <dsp:cNvSpPr/>
      </dsp:nvSpPr>
      <dsp:spPr>
        <a:xfrm>
          <a:off x="3218" y="14329"/>
          <a:ext cx="3138384" cy="5760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lvl="0" algn="ctr" defTabSz="977900">
            <a:lnSpc>
              <a:spcPct val="90000"/>
            </a:lnSpc>
            <a:spcBef>
              <a:spcPct val="0"/>
            </a:spcBef>
            <a:spcAft>
              <a:spcPct val="35000"/>
            </a:spcAft>
          </a:pPr>
          <a:r>
            <a:rPr lang="es-ES" sz="2200" b="1" kern="1200" dirty="0">
              <a:solidFill>
                <a:schemeClr val="tx1"/>
              </a:solidFill>
            </a:rPr>
            <a:t>Recursos</a:t>
          </a:r>
        </a:p>
      </dsp:txBody>
      <dsp:txXfrm>
        <a:off x="3218" y="14329"/>
        <a:ext cx="3138384" cy="576000"/>
      </dsp:txXfrm>
    </dsp:sp>
    <dsp:sp modelId="{57EF7ED1-0259-482D-9C5A-516173DEB1A3}">
      <dsp:nvSpPr>
        <dsp:cNvPr id="0" name=""/>
        <dsp:cNvSpPr/>
      </dsp:nvSpPr>
      <dsp:spPr>
        <a:xfrm>
          <a:off x="3218" y="590329"/>
          <a:ext cx="3138384" cy="384299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Humanos (Cantidad, Habilidades, Ubicación).</a:t>
          </a:r>
        </a:p>
        <a:p>
          <a:pPr marL="228600" lvl="1" indent="-228600" algn="l" defTabSz="889000">
            <a:lnSpc>
              <a:spcPct val="90000"/>
            </a:lnSpc>
            <a:spcBef>
              <a:spcPct val="0"/>
            </a:spcBef>
            <a:spcAft>
              <a:spcPct val="15000"/>
            </a:spcAft>
            <a:buChar char="••"/>
          </a:pPr>
          <a:r>
            <a:rPr lang="es-ES" sz="2000" kern="1200" dirty="0"/>
            <a:t>Monetarios (Gastos, Ganancia).</a:t>
          </a:r>
        </a:p>
        <a:p>
          <a:pPr marL="228600" lvl="1" indent="-228600" algn="l" defTabSz="889000">
            <a:lnSpc>
              <a:spcPct val="90000"/>
            </a:lnSpc>
            <a:spcBef>
              <a:spcPct val="0"/>
            </a:spcBef>
            <a:spcAft>
              <a:spcPct val="15000"/>
            </a:spcAft>
            <a:buChar char="••"/>
          </a:pPr>
          <a:r>
            <a:rPr lang="es-ES" sz="2000" kern="1200" dirty="0"/>
            <a:t>Componentes SW reutilizables (componentes ya desarrollados, nuevos componentes)</a:t>
          </a:r>
        </a:p>
        <a:p>
          <a:pPr marL="228600" lvl="1" indent="-228600" algn="l" defTabSz="889000">
            <a:lnSpc>
              <a:spcPct val="90000"/>
            </a:lnSpc>
            <a:spcBef>
              <a:spcPct val="0"/>
            </a:spcBef>
            <a:spcAft>
              <a:spcPct val="15000"/>
            </a:spcAft>
            <a:buChar char="••"/>
          </a:pPr>
          <a:r>
            <a:rPr lang="es-ES" sz="2000" kern="1200" dirty="0"/>
            <a:t>Entorno (Herramientas, Hardware, recursos de red).</a:t>
          </a:r>
        </a:p>
      </dsp:txBody>
      <dsp:txXfrm>
        <a:off x="3218" y="590329"/>
        <a:ext cx="3138384" cy="3842999"/>
      </dsp:txXfrm>
    </dsp:sp>
    <dsp:sp modelId="{19793856-B475-4304-898A-07F55DD7AA38}">
      <dsp:nvSpPr>
        <dsp:cNvPr id="0" name=""/>
        <dsp:cNvSpPr/>
      </dsp:nvSpPr>
      <dsp:spPr>
        <a:xfrm>
          <a:off x="3580977" y="14329"/>
          <a:ext cx="3138384" cy="5760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s-ES" sz="2000" b="1" kern="1200" dirty="0">
              <a:solidFill>
                <a:schemeClr val="tx1"/>
              </a:solidFill>
            </a:rPr>
            <a:t>Tiempo</a:t>
          </a:r>
        </a:p>
      </dsp:txBody>
      <dsp:txXfrm>
        <a:off x="3580977" y="14329"/>
        <a:ext cx="3138384" cy="576000"/>
      </dsp:txXfrm>
    </dsp:sp>
    <dsp:sp modelId="{445EEEDD-FF31-4B9D-9954-1888A1AEA8F9}">
      <dsp:nvSpPr>
        <dsp:cNvPr id="0" name=""/>
        <dsp:cNvSpPr/>
      </dsp:nvSpPr>
      <dsp:spPr>
        <a:xfrm>
          <a:off x="3580977" y="590329"/>
          <a:ext cx="3138384" cy="384299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Horas para completar una Tarea</a:t>
          </a:r>
        </a:p>
        <a:p>
          <a:pPr marL="228600" lvl="1" indent="-228600" algn="l" defTabSz="889000">
            <a:lnSpc>
              <a:spcPct val="90000"/>
            </a:lnSpc>
            <a:spcBef>
              <a:spcPct val="0"/>
            </a:spcBef>
            <a:spcAft>
              <a:spcPct val="15000"/>
            </a:spcAft>
            <a:buChar char="••"/>
          </a:pPr>
          <a:r>
            <a:rPr lang="es-ES" sz="2000" kern="1200" dirty="0"/>
            <a:t>Días para completar una Actividad</a:t>
          </a:r>
        </a:p>
        <a:p>
          <a:pPr marL="228600" lvl="1" indent="-228600" algn="l" defTabSz="889000">
            <a:lnSpc>
              <a:spcPct val="90000"/>
            </a:lnSpc>
            <a:spcBef>
              <a:spcPct val="0"/>
            </a:spcBef>
            <a:spcAft>
              <a:spcPct val="15000"/>
            </a:spcAft>
            <a:buChar char="••"/>
          </a:pPr>
          <a:r>
            <a:rPr lang="es-ES" sz="2000" kern="1200"/>
            <a:t>Semanas para completar un Hito.</a:t>
          </a:r>
          <a:endParaRPr lang="es-ES" sz="2000" kern="1200" dirty="0"/>
        </a:p>
        <a:p>
          <a:pPr marL="228600" lvl="1" indent="-228600" algn="l" defTabSz="889000">
            <a:lnSpc>
              <a:spcPct val="90000"/>
            </a:lnSpc>
            <a:spcBef>
              <a:spcPct val="0"/>
            </a:spcBef>
            <a:spcAft>
              <a:spcPct val="15000"/>
            </a:spcAft>
            <a:buChar char="••"/>
          </a:pPr>
          <a:r>
            <a:rPr lang="es-ES" sz="2000" kern="1200" dirty="0"/>
            <a:t>Meses para completar una Etapa o el Proyecto.</a:t>
          </a:r>
        </a:p>
      </dsp:txBody>
      <dsp:txXfrm>
        <a:off x="3580977" y="590329"/>
        <a:ext cx="3138384" cy="3842999"/>
      </dsp:txXfrm>
    </dsp:sp>
    <dsp:sp modelId="{EA8669F9-F5FF-47F3-874C-04DBF9072BD7}">
      <dsp:nvSpPr>
        <dsp:cNvPr id="0" name=""/>
        <dsp:cNvSpPr/>
      </dsp:nvSpPr>
      <dsp:spPr>
        <a:xfrm>
          <a:off x="7158736" y="14329"/>
          <a:ext cx="3138384" cy="5760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s-ES" sz="2000" b="1" kern="1200" dirty="0">
              <a:solidFill>
                <a:schemeClr val="tx1"/>
              </a:solidFill>
            </a:rPr>
            <a:t>Esfuerzo</a:t>
          </a:r>
        </a:p>
      </dsp:txBody>
      <dsp:txXfrm>
        <a:off x="7158736" y="14329"/>
        <a:ext cx="3138384" cy="576000"/>
      </dsp:txXfrm>
    </dsp:sp>
    <dsp:sp modelId="{4FF97298-CCEF-4563-BD81-F4CB5599CAB5}">
      <dsp:nvSpPr>
        <dsp:cNvPr id="0" name=""/>
        <dsp:cNvSpPr/>
      </dsp:nvSpPr>
      <dsp:spPr>
        <a:xfrm>
          <a:off x="7158736" y="590329"/>
          <a:ext cx="3138384" cy="384299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Tiempo (H, D, S, M) en que una Persona logra completar lo planificado. </a:t>
          </a:r>
        </a:p>
        <a:p>
          <a:pPr marL="228600" lvl="1" indent="-228600" algn="l" defTabSz="889000">
            <a:lnSpc>
              <a:spcPct val="90000"/>
            </a:lnSpc>
            <a:spcBef>
              <a:spcPct val="0"/>
            </a:spcBef>
            <a:spcAft>
              <a:spcPct val="15000"/>
            </a:spcAft>
            <a:buChar char="••"/>
          </a:pPr>
          <a:r>
            <a:rPr lang="es-ES" sz="2000" kern="1200"/>
            <a:t>Razón proporcional entre ¿Qué se hace? ¿Quién lo hace? Y ¿Cuándo se hace?.</a:t>
          </a:r>
          <a:endParaRPr lang="es-ES" sz="2000" kern="1200" dirty="0"/>
        </a:p>
        <a:p>
          <a:pPr marL="228600" lvl="1" indent="-228600" algn="l" defTabSz="889000">
            <a:lnSpc>
              <a:spcPct val="90000"/>
            </a:lnSpc>
            <a:spcBef>
              <a:spcPct val="0"/>
            </a:spcBef>
            <a:spcAft>
              <a:spcPct val="15000"/>
            </a:spcAft>
            <a:buChar char="••"/>
          </a:pPr>
          <a:r>
            <a:rPr lang="es-ES" sz="2000" kern="1200" dirty="0"/>
            <a:t>Productividad (tamaño/esfuerzo)</a:t>
          </a:r>
        </a:p>
      </dsp:txBody>
      <dsp:txXfrm>
        <a:off x="7158736" y="590329"/>
        <a:ext cx="3138384" cy="38429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5A391D-50C6-45E9-8DDD-9E4D89B7119D}">
      <dsp:nvSpPr>
        <dsp:cNvPr id="0" name=""/>
        <dsp:cNvSpPr/>
      </dsp:nvSpPr>
      <dsp:spPr>
        <a:xfrm>
          <a:off x="4029" y="127000"/>
          <a:ext cx="2284810" cy="913924"/>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lvl="0" algn="ctr" defTabSz="977900">
            <a:lnSpc>
              <a:spcPct val="90000"/>
            </a:lnSpc>
            <a:spcBef>
              <a:spcPct val="0"/>
            </a:spcBef>
            <a:spcAft>
              <a:spcPct val="35000"/>
            </a:spcAft>
          </a:pPr>
          <a:r>
            <a:rPr lang="es-ES" sz="2200" b="1" kern="1200" dirty="0">
              <a:solidFill>
                <a:schemeClr val="tx1"/>
              </a:solidFill>
            </a:rPr>
            <a:t>Técnico</a:t>
          </a:r>
        </a:p>
      </dsp:txBody>
      <dsp:txXfrm>
        <a:off x="4029" y="127000"/>
        <a:ext cx="2284810" cy="913924"/>
      </dsp:txXfrm>
    </dsp:sp>
    <dsp:sp modelId="{CF3D9494-DEFC-4583-93BB-AD6647A38860}">
      <dsp:nvSpPr>
        <dsp:cNvPr id="0" name=""/>
        <dsp:cNvSpPr/>
      </dsp:nvSpPr>
      <dsp:spPr>
        <a:xfrm>
          <a:off x="4029" y="1040924"/>
          <a:ext cx="2284810"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s-ES" sz="2200" b="0" kern="1200" dirty="0"/>
            <a:t>Requisitos</a:t>
          </a:r>
        </a:p>
        <a:p>
          <a:pPr marL="228600" lvl="1" indent="-228600" algn="l" defTabSz="977900">
            <a:lnSpc>
              <a:spcPct val="90000"/>
            </a:lnSpc>
            <a:spcBef>
              <a:spcPct val="0"/>
            </a:spcBef>
            <a:spcAft>
              <a:spcPct val="15000"/>
            </a:spcAft>
            <a:buChar char="••"/>
          </a:pPr>
          <a:r>
            <a:rPr lang="es-ES" sz="2200" b="0" kern="1200" dirty="0"/>
            <a:t>Tecnología</a:t>
          </a:r>
        </a:p>
        <a:p>
          <a:pPr marL="228600" lvl="1" indent="-228600" algn="l" defTabSz="977900">
            <a:lnSpc>
              <a:spcPct val="90000"/>
            </a:lnSpc>
            <a:spcBef>
              <a:spcPct val="0"/>
            </a:spcBef>
            <a:spcAft>
              <a:spcPct val="15000"/>
            </a:spcAft>
            <a:buChar char="••"/>
          </a:pPr>
          <a:r>
            <a:rPr lang="es-ES" sz="2200" b="0" kern="1200" dirty="0"/>
            <a:t>Seguridad</a:t>
          </a:r>
        </a:p>
        <a:p>
          <a:pPr marL="228600" lvl="1" indent="-228600" algn="l" defTabSz="977900">
            <a:lnSpc>
              <a:spcPct val="90000"/>
            </a:lnSpc>
            <a:spcBef>
              <a:spcPct val="0"/>
            </a:spcBef>
            <a:spcAft>
              <a:spcPct val="15000"/>
            </a:spcAft>
            <a:buChar char="••"/>
          </a:pPr>
          <a:r>
            <a:rPr lang="es-ES" sz="2200" b="0" kern="1200" dirty="0"/>
            <a:t>Rendimiento y fiabilidad</a:t>
          </a:r>
        </a:p>
        <a:p>
          <a:pPr marL="228600" lvl="1" indent="-228600" algn="l" defTabSz="977900">
            <a:lnSpc>
              <a:spcPct val="90000"/>
            </a:lnSpc>
            <a:spcBef>
              <a:spcPct val="0"/>
            </a:spcBef>
            <a:spcAft>
              <a:spcPct val="15000"/>
            </a:spcAft>
            <a:buChar char="••"/>
          </a:pPr>
          <a:r>
            <a:rPr lang="es-ES" sz="2200" b="0" kern="1200" dirty="0"/>
            <a:t>Interfaces</a:t>
          </a:r>
        </a:p>
      </dsp:txBody>
      <dsp:txXfrm>
        <a:off x="4029" y="1040924"/>
        <a:ext cx="2284810" cy="2854800"/>
      </dsp:txXfrm>
    </dsp:sp>
    <dsp:sp modelId="{40A5A350-16A2-4EC7-AB64-49A63B622249}">
      <dsp:nvSpPr>
        <dsp:cNvPr id="0" name=""/>
        <dsp:cNvSpPr/>
      </dsp:nvSpPr>
      <dsp:spPr>
        <a:xfrm>
          <a:off x="2608712" y="127000"/>
          <a:ext cx="2284810" cy="913924"/>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lvl="0" algn="ctr" defTabSz="977900">
            <a:lnSpc>
              <a:spcPct val="90000"/>
            </a:lnSpc>
            <a:spcBef>
              <a:spcPct val="0"/>
            </a:spcBef>
            <a:spcAft>
              <a:spcPct val="35000"/>
            </a:spcAft>
          </a:pPr>
          <a:r>
            <a:rPr lang="es-ES" sz="2200" b="1" kern="1200" dirty="0">
              <a:solidFill>
                <a:schemeClr val="tx1"/>
              </a:solidFill>
            </a:rPr>
            <a:t>Externo</a:t>
          </a:r>
        </a:p>
      </dsp:txBody>
      <dsp:txXfrm>
        <a:off x="2608712" y="127000"/>
        <a:ext cx="2284810" cy="913924"/>
      </dsp:txXfrm>
    </dsp:sp>
    <dsp:sp modelId="{306C3608-F1FF-4090-8961-718016B8CCE9}">
      <dsp:nvSpPr>
        <dsp:cNvPr id="0" name=""/>
        <dsp:cNvSpPr/>
      </dsp:nvSpPr>
      <dsp:spPr>
        <a:xfrm>
          <a:off x="2608712" y="1040924"/>
          <a:ext cx="2284810"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s-ES" sz="2200" b="0" kern="1200" dirty="0"/>
            <a:t>Subcontratistas y proveedores</a:t>
          </a:r>
        </a:p>
        <a:p>
          <a:pPr marL="228600" lvl="1" indent="-228600" algn="l" defTabSz="977900">
            <a:lnSpc>
              <a:spcPct val="90000"/>
            </a:lnSpc>
            <a:spcBef>
              <a:spcPct val="0"/>
            </a:spcBef>
            <a:spcAft>
              <a:spcPct val="15000"/>
            </a:spcAft>
            <a:buChar char="••"/>
          </a:pPr>
          <a:r>
            <a:rPr lang="es-ES" sz="2200" b="0" kern="1200" dirty="0"/>
            <a:t>Regulatorio</a:t>
          </a:r>
        </a:p>
        <a:p>
          <a:pPr marL="228600" lvl="1" indent="-228600" algn="l" defTabSz="977900">
            <a:lnSpc>
              <a:spcPct val="90000"/>
            </a:lnSpc>
            <a:spcBef>
              <a:spcPct val="0"/>
            </a:spcBef>
            <a:spcAft>
              <a:spcPct val="15000"/>
            </a:spcAft>
            <a:buChar char="••"/>
          </a:pPr>
          <a:r>
            <a:rPr lang="es-ES" sz="2200" b="0" kern="1200" dirty="0"/>
            <a:t>Mercado</a:t>
          </a:r>
        </a:p>
        <a:p>
          <a:pPr marL="228600" lvl="1" indent="-228600" algn="l" defTabSz="977900">
            <a:lnSpc>
              <a:spcPct val="90000"/>
            </a:lnSpc>
            <a:spcBef>
              <a:spcPct val="0"/>
            </a:spcBef>
            <a:spcAft>
              <a:spcPct val="15000"/>
            </a:spcAft>
            <a:buChar char="••"/>
          </a:pPr>
          <a:r>
            <a:rPr lang="es-ES" sz="2200" b="0" kern="1200" dirty="0"/>
            <a:t>Cliente</a:t>
          </a:r>
        </a:p>
        <a:p>
          <a:pPr marL="228600" lvl="1" indent="-228600" algn="l" defTabSz="977900">
            <a:lnSpc>
              <a:spcPct val="90000"/>
            </a:lnSpc>
            <a:spcBef>
              <a:spcPct val="0"/>
            </a:spcBef>
            <a:spcAft>
              <a:spcPct val="15000"/>
            </a:spcAft>
            <a:buChar char="••"/>
          </a:pPr>
          <a:r>
            <a:rPr lang="es-ES" sz="2200" b="0" kern="1200" dirty="0"/>
            <a:t>Condiciones climáticas</a:t>
          </a:r>
        </a:p>
      </dsp:txBody>
      <dsp:txXfrm>
        <a:off x="2608712" y="1040924"/>
        <a:ext cx="2284810" cy="2854800"/>
      </dsp:txXfrm>
    </dsp:sp>
    <dsp:sp modelId="{E2CCC923-0805-4C52-8F57-4414079E4936}">
      <dsp:nvSpPr>
        <dsp:cNvPr id="0" name=""/>
        <dsp:cNvSpPr/>
      </dsp:nvSpPr>
      <dsp:spPr>
        <a:xfrm>
          <a:off x="5183213" y="75482"/>
          <a:ext cx="2284810" cy="913924"/>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lvl="0" algn="ctr" defTabSz="977900">
            <a:lnSpc>
              <a:spcPct val="90000"/>
            </a:lnSpc>
            <a:spcBef>
              <a:spcPct val="0"/>
            </a:spcBef>
            <a:spcAft>
              <a:spcPct val="35000"/>
            </a:spcAft>
          </a:pPr>
          <a:r>
            <a:rPr lang="es-ES" sz="2200" b="1" kern="1200" dirty="0">
              <a:solidFill>
                <a:schemeClr val="tx1"/>
              </a:solidFill>
            </a:rPr>
            <a:t>De la organización</a:t>
          </a:r>
        </a:p>
      </dsp:txBody>
      <dsp:txXfrm>
        <a:off x="5183213" y="75482"/>
        <a:ext cx="2284810" cy="913924"/>
      </dsp:txXfrm>
    </dsp:sp>
    <dsp:sp modelId="{4006CBE0-5E73-4EEC-BD9C-4453C88E02AE}">
      <dsp:nvSpPr>
        <dsp:cNvPr id="0" name=""/>
        <dsp:cNvSpPr/>
      </dsp:nvSpPr>
      <dsp:spPr>
        <a:xfrm>
          <a:off x="5213396" y="1040924"/>
          <a:ext cx="2284810"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s-ES" sz="2200" b="0" kern="1200" dirty="0"/>
            <a:t>Dependencias del proyecto</a:t>
          </a:r>
        </a:p>
        <a:p>
          <a:pPr marL="228600" lvl="1" indent="-228600" algn="l" defTabSz="977900">
            <a:lnSpc>
              <a:spcPct val="90000"/>
            </a:lnSpc>
            <a:spcBef>
              <a:spcPct val="0"/>
            </a:spcBef>
            <a:spcAft>
              <a:spcPct val="15000"/>
            </a:spcAft>
            <a:buChar char="••"/>
          </a:pPr>
          <a:r>
            <a:rPr lang="es-ES" sz="2200" b="0" kern="1200" dirty="0"/>
            <a:t>Recursos</a:t>
          </a:r>
        </a:p>
        <a:p>
          <a:pPr marL="228600" lvl="1" indent="-228600" algn="l" defTabSz="977900">
            <a:lnSpc>
              <a:spcPct val="90000"/>
            </a:lnSpc>
            <a:spcBef>
              <a:spcPct val="0"/>
            </a:spcBef>
            <a:spcAft>
              <a:spcPct val="15000"/>
            </a:spcAft>
            <a:buChar char="••"/>
          </a:pPr>
          <a:r>
            <a:rPr lang="es-ES" sz="2200" b="0" kern="1200" dirty="0"/>
            <a:t>Financiación</a:t>
          </a:r>
        </a:p>
        <a:p>
          <a:pPr marL="228600" lvl="1" indent="-228600" algn="l" defTabSz="977900">
            <a:lnSpc>
              <a:spcPct val="90000"/>
            </a:lnSpc>
            <a:spcBef>
              <a:spcPct val="0"/>
            </a:spcBef>
            <a:spcAft>
              <a:spcPct val="15000"/>
            </a:spcAft>
            <a:buChar char="••"/>
          </a:pPr>
          <a:r>
            <a:rPr lang="es-ES" sz="2200" b="0" kern="1200" dirty="0"/>
            <a:t>Priorización</a:t>
          </a:r>
        </a:p>
      </dsp:txBody>
      <dsp:txXfrm>
        <a:off x="5213396" y="1040924"/>
        <a:ext cx="2284810" cy="2854800"/>
      </dsp:txXfrm>
    </dsp:sp>
    <dsp:sp modelId="{1F7DB0B5-A560-4A43-81DE-EDA64057A4F5}">
      <dsp:nvSpPr>
        <dsp:cNvPr id="0" name=""/>
        <dsp:cNvSpPr/>
      </dsp:nvSpPr>
      <dsp:spPr>
        <a:xfrm>
          <a:off x="7848330" y="127000"/>
          <a:ext cx="2458364" cy="913924"/>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lvl="0" algn="ctr" defTabSz="977900">
            <a:lnSpc>
              <a:spcPct val="90000"/>
            </a:lnSpc>
            <a:spcBef>
              <a:spcPct val="0"/>
            </a:spcBef>
            <a:spcAft>
              <a:spcPct val="35000"/>
            </a:spcAft>
          </a:pPr>
          <a:r>
            <a:rPr lang="es-ES" sz="2200" b="1" kern="1200" dirty="0">
              <a:solidFill>
                <a:schemeClr val="tx1"/>
              </a:solidFill>
            </a:rPr>
            <a:t>Dirección de Proyectos</a:t>
          </a:r>
        </a:p>
      </dsp:txBody>
      <dsp:txXfrm>
        <a:off x="7848330" y="127000"/>
        <a:ext cx="2458364" cy="913924"/>
      </dsp:txXfrm>
    </dsp:sp>
    <dsp:sp modelId="{1072C3A0-F4C0-48F7-8AE5-D2EC9E915465}">
      <dsp:nvSpPr>
        <dsp:cNvPr id="0" name=""/>
        <dsp:cNvSpPr/>
      </dsp:nvSpPr>
      <dsp:spPr>
        <a:xfrm>
          <a:off x="7818079" y="1040924"/>
          <a:ext cx="2518866" cy="285480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s-ES" sz="2200" b="0" kern="1200" dirty="0"/>
            <a:t>Estimación</a:t>
          </a:r>
        </a:p>
        <a:p>
          <a:pPr marL="228600" lvl="1" indent="-228600" algn="l" defTabSz="977900">
            <a:lnSpc>
              <a:spcPct val="90000"/>
            </a:lnSpc>
            <a:spcBef>
              <a:spcPct val="0"/>
            </a:spcBef>
            <a:spcAft>
              <a:spcPct val="15000"/>
            </a:spcAft>
            <a:buChar char="••"/>
          </a:pPr>
          <a:r>
            <a:rPr lang="es-ES" sz="2200" b="0" kern="1200" dirty="0"/>
            <a:t>Planificación</a:t>
          </a:r>
        </a:p>
        <a:p>
          <a:pPr marL="228600" lvl="1" indent="-228600" algn="l" defTabSz="977900">
            <a:lnSpc>
              <a:spcPct val="90000"/>
            </a:lnSpc>
            <a:spcBef>
              <a:spcPct val="0"/>
            </a:spcBef>
            <a:spcAft>
              <a:spcPct val="15000"/>
            </a:spcAft>
            <a:buChar char="••"/>
          </a:pPr>
          <a:r>
            <a:rPr lang="es-ES" sz="2200" b="0" kern="1200" dirty="0"/>
            <a:t>Control</a:t>
          </a:r>
        </a:p>
        <a:p>
          <a:pPr marL="228600" lvl="1" indent="-228600" algn="l" defTabSz="977900">
            <a:lnSpc>
              <a:spcPct val="90000"/>
            </a:lnSpc>
            <a:spcBef>
              <a:spcPct val="0"/>
            </a:spcBef>
            <a:spcAft>
              <a:spcPct val="15000"/>
            </a:spcAft>
            <a:buChar char="••"/>
          </a:pPr>
          <a:r>
            <a:rPr lang="es-ES" sz="2200" b="0" kern="1200" dirty="0"/>
            <a:t>Comunicación</a:t>
          </a:r>
        </a:p>
      </dsp:txBody>
      <dsp:txXfrm>
        <a:off x="7818079" y="1040924"/>
        <a:ext cx="2518866" cy="2854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74F33-C6A7-47DC-A6F6-9E40051DB6A8}">
      <dsp:nvSpPr>
        <dsp:cNvPr id="0" name=""/>
        <dsp:cNvSpPr/>
      </dsp:nvSpPr>
      <dsp:spPr>
        <a:xfrm>
          <a:off x="4023360" y="0"/>
          <a:ext cx="6035040" cy="1257101"/>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s-ES" sz="1900" b="1" kern="1200" dirty="0"/>
            <a:t>Explotar</a:t>
          </a:r>
        </a:p>
        <a:p>
          <a:pPr marL="171450" lvl="1" indent="-171450" algn="l" defTabSz="844550">
            <a:lnSpc>
              <a:spcPct val="90000"/>
            </a:lnSpc>
            <a:spcBef>
              <a:spcPct val="0"/>
            </a:spcBef>
            <a:spcAft>
              <a:spcPct val="15000"/>
            </a:spcAft>
            <a:buChar char="••"/>
          </a:pPr>
          <a:r>
            <a:rPr lang="es-ES" sz="1900" b="1" kern="1200" dirty="0"/>
            <a:t>Compartir</a:t>
          </a:r>
        </a:p>
        <a:p>
          <a:pPr marL="171450" lvl="1" indent="-171450" algn="l" defTabSz="844550">
            <a:lnSpc>
              <a:spcPct val="90000"/>
            </a:lnSpc>
            <a:spcBef>
              <a:spcPct val="0"/>
            </a:spcBef>
            <a:spcAft>
              <a:spcPct val="15000"/>
            </a:spcAft>
            <a:buChar char="••"/>
          </a:pPr>
          <a:r>
            <a:rPr lang="es-ES" sz="1900" b="1" kern="1200" dirty="0"/>
            <a:t>Mejorar</a:t>
          </a:r>
        </a:p>
      </dsp:txBody>
      <dsp:txXfrm>
        <a:off x="4023360" y="157138"/>
        <a:ext cx="5563627" cy="942825"/>
      </dsp:txXfrm>
    </dsp:sp>
    <dsp:sp modelId="{AF9046DF-68C8-4B49-A126-3A0A192FA2A5}">
      <dsp:nvSpPr>
        <dsp:cNvPr id="0" name=""/>
        <dsp:cNvSpPr/>
      </dsp:nvSpPr>
      <dsp:spPr>
        <a:xfrm>
          <a:off x="0" y="0"/>
          <a:ext cx="4023360" cy="125710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lvl="0" algn="ctr" defTabSz="1333500">
            <a:lnSpc>
              <a:spcPct val="90000"/>
            </a:lnSpc>
            <a:spcBef>
              <a:spcPct val="0"/>
            </a:spcBef>
            <a:spcAft>
              <a:spcPct val="35000"/>
            </a:spcAft>
          </a:pPr>
          <a:r>
            <a:rPr lang="es-ES" sz="3000" b="1" kern="1200" dirty="0">
              <a:solidFill>
                <a:schemeClr val="tx1"/>
              </a:solidFill>
            </a:rPr>
            <a:t>Positivos</a:t>
          </a:r>
        </a:p>
        <a:p>
          <a:pPr lvl="0" algn="ctr" defTabSz="1333500">
            <a:lnSpc>
              <a:spcPct val="90000"/>
            </a:lnSpc>
            <a:spcBef>
              <a:spcPct val="0"/>
            </a:spcBef>
            <a:spcAft>
              <a:spcPct val="35000"/>
            </a:spcAft>
          </a:pPr>
          <a:r>
            <a:rPr lang="es-ES" sz="3000" b="1" kern="1200" dirty="0">
              <a:solidFill>
                <a:schemeClr val="tx1"/>
              </a:solidFill>
            </a:rPr>
            <a:t>(Oportunidades)</a:t>
          </a:r>
        </a:p>
      </dsp:txBody>
      <dsp:txXfrm>
        <a:off x="61367" y="61367"/>
        <a:ext cx="3900626" cy="1134367"/>
      </dsp:txXfrm>
    </dsp:sp>
    <dsp:sp modelId="{E7B57D2D-F22C-41DF-95BA-34BF2A4E0613}">
      <dsp:nvSpPr>
        <dsp:cNvPr id="0" name=""/>
        <dsp:cNvSpPr/>
      </dsp:nvSpPr>
      <dsp:spPr>
        <a:xfrm>
          <a:off x="4023360" y="1382811"/>
          <a:ext cx="6035040" cy="1257101"/>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r>
            <a:rPr lang="es-ES" sz="1900" b="1" kern="1200" dirty="0"/>
            <a:t>Evitar</a:t>
          </a:r>
        </a:p>
        <a:p>
          <a:pPr marL="171450" lvl="1" indent="-171450" algn="l" defTabSz="844550">
            <a:lnSpc>
              <a:spcPct val="90000"/>
            </a:lnSpc>
            <a:spcBef>
              <a:spcPct val="0"/>
            </a:spcBef>
            <a:spcAft>
              <a:spcPct val="15000"/>
            </a:spcAft>
            <a:buChar char="••"/>
          </a:pPr>
          <a:r>
            <a:rPr lang="es-ES" sz="1900" b="1" kern="1200" dirty="0"/>
            <a:t>Mitigar</a:t>
          </a:r>
        </a:p>
        <a:p>
          <a:pPr marL="171450" lvl="1" indent="-171450" algn="l" defTabSz="844550">
            <a:lnSpc>
              <a:spcPct val="90000"/>
            </a:lnSpc>
            <a:spcBef>
              <a:spcPct val="0"/>
            </a:spcBef>
            <a:spcAft>
              <a:spcPct val="15000"/>
            </a:spcAft>
            <a:buChar char="••"/>
          </a:pPr>
          <a:r>
            <a:rPr lang="es-ES" sz="1900" b="1" kern="1200" dirty="0"/>
            <a:t>Transferir</a:t>
          </a:r>
        </a:p>
      </dsp:txBody>
      <dsp:txXfrm>
        <a:off x="4023360" y="1539949"/>
        <a:ext cx="5563627" cy="942825"/>
      </dsp:txXfrm>
    </dsp:sp>
    <dsp:sp modelId="{7AF57CBE-2E11-4AA3-B62B-90F6E28F2268}">
      <dsp:nvSpPr>
        <dsp:cNvPr id="0" name=""/>
        <dsp:cNvSpPr/>
      </dsp:nvSpPr>
      <dsp:spPr>
        <a:xfrm>
          <a:off x="0" y="1382811"/>
          <a:ext cx="4023360" cy="125710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lvl="0" algn="ctr" defTabSz="1333500">
            <a:lnSpc>
              <a:spcPct val="90000"/>
            </a:lnSpc>
            <a:spcBef>
              <a:spcPct val="0"/>
            </a:spcBef>
            <a:spcAft>
              <a:spcPct val="35000"/>
            </a:spcAft>
          </a:pPr>
          <a:r>
            <a:rPr lang="es-ES" sz="3000" b="1" kern="1200" dirty="0">
              <a:solidFill>
                <a:schemeClr val="tx1"/>
              </a:solidFill>
            </a:rPr>
            <a:t>Negativos</a:t>
          </a:r>
        </a:p>
      </dsp:txBody>
      <dsp:txXfrm>
        <a:off x="61367" y="1444178"/>
        <a:ext cx="3900626" cy="1134367"/>
      </dsp:txXfrm>
    </dsp:sp>
    <dsp:sp modelId="{3D0BE818-2E26-4680-9D3F-F0FF4112F13E}">
      <dsp:nvSpPr>
        <dsp:cNvPr id="0" name=""/>
        <dsp:cNvSpPr/>
      </dsp:nvSpPr>
      <dsp:spPr>
        <a:xfrm>
          <a:off x="4023360" y="2765623"/>
          <a:ext cx="6035040" cy="1257101"/>
        </a:xfrm>
        <a:prstGeom prst="rightArrow">
          <a:avLst>
            <a:gd name="adj1" fmla="val 75000"/>
            <a:gd name="adj2" fmla="val 5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90000"/>
            </a:lnSpc>
            <a:spcBef>
              <a:spcPct val="0"/>
            </a:spcBef>
            <a:spcAft>
              <a:spcPct val="15000"/>
            </a:spcAft>
            <a:buChar char="••"/>
          </a:pPr>
          <a:endParaRPr lang="es-ES" sz="1900" b="1" kern="1200" dirty="0"/>
        </a:p>
        <a:p>
          <a:pPr marL="171450" lvl="1" indent="-171450" algn="l" defTabSz="844550">
            <a:lnSpc>
              <a:spcPct val="90000"/>
            </a:lnSpc>
            <a:spcBef>
              <a:spcPct val="0"/>
            </a:spcBef>
            <a:spcAft>
              <a:spcPct val="15000"/>
            </a:spcAft>
            <a:buChar char="••"/>
          </a:pPr>
          <a:r>
            <a:rPr lang="es-ES" sz="1900" b="1" kern="1200" dirty="0"/>
            <a:t>Aceptar</a:t>
          </a:r>
        </a:p>
      </dsp:txBody>
      <dsp:txXfrm>
        <a:off x="4023360" y="2922761"/>
        <a:ext cx="5563627" cy="942825"/>
      </dsp:txXfrm>
    </dsp:sp>
    <dsp:sp modelId="{470EFDB9-0333-4511-91EB-D5C590637483}">
      <dsp:nvSpPr>
        <dsp:cNvPr id="0" name=""/>
        <dsp:cNvSpPr/>
      </dsp:nvSpPr>
      <dsp:spPr>
        <a:xfrm>
          <a:off x="0" y="2765623"/>
          <a:ext cx="4023360" cy="125710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lvl="0" algn="ctr" defTabSz="1333500">
            <a:lnSpc>
              <a:spcPct val="90000"/>
            </a:lnSpc>
            <a:spcBef>
              <a:spcPct val="0"/>
            </a:spcBef>
            <a:spcAft>
              <a:spcPct val="35000"/>
            </a:spcAft>
          </a:pPr>
          <a:r>
            <a:rPr lang="es-ES" sz="3000" b="1" kern="1200" dirty="0">
              <a:solidFill>
                <a:schemeClr val="tx1"/>
              </a:solidFill>
            </a:rPr>
            <a:t>Positivos y Negativos</a:t>
          </a:r>
        </a:p>
      </dsp:txBody>
      <dsp:txXfrm>
        <a:off x="61367" y="2826990"/>
        <a:ext cx="3900626" cy="113436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E54A35-C587-4D9E-88EB-28625A5AAE59}" type="datetimeFigureOut">
              <a:rPr lang="es-ES" smtClean="0"/>
              <a:t>14/04/2026</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FB20A4-F458-406D-8DAC-3B8EE176367F}" type="slidenum">
              <a:rPr lang="es-ES" smtClean="0"/>
              <a:t>‹Nº›</a:t>
            </a:fld>
            <a:endParaRPr lang="es-ES"/>
          </a:p>
        </p:txBody>
      </p:sp>
    </p:spTree>
    <p:extLst>
      <p:ext uri="{BB962C8B-B14F-4D97-AF65-F5344CB8AC3E}">
        <p14:creationId xmlns:p14="http://schemas.microsoft.com/office/powerpoint/2010/main" val="28207225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2E9DD-9C30-4075-A3B5-08E83A83D8F0}" type="datetimeFigureOut">
              <a:rPr lang="es-ES" smtClean="0"/>
              <a:t>14/04/2026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236AF-7B77-41A3-9722-60AF9BD7B607}" type="slidenum">
              <a:rPr lang="es-ES" smtClean="0"/>
              <a:t>‹Nº›</a:t>
            </a:fld>
            <a:endParaRPr lang="es-ES"/>
          </a:p>
        </p:txBody>
      </p:sp>
    </p:spTree>
    <p:extLst>
      <p:ext uri="{BB962C8B-B14F-4D97-AF65-F5344CB8AC3E}">
        <p14:creationId xmlns:p14="http://schemas.microsoft.com/office/powerpoint/2010/main" val="26528592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xmlns="">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7"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a:p>
        </p:txBody>
      </p:sp>
      <p:sp>
        <p:nvSpPr>
          <p:cNvPr id="108548" name="Rectangle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110984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955157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5"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a:p>
        </p:txBody>
      </p:sp>
      <p:sp>
        <p:nvSpPr>
          <p:cNvPr id="115716" name="Text Box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cs typeface="Arial" panose="020B0604020202020204" pitchFamily="34" charset="0"/>
            </a:endParaRPr>
          </a:p>
        </p:txBody>
      </p:sp>
    </p:spTree>
    <p:extLst>
      <p:ext uri="{BB962C8B-B14F-4D97-AF65-F5344CB8AC3E}">
        <p14:creationId xmlns:p14="http://schemas.microsoft.com/office/powerpoint/2010/main" val="2105522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79" name="Rectangle 1"/>
          <p:cNvSpPr>
            <a:spLocks noGrp="1" noRot="1" noChangeAspect="1" noChangeArrowheads="1" noTextEdit="1"/>
          </p:cNvSpPr>
          <p:nvPr>
            <p:ph type="sldImg"/>
          </p:nvPr>
        </p:nvSpPr>
        <p:spPr>
          <a:xfrm>
            <a:off x="381000" y="685800"/>
            <a:ext cx="6096000" cy="3429000"/>
          </a:xfrm>
          <a:ln/>
        </p:spPr>
      </p:sp>
      <p:sp>
        <p:nvSpPr>
          <p:cNvPr id="152580"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3152837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37146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339"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a:p>
        </p:txBody>
      </p:sp>
      <p:sp>
        <p:nvSpPr>
          <p:cNvPr id="142340" name="Text Box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419" dirty="0">
                <a:cs typeface="Arial" panose="020B0604020202020204" pitchFamily="34" charset="0"/>
              </a:rPr>
              <a:t>Este reporte se realizaba bianualmente. </a:t>
            </a:r>
            <a:r>
              <a:rPr lang="es-ES" sz="1200" b="0" i="0" kern="1200" dirty="0" err="1">
                <a:solidFill>
                  <a:schemeClr val="tx1"/>
                </a:solidFill>
                <a:effectLst/>
                <a:latin typeface="+mn-lt"/>
                <a:ea typeface="+mn-ea"/>
                <a:cs typeface="+mn-cs"/>
              </a:rPr>
              <a:t>The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Standish</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Group</a:t>
            </a:r>
            <a:r>
              <a:rPr lang="es-ES" sz="1200" b="0" i="0" kern="1200" dirty="0">
                <a:solidFill>
                  <a:schemeClr val="tx1"/>
                </a:solidFill>
                <a:effectLst/>
                <a:latin typeface="+mn-lt"/>
                <a:ea typeface="+mn-ea"/>
                <a:cs typeface="+mn-cs"/>
              </a:rPr>
              <a:t> anunció que este sería la última edición de la serie de informes CHAOS</a:t>
            </a:r>
            <a:endParaRPr lang="es-419" dirty="0">
              <a:cs typeface="Arial" panose="020B0604020202020204" pitchFamily="34" charset="0"/>
            </a:endParaRPr>
          </a:p>
          <a:p>
            <a:r>
              <a:rPr lang="es-ES" sz="1200" b="0" i="0" kern="1200" dirty="0">
                <a:solidFill>
                  <a:schemeClr val="tx1"/>
                </a:solidFill>
                <a:effectLst/>
                <a:latin typeface="+mn-lt"/>
                <a:ea typeface="+mn-ea"/>
                <a:cs typeface="+mn-cs"/>
              </a:rPr>
              <a:t>El informe 2020 introdujo cambios significativos en su enfoque:</a:t>
            </a:r>
          </a:p>
          <a:p>
            <a:r>
              <a:rPr lang="es-ES" sz="1200" b="1" i="0" kern="1200" dirty="0">
                <a:solidFill>
                  <a:schemeClr val="tx1"/>
                </a:solidFill>
                <a:effectLst/>
                <a:latin typeface="+mn-lt"/>
                <a:ea typeface="+mn-ea"/>
                <a:cs typeface="+mn-cs"/>
              </a:rPr>
              <a:t>Nuevos Factores Clave de Éxito</a:t>
            </a:r>
            <a:r>
              <a:rPr lang="es-ES" sz="1200" b="0" i="0" kern="1200" dirty="0">
                <a:solidFill>
                  <a:schemeClr val="tx1"/>
                </a:solidFill>
                <a:effectLst/>
                <a:latin typeface="+mn-lt"/>
                <a:ea typeface="+mn-ea"/>
                <a:cs typeface="+mn-cs"/>
              </a:rPr>
              <a:t>: Identificó tres factores fundamentales para el éxito de un proyecto: un </a:t>
            </a:r>
            <a:r>
              <a:rPr lang="es-ES" sz="1200" b="1" i="0" kern="1200" dirty="0">
                <a:solidFill>
                  <a:schemeClr val="tx1"/>
                </a:solidFill>
                <a:effectLst/>
                <a:latin typeface="+mn-lt"/>
                <a:ea typeface="+mn-ea"/>
                <a:cs typeface="+mn-cs"/>
              </a:rPr>
              <a:t>"Good Sponsor"</a:t>
            </a:r>
            <a:r>
              <a:rPr lang="es-ES" sz="1200" b="0" i="0" kern="1200" dirty="0">
                <a:solidFill>
                  <a:schemeClr val="tx1"/>
                </a:solidFill>
                <a:effectLst/>
                <a:latin typeface="+mn-lt"/>
                <a:ea typeface="+mn-ea"/>
                <a:cs typeface="+mn-cs"/>
              </a:rPr>
              <a:t> (patrocinador), un </a:t>
            </a:r>
            <a:r>
              <a:rPr lang="es-ES" sz="1200" b="1" i="0" kern="1200" dirty="0">
                <a:solidFill>
                  <a:schemeClr val="tx1"/>
                </a:solidFill>
                <a:effectLst/>
                <a:latin typeface="+mn-lt"/>
                <a:ea typeface="+mn-ea"/>
                <a:cs typeface="+mn-cs"/>
              </a:rPr>
              <a:t>"Good </a:t>
            </a:r>
            <a:r>
              <a:rPr lang="es-ES" sz="1200" b="1" i="0" kern="1200" dirty="0" err="1">
                <a:solidFill>
                  <a:schemeClr val="tx1"/>
                </a:solidFill>
                <a:effectLst/>
                <a:latin typeface="+mn-lt"/>
                <a:ea typeface="+mn-ea"/>
                <a:cs typeface="+mn-cs"/>
              </a:rPr>
              <a:t>Team</a:t>
            </a:r>
            <a:r>
              <a:rPr lang="es-ES" sz="1200" b="1" i="0" kern="1200" dirty="0">
                <a:solidFill>
                  <a:schemeClr val="tx1"/>
                </a:solidFill>
                <a:effectLst/>
                <a:latin typeface="+mn-lt"/>
                <a:ea typeface="+mn-ea"/>
                <a:cs typeface="+mn-cs"/>
              </a:rPr>
              <a:t>"</a:t>
            </a:r>
            <a:r>
              <a:rPr lang="es-ES" sz="1200" b="0" i="0" kern="1200" dirty="0">
                <a:solidFill>
                  <a:schemeClr val="tx1"/>
                </a:solidFill>
                <a:effectLst/>
                <a:latin typeface="+mn-lt"/>
                <a:ea typeface="+mn-ea"/>
                <a:cs typeface="+mn-cs"/>
              </a:rPr>
              <a:t> (equipo) y un </a:t>
            </a:r>
            <a:r>
              <a:rPr lang="es-ES" sz="1200" b="1" i="0" kern="1200" dirty="0">
                <a:solidFill>
                  <a:schemeClr val="tx1"/>
                </a:solidFill>
                <a:effectLst/>
                <a:latin typeface="+mn-lt"/>
                <a:ea typeface="+mn-ea"/>
                <a:cs typeface="+mn-cs"/>
              </a:rPr>
              <a:t>"Good Place"</a:t>
            </a:r>
            <a:r>
              <a:rPr lang="es-ES" sz="1200" b="0" i="0" kern="1200" dirty="0">
                <a:solidFill>
                  <a:schemeClr val="tx1"/>
                </a:solidFill>
                <a:effectLst/>
                <a:latin typeface="+mn-lt"/>
                <a:ea typeface="+mn-ea"/>
                <a:cs typeface="+mn-cs"/>
              </a:rPr>
              <a:t> (entorno de trabajo).</a:t>
            </a:r>
          </a:p>
          <a:p>
            <a:r>
              <a:rPr lang="es-ES" sz="1200" b="1" i="0" kern="1200" dirty="0">
                <a:solidFill>
                  <a:schemeClr val="tx1"/>
                </a:solidFill>
                <a:effectLst/>
                <a:latin typeface="+mn-lt"/>
                <a:ea typeface="+mn-ea"/>
                <a:cs typeface="+mn-cs"/>
              </a:rPr>
              <a:t>Un Cambio de Paradigma</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The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Standish</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Group</a:t>
            </a:r>
            <a:r>
              <a:rPr lang="es-ES" sz="1200" b="0" i="0" kern="1200" dirty="0">
                <a:solidFill>
                  <a:schemeClr val="tx1"/>
                </a:solidFill>
                <a:effectLst/>
                <a:latin typeface="+mn-lt"/>
                <a:ea typeface="+mn-ea"/>
                <a:cs typeface="+mn-cs"/>
              </a:rPr>
              <a:t> concluyó que las organizaciones deberían dejar de tratar el desarrollo de software como un "proyecto" con un final definido y adoptar un enfoque de </a:t>
            </a:r>
            <a:r>
              <a:rPr lang="es-ES" sz="1200" b="1" i="0" kern="1200" dirty="0">
                <a:solidFill>
                  <a:schemeClr val="tx1"/>
                </a:solidFill>
                <a:effectLst/>
                <a:latin typeface="+mn-lt"/>
                <a:ea typeface="+mn-ea"/>
                <a:cs typeface="+mn-cs"/>
              </a:rPr>
              <a:t>desarrollo continuo</a:t>
            </a:r>
            <a:r>
              <a:rPr lang="es-ES" sz="1200" b="0" i="0" kern="1200" dirty="0">
                <a:solidFill>
                  <a:schemeClr val="tx1"/>
                </a:solidFill>
                <a:effectLst/>
                <a:latin typeface="+mn-lt"/>
                <a:ea typeface="+mn-ea"/>
                <a:cs typeface="+mn-cs"/>
              </a:rPr>
              <a:t> con pequeñas mejoras incrementales. </a:t>
            </a:r>
          </a:p>
          <a:p>
            <a:r>
              <a:rPr lang="es-ES" sz="1200" b="1" i="0" kern="1200" dirty="0">
                <a:solidFill>
                  <a:schemeClr val="tx1"/>
                </a:solidFill>
                <a:effectLst/>
                <a:latin typeface="+mn-lt"/>
                <a:ea typeface="+mn-ea"/>
                <a:cs typeface="+mn-cs"/>
              </a:rPr>
              <a:t>Menos Gestión, Más Resultados</a:t>
            </a:r>
            <a:r>
              <a:rPr lang="es-ES" sz="1200" b="0" i="0" kern="1200" dirty="0">
                <a:solidFill>
                  <a:schemeClr val="tx1"/>
                </a:solidFill>
                <a:effectLst/>
                <a:latin typeface="+mn-lt"/>
                <a:ea typeface="+mn-ea"/>
                <a:cs typeface="+mn-cs"/>
              </a:rPr>
              <a:t>: El informe encontró que los proyectos sin gerente dedicado tenían una </a:t>
            </a:r>
            <a:r>
              <a:rPr lang="es-ES" sz="1200" b="1" i="0" kern="1200" dirty="0">
                <a:solidFill>
                  <a:schemeClr val="tx1"/>
                </a:solidFill>
                <a:effectLst/>
                <a:latin typeface="+mn-lt"/>
                <a:ea typeface="+mn-ea"/>
                <a:cs typeface="+mn-cs"/>
              </a:rPr>
              <a:t>tasa de éxito significativamente mayor</a:t>
            </a:r>
            <a:r>
              <a:rPr lang="es-ES" sz="1200" b="0" i="0" kern="1200" dirty="0">
                <a:solidFill>
                  <a:schemeClr val="tx1"/>
                </a:solidFill>
                <a:effectLst/>
                <a:latin typeface="+mn-lt"/>
                <a:ea typeface="+mn-ea"/>
                <a:cs typeface="+mn-cs"/>
              </a:rPr>
              <a:t> (especialmente en entornos Ágiles) que aquellos con uno, sugiriendo que los gerentes a veces añaden burocracia innecesaria</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dirty="0">
              <a:cs typeface="Arial" panose="020B0604020202020204" pitchFamily="34" charset="0"/>
            </a:endParaRPr>
          </a:p>
        </p:txBody>
      </p:sp>
    </p:spTree>
    <p:extLst>
      <p:ext uri="{BB962C8B-B14F-4D97-AF65-F5344CB8AC3E}">
        <p14:creationId xmlns:p14="http://schemas.microsoft.com/office/powerpoint/2010/main" val="903808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2AAE16-5E8D-5FB2-8B20-020C705357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6AF2FE4A-19AA-A4F8-CCE3-2A9C05DFEC8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6E273C61-4650-AB50-E15D-F166ED98DFE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dirty="0">
                <a:solidFill>
                  <a:schemeClr val="tx1"/>
                </a:solidFill>
                <a:effectLst/>
                <a:latin typeface="+mn-lt"/>
                <a:ea typeface="+mn-ea"/>
                <a:cs typeface="+mn-cs"/>
              </a:rPr>
              <a:t>El informe de 2020 evaluó alrededor de 50,000 proyectos de TI y los clasificó en tres categorías, con los siguientes resultados</a:t>
            </a:r>
            <a:endParaRPr lang="es-E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i="0" kern="1200" dirty="0">
                <a:solidFill>
                  <a:schemeClr val="tx1"/>
                </a:solidFill>
                <a:effectLst/>
                <a:latin typeface="+mn-lt"/>
                <a:ea typeface="+mn-ea"/>
                <a:cs typeface="+mn-cs"/>
              </a:rPr>
              <a:t>Exitoso: </a:t>
            </a:r>
            <a:r>
              <a:rPr lang="es-ES" sz="1200" b="0" i="0" kern="1200" dirty="0">
                <a:solidFill>
                  <a:schemeClr val="tx1"/>
                </a:solidFill>
                <a:effectLst/>
                <a:latin typeface="+mn-lt"/>
                <a:ea typeface="+mn-ea"/>
                <a:cs typeface="+mn-cs"/>
              </a:rPr>
              <a:t>Entregado a tiempo, dentro del presupuesto y con resultados satisfactorios.</a:t>
            </a:r>
            <a:r>
              <a:rPr lang="es-ES" sz="1200" b="1" i="0" kern="1200" dirty="0">
                <a:solidFill>
                  <a:schemeClr val="tx1"/>
                </a:solidFill>
                <a:effectLst/>
                <a:latin typeface="+mn-lt"/>
                <a:ea typeface="+mn-ea"/>
                <a:cs typeface="+mn-cs"/>
              </a:rPr>
              <a:t>31%</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i="0" kern="1200" dirty="0">
                <a:solidFill>
                  <a:schemeClr val="tx1"/>
                </a:solidFill>
                <a:effectLst/>
                <a:latin typeface="+mn-lt"/>
                <a:ea typeface="+mn-ea"/>
                <a:cs typeface="+mn-cs"/>
              </a:rPr>
              <a:t>Discutido/Desafiado: </a:t>
            </a:r>
            <a:r>
              <a:rPr lang="es-ES" sz="1200" b="0" i="0" kern="1200" dirty="0">
                <a:solidFill>
                  <a:schemeClr val="tx1"/>
                </a:solidFill>
                <a:effectLst/>
                <a:latin typeface="+mn-lt"/>
                <a:ea typeface="+mn-ea"/>
                <a:cs typeface="+mn-cs"/>
              </a:rPr>
              <a:t>Excedió el plazo y el presupuesto, ofreciendo menos características de las planeadas.50%</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i="0" kern="1200" dirty="0">
                <a:solidFill>
                  <a:schemeClr val="tx1"/>
                </a:solidFill>
                <a:effectLst/>
                <a:latin typeface="+mn-lt"/>
                <a:ea typeface="+mn-ea"/>
                <a:cs typeface="+mn-cs"/>
              </a:rPr>
              <a:t>Fracasado</a:t>
            </a:r>
            <a:r>
              <a:rPr lang="es-ES" sz="1200" b="0" i="0" kern="1200" dirty="0">
                <a:solidFill>
                  <a:schemeClr val="tx1"/>
                </a:solidFill>
                <a:effectLst/>
                <a:latin typeface="+mn-lt"/>
                <a:ea typeface="+mn-ea"/>
                <a:cs typeface="+mn-cs"/>
              </a:rPr>
              <a:t>/</a:t>
            </a:r>
            <a:r>
              <a:rPr lang="es-ES" sz="1200" b="1" i="0" kern="1200" dirty="0">
                <a:solidFill>
                  <a:schemeClr val="tx1"/>
                </a:solidFill>
                <a:effectLst/>
                <a:latin typeface="+mn-lt"/>
                <a:ea typeface="+mn-ea"/>
                <a:cs typeface="+mn-cs"/>
              </a:rPr>
              <a:t>Fallido: </a:t>
            </a:r>
            <a:r>
              <a:rPr lang="es-ES" sz="1200" b="0" i="0" kern="1200" dirty="0">
                <a:solidFill>
                  <a:schemeClr val="tx1"/>
                </a:solidFill>
                <a:effectLst/>
                <a:latin typeface="+mn-lt"/>
                <a:ea typeface="+mn-ea"/>
                <a:cs typeface="+mn-cs"/>
              </a:rPr>
              <a:t>El trabajo fue cancelado.19%</a:t>
            </a:r>
          </a:p>
          <a:p>
            <a:endParaRPr lang="en-US" dirty="0"/>
          </a:p>
        </p:txBody>
      </p:sp>
    </p:spTree>
    <p:extLst>
      <p:ext uri="{BB962C8B-B14F-4D97-AF65-F5344CB8AC3E}">
        <p14:creationId xmlns:p14="http://schemas.microsoft.com/office/powerpoint/2010/main" val="2105969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4DB7158-827C-71F8-6070-6B87DFC19F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1AA4BC04-91D1-29A8-28BB-71866F1A78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D0006326-52FA-CD15-85DA-6344EF183D1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50050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0" i="0" dirty="0">
                <a:solidFill>
                  <a:srgbClr val="080809"/>
                </a:solidFill>
                <a:effectLst/>
                <a:latin typeface="Segoe UI Historic" panose="020B0502040204020203" pitchFamily="34" charset="0"/>
              </a:rPr>
              <a:t>Evidentemente las causas residen en otras cuestiones como, corrupción del alcance, comunicación pobre, falta de implicación de los interesados y también un apoyo inadecuado del patrocinador del proyecto.</a:t>
            </a:r>
            <a:endParaRPr lang="en-US" dirty="0"/>
          </a:p>
        </p:txBody>
      </p:sp>
    </p:spTree>
    <p:extLst>
      <p:ext uri="{BB962C8B-B14F-4D97-AF65-F5344CB8AC3E}">
        <p14:creationId xmlns:p14="http://schemas.microsoft.com/office/powerpoint/2010/main" val="1147619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036D57E-C091-9407-1D74-9DF0EDDE9D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8B981155-9DA6-834B-3323-E5E2AE66B3E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958BFF9A-C7CF-6583-7802-6F7614A84E46}"/>
              </a:ext>
            </a:extLst>
          </p:cNvPr>
          <p:cNvSpPr>
            <a:spLocks noGrp="1"/>
          </p:cNvSpPr>
          <p:nvPr>
            <p:ph type="body" idx="1"/>
          </p:nvPr>
        </p:nvSpPr>
        <p:spPr/>
        <p:txBody>
          <a:bodyPr/>
          <a:lstStyle/>
          <a:p>
            <a:r>
              <a:rPr lang="es-ES" sz="1200" b="0" i="0" kern="1200" dirty="0" err="1">
                <a:solidFill>
                  <a:schemeClr val="tx1"/>
                </a:solidFill>
                <a:effectLst/>
                <a:latin typeface="+mn-lt"/>
                <a:ea typeface="+mn-ea"/>
                <a:cs typeface="+mn-cs"/>
              </a:rPr>
              <a:t>The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Standish</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Group</a:t>
            </a:r>
            <a:r>
              <a:rPr lang="es-ES" sz="1200" b="0" i="0" kern="1200" dirty="0">
                <a:solidFill>
                  <a:schemeClr val="tx1"/>
                </a:solidFill>
                <a:effectLst/>
                <a:latin typeface="+mn-lt"/>
                <a:ea typeface="+mn-ea"/>
                <a:cs typeface="+mn-cs"/>
              </a:rPr>
              <a:t> representa un cambio de paradigma, identificando tres factores humanos y organizacionales como los más críticos para el éxito de un proyecto, desplazando el enfoque de las prácticas tradicionales de gestión</a:t>
            </a:r>
            <a:endParaRPr lang="en-US" dirty="0"/>
          </a:p>
        </p:txBody>
      </p:sp>
    </p:spTree>
    <p:extLst>
      <p:ext uri="{BB962C8B-B14F-4D97-AF65-F5344CB8AC3E}">
        <p14:creationId xmlns:p14="http://schemas.microsoft.com/office/powerpoint/2010/main" val="126672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dirty="0"/>
              <a:t>Se debe prestar especial atención a las asignaciones de tiempo. Si se trabaja únicamente por horas, se puede afectar la interdependencia de las tareas, se debe especificar fecha de inicio y fecha de fin.</a:t>
            </a:r>
            <a:endParaRPr lang="en-US" dirty="0"/>
          </a:p>
        </p:txBody>
      </p:sp>
    </p:spTree>
    <p:extLst>
      <p:ext uri="{BB962C8B-B14F-4D97-AF65-F5344CB8AC3E}">
        <p14:creationId xmlns:p14="http://schemas.microsoft.com/office/powerpoint/2010/main" val="3141381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79960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4223030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debe se</a:t>
            </a:r>
            <a:r>
              <a:rPr lang="es-419" dirty="0" err="1"/>
              <a:t>ñalar</a:t>
            </a:r>
            <a:r>
              <a:rPr lang="es-419" dirty="0"/>
              <a:t> que las tareas definidas en el ejemplo son solo tareas de implementación (sin especificar ningún lenguaje de programación), no se incluyen tareas como:</a:t>
            </a:r>
          </a:p>
          <a:p>
            <a:pPr marL="171450" indent="-171450">
              <a:buFontTx/>
              <a:buChar char="-"/>
            </a:pPr>
            <a:r>
              <a:rPr lang="es-419" dirty="0"/>
              <a:t>Reuniones, talleres o entrevistas pata identificar </a:t>
            </a:r>
            <a:r>
              <a:rPr lang="es-419" dirty="0" err="1"/>
              <a:t>requeirimentos</a:t>
            </a:r>
            <a:endParaRPr lang="es-419" dirty="0"/>
          </a:p>
          <a:p>
            <a:pPr marL="171450" indent="-171450">
              <a:buFontTx/>
              <a:buChar char="-"/>
            </a:pPr>
            <a:r>
              <a:rPr lang="es-419" dirty="0"/>
              <a:t>Diseño del sistema utilizando algún lenguaje de especificación (DCUS, Historias de Usuario, Storyboard)</a:t>
            </a:r>
          </a:p>
          <a:p>
            <a:pPr marL="171450" indent="-171450">
              <a:buFontTx/>
              <a:buChar char="-"/>
            </a:pPr>
            <a:r>
              <a:rPr lang="es-419" dirty="0"/>
              <a:t>Diseño de la BD</a:t>
            </a:r>
          </a:p>
          <a:p>
            <a:pPr marL="171450" indent="-171450">
              <a:buFontTx/>
              <a:buChar char="-"/>
            </a:pPr>
            <a:r>
              <a:rPr lang="es-419" dirty="0"/>
              <a:t>Reuniones diarias (Scrum </a:t>
            </a:r>
            <a:r>
              <a:rPr lang="es-419" dirty="0" err="1"/>
              <a:t>daily</a:t>
            </a:r>
            <a:r>
              <a:rPr lang="es-419" dirty="0"/>
              <a:t> meeting) y reuniones técnicas para tomar decisiones sobre tecnologías o arquitectura por ejemplo</a:t>
            </a:r>
          </a:p>
          <a:p>
            <a:pPr marL="171450" indent="-171450">
              <a:buFontTx/>
              <a:buChar char="-"/>
            </a:pPr>
            <a:r>
              <a:rPr lang="es-419" dirty="0"/>
              <a:t>Capacitación del personal</a:t>
            </a:r>
          </a:p>
          <a:p>
            <a:pPr marL="171450" indent="-171450">
              <a:buFontTx/>
              <a:buChar char="-"/>
            </a:pPr>
            <a:endParaRPr lang="es-ES" dirty="0"/>
          </a:p>
          <a:p>
            <a:pPr marL="0" indent="0">
              <a:buFontTx/>
              <a:buNone/>
            </a:pPr>
            <a:r>
              <a:rPr lang="es-ES" dirty="0"/>
              <a:t>En el Hito 1 se pudiera considerar incluir funcionalidades críticas de la aplicación, como por ejemplo gestionar productos.</a:t>
            </a:r>
          </a:p>
          <a:p>
            <a:pPr marL="0" indent="0">
              <a:buFontTx/>
              <a:buNone/>
            </a:pPr>
            <a:r>
              <a:rPr lang="es-ES" dirty="0"/>
              <a:t>Se debe tener en cuenta que tareas como Diseño de pruebas unitarias y Manejo de Errores y Validaciones (no incluida en el ejemplo) estarán presentes en todo el desarrollo. </a:t>
            </a:r>
          </a:p>
          <a:p>
            <a:pPr marL="0" indent="0">
              <a:buFontTx/>
              <a:buNone/>
            </a:pPr>
            <a:r>
              <a:rPr lang="es-ES" dirty="0"/>
              <a:t>También se deben agregar pruebas de integración y funcionales.</a:t>
            </a:r>
            <a:endParaRPr lang="es-419" dirty="0"/>
          </a:p>
        </p:txBody>
      </p:sp>
    </p:spTree>
    <p:extLst>
      <p:ext uri="{BB962C8B-B14F-4D97-AF65-F5344CB8AC3E}">
        <p14:creationId xmlns:p14="http://schemas.microsoft.com/office/powerpoint/2010/main" val="1248434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17F8BEE-22CA-E188-AB55-933D0663CC9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0B1FEE04-30D3-1801-2665-18A3E4993B3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11FC1048-28C8-2541-3983-8F1DBE2CB55A}"/>
              </a:ext>
            </a:extLst>
          </p:cNvPr>
          <p:cNvSpPr>
            <a:spLocks noGrp="1"/>
          </p:cNvSpPr>
          <p:nvPr>
            <p:ph type="body" idx="1"/>
          </p:nvPr>
        </p:nvSpPr>
        <p:spPr/>
        <p:txBody>
          <a:bodyPr/>
          <a:lstStyle/>
          <a:p>
            <a:r>
              <a:rPr lang="es-419" dirty="0"/>
              <a:t>Se pudieran incluir algunas tareas post implementación como son:</a:t>
            </a:r>
          </a:p>
          <a:p>
            <a:pPr marL="171450" indent="-171450">
              <a:buFontTx/>
              <a:buChar char="-"/>
            </a:pPr>
            <a:r>
              <a:rPr lang="es-419" dirty="0"/>
              <a:t>Monitoreo y Mantenimiento</a:t>
            </a:r>
          </a:p>
          <a:p>
            <a:pPr marL="171450" indent="-171450">
              <a:buFontTx/>
              <a:buChar char="-"/>
            </a:pPr>
            <a:r>
              <a:rPr lang="es-419" dirty="0"/>
              <a:t>Corrección de Errores</a:t>
            </a:r>
          </a:p>
          <a:p>
            <a:pPr marL="171450" indent="-171450">
              <a:buFontTx/>
              <a:buChar char="-"/>
            </a:pPr>
            <a:r>
              <a:rPr lang="es-419" dirty="0"/>
              <a:t>Actualizaciones y Mejoras</a:t>
            </a:r>
          </a:p>
          <a:p>
            <a:pPr marL="171450" indent="-171450">
              <a:buFontTx/>
              <a:buChar char="-"/>
            </a:pPr>
            <a:r>
              <a:rPr lang="es-ES" dirty="0"/>
              <a:t>Entrega de documentación sobre la arquitectura del sistema, API y guías para desarrolladores futuros.</a:t>
            </a:r>
          </a:p>
          <a:p>
            <a:pPr marL="171450" indent="-171450">
              <a:buFontTx/>
              <a:buChar char="-"/>
            </a:pPr>
            <a:r>
              <a:rPr lang="es-419" dirty="0"/>
              <a:t>Manual del Usuario</a:t>
            </a:r>
            <a:endParaRPr lang="es-ES" dirty="0"/>
          </a:p>
          <a:p>
            <a:pPr marL="171450" indent="-171450">
              <a:buFontTx/>
              <a:buChar char="-"/>
            </a:pPr>
            <a:r>
              <a:rPr lang="es-419" dirty="0"/>
              <a:t>Capacitación al Personal</a:t>
            </a:r>
            <a:endParaRPr lang="es-ES" dirty="0"/>
          </a:p>
          <a:p>
            <a:pPr marL="171450" indent="-171450">
              <a:buFontTx/>
              <a:buChar char="-"/>
            </a:pPr>
            <a:r>
              <a:rPr lang="es-419" dirty="0"/>
              <a:t>Soporte Técnico</a:t>
            </a:r>
          </a:p>
          <a:p>
            <a:pPr marL="171450" indent="-171450">
              <a:buFontTx/>
              <a:buChar char="-"/>
            </a:pPr>
            <a:endParaRPr lang="es-419" dirty="0"/>
          </a:p>
          <a:p>
            <a:pPr marL="171450" indent="-171450">
              <a:buFontTx/>
              <a:buChar char="-"/>
            </a:pPr>
            <a:endParaRPr lang="es-ES" dirty="0"/>
          </a:p>
        </p:txBody>
      </p:sp>
    </p:spTree>
    <p:extLst>
      <p:ext uri="{BB962C8B-B14F-4D97-AF65-F5344CB8AC3E}">
        <p14:creationId xmlns:p14="http://schemas.microsoft.com/office/powerpoint/2010/main" val="884623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88248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7" name="Rectangle 1"/>
          <p:cNvSpPr txBox="1">
            <a:spLocks noGrp="1" noRot="1" noChangeAspect="1" noChangeArrowheads="1" noTextEdit="1"/>
          </p:cNvSpPr>
          <p:nvPr>
            <p:ph type="sldImg"/>
          </p:nvPr>
        </p:nvSpPr>
        <p:spPr>
          <a:xfrm>
            <a:off x="381000" y="685800"/>
            <a:ext cx="6096000" cy="3429000"/>
          </a:xfrm>
          <a:solidFill>
            <a:srgbClr val="FFFFFF"/>
          </a:solidFill>
          <a:ln/>
        </p:spPr>
      </p:sp>
      <p:sp>
        <p:nvSpPr>
          <p:cNvPr id="52228" name="Rectangle 2"/>
          <p:cNvSpPr txBox="1">
            <a:spLocks noGrp="1" noChangeArrowheads="1"/>
          </p:cNvSpPr>
          <p:nvPr>
            <p:ph type="body" idx="1"/>
          </p:nvPr>
        </p:nvSpPr>
        <p:spPr>
          <a:xfrm>
            <a:off x="685800" y="4343400"/>
            <a:ext cx="5484813" cy="4114800"/>
          </a:xfrm>
          <a:noFill/>
          <a:ln/>
        </p:spPr>
        <p:txBody>
          <a:bodyPr wrap="none" anchor="ctr"/>
          <a:lstStyle/>
          <a:p>
            <a:endParaRPr lang="es-ES">
              <a:latin typeface="Times New Roman" pitchFamily="18" charset="0"/>
            </a:endParaRPr>
          </a:p>
        </p:txBody>
      </p:sp>
    </p:spTree>
    <p:extLst>
      <p:ext uri="{BB962C8B-B14F-4D97-AF65-F5344CB8AC3E}">
        <p14:creationId xmlns:p14="http://schemas.microsoft.com/office/powerpoint/2010/main" val="2331243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dirty="0">
                <a:latin typeface="Arial" panose="020B0604020202020204" pitchFamily="34" charset="0"/>
              </a:rPr>
              <a:t>Hacer referencia al resto de las áreas de proceso en </a:t>
            </a:r>
            <a:r>
              <a:rPr lang="es-ES" dirty="0" err="1">
                <a:latin typeface="Arial" panose="020B0604020202020204" pitchFamily="34" charset="0"/>
              </a:rPr>
              <a:t>PMBoK</a:t>
            </a:r>
            <a:endParaRPr lang="es-ES" dirty="0">
              <a:latin typeface="Arial" panose="020B0604020202020204" pitchFamily="34" charset="0"/>
            </a:endParaRPr>
          </a:p>
          <a:p>
            <a:pPr algn="l" eaLnBrk="1" hangingPunct="1"/>
            <a:r>
              <a:rPr lang="es-ES" sz="1200" b="1" dirty="0">
                <a:solidFill>
                  <a:schemeClr val="bg1"/>
                </a:solidFill>
                <a:latin typeface="Arial" panose="020B0604020202020204" pitchFamily="34" charset="0"/>
              </a:rPr>
              <a:t>“Aunque los </a:t>
            </a:r>
            <a:r>
              <a:rPr lang="es-ES" sz="1200" b="1" i="1" dirty="0">
                <a:solidFill>
                  <a:srgbClr val="FFE265"/>
                </a:solidFill>
                <a:latin typeface="Arial" panose="020B0604020202020204" pitchFamily="34" charset="0"/>
              </a:rPr>
              <a:t>riesgos genéricos </a:t>
            </a:r>
            <a:r>
              <a:rPr lang="es-ES" sz="1200" b="1" dirty="0">
                <a:solidFill>
                  <a:schemeClr val="bg1"/>
                </a:solidFill>
                <a:latin typeface="Arial" panose="020B0604020202020204" pitchFamily="34" charset="0"/>
              </a:rPr>
              <a:t>son importantes, habitualmente los </a:t>
            </a:r>
            <a:r>
              <a:rPr lang="es-ES" sz="1200" b="1" i="1" dirty="0">
                <a:solidFill>
                  <a:srgbClr val="FFE265"/>
                </a:solidFill>
                <a:latin typeface="Arial" panose="020B0604020202020204" pitchFamily="34" charset="0"/>
              </a:rPr>
              <a:t>riesgos específicos</a:t>
            </a:r>
            <a:r>
              <a:rPr lang="es-ES" sz="1200" b="1" dirty="0">
                <a:solidFill>
                  <a:schemeClr val="bg1"/>
                </a:solidFill>
                <a:latin typeface="Arial" panose="020B0604020202020204" pitchFamily="34" charset="0"/>
              </a:rPr>
              <a:t> provocan la mayoría de los dolores de cabeza. Esté convencido al invertir el tiempo en identificar tantos riesgos específicos del producto como sea posible.”</a:t>
            </a:r>
          </a:p>
          <a:p>
            <a:pPr eaLnBrk="1" hangingPunct="1"/>
            <a:r>
              <a:rPr lang="es-ES" sz="700" b="1" i="1" dirty="0">
                <a:solidFill>
                  <a:schemeClr val="bg1"/>
                </a:solidFill>
                <a:latin typeface="Arial" panose="020B0604020202020204" pitchFamily="34" charset="0"/>
              </a:rPr>
              <a:t>Roger Pressman</a:t>
            </a:r>
          </a:p>
          <a:p>
            <a:r>
              <a:rPr lang="es-ES" dirty="0">
                <a:latin typeface="Arial" panose="020B0604020202020204" pitchFamily="34" charset="0"/>
              </a:rPr>
              <a:t>Otros autores proponen otras categorías y clasificaciones para los riesgos.</a:t>
            </a:r>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6C4CE389-4C4F-487C-8E61-B7310F098007}" type="slidenum">
              <a:rPr lang="es-ES" sz="1200"/>
              <a:pPr eaLnBrk="1" hangingPunct="1"/>
              <a:t>40</a:t>
            </a:fld>
            <a:endParaRPr lang="es-ES" sz="1200"/>
          </a:p>
        </p:txBody>
      </p:sp>
    </p:spTree>
    <p:extLst>
      <p:ext uri="{BB962C8B-B14F-4D97-AF65-F5344CB8AC3E}">
        <p14:creationId xmlns:p14="http://schemas.microsoft.com/office/powerpoint/2010/main" val="38398549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_tradnl" sz="1400" b="1" dirty="0">
                <a:latin typeface="Palatino Linotype" panose="02040502050505030304" pitchFamily="18" charset="0"/>
              </a:rPr>
              <a:t>Gestión: Conjunto de trámites que se llevan a cabo para resolver un asunto.</a:t>
            </a:r>
          </a:p>
          <a:p>
            <a:r>
              <a:rPr lang="es-ES" dirty="0">
                <a:latin typeface="Arial" panose="020B0604020202020204" pitchFamily="34" charset="0"/>
              </a:rPr>
              <a:t>La gestión debe vincularse con la definición adoptada.</a:t>
            </a:r>
          </a:p>
        </p:txBody>
      </p:sp>
    </p:spTree>
    <p:extLst>
      <p:ext uri="{BB962C8B-B14F-4D97-AF65-F5344CB8AC3E}">
        <p14:creationId xmlns:p14="http://schemas.microsoft.com/office/powerpoint/2010/main" val="1048655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s-ES" dirty="0"/>
          </a:p>
        </p:txBody>
      </p:sp>
      <p:sp>
        <p:nvSpPr>
          <p:cNvPr id="1280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10BDC5E5-AA2B-4629-AEE5-40B094EFA44A}" type="slidenum">
              <a:rPr lang="es-ES" sz="1200"/>
              <a:pPr eaLnBrk="1" hangingPunct="1"/>
              <a:t>43</a:t>
            </a:fld>
            <a:endParaRPr lang="es-ES" sz="1200"/>
          </a:p>
        </p:txBody>
      </p:sp>
    </p:spTree>
    <p:extLst>
      <p:ext uri="{BB962C8B-B14F-4D97-AF65-F5344CB8AC3E}">
        <p14:creationId xmlns:p14="http://schemas.microsoft.com/office/powerpoint/2010/main" val="1079119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a:ln/>
        </p:spPr>
      </p:sp>
      <p:sp>
        <p:nvSpPr>
          <p:cNvPr id="1290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dirty="0">
              <a:latin typeface="Arial" panose="020B0604020202020204" pitchFamily="34" charset="0"/>
            </a:endParaRPr>
          </a:p>
          <a:p>
            <a:r>
              <a:rPr lang="es-ES" b="0" dirty="0">
                <a:latin typeface="Arial" panose="020B0604020202020204" pitchFamily="34" charset="0"/>
              </a:rPr>
              <a:t>Se puede seleccionar esta estrategia para los riesgos con impactos positivos, cuando la organización desea asegurarse que la oportunidad se haga realidad. </a:t>
            </a:r>
          </a:p>
          <a:p>
            <a:pPr>
              <a:defRPr/>
            </a:pPr>
            <a:r>
              <a:rPr lang="es-ES" sz="2800" kern="1200" dirty="0">
                <a:cs typeface="Arial" panose="020B0604020202020204" pitchFamily="34" charset="0"/>
              </a:rPr>
              <a:t>Ejemplo:</a:t>
            </a:r>
          </a:p>
          <a:p>
            <a:pPr lvl="1">
              <a:defRPr/>
            </a:pPr>
            <a:r>
              <a:rPr lang="es-ES" sz="2800" kern="1200" dirty="0">
                <a:cs typeface="Arial" panose="020B0604020202020204" pitchFamily="34" charset="0"/>
              </a:rPr>
              <a:t>Un integrante que domina determinada tecnología puede preparar talleres de capacitación a los dem</a:t>
            </a:r>
            <a:r>
              <a:rPr lang="es-ES" sz="2800" dirty="0">
                <a:cs typeface="Arial" panose="020B0604020202020204" pitchFamily="34" charset="0"/>
              </a:rPr>
              <a:t>á</a:t>
            </a:r>
            <a:r>
              <a:rPr lang="es-ES" sz="2800" kern="1200" dirty="0">
                <a:cs typeface="Arial" panose="020B0604020202020204" pitchFamily="34" charset="0"/>
              </a:rPr>
              <a:t>s integrantes. </a:t>
            </a:r>
            <a:endParaRPr lang="es-ES" sz="2800" dirty="0">
              <a:cs typeface="Arial" panose="020B0604020202020204" pitchFamily="34" charset="0"/>
            </a:endParaRPr>
          </a:p>
          <a:p>
            <a:endParaRPr lang="es-ES" b="0" dirty="0">
              <a:latin typeface="Arial" panose="020B0604020202020204" pitchFamily="34" charset="0"/>
            </a:endParaRPr>
          </a:p>
          <a:p>
            <a:endParaRPr lang="es-ES" dirty="0">
              <a:latin typeface="Arial" panose="020B0604020202020204" pitchFamily="34" charset="0"/>
            </a:endParaRPr>
          </a:p>
        </p:txBody>
      </p:sp>
      <p:sp>
        <p:nvSpPr>
          <p:cNvPr id="1290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F7883D00-7A3C-4E74-8999-DEE16CDCE731}" type="slidenum">
              <a:rPr lang="es-ES" sz="1200"/>
              <a:pPr eaLnBrk="1" hangingPunct="1"/>
              <a:t>44</a:t>
            </a:fld>
            <a:endParaRPr lang="es-ES" sz="1200"/>
          </a:p>
        </p:txBody>
      </p:sp>
    </p:spTree>
    <p:extLst>
      <p:ext uri="{BB962C8B-B14F-4D97-AF65-F5344CB8AC3E}">
        <p14:creationId xmlns:p14="http://schemas.microsoft.com/office/powerpoint/2010/main" val="11818970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a:ln/>
        </p:spPr>
      </p:sp>
      <p:sp>
        <p:nvSpPr>
          <p:cNvPr id="1300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b="0" dirty="0">
                <a:latin typeface="Arial" panose="020B0604020202020204" pitchFamily="34" charset="0"/>
              </a:rPr>
              <a:t>Alianzas estratégicas con entidades académicas o empresas para asumir proyectos</a:t>
            </a:r>
          </a:p>
          <a:p>
            <a:pPr>
              <a:defRPr/>
            </a:pPr>
            <a:r>
              <a:rPr lang="es-ES" sz="2800" kern="1200" dirty="0"/>
              <a:t>Ejemplo:</a:t>
            </a:r>
          </a:p>
          <a:p>
            <a:pPr lvl="1">
              <a:defRPr/>
            </a:pPr>
            <a:r>
              <a:rPr lang="es-ES" sz="2800" kern="1200" dirty="0"/>
              <a:t>Uniones temporales de empresas, que se pueden establecer con la finalidad expresa de gestionar oportunidades.</a:t>
            </a:r>
          </a:p>
          <a:p>
            <a:endParaRPr lang="es-ES" dirty="0">
              <a:latin typeface="Arial" panose="020B0604020202020204" pitchFamily="34" charset="0"/>
            </a:endParaRPr>
          </a:p>
          <a:p>
            <a:r>
              <a:rPr lang="es-ES" sz="1200" b="0" i="0" kern="1200" dirty="0">
                <a:solidFill>
                  <a:schemeClr val="tx1"/>
                </a:solidFill>
                <a:effectLst/>
                <a:latin typeface="+mn-lt"/>
                <a:ea typeface="+mn-ea"/>
                <a:cs typeface="+mn-cs"/>
              </a:rPr>
              <a:t>Una startup es una empresa joven, recién creada, que se caracteriza por tener un modelo de negocio innovador, usualmente vinculado a la tecnología, y un alto potencial de crecimiento.</a:t>
            </a:r>
            <a:endParaRPr lang="es-ES" b="0" dirty="0">
              <a:latin typeface="Arial" panose="020B0604020202020204" pitchFamily="34" charset="0"/>
            </a:endParaRPr>
          </a:p>
        </p:txBody>
      </p:sp>
      <p:sp>
        <p:nvSpPr>
          <p:cNvPr id="1300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C5C29043-B6CD-461C-A069-6C2DD45BF248}" type="slidenum">
              <a:rPr lang="es-ES" sz="1200"/>
              <a:pPr eaLnBrk="1" hangingPunct="1"/>
              <a:t>45</a:t>
            </a:fld>
            <a:endParaRPr lang="es-ES" sz="1200"/>
          </a:p>
        </p:txBody>
      </p:sp>
    </p:spTree>
    <p:extLst>
      <p:ext uri="{BB962C8B-B14F-4D97-AF65-F5344CB8AC3E}">
        <p14:creationId xmlns:p14="http://schemas.microsoft.com/office/powerpoint/2010/main" val="3667372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dirty="0">
                <a:latin typeface="Arial" panose="020B0604020202020204" pitchFamily="34" charset="0"/>
              </a:rPr>
              <a:t>Explotar y mejorar una oportunidad implican acciones muy similares.</a:t>
            </a:r>
          </a:p>
          <a:p>
            <a:pPr algn="just">
              <a:defRPr/>
            </a:pPr>
            <a:r>
              <a:rPr lang="es-ES" sz="2800" dirty="0"/>
              <a:t>Buscar de forma proactiva las condiciones que la disparan y reforzarlas.</a:t>
            </a:r>
          </a:p>
          <a:p>
            <a:pPr algn="just">
              <a:defRPr/>
            </a:pPr>
            <a:r>
              <a:rPr lang="es-ES" sz="2800" dirty="0"/>
              <a:t>Ejemplo:</a:t>
            </a:r>
          </a:p>
          <a:p>
            <a:pPr lvl="1">
              <a:defRPr/>
            </a:pPr>
            <a:r>
              <a:rPr lang="es-ES" sz="2800" kern="1200" dirty="0">
                <a:cs typeface="Arial" panose="020B0604020202020204" pitchFamily="34" charset="0"/>
              </a:rPr>
              <a:t>Asignar recursos o personal capacitado en determinada tecnología al proyecto para reducir el tiempo hasta la conclusión, o para ofrecer una mejor calidad que la planificada originalmente. </a:t>
            </a:r>
            <a:endParaRPr lang="es-ES" sz="2800" dirty="0">
              <a:cs typeface="Arial" panose="020B0604020202020204" pitchFamily="34" charset="0"/>
            </a:endParaRPr>
          </a:p>
          <a:p>
            <a:endParaRPr lang="es-ES" dirty="0">
              <a:latin typeface="Arial" panose="020B0604020202020204" pitchFamily="34" charset="0"/>
            </a:endParaRPr>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8E0AC0BD-B31B-4ADD-81D7-5C317B1B732B}" type="slidenum">
              <a:rPr lang="es-ES" sz="1200"/>
              <a:pPr eaLnBrk="1" hangingPunct="1"/>
              <a:t>46</a:t>
            </a:fld>
            <a:endParaRPr lang="es-ES" sz="1200"/>
          </a:p>
        </p:txBody>
      </p:sp>
    </p:spTree>
    <p:extLst>
      <p:ext uri="{BB962C8B-B14F-4D97-AF65-F5344CB8AC3E}">
        <p14:creationId xmlns:p14="http://schemas.microsoft.com/office/powerpoint/2010/main" val="35208902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dirty="0">
              <a:latin typeface="Arial" panose="020B0604020202020204" pitchFamily="34" charset="0"/>
            </a:endParaRPr>
          </a:p>
          <a:p>
            <a:r>
              <a:rPr lang="es-ES" b="0" dirty="0">
                <a:latin typeface="Arial" panose="020B0604020202020204" pitchFamily="34" charset="0"/>
              </a:rPr>
              <a:t>Evitar. Evitar el riesgo implica cambiar el plan de gestión del proyecto para eliminar la amenaza que representa un riesgo adverso, aislar los objetivos del proyecto del impacto del riesgo o relajar el objetivo que está en peligro, por ejemplo, ampliando el cronograma o reduciendo el alcance. Algunos riesgos que surgen en las etapas tempranas del proyecto pueden ser evitados aclarando los requisitos, obteniendo información, mejorando la comunicación o adquiriendo experiencia. </a:t>
            </a:r>
          </a:p>
          <a:p>
            <a:pPr>
              <a:lnSpc>
                <a:spcPct val="110000"/>
              </a:lnSpc>
            </a:pPr>
            <a:r>
              <a:rPr lang="es-ES_tradnl" sz="2800" dirty="0"/>
              <a:t>Ejemplos:</a:t>
            </a:r>
          </a:p>
          <a:p>
            <a:pPr lvl="1">
              <a:lnSpc>
                <a:spcPct val="110000"/>
              </a:lnSpc>
              <a:buFont typeface="Wingdings" panose="05000000000000000000" pitchFamily="2" charset="2"/>
              <a:buChar char="Ø"/>
            </a:pPr>
            <a:r>
              <a:rPr lang="es-ES_tradnl" sz="2800" i="1" dirty="0"/>
              <a:t>Relajar</a:t>
            </a:r>
            <a:r>
              <a:rPr lang="es-ES_tradnl" sz="2800" dirty="0"/>
              <a:t> los objetivos en riesgo.</a:t>
            </a:r>
          </a:p>
          <a:p>
            <a:pPr lvl="1">
              <a:lnSpc>
                <a:spcPct val="110000"/>
              </a:lnSpc>
              <a:buFont typeface="Wingdings" panose="05000000000000000000" pitchFamily="2" charset="2"/>
              <a:buChar char="Ø"/>
            </a:pPr>
            <a:r>
              <a:rPr lang="es-ES_tradnl" sz="2800" dirty="0"/>
              <a:t>Cambiar el plan de desarrollo.</a:t>
            </a:r>
          </a:p>
          <a:p>
            <a:pPr lvl="2">
              <a:lnSpc>
                <a:spcPct val="110000"/>
              </a:lnSpc>
            </a:pPr>
            <a:r>
              <a:rPr lang="es-ES_tradnl" sz="2800" dirty="0"/>
              <a:t>Reducir el alcance.</a:t>
            </a:r>
          </a:p>
          <a:p>
            <a:pPr lvl="2">
              <a:lnSpc>
                <a:spcPct val="110000"/>
              </a:lnSpc>
            </a:pPr>
            <a:r>
              <a:rPr lang="es-ES_tradnl" sz="2800" dirty="0"/>
              <a:t>Agregar recursos.</a:t>
            </a:r>
          </a:p>
          <a:p>
            <a:pPr lvl="2">
              <a:lnSpc>
                <a:spcPct val="110000"/>
              </a:lnSpc>
            </a:pPr>
            <a:r>
              <a:rPr lang="es-ES_tradnl" sz="2800" dirty="0"/>
              <a:t>Aumentar el tiempo.</a:t>
            </a:r>
          </a:p>
          <a:p>
            <a:endParaRPr lang="es-ES" dirty="0">
              <a:latin typeface="Arial" panose="020B0604020202020204" pitchFamily="34" charset="0"/>
            </a:endParaRPr>
          </a:p>
        </p:txBody>
      </p:sp>
      <p:sp>
        <p:nvSpPr>
          <p:cNvPr id="132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BEEEB8E7-E39E-443A-B38B-8E92315C8329}" type="slidenum">
              <a:rPr lang="es-ES" sz="1200"/>
              <a:pPr eaLnBrk="1" hangingPunct="1"/>
              <a:t>47</a:t>
            </a:fld>
            <a:endParaRPr lang="es-ES" sz="1200"/>
          </a:p>
        </p:txBody>
      </p:sp>
    </p:spTree>
    <p:extLst>
      <p:ext uri="{BB962C8B-B14F-4D97-AF65-F5344CB8AC3E}">
        <p14:creationId xmlns:p14="http://schemas.microsoft.com/office/powerpoint/2010/main" val="4262552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42CD846-6408-71AB-81B6-B847B2B6B6A0}"/>
            </a:ext>
          </a:extLst>
        </p:cNvPr>
        <p:cNvGrpSpPr/>
        <p:nvPr/>
      </p:nvGrpSpPr>
      <p:grpSpPr>
        <a:xfrm>
          <a:off x="0" y="0"/>
          <a:ext cx="0" cy="0"/>
          <a:chOff x="0" y="0"/>
          <a:chExt cx="0" cy="0"/>
        </a:xfrm>
      </p:grpSpPr>
      <p:sp>
        <p:nvSpPr>
          <p:cNvPr id="132098" name="Slide Image Placeholder 1">
            <a:extLst>
              <a:ext uri="{FF2B5EF4-FFF2-40B4-BE49-F238E27FC236}">
                <a16:creationId xmlns:a16="http://schemas.microsoft.com/office/drawing/2014/main" xmlns="" id="{BB558AA3-3F7D-0502-26FA-E99435D83F8F}"/>
              </a:ext>
            </a:extLst>
          </p:cNvPr>
          <p:cNvSpPr>
            <a:spLocks noGrp="1" noRot="1" noChangeAspect="1" noTextEdit="1"/>
          </p:cNvSpPr>
          <p:nvPr>
            <p:ph type="sldImg"/>
          </p:nvPr>
        </p:nvSpPr>
        <p:spPr>
          <a:ln/>
        </p:spPr>
      </p:sp>
      <p:sp>
        <p:nvSpPr>
          <p:cNvPr id="132099" name="Notes Placeholder 2">
            <a:extLst>
              <a:ext uri="{FF2B5EF4-FFF2-40B4-BE49-F238E27FC236}">
                <a16:creationId xmlns:a16="http://schemas.microsoft.com/office/drawing/2014/main" xmlns="" id="{E337B809-EACB-2E40-D0A8-3D64F253DC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dirty="0">
              <a:latin typeface="Arial" panose="020B0604020202020204" pitchFamily="34" charset="0"/>
            </a:endParaRPr>
          </a:p>
        </p:txBody>
      </p:sp>
      <p:sp>
        <p:nvSpPr>
          <p:cNvPr id="132100" name="Slide Number Placeholder 3">
            <a:extLst>
              <a:ext uri="{FF2B5EF4-FFF2-40B4-BE49-F238E27FC236}">
                <a16:creationId xmlns:a16="http://schemas.microsoft.com/office/drawing/2014/main" xmlns="" id="{9ADF23BA-684A-8945-B983-8B1182ECC36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BEEEB8E7-E39E-443A-B38B-8E92315C8329}" type="slidenum">
              <a:rPr lang="es-ES" sz="1200"/>
              <a:pPr eaLnBrk="1" hangingPunct="1"/>
              <a:t>48</a:t>
            </a:fld>
            <a:endParaRPr lang="es-ES" sz="1200"/>
          </a:p>
        </p:txBody>
      </p:sp>
    </p:spTree>
    <p:extLst>
      <p:ext uri="{BB962C8B-B14F-4D97-AF65-F5344CB8AC3E}">
        <p14:creationId xmlns:p14="http://schemas.microsoft.com/office/powerpoint/2010/main" val="21720506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a:ln/>
        </p:spPr>
      </p:sp>
      <p:sp>
        <p:nvSpPr>
          <p:cNvPr id="135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dirty="0">
              <a:latin typeface="Arial" panose="020B0604020202020204" pitchFamily="34" charset="0"/>
            </a:endParaRPr>
          </a:p>
          <a:p>
            <a:r>
              <a:rPr lang="es-ES" dirty="0">
                <a:latin typeface="Arial" panose="020B0604020202020204" pitchFamily="34" charset="0"/>
              </a:rPr>
              <a:t>Mitigar el riesgo implica reducir la probabilidad y / o el impacto de un evento de riesgo adverso a un umbral aceptable. Adoptar acciones tempranas para reducir la probabilidad de la ocurrencia de un riesgo y / o su impacto sobre el proyecto a menudo es más efectivo que tratar de reparar el daño después de que ha ocurrido el riesgo. Adoptar procesos menos complejos, realizar más pruebas o seleccionar un proveedor más estable son ejemplos de acciones de mitigación. La mitigación puede requerir el desarrollo de un prototipo para reducir el riesgo de pasar de un modelo a escala de un proceso o producto a uno de tamaño real. Donde no es posible reducir la probabilidad, una respuesta de mitigación puede tratar el impacto del riesgo, dirigiéndose específicamente a los elementos que determinan su severidad. Por ejemplo, diseñando redundancia en un subsistema se puede reducir el impacto que resulta de un fallo del componente original. </a:t>
            </a:r>
          </a:p>
          <a:p>
            <a:pPr>
              <a:buNone/>
            </a:pPr>
            <a:r>
              <a:rPr lang="es-ES" sz="3200" dirty="0"/>
              <a:t>Ejemplos:</a:t>
            </a:r>
          </a:p>
          <a:p>
            <a:pPr lvl="1"/>
            <a:r>
              <a:rPr lang="es-ES" dirty="0"/>
              <a:t>Adoptar procesos menos complejos</a:t>
            </a:r>
          </a:p>
          <a:p>
            <a:pPr lvl="1"/>
            <a:r>
              <a:rPr lang="es-ES" dirty="0"/>
              <a:t>Realizar más pruebas</a:t>
            </a:r>
          </a:p>
          <a:p>
            <a:pPr lvl="1"/>
            <a:r>
              <a:rPr lang="es-ES" dirty="0"/>
              <a:t>Seleccionar un proveedor estable</a:t>
            </a:r>
          </a:p>
          <a:p>
            <a:pPr lvl="1"/>
            <a:r>
              <a:rPr lang="es-ES" dirty="0"/>
              <a:t>Desarrollo de prototipos</a:t>
            </a:r>
          </a:p>
          <a:p>
            <a:endParaRPr lang="es-ES" dirty="0">
              <a:latin typeface="Arial" panose="020B0604020202020204" pitchFamily="34" charset="0"/>
            </a:endParaRPr>
          </a:p>
          <a:p>
            <a:endParaRPr lang="es-ES" dirty="0">
              <a:latin typeface="Arial" panose="020B0604020202020204" pitchFamily="34" charset="0"/>
            </a:endParaRPr>
          </a:p>
        </p:txBody>
      </p:sp>
      <p:sp>
        <p:nvSpPr>
          <p:cNvPr id="135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D67010BD-B03F-4BA8-8BF0-0705F1520A4F}" type="slidenum">
              <a:rPr lang="es-ES" sz="1200"/>
              <a:pPr eaLnBrk="1" hangingPunct="1"/>
              <a:t>49</a:t>
            </a:fld>
            <a:endParaRPr lang="es-ES" sz="1200"/>
          </a:p>
        </p:txBody>
      </p:sp>
    </p:spTree>
    <p:extLst>
      <p:ext uri="{BB962C8B-B14F-4D97-AF65-F5344CB8AC3E}">
        <p14:creationId xmlns:p14="http://schemas.microsoft.com/office/powerpoint/2010/main" val="38672547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F8F8A35-2CDF-CC58-40B5-1C62E21FE4DB}"/>
            </a:ext>
          </a:extLst>
        </p:cNvPr>
        <p:cNvGrpSpPr/>
        <p:nvPr/>
      </p:nvGrpSpPr>
      <p:grpSpPr>
        <a:xfrm>
          <a:off x="0" y="0"/>
          <a:ext cx="0" cy="0"/>
          <a:chOff x="0" y="0"/>
          <a:chExt cx="0" cy="0"/>
        </a:xfrm>
      </p:grpSpPr>
      <p:sp>
        <p:nvSpPr>
          <p:cNvPr id="135170" name="Slide Image Placeholder 1">
            <a:extLst>
              <a:ext uri="{FF2B5EF4-FFF2-40B4-BE49-F238E27FC236}">
                <a16:creationId xmlns:a16="http://schemas.microsoft.com/office/drawing/2014/main" xmlns="" id="{6865D5D2-4E62-0D48-96B2-9EE5319631C9}"/>
              </a:ext>
            </a:extLst>
          </p:cNvPr>
          <p:cNvSpPr>
            <a:spLocks noGrp="1" noRot="1" noChangeAspect="1" noTextEdit="1"/>
          </p:cNvSpPr>
          <p:nvPr>
            <p:ph type="sldImg"/>
          </p:nvPr>
        </p:nvSpPr>
        <p:spPr>
          <a:ln/>
        </p:spPr>
      </p:sp>
      <p:sp>
        <p:nvSpPr>
          <p:cNvPr id="135171" name="Notes Placeholder 2">
            <a:extLst>
              <a:ext uri="{FF2B5EF4-FFF2-40B4-BE49-F238E27FC236}">
                <a16:creationId xmlns:a16="http://schemas.microsoft.com/office/drawing/2014/main" xmlns="" id="{28089008-ED45-CC6F-42B9-08FB51FE15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dirty="0">
              <a:latin typeface="Arial" panose="020B0604020202020204" pitchFamily="34" charset="0"/>
            </a:endParaRPr>
          </a:p>
          <a:p>
            <a:endParaRPr lang="es-ES" dirty="0">
              <a:latin typeface="Arial" panose="020B0604020202020204" pitchFamily="34" charset="0"/>
            </a:endParaRPr>
          </a:p>
        </p:txBody>
      </p:sp>
      <p:sp>
        <p:nvSpPr>
          <p:cNvPr id="135172" name="Slide Number Placeholder 3">
            <a:extLst>
              <a:ext uri="{FF2B5EF4-FFF2-40B4-BE49-F238E27FC236}">
                <a16:creationId xmlns:a16="http://schemas.microsoft.com/office/drawing/2014/main" xmlns="" id="{F187F809-5CB2-3080-ACBE-1D47600ABD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D67010BD-B03F-4BA8-8BF0-0705F1520A4F}" type="slidenum">
              <a:rPr lang="es-ES" sz="1200"/>
              <a:pPr eaLnBrk="1" hangingPunct="1"/>
              <a:t>50</a:t>
            </a:fld>
            <a:endParaRPr lang="es-ES" sz="1200"/>
          </a:p>
        </p:txBody>
      </p:sp>
    </p:spTree>
    <p:extLst>
      <p:ext uri="{BB962C8B-B14F-4D97-AF65-F5344CB8AC3E}">
        <p14:creationId xmlns:p14="http://schemas.microsoft.com/office/powerpoint/2010/main" val="4006473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a:ln/>
        </p:spPr>
      </p:sp>
      <p:sp>
        <p:nvSpPr>
          <p:cNvPr id="1331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dirty="0">
              <a:latin typeface="Arial" panose="020B0604020202020204" pitchFamily="34" charset="0"/>
            </a:endParaRPr>
          </a:p>
          <a:p>
            <a:r>
              <a:rPr lang="es-ES" b="0" dirty="0">
                <a:latin typeface="Arial" panose="020B0604020202020204" pitchFamily="34" charset="0"/>
              </a:rPr>
              <a:t>Transferir. Transferir el riesgo requiere trasladar el impacto negativo de una amenaza, junto con la propiedad de la respuesta, a un tercero. Transferir el riesgo simplemente da a otra parte la responsabilidad de su gestión; no lo elimina. Transferir la responsabilidad del riesgo es más efectivo cuando se trata de exposición a riesgos financieros. Transferir el riesgo casi siempre supone el pago de una prima de riesgo a la parte que toma el riesgo. Las herramientas de transferencia pueden ser bastante diversas e incluyen, entre otras, el uso de seguros, garantías de cumplimiento, cauciones, certificados de garantía, etc. Pueden usarse contratos para transferir a un tercero la responsabilidad por riesgos especificados. En muchos casos, se puede usar un tipo de contrato de costes para transferir el riesgo de costes al comprador, mientras que un contrato de precio fijo puede transferir el riesgo al vendedor, si el diseño del proyecto es estable. </a:t>
            </a:r>
          </a:p>
          <a:p>
            <a:pPr>
              <a:lnSpc>
                <a:spcPct val="110000"/>
              </a:lnSpc>
              <a:buFont typeface="Wingdings" panose="05000000000000000000" pitchFamily="2" charset="2"/>
              <a:buNone/>
            </a:pPr>
            <a:r>
              <a:rPr lang="es-ES" sz="2600" dirty="0"/>
              <a:t>Ejemplos:</a:t>
            </a:r>
          </a:p>
          <a:p>
            <a:pPr lvl="1">
              <a:lnSpc>
                <a:spcPct val="110000"/>
              </a:lnSpc>
            </a:pPr>
            <a:r>
              <a:rPr lang="es-ES" sz="2600" dirty="0"/>
              <a:t>Uso de seguros, certificados de garantía, contratos específicos</a:t>
            </a:r>
            <a:endParaRPr lang="es-PE" sz="2600" dirty="0"/>
          </a:p>
          <a:p>
            <a:endParaRPr lang="es-ES" b="0" dirty="0">
              <a:latin typeface="Arial" panose="020B0604020202020204" pitchFamily="34" charset="0"/>
            </a:endParaRPr>
          </a:p>
          <a:p>
            <a:endParaRPr lang="es-ES" dirty="0">
              <a:latin typeface="Arial" panose="020B0604020202020204" pitchFamily="34" charset="0"/>
            </a:endParaRPr>
          </a:p>
        </p:txBody>
      </p:sp>
      <p:sp>
        <p:nvSpPr>
          <p:cNvPr id="1331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D3110E25-13AB-4EDD-9C24-748DA840FD29}" type="slidenum">
              <a:rPr lang="es-ES" sz="1200"/>
              <a:pPr eaLnBrk="1" hangingPunct="1"/>
              <a:t>51</a:t>
            </a:fld>
            <a:endParaRPr lang="es-ES" sz="1200"/>
          </a:p>
        </p:txBody>
      </p:sp>
    </p:spTree>
    <p:extLst>
      <p:ext uri="{BB962C8B-B14F-4D97-AF65-F5344CB8AC3E}">
        <p14:creationId xmlns:p14="http://schemas.microsoft.com/office/powerpoint/2010/main" val="41558476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DD7496-4C20-5D9C-375A-5EA2C8FF1EE6}"/>
            </a:ext>
          </a:extLst>
        </p:cNvPr>
        <p:cNvGrpSpPr/>
        <p:nvPr/>
      </p:nvGrpSpPr>
      <p:grpSpPr>
        <a:xfrm>
          <a:off x="0" y="0"/>
          <a:ext cx="0" cy="0"/>
          <a:chOff x="0" y="0"/>
          <a:chExt cx="0" cy="0"/>
        </a:xfrm>
      </p:grpSpPr>
      <p:sp>
        <p:nvSpPr>
          <p:cNvPr id="133122" name="Slide Image Placeholder 1">
            <a:extLst>
              <a:ext uri="{FF2B5EF4-FFF2-40B4-BE49-F238E27FC236}">
                <a16:creationId xmlns:a16="http://schemas.microsoft.com/office/drawing/2014/main" xmlns="" id="{83CF9D56-BF6A-7575-E753-CACE8B589BB0}"/>
              </a:ext>
            </a:extLst>
          </p:cNvPr>
          <p:cNvSpPr>
            <a:spLocks noGrp="1" noRot="1" noChangeAspect="1" noTextEdit="1"/>
          </p:cNvSpPr>
          <p:nvPr>
            <p:ph type="sldImg"/>
          </p:nvPr>
        </p:nvSpPr>
        <p:spPr>
          <a:ln/>
        </p:spPr>
      </p:sp>
      <p:sp>
        <p:nvSpPr>
          <p:cNvPr id="133123" name="Notes Placeholder 2">
            <a:extLst>
              <a:ext uri="{FF2B5EF4-FFF2-40B4-BE49-F238E27FC236}">
                <a16:creationId xmlns:a16="http://schemas.microsoft.com/office/drawing/2014/main" xmlns="" id="{501E956B-25E7-7066-64A2-CB062A528F9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dirty="0">
              <a:latin typeface="Arial" panose="020B0604020202020204" pitchFamily="34" charset="0"/>
            </a:endParaRPr>
          </a:p>
          <a:p>
            <a:endParaRPr lang="es-ES" dirty="0">
              <a:latin typeface="Arial" panose="020B0604020202020204" pitchFamily="34" charset="0"/>
            </a:endParaRPr>
          </a:p>
        </p:txBody>
      </p:sp>
      <p:sp>
        <p:nvSpPr>
          <p:cNvPr id="133124" name="Slide Number Placeholder 3">
            <a:extLst>
              <a:ext uri="{FF2B5EF4-FFF2-40B4-BE49-F238E27FC236}">
                <a16:creationId xmlns:a16="http://schemas.microsoft.com/office/drawing/2014/main" xmlns="" id="{EDEB0361-1B50-643E-C299-54B8626368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D3110E25-13AB-4EDD-9C24-748DA840FD29}" type="slidenum">
              <a:rPr lang="es-ES" sz="1200"/>
              <a:pPr eaLnBrk="1" hangingPunct="1"/>
              <a:t>52</a:t>
            </a:fld>
            <a:endParaRPr lang="es-ES" sz="1200"/>
          </a:p>
        </p:txBody>
      </p:sp>
    </p:spTree>
    <p:extLst>
      <p:ext uri="{BB962C8B-B14F-4D97-AF65-F5344CB8AC3E}">
        <p14:creationId xmlns:p14="http://schemas.microsoft.com/office/powerpoint/2010/main" val="8519973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ln/>
        </p:spPr>
      </p:sp>
      <p:sp>
        <p:nvSpPr>
          <p:cNvPr id="136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b="0" dirty="0">
                <a:latin typeface="Arial" panose="020B0604020202020204" pitchFamily="34" charset="0"/>
              </a:rPr>
              <a:t>Se plantea que los equipos deben justificar muy bien cuándo es necesario adoptar esta estrategia.</a:t>
            </a:r>
          </a:p>
          <a:p>
            <a:r>
              <a:rPr lang="es-ES" b="0" dirty="0">
                <a:latin typeface="Arial" panose="020B0604020202020204" pitchFamily="34" charset="0"/>
              </a:rPr>
              <a:t>Estrategia que se adopta debido a que rara vez es posible eliminar todo el riesgo de un proyecto. Esta estrategia indica que el equipo del proyecto ha decidido no cambiar el plan de gestión del proyecto para hacer frente a un riesgo, o no ha podido identificar ninguna otra estrategia de respuesta adecuada. Puede ser adoptada tanto para las amenazas como para las oportunidades. Esta estrategia puede ser pasiva o activa. La aceptación pasiva no requiere acción alguna, dejando en manos del equipo del proyecto la gestión de las amenazas o las oportunidades a medida que se producen. La estrategia de aceptación activa más común es establecer una reserva para contingencias, que incluya la cantidad de tiempo, dinero o recursos necesarios para manejar las amenazas o las oportunidades conocidas, o incluso también las posibles y desconocidas. </a:t>
            </a:r>
          </a:p>
        </p:txBody>
      </p:sp>
      <p:sp>
        <p:nvSpPr>
          <p:cNvPr id="136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8F0EA843-544D-410A-A955-36DA5D364CF9}" type="slidenum">
              <a:rPr lang="es-ES" sz="1200"/>
              <a:pPr eaLnBrk="1" hangingPunct="1"/>
              <a:t>53</a:t>
            </a:fld>
            <a:endParaRPr lang="es-ES" sz="1200"/>
          </a:p>
        </p:txBody>
      </p:sp>
    </p:spTree>
    <p:extLst>
      <p:ext uri="{BB962C8B-B14F-4D97-AF65-F5344CB8AC3E}">
        <p14:creationId xmlns:p14="http://schemas.microsoft.com/office/powerpoint/2010/main" val="798089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a:ln/>
        </p:spPr>
      </p:sp>
      <p:sp>
        <p:nvSpPr>
          <p:cNvPr id="138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latin typeface="Arial" panose="020B0604020202020204" pitchFamily="34" charset="0"/>
              </a:rPr>
              <a:t>Puede adoptarse inconsciente o conscientemente antes de adoptar otra de las estrategias anteriores con carácter definitivo</a:t>
            </a:r>
          </a:p>
        </p:txBody>
      </p:sp>
      <p:sp>
        <p:nvSpPr>
          <p:cNvPr id="138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01A513C1-A4DD-42FC-81D3-E1FD2206180E}" type="slidenum">
              <a:rPr lang="es-ES" sz="1200"/>
              <a:pPr eaLnBrk="1" hangingPunct="1"/>
              <a:t>54</a:t>
            </a:fld>
            <a:endParaRPr lang="es-ES" sz="1200"/>
          </a:p>
        </p:txBody>
      </p:sp>
    </p:spTree>
    <p:extLst>
      <p:ext uri="{BB962C8B-B14F-4D97-AF65-F5344CB8AC3E}">
        <p14:creationId xmlns:p14="http://schemas.microsoft.com/office/powerpoint/2010/main" val="40579024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latin typeface="Arial" panose="020B0604020202020204" pitchFamily="34" charset="0"/>
              </a:rPr>
              <a:t>Botar el sofá</a:t>
            </a:r>
          </a:p>
        </p:txBody>
      </p:sp>
      <p:sp>
        <p:nvSpPr>
          <p:cNvPr id="139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6B5FB1F7-CD99-44B4-BB79-B746D8608758}" type="slidenum">
              <a:rPr lang="es-ES" sz="1200"/>
              <a:pPr eaLnBrk="1" hangingPunct="1"/>
              <a:t>56</a:t>
            </a:fld>
            <a:endParaRPr lang="es-ES" sz="1200"/>
          </a:p>
        </p:txBody>
      </p:sp>
    </p:spTree>
    <p:extLst>
      <p:ext uri="{BB962C8B-B14F-4D97-AF65-F5344CB8AC3E}">
        <p14:creationId xmlns:p14="http://schemas.microsoft.com/office/powerpoint/2010/main" val="3031956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xmlns="" id="{42B4A5F9-4E7D-B893-5476-427A173951BE}"/>
            </a:ext>
          </a:extLst>
        </p:cNvPr>
        <p:cNvGrpSpPr/>
        <p:nvPr/>
      </p:nvGrpSpPr>
      <p:grpSpPr>
        <a:xfrm>
          <a:off x="0" y="0"/>
          <a:ext cx="0" cy="0"/>
          <a:chOff x="0" y="0"/>
          <a:chExt cx="0" cy="0"/>
        </a:xfrm>
      </p:grpSpPr>
      <p:sp>
        <p:nvSpPr>
          <p:cNvPr id="108547" name="Text Box 1">
            <a:extLst>
              <a:ext uri="{FF2B5EF4-FFF2-40B4-BE49-F238E27FC236}">
                <a16:creationId xmlns:a16="http://schemas.microsoft.com/office/drawing/2014/main" xmlns="" id="{DB9073F5-7C9F-D12F-C7C0-DFE245082C63}"/>
              </a:ext>
            </a:extLst>
          </p:cNvPr>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a:p>
        </p:txBody>
      </p:sp>
      <p:sp>
        <p:nvSpPr>
          <p:cNvPr id="108548" name="Rectangle 2">
            <a:extLst>
              <a:ext uri="{FF2B5EF4-FFF2-40B4-BE49-F238E27FC236}">
                <a16:creationId xmlns:a16="http://schemas.microsoft.com/office/drawing/2014/main" xmlns="" id="{4B93683F-72BA-CB63-376B-49ED6F161F11}"/>
              </a:ext>
            </a:extLst>
          </p:cNvPr>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cs typeface="Arial" panose="020B0604020202020204" pitchFamily="34" charset="0"/>
            </a:endParaRPr>
          </a:p>
        </p:txBody>
      </p:sp>
    </p:spTree>
    <p:extLst>
      <p:ext uri="{BB962C8B-B14F-4D97-AF65-F5344CB8AC3E}">
        <p14:creationId xmlns:p14="http://schemas.microsoft.com/office/powerpoint/2010/main" val="3518106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0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7195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4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9022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4048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r>
              <a:rPr lang="es-ES"/>
              <a:t>MSc. Aracelys García Armenteros</a:t>
            </a:r>
          </a:p>
        </p:txBody>
      </p:sp>
      <p:sp>
        <p:nvSpPr>
          <p:cNvPr id="4" name="Footer Placeholder 3"/>
          <p:cNvSpPr>
            <a:spLocks noGrp="1"/>
          </p:cNvSpPr>
          <p:nvPr>
            <p:ph type="ftr" sz="quarter" idx="11"/>
          </p:nvPr>
        </p:nvSpPr>
        <p:spPr/>
        <p:txBody>
          <a:bodyPr/>
          <a:lstStyle/>
          <a:p>
            <a:r>
              <a:rPr lang="es-ES"/>
              <a:t>Gestión de Proyectos. Planificación y estimación.</a:t>
            </a:r>
          </a:p>
        </p:txBody>
      </p:sp>
      <p:sp>
        <p:nvSpPr>
          <p:cNvPr id="5" name="Slide Number Placeholder 4"/>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8215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97941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s-ES"/>
              <a:t>MSc. Aracelys García Armenteros</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s-ES"/>
              <a:t>Gestión de Proyectos. Planificación y estimación.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C4EE0E4-9C8A-4542-A491-318C3530755B}" type="slidenum">
              <a:rPr lang="es-ES" smtClean="0"/>
              <a:t>‹Nº›</a:t>
            </a:fld>
            <a:endParaRPr lang="es-ES"/>
          </a:p>
        </p:txBody>
      </p:sp>
    </p:spTree>
    <p:extLst>
      <p:ext uri="{BB962C8B-B14F-4D97-AF65-F5344CB8AC3E}">
        <p14:creationId xmlns:p14="http://schemas.microsoft.com/office/powerpoint/2010/main" val="23468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6560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378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1136500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1826685" y="252414"/>
            <a:ext cx="9749367" cy="1189037"/>
          </a:xfrm>
        </p:spPr>
        <p:txBody>
          <a:bodyPr/>
          <a:lstStyle/>
          <a:p>
            <a:r>
              <a:rPr lang="es-ES"/>
              <a:t>Haga clic para modificar el estilo de título del patrón</a:t>
            </a:r>
            <a:endParaRPr lang="en-US"/>
          </a:p>
        </p:txBody>
      </p:sp>
      <p:sp>
        <p:nvSpPr>
          <p:cNvPr id="3" name="Rectangle 7"/>
          <p:cNvSpPr>
            <a:spLocks noGrp="1" noChangeArrowheads="1"/>
          </p:cNvSpPr>
          <p:nvPr>
            <p:ph type="dt" idx="10"/>
          </p:nvPr>
        </p:nvSpPr>
        <p:spPr>
          <a:ln/>
        </p:spPr>
        <p:txBody>
          <a:bodyPr/>
          <a:lstStyle>
            <a:lvl1pPr>
              <a:defRPr/>
            </a:lvl1pPr>
          </a:lstStyle>
          <a:p>
            <a:pPr>
              <a:defRPr/>
            </a:pPr>
            <a:r>
              <a:rPr lang="es-ES"/>
              <a:t>MSc. Aracelys García Armenteros</a:t>
            </a:r>
            <a:endParaRPr lang="es-ES_tradnl"/>
          </a:p>
        </p:txBody>
      </p:sp>
      <p:sp>
        <p:nvSpPr>
          <p:cNvPr id="4" name="Rectangle 8"/>
          <p:cNvSpPr>
            <a:spLocks noGrp="1" noChangeArrowheads="1"/>
          </p:cNvSpPr>
          <p:nvPr>
            <p:ph type="ftr" idx="11"/>
          </p:nvPr>
        </p:nvSpPr>
        <p:spPr>
          <a:ln/>
        </p:spPr>
        <p:txBody>
          <a:bodyPr/>
          <a:lstStyle>
            <a:lvl1pPr>
              <a:defRPr/>
            </a:lvl1pPr>
          </a:lstStyle>
          <a:p>
            <a:pPr>
              <a:defRPr/>
            </a:pPr>
            <a:r>
              <a:rPr lang="es-ES"/>
              <a:t>Gestión de Proyectos. Planificación y estimación.</a:t>
            </a:r>
            <a:endParaRPr lang="en-US"/>
          </a:p>
        </p:txBody>
      </p:sp>
      <p:sp>
        <p:nvSpPr>
          <p:cNvPr id="5" name="Rectangle 9"/>
          <p:cNvSpPr>
            <a:spLocks noGrp="1" noChangeArrowheads="1"/>
          </p:cNvSpPr>
          <p:nvPr>
            <p:ph type="sldNum" idx="12"/>
          </p:nvPr>
        </p:nvSpPr>
        <p:spPr>
          <a:ln/>
        </p:spPr>
        <p:txBody>
          <a:bodyPr/>
          <a:lstStyle>
            <a:lvl1pPr>
              <a:defRPr/>
            </a:lvl1pPr>
          </a:lstStyle>
          <a:p>
            <a:fld id="{263DA378-A288-4DEE-B6C0-5484F297BAE2}" type="slidenum">
              <a:rPr lang="en-US"/>
              <a:pPr/>
              <a:t>‹Nº›</a:t>
            </a:fld>
            <a:endParaRPr lang="en-US"/>
          </a:p>
        </p:txBody>
      </p:sp>
    </p:spTree>
    <p:extLst>
      <p:ext uri="{BB962C8B-B14F-4D97-AF65-F5344CB8AC3E}">
        <p14:creationId xmlns:p14="http://schemas.microsoft.com/office/powerpoint/2010/main" val="144970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s-ES"/>
              <a:t>MSc. Aracelys García Armenteros</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s-ES"/>
              <a:t>Gestión de Proyectos. Planificación y estimación.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C4EE0E4-9C8A-4542-A491-318C3530755B}"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47003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hf sldNum="0"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f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1761116" y="2168338"/>
            <a:ext cx="8418342" cy="1752600"/>
          </a:xfrm>
        </p:spPr>
        <p:txBody>
          <a:bodyPr>
            <a:norm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ES" dirty="0"/>
              <a:t>Planificación y seguimiento de proyectos. Gestión de Riesgos. </a:t>
            </a:r>
            <a:endParaRPr lang="es-ES_tradnl" sz="4800" dirty="0"/>
          </a:p>
        </p:txBody>
      </p:sp>
      <p:sp>
        <p:nvSpPr>
          <p:cNvPr id="3" name="CuadroTexto 2"/>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Software</a:t>
            </a:r>
          </a:p>
        </p:txBody>
      </p:sp>
    </p:spTree>
    <p:extLst>
      <p:ext uri="{BB962C8B-B14F-4D97-AF65-F5344CB8AC3E}">
        <p14:creationId xmlns:p14="http://schemas.microsoft.com/office/powerpoint/2010/main" val="381036273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1237129" y="2369898"/>
            <a:ext cx="9372600" cy="4421187"/>
          </a:xfrm>
        </p:spPr>
        <p:txBody>
          <a:bodyPr>
            <a:norm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a:cs typeface="Times New Roman" panose="02020603050405020304" pitchFamily="18" charset="0"/>
              </a:rPr>
              <a:t>Proceso de gestión de proyectos.</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a:cs typeface="Times New Roman" panose="02020603050405020304" pitchFamily="18" charset="0"/>
              </a:rPr>
              <a:t>Planificación y seguimiento de proyectos.</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a:cs typeface="Times New Roman" panose="02020603050405020304" pitchFamily="18" charset="0"/>
              </a:rPr>
              <a:t>Estimación de recursos.</a:t>
            </a: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800" dirty="0">
                <a:cs typeface="Times New Roman" panose="02020603050405020304" pitchFamily="18" charset="0"/>
              </a:rPr>
              <a:t>Gestión de riesgos.</a:t>
            </a: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a:t>Sumario:</a:t>
            </a:r>
          </a:p>
        </p:txBody>
      </p:sp>
    </p:spTree>
    <p:extLst>
      <p:ext uri="{BB962C8B-B14F-4D97-AF65-F5344CB8AC3E}">
        <p14:creationId xmlns:p14="http://schemas.microsoft.com/office/powerpoint/2010/main" val="357663210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nodeType="afterEffect">
                                  <p:stCondLst>
                                    <p:cond delay="0"/>
                                  </p:stCondLst>
                                  <p:childTnLst>
                                    <p:set>
                                      <p:cBhvr additive="repl">
                                        <p:cTn id="6" dur="1" fill="hold">
                                          <p:stCondLst>
                                            <p:cond delay="0"/>
                                          </p:stCondLst>
                                        </p:cTn>
                                        <p:tgtEl>
                                          <p:spTgt spid="5122">
                                            <p:txEl>
                                              <p:pRg st="0" end="0"/>
                                            </p:txEl>
                                          </p:spTgt>
                                        </p:tgtEl>
                                        <p:attrNameLst>
                                          <p:attrName>style.visibility</p:attrName>
                                        </p:attrNameLst>
                                      </p:cBhvr>
                                      <p:to>
                                        <p:strVal val="visible"/>
                                      </p:to>
                                    </p:set>
                                    <p:animEffect transition="in" filter="wipe(up)">
                                      <p:cBhvr additive="repl">
                                        <p:cTn id="7" dur="500"/>
                                        <p:tgtEl>
                                          <p:spTgt spid="5122">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additive="repl">
                                        <p:cTn id="10" dur="1" fill="hold">
                                          <p:stCondLst>
                                            <p:cond delay="0"/>
                                          </p:stCondLst>
                                        </p:cTn>
                                        <p:tgtEl>
                                          <p:spTgt spid="5122">
                                            <p:txEl>
                                              <p:pRg st="1" end="1"/>
                                            </p:txEl>
                                          </p:spTgt>
                                        </p:tgtEl>
                                        <p:attrNameLst>
                                          <p:attrName>style.visibility</p:attrName>
                                        </p:attrNameLst>
                                      </p:cBhvr>
                                      <p:to>
                                        <p:strVal val="visible"/>
                                      </p:to>
                                    </p:set>
                                    <p:animEffect transition="in" filter="wipe(up)">
                                      <p:cBhvr additive="repl">
                                        <p:cTn id="11" dur="500"/>
                                        <p:tgtEl>
                                          <p:spTgt spid="5122">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additive="repl">
                                        <p:cTn id="14" dur="1" fill="hold">
                                          <p:stCondLst>
                                            <p:cond delay="0"/>
                                          </p:stCondLst>
                                        </p:cTn>
                                        <p:tgtEl>
                                          <p:spTgt spid="5122">
                                            <p:txEl>
                                              <p:pRg st="2" end="2"/>
                                            </p:txEl>
                                          </p:spTgt>
                                        </p:tgtEl>
                                        <p:attrNameLst>
                                          <p:attrName>style.visibility</p:attrName>
                                        </p:attrNameLst>
                                      </p:cBhvr>
                                      <p:to>
                                        <p:strVal val="visible"/>
                                      </p:to>
                                    </p:set>
                                    <p:animEffect transition="in" filter="wipe(up)">
                                      <p:cBhvr additive="repl">
                                        <p:cTn id="15" dur="500"/>
                                        <p:tgtEl>
                                          <p:spTgt spid="5122">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additive="repl">
                                        <p:cTn id="18" dur="1" fill="hold">
                                          <p:stCondLst>
                                            <p:cond delay="0"/>
                                          </p:stCondLst>
                                        </p:cTn>
                                        <p:tgtEl>
                                          <p:spTgt spid="5122">
                                            <p:txEl>
                                              <p:pRg st="3" end="3"/>
                                            </p:txEl>
                                          </p:spTgt>
                                        </p:tgtEl>
                                        <p:attrNameLst>
                                          <p:attrName>style.visibility</p:attrName>
                                        </p:attrNameLst>
                                      </p:cBhvr>
                                      <p:to>
                                        <p:strVal val="visible"/>
                                      </p:to>
                                    </p:set>
                                    <p:animEffect transition="in" filter="wipe(up)">
                                      <p:cBhvr additive="repl">
                                        <p:cTn id="19" dur="500"/>
                                        <p:tgtEl>
                                          <p:spTgt spid="51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a:t>Bibliografía</a:t>
            </a:r>
            <a:endParaRPr lang="es-ES" dirty="0"/>
          </a:p>
        </p:txBody>
      </p:sp>
      <p:sp>
        <p:nvSpPr>
          <p:cNvPr id="4" name="Rectangle 2"/>
          <p:cNvSpPr>
            <a:spLocks noGrp="1" noChangeArrowheads="1"/>
          </p:cNvSpPr>
          <p:nvPr>
            <p:ph idx="1"/>
          </p:nvPr>
        </p:nvSpPr>
        <p:spPr>
          <a:xfrm>
            <a:off x="1097280" y="2120873"/>
            <a:ext cx="10184802" cy="4394499"/>
          </a:xfrm>
        </p:spPr>
        <p:txBody>
          <a:bodyPr>
            <a:normAutofit/>
          </a:bodyPr>
          <a:lstStyle/>
          <a:p>
            <a:pPr algn="just">
              <a:buFont typeface="Wingdings" panose="05000000000000000000" pitchFamily="2" charset="2"/>
              <a:buChar char="Ø"/>
            </a:pPr>
            <a:r>
              <a:rPr lang="es-ES" sz="2600" dirty="0">
                <a:cs typeface="Arial" panose="020B0604020202020204" pitchFamily="34" charset="0"/>
              </a:rPr>
              <a:t>“Ingeniería de software. Un enfoque práctico” 6ta Edición. Roger Pressman, 2007.</a:t>
            </a:r>
          </a:p>
          <a:p>
            <a:pPr algn="just">
              <a:buFont typeface="Wingdings" panose="05000000000000000000" pitchFamily="2" charset="2"/>
              <a:buChar char="Ø"/>
            </a:pPr>
            <a:endParaRPr lang="es-ES" sz="1000" dirty="0">
              <a:cs typeface="Arial" panose="020B0604020202020204" pitchFamily="34" charset="0"/>
            </a:endParaRPr>
          </a:p>
          <a:p>
            <a:pPr algn="just">
              <a:buFont typeface="Wingdings" panose="05000000000000000000" pitchFamily="2" charset="2"/>
              <a:buChar char="Ø"/>
            </a:pPr>
            <a:r>
              <a:rPr lang="es-ES" sz="2600" dirty="0">
                <a:cs typeface="Arial" panose="020B0604020202020204" pitchFamily="34" charset="0"/>
              </a:rPr>
              <a:t>“Ingeniería de Software”. Ian Sommerville, 2005. </a:t>
            </a:r>
          </a:p>
          <a:p>
            <a:pPr algn="just">
              <a:buFont typeface="Wingdings" panose="05000000000000000000" pitchFamily="2" charset="2"/>
              <a:buChar char="Ø"/>
            </a:pPr>
            <a:endParaRPr lang="es-ES" sz="1000" dirty="0">
              <a:cs typeface="Arial" panose="020B0604020202020204" pitchFamily="34" charset="0"/>
            </a:endParaRPr>
          </a:p>
          <a:p>
            <a:pPr algn="just">
              <a:buFont typeface="Wingdings" panose="05000000000000000000" pitchFamily="2" charset="2"/>
              <a:buChar char="Ø"/>
            </a:pPr>
            <a:r>
              <a:rPr lang="es-ES" sz="2600" dirty="0"/>
              <a:t>“Guía de los Fundamentos de la Dirección de Proyectos (Guía del PMBOK)”, Tercera Edición. Project Management </a:t>
            </a:r>
            <a:r>
              <a:rPr lang="es-ES" sz="2600" dirty="0" err="1"/>
              <a:t>Institute</a:t>
            </a:r>
            <a:r>
              <a:rPr lang="es-ES" sz="2600" dirty="0"/>
              <a:t>, 2004.</a:t>
            </a:r>
          </a:p>
          <a:p>
            <a:pPr algn="just">
              <a:buFont typeface="Wingdings" panose="05000000000000000000" pitchFamily="2" charset="2"/>
              <a:buChar char="Ø"/>
            </a:pPr>
            <a:endParaRPr lang="es-ES" sz="1000" dirty="0"/>
          </a:p>
          <a:p>
            <a:pPr algn="just">
              <a:buFont typeface="Wingdings" panose="05000000000000000000" pitchFamily="2" charset="2"/>
              <a:buChar char="Ø"/>
            </a:pPr>
            <a:r>
              <a:rPr lang="en-US" sz="2600" dirty="0"/>
              <a:t>Risk Management. SEI, 2000. </a:t>
            </a:r>
            <a:endParaRPr lang="es-ES" sz="2600" dirty="0"/>
          </a:p>
          <a:p>
            <a:pPr algn="just">
              <a:buFont typeface="Wingdings" panose="05000000000000000000" pitchFamily="2" charset="2"/>
              <a:buChar char="Ø"/>
            </a:pPr>
            <a:endParaRPr lang="es-ES" sz="2600" dirty="0">
              <a:cs typeface="Arial" panose="020B0604020202020204" pitchFamily="34" charset="0"/>
            </a:endParaRPr>
          </a:p>
        </p:txBody>
      </p:sp>
    </p:spTree>
    <p:extLst>
      <p:ext uri="{BB962C8B-B14F-4D97-AF65-F5344CB8AC3E}">
        <p14:creationId xmlns:p14="http://schemas.microsoft.com/office/powerpoint/2010/main" val="3103243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¿Qué es un proyecto?</a:t>
            </a:r>
            <a:endParaRPr lang="es-ES" dirty="0"/>
          </a:p>
        </p:txBody>
      </p:sp>
      <p:sp>
        <p:nvSpPr>
          <p:cNvPr id="3" name="Marcador de contenido 2"/>
          <p:cNvSpPr>
            <a:spLocks noGrp="1"/>
          </p:cNvSpPr>
          <p:nvPr>
            <p:ph idx="1"/>
          </p:nvPr>
        </p:nvSpPr>
        <p:spPr>
          <a:xfrm>
            <a:off x="1097280" y="1897249"/>
            <a:ext cx="10058400" cy="4336125"/>
          </a:xfrm>
        </p:spPr>
        <p:txBody>
          <a:bodyPr>
            <a:noAutofit/>
          </a:bodyPr>
          <a:lstStyle/>
          <a:p>
            <a:pPr marL="108000" indent="0" algn="just">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i="1" dirty="0">
                <a:solidFill>
                  <a:srgbClr val="000000"/>
                </a:solidFill>
              </a:rPr>
              <a:t>“...combinación de </a:t>
            </a:r>
            <a:r>
              <a:rPr lang="es-ES_tradnl" sz="2600" i="1" dirty="0">
                <a:solidFill>
                  <a:srgbClr val="FF0000"/>
                </a:solidFill>
              </a:rPr>
              <a:t>recursos humanos y no humanos</a:t>
            </a:r>
            <a:r>
              <a:rPr lang="es-ES_tradnl" sz="2600" i="1" dirty="0">
                <a:solidFill>
                  <a:srgbClr val="000000"/>
                </a:solidFill>
              </a:rPr>
              <a:t>, reunidos en una organización </a:t>
            </a:r>
            <a:r>
              <a:rPr lang="es-ES_tradnl" sz="2600" i="1" dirty="0">
                <a:solidFill>
                  <a:srgbClr val="FF0000"/>
                </a:solidFill>
              </a:rPr>
              <a:t>temporal</a:t>
            </a:r>
            <a:r>
              <a:rPr lang="es-ES_tradnl" sz="2600" i="1" dirty="0">
                <a:solidFill>
                  <a:srgbClr val="000000"/>
                </a:solidFill>
              </a:rPr>
              <a:t> para obtener un </a:t>
            </a:r>
            <a:r>
              <a:rPr lang="es-ES_tradnl" sz="2600" i="1" dirty="0">
                <a:solidFill>
                  <a:srgbClr val="FF0000"/>
                </a:solidFill>
              </a:rPr>
              <a:t>propósito determinado</a:t>
            </a:r>
            <a:r>
              <a:rPr lang="es-ES_tradnl" sz="2600" i="1" dirty="0">
                <a:solidFill>
                  <a:srgbClr val="000000"/>
                </a:solidFill>
              </a:rPr>
              <a:t>.” </a:t>
            </a:r>
            <a:r>
              <a:rPr lang="es-ES_tradnl" sz="2600" dirty="0">
                <a:solidFill>
                  <a:srgbClr val="000000"/>
                </a:solidFill>
              </a:rPr>
              <a:t>(</a:t>
            </a:r>
            <a:r>
              <a:rPr lang="es-ES_tradnl" sz="2600" dirty="0" err="1">
                <a:solidFill>
                  <a:srgbClr val="000000"/>
                </a:solidFill>
              </a:rPr>
              <a:t>Cleland</a:t>
            </a:r>
            <a:r>
              <a:rPr lang="es-ES_tradnl" sz="2600" dirty="0">
                <a:solidFill>
                  <a:srgbClr val="000000"/>
                </a:solidFill>
              </a:rPr>
              <a:t> y King, 1975)</a:t>
            </a:r>
            <a:r>
              <a:rPr lang="ar-SA" sz="2600" dirty="0">
                <a:solidFill>
                  <a:srgbClr val="000000"/>
                </a:solidFill>
              </a:rPr>
              <a:t>‏</a:t>
            </a:r>
            <a:r>
              <a:rPr lang="es-ES_tradnl" sz="2600" b="1" dirty="0">
                <a:solidFill>
                  <a:srgbClr val="000000"/>
                </a:solidFill>
              </a:rPr>
              <a:t>	</a:t>
            </a:r>
            <a:endParaRPr lang="es-ES_tradnl" sz="2600" dirty="0">
              <a:solidFill>
                <a:srgbClr val="000000"/>
              </a:solidFill>
            </a:endParaRPr>
          </a:p>
          <a:p>
            <a:pPr marL="108000" indent="0" algn="just">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i="1" dirty="0"/>
              <a:t>“…es un esfuerzo </a:t>
            </a:r>
            <a:r>
              <a:rPr lang="es-ES" sz="2600" i="1" dirty="0">
                <a:solidFill>
                  <a:srgbClr val="FF0000"/>
                </a:solidFill>
              </a:rPr>
              <a:t>temporal</a:t>
            </a:r>
            <a:r>
              <a:rPr lang="es-ES" sz="2600" i="1" dirty="0"/>
              <a:t> que se lleva a cabo para crear un </a:t>
            </a:r>
            <a:r>
              <a:rPr lang="es-ES" sz="2600" i="1" dirty="0">
                <a:solidFill>
                  <a:srgbClr val="FF0000"/>
                </a:solidFill>
              </a:rPr>
              <a:t>producto, servicio o resultado único</a:t>
            </a:r>
            <a:r>
              <a:rPr lang="es-ES" sz="2600" i="1" dirty="0"/>
              <a:t>”</a:t>
            </a:r>
            <a:r>
              <a:rPr lang="es-ES_tradnl" sz="2600" i="1" dirty="0"/>
              <a:t> </a:t>
            </a:r>
            <a:r>
              <a:rPr lang="es-ES_tradnl" sz="2600" dirty="0">
                <a:solidFill>
                  <a:srgbClr val="000000"/>
                </a:solidFill>
              </a:rPr>
              <a:t>(PMI, 2004)</a:t>
            </a:r>
          </a:p>
          <a:p>
            <a:pPr marL="108000" algn="just">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i="1" dirty="0"/>
              <a:t> “Una </a:t>
            </a:r>
            <a:r>
              <a:rPr lang="es-ES_tradnl" sz="2600" i="1" dirty="0">
                <a:solidFill>
                  <a:srgbClr val="FF0000"/>
                </a:solidFill>
              </a:rPr>
              <a:t>tarea</a:t>
            </a:r>
            <a:r>
              <a:rPr lang="es-ES_tradnl" sz="2600" i="1" dirty="0"/>
              <a:t>, usualmente de una magnitud considerable que se tiene que completar en un período de </a:t>
            </a:r>
            <a:r>
              <a:rPr lang="es-ES_tradnl" sz="2600" i="1" dirty="0">
                <a:solidFill>
                  <a:srgbClr val="FF0000"/>
                </a:solidFill>
              </a:rPr>
              <a:t>tiempo determinado</a:t>
            </a:r>
            <a:r>
              <a:rPr lang="es-ES_tradnl" sz="2600" i="1" dirty="0"/>
              <a:t>, usando un conjunto de </a:t>
            </a:r>
            <a:r>
              <a:rPr lang="es-ES_tradnl" sz="2600" i="1" dirty="0">
                <a:solidFill>
                  <a:srgbClr val="FF0000"/>
                </a:solidFill>
              </a:rPr>
              <a:t>recursos</a:t>
            </a:r>
            <a:r>
              <a:rPr lang="es-ES_tradnl" sz="2600" i="1" dirty="0"/>
              <a:t> y con un </a:t>
            </a:r>
            <a:r>
              <a:rPr lang="es-ES_tradnl" sz="2600" i="1" dirty="0">
                <a:solidFill>
                  <a:srgbClr val="FF0000"/>
                </a:solidFill>
              </a:rPr>
              <a:t>presupuesto</a:t>
            </a:r>
            <a:r>
              <a:rPr lang="es-ES_tradnl" sz="2600" i="1" dirty="0"/>
              <a:t> específico.”</a:t>
            </a:r>
          </a:p>
          <a:p>
            <a:pPr marL="341313" indent="-341313" algn="just">
              <a:spcBef>
                <a:spcPts val="625"/>
              </a:spcBef>
              <a:buSzPct val="7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_tradnl" sz="2600" b="1" i="1" dirty="0">
              <a:solidFill>
                <a:srgbClr val="000000"/>
              </a:solidFill>
              <a:latin typeface="Verdana" pitchFamily="34" charset="0"/>
            </a:endParaRPr>
          </a:p>
        </p:txBody>
      </p:sp>
    </p:spTree>
    <p:extLst>
      <p:ext uri="{BB962C8B-B14F-4D97-AF65-F5344CB8AC3E}">
        <p14:creationId xmlns:p14="http://schemas.microsoft.com/office/powerpoint/2010/main" val="54330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b="1" dirty="0"/>
              <a:t>Características de cualquier proyecto</a:t>
            </a:r>
            <a:endParaRPr lang="es-ES" dirty="0"/>
          </a:p>
        </p:txBody>
      </p:sp>
      <p:sp>
        <p:nvSpPr>
          <p:cNvPr id="3" name="Marcador de contenido 2"/>
          <p:cNvSpPr>
            <a:spLocks noGrp="1"/>
          </p:cNvSpPr>
          <p:nvPr>
            <p:ph idx="1"/>
          </p:nvPr>
        </p:nvSpPr>
        <p:spPr/>
        <p:txBody>
          <a:bodyPr>
            <a:normAutofit/>
          </a:bodyPr>
          <a:lstStyle/>
          <a:p>
            <a:pP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Elaboración de un producto/servicio para alcanzar un objetivo y una finalidad.</a:t>
            </a:r>
          </a:p>
          <a:p>
            <a:pP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Único/cambio/incertidumbre.</a:t>
            </a:r>
          </a:p>
          <a:p>
            <a:pP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Actividades interrelacionadas.</a:t>
            </a:r>
          </a:p>
          <a:p>
            <a:pP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a:t>Multidisciplinario. </a:t>
            </a:r>
            <a:endParaRPr lang="es-ES_tradnl" sz="2600" dirty="0"/>
          </a:p>
          <a:p>
            <a:pP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Límites de tiempo, de presupuesto y de calidad. </a:t>
            </a:r>
          </a:p>
          <a:p>
            <a:pP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Complejidad.</a:t>
            </a:r>
          </a:p>
        </p:txBody>
      </p:sp>
    </p:spTree>
    <p:extLst>
      <p:ext uri="{BB962C8B-B14F-4D97-AF65-F5344CB8AC3E}">
        <p14:creationId xmlns:p14="http://schemas.microsoft.com/office/powerpoint/2010/main" val="2361572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a:t>Gestión</a:t>
            </a:r>
            <a:r>
              <a:rPr lang="en-US" dirty="0"/>
              <a:t> de </a:t>
            </a:r>
            <a:r>
              <a:rPr lang="en-US" dirty="0" err="1"/>
              <a:t>proyectos</a:t>
            </a:r>
            <a:r>
              <a:rPr lang="en-US" dirty="0"/>
              <a:t> </a:t>
            </a:r>
            <a:endParaRPr lang="es-ES" dirty="0"/>
          </a:p>
        </p:txBody>
      </p:sp>
      <p:sp>
        <p:nvSpPr>
          <p:cNvPr id="3" name="Marcador de contenido 2"/>
          <p:cNvSpPr>
            <a:spLocks noGrp="1"/>
          </p:cNvSpPr>
          <p:nvPr>
            <p:ph idx="1"/>
          </p:nvPr>
        </p:nvSpPr>
        <p:spPr/>
        <p:txBody>
          <a:bodyPr>
            <a:noAutofit/>
          </a:bodyPr>
          <a:lstStyle/>
          <a:p>
            <a:pPr marL="0" indent="0" algn="just">
              <a:buNone/>
            </a:pPr>
            <a:r>
              <a:rPr lang="es-ES_tradnl" sz="2600" i="1" dirty="0"/>
              <a:t>“ Arte de dirigir y coordinar los recursos humanos y materiales a lo largo del ciclo de vida del proyecto mediante el uso y la aplicación de conocimientos, aptitudes, habilidades, herramientas y técnicas a las actividades del proyecto, para conseguir los objetivos prefijados de </a:t>
            </a:r>
            <a:r>
              <a:rPr lang="es-ES_tradnl" sz="2600" i="1" dirty="0">
                <a:solidFill>
                  <a:srgbClr val="FF0000"/>
                </a:solidFill>
              </a:rPr>
              <a:t>alcance</a:t>
            </a:r>
            <a:r>
              <a:rPr lang="es-ES_tradnl" sz="2600" i="1" dirty="0"/>
              <a:t>, </a:t>
            </a:r>
            <a:r>
              <a:rPr lang="es-ES_tradnl" sz="2600" i="1" dirty="0">
                <a:solidFill>
                  <a:srgbClr val="FF0000"/>
                </a:solidFill>
              </a:rPr>
              <a:t>costo</a:t>
            </a:r>
            <a:r>
              <a:rPr lang="es-ES_tradnl" sz="2600" i="1" dirty="0"/>
              <a:t>, </a:t>
            </a:r>
            <a:r>
              <a:rPr lang="es-ES_tradnl" sz="2600" i="1" dirty="0">
                <a:solidFill>
                  <a:srgbClr val="FF0000"/>
                </a:solidFill>
              </a:rPr>
              <a:t>plazo</a:t>
            </a:r>
            <a:r>
              <a:rPr lang="es-ES_tradnl" sz="2600" i="1" dirty="0"/>
              <a:t> y </a:t>
            </a:r>
            <a:r>
              <a:rPr lang="es-ES_tradnl" sz="2600" i="1" dirty="0">
                <a:solidFill>
                  <a:srgbClr val="FF0000"/>
                </a:solidFill>
              </a:rPr>
              <a:t>calidad</a:t>
            </a:r>
            <a:r>
              <a:rPr lang="es-ES_tradnl" sz="2600" i="1" dirty="0"/>
              <a:t> encaminados a satisfacer y superar las necesidades y expectativas de una organización.”  </a:t>
            </a:r>
            <a:r>
              <a:rPr lang="es-ES_tradnl" sz="2600" dirty="0"/>
              <a:t>(PMI 2004)</a:t>
            </a:r>
          </a:p>
          <a:p>
            <a:pPr marL="0" indent="0" algn="just">
              <a:buNone/>
            </a:pPr>
            <a:endParaRPr lang="es-ES_tradnl" i="1" dirty="0"/>
          </a:p>
          <a:p>
            <a:pPr marL="0" indent="0" algn="just">
              <a:spcBef>
                <a:spcPts val="7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i="1" dirty="0"/>
              <a:t>“Es una de las áreas clave dentro del proceso de desarrollo de sistemas software, por el cual se </a:t>
            </a:r>
            <a:r>
              <a:rPr lang="es-ES_tradnl" sz="2600" i="1" dirty="0">
                <a:solidFill>
                  <a:srgbClr val="FF0000"/>
                </a:solidFill>
              </a:rPr>
              <a:t>planifica</a:t>
            </a:r>
            <a:r>
              <a:rPr lang="es-ES_tradnl" sz="2600" i="1" dirty="0"/>
              <a:t>, </a:t>
            </a:r>
            <a:r>
              <a:rPr lang="es-ES_tradnl" sz="2600" i="1" dirty="0">
                <a:solidFill>
                  <a:srgbClr val="FF0000"/>
                </a:solidFill>
              </a:rPr>
              <a:t>dirige</a:t>
            </a:r>
            <a:r>
              <a:rPr lang="es-ES_tradnl" sz="2600" i="1" dirty="0"/>
              <a:t> y </a:t>
            </a:r>
            <a:r>
              <a:rPr lang="es-ES_tradnl" sz="2600" i="1" dirty="0">
                <a:solidFill>
                  <a:srgbClr val="FF0000"/>
                </a:solidFill>
              </a:rPr>
              <a:t>controla</a:t>
            </a:r>
            <a:r>
              <a:rPr lang="es-ES_tradnl" sz="2600" i="1" dirty="0"/>
              <a:t> el desarrollo de un sistema aceptable con un </a:t>
            </a:r>
            <a:r>
              <a:rPr lang="es-ES_tradnl" sz="2600" i="1" dirty="0">
                <a:solidFill>
                  <a:srgbClr val="FF0000"/>
                </a:solidFill>
              </a:rPr>
              <a:t>costo mínimo </a:t>
            </a:r>
            <a:r>
              <a:rPr lang="es-ES_tradnl" sz="2600" i="1" dirty="0"/>
              <a:t>y dentro de un </a:t>
            </a:r>
            <a:r>
              <a:rPr lang="es-ES_tradnl" sz="2600" i="1" dirty="0">
                <a:solidFill>
                  <a:srgbClr val="FF0000"/>
                </a:solidFill>
              </a:rPr>
              <a:t>período de tiempo </a:t>
            </a:r>
            <a:r>
              <a:rPr lang="es-ES_tradnl" sz="2600" i="1" dirty="0"/>
              <a:t>específico.” </a:t>
            </a:r>
          </a:p>
          <a:p>
            <a:pPr algn="just"/>
            <a:endParaRPr lang="es-ES" sz="2600" dirty="0"/>
          </a:p>
        </p:txBody>
      </p:sp>
    </p:spTree>
    <p:extLst>
      <p:ext uri="{BB962C8B-B14F-4D97-AF65-F5344CB8AC3E}">
        <p14:creationId xmlns:p14="http://schemas.microsoft.com/office/powerpoint/2010/main" val="317566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r="3464" b="3418"/>
          <a:stretch>
            <a:fillRect/>
          </a:stretch>
        </p:blipFill>
        <p:spPr bwMode="auto">
          <a:xfrm>
            <a:off x="1938824" y="1763118"/>
            <a:ext cx="8262378" cy="452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Título 1"/>
          <p:cNvSpPr>
            <a:spLocks noGrp="1"/>
          </p:cNvSpPr>
          <p:nvPr>
            <p:ph type="title"/>
          </p:nvPr>
        </p:nvSpPr>
        <p:spPr/>
        <p:txBody>
          <a:bodyPr/>
          <a:lstStyle/>
          <a:p>
            <a:r>
              <a:rPr lang="es-ES_tradnl" dirty="0"/>
              <a:t>Las 4 </a:t>
            </a:r>
            <a:r>
              <a:rPr lang="es-ES_tradnl" dirty="0" err="1"/>
              <a:t>P’s</a:t>
            </a:r>
            <a:r>
              <a:rPr lang="es-ES_tradnl" dirty="0"/>
              <a:t> de la gestión de proyectos</a:t>
            </a:r>
            <a:endParaRPr lang="es-ES" dirty="0"/>
          </a:p>
        </p:txBody>
      </p:sp>
      <p:sp>
        <p:nvSpPr>
          <p:cNvPr id="6" name="CuadroTexto 5"/>
          <p:cNvSpPr txBox="1"/>
          <p:nvPr/>
        </p:nvSpPr>
        <p:spPr>
          <a:xfrm>
            <a:off x="9295249" y="5527040"/>
            <a:ext cx="2528641" cy="492443"/>
          </a:xfrm>
          <a:prstGeom prst="rect">
            <a:avLst/>
          </a:prstGeom>
          <a:noFill/>
        </p:spPr>
        <p:txBody>
          <a:bodyPr wrap="none" rtlCol="0">
            <a:spAutoFit/>
          </a:bodyPr>
          <a:lstStyle/>
          <a:p>
            <a:r>
              <a:rPr lang="es-ES" sz="2600" dirty="0"/>
              <a:t>(</a:t>
            </a:r>
            <a:r>
              <a:rPr lang="es-ES" sz="2600" dirty="0" err="1"/>
              <a:t>Pressman</a:t>
            </a:r>
            <a:r>
              <a:rPr lang="es-ES" sz="2600" dirty="0"/>
              <a:t>, 2007)</a:t>
            </a:r>
          </a:p>
        </p:txBody>
      </p:sp>
    </p:spTree>
    <p:extLst>
      <p:ext uri="{BB962C8B-B14F-4D97-AF65-F5344CB8AC3E}">
        <p14:creationId xmlns:p14="http://schemas.microsoft.com/office/powerpoint/2010/main" val="5802982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0181" y="1778354"/>
            <a:ext cx="8610600" cy="4520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 name="Título 1"/>
          <p:cNvSpPr>
            <a:spLocks noGrp="1"/>
          </p:cNvSpPr>
          <p:nvPr>
            <p:ph type="title"/>
          </p:nvPr>
        </p:nvSpPr>
        <p:spPr>
          <a:xfrm>
            <a:off x="1097279" y="286603"/>
            <a:ext cx="10931589" cy="1450757"/>
          </a:xfrm>
        </p:spPr>
        <p:txBody>
          <a:bodyPr/>
          <a:lstStyle/>
          <a:p>
            <a:r>
              <a:rPr lang="es-ES_tradnl" dirty="0"/>
              <a:t>Funciones básicas de la gestión de proyectos</a:t>
            </a:r>
            <a:endParaRPr lang="es-ES" dirty="0"/>
          </a:p>
        </p:txBody>
      </p:sp>
      <p:sp>
        <p:nvSpPr>
          <p:cNvPr id="6" name="CuadroTexto 5"/>
          <p:cNvSpPr txBox="1"/>
          <p:nvPr/>
        </p:nvSpPr>
        <p:spPr>
          <a:xfrm>
            <a:off x="9295249" y="5527040"/>
            <a:ext cx="2528641" cy="492443"/>
          </a:xfrm>
          <a:prstGeom prst="rect">
            <a:avLst/>
          </a:prstGeom>
          <a:noFill/>
        </p:spPr>
        <p:txBody>
          <a:bodyPr wrap="none" rtlCol="0">
            <a:spAutoFit/>
          </a:bodyPr>
          <a:lstStyle/>
          <a:p>
            <a:r>
              <a:rPr lang="es-ES" sz="2600" dirty="0"/>
              <a:t>(</a:t>
            </a:r>
            <a:r>
              <a:rPr lang="es-ES" sz="2600" dirty="0" err="1"/>
              <a:t>Pressman</a:t>
            </a:r>
            <a:r>
              <a:rPr lang="es-ES" sz="2600" dirty="0"/>
              <a:t>, 2007)</a:t>
            </a:r>
          </a:p>
        </p:txBody>
      </p:sp>
    </p:spTree>
    <p:extLst>
      <p:ext uri="{BB962C8B-B14F-4D97-AF65-F5344CB8AC3E}">
        <p14:creationId xmlns:p14="http://schemas.microsoft.com/office/powerpoint/2010/main" val="42019252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1730350" y="2364534"/>
            <a:ext cx="8312240" cy="15800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panose="05000000000000000000" pitchFamily="2" charset="2"/>
              <a:buNone/>
            </a:pPr>
            <a:r>
              <a:rPr lang="es-ES" sz="4800" dirty="0">
                <a:solidFill>
                  <a:srgbClr val="FF0000"/>
                </a:solidFill>
              </a:rPr>
              <a:t>¿Es actualmente exitosa la industria del software?</a:t>
            </a:r>
            <a:endParaRPr lang="en-US" sz="4800" u="sng" dirty="0">
              <a:solidFill>
                <a:srgbClr val="FF0000"/>
              </a:solidFill>
            </a:endParaRPr>
          </a:p>
        </p:txBody>
      </p:sp>
    </p:spTree>
    <p:extLst>
      <p:ext uri="{BB962C8B-B14F-4D97-AF65-F5344CB8AC3E}">
        <p14:creationId xmlns:p14="http://schemas.microsoft.com/office/powerpoint/2010/main" val="415163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Reporte 2020</a:t>
            </a:r>
          </a:p>
        </p:txBody>
      </p:sp>
      <p:graphicFrame>
        <p:nvGraphicFramePr>
          <p:cNvPr id="8" name="Diagrama 7">
            <a:extLst>
              <a:ext uri="{FF2B5EF4-FFF2-40B4-BE49-F238E27FC236}">
                <a16:creationId xmlns:a16="http://schemas.microsoft.com/office/drawing/2014/main" xmlns="" id="{F3F2CDB2-405A-D5B5-3552-1EC99EB35598}"/>
              </a:ext>
            </a:extLst>
          </p:cNvPr>
          <p:cNvGraphicFramePr/>
          <p:nvPr>
            <p:extLst>
              <p:ext uri="{D42A27DB-BD31-4B8C-83A1-F6EECF244321}">
                <p14:modId xmlns:p14="http://schemas.microsoft.com/office/powerpoint/2010/main" val="135018061"/>
              </p:ext>
            </p:extLst>
          </p:nvPr>
        </p:nvGraphicFramePr>
        <p:xfrm>
          <a:off x="1130104" y="1547185"/>
          <a:ext cx="10119360" cy="53342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4486113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72A6E23-09FC-4DED-C493-A9B5E3B7B72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xmlns="" id="{42C1CB2D-7685-C4EB-C6EC-DF188E3A27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492" y="0"/>
            <a:ext cx="8681899" cy="6317879"/>
          </a:xfrm>
          <a:prstGeom prst="rect">
            <a:avLst/>
          </a:prstGeom>
        </p:spPr>
      </p:pic>
      <p:sp>
        <p:nvSpPr>
          <p:cNvPr id="5" name="CuadroTexto 4">
            <a:extLst>
              <a:ext uri="{FF2B5EF4-FFF2-40B4-BE49-F238E27FC236}">
                <a16:creationId xmlns:a16="http://schemas.microsoft.com/office/drawing/2014/main" xmlns="" id="{A5D21225-9A83-8A96-19C0-CFFBDE8B37D2}"/>
              </a:ext>
            </a:extLst>
          </p:cNvPr>
          <p:cNvSpPr txBox="1"/>
          <p:nvPr/>
        </p:nvSpPr>
        <p:spPr>
          <a:xfrm>
            <a:off x="7846708" y="5839968"/>
            <a:ext cx="4345292" cy="369332"/>
          </a:xfrm>
          <a:prstGeom prst="rect">
            <a:avLst/>
          </a:prstGeom>
          <a:noFill/>
        </p:spPr>
        <p:txBody>
          <a:bodyPr wrap="none" rtlCol="0">
            <a:spAutoFit/>
          </a:bodyPr>
          <a:lstStyle/>
          <a:p>
            <a:r>
              <a:rPr lang="es-419" dirty="0"/>
              <a:t>Fuente: </a:t>
            </a:r>
            <a:r>
              <a:rPr lang="es-419" dirty="0" err="1"/>
              <a:t>Standish</a:t>
            </a:r>
            <a:r>
              <a:rPr lang="es-419" dirty="0"/>
              <a:t> </a:t>
            </a:r>
            <a:r>
              <a:rPr lang="es-419" dirty="0" err="1"/>
              <a:t>Gropup</a:t>
            </a:r>
            <a:r>
              <a:rPr lang="es-419" dirty="0"/>
              <a:t> Chaos </a:t>
            </a:r>
            <a:r>
              <a:rPr lang="es-419" dirty="0" err="1"/>
              <a:t>Report</a:t>
            </a:r>
            <a:r>
              <a:rPr lang="es-419" dirty="0"/>
              <a:t> 2020</a:t>
            </a:r>
            <a:endParaRPr lang="en-US" dirty="0"/>
          </a:p>
        </p:txBody>
      </p:sp>
    </p:spTree>
    <p:extLst>
      <p:ext uri="{BB962C8B-B14F-4D97-AF65-F5344CB8AC3E}">
        <p14:creationId xmlns:p14="http://schemas.microsoft.com/office/powerpoint/2010/main" val="2823185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783F23-20C7-270C-8B51-1A96EC9F769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xmlns="" id="{4E48F2E3-BE85-705B-DB1F-34DE6EC2475A}"/>
              </a:ext>
            </a:extLst>
          </p:cNvPr>
          <p:cNvSpPr txBox="1"/>
          <p:nvPr/>
        </p:nvSpPr>
        <p:spPr>
          <a:xfrm>
            <a:off x="7846708" y="5839968"/>
            <a:ext cx="4345292" cy="369332"/>
          </a:xfrm>
          <a:prstGeom prst="rect">
            <a:avLst/>
          </a:prstGeom>
          <a:noFill/>
        </p:spPr>
        <p:txBody>
          <a:bodyPr wrap="none" rtlCol="0">
            <a:spAutoFit/>
          </a:bodyPr>
          <a:lstStyle/>
          <a:p>
            <a:r>
              <a:rPr lang="es-419" dirty="0"/>
              <a:t>Fuente: </a:t>
            </a:r>
            <a:r>
              <a:rPr lang="es-419" dirty="0" err="1"/>
              <a:t>Standish</a:t>
            </a:r>
            <a:r>
              <a:rPr lang="es-419" dirty="0"/>
              <a:t> </a:t>
            </a:r>
            <a:r>
              <a:rPr lang="es-419" dirty="0" err="1"/>
              <a:t>Gropup</a:t>
            </a:r>
            <a:r>
              <a:rPr lang="es-419" dirty="0"/>
              <a:t> Chaos </a:t>
            </a:r>
            <a:r>
              <a:rPr lang="es-419" dirty="0" err="1"/>
              <a:t>Report</a:t>
            </a:r>
            <a:r>
              <a:rPr lang="es-419" dirty="0"/>
              <a:t> 2020</a:t>
            </a:r>
            <a:endParaRPr lang="en-US" dirty="0"/>
          </a:p>
        </p:txBody>
      </p:sp>
      <p:pic>
        <p:nvPicPr>
          <p:cNvPr id="3" name="Imagen 2">
            <a:extLst>
              <a:ext uri="{FF2B5EF4-FFF2-40B4-BE49-F238E27FC236}">
                <a16:creationId xmlns:a16="http://schemas.microsoft.com/office/drawing/2014/main" xmlns="" id="{EE114B33-342A-9615-61DA-6F6FA5C1AA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3338" y="379672"/>
            <a:ext cx="9533711" cy="5362712"/>
          </a:xfrm>
          <a:prstGeom prst="rect">
            <a:avLst/>
          </a:prstGeom>
        </p:spPr>
      </p:pic>
    </p:spTree>
    <p:extLst>
      <p:ext uri="{BB962C8B-B14F-4D97-AF65-F5344CB8AC3E}">
        <p14:creationId xmlns:p14="http://schemas.microsoft.com/office/powerpoint/2010/main" val="3458661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n-US" sz="5300" dirty="0"/>
              <a:t>¿</a:t>
            </a:r>
            <a:r>
              <a:rPr lang="en-US" sz="5300" dirty="0" err="1"/>
              <a:t>Cómo</a:t>
            </a:r>
            <a:r>
              <a:rPr lang="en-US" sz="5300" dirty="0"/>
              <a:t> </a:t>
            </a:r>
            <a:r>
              <a:rPr lang="en-US" sz="5300" dirty="0" err="1"/>
              <a:t>explicamos</a:t>
            </a:r>
            <a:r>
              <a:rPr lang="en-US" sz="5300" dirty="0"/>
              <a:t> la </a:t>
            </a:r>
            <a:r>
              <a:rPr lang="en-US" sz="5300" dirty="0" err="1"/>
              <a:t>alta</a:t>
            </a:r>
            <a:r>
              <a:rPr lang="en-US" sz="5300" dirty="0"/>
              <a:t> </a:t>
            </a:r>
            <a:r>
              <a:rPr lang="en-US" sz="5300" dirty="0" err="1"/>
              <a:t>incidencia</a:t>
            </a:r>
            <a:r>
              <a:rPr lang="en-US" sz="5300" dirty="0"/>
              <a:t> de </a:t>
            </a:r>
            <a:r>
              <a:rPr lang="en-US" sz="5300" dirty="0" err="1"/>
              <a:t>fallos</a:t>
            </a:r>
            <a:r>
              <a:rPr lang="en-US" sz="5300" dirty="0"/>
              <a:t> en los </a:t>
            </a:r>
            <a:r>
              <a:rPr lang="en-US" sz="5300" dirty="0" err="1"/>
              <a:t>proyectos</a:t>
            </a:r>
            <a:r>
              <a:rPr lang="en-US" sz="5300" dirty="0"/>
              <a:t> de software?</a:t>
            </a:r>
            <a:endParaRPr lang="es-ES" sz="5300" dirty="0"/>
          </a:p>
        </p:txBody>
      </p:sp>
      <p:sp>
        <p:nvSpPr>
          <p:cNvPr id="3" name="Marcador de contenido 2"/>
          <p:cNvSpPr>
            <a:spLocks noGrp="1"/>
          </p:cNvSpPr>
          <p:nvPr>
            <p:ph idx="1"/>
          </p:nvPr>
        </p:nvSpPr>
        <p:spPr/>
        <p:txBody>
          <a:bodyPr>
            <a:noAutofit/>
          </a:bodyPr>
          <a:lstStyle/>
          <a:p>
            <a:pPr marL="0" indent="0">
              <a:buNone/>
            </a:pPr>
            <a:r>
              <a:rPr lang="es-ES" sz="2600" b="1" dirty="0"/>
              <a:t>Causas más frecuentes:</a:t>
            </a:r>
          </a:p>
          <a:p>
            <a:pPr>
              <a:buFont typeface="Wingdings" panose="05000000000000000000" pitchFamily="2" charset="2"/>
              <a:buChar char="Ø"/>
            </a:pPr>
            <a:r>
              <a:rPr lang="es-ES" sz="2600" dirty="0"/>
              <a:t>Requerimientos incompletos o cambios frecuentes </a:t>
            </a:r>
          </a:p>
          <a:p>
            <a:pPr>
              <a:buFont typeface="Wingdings" panose="05000000000000000000" pitchFamily="2" charset="2"/>
              <a:buChar char="Ø"/>
            </a:pPr>
            <a:r>
              <a:rPr lang="es-ES" sz="2600" dirty="0"/>
              <a:t>Escasa participación de los usuarios</a:t>
            </a:r>
            <a:endParaRPr lang="en-US" sz="2600" dirty="0"/>
          </a:p>
          <a:p>
            <a:pPr>
              <a:buFont typeface="Wingdings" panose="05000000000000000000" pitchFamily="2" charset="2"/>
              <a:buChar char="Ø"/>
            </a:pPr>
            <a:r>
              <a:rPr lang="es-ES" sz="2600" dirty="0"/>
              <a:t>Falta de recursos</a:t>
            </a:r>
            <a:endParaRPr lang="en-US" sz="2600" dirty="0"/>
          </a:p>
          <a:p>
            <a:pPr>
              <a:buFont typeface="Wingdings" panose="05000000000000000000" pitchFamily="2" charset="2"/>
              <a:buChar char="Ø"/>
            </a:pPr>
            <a:r>
              <a:rPr lang="es-ES" sz="2600" dirty="0"/>
              <a:t>Falta de soporte ejecutivo</a:t>
            </a:r>
          </a:p>
          <a:p>
            <a:pPr>
              <a:buFont typeface="Wingdings" panose="05000000000000000000" pitchFamily="2" charset="2"/>
              <a:buChar char="Ø"/>
            </a:pPr>
            <a:r>
              <a:rPr lang="es-ES" sz="2600" dirty="0"/>
              <a:t>Expectativas no realistas</a:t>
            </a:r>
            <a:endParaRPr lang="en-US" sz="2600" dirty="0"/>
          </a:p>
          <a:p>
            <a:pPr>
              <a:buFont typeface="Wingdings" panose="05000000000000000000" pitchFamily="2" charset="2"/>
              <a:buChar char="Ø"/>
            </a:pPr>
            <a:r>
              <a:rPr lang="es-ES" sz="2600" dirty="0"/>
              <a:t>Cronogramas irreales</a:t>
            </a:r>
            <a:endParaRPr lang="en-US" sz="2600" dirty="0"/>
          </a:p>
          <a:p>
            <a:pPr>
              <a:buFont typeface="Wingdings" panose="05000000000000000000" pitchFamily="2" charset="2"/>
              <a:buChar char="Ø"/>
            </a:pPr>
            <a:endParaRPr lang="es-ES" sz="2600" dirty="0"/>
          </a:p>
          <a:p>
            <a:pPr>
              <a:buFont typeface="Wingdings" panose="05000000000000000000" pitchFamily="2" charset="2"/>
              <a:buChar char="Ø"/>
            </a:pPr>
            <a:endParaRPr lang="es-ES" sz="2600" dirty="0"/>
          </a:p>
        </p:txBody>
      </p:sp>
    </p:spTree>
    <p:extLst>
      <p:ext uri="{BB962C8B-B14F-4D97-AF65-F5344CB8AC3E}">
        <p14:creationId xmlns:p14="http://schemas.microsoft.com/office/powerpoint/2010/main" val="325476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A6F1B0-50CD-898D-7772-1C0926C7AA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7E721A76-3AD2-ECC2-0183-957A348EC5E2}"/>
              </a:ext>
            </a:extLst>
          </p:cNvPr>
          <p:cNvSpPr>
            <a:spLocks noGrp="1"/>
          </p:cNvSpPr>
          <p:nvPr>
            <p:ph type="title"/>
          </p:nvPr>
        </p:nvSpPr>
        <p:spPr/>
        <p:txBody>
          <a:bodyPr>
            <a:normAutofit/>
          </a:bodyPr>
          <a:lstStyle/>
          <a:p>
            <a:r>
              <a:rPr lang="en-US" sz="5300" dirty="0"/>
              <a:t>F</a:t>
            </a:r>
            <a:r>
              <a:rPr lang="es-ES" dirty="0"/>
              <a:t>actores clave identificados para el éxito de un proyecto</a:t>
            </a:r>
            <a:endParaRPr lang="es-ES" sz="5300" dirty="0"/>
          </a:p>
        </p:txBody>
      </p:sp>
      <p:sp>
        <p:nvSpPr>
          <p:cNvPr id="3" name="Marcador de contenido 2">
            <a:extLst>
              <a:ext uri="{FF2B5EF4-FFF2-40B4-BE49-F238E27FC236}">
                <a16:creationId xmlns:a16="http://schemas.microsoft.com/office/drawing/2014/main" xmlns="" id="{C888664D-F7E0-586E-A1C3-2801B37807A5}"/>
              </a:ext>
            </a:extLst>
          </p:cNvPr>
          <p:cNvSpPr>
            <a:spLocks noGrp="1"/>
          </p:cNvSpPr>
          <p:nvPr>
            <p:ph idx="1"/>
          </p:nvPr>
        </p:nvSpPr>
        <p:spPr>
          <a:xfrm>
            <a:off x="1097280" y="2045027"/>
            <a:ext cx="10058400" cy="4023360"/>
          </a:xfrm>
        </p:spPr>
        <p:txBody>
          <a:bodyPr>
            <a:noAutofit/>
          </a:bodyPr>
          <a:lstStyle/>
          <a:p>
            <a:pPr>
              <a:buFont typeface="Wingdings" panose="05000000000000000000" pitchFamily="2" charset="2"/>
              <a:buChar char="Ø"/>
            </a:pPr>
            <a:r>
              <a:rPr lang="es-ES" sz="2400" b="1" dirty="0"/>
              <a:t>Enfoque en las personas: </a:t>
            </a:r>
            <a:r>
              <a:rPr lang="es-ES" sz="2400" dirty="0"/>
              <a:t>Invierte en mejorar las habilidades del patrocinador, fomentar la cohesión del equipo y crear un entorno organizacional maduro y de apoyo.</a:t>
            </a:r>
          </a:p>
          <a:p>
            <a:pPr>
              <a:buFont typeface="Wingdings" panose="05000000000000000000" pitchFamily="2" charset="2"/>
              <a:buChar char="Ø"/>
            </a:pPr>
            <a:r>
              <a:rPr lang="es-ES" sz="2400" b="1" dirty="0"/>
              <a:t>Considera operar sin un gerente de proyecto</a:t>
            </a:r>
            <a:r>
              <a:rPr lang="es-ES" sz="2400" dirty="0"/>
              <a:t>: Especialmente en entornos Ágiles, evalúa si el equipo puede </a:t>
            </a:r>
            <a:r>
              <a:rPr lang="es-ES" sz="2400" dirty="0" err="1"/>
              <a:t>auto-gestionarse</a:t>
            </a:r>
            <a:r>
              <a:rPr lang="es-ES" sz="2400" dirty="0"/>
              <a:t> de manera efectiva.</a:t>
            </a:r>
          </a:p>
          <a:p>
            <a:pPr>
              <a:buFont typeface="Wingdings" panose="05000000000000000000" pitchFamily="2" charset="2"/>
              <a:buChar char="Ø"/>
            </a:pPr>
            <a:r>
              <a:rPr lang="es-ES" sz="2400" b="1" dirty="0"/>
              <a:t>Divide los proyectos grandes</a:t>
            </a:r>
            <a:r>
              <a:rPr lang="es-ES" sz="2400" dirty="0"/>
              <a:t>: Los proyectos más pequeños tienen una tasa de éxito significativamente mayor.</a:t>
            </a:r>
          </a:p>
          <a:p>
            <a:pPr>
              <a:buFont typeface="Wingdings" panose="05000000000000000000" pitchFamily="2" charset="2"/>
              <a:buChar char="Ø"/>
            </a:pPr>
            <a:r>
              <a:rPr lang="es-ES" sz="2400" b="1" dirty="0"/>
              <a:t>Adopta metodologías ágiles</a:t>
            </a:r>
            <a:r>
              <a:rPr lang="es-ES" sz="2400" dirty="0"/>
              <a:t>: Los proyectos gestionados con Agile demuestran una mayor tasa de éxito que los gestionados de forma tradicional.</a:t>
            </a:r>
          </a:p>
          <a:p>
            <a:pPr>
              <a:buFont typeface="Wingdings" panose="05000000000000000000" pitchFamily="2" charset="2"/>
              <a:buChar char="Ø"/>
            </a:pPr>
            <a:endParaRPr lang="es-ES" sz="2400" dirty="0"/>
          </a:p>
          <a:p>
            <a:pPr>
              <a:buFont typeface="Wingdings" panose="05000000000000000000" pitchFamily="2" charset="2"/>
              <a:buChar char="Ø"/>
            </a:pPr>
            <a:endParaRPr lang="es-ES" sz="2400" dirty="0"/>
          </a:p>
        </p:txBody>
      </p:sp>
    </p:spTree>
    <p:extLst>
      <p:ext uri="{BB962C8B-B14F-4D97-AF65-F5344CB8AC3E}">
        <p14:creationId xmlns:p14="http://schemas.microsoft.com/office/powerpoint/2010/main" val="101141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Planificación</a:t>
            </a:r>
          </a:p>
        </p:txBody>
      </p:sp>
      <p:sp>
        <p:nvSpPr>
          <p:cNvPr id="3" name="Marcador de texto 2"/>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743463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Planificación</a:t>
            </a:r>
          </a:p>
        </p:txBody>
      </p:sp>
      <p:sp>
        <p:nvSpPr>
          <p:cNvPr id="3" name="Marcador de contenido 2"/>
          <p:cNvSpPr>
            <a:spLocks noGrp="1"/>
          </p:cNvSpPr>
          <p:nvPr>
            <p:ph idx="1"/>
          </p:nvPr>
        </p:nvSpPr>
        <p:spPr>
          <a:xfrm>
            <a:off x="1097280" y="1845733"/>
            <a:ext cx="10058400" cy="4477794"/>
          </a:xfrm>
        </p:spPr>
        <p:txBody>
          <a:bodyPr>
            <a:normAutofit lnSpcReduction="10000"/>
          </a:bodyPr>
          <a:lstStyle/>
          <a:p>
            <a:pPr marL="0" indent="0" algn="just">
              <a:buSzPct val="7000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i="1" dirty="0">
                <a:solidFill>
                  <a:srgbClr val="000000"/>
                </a:solidFill>
              </a:rPr>
              <a:t>“Distribuye estimaciones de esfuerzo a través de la duración planificada del proyecto al asignar el esfuerzo a tareas específicas de ISW.”</a:t>
            </a:r>
          </a:p>
          <a:p>
            <a:pPr marL="0" indent="0" algn="just">
              <a:buSzPct val="7000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600" i="1" dirty="0">
                <a:solidFill>
                  <a:srgbClr val="000000"/>
                </a:solidFill>
              </a:rPr>
              <a:t>“Identificación de </a:t>
            </a:r>
            <a:r>
              <a:rPr lang="es-ES" sz="2600" i="1" dirty="0">
                <a:solidFill>
                  <a:srgbClr val="FF0000"/>
                </a:solidFill>
              </a:rPr>
              <a:t>tareas</a:t>
            </a:r>
            <a:r>
              <a:rPr lang="es-ES" sz="2600" i="1" dirty="0">
                <a:solidFill>
                  <a:srgbClr val="000000"/>
                </a:solidFill>
              </a:rPr>
              <a:t>, asignación de </a:t>
            </a:r>
            <a:r>
              <a:rPr lang="es-ES" sz="2600" i="1" dirty="0">
                <a:solidFill>
                  <a:srgbClr val="FF0000"/>
                </a:solidFill>
              </a:rPr>
              <a:t>tiempos</a:t>
            </a:r>
            <a:r>
              <a:rPr lang="es-ES" sz="2600" i="1" dirty="0">
                <a:solidFill>
                  <a:srgbClr val="000000"/>
                </a:solidFill>
              </a:rPr>
              <a:t> y </a:t>
            </a:r>
            <a:r>
              <a:rPr lang="es-ES" sz="2600" i="1" dirty="0">
                <a:solidFill>
                  <a:srgbClr val="FF0000"/>
                </a:solidFill>
              </a:rPr>
              <a:t>recursos</a:t>
            </a:r>
            <a:r>
              <a:rPr lang="es-ES" sz="2600" i="1" dirty="0">
                <a:solidFill>
                  <a:srgbClr val="000000"/>
                </a:solidFill>
              </a:rPr>
              <a:t> a dichas tareas y planificación de la secuencia de ejecución de forma que el tiempo de desarrollo del proyecto sea mínimo.”</a:t>
            </a:r>
          </a:p>
          <a:p>
            <a:pPr marL="0" indent="0" algn="just">
              <a:buSzPct val="7000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s-MX" sz="2600" i="1" dirty="0">
                <a:solidFill>
                  <a:srgbClr val="000000"/>
                </a:solidFill>
              </a:rPr>
              <a:t>"La definición de objetivos y la determinación de los medios para alcanzarlos; es fundamentalmente analizar por anticipado los problemas, planear posibles soluciones y señalar los pasos necesarios para llegar eficientemente a los objetivos que la solución elegida define".</a:t>
            </a:r>
            <a:r>
              <a:rPr lang="en-US" sz="2600" i="1" dirty="0">
                <a:solidFill>
                  <a:srgbClr val="000000"/>
                </a:solidFill>
              </a:rPr>
              <a:t> </a:t>
            </a:r>
          </a:p>
          <a:p>
            <a:pPr marL="0" indent="0" algn="just">
              <a:buSzPct val="7000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_tradnl" sz="2600" i="1" dirty="0">
                <a:solidFill>
                  <a:srgbClr val="000000"/>
                </a:solidFill>
              </a:rPr>
              <a:t>“Es el proceso de tareas secuenciales y recursos para completar los objetivos del proyecto”.</a:t>
            </a:r>
          </a:p>
        </p:txBody>
      </p:sp>
    </p:spTree>
    <p:extLst>
      <p:ext uri="{BB962C8B-B14F-4D97-AF65-F5344CB8AC3E}">
        <p14:creationId xmlns:p14="http://schemas.microsoft.com/office/powerpoint/2010/main" val="228719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s-ES_tradnl" dirty="0"/>
              <a:t>Planificar es decidir de antemano:</a:t>
            </a:r>
          </a:p>
        </p:txBody>
      </p:sp>
      <p:sp>
        <p:nvSpPr>
          <p:cNvPr id="49155" name="Rectangle 3"/>
          <p:cNvSpPr>
            <a:spLocks noGrp="1" noChangeArrowheads="1"/>
          </p:cNvSpPr>
          <p:nvPr>
            <p:ph idx="1"/>
          </p:nvPr>
        </p:nvSpPr>
        <p:spPr/>
        <p:txBody>
          <a:bodyPr>
            <a:normAutofit/>
          </a:bodyPr>
          <a:lstStyle/>
          <a:p>
            <a:pPr>
              <a:buFont typeface="Wingdings" panose="05000000000000000000" pitchFamily="2" charset="2"/>
              <a:buNone/>
            </a:pPr>
            <a:endParaRPr lang="es-ES_tradnl" sz="2800" dirty="0"/>
          </a:p>
          <a:p>
            <a:pPr>
              <a:lnSpc>
                <a:spcPct val="140000"/>
              </a:lnSpc>
              <a:buFont typeface="Wingdings" panose="05000000000000000000" pitchFamily="2" charset="2"/>
              <a:buChar char="Ø"/>
            </a:pPr>
            <a:r>
              <a:rPr lang="es-ES_tradnl" sz="2800" b="1" dirty="0"/>
              <a:t>QUÉ </a:t>
            </a:r>
            <a:r>
              <a:rPr lang="es-ES_tradnl" sz="2800" dirty="0"/>
              <a:t>hay que hacer</a:t>
            </a:r>
          </a:p>
          <a:p>
            <a:pPr>
              <a:lnSpc>
                <a:spcPct val="140000"/>
              </a:lnSpc>
              <a:buFont typeface="Wingdings" panose="05000000000000000000" pitchFamily="2" charset="2"/>
              <a:buChar char="Ø"/>
            </a:pPr>
            <a:r>
              <a:rPr lang="es-ES_tradnl" sz="2800" b="1" dirty="0"/>
              <a:t>CÓMO </a:t>
            </a:r>
            <a:r>
              <a:rPr lang="es-ES_tradnl" sz="2800" dirty="0"/>
              <a:t>hay que hacerlo</a:t>
            </a:r>
          </a:p>
          <a:p>
            <a:pPr>
              <a:lnSpc>
                <a:spcPct val="140000"/>
              </a:lnSpc>
              <a:buFont typeface="Wingdings" panose="05000000000000000000" pitchFamily="2" charset="2"/>
              <a:buChar char="Ø"/>
            </a:pPr>
            <a:r>
              <a:rPr lang="es-ES_tradnl" sz="2800" b="1" dirty="0"/>
              <a:t>CUÁNDO </a:t>
            </a:r>
            <a:r>
              <a:rPr lang="es-ES_tradnl" sz="2800" dirty="0"/>
              <a:t>se va a hacer</a:t>
            </a:r>
          </a:p>
          <a:p>
            <a:pPr>
              <a:lnSpc>
                <a:spcPct val="140000"/>
              </a:lnSpc>
              <a:buFont typeface="Wingdings" panose="05000000000000000000" pitchFamily="2" charset="2"/>
              <a:buChar char="Ø"/>
            </a:pPr>
            <a:r>
              <a:rPr lang="es-ES_tradnl" sz="2800" b="1" dirty="0"/>
              <a:t>QUIÉN </a:t>
            </a:r>
            <a:r>
              <a:rPr lang="es-ES_tradnl" sz="2800" dirty="0"/>
              <a:t>lo va a hacer</a:t>
            </a:r>
          </a:p>
          <a:p>
            <a:pPr>
              <a:buFont typeface="Wingdings" panose="05000000000000000000" pitchFamily="2" charset="2"/>
              <a:buNone/>
            </a:pPr>
            <a:endParaRPr lang="es-ES_tradnl" sz="2800" dirty="0"/>
          </a:p>
        </p:txBody>
      </p:sp>
      <p:sp>
        <p:nvSpPr>
          <p:cNvPr id="3" name="Marcador de fecha 2"/>
          <p:cNvSpPr>
            <a:spLocks noGrp="1"/>
          </p:cNvSpPr>
          <p:nvPr>
            <p:ph type="dt" sz="half" idx="10"/>
          </p:nvPr>
        </p:nvSpPr>
        <p:spPr/>
        <p:txBody>
          <a:bodyPr/>
          <a:lstStyle/>
          <a:p>
            <a:r>
              <a:rPr lang="es-ES"/>
              <a:t>MSc. Aracelys García Armenteros</a:t>
            </a:r>
          </a:p>
        </p:txBody>
      </p:sp>
      <p:sp>
        <p:nvSpPr>
          <p:cNvPr id="7" name="Marcador de pie de página 2">
            <a:extLst>
              <a:ext uri="{FF2B5EF4-FFF2-40B4-BE49-F238E27FC236}">
                <a16:creationId xmlns:a16="http://schemas.microsoft.com/office/drawing/2014/main" xmlns="" id="{4A109177-A190-462A-80A6-876B3167CB64}"/>
              </a:ext>
            </a:extLst>
          </p:cNvPr>
          <p:cNvSpPr>
            <a:spLocks noGrp="1"/>
          </p:cNvSpPr>
          <p:nvPr>
            <p:ph type="ftr" sz="quarter" idx="11"/>
          </p:nvPr>
        </p:nvSpPr>
        <p:spPr>
          <a:xfrm>
            <a:off x="3686185" y="6459785"/>
            <a:ext cx="4822804" cy="365125"/>
          </a:xfrm>
        </p:spPr>
        <p:txBody>
          <a:bodyPr/>
          <a:lstStyle/>
          <a:p>
            <a:r>
              <a:rPr lang="es-ES_tradnl" dirty="0"/>
              <a:t>Gestión de proyectos y de riesgos</a:t>
            </a:r>
            <a:endParaRPr lang="es-ES" dirty="0"/>
          </a:p>
        </p:txBody>
      </p:sp>
    </p:spTree>
    <p:extLst>
      <p:ext uri="{BB962C8B-B14F-4D97-AF65-F5344CB8AC3E}">
        <p14:creationId xmlns:p14="http://schemas.microsoft.com/office/powerpoint/2010/main" val="2919466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vert="horz" lIns="91440" tIns="45720" rIns="91440" bIns="45720" rtlCol="0" anchor="b">
            <a:normAutofit/>
          </a:bodyPr>
          <a:lstStyle/>
          <a:p>
            <a:r>
              <a:rPr lang="es-ES" dirty="0"/>
              <a:t>¿Cuándo se planifica?</a:t>
            </a:r>
          </a:p>
        </p:txBody>
      </p:sp>
      <p:graphicFrame>
        <p:nvGraphicFramePr>
          <p:cNvPr id="4" name="5 Marcador de contenido"/>
          <p:cNvGraphicFramePr>
            <a:graphicFrameLocks/>
          </p:cNvGraphicFramePr>
          <p:nvPr>
            <p:extLst>
              <p:ext uri="{D42A27DB-BD31-4B8C-83A1-F6EECF244321}">
                <p14:modId xmlns:p14="http://schemas.microsoft.com/office/powerpoint/2010/main" val="4291631699"/>
              </p:ext>
            </p:extLst>
          </p:nvPr>
        </p:nvGraphicFramePr>
        <p:xfrm>
          <a:off x="1981201" y="836613"/>
          <a:ext cx="8404225" cy="5683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ángulo 4"/>
          <p:cNvSpPr/>
          <p:nvPr/>
        </p:nvSpPr>
        <p:spPr>
          <a:xfrm>
            <a:off x="1906073" y="5321001"/>
            <a:ext cx="8551572" cy="1077218"/>
          </a:xfrm>
          <a:prstGeom prst="rect">
            <a:avLst/>
          </a:prstGeom>
        </p:spPr>
        <p:txBody>
          <a:bodyPr wrap="square">
            <a:spAutoFit/>
          </a:bodyPr>
          <a:lstStyle/>
          <a:p>
            <a:pPr algn="ctr"/>
            <a:r>
              <a:rPr lang="es-ES" sz="3200" b="1" dirty="0">
                <a:solidFill>
                  <a:srgbClr val="000000"/>
                </a:solidFill>
              </a:rPr>
              <a:t>La planificación de software se realiza según las necesidades y características del proyecto.</a:t>
            </a:r>
          </a:p>
        </p:txBody>
      </p:sp>
    </p:spTree>
    <p:extLst>
      <p:ext uri="{BB962C8B-B14F-4D97-AF65-F5344CB8AC3E}">
        <p14:creationId xmlns:p14="http://schemas.microsoft.com/office/powerpoint/2010/main" val="198760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Principios básicos</a:t>
            </a:r>
          </a:p>
        </p:txBody>
      </p:sp>
      <p:sp>
        <p:nvSpPr>
          <p:cNvPr id="3" name="Marcador de contenido 2"/>
          <p:cNvSpPr>
            <a:spLocks noGrp="1"/>
          </p:cNvSpPr>
          <p:nvPr>
            <p:ph idx="1"/>
          </p:nvPr>
        </p:nvSpPr>
        <p:spPr>
          <a:xfrm>
            <a:off x="1097280" y="1845733"/>
            <a:ext cx="10058400" cy="4452035"/>
          </a:xfrm>
        </p:spPr>
        <p:txBody>
          <a:bodyPr>
            <a:normAutofit/>
          </a:bodyPr>
          <a:lstStyle/>
          <a:p>
            <a:pPr algn="just">
              <a:buFont typeface="Wingdings" panose="05000000000000000000" pitchFamily="2" charset="2"/>
              <a:buChar char="Ø"/>
            </a:pPr>
            <a:r>
              <a:rPr lang="es-ES" sz="2600" b="1" dirty="0">
                <a:solidFill>
                  <a:srgbClr val="000000"/>
                </a:solidFill>
                <a:ea typeface="Tahoma" panose="020B0604030504040204" pitchFamily="34" charset="0"/>
                <a:cs typeface="Tahoma" panose="020B0604030504040204" pitchFamily="34" charset="0"/>
              </a:rPr>
              <a:t>Compartimentación: D</a:t>
            </a:r>
            <a:r>
              <a:rPr lang="es-ES" sz="2600" dirty="0">
                <a:solidFill>
                  <a:srgbClr val="000000"/>
                </a:solidFill>
                <a:ea typeface="Tahoma" panose="020B0604030504040204" pitchFamily="34" charset="0"/>
                <a:cs typeface="Tahoma" panose="020B0604030504040204" pitchFamily="34" charset="0"/>
              </a:rPr>
              <a:t>escomposición del proyecto en un número manejable de tareas.</a:t>
            </a:r>
          </a:p>
          <a:p>
            <a:pPr algn="just">
              <a:buFont typeface="Wingdings" panose="05000000000000000000" pitchFamily="2" charset="2"/>
              <a:buChar char="Ø"/>
            </a:pPr>
            <a:r>
              <a:rPr lang="es-ES" sz="2600" b="1" dirty="0">
                <a:solidFill>
                  <a:srgbClr val="000000"/>
                </a:solidFill>
                <a:ea typeface="Tahoma" panose="020B0604030504040204" pitchFamily="34" charset="0"/>
                <a:cs typeface="Tahoma" panose="020B0604030504040204" pitchFamily="34" charset="0"/>
              </a:rPr>
              <a:t>Interdependencia: </a:t>
            </a:r>
            <a:r>
              <a:rPr lang="es-ES" sz="2600" dirty="0">
                <a:solidFill>
                  <a:srgbClr val="000000"/>
                </a:solidFill>
                <a:ea typeface="Tahoma" panose="020B0604030504040204" pitchFamily="34" charset="0"/>
                <a:cs typeface="Tahoma" panose="020B0604030504040204" pitchFamily="34" charset="0"/>
              </a:rPr>
              <a:t>Se debe determinar las dependencias de cada tarea.</a:t>
            </a:r>
          </a:p>
          <a:p>
            <a:pPr algn="just">
              <a:buFont typeface="Wingdings" panose="05000000000000000000" pitchFamily="2" charset="2"/>
              <a:buChar char="Ø"/>
            </a:pPr>
            <a:r>
              <a:rPr lang="es-ES" sz="2600" b="1" dirty="0">
                <a:solidFill>
                  <a:srgbClr val="000000"/>
                </a:solidFill>
                <a:ea typeface="Tahoma" panose="020B0604030504040204" pitchFamily="34" charset="0"/>
                <a:cs typeface="Tahoma" panose="020B0604030504040204" pitchFamily="34" charset="0"/>
              </a:rPr>
              <a:t>Asignación de tiempo: </a:t>
            </a:r>
            <a:r>
              <a:rPr lang="es-ES" sz="2600" dirty="0">
                <a:solidFill>
                  <a:srgbClr val="000000"/>
                </a:solidFill>
                <a:ea typeface="Tahoma" panose="020B0604030504040204" pitchFamily="34" charset="0"/>
                <a:cs typeface="Tahoma" panose="020B0604030504040204" pitchFamily="34" charset="0"/>
              </a:rPr>
              <a:t>A cada tarea se le debe asignar un cierto número de unidades de trabajo, una fecha de  inicio y otra de finalización.</a:t>
            </a:r>
          </a:p>
          <a:p>
            <a:pPr algn="just">
              <a:buFont typeface="Wingdings" panose="05000000000000000000" pitchFamily="2" charset="2"/>
              <a:buChar char="Ø"/>
            </a:pPr>
            <a:r>
              <a:rPr lang="es-ES" sz="2600" b="1" dirty="0">
                <a:solidFill>
                  <a:srgbClr val="000000"/>
                </a:solidFill>
                <a:ea typeface="Tahoma" panose="020B0604030504040204" pitchFamily="34" charset="0"/>
                <a:cs typeface="Tahoma" panose="020B0604030504040204" pitchFamily="34" charset="0"/>
              </a:rPr>
              <a:t>Validación del esfuerzo: </a:t>
            </a:r>
            <a:r>
              <a:rPr lang="es-ES" sz="2600" dirty="0">
                <a:solidFill>
                  <a:srgbClr val="000000"/>
                </a:solidFill>
                <a:ea typeface="Tahoma" panose="020B0604030504040204" pitchFamily="34" charset="0"/>
                <a:cs typeface="Tahoma" panose="020B0604030504040204" pitchFamily="34" charset="0"/>
              </a:rPr>
              <a:t>Asegurar que los técnicos necesarios estarán disponible.</a:t>
            </a:r>
          </a:p>
        </p:txBody>
      </p:sp>
    </p:spTree>
    <p:extLst>
      <p:ext uri="{BB962C8B-B14F-4D97-AF65-F5344CB8AC3E}">
        <p14:creationId xmlns:p14="http://schemas.microsoft.com/office/powerpoint/2010/main" val="1933112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Principios básicos </a:t>
            </a:r>
            <a:r>
              <a:rPr lang="es-ES" sz="2200" dirty="0"/>
              <a:t>(cont.)</a:t>
            </a:r>
          </a:p>
        </p:txBody>
      </p:sp>
      <p:sp>
        <p:nvSpPr>
          <p:cNvPr id="3" name="Marcador de contenido 2"/>
          <p:cNvSpPr>
            <a:spLocks noGrp="1"/>
          </p:cNvSpPr>
          <p:nvPr>
            <p:ph idx="1"/>
          </p:nvPr>
        </p:nvSpPr>
        <p:spPr>
          <a:xfrm>
            <a:off x="1097280" y="1845733"/>
            <a:ext cx="10058400" cy="4452035"/>
          </a:xfrm>
        </p:spPr>
        <p:txBody>
          <a:bodyPr>
            <a:normAutofit lnSpcReduction="10000"/>
          </a:bodyPr>
          <a:lstStyle/>
          <a:p>
            <a:pPr algn="just">
              <a:buFont typeface="Wingdings" panose="05000000000000000000" pitchFamily="2" charset="2"/>
              <a:buChar char="Ø"/>
            </a:pPr>
            <a:r>
              <a:rPr lang="es-ES" sz="2600" b="1" dirty="0">
                <a:solidFill>
                  <a:srgbClr val="000000"/>
                </a:solidFill>
              </a:rPr>
              <a:t>Responsabilidades definidas: </a:t>
            </a:r>
            <a:r>
              <a:rPr lang="es-ES" sz="2600" dirty="0">
                <a:solidFill>
                  <a:srgbClr val="000000"/>
                </a:solidFill>
              </a:rPr>
              <a:t>Cada tarea debe asignarse a un miembro del proyecto.</a:t>
            </a:r>
          </a:p>
          <a:p>
            <a:pPr algn="just">
              <a:buFont typeface="Wingdings" panose="05000000000000000000" pitchFamily="2" charset="2"/>
              <a:buChar char="Ø"/>
            </a:pPr>
            <a:r>
              <a:rPr lang="es-ES" sz="2600" b="1" dirty="0">
                <a:solidFill>
                  <a:srgbClr val="000000"/>
                </a:solidFill>
              </a:rPr>
              <a:t>Resultados definidos: </a:t>
            </a:r>
            <a:r>
              <a:rPr lang="es-ES" sz="2600" dirty="0">
                <a:solidFill>
                  <a:srgbClr val="000000"/>
                </a:solidFill>
              </a:rPr>
              <a:t>El resultado de cada tarea (producto) deberá estar definido. Los productos se combinan generalmente en entregas.</a:t>
            </a:r>
          </a:p>
          <a:p>
            <a:pPr algn="just">
              <a:buFont typeface="Wingdings" panose="05000000000000000000" pitchFamily="2" charset="2"/>
              <a:buChar char="Ø"/>
            </a:pPr>
            <a:r>
              <a:rPr lang="es-ES" sz="2600" b="1" dirty="0">
                <a:solidFill>
                  <a:srgbClr val="000000"/>
                </a:solidFill>
              </a:rPr>
              <a:t>Hitos definidos: </a:t>
            </a:r>
            <a:r>
              <a:rPr lang="es-ES" sz="2600" dirty="0">
                <a:solidFill>
                  <a:srgbClr val="000000"/>
                </a:solidFill>
              </a:rPr>
              <a:t>Todas las tareas, grupos de tareas deben asociarse con algún hito del  proyecto. Se considera un hito cuando se ha revisado la calidad de uno o más productos y se han aceptado.</a:t>
            </a:r>
          </a:p>
          <a:p>
            <a:pPr algn="just">
              <a:buFont typeface="Wingdings" panose="05000000000000000000" pitchFamily="2" charset="2"/>
              <a:buChar char="Ø"/>
            </a:pPr>
            <a:endParaRPr lang="es-ES" sz="2600" dirty="0">
              <a:solidFill>
                <a:srgbClr val="000000"/>
              </a:solidFill>
            </a:endParaRPr>
          </a:p>
          <a:p>
            <a:pPr algn="just">
              <a:buFont typeface="Wingdings" panose="05000000000000000000" pitchFamily="2" charset="2"/>
              <a:buChar char="Ø"/>
            </a:pPr>
            <a:endParaRPr lang="es-ES" sz="2600" dirty="0">
              <a:solidFill>
                <a:srgbClr val="000000"/>
              </a:solidFill>
            </a:endParaRPr>
          </a:p>
          <a:p>
            <a:pPr marL="0" indent="0" algn="r">
              <a:buNone/>
            </a:pPr>
            <a:r>
              <a:rPr lang="es-ES" sz="2600" dirty="0">
                <a:solidFill>
                  <a:srgbClr val="000000"/>
                </a:solidFill>
              </a:rPr>
              <a:t>(</a:t>
            </a:r>
            <a:r>
              <a:rPr lang="es-ES" sz="2600" dirty="0" err="1">
                <a:solidFill>
                  <a:srgbClr val="000000"/>
                </a:solidFill>
              </a:rPr>
              <a:t>Pressman</a:t>
            </a:r>
            <a:r>
              <a:rPr lang="es-ES" sz="2600" dirty="0">
                <a:solidFill>
                  <a:srgbClr val="000000"/>
                </a:solidFill>
              </a:rPr>
              <a:t>, 2007)</a:t>
            </a:r>
            <a:endParaRPr lang="es-ES" sz="2600" dirty="0"/>
          </a:p>
        </p:txBody>
      </p:sp>
    </p:spTree>
    <p:extLst>
      <p:ext uri="{BB962C8B-B14F-4D97-AF65-F5344CB8AC3E}">
        <p14:creationId xmlns:p14="http://schemas.microsoft.com/office/powerpoint/2010/main" val="3049538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Elipse"/>
          <p:cNvSpPr/>
          <p:nvPr/>
        </p:nvSpPr>
        <p:spPr>
          <a:xfrm>
            <a:off x="6063402" y="1729796"/>
            <a:ext cx="2714625" cy="1357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3" name="7 Elipse"/>
          <p:cNvSpPr/>
          <p:nvPr/>
        </p:nvSpPr>
        <p:spPr>
          <a:xfrm>
            <a:off x="6206277" y="3158546"/>
            <a:ext cx="2714625" cy="1357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4" name="8 Elipse"/>
          <p:cNvSpPr/>
          <p:nvPr/>
        </p:nvSpPr>
        <p:spPr>
          <a:xfrm>
            <a:off x="2420090" y="3158546"/>
            <a:ext cx="2714625" cy="1357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5" name="9 Elipse"/>
          <p:cNvSpPr/>
          <p:nvPr/>
        </p:nvSpPr>
        <p:spPr>
          <a:xfrm>
            <a:off x="2277215" y="1729796"/>
            <a:ext cx="2714625" cy="13573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6" name="4 Elipse"/>
          <p:cNvSpPr/>
          <p:nvPr/>
        </p:nvSpPr>
        <p:spPr>
          <a:xfrm>
            <a:off x="4206026" y="2372733"/>
            <a:ext cx="2643188" cy="14287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7" name="10 Rectángulo"/>
          <p:cNvSpPr/>
          <p:nvPr/>
        </p:nvSpPr>
        <p:spPr>
          <a:xfrm>
            <a:off x="3977426" y="5015920"/>
            <a:ext cx="2976562"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2800" dirty="0">
                <a:solidFill>
                  <a:prstClr val="black"/>
                </a:solidFill>
              </a:rPr>
              <a:t>PLAN DE DESARROLLO</a:t>
            </a:r>
          </a:p>
        </p:txBody>
      </p:sp>
      <p:sp>
        <p:nvSpPr>
          <p:cNvPr id="8" name="12 Flecha abajo"/>
          <p:cNvSpPr/>
          <p:nvPr/>
        </p:nvSpPr>
        <p:spPr>
          <a:xfrm>
            <a:off x="5206151" y="3801484"/>
            <a:ext cx="571500" cy="1214437"/>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9" name="13 CuadroTexto"/>
          <p:cNvSpPr txBox="1">
            <a:spLocks noChangeArrowheads="1"/>
          </p:cNvSpPr>
          <p:nvPr/>
        </p:nvSpPr>
        <p:spPr bwMode="auto">
          <a:xfrm>
            <a:off x="4563215" y="2848984"/>
            <a:ext cx="2428875" cy="523875"/>
          </a:xfrm>
          <a:prstGeom prst="rect">
            <a:avLst/>
          </a:prstGeom>
          <a:noFill/>
          <a:ln w="9525">
            <a:noFill/>
            <a:miter lim="800000"/>
            <a:headEnd/>
            <a:tailEnd/>
          </a:ln>
        </p:spPr>
        <p:txBody>
          <a:bodyPr>
            <a:spAutoFit/>
          </a:bodyPr>
          <a:lstStyle/>
          <a:p>
            <a:r>
              <a:rPr lang="es-ES" sz="2800" dirty="0">
                <a:latin typeface="Calibri" pitchFamily="34" charset="0"/>
              </a:rPr>
              <a:t>Planificación</a:t>
            </a:r>
          </a:p>
        </p:txBody>
      </p:sp>
      <p:sp>
        <p:nvSpPr>
          <p:cNvPr id="10" name="14 CuadroTexto"/>
          <p:cNvSpPr txBox="1">
            <a:spLocks noChangeArrowheads="1"/>
          </p:cNvSpPr>
          <p:nvPr/>
        </p:nvSpPr>
        <p:spPr bwMode="auto">
          <a:xfrm>
            <a:off x="6920651" y="1872670"/>
            <a:ext cx="2000250" cy="954088"/>
          </a:xfrm>
          <a:prstGeom prst="rect">
            <a:avLst/>
          </a:prstGeom>
          <a:noFill/>
          <a:ln w="9525">
            <a:noFill/>
            <a:miter lim="800000"/>
            <a:headEnd/>
            <a:tailEnd/>
          </a:ln>
        </p:spPr>
        <p:txBody>
          <a:bodyPr>
            <a:spAutoFit/>
          </a:bodyPr>
          <a:lstStyle/>
          <a:p>
            <a:r>
              <a:rPr lang="es-ES" sz="2800">
                <a:latin typeface="Calibri" pitchFamily="34" charset="0"/>
              </a:rPr>
              <a:t>Gestión riesgo</a:t>
            </a:r>
          </a:p>
        </p:txBody>
      </p:sp>
      <p:sp>
        <p:nvSpPr>
          <p:cNvPr id="11" name="15 CuadroTexto"/>
          <p:cNvSpPr txBox="1">
            <a:spLocks noChangeArrowheads="1"/>
          </p:cNvSpPr>
          <p:nvPr/>
        </p:nvSpPr>
        <p:spPr bwMode="auto">
          <a:xfrm>
            <a:off x="6206276" y="3158545"/>
            <a:ext cx="2928938" cy="1384300"/>
          </a:xfrm>
          <a:prstGeom prst="rect">
            <a:avLst/>
          </a:prstGeom>
          <a:noFill/>
          <a:ln w="9525">
            <a:noFill/>
            <a:miter lim="800000"/>
            <a:headEnd/>
            <a:tailEnd/>
          </a:ln>
        </p:spPr>
        <p:txBody>
          <a:bodyPr>
            <a:spAutoFit/>
          </a:bodyPr>
          <a:lstStyle/>
          <a:p>
            <a:pPr algn="ctr"/>
            <a:r>
              <a:rPr lang="es-ES" sz="2800">
                <a:latin typeface="Calibri" pitchFamily="34" charset="0"/>
              </a:rPr>
              <a:t>Gestión de configuración y cambio</a:t>
            </a:r>
          </a:p>
        </p:txBody>
      </p:sp>
      <p:sp>
        <p:nvSpPr>
          <p:cNvPr id="12" name="16 CuadroTexto"/>
          <p:cNvSpPr txBox="1">
            <a:spLocks noChangeArrowheads="1"/>
          </p:cNvSpPr>
          <p:nvPr/>
        </p:nvSpPr>
        <p:spPr bwMode="auto">
          <a:xfrm>
            <a:off x="2991589" y="1872670"/>
            <a:ext cx="1928812" cy="954088"/>
          </a:xfrm>
          <a:prstGeom prst="rect">
            <a:avLst/>
          </a:prstGeom>
          <a:noFill/>
          <a:ln w="9525">
            <a:noFill/>
            <a:miter lim="800000"/>
            <a:headEnd/>
            <a:tailEnd/>
          </a:ln>
        </p:spPr>
        <p:txBody>
          <a:bodyPr>
            <a:spAutoFit/>
          </a:bodyPr>
          <a:lstStyle/>
          <a:p>
            <a:r>
              <a:rPr lang="es-ES" sz="2800">
                <a:latin typeface="Calibri" pitchFamily="34" charset="0"/>
              </a:rPr>
              <a:t>Gestión Calidad</a:t>
            </a:r>
          </a:p>
        </p:txBody>
      </p:sp>
      <p:sp>
        <p:nvSpPr>
          <p:cNvPr id="13" name="17 CuadroTexto"/>
          <p:cNvSpPr txBox="1">
            <a:spLocks noChangeArrowheads="1"/>
          </p:cNvSpPr>
          <p:nvPr/>
        </p:nvSpPr>
        <p:spPr bwMode="auto">
          <a:xfrm>
            <a:off x="2777277" y="3587171"/>
            <a:ext cx="1857375" cy="523875"/>
          </a:xfrm>
          <a:prstGeom prst="rect">
            <a:avLst/>
          </a:prstGeom>
          <a:noFill/>
          <a:ln w="9525">
            <a:noFill/>
            <a:miter lim="800000"/>
            <a:headEnd/>
            <a:tailEnd/>
          </a:ln>
        </p:spPr>
        <p:txBody>
          <a:bodyPr>
            <a:spAutoFit/>
          </a:bodyPr>
          <a:lstStyle/>
          <a:p>
            <a:r>
              <a:rPr lang="es-ES" sz="2800">
                <a:latin typeface="Calibri" pitchFamily="34" charset="0"/>
              </a:rPr>
              <a:t>Estimación</a:t>
            </a:r>
          </a:p>
        </p:txBody>
      </p:sp>
      <p:sp>
        <p:nvSpPr>
          <p:cNvPr id="14" name="Título 1"/>
          <p:cNvSpPr txBox="1">
            <a:spLocks/>
          </p:cNvSpPr>
          <p:nvPr/>
        </p:nvSpPr>
        <p:spPr>
          <a:xfrm>
            <a:off x="1097280" y="412495"/>
            <a:ext cx="10058400" cy="1198973"/>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dirty="0"/>
              <a:t>¿Es la planificación una tarea aislada?</a:t>
            </a:r>
            <a:endParaRPr lang="es-ES" sz="2200" dirty="0"/>
          </a:p>
        </p:txBody>
      </p:sp>
    </p:spTree>
    <p:extLst>
      <p:ext uri="{BB962C8B-B14F-4D97-AF65-F5344CB8AC3E}">
        <p14:creationId xmlns:p14="http://schemas.microsoft.com/office/powerpoint/2010/main" val="384062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down)">
                                      <p:cBhvr>
                                        <p:cTn id="31" dur="500"/>
                                        <p:tgtEl>
                                          <p:spTgt spid="10"/>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down)">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p:bldP spid="10" grpId="0"/>
      <p:bldP spid="11" grpId="0"/>
      <p:bldP spid="12"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79" y="286603"/>
            <a:ext cx="10339977" cy="1450757"/>
          </a:xfrm>
        </p:spPr>
        <p:txBody>
          <a:bodyPr/>
          <a:lstStyle/>
          <a:p>
            <a:r>
              <a:rPr lang="es-ES" dirty="0"/>
              <a:t>¿Qué se planifica en el plan de desarrollo?</a:t>
            </a:r>
          </a:p>
        </p:txBody>
      </p:sp>
      <p:sp>
        <p:nvSpPr>
          <p:cNvPr id="3" name="Marcador de contenido 2"/>
          <p:cNvSpPr>
            <a:spLocks noGrp="1"/>
          </p:cNvSpPr>
          <p:nvPr>
            <p:ph idx="1"/>
          </p:nvPr>
        </p:nvSpPr>
        <p:spPr/>
        <p:txBody>
          <a:bodyPr>
            <a:noAutofit/>
          </a:bodyPr>
          <a:lstStyle/>
          <a:p>
            <a:pPr algn="just">
              <a:buFont typeface="Wingdings" panose="05000000000000000000" pitchFamily="2" charset="2"/>
              <a:buChar char="Ø"/>
            </a:pPr>
            <a:r>
              <a:rPr lang="es-ES" sz="2600" dirty="0">
                <a:solidFill>
                  <a:srgbClr val="000000"/>
                </a:solidFill>
                <a:ea typeface="Tahoma" panose="020B0604030504040204" pitchFamily="34" charset="0"/>
                <a:cs typeface="Tahoma" panose="020B0604030504040204" pitchFamily="34" charset="0"/>
              </a:rPr>
              <a:t>Tareas (</a:t>
            </a:r>
            <a:r>
              <a:rPr lang="es-ES" sz="2800" dirty="0">
                <a:solidFill>
                  <a:srgbClr val="000000"/>
                </a:solidFill>
                <a:ea typeface="Tahoma" panose="020B0604030504040204" pitchFamily="34" charset="0"/>
                <a:cs typeface="Tahoma" panose="020B0604030504040204" pitchFamily="34" charset="0"/>
              </a:rPr>
              <a:t>posibles de probar o verificar </a:t>
            </a:r>
            <a:r>
              <a:rPr lang="es-ES" sz="2600" dirty="0">
                <a:solidFill>
                  <a:srgbClr val="000000"/>
                </a:solidFill>
                <a:ea typeface="Tahoma" panose="020B0604030504040204" pitchFamily="34" charset="0"/>
                <a:cs typeface="Tahoma" panose="020B0604030504040204" pitchFamily="34" charset="0"/>
              </a:rPr>
              <a:t>)</a:t>
            </a:r>
          </a:p>
          <a:p>
            <a:pPr lvl="1" algn="just">
              <a:buFont typeface="Arial" panose="020B0604020202020204" pitchFamily="34" charset="0"/>
              <a:buChar char="•"/>
            </a:pPr>
            <a:r>
              <a:rPr lang="es-ES" sz="2400" dirty="0">
                <a:solidFill>
                  <a:srgbClr val="000000"/>
                </a:solidFill>
                <a:ea typeface="Tahoma" panose="020B0604030504040204" pitchFamily="34" charset="0"/>
                <a:cs typeface="Tahoma" panose="020B0604030504040204" pitchFamily="34" charset="0"/>
              </a:rPr>
              <a:t>Precedencia</a:t>
            </a:r>
          </a:p>
          <a:p>
            <a:pPr lvl="1" algn="just">
              <a:buFont typeface="Arial" panose="020B0604020202020204" pitchFamily="34" charset="0"/>
              <a:buChar char="•"/>
            </a:pPr>
            <a:r>
              <a:rPr lang="es-ES" sz="2400" dirty="0">
                <a:solidFill>
                  <a:srgbClr val="000000"/>
                </a:solidFill>
                <a:ea typeface="Tahoma" panose="020B0604030504040204" pitchFamily="34" charset="0"/>
                <a:cs typeface="Tahoma" panose="020B0604030504040204" pitchFamily="34" charset="0"/>
              </a:rPr>
              <a:t> fecha  de inicio y final</a:t>
            </a:r>
          </a:p>
          <a:p>
            <a:pPr algn="just">
              <a:buFont typeface="Wingdings" panose="05000000000000000000" pitchFamily="2" charset="2"/>
              <a:buChar char="Ø"/>
            </a:pPr>
            <a:r>
              <a:rPr lang="es-ES" sz="2600" dirty="0">
                <a:solidFill>
                  <a:srgbClr val="000000"/>
                </a:solidFill>
                <a:ea typeface="Tahoma" panose="020B0604030504040204" pitchFamily="34" charset="0"/>
                <a:cs typeface="Tahoma" panose="020B0604030504040204" pitchFamily="34" charset="0"/>
              </a:rPr>
              <a:t>Tiempo</a:t>
            </a:r>
          </a:p>
          <a:p>
            <a:pPr algn="just">
              <a:buFont typeface="Wingdings" panose="05000000000000000000" pitchFamily="2" charset="2"/>
              <a:buChar char="Ø"/>
            </a:pPr>
            <a:r>
              <a:rPr lang="es-ES" sz="2600" dirty="0">
                <a:solidFill>
                  <a:srgbClr val="000000"/>
                </a:solidFill>
                <a:ea typeface="Tahoma" panose="020B0604030504040204" pitchFamily="34" charset="0"/>
                <a:cs typeface="Tahoma" panose="020B0604030504040204" pitchFamily="34" charset="0"/>
              </a:rPr>
              <a:t>Recursos </a:t>
            </a:r>
          </a:p>
          <a:p>
            <a:pPr algn="just">
              <a:buFont typeface="Wingdings" panose="05000000000000000000" pitchFamily="2" charset="2"/>
              <a:buChar char="Ø"/>
            </a:pPr>
            <a:r>
              <a:rPr lang="es-ES" sz="2600" dirty="0">
                <a:solidFill>
                  <a:srgbClr val="000000"/>
                </a:solidFill>
                <a:ea typeface="Tahoma" panose="020B0604030504040204" pitchFamily="34" charset="0"/>
                <a:cs typeface="Tahoma" panose="020B0604030504040204" pitchFamily="34" charset="0"/>
              </a:rPr>
              <a:t>Personas</a:t>
            </a:r>
          </a:p>
          <a:p>
            <a:pPr algn="just">
              <a:buFont typeface="Wingdings" panose="05000000000000000000" pitchFamily="2" charset="2"/>
              <a:buChar char="Ø"/>
            </a:pPr>
            <a:r>
              <a:rPr lang="es-ES" sz="2600" b="1" dirty="0">
                <a:solidFill>
                  <a:srgbClr val="000000"/>
                </a:solidFill>
                <a:ea typeface="Tahoma" panose="020B0604030504040204" pitchFamily="34" charset="0"/>
                <a:cs typeface="Tahoma" panose="020B0604030504040204" pitchFamily="34" charset="0"/>
              </a:rPr>
              <a:t>Hitos: </a:t>
            </a:r>
            <a:r>
              <a:rPr lang="es-ES" sz="2600" dirty="0">
                <a:solidFill>
                  <a:srgbClr val="000000"/>
                </a:solidFill>
                <a:ea typeface="Tahoma" panose="020B0604030504040204" pitchFamily="34" charset="0"/>
                <a:cs typeface="Tahoma" panose="020B0604030504040204" pitchFamily="34" charset="0"/>
              </a:rPr>
              <a:t>Momentos importantes en el proyecto en que se tiene que lograr un objetivo macro.</a:t>
            </a:r>
          </a:p>
          <a:p>
            <a:endParaRPr lang="es-ES" sz="2600" dirty="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493420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79" y="286603"/>
            <a:ext cx="10339977" cy="1450757"/>
          </a:xfrm>
        </p:spPr>
        <p:txBody>
          <a:bodyPr/>
          <a:lstStyle/>
          <a:p>
            <a:r>
              <a:rPr lang="es-ES" dirty="0"/>
              <a:t>Implementación de una tienda virtual</a:t>
            </a:r>
          </a:p>
        </p:txBody>
      </p:sp>
      <p:graphicFrame>
        <p:nvGraphicFramePr>
          <p:cNvPr id="8" name="Content Placeholder 7">
            <a:extLst>
              <a:ext uri="{FF2B5EF4-FFF2-40B4-BE49-F238E27FC236}">
                <a16:creationId xmlns:a16="http://schemas.microsoft.com/office/drawing/2014/main" xmlns="" id="{62E33119-AAA3-4A9B-A070-7A31F9A8918C}"/>
              </a:ext>
            </a:extLst>
          </p:cNvPr>
          <p:cNvGraphicFramePr>
            <a:graphicFrameLocks noGrp="1"/>
          </p:cNvGraphicFramePr>
          <p:nvPr>
            <p:ph idx="1"/>
            <p:extLst>
              <p:ext uri="{D42A27DB-BD31-4B8C-83A1-F6EECF244321}">
                <p14:modId xmlns:p14="http://schemas.microsoft.com/office/powerpoint/2010/main" val="2352549651"/>
              </p:ext>
            </p:extLst>
          </p:nvPr>
        </p:nvGraphicFramePr>
        <p:xfrm>
          <a:off x="5559552" y="2236409"/>
          <a:ext cx="3475341" cy="3698238"/>
        </p:xfrm>
        <a:graphic>
          <a:graphicData uri="http://schemas.openxmlformats.org/drawingml/2006/table">
            <a:tbl>
              <a:tblPr firstRow="1" bandRow="1">
                <a:tableStyleId>{5C22544A-7EE6-4342-B048-85BDC9FD1C3A}</a:tableStyleId>
              </a:tblPr>
              <a:tblGrid>
                <a:gridCol w="3475341">
                  <a:extLst>
                    <a:ext uri="{9D8B030D-6E8A-4147-A177-3AD203B41FA5}">
                      <a16:colId xmlns:a16="http://schemas.microsoft.com/office/drawing/2014/main" xmlns="" val="2610446320"/>
                    </a:ext>
                  </a:extLst>
                </a:gridCol>
              </a:tblGrid>
              <a:tr h="489373">
                <a:tc>
                  <a:txBody>
                    <a:bodyPr/>
                    <a:lstStyle/>
                    <a:p>
                      <a:r>
                        <a:rPr lang="es-MX" sz="2200" dirty="0"/>
                        <a:t>Hito 1*</a:t>
                      </a:r>
                    </a:p>
                  </a:txBody>
                  <a:tcPr/>
                </a:tc>
                <a:extLst>
                  <a:ext uri="{0D108BD9-81ED-4DB2-BD59-A6C34878D82A}">
                    <a16:rowId xmlns:a16="http://schemas.microsoft.com/office/drawing/2014/main" xmlns="" val="2792945772"/>
                  </a:ext>
                </a:extLst>
              </a:tr>
              <a:tr h="489373">
                <a:tc>
                  <a:txBody>
                    <a:bodyPr/>
                    <a:lstStyle/>
                    <a:p>
                      <a:r>
                        <a:rPr lang="es-MX" sz="2200" b="1" dirty="0"/>
                        <a:t>Gestionar usuarios</a:t>
                      </a:r>
                    </a:p>
                  </a:txBody>
                  <a:tcPr/>
                </a:tc>
                <a:extLst>
                  <a:ext uri="{0D108BD9-81ED-4DB2-BD59-A6C34878D82A}">
                    <a16:rowId xmlns:a16="http://schemas.microsoft.com/office/drawing/2014/main" xmlns="" val="873864376"/>
                  </a:ext>
                </a:extLst>
              </a:tr>
              <a:tr h="489373">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Registrar usuario</a:t>
                      </a:r>
                    </a:p>
                  </a:txBody>
                  <a:tcPr/>
                </a:tc>
                <a:extLst>
                  <a:ext uri="{0D108BD9-81ED-4DB2-BD59-A6C34878D82A}">
                    <a16:rowId xmlns:a16="http://schemas.microsoft.com/office/drawing/2014/main" xmlns="" val="550984949"/>
                  </a:ext>
                </a:extLst>
              </a:tr>
              <a:tr h="489373">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Editar usuario</a:t>
                      </a:r>
                    </a:p>
                  </a:txBody>
                  <a:tcPr/>
                </a:tc>
                <a:extLst>
                  <a:ext uri="{0D108BD9-81ED-4DB2-BD59-A6C34878D82A}">
                    <a16:rowId xmlns:a16="http://schemas.microsoft.com/office/drawing/2014/main" xmlns="" val="4150767162"/>
                  </a:ext>
                </a:extLst>
              </a:tr>
              <a:tr h="489373">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Eliminar usuario</a:t>
                      </a:r>
                    </a:p>
                  </a:txBody>
                  <a:tcPr/>
                </a:tc>
                <a:extLst>
                  <a:ext uri="{0D108BD9-81ED-4DB2-BD59-A6C34878D82A}">
                    <a16:rowId xmlns:a16="http://schemas.microsoft.com/office/drawing/2014/main" xmlns="" val="3289594746"/>
                  </a:ext>
                </a:extLst>
              </a:tr>
              <a:tr h="48937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200" kern="1200" dirty="0">
                          <a:solidFill>
                            <a:schemeClr val="dk1"/>
                          </a:solidFill>
                          <a:effectLst/>
                          <a:latin typeface="+mn-lt"/>
                          <a:ea typeface="+mn-ea"/>
                          <a:cs typeface="+mn-cs"/>
                        </a:rPr>
                        <a:t>Listar los usuarios</a:t>
                      </a:r>
                    </a:p>
                  </a:txBody>
                  <a:tcPr/>
                </a:tc>
                <a:extLst>
                  <a:ext uri="{0D108BD9-81ED-4DB2-BD59-A6C34878D82A}">
                    <a16:rowId xmlns:a16="http://schemas.microsoft.com/office/drawing/2014/main" xmlns="" val="3189439643"/>
                  </a:ext>
                </a:extLst>
              </a:tr>
              <a:tr h="48937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200" kern="1200" dirty="0">
                          <a:solidFill>
                            <a:schemeClr val="dk1"/>
                          </a:solidFill>
                          <a:effectLst/>
                          <a:latin typeface="+mn-lt"/>
                          <a:ea typeface="+mn-ea"/>
                          <a:cs typeface="+mn-cs"/>
                        </a:rPr>
                        <a:t>Autenticar usuario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MX" sz="2200" kern="1200" dirty="0">
                        <a:solidFill>
                          <a:schemeClr val="dk1"/>
                        </a:solidFill>
                        <a:effectLst/>
                        <a:latin typeface="+mn-lt"/>
                        <a:ea typeface="+mn-ea"/>
                        <a:cs typeface="+mn-cs"/>
                      </a:endParaRPr>
                    </a:p>
                  </a:txBody>
                  <a:tcPr/>
                </a:tc>
                <a:extLst>
                  <a:ext uri="{0D108BD9-81ED-4DB2-BD59-A6C34878D82A}">
                    <a16:rowId xmlns:a16="http://schemas.microsoft.com/office/drawing/2014/main" xmlns="" val="1482522842"/>
                  </a:ext>
                </a:extLst>
              </a:tr>
            </a:tbl>
          </a:graphicData>
        </a:graphic>
      </p:graphicFrame>
      <p:graphicFrame>
        <p:nvGraphicFramePr>
          <p:cNvPr id="9" name="Table 8">
            <a:extLst>
              <a:ext uri="{FF2B5EF4-FFF2-40B4-BE49-F238E27FC236}">
                <a16:creationId xmlns:a16="http://schemas.microsoft.com/office/drawing/2014/main" xmlns="" id="{9554BBFA-6B99-4234-BB94-CE5A89AEC922}"/>
              </a:ext>
            </a:extLst>
          </p:cNvPr>
          <p:cNvGraphicFramePr>
            <a:graphicFrameLocks noGrp="1"/>
          </p:cNvGraphicFramePr>
          <p:nvPr>
            <p:extLst>
              <p:ext uri="{D42A27DB-BD31-4B8C-83A1-F6EECF244321}">
                <p14:modId xmlns:p14="http://schemas.microsoft.com/office/powerpoint/2010/main" val="411286874"/>
              </p:ext>
            </p:extLst>
          </p:nvPr>
        </p:nvGraphicFramePr>
        <p:xfrm>
          <a:off x="9095853" y="2236409"/>
          <a:ext cx="2555960" cy="2903232"/>
        </p:xfrm>
        <a:graphic>
          <a:graphicData uri="http://schemas.openxmlformats.org/drawingml/2006/table">
            <a:tbl>
              <a:tblPr firstRow="1" bandRow="1">
                <a:tableStyleId>{5C22544A-7EE6-4342-B048-85BDC9FD1C3A}</a:tableStyleId>
              </a:tblPr>
              <a:tblGrid>
                <a:gridCol w="2555960">
                  <a:extLst>
                    <a:ext uri="{9D8B030D-6E8A-4147-A177-3AD203B41FA5}">
                      <a16:colId xmlns:a16="http://schemas.microsoft.com/office/drawing/2014/main" xmlns="" val="3033705525"/>
                    </a:ext>
                  </a:extLst>
                </a:gridCol>
              </a:tblGrid>
              <a:tr h="483872">
                <a:tc>
                  <a:txBody>
                    <a:bodyPr/>
                    <a:lstStyle/>
                    <a:p>
                      <a:r>
                        <a:rPr lang="es-MX" sz="2200" dirty="0"/>
                        <a:t>Hito 2</a:t>
                      </a:r>
                    </a:p>
                  </a:txBody>
                  <a:tcPr/>
                </a:tc>
                <a:extLst>
                  <a:ext uri="{0D108BD9-81ED-4DB2-BD59-A6C34878D82A}">
                    <a16:rowId xmlns:a16="http://schemas.microsoft.com/office/drawing/2014/main" xmlns="" val="2262090302"/>
                  </a:ext>
                </a:extLst>
              </a:tr>
              <a:tr h="483872">
                <a:tc>
                  <a:txBody>
                    <a:bodyPr/>
                    <a:lstStyle/>
                    <a:p>
                      <a:pPr lvl="0"/>
                      <a:r>
                        <a:rPr lang="es-MX" sz="2200" b="1" kern="1200" dirty="0">
                          <a:solidFill>
                            <a:schemeClr val="dk1"/>
                          </a:solidFill>
                          <a:effectLst/>
                          <a:latin typeface="+mn-lt"/>
                          <a:ea typeface="+mn-ea"/>
                          <a:cs typeface="+mn-cs"/>
                        </a:rPr>
                        <a:t>Gestionar productos</a:t>
                      </a:r>
                    </a:p>
                  </a:txBody>
                  <a:tcPr/>
                </a:tc>
                <a:extLst>
                  <a:ext uri="{0D108BD9-81ED-4DB2-BD59-A6C34878D82A}">
                    <a16:rowId xmlns:a16="http://schemas.microsoft.com/office/drawing/2014/main" xmlns="" val="3586138623"/>
                  </a:ext>
                </a:extLst>
              </a:tr>
              <a:tr h="483872">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Agregar producto</a:t>
                      </a:r>
                    </a:p>
                  </a:txBody>
                  <a:tcPr/>
                </a:tc>
                <a:extLst>
                  <a:ext uri="{0D108BD9-81ED-4DB2-BD59-A6C34878D82A}">
                    <a16:rowId xmlns:a16="http://schemas.microsoft.com/office/drawing/2014/main" xmlns="" val="721414139"/>
                  </a:ext>
                </a:extLst>
              </a:tr>
              <a:tr h="483872">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Editar producto</a:t>
                      </a:r>
                    </a:p>
                  </a:txBody>
                  <a:tcPr/>
                </a:tc>
                <a:extLst>
                  <a:ext uri="{0D108BD9-81ED-4DB2-BD59-A6C34878D82A}">
                    <a16:rowId xmlns:a16="http://schemas.microsoft.com/office/drawing/2014/main" xmlns="" val="1919376092"/>
                  </a:ext>
                </a:extLst>
              </a:tr>
              <a:tr h="483872">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Eliminar producto</a:t>
                      </a:r>
                    </a:p>
                  </a:txBody>
                  <a:tcPr/>
                </a:tc>
                <a:extLst>
                  <a:ext uri="{0D108BD9-81ED-4DB2-BD59-A6C34878D82A}">
                    <a16:rowId xmlns:a16="http://schemas.microsoft.com/office/drawing/2014/main" xmlns="" val="374113603"/>
                  </a:ext>
                </a:extLst>
              </a:tr>
              <a:tr h="48387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200" kern="1200" dirty="0">
                          <a:solidFill>
                            <a:schemeClr val="dk1"/>
                          </a:solidFill>
                          <a:effectLst/>
                          <a:latin typeface="+mn-lt"/>
                          <a:ea typeface="+mn-ea"/>
                          <a:cs typeface="+mn-cs"/>
                        </a:rPr>
                        <a:t>Listar productos </a:t>
                      </a:r>
                    </a:p>
                  </a:txBody>
                  <a:tcPr/>
                </a:tc>
                <a:extLst>
                  <a:ext uri="{0D108BD9-81ED-4DB2-BD59-A6C34878D82A}">
                    <a16:rowId xmlns:a16="http://schemas.microsoft.com/office/drawing/2014/main" xmlns="" val="49219010"/>
                  </a:ext>
                </a:extLst>
              </a:tr>
            </a:tbl>
          </a:graphicData>
        </a:graphic>
      </p:graphicFrame>
      <p:sp>
        <p:nvSpPr>
          <p:cNvPr id="11" name="Marcador de contenido 2">
            <a:extLst>
              <a:ext uri="{FF2B5EF4-FFF2-40B4-BE49-F238E27FC236}">
                <a16:creationId xmlns:a16="http://schemas.microsoft.com/office/drawing/2014/main" xmlns="" id="{A2D7B4F8-A476-4DD1-B885-36ECAE56DC11}"/>
              </a:ext>
            </a:extLst>
          </p:cNvPr>
          <p:cNvSpPr txBox="1">
            <a:spLocks/>
          </p:cNvSpPr>
          <p:nvPr/>
        </p:nvSpPr>
        <p:spPr>
          <a:xfrm>
            <a:off x="1097280" y="1787676"/>
            <a:ext cx="10058400" cy="89746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s-ES" sz="2600" dirty="0">
                <a:solidFill>
                  <a:srgbClr val="000000"/>
                </a:solidFill>
                <a:ea typeface="Tahoma" panose="020B0604030504040204" pitchFamily="34" charset="0"/>
                <a:cs typeface="Tahoma" panose="020B0604030504040204" pitchFamily="34" charset="0"/>
              </a:rPr>
              <a:t>Tareas de implementación</a:t>
            </a:r>
          </a:p>
          <a:p>
            <a:endParaRPr lang="es-ES" sz="2600" dirty="0">
              <a:ea typeface="Tahoma" panose="020B0604030504040204" pitchFamily="34" charset="0"/>
              <a:cs typeface="Tahoma" panose="020B0604030504040204" pitchFamily="34" charset="0"/>
            </a:endParaRPr>
          </a:p>
        </p:txBody>
      </p:sp>
      <p:graphicFrame>
        <p:nvGraphicFramePr>
          <p:cNvPr id="4" name="Table 8">
            <a:extLst>
              <a:ext uri="{FF2B5EF4-FFF2-40B4-BE49-F238E27FC236}">
                <a16:creationId xmlns:a16="http://schemas.microsoft.com/office/drawing/2014/main" xmlns="" id="{55DBB731-9AC4-8074-B3FB-36F6FF919528}"/>
              </a:ext>
            </a:extLst>
          </p:cNvPr>
          <p:cNvGraphicFramePr>
            <a:graphicFrameLocks noGrp="1"/>
          </p:cNvGraphicFramePr>
          <p:nvPr>
            <p:extLst>
              <p:ext uri="{D42A27DB-BD31-4B8C-83A1-F6EECF244321}">
                <p14:modId xmlns:p14="http://schemas.microsoft.com/office/powerpoint/2010/main" val="177565383"/>
              </p:ext>
            </p:extLst>
          </p:nvPr>
        </p:nvGraphicFramePr>
        <p:xfrm>
          <a:off x="1036320" y="2236409"/>
          <a:ext cx="4462272" cy="4632976"/>
        </p:xfrm>
        <a:graphic>
          <a:graphicData uri="http://schemas.openxmlformats.org/drawingml/2006/table">
            <a:tbl>
              <a:tblPr firstRow="1" bandRow="1">
                <a:tableStyleId>{5C22544A-7EE6-4342-B048-85BDC9FD1C3A}</a:tableStyleId>
              </a:tblPr>
              <a:tblGrid>
                <a:gridCol w="4462272">
                  <a:extLst>
                    <a:ext uri="{9D8B030D-6E8A-4147-A177-3AD203B41FA5}">
                      <a16:colId xmlns:a16="http://schemas.microsoft.com/office/drawing/2014/main" xmlns="" val="3033705525"/>
                    </a:ext>
                  </a:extLst>
                </a:gridCol>
              </a:tblGrid>
              <a:tr h="483872">
                <a:tc>
                  <a:txBody>
                    <a:bodyPr/>
                    <a:lstStyle/>
                    <a:p>
                      <a:r>
                        <a:rPr lang="es-MX" sz="2200" dirty="0"/>
                        <a:t>Hito 1</a:t>
                      </a:r>
                    </a:p>
                  </a:txBody>
                  <a:tcPr/>
                </a:tc>
                <a:extLst>
                  <a:ext uri="{0D108BD9-81ED-4DB2-BD59-A6C34878D82A}">
                    <a16:rowId xmlns:a16="http://schemas.microsoft.com/office/drawing/2014/main" xmlns="" val="2262090302"/>
                  </a:ext>
                </a:extLst>
              </a:tr>
              <a:tr h="483872">
                <a:tc>
                  <a:txBody>
                    <a:bodyPr/>
                    <a:lstStyle/>
                    <a:p>
                      <a:pPr lvl="0"/>
                      <a:r>
                        <a:rPr lang="es-ES" sz="2200" b="1" kern="1200" dirty="0">
                          <a:solidFill>
                            <a:schemeClr val="dk1"/>
                          </a:solidFill>
                          <a:effectLst/>
                          <a:latin typeface="+mn-lt"/>
                          <a:ea typeface="+mn-ea"/>
                          <a:cs typeface="+mn-cs"/>
                        </a:rPr>
                        <a:t>Configuración del Entorno de Desarrollo</a:t>
                      </a:r>
                      <a:endParaRPr lang="es-MX" sz="2200" b="1" kern="1200" dirty="0">
                        <a:solidFill>
                          <a:schemeClr val="dk1"/>
                        </a:solidFill>
                        <a:effectLst/>
                        <a:latin typeface="+mn-lt"/>
                        <a:ea typeface="+mn-ea"/>
                        <a:cs typeface="+mn-cs"/>
                      </a:endParaRPr>
                    </a:p>
                  </a:txBody>
                  <a:tcPr/>
                </a:tc>
                <a:extLst>
                  <a:ext uri="{0D108BD9-81ED-4DB2-BD59-A6C34878D82A}">
                    <a16:rowId xmlns:a16="http://schemas.microsoft.com/office/drawing/2014/main" xmlns="" val="3586138623"/>
                  </a:ext>
                </a:extLst>
              </a:tr>
              <a:tr h="483872">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Instalación de Herramientas</a:t>
                      </a:r>
                    </a:p>
                  </a:txBody>
                  <a:tcPr/>
                </a:tc>
                <a:extLst>
                  <a:ext uri="{0D108BD9-81ED-4DB2-BD59-A6C34878D82A}">
                    <a16:rowId xmlns:a16="http://schemas.microsoft.com/office/drawing/2014/main" xmlns="" val="721414139"/>
                  </a:ext>
                </a:extLst>
              </a:tr>
              <a:tr h="483872">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Configuración del Servidor Local</a:t>
                      </a:r>
                    </a:p>
                  </a:txBody>
                  <a:tcPr/>
                </a:tc>
                <a:extLst>
                  <a:ext uri="{0D108BD9-81ED-4DB2-BD59-A6C34878D82A}">
                    <a16:rowId xmlns:a16="http://schemas.microsoft.com/office/drawing/2014/main" xmlns="" val="1919376092"/>
                  </a:ext>
                </a:extLst>
              </a:tr>
              <a:tr h="483872">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Creación de Repositorio</a:t>
                      </a:r>
                    </a:p>
                  </a:txBody>
                  <a:tcPr/>
                </a:tc>
                <a:extLst>
                  <a:ext uri="{0D108BD9-81ED-4DB2-BD59-A6C34878D82A}">
                    <a16:rowId xmlns:a16="http://schemas.microsoft.com/office/drawing/2014/main" xmlns="" val="374113603"/>
                  </a:ext>
                </a:extLst>
              </a:tr>
              <a:tr h="48387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200" kern="1200" dirty="0">
                          <a:solidFill>
                            <a:schemeClr val="dk1"/>
                          </a:solidFill>
                          <a:effectLst/>
                          <a:latin typeface="+mn-lt"/>
                          <a:ea typeface="+mn-ea"/>
                          <a:cs typeface="+mn-cs"/>
                        </a:rPr>
                        <a:t>Diseño de la Base de Datos</a:t>
                      </a:r>
                      <a:endParaRPr lang="es-MX" sz="2200" kern="1200" dirty="0">
                        <a:solidFill>
                          <a:schemeClr val="dk1"/>
                        </a:solidFill>
                        <a:effectLst/>
                        <a:latin typeface="+mn-lt"/>
                        <a:ea typeface="+mn-ea"/>
                        <a:cs typeface="+mn-cs"/>
                      </a:endParaRPr>
                    </a:p>
                  </a:txBody>
                  <a:tcPr/>
                </a:tc>
                <a:extLst>
                  <a:ext uri="{0D108BD9-81ED-4DB2-BD59-A6C34878D82A}">
                    <a16:rowId xmlns:a16="http://schemas.microsoft.com/office/drawing/2014/main" xmlns="" val="49219010"/>
                  </a:ext>
                </a:extLst>
              </a:tr>
              <a:tr h="48387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200" kern="1200" dirty="0">
                          <a:solidFill>
                            <a:schemeClr val="dk1"/>
                          </a:solidFill>
                          <a:effectLst/>
                          <a:latin typeface="+mn-lt"/>
                          <a:ea typeface="+mn-ea"/>
                          <a:cs typeface="+mn-cs"/>
                        </a:rPr>
                        <a:t>Implementación de la API</a:t>
                      </a:r>
                    </a:p>
                  </a:txBody>
                  <a:tcPr/>
                </a:tc>
                <a:extLst>
                  <a:ext uri="{0D108BD9-81ED-4DB2-BD59-A6C34878D82A}">
                    <a16:rowId xmlns:a16="http://schemas.microsoft.com/office/drawing/2014/main" xmlns="" val="4209748801"/>
                  </a:ext>
                </a:extLst>
              </a:tr>
              <a:tr h="48387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200" kern="1200" dirty="0">
                          <a:solidFill>
                            <a:schemeClr val="dk1"/>
                          </a:solidFill>
                          <a:effectLst/>
                          <a:latin typeface="+mn-lt"/>
                          <a:ea typeface="+mn-ea"/>
                          <a:cs typeface="+mn-cs"/>
                        </a:rPr>
                        <a:t>Diseño de Interfaz de Usuario</a:t>
                      </a:r>
                    </a:p>
                  </a:txBody>
                  <a:tcPr/>
                </a:tc>
                <a:extLst>
                  <a:ext uri="{0D108BD9-81ED-4DB2-BD59-A6C34878D82A}">
                    <a16:rowId xmlns:a16="http://schemas.microsoft.com/office/drawing/2014/main" xmlns="" val="3413235861"/>
                  </a:ext>
                </a:extLst>
              </a:tr>
              <a:tr h="483872">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200" kern="1200" dirty="0">
                          <a:solidFill>
                            <a:schemeClr val="dk1"/>
                          </a:solidFill>
                          <a:effectLst/>
                          <a:latin typeface="+mn-lt"/>
                          <a:ea typeface="+mn-ea"/>
                          <a:cs typeface="+mn-cs"/>
                        </a:rPr>
                        <a:t>Diseño de pruebas unitarias</a:t>
                      </a:r>
                      <a:endParaRPr lang="es-MX" sz="2200" kern="1200" dirty="0">
                        <a:solidFill>
                          <a:schemeClr val="dk1"/>
                        </a:solidFill>
                        <a:effectLst/>
                        <a:latin typeface="+mn-lt"/>
                        <a:ea typeface="+mn-ea"/>
                        <a:cs typeface="+mn-cs"/>
                      </a:endParaRPr>
                    </a:p>
                  </a:txBody>
                  <a:tcPr/>
                </a:tc>
                <a:extLst>
                  <a:ext uri="{0D108BD9-81ED-4DB2-BD59-A6C34878D82A}">
                    <a16:rowId xmlns:a16="http://schemas.microsoft.com/office/drawing/2014/main" xmlns="" val="2848816717"/>
                  </a:ext>
                </a:extLst>
              </a:tr>
            </a:tbl>
          </a:graphicData>
        </a:graphic>
      </p:graphicFrame>
    </p:spTree>
    <p:extLst>
      <p:ext uri="{BB962C8B-B14F-4D97-AF65-F5344CB8AC3E}">
        <p14:creationId xmlns:p14="http://schemas.microsoft.com/office/powerpoint/2010/main" val="3944935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D35B62-EC24-DEFB-0B77-62CFBB8ECC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7278303C-01FD-98A2-7E6E-3B59A620CAF9}"/>
              </a:ext>
            </a:extLst>
          </p:cNvPr>
          <p:cNvSpPr>
            <a:spLocks noGrp="1"/>
          </p:cNvSpPr>
          <p:nvPr>
            <p:ph type="title"/>
          </p:nvPr>
        </p:nvSpPr>
        <p:spPr>
          <a:xfrm>
            <a:off x="1097279" y="286603"/>
            <a:ext cx="10339977" cy="1450757"/>
          </a:xfrm>
        </p:spPr>
        <p:txBody>
          <a:bodyPr/>
          <a:lstStyle/>
          <a:p>
            <a:r>
              <a:rPr lang="es-ES" dirty="0"/>
              <a:t>Implementación de una tienda virtual</a:t>
            </a:r>
          </a:p>
        </p:txBody>
      </p:sp>
      <p:sp>
        <p:nvSpPr>
          <p:cNvPr id="11" name="Marcador de contenido 2">
            <a:extLst>
              <a:ext uri="{FF2B5EF4-FFF2-40B4-BE49-F238E27FC236}">
                <a16:creationId xmlns:a16="http://schemas.microsoft.com/office/drawing/2014/main" xmlns="" id="{DE8CF851-EE3F-FF3C-232B-97D0EDFC6BBB}"/>
              </a:ext>
            </a:extLst>
          </p:cNvPr>
          <p:cNvSpPr txBox="1">
            <a:spLocks/>
          </p:cNvSpPr>
          <p:nvPr/>
        </p:nvSpPr>
        <p:spPr>
          <a:xfrm>
            <a:off x="1097280" y="1787676"/>
            <a:ext cx="10058400" cy="89746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s-ES" sz="2600" dirty="0">
                <a:solidFill>
                  <a:srgbClr val="000000"/>
                </a:solidFill>
                <a:ea typeface="Tahoma" panose="020B0604030504040204" pitchFamily="34" charset="0"/>
                <a:cs typeface="Tahoma" panose="020B0604030504040204" pitchFamily="34" charset="0"/>
              </a:rPr>
              <a:t>Tareas de implementación (cont.)</a:t>
            </a:r>
          </a:p>
          <a:p>
            <a:endParaRPr lang="es-ES" sz="2600" dirty="0">
              <a:ea typeface="Tahoma" panose="020B0604030504040204" pitchFamily="34" charset="0"/>
              <a:cs typeface="Tahoma" panose="020B0604030504040204" pitchFamily="34" charset="0"/>
            </a:endParaRPr>
          </a:p>
        </p:txBody>
      </p:sp>
      <p:graphicFrame>
        <p:nvGraphicFramePr>
          <p:cNvPr id="3" name="Table 2">
            <a:extLst>
              <a:ext uri="{FF2B5EF4-FFF2-40B4-BE49-F238E27FC236}">
                <a16:creationId xmlns:a16="http://schemas.microsoft.com/office/drawing/2014/main" xmlns="" id="{771F6513-67BB-D119-D606-A3E215CA2730}"/>
              </a:ext>
            </a:extLst>
          </p:cNvPr>
          <p:cNvGraphicFramePr>
            <a:graphicFrameLocks noGrp="1"/>
          </p:cNvGraphicFramePr>
          <p:nvPr>
            <p:extLst>
              <p:ext uri="{D42A27DB-BD31-4B8C-83A1-F6EECF244321}">
                <p14:modId xmlns:p14="http://schemas.microsoft.com/office/powerpoint/2010/main" val="2223195203"/>
              </p:ext>
            </p:extLst>
          </p:nvPr>
        </p:nvGraphicFramePr>
        <p:xfrm>
          <a:off x="1280247" y="2306143"/>
          <a:ext cx="3145449" cy="4523321"/>
        </p:xfrm>
        <a:graphic>
          <a:graphicData uri="http://schemas.openxmlformats.org/drawingml/2006/table">
            <a:tbl>
              <a:tblPr firstRow="1" bandRow="1">
                <a:tableStyleId>{5C22544A-7EE6-4342-B048-85BDC9FD1C3A}</a:tableStyleId>
              </a:tblPr>
              <a:tblGrid>
                <a:gridCol w="3145449">
                  <a:extLst>
                    <a:ext uri="{9D8B030D-6E8A-4147-A177-3AD203B41FA5}">
                      <a16:colId xmlns:a16="http://schemas.microsoft.com/office/drawing/2014/main" xmlns="" val="285336197"/>
                    </a:ext>
                  </a:extLst>
                </a:gridCol>
              </a:tblGrid>
              <a:tr h="455586">
                <a:tc>
                  <a:txBody>
                    <a:bodyPr/>
                    <a:lstStyle/>
                    <a:p>
                      <a:r>
                        <a:rPr lang="es-MX" sz="2200" dirty="0"/>
                        <a:t>Hito 3</a:t>
                      </a:r>
                    </a:p>
                  </a:txBody>
                  <a:tcPr/>
                </a:tc>
                <a:extLst>
                  <a:ext uri="{0D108BD9-81ED-4DB2-BD59-A6C34878D82A}">
                    <a16:rowId xmlns:a16="http://schemas.microsoft.com/office/drawing/2014/main" xmlns="" val="1090806117"/>
                  </a:ext>
                </a:extLst>
              </a:tr>
              <a:tr h="813547">
                <a:tc>
                  <a:txBody>
                    <a:bodyPr/>
                    <a:lstStyle/>
                    <a:p>
                      <a:r>
                        <a:rPr lang="es-MX" sz="2200" b="1" dirty="0"/>
                        <a:t>Gestionar carrito de compra</a:t>
                      </a:r>
                    </a:p>
                  </a:txBody>
                  <a:tcPr/>
                </a:tc>
                <a:extLst>
                  <a:ext uri="{0D108BD9-81ED-4DB2-BD59-A6C34878D82A}">
                    <a16:rowId xmlns:a16="http://schemas.microsoft.com/office/drawing/2014/main" xmlns="" val="1134328458"/>
                  </a:ext>
                </a:extLst>
              </a:tr>
              <a:tr h="813547">
                <a:tc>
                  <a:txBody>
                    <a:bodyPr/>
                    <a:lstStyle/>
                    <a:p>
                      <a:pPr marL="285750" indent="-285750">
                        <a:buFont typeface="Arial" panose="020B0604020202020204" pitchFamily="34" charset="0"/>
                        <a:buChar char="•"/>
                      </a:pPr>
                      <a:r>
                        <a:rPr lang="es-MX" sz="2200" dirty="0"/>
                        <a:t>Agregar producto al carrito</a:t>
                      </a:r>
                    </a:p>
                  </a:txBody>
                  <a:tcPr/>
                </a:tc>
                <a:extLst>
                  <a:ext uri="{0D108BD9-81ED-4DB2-BD59-A6C34878D82A}">
                    <a16:rowId xmlns:a16="http://schemas.microsoft.com/office/drawing/2014/main" xmlns="" val="1879320703"/>
                  </a:ext>
                </a:extLst>
              </a:tr>
              <a:tr h="813547">
                <a:tc>
                  <a:txBody>
                    <a:bodyPr/>
                    <a:lstStyle/>
                    <a:p>
                      <a:pPr marL="285750" indent="-285750">
                        <a:buFont typeface="Arial" panose="020B0604020202020204" pitchFamily="34" charset="0"/>
                        <a:buChar char="•"/>
                      </a:pPr>
                      <a:r>
                        <a:rPr lang="es-MX" sz="2200" dirty="0"/>
                        <a:t>Listar productos en el carrito</a:t>
                      </a:r>
                    </a:p>
                  </a:txBody>
                  <a:tcPr/>
                </a:tc>
                <a:extLst>
                  <a:ext uri="{0D108BD9-81ED-4DB2-BD59-A6C34878D82A}">
                    <a16:rowId xmlns:a16="http://schemas.microsoft.com/office/drawing/2014/main" xmlns="" val="3175842041"/>
                  </a:ext>
                </a:extLst>
              </a:tr>
              <a:tr h="813547">
                <a:tc>
                  <a:txBody>
                    <a:bodyPr/>
                    <a:lstStyle/>
                    <a:p>
                      <a:pPr marL="285750" indent="-285750">
                        <a:buFont typeface="Arial" panose="020B0604020202020204" pitchFamily="34" charset="0"/>
                        <a:buChar char="•"/>
                      </a:pPr>
                      <a:r>
                        <a:rPr lang="es-MX" sz="2200" dirty="0"/>
                        <a:t>Editar productos en el carrito</a:t>
                      </a:r>
                    </a:p>
                  </a:txBody>
                  <a:tcPr/>
                </a:tc>
                <a:extLst>
                  <a:ext uri="{0D108BD9-81ED-4DB2-BD59-A6C34878D82A}">
                    <a16:rowId xmlns:a16="http://schemas.microsoft.com/office/drawing/2014/main" xmlns="" val="2449425604"/>
                  </a:ext>
                </a:extLst>
              </a:tr>
              <a:tr h="813547">
                <a:tc>
                  <a:txBody>
                    <a:bodyPr/>
                    <a:lstStyle/>
                    <a:p>
                      <a:pPr marL="285750" indent="-285750">
                        <a:buFont typeface="Arial" panose="020B0604020202020204" pitchFamily="34" charset="0"/>
                        <a:buChar char="•"/>
                      </a:pPr>
                      <a:r>
                        <a:rPr lang="es-MX" sz="2200" dirty="0"/>
                        <a:t>Eliminar productos del carrito</a:t>
                      </a:r>
                    </a:p>
                  </a:txBody>
                  <a:tcPr/>
                </a:tc>
                <a:extLst>
                  <a:ext uri="{0D108BD9-81ED-4DB2-BD59-A6C34878D82A}">
                    <a16:rowId xmlns:a16="http://schemas.microsoft.com/office/drawing/2014/main" xmlns="" val="370060584"/>
                  </a:ext>
                </a:extLst>
              </a:tr>
            </a:tbl>
          </a:graphicData>
        </a:graphic>
      </p:graphicFrame>
      <p:graphicFrame>
        <p:nvGraphicFramePr>
          <p:cNvPr id="12" name="Table 9">
            <a:extLst>
              <a:ext uri="{FF2B5EF4-FFF2-40B4-BE49-F238E27FC236}">
                <a16:creationId xmlns:a16="http://schemas.microsoft.com/office/drawing/2014/main" xmlns="" id="{020EBDBA-8625-C161-423C-4F894076272E}"/>
              </a:ext>
            </a:extLst>
          </p:cNvPr>
          <p:cNvGraphicFramePr>
            <a:graphicFrameLocks noGrp="1"/>
          </p:cNvGraphicFramePr>
          <p:nvPr>
            <p:extLst>
              <p:ext uri="{D42A27DB-BD31-4B8C-83A1-F6EECF244321}">
                <p14:modId xmlns:p14="http://schemas.microsoft.com/office/powerpoint/2010/main" val="885048107"/>
              </p:ext>
            </p:extLst>
          </p:nvPr>
        </p:nvGraphicFramePr>
        <p:xfrm>
          <a:off x="4876800" y="2314183"/>
          <a:ext cx="3255264" cy="4521288"/>
        </p:xfrm>
        <a:graphic>
          <a:graphicData uri="http://schemas.openxmlformats.org/drawingml/2006/table">
            <a:tbl>
              <a:tblPr firstRow="1" bandRow="1">
                <a:tableStyleId>{5C22544A-7EE6-4342-B048-85BDC9FD1C3A}</a:tableStyleId>
              </a:tblPr>
              <a:tblGrid>
                <a:gridCol w="3255264">
                  <a:extLst>
                    <a:ext uri="{9D8B030D-6E8A-4147-A177-3AD203B41FA5}">
                      <a16:colId xmlns:a16="http://schemas.microsoft.com/office/drawing/2014/main" xmlns="" val="3033705525"/>
                    </a:ext>
                  </a:extLst>
                </a:gridCol>
              </a:tblGrid>
              <a:tr h="433398">
                <a:tc>
                  <a:txBody>
                    <a:bodyPr/>
                    <a:lstStyle/>
                    <a:p>
                      <a:r>
                        <a:rPr lang="es-MX" sz="2200" dirty="0"/>
                        <a:t>Hito4</a:t>
                      </a:r>
                    </a:p>
                  </a:txBody>
                  <a:tcPr/>
                </a:tc>
                <a:extLst>
                  <a:ext uri="{0D108BD9-81ED-4DB2-BD59-A6C34878D82A}">
                    <a16:rowId xmlns:a16="http://schemas.microsoft.com/office/drawing/2014/main" xmlns="" val="2262090302"/>
                  </a:ext>
                </a:extLst>
              </a:tr>
              <a:tr h="496093">
                <a:tc>
                  <a:txBody>
                    <a:bodyPr/>
                    <a:lstStyle/>
                    <a:p>
                      <a:pPr lvl="0"/>
                      <a:r>
                        <a:rPr lang="es-MX" sz="2200" b="1" kern="1200" dirty="0">
                          <a:solidFill>
                            <a:schemeClr val="dk1"/>
                          </a:solidFill>
                          <a:effectLst/>
                          <a:latin typeface="+mn-lt"/>
                          <a:ea typeface="+mn-ea"/>
                          <a:cs typeface="+mn-cs"/>
                        </a:rPr>
                        <a:t>Comprar</a:t>
                      </a:r>
                    </a:p>
                  </a:txBody>
                  <a:tcPr/>
                </a:tc>
                <a:extLst>
                  <a:ext uri="{0D108BD9-81ED-4DB2-BD59-A6C34878D82A}">
                    <a16:rowId xmlns:a16="http://schemas.microsoft.com/office/drawing/2014/main" xmlns="" val="3586138623"/>
                  </a:ext>
                </a:extLst>
              </a:tr>
              <a:tr h="773926">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Investigar las pasarelas de pago disponible</a:t>
                      </a:r>
                    </a:p>
                  </a:txBody>
                  <a:tcPr/>
                </a:tc>
                <a:extLst>
                  <a:ext uri="{0D108BD9-81ED-4DB2-BD59-A6C34878D82A}">
                    <a16:rowId xmlns:a16="http://schemas.microsoft.com/office/drawing/2014/main" xmlns="" val="721414139"/>
                  </a:ext>
                </a:extLst>
              </a:tr>
              <a:tr h="773926">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200" kern="1200" dirty="0">
                          <a:solidFill>
                            <a:schemeClr val="dk1"/>
                          </a:solidFill>
                          <a:effectLst/>
                          <a:latin typeface="+mn-lt"/>
                          <a:ea typeface="+mn-ea"/>
                          <a:cs typeface="+mn-cs"/>
                        </a:rPr>
                        <a:t>Implementar las pasarelas de pago</a:t>
                      </a:r>
                    </a:p>
                  </a:txBody>
                  <a:tcPr/>
                </a:tc>
                <a:extLst>
                  <a:ext uri="{0D108BD9-81ED-4DB2-BD59-A6C34878D82A}">
                    <a16:rowId xmlns:a16="http://schemas.microsoft.com/office/drawing/2014/main" xmlns="" val="1919376092"/>
                  </a:ext>
                </a:extLst>
              </a:tr>
              <a:tr h="773926">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200" kern="1200" dirty="0">
                          <a:solidFill>
                            <a:schemeClr val="dk1"/>
                          </a:solidFill>
                          <a:effectLst/>
                          <a:latin typeface="+mn-lt"/>
                          <a:ea typeface="+mn-ea"/>
                          <a:cs typeface="+mn-cs"/>
                        </a:rPr>
                        <a:t>Generar orden de compra</a:t>
                      </a:r>
                    </a:p>
                  </a:txBody>
                  <a:tcPr/>
                </a:tc>
                <a:extLst>
                  <a:ext uri="{0D108BD9-81ED-4DB2-BD59-A6C34878D82A}">
                    <a16:rowId xmlns:a16="http://schemas.microsoft.com/office/drawing/2014/main" xmlns="" val="2346881646"/>
                  </a:ext>
                </a:extLst>
              </a:tr>
              <a:tr h="773926">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200" kern="1200" dirty="0">
                          <a:solidFill>
                            <a:schemeClr val="dk1"/>
                          </a:solidFill>
                          <a:effectLst/>
                          <a:latin typeface="+mn-lt"/>
                          <a:ea typeface="+mn-ea"/>
                          <a:cs typeface="+mn-cs"/>
                        </a:rPr>
                        <a:t>Editar estado de la orden</a:t>
                      </a:r>
                    </a:p>
                  </a:txBody>
                  <a:tcPr/>
                </a:tc>
                <a:extLst>
                  <a:ext uri="{0D108BD9-81ED-4DB2-BD59-A6C34878D82A}">
                    <a16:rowId xmlns:a16="http://schemas.microsoft.com/office/drawing/2014/main" xmlns="" val="2042686441"/>
                  </a:ext>
                </a:extLst>
              </a:tr>
              <a:tr h="49609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2200" kern="1200" dirty="0">
                          <a:solidFill>
                            <a:schemeClr val="dk1"/>
                          </a:solidFill>
                          <a:effectLst/>
                          <a:latin typeface="+mn-lt"/>
                          <a:ea typeface="+mn-ea"/>
                          <a:cs typeface="+mn-cs"/>
                        </a:rPr>
                        <a:t>Cancelar orden</a:t>
                      </a:r>
                    </a:p>
                  </a:txBody>
                  <a:tcPr/>
                </a:tc>
                <a:extLst>
                  <a:ext uri="{0D108BD9-81ED-4DB2-BD59-A6C34878D82A}">
                    <a16:rowId xmlns:a16="http://schemas.microsoft.com/office/drawing/2014/main" xmlns="" val="2705012114"/>
                  </a:ext>
                </a:extLst>
              </a:tr>
            </a:tbl>
          </a:graphicData>
        </a:graphic>
      </p:graphicFrame>
      <p:graphicFrame>
        <p:nvGraphicFramePr>
          <p:cNvPr id="13" name="Table 9">
            <a:extLst>
              <a:ext uri="{FF2B5EF4-FFF2-40B4-BE49-F238E27FC236}">
                <a16:creationId xmlns:a16="http://schemas.microsoft.com/office/drawing/2014/main" xmlns="" id="{D8369753-2CA6-6596-C6FA-4D350D84C396}"/>
              </a:ext>
            </a:extLst>
          </p:cNvPr>
          <p:cNvGraphicFramePr>
            <a:graphicFrameLocks noGrp="1"/>
          </p:cNvGraphicFramePr>
          <p:nvPr>
            <p:extLst>
              <p:ext uri="{D42A27DB-BD31-4B8C-83A1-F6EECF244321}">
                <p14:modId xmlns:p14="http://schemas.microsoft.com/office/powerpoint/2010/main" val="973521420"/>
              </p:ext>
            </p:extLst>
          </p:nvPr>
        </p:nvGraphicFramePr>
        <p:xfrm>
          <a:off x="8351520" y="2306144"/>
          <a:ext cx="3591098" cy="4128878"/>
        </p:xfrm>
        <a:graphic>
          <a:graphicData uri="http://schemas.openxmlformats.org/drawingml/2006/table">
            <a:tbl>
              <a:tblPr firstRow="1" bandRow="1">
                <a:tableStyleId>{5C22544A-7EE6-4342-B048-85BDC9FD1C3A}</a:tableStyleId>
              </a:tblPr>
              <a:tblGrid>
                <a:gridCol w="3591098">
                  <a:extLst>
                    <a:ext uri="{9D8B030D-6E8A-4147-A177-3AD203B41FA5}">
                      <a16:colId xmlns:a16="http://schemas.microsoft.com/office/drawing/2014/main" xmlns="" val="3033705525"/>
                    </a:ext>
                  </a:extLst>
                </a:gridCol>
              </a:tblGrid>
              <a:tr h="408390">
                <a:tc>
                  <a:txBody>
                    <a:bodyPr/>
                    <a:lstStyle/>
                    <a:p>
                      <a:r>
                        <a:rPr lang="es-MX" sz="2200" dirty="0"/>
                        <a:t>Hito5</a:t>
                      </a:r>
                    </a:p>
                  </a:txBody>
                  <a:tcPr/>
                </a:tc>
                <a:extLst>
                  <a:ext uri="{0D108BD9-81ED-4DB2-BD59-A6C34878D82A}">
                    <a16:rowId xmlns:a16="http://schemas.microsoft.com/office/drawing/2014/main" xmlns="" val="2262090302"/>
                  </a:ext>
                </a:extLst>
              </a:tr>
              <a:tr h="408390">
                <a:tc>
                  <a:txBody>
                    <a:bodyPr/>
                    <a:lstStyle/>
                    <a:p>
                      <a:pPr lvl="0"/>
                      <a:r>
                        <a:rPr lang="es-MX" sz="2200" b="1" kern="1200" dirty="0">
                          <a:solidFill>
                            <a:schemeClr val="dk1"/>
                          </a:solidFill>
                          <a:effectLst/>
                          <a:latin typeface="+mn-lt"/>
                          <a:ea typeface="+mn-ea"/>
                          <a:cs typeface="+mn-cs"/>
                        </a:rPr>
                        <a:t>Pruebas y Despliegue</a:t>
                      </a:r>
                    </a:p>
                  </a:txBody>
                  <a:tcPr/>
                </a:tc>
                <a:extLst>
                  <a:ext uri="{0D108BD9-81ED-4DB2-BD59-A6C34878D82A}">
                    <a16:rowId xmlns:a16="http://schemas.microsoft.com/office/drawing/2014/main" xmlns="" val="3586138623"/>
                  </a:ext>
                </a:extLst>
              </a:tr>
              <a:tr h="581318">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Pruebas de aceptación</a:t>
                      </a:r>
                    </a:p>
                  </a:txBody>
                  <a:tcPr/>
                </a:tc>
                <a:extLst>
                  <a:ext uri="{0D108BD9-81ED-4DB2-BD59-A6C34878D82A}">
                    <a16:rowId xmlns:a16="http://schemas.microsoft.com/office/drawing/2014/main" xmlns="" val="721414139"/>
                  </a:ext>
                </a:extLst>
              </a:tr>
              <a:tr h="729268">
                <a:tc>
                  <a:txBody>
                    <a:bodyPr/>
                    <a:lstStyle/>
                    <a:p>
                      <a:pPr marL="285750" lvl="0" indent="-285750">
                        <a:buFont typeface="Arial" panose="020B0604020202020204" pitchFamily="34" charset="0"/>
                        <a:buChar char="•"/>
                      </a:pPr>
                      <a:r>
                        <a:rPr lang="es-ES" sz="2200" kern="1200" dirty="0">
                          <a:solidFill>
                            <a:schemeClr val="dk1"/>
                          </a:solidFill>
                          <a:effectLst/>
                          <a:latin typeface="+mn-lt"/>
                          <a:ea typeface="+mn-ea"/>
                          <a:cs typeface="+mn-cs"/>
                        </a:rPr>
                        <a:t>Configuración del Servidor en Producción</a:t>
                      </a:r>
                      <a:endParaRPr lang="es-MX" sz="2200" kern="1200" dirty="0">
                        <a:solidFill>
                          <a:schemeClr val="dk1"/>
                        </a:solidFill>
                        <a:effectLst/>
                        <a:latin typeface="+mn-lt"/>
                        <a:ea typeface="+mn-ea"/>
                        <a:cs typeface="+mn-cs"/>
                      </a:endParaRPr>
                    </a:p>
                  </a:txBody>
                  <a:tcPr/>
                </a:tc>
                <a:extLst>
                  <a:ext uri="{0D108BD9-81ED-4DB2-BD59-A6C34878D82A}">
                    <a16:rowId xmlns:a16="http://schemas.microsoft.com/office/drawing/2014/main" xmlns="" val="2083618759"/>
                  </a:ext>
                </a:extLst>
              </a:tr>
              <a:tr h="581318">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Despliegue del </a:t>
                      </a:r>
                      <a:r>
                        <a:rPr lang="es-MX" sz="2200" kern="1200" dirty="0" err="1">
                          <a:solidFill>
                            <a:schemeClr val="dk1"/>
                          </a:solidFill>
                          <a:effectLst/>
                          <a:latin typeface="+mn-lt"/>
                          <a:ea typeface="+mn-ea"/>
                          <a:cs typeface="+mn-cs"/>
                        </a:rPr>
                        <a:t>Backend</a:t>
                      </a:r>
                      <a:endParaRPr lang="es-MX" sz="2200" kern="1200" dirty="0">
                        <a:solidFill>
                          <a:schemeClr val="dk1"/>
                        </a:solidFill>
                        <a:effectLst/>
                        <a:latin typeface="+mn-lt"/>
                        <a:ea typeface="+mn-ea"/>
                        <a:cs typeface="+mn-cs"/>
                      </a:endParaRPr>
                    </a:p>
                  </a:txBody>
                  <a:tcPr/>
                </a:tc>
                <a:extLst>
                  <a:ext uri="{0D108BD9-81ED-4DB2-BD59-A6C34878D82A}">
                    <a16:rowId xmlns:a16="http://schemas.microsoft.com/office/drawing/2014/main" xmlns="" val="3798150587"/>
                  </a:ext>
                </a:extLst>
              </a:tr>
              <a:tr h="675401">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 Despliegue del </a:t>
                      </a:r>
                      <a:r>
                        <a:rPr lang="es-MX" sz="2200" kern="1200" dirty="0" err="1">
                          <a:solidFill>
                            <a:schemeClr val="dk1"/>
                          </a:solidFill>
                          <a:effectLst/>
                          <a:latin typeface="+mn-lt"/>
                          <a:ea typeface="+mn-ea"/>
                          <a:cs typeface="+mn-cs"/>
                        </a:rPr>
                        <a:t>Frontend</a:t>
                      </a:r>
                      <a:endParaRPr lang="es-MX" sz="2200" kern="1200" dirty="0">
                        <a:solidFill>
                          <a:schemeClr val="dk1"/>
                        </a:solidFill>
                        <a:effectLst/>
                        <a:latin typeface="+mn-lt"/>
                        <a:ea typeface="+mn-ea"/>
                        <a:cs typeface="+mn-cs"/>
                      </a:endParaRPr>
                    </a:p>
                  </a:txBody>
                  <a:tcPr/>
                </a:tc>
                <a:extLst>
                  <a:ext uri="{0D108BD9-81ED-4DB2-BD59-A6C34878D82A}">
                    <a16:rowId xmlns:a16="http://schemas.microsoft.com/office/drawing/2014/main" xmlns="" val="403965536"/>
                  </a:ext>
                </a:extLst>
              </a:tr>
              <a:tr h="675401">
                <a:tc>
                  <a:txBody>
                    <a:bodyPr/>
                    <a:lstStyle/>
                    <a:p>
                      <a:pPr marL="285750" lvl="0" indent="-285750">
                        <a:buFont typeface="Arial" panose="020B0604020202020204" pitchFamily="34" charset="0"/>
                        <a:buChar char="•"/>
                      </a:pPr>
                      <a:r>
                        <a:rPr lang="es-MX" sz="2200" kern="1200" dirty="0">
                          <a:solidFill>
                            <a:schemeClr val="dk1"/>
                          </a:solidFill>
                          <a:effectLst/>
                          <a:latin typeface="+mn-lt"/>
                          <a:ea typeface="+mn-ea"/>
                          <a:cs typeface="+mn-cs"/>
                        </a:rPr>
                        <a:t>Configuración del Dominio</a:t>
                      </a:r>
                    </a:p>
                  </a:txBody>
                  <a:tcPr/>
                </a:tc>
                <a:extLst>
                  <a:ext uri="{0D108BD9-81ED-4DB2-BD59-A6C34878D82A}">
                    <a16:rowId xmlns:a16="http://schemas.microsoft.com/office/drawing/2014/main" xmlns="" val="1781550187"/>
                  </a:ext>
                </a:extLst>
              </a:tr>
            </a:tbl>
          </a:graphicData>
        </a:graphic>
      </p:graphicFrame>
    </p:spTree>
    <p:extLst>
      <p:ext uri="{BB962C8B-B14F-4D97-AF65-F5344CB8AC3E}">
        <p14:creationId xmlns:p14="http://schemas.microsoft.com/office/powerpoint/2010/main" val="1792946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Técnicas y métodos de planificación</a:t>
            </a:r>
            <a:endParaRPr lang="es-ES" sz="2000" dirty="0"/>
          </a:p>
        </p:txBody>
      </p:sp>
      <p:sp>
        <p:nvSpPr>
          <p:cNvPr id="3" name="Marcador de contenido 2"/>
          <p:cNvSpPr>
            <a:spLocks noGrp="1"/>
          </p:cNvSpPr>
          <p:nvPr>
            <p:ph idx="1"/>
          </p:nvPr>
        </p:nvSpPr>
        <p:spPr>
          <a:xfrm>
            <a:off x="1097280" y="1845734"/>
            <a:ext cx="10058400" cy="814339"/>
          </a:xfrm>
        </p:spPr>
        <p:txBody>
          <a:bodyPr>
            <a:normAutofit/>
          </a:bodyPr>
          <a:lstStyle/>
          <a:p>
            <a:pPr algn="just">
              <a:buFont typeface="Wingdings" panose="05000000000000000000" pitchFamily="2" charset="2"/>
              <a:buChar char="Ø"/>
            </a:pPr>
            <a:r>
              <a:rPr lang="es-ES" sz="2600" b="1" dirty="0">
                <a:solidFill>
                  <a:srgbClr val="000000"/>
                </a:solidFill>
                <a:ea typeface="Tahoma" panose="020B0604030504040204" pitchFamily="34" charset="0"/>
                <a:cs typeface="Tahoma" panose="020B0604030504040204" pitchFamily="34" charset="0"/>
              </a:rPr>
              <a:t>Diagrama de barras o Gantt</a:t>
            </a:r>
            <a:r>
              <a:rPr lang="es-ES" sz="2600" dirty="0">
                <a:solidFill>
                  <a:srgbClr val="000000"/>
                </a:solidFill>
                <a:ea typeface="Tahoma" panose="020B0604030504040204" pitchFamily="34" charset="0"/>
                <a:cs typeface="Tahoma" panose="020B0604030504040204" pitchFamily="34" charset="0"/>
              </a:rPr>
              <a:t>: Representación gráfica de las tareas sobre una escala de tiempos.</a:t>
            </a:r>
          </a:p>
        </p:txBody>
      </p:sp>
      <p:pic>
        <p:nvPicPr>
          <p:cNvPr id="4" name="Picture 3"/>
          <p:cNvPicPr>
            <a:picLocks noChangeAspect="1" noChangeArrowheads="1"/>
          </p:cNvPicPr>
          <p:nvPr/>
        </p:nvPicPr>
        <p:blipFill>
          <a:blip r:embed="rId3"/>
          <a:srcRect/>
          <a:stretch>
            <a:fillRect/>
          </a:stretch>
        </p:blipFill>
        <p:spPr bwMode="auto">
          <a:xfrm>
            <a:off x="2155590" y="2660074"/>
            <a:ext cx="7941780" cy="3645724"/>
          </a:xfrm>
          <a:prstGeom prst="rect">
            <a:avLst/>
          </a:prstGeom>
          <a:noFill/>
          <a:ln w="9525">
            <a:noFill/>
            <a:miter lim="800000"/>
            <a:headEnd/>
            <a:tailEnd/>
          </a:ln>
          <a:effectLst/>
        </p:spPr>
      </p:pic>
    </p:spTree>
    <p:extLst>
      <p:ext uri="{BB962C8B-B14F-4D97-AF65-F5344CB8AC3E}">
        <p14:creationId xmlns:p14="http://schemas.microsoft.com/office/powerpoint/2010/main" val="1199627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Técnicas y métodos de planificación</a:t>
            </a:r>
            <a:r>
              <a:rPr lang="es-ES" sz="2000" dirty="0"/>
              <a:t>(cont.)</a:t>
            </a:r>
          </a:p>
        </p:txBody>
      </p:sp>
      <p:sp>
        <p:nvSpPr>
          <p:cNvPr id="3" name="Marcador de contenido 2"/>
          <p:cNvSpPr>
            <a:spLocks noGrp="1"/>
          </p:cNvSpPr>
          <p:nvPr>
            <p:ph idx="1"/>
          </p:nvPr>
        </p:nvSpPr>
        <p:spPr>
          <a:xfrm>
            <a:off x="1097280" y="1845734"/>
            <a:ext cx="10058400" cy="814339"/>
          </a:xfrm>
        </p:spPr>
        <p:txBody>
          <a:bodyPr>
            <a:normAutofit fontScale="85000" lnSpcReduction="10000"/>
          </a:bodyPr>
          <a:lstStyle/>
          <a:p>
            <a:pPr algn="just">
              <a:buFont typeface="Wingdings" panose="05000000000000000000" pitchFamily="2" charset="2"/>
              <a:buChar char="Ø"/>
            </a:pPr>
            <a:r>
              <a:rPr lang="es-ES" sz="2600" b="1" dirty="0">
                <a:solidFill>
                  <a:srgbClr val="000000"/>
                </a:solidFill>
                <a:ea typeface="Tahoma" panose="020B0604030504040204" pitchFamily="34" charset="0"/>
                <a:cs typeface="Tahoma" panose="020B0604030504040204" pitchFamily="34" charset="0"/>
              </a:rPr>
              <a:t>Tablero Kanban</a:t>
            </a:r>
            <a:r>
              <a:rPr lang="es-ES" sz="2600" dirty="0">
                <a:solidFill>
                  <a:srgbClr val="000000"/>
                </a:solidFill>
                <a:ea typeface="Tahoma" panose="020B0604030504040204" pitchFamily="34" charset="0"/>
                <a:cs typeface="Tahoma" panose="020B0604030504040204" pitchFamily="34" charset="0"/>
              </a:rPr>
              <a:t>: Herramienta de visualización que avisa de determinados eventos y en el que podemos ver representado de manera simple y gráfica un flujo de trabajo.</a:t>
            </a:r>
          </a:p>
        </p:txBody>
      </p:sp>
      <p:pic>
        <p:nvPicPr>
          <p:cNvPr id="5" name="Picture 4">
            <a:extLst>
              <a:ext uri="{FF2B5EF4-FFF2-40B4-BE49-F238E27FC236}">
                <a16:creationId xmlns:a16="http://schemas.microsoft.com/office/drawing/2014/main" xmlns="" id="{71BC5754-9E54-4F01-88CC-B640020A0ACA}"/>
              </a:ext>
            </a:extLst>
          </p:cNvPr>
          <p:cNvPicPr>
            <a:picLocks noChangeAspect="1"/>
          </p:cNvPicPr>
          <p:nvPr/>
        </p:nvPicPr>
        <p:blipFill rotWithShape="1">
          <a:blip r:embed="rId2">
            <a:extLst>
              <a:ext uri="{28A0092B-C50C-407E-A947-70E740481C1C}">
                <a14:useLocalDpi xmlns:a14="http://schemas.microsoft.com/office/drawing/2010/main" val="0"/>
              </a:ext>
            </a:extLst>
          </a:blip>
          <a:srcRect b="18792"/>
          <a:stretch/>
        </p:blipFill>
        <p:spPr>
          <a:xfrm>
            <a:off x="1036320" y="2505249"/>
            <a:ext cx="10269351" cy="3816038"/>
          </a:xfrm>
          <a:prstGeom prst="rect">
            <a:avLst/>
          </a:prstGeom>
        </p:spPr>
      </p:pic>
    </p:spTree>
    <p:extLst>
      <p:ext uri="{BB962C8B-B14F-4D97-AF65-F5344CB8AC3E}">
        <p14:creationId xmlns:p14="http://schemas.microsoft.com/office/powerpoint/2010/main" val="3161622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a:t>Problemas</a:t>
            </a:r>
            <a:r>
              <a:rPr lang="en-US" dirty="0"/>
              <a:t> en la </a:t>
            </a:r>
            <a:r>
              <a:rPr lang="en-US" dirty="0" err="1"/>
              <a:t>planificación</a:t>
            </a:r>
            <a:endParaRPr lang="es-ES" dirty="0"/>
          </a:p>
        </p:txBody>
      </p:sp>
      <p:sp>
        <p:nvSpPr>
          <p:cNvPr id="3" name="Marcador de contenido 2"/>
          <p:cNvSpPr>
            <a:spLocks noGrp="1"/>
          </p:cNvSpPr>
          <p:nvPr>
            <p:ph idx="1"/>
          </p:nvPr>
        </p:nvSpPr>
        <p:spPr>
          <a:xfrm>
            <a:off x="1097280" y="2018010"/>
            <a:ext cx="10058400" cy="4023360"/>
          </a:xfrm>
        </p:spPr>
        <p:txBody>
          <a:bodyPr/>
          <a:lstStyle/>
          <a:p>
            <a:pPr algn="just">
              <a:spcBef>
                <a:spcPts val="625"/>
              </a:spcBef>
              <a:buFont typeface="Wingdings" panose="05000000000000000000"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Es difícil estimar la longitud y dificultad de las tareas.</a:t>
            </a:r>
          </a:p>
          <a:p>
            <a:pPr algn="just">
              <a:spcBef>
                <a:spcPts val="625"/>
              </a:spcBef>
              <a:buFont typeface="Wingdings" panose="05000000000000000000"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La productividad no es proporcional al número de personas trabajando en una tarea.</a:t>
            </a:r>
          </a:p>
          <a:p>
            <a:pPr algn="just">
              <a:spcBef>
                <a:spcPts val="625"/>
              </a:spcBef>
              <a:buFont typeface="Wingdings" panose="05000000000000000000"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Incluir personal en un proyecto en avance puede retrasar el proyecto por problemas en la comunicación.</a:t>
            </a:r>
          </a:p>
          <a:p>
            <a:pPr algn="just">
              <a:spcBef>
                <a:spcPts val="625"/>
              </a:spcBef>
              <a:buFont typeface="Wingdings" panose="05000000000000000000"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s-ES_tradnl" sz="2600" dirty="0"/>
              <a:t>Lo inesperado siempre sucede. </a:t>
            </a:r>
          </a:p>
          <a:p>
            <a:pPr algn="just">
              <a:spcBef>
                <a:spcPts val="625"/>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dirty="0"/>
          </a:p>
          <a:p>
            <a:pPr algn="just">
              <a:spcBef>
                <a:spcPts val="7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s-MX" dirty="0"/>
              <a:t>	 		    </a:t>
            </a:r>
            <a:r>
              <a:rPr lang="es-MX" sz="3200" b="1" dirty="0"/>
              <a:t>Punto crítico: </a:t>
            </a:r>
            <a:r>
              <a:rPr lang="es-MX" sz="3200" b="1" dirty="0">
                <a:solidFill>
                  <a:srgbClr val="FF0000"/>
                </a:solidFill>
              </a:rPr>
              <a:t>organización del trabajo</a:t>
            </a:r>
            <a:r>
              <a:rPr lang="es-MX" sz="3200" b="1" dirty="0"/>
              <a:t>.</a:t>
            </a:r>
          </a:p>
          <a:p>
            <a:pPr algn="just"/>
            <a:endParaRPr lang="es-ES" dirty="0"/>
          </a:p>
        </p:txBody>
      </p:sp>
    </p:spTree>
    <p:extLst>
      <p:ext uri="{BB962C8B-B14F-4D97-AF65-F5344CB8AC3E}">
        <p14:creationId xmlns:p14="http://schemas.microsoft.com/office/powerpoint/2010/main" val="53754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80">
                                          <p:stCondLst>
                                            <p:cond delay="0"/>
                                          </p:stCondLst>
                                        </p:cTn>
                                        <p:tgtEl>
                                          <p:spTgt spid="3">
                                            <p:txEl>
                                              <p:pRg st="5" end="5"/>
                                            </p:txEl>
                                          </p:spTgt>
                                        </p:tgtEl>
                                      </p:cBhvr>
                                    </p:animEffect>
                                    <p:anim calcmode="lin" valueType="num">
                                      <p:cBhvr>
                                        <p:cTn id="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5" end="5"/>
                                            </p:txEl>
                                          </p:spTgt>
                                        </p:tgtEl>
                                      </p:cBhvr>
                                      <p:to x="100000" y="60000"/>
                                    </p:animScale>
                                    <p:animScale>
                                      <p:cBhvr>
                                        <p:cTn id="14" dur="166" decel="50000">
                                          <p:stCondLst>
                                            <p:cond delay="676"/>
                                          </p:stCondLst>
                                        </p:cTn>
                                        <p:tgtEl>
                                          <p:spTgt spid="3">
                                            <p:txEl>
                                              <p:pRg st="5" end="5"/>
                                            </p:txEl>
                                          </p:spTgt>
                                        </p:tgtEl>
                                      </p:cBhvr>
                                      <p:to x="100000" y="100000"/>
                                    </p:animScale>
                                    <p:animScale>
                                      <p:cBhvr>
                                        <p:cTn id="15" dur="26">
                                          <p:stCondLst>
                                            <p:cond delay="1312"/>
                                          </p:stCondLst>
                                        </p:cTn>
                                        <p:tgtEl>
                                          <p:spTgt spid="3">
                                            <p:txEl>
                                              <p:pRg st="5" end="5"/>
                                            </p:txEl>
                                          </p:spTgt>
                                        </p:tgtEl>
                                      </p:cBhvr>
                                      <p:to x="100000" y="80000"/>
                                    </p:animScale>
                                    <p:animScale>
                                      <p:cBhvr>
                                        <p:cTn id="16" dur="166" decel="50000">
                                          <p:stCondLst>
                                            <p:cond delay="1338"/>
                                          </p:stCondLst>
                                        </p:cTn>
                                        <p:tgtEl>
                                          <p:spTgt spid="3">
                                            <p:txEl>
                                              <p:pRg st="5" end="5"/>
                                            </p:txEl>
                                          </p:spTgt>
                                        </p:tgtEl>
                                      </p:cBhvr>
                                      <p:to x="100000" y="100000"/>
                                    </p:animScale>
                                    <p:animScale>
                                      <p:cBhvr>
                                        <p:cTn id="17" dur="26">
                                          <p:stCondLst>
                                            <p:cond delay="1642"/>
                                          </p:stCondLst>
                                        </p:cTn>
                                        <p:tgtEl>
                                          <p:spTgt spid="3">
                                            <p:txEl>
                                              <p:pRg st="5" end="5"/>
                                            </p:txEl>
                                          </p:spTgt>
                                        </p:tgtEl>
                                      </p:cBhvr>
                                      <p:to x="100000" y="90000"/>
                                    </p:animScale>
                                    <p:animScale>
                                      <p:cBhvr>
                                        <p:cTn id="18" dur="166" decel="50000">
                                          <p:stCondLst>
                                            <p:cond delay="1668"/>
                                          </p:stCondLst>
                                        </p:cTn>
                                        <p:tgtEl>
                                          <p:spTgt spid="3">
                                            <p:txEl>
                                              <p:pRg st="5" end="5"/>
                                            </p:txEl>
                                          </p:spTgt>
                                        </p:tgtEl>
                                      </p:cBhvr>
                                      <p:to x="100000" y="100000"/>
                                    </p:animScale>
                                    <p:animScale>
                                      <p:cBhvr>
                                        <p:cTn id="19" dur="26">
                                          <p:stCondLst>
                                            <p:cond delay="1808"/>
                                          </p:stCondLst>
                                        </p:cTn>
                                        <p:tgtEl>
                                          <p:spTgt spid="3">
                                            <p:txEl>
                                              <p:pRg st="5" end="5"/>
                                            </p:txEl>
                                          </p:spTgt>
                                        </p:tgtEl>
                                      </p:cBhvr>
                                      <p:to x="100000" y="95000"/>
                                    </p:animScale>
                                    <p:animScale>
                                      <p:cBhvr>
                                        <p:cTn id="2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Herramientas de planificación</a:t>
            </a:r>
          </a:p>
        </p:txBody>
      </p:sp>
      <p:sp>
        <p:nvSpPr>
          <p:cNvPr id="3" name="Marcador de contenido 2"/>
          <p:cNvSpPr>
            <a:spLocks noGrp="1"/>
          </p:cNvSpPr>
          <p:nvPr>
            <p:ph idx="1"/>
          </p:nvPr>
        </p:nvSpPr>
        <p:spPr/>
        <p:txBody>
          <a:bodyPr>
            <a:noAutofit/>
          </a:bodyPr>
          <a:lstStyle/>
          <a:p>
            <a:pPr>
              <a:buFont typeface="Wingdings" panose="05000000000000000000" pitchFamily="2" charset="2"/>
              <a:buChar char="Ø"/>
            </a:pPr>
            <a:r>
              <a:rPr lang="es-ES_tradnl" sz="2600" b="1" dirty="0" err="1">
                <a:solidFill>
                  <a:schemeClr val="tx1"/>
                </a:solidFill>
              </a:rPr>
              <a:t>ProjectManager</a:t>
            </a:r>
            <a:r>
              <a:rPr lang="es-ES_tradnl" sz="2600" b="1" dirty="0">
                <a:solidFill>
                  <a:schemeClr val="tx1"/>
                </a:solidFill>
              </a:rPr>
              <a:t>                 </a:t>
            </a:r>
            <a:endParaRPr lang="es-ES_tradnl" sz="2200" dirty="0">
              <a:solidFill>
                <a:schemeClr val="tx1"/>
              </a:solidFill>
            </a:endParaRPr>
          </a:p>
          <a:p>
            <a:pPr>
              <a:buFont typeface="Wingdings" panose="05000000000000000000" pitchFamily="2" charset="2"/>
              <a:buChar char="Ø"/>
            </a:pPr>
            <a:r>
              <a:rPr lang="es-ES" sz="2600" b="1" dirty="0" err="1">
                <a:solidFill>
                  <a:schemeClr val="tx1"/>
                </a:solidFill>
              </a:rPr>
              <a:t>OpenProject</a:t>
            </a:r>
            <a:endParaRPr lang="es-ES" sz="2600" b="1" dirty="0">
              <a:solidFill>
                <a:schemeClr val="tx1"/>
              </a:solidFill>
            </a:endParaRPr>
          </a:p>
          <a:p>
            <a:pPr>
              <a:buFont typeface="Wingdings" panose="05000000000000000000" pitchFamily="2" charset="2"/>
              <a:buChar char="Ø"/>
            </a:pPr>
            <a:r>
              <a:rPr lang="es-ES" sz="2600" b="1" dirty="0" err="1">
                <a:solidFill>
                  <a:schemeClr val="tx1"/>
                </a:solidFill>
              </a:rPr>
              <a:t>ClickUp</a:t>
            </a:r>
            <a:endParaRPr lang="es-ES" sz="2600" b="1" dirty="0">
              <a:solidFill>
                <a:schemeClr val="tx1"/>
              </a:solidFill>
            </a:endParaRPr>
          </a:p>
          <a:p>
            <a:pPr>
              <a:buFont typeface="Wingdings" panose="05000000000000000000" pitchFamily="2" charset="2"/>
              <a:buChar char="Ø"/>
            </a:pPr>
            <a:r>
              <a:rPr lang="es-ES" sz="2600" b="1" dirty="0">
                <a:solidFill>
                  <a:schemeClr val="tx1"/>
                </a:solidFill>
              </a:rPr>
              <a:t>Smartsheet</a:t>
            </a:r>
          </a:p>
          <a:p>
            <a:pPr>
              <a:buFont typeface="Wingdings" panose="05000000000000000000" pitchFamily="2" charset="2"/>
              <a:buChar char="Ø"/>
            </a:pPr>
            <a:r>
              <a:rPr lang="es-ES" sz="2600" b="1" dirty="0">
                <a:solidFill>
                  <a:schemeClr val="tx1"/>
                </a:solidFill>
              </a:rPr>
              <a:t>Trello</a:t>
            </a:r>
            <a:endParaRPr lang="es-ES_tradnl" sz="2600" b="1" dirty="0">
              <a:solidFill>
                <a:schemeClr val="tx1"/>
              </a:solidFill>
            </a:endParaRPr>
          </a:p>
          <a:p>
            <a:pPr>
              <a:buFont typeface="Wingdings" panose="05000000000000000000" pitchFamily="2" charset="2"/>
              <a:buChar char="Ø"/>
            </a:pPr>
            <a:r>
              <a:rPr lang="es-ES" sz="2600" b="1" dirty="0">
                <a:solidFill>
                  <a:schemeClr val="tx1"/>
                </a:solidFill>
              </a:rPr>
              <a:t>GANTTPRO</a:t>
            </a:r>
          </a:p>
          <a:p>
            <a:pPr>
              <a:buFont typeface="Wingdings" panose="05000000000000000000" pitchFamily="2" charset="2"/>
              <a:buChar char="Ø"/>
            </a:pPr>
            <a:r>
              <a:rPr lang="es-ES_tradnl" sz="2600" b="1" dirty="0" err="1">
                <a:solidFill>
                  <a:schemeClr val="tx1"/>
                </a:solidFill>
              </a:rPr>
              <a:t>DotProject</a:t>
            </a:r>
            <a:r>
              <a:rPr lang="es-ES_tradnl" sz="2600" dirty="0">
                <a:solidFill>
                  <a:schemeClr val="tx1"/>
                </a:solidFill>
              </a:rPr>
              <a:t> </a:t>
            </a:r>
          </a:p>
        </p:txBody>
      </p:sp>
      <p:pic>
        <p:nvPicPr>
          <p:cNvPr id="6" name="Picture 5">
            <a:extLst>
              <a:ext uri="{FF2B5EF4-FFF2-40B4-BE49-F238E27FC236}">
                <a16:creationId xmlns:a16="http://schemas.microsoft.com/office/drawing/2014/main" xmlns="" id="{77D24D54-1D29-472E-9E6E-BC2356C8DE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0575" y="1953568"/>
            <a:ext cx="1382032" cy="1382032"/>
          </a:xfrm>
          <a:prstGeom prst="rect">
            <a:avLst/>
          </a:prstGeom>
        </p:spPr>
      </p:pic>
      <p:sp>
        <p:nvSpPr>
          <p:cNvPr id="8" name="Rectangle 7">
            <a:extLst>
              <a:ext uri="{FF2B5EF4-FFF2-40B4-BE49-F238E27FC236}">
                <a16:creationId xmlns:a16="http://schemas.microsoft.com/office/drawing/2014/main" xmlns="" id="{E573AC73-A983-47E2-B14D-2F2D65E1712A}"/>
              </a:ext>
            </a:extLst>
          </p:cNvPr>
          <p:cNvSpPr/>
          <p:nvPr/>
        </p:nvSpPr>
        <p:spPr>
          <a:xfrm>
            <a:off x="8272607" y="2406976"/>
            <a:ext cx="2044278" cy="461665"/>
          </a:xfrm>
          <a:prstGeom prst="rect">
            <a:avLst/>
          </a:prstGeom>
        </p:spPr>
        <p:txBody>
          <a:bodyPr wrap="none">
            <a:spAutoFit/>
          </a:bodyPr>
          <a:lstStyle/>
          <a:p>
            <a:r>
              <a:rPr lang="es-MX" sz="2400" b="1" dirty="0"/>
              <a:t>Azure DevOps </a:t>
            </a:r>
          </a:p>
        </p:txBody>
      </p:sp>
      <p:pic>
        <p:nvPicPr>
          <p:cNvPr id="10" name="Picture 9">
            <a:extLst>
              <a:ext uri="{FF2B5EF4-FFF2-40B4-BE49-F238E27FC236}">
                <a16:creationId xmlns:a16="http://schemas.microsoft.com/office/drawing/2014/main" xmlns="" id="{83D4B3A6-FD1E-45B3-99E7-ECC6A5FC24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2984" y="3243674"/>
            <a:ext cx="2440009" cy="1574199"/>
          </a:xfrm>
          <a:prstGeom prst="rect">
            <a:avLst/>
          </a:prstGeom>
        </p:spPr>
      </p:pic>
      <p:pic>
        <p:nvPicPr>
          <p:cNvPr id="12" name="Picture 11">
            <a:extLst>
              <a:ext uri="{FF2B5EF4-FFF2-40B4-BE49-F238E27FC236}">
                <a16:creationId xmlns:a16="http://schemas.microsoft.com/office/drawing/2014/main" xmlns="" id="{FAB02541-832B-44B0-8068-E6E01908F2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0275" y="4690753"/>
            <a:ext cx="1211974" cy="1252373"/>
          </a:xfrm>
          <a:prstGeom prst="rect">
            <a:avLst/>
          </a:prstGeom>
        </p:spPr>
      </p:pic>
      <p:sp>
        <p:nvSpPr>
          <p:cNvPr id="13" name="Rectangle 12">
            <a:extLst>
              <a:ext uri="{FF2B5EF4-FFF2-40B4-BE49-F238E27FC236}">
                <a16:creationId xmlns:a16="http://schemas.microsoft.com/office/drawing/2014/main" xmlns="" id="{62F881F8-28C8-47CB-A3F0-249371447548}"/>
              </a:ext>
            </a:extLst>
          </p:cNvPr>
          <p:cNvSpPr/>
          <p:nvPr/>
        </p:nvSpPr>
        <p:spPr>
          <a:xfrm>
            <a:off x="8821725" y="5125599"/>
            <a:ext cx="617157" cy="461665"/>
          </a:xfrm>
          <a:prstGeom prst="rect">
            <a:avLst/>
          </a:prstGeom>
        </p:spPr>
        <p:txBody>
          <a:bodyPr wrap="none">
            <a:spAutoFit/>
          </a:bodyPr>
          <a:lstStyle/>
          <a:p>
            <a:r>
              <a:rPr lang="es-MX" sz="2400" b="1" dirty="0"/>
              <a:t>Jira</a:t>
            </a:r>
          </a:p>
        </p:txBody>
      </p:sp>
      <p:sp>
        <p:nvSpPr>
          <p:cNvPr id="14" name="Rectangle 13">
            <a:extLst>
              <a:ext uri="{FF2B5EF4-FFF2-40B4-BE49-F238E27FC236}">
                <a16:creationId xmlns:a16="http://schemas.microsoft.com/office/drawing/2014/main" xmlns="" id="{2D25C3D9-39A3-443C-BF8B-4DFE7DE3A7F7}"/>
              </a:ext>
            </a:extLst>
          </p:cNvPr>
          <p:cNvSpPr/>
          <p:nvPr/>
        </p:nvSpPr>
        <p:spPr>
          <a:xfrm>
            <a:off x="8781464" y="3790703"/>
            <a:ext cx="513282" cy="461665"/>
          </a:xfrm>
          <a:prstGeom prst="rect">
            <a:avLst/>
          </a:prstGeom>
        </p:spPr>
        <p:txBody>
          <a:bodyPr wrap="none">
            <a:spAutoFit/>
          </a:bodyPr>
          <a:lstStyle/>
          <a:p>
            <a:r>
              <a:rPr lang="es-MX" sz="2400" b="1" dirty="0" err="1"/>
              <a:t>git</a:t>
            </a:r>
            <a:endParaRPr lang="es-MX" sz="2400" b="1" dirty="0"/>
          </a:p>
        </p:txBody>
      </p:sp>
      <p:sp>
        <p:nvSpPr>
          <p:cNvPr id="4" name="Rectángulo: esquinas redondeadas 3">
            <a:extLst>
              <a:ext uri="{FF2B5EF4-FFF2-40B4-BE49-F238E27FC236}">
                <a16:creationId xmlns:a16="http://schemas.microsoft.com/office/drawing/2014/main" xmlns="" id="{6869B402-EF92-9CD5-6620-861CF19C2CA3}"/>
              </a:ext>
            </a:extLst>
          </p:cNvPr>
          <p:cNvSpPr/>
          <p:nvPr/>
        </p:nvSpPr>
        <p:spPr>
          <a:xfrm>
            <a:off x="6400800" y="1845734"/>
            <a:ext cx="4693920" cy="4308881"/>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9547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Estimación</a:t>
            </a:r>
          </a:p>
        </p:txBody>
      </p:sp>
      <p:sp>
        <p:nvSpPr>
          <p:cNvPr id="3" name="Marcador de texto 2"/>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3453608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Estimación</a:t>
            </a:r>
          </a:p>
        </p:txBody>
      </p:sp>
      <p:sp>
        <p:nvSpPr>
          <p:cNvPr id="3" name="Marcador de contenido 2"/>
          <p:cNvSpPr>
            <a:spLocks noGrp="1"/>
          </p:cNvSpPr>
          <p:nvPr>
            <p:ph idx="1"/>
          </p:nvPr>
        </p:nvSpPr>
        <p:spPr/>
        <p:txBody>
          <a:bodyPr/>
          <a:lstStyle/>
          <a:p>
            <a:pPr marL="533400" indent="-531813" algn="just">
              <a:spcAft>
                <a:spcPts val="1200"/>
              </a:spcAft>
              <a:buFont typeface="Wingdings" panose="05000000000000000000" pitchFamily="2" charset="2"/>
              <a:buChar char="Ø"/>
              <a:tabLst>
                <a:tab pos="533400" algn="l"/>
                <a:tab pos="760413"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pPr>
            <a:r>
              <a:rPr lang="es-ES" sz="2600" i="1" dirty="0"/>
              <a:t>“</a:t>
            </a:r>
            <a:r>
              <a:rPr lang="es-ES" sz="2600" b="1" i="1" dirty="0">
                <a:solidFill>
                  <a:srgbClr val="FF0000"/>
                </a:solidFill>
              </a:rPr>
              <a:t>Predecir</a:t>
            </a:r>
            <a:r>
              <a:rPr lang="es-ES" sz="2600" i="1" dirty="0"/>
              <a:t> valores de </a:t>
            </a:r>
            <a:r>
              <a:rPr lang="es-ES" sz="2600" b="1" i="1" dirty="0">
                <a:solidFill>
                  <a:srgbClr val="FF0000"/>
                </a:solidFill>
              </a:rPr>
              <a:t>entidades</a:t>
            </a:r>
            <a:r>
              <a:rPr lang="es-ES" sz="2600" i="1" dirty="0"/>
              <a:t> y sus </a:t>
            </a:r>
            <a:r>
              <a:rPr lang="es-ES" sz="2600" dirty="0">
                <a:solidFill>
                  <a:schemeClr val="tx1"/>
                </a:solidFill>
              </a:rPr>
              <a:t>atributos</a:t>
            </a:r>
            <a:r>
              <a:rPr lang="es-ES" sz="2600" i="1" dirty="0"/>
              <a:t> que sean </a:t>
            </a:r>
            <a:r>
              <a:rPr lang="es-ES" sz="2600" dirty="0"/>
              <a:t>relevantes</a:t>
            </a:r>
            <a:r>
              <a:rPr lang="es-ES" sz="2600" i="1" dirty="0"/>
              <a:t> para el proyecto”.(</a:t>
            </a:r>
            <a:r>
              <a:rPr lang="es-ES" sz="2600" dirty="0" err="1"/>
              <a:t>Pressman</a:t>
            </a:r>
            <a:r>
              <a:rPr lang="es-ES" sz="2600" dirty="0"/>
              <a:t>, 2007)</a:t>
            </a:r>
          </a:p>
          <a:p>
            <a:pPr marL="533400" indent="-531813" algn="just">
              <a:spcAft>
                <a:spcPts val="1200"/>
              </a:spcAft>
              <a:buFont typeface="Wingdings" panose="05000000000000000000" pitchFamily="2" charset="2"/>
              <a:buChar char="Ø"/>
              <a:tabLst>
                <a:tab pos="533400" algn="l"/>
                <a:tab pos="760413"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pPr>
            <a:r>
              <a:rPr lang="es-ES" sz="2600" dirty="0"/>
              <a:t>Es la entrada fundamental para cualquier actividad de planificación. Si todas las metodologías de desarrollo incluyen la planificación, entonces la estimación NO es una tarea Opcional.</a:t>
            </a:r>
          </a:p>
          <a:p>
            <a:endParaRPr lang="es-ES" dirty="0"/>
          </a:p>
        </p:txBody>
      </p:sp>
    </p:spTree>
    <p:extLst>
      <p:ext uri="{BB962C8B-B14F-4D97-AF65-F5344CB8AC3E}">
        <p14:creationId xmlns:p14="http://schemas.microsoft.com/office/powerpoint/2010/main" val="1773468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1321436408"/>
              </p:ext>
            </p:extLst>
          </p:nvPr>
        </p:nvGraphicFramePr>
        <p:xfrm>
          <a:off x="855023" y="1846263"/>
          <a:ext cx="10300340" cy="44476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ítulo 1"/>
          <p:cNvSpPr>
            <a:spLocks noGrp="1"/>
          </p:cNvSpPr>
          <p:nvPr>
            <p:ph type="title"/>
          </p:nvPr>
        </p:nvSpPr>
        <p:spPr>
          <a:xfrm>
            <a:off x="1097280" y="286603"/>
            <a:ext cx="10058400" cy="1450757"/>
          </a:xfrm>
        </p:spPr>
        <p:txBody>
          <a:bodyPr/>
          <a:lstStyle/>
          <a:p>
            <a:r>
              <a:rPr lang="es-ES" dirty="0">
                <a:solidFill>
                  <a:schemeClr val="tx1"/>
                </a:solidFill>
              </a:rPr>
              <a:t>¿Qué se estima en un proyecto?</a:t>
            </a:r>
          </a:p>
        </p:txBody>
      </p:sp>
    </p:spTree>
    <p:extLst>
      <p:ext uri="{BB962C8B-B14F-4D97-AF65-F5344CB8AC3E}">
        <p14:creationId xmlns:p14="http://schemas.microsoft.com/office/powerpoint/2010/main" val="1890577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solidFill>
                  <a:schemeClr val="tx1"/>
                </a:solidFill>
              </a:rPr>
              <a:t>¿Cuándo se estima en un proyecto?</a:t>
            </a:r>
          </a:p>
        </p:txBody>
      </p:sp>
      <p:pic>
        <p:nvPicPr>
          <p:cNvPr id="3" name="Picture 2"/>
          <p:cNvPicPr>
            <a:picLocks noChangeAspect="1" noChangeArrowheads="1"/>
          </p:cNvPicPr>
          <p:nvPr/>
        </p:nvPicPr>
        <p:blipFill>
          <a:blip r:embed="rId2"/>
          <a:srcRect/>
          <a:stretch>
            <a:fillRect/>
          </a:stretch>
        </p:blipFill>
        <p:spPr>
          <a:xfrm>
            <a:off x="1888169" y="1765034"/>
            <a:ext cx="7350826" cy="4540763"/>
          </a:xfrm>
          <a:prstGeom prst="rect">
            <a:avLst/>
          </a:prstGeom>
        </p:spPr>
      </p:pic>
      <p:sp>
        <p:nvSpPr>
          <p:cNvPr id="4" name="7 Rectángulo"/>
          <p:cNvSpPr>
            <a:spLocks noChangeArrowheads="1"/>
          </p:cNvSpPr>
          <p:nvPr/>
        </p:nvSpPr>
        <p:spPr bwMode="auto">
          <a:xfrm>
            <a:off x="2099018" y="4880262"/>
            <a:ext cx="6891400" cy="226126"/>
          </a:xfrm>
          <a:prstGeom prst="rect">
            <a:avLst/>
          </a:prstGeom>
          <a:noFill/>
          <a:ln w="63500" algn="ctr">
            <a:solidFill>
              <a:srgbClr val="FF0000"/>
            </a:solidFill>
            <a:round/>
            <a:headEnd/>
            <a:tailEnd/>
          </a:ln>
        </p:spPr>
        <p:txBody>
          <a:bodyPr/>
          <a:lstStyle/>
          <a:p>
            <a:endParaRPr lang="es-ES"/>
          </a:p>
        </p:txBody>
      </p:sp>
      <p:sp>
        <p:nvSpPr>
          <p:cNvPr id="5" name="8 CuadroTexto"/>
          <p:cNvSpPr txBox="1">
            <a:spLocks noChangeArrowheads="1"/>
          </p:cNvSpPr>
          <p:nvPr/>
        </p:nvSpPr>
        <p:spPr bwMode="auto">
          <a:xfrm>
            <a:off x="9238995" y="1974006"/>
            <a:ext cx="2028119" cy="584775"/>
          </a:xfrm>
          <a:prstGeom prst="rect">
            <a:avLst/>
          </a:prstGeom>
          <a:noFill/>
          <a:ln w="9525">
            <a:noFill/>
            <a:miter lim="800000"/>
            <a:headEnd/>
            <a:tailEnd/>
          </a:ln>
        </p:spPr>
        <p:txBody>
          <a:bodyPr wrap="none">
            <a:spAutoFit/>
          </a:bodyPr>
          <a:lstStyle/>
          <a:p>
            <a:r>
              <a:rPr lang="es-ES" sz="3200" b="1" dirty="0"/>
              <a:t>Según RUP</a:t>
            </a:r>
            <a:endParaRPr lang="es-ES" b="1" dirty="0"/>
          </a:p>
        </p:txBody>
      </p:sp>
    </p:spTree>
    <p:extLst>
      <p:ext uri="{BB962C8B-B14F-4D97-AF65-F5344CB8AC3E}">
        <p14:creationId xmlns:p14="http://schemas.microsoft.com/office/powerpoint/2010/main" val="2174592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solidFill>
                  <a:schemeClr val="tx1"/>
                </a:solidFill>
              </a:rPr>
              <a:t>¿Cuándo se estima en un proyecto? </a:t>
            </a:r>
            <a:r>
              <a:rPr lang="es-ES" sz="2000" dirty="0">
                <a:solidFill>
                  <a:schemeClr val="tx1"/>
                </a:solidFill>
              </a:rPr>
              <a:t>(cont. I)</a:t>
            </a:r>
            <a:endParaRPr lang="es-ES" sz="2000" dirty="0"/>
          </a:p>
        </p:txBody>
      </p:sp>
      <p:pic>
        <p:nvPicPr>
          <p:cNvPr id="3" name="Picture 3" descr="XP proyecto"/>
          <p:cNvPicPr>
            <a:picLocks noChangeAspect="1" noChangeArrowheads="1"/>
          </p:cNvPicPr>
          <p:nvPr/>
        </p:nvPicPr>
        <p:blipFill>
          <a:blip r:embed="rId2"/>
          <a:srcRect l="4395" t="13394" r="34251" b="40208"/>
          <a:stretch>
            <a:fillRect/>
          </a:stretch>
        </p:blipFill>
        <p:spPr>
          <a:xfrm>
            <a:off x="2339440" y="1827626"/>
            <a:ext cx="7402286" cy="4501922"/>
          </a:xfrm>
          <a:prstGeom prst="rect">
            <a:avLst/>
          </a:prstGeom>
        </p:spPr>
      </p:pic>
      <p:sp>
        <p:nvSpPr>
          <p:cNvPr id="4" name="7 Rectángulo"/>
          <p:cNvSpPr>
            <a:spLocks noChangeArrowheads="1"/>
          </p:cNvSpPr>
          <p:nvPr/>
        </p:nvSpPr>
        <p:spPr bwMode="auto">
          <a:xfrm rot="3303246">
            <a:off x="3729193" y="4505143"/>
            <a:ext cx="1913054" cy="1673714"/>
          </a:xfrm>
          <a:prstGeom prst="rect">
            <a:avLst/>
          </a:prstGeom>
          <a:noFill/>
          <a:ln w="76200" algn="ctr">
            <a:solidFill>
              <a:srgbClr val="FF0000"/>
            </a:solidFill>
            <a:round/>
            <a:headEnd/>
            <a:tailEnd/>
          </a:ln>
        </p:spPr>
        <p:txBody>
          <a:bodyPr/>
          <a:lstStyle/>
          <a:p>
            <a:endParaRPr lang="es-ES"/>
          </a:p>
        </p:txBody>
      </p:sp>
    </p:spTree>
    <p:extLst>
      <p:ext uri="{BB962C8B-B14F-4D97-AF65-F5344CB8AC3E}">
        <p14:creationId xmlns:p14="http://schemas.microsoft.com/office/powerpoint/2010/main" val="328421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solidFill>
                  <a:schemeClr val="tx1"/>
                </a:solidFill>
              </a:rPr>
              <a:t>¿Cuándo se estima en un proyecto? </a:t>
            </a:r>
            <a:r>
              <a:rPr lang="es-ES" sz="2000" dirty="0">
                <a:solidFill>
                  <a:schemeClr val="tx1"/>
                </a:solidFill>
              </a:rPr>
              <a:t>(cont. II)</a:t>
            </a:r>
            <a:endParaRPr lang="es-ES" dirty="0"/>
          </a:p>
        </p:txBody>
      </p:sp>
      <p:pic>
        <p:nvPicPr>
          <p:cNvPr id="5" name="Picture 2"/>
          <p:cNvPicPr>
            <a:picLocks noChangeAspect="1" noChangeArrowheads="1"/>
          </p:cNvPicPr>
          <p:nvPr/>
        </p:nvPicPr>
        <p:blipFill>
          <a:blip r:embed="rId2"/>
          <a:srcRect/>
          <a:stretch>
            <a:fillRect/>
          </a:stretch>
        </p:blipFill>
        <p:spPr>
          <a:xfrm>
            <a:off x="2375063" y="1772985"/>
            <a:ext cx="7204337" cy="4532812"/>
          </a:xfrm>
          <a:prstGeom prst="rect">
            <a:avLst/>
          </a:prstGeom>
        </p:spPr>
      </p:pic>
      <p:sp>
        <p:nvSpPr>
          <p:cNvPr id="6" name="7 Rectángulo"/>
          <p:cNvSpPr>
            <a:spLocks noChangeArrowheads="1"/>
          </p:cNvSpPr>
          <p:nvPr/>
        </p:nvSpPr>
        <p:spPr bwMode="auto">
          <a:xfrm>
            <a:off x="3991060" y="1772985"/>
            <a:ext cx="3027258" cy="1373976"/>
          </a:xfrm>
          <a:prstGeom prst="rect">
            <a:avLst/>
          </a:prstGeom>
          <a:noFill/>
          <a:ln w="76200" algn="ctr">
            <a:solidFill>
              <a:srgbClr val="FF0000"/>
            </a:solidFill>
            <a:round/>
            <a:headEnd/>
            <a:tailEnd/>
          </a:ln>
        </p:spPr>
        <p:txBody>
          <a:bodyPr/>
          <a:lstStyle/>
          <a:p>
            <a:endParaRPr lang="es-ES"/>
          </a:p>
        </p:txBody>
      </p:sp>
      <p:sp>
        <p:nvSpPr>
          <p:cNvPr id="7" name="8 CuadroTexto"/>
          <p:cNvSpPr txBox="1">
            <a:spLocks noChangeArrowheads="1"/>
          </p:cNvSpPr>
          <p:nvPr/>
        </p:nvSpPr>
        <p:spPr bwMode="auto">
          <a:xfrm>
            <a:off x="8752919" y="1772985"/>
            <a:ext cx="2581156" cy="584775"/>
          </a:xfrm>
          <a:prstGeom prst="rect">
            <a:avLst/>
          </a:prstGeom>
          <a:noFill/>
          <a:ln w="9525">
            <a:noFill/>
            <a:miter lim="800000"/>
            <a:headEnd/>
            <a:tailEnd/>
          </a:ln>
        </p:spPr>
        <p:txBody>
          <a:bodyPr wrap="none">
            <a:spAutoFit/>
          </a:bodyPr>
          <a:lstStyle/>
          <a:p>
            <a:r>
              <a:rPr lang="es-ES" sz="3200" b="1" dirty="0"/>
              <a:t>Según SCRUM</a:t>
            </a:r>
            <a:endParaRPr lang="es-ES" b="1" dirty="0"/>
          </a:p>
        </p:txBody>
      </p:sp>
    </p:spTree>
    <p:extLst>
      <p:ext uri="{BB962C8B-B14F-4D97-AF65-F5344CB8AC3E}">
        <p14:creationId xmlns:p14="http://schemas.microsoft.com/office/powerpoint/2010/main" val="30307230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solidFill>
                  <a:schemeClr val="tx1"/>
                </a:solidFill>
              </a:rPr>
              <a:t>¿Por qué es importante estimar?</a:t>
            </a:r>
          </a:p>
        </p:txBody>
      </p:sp>
      <p:sp>
        <p:nvSpPr>
          <p:cNvPr id="3" name="Marcador de contenido 2"/>
          <p:cNvSpPr>
            <a:spLocks noGrp="1"/>
          </p:cNvSpPr>
          <p:nvPr>
            <p:ph idx="1"/>
          </p:nvPr>
        </p:nvSpPr>
        <p:spPr/>
        <p:txBody>
          <a:bodyPr/>
          <a:lstStyle/>
          <a:p>
            <a:pPr marL="590550" lvl="1" indent="-533400">
              <a:lnSpc>
                <a:spcPct val="100000"/>
              </a:lnSpc>
              <a:spcBef>
                <a:spcPts val="1200"/>
              </a:spcBef>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r>
              <a:rPr lang="es-ES" sz="2800" dirty="0"/>
              <a:t>Aporta seguridad en cuanto al éxito o factibilidad del proyecto.</a:t>
            </a:r>
          </a:p>
          <a:p>
            <a:pPr marL="590550" lvl="1" indent="-533400">
              <a:lnSpc>
                <a:spcPct val="100000"/>
              </a:lnSpc>
              <a:spcBef>
                <a:spcPts val="1200"/>
              </a:spcBef>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r>
              <a:rPr lang="es-ES" sz="2800" dirty="0"/>
              <a:t>Aporta exactitud en la planificación del proyecto.</a:t>
            </a:r>
          </a:p>
          <a:p>
            <a:pPr marL="590550" lvl="1" indent="-533400">
              <a:lnSpc>
                <a:spcPct val="100000"/>
              </a:lnSpc>
              <a:spcBef>
                <a:spcPts val="1200"/>
              </a:spcBef>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r>
              <a:rPr lang="es-ES" sz="2800" dirty="0"/>
              <a:t>Permite lograr el balance de los Recursos, el Tiempo y el Esfuerzo.</a:t>
            </a:r>
          </a:p>
          <a:p>
            <a:endParaRPr lang="es-ES" dirty="0"/>
          </a:p>
        </p:txBody>
      </p:sp>
    </p:spTree>
    <p:extLst>
      <p:ext uri="{BB962C8B-B14F-4D97-AF65-F5344CB8AC3E}">
        <p14:creationId xmlns:p14="http://schemas.microsoft.com/office/powerpoint/2010/main" val="175629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solidFill>
                  <a:schemeClr val="tx1"/>
                </a:solidFill>
              </a:rPr>
              <a:t>¿Cómo se estima en un proyecto?</a:t>
            </a:r>
          </a:p>
        </p:txBody>
      </p:sp>
      <p:sp>
        <p:nvSpPr>
          <p:cNvPr id="3" name="Marcador de contenido 2"/>
          <p:cNvSpPr>
            <a:spLocks noGrp="1"/>
          </p:cNvSpPr>
          <p:nvPr>
            <p:ph idx="1"/>
          </p:nvPr>
        </p:nvSpPr>
        <p:spPr/>
        <p:txBody>
          <a:bodyPr>
            <a:normAutofit lnSpcReduction="10000"/>
          </a:bodyPr>
          <a:lstStyle/>
          <a:p>
            <a:pPr marL="590550" indent="-533400">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r>
              <a:rPr lang="es-ES" sz="2900" dirty="0"/>
              <a:t>No existe una receta ideal.</a:t>
            </a:r>
          </a:p>
          <a:p>
            <a:pPr marL="590550" indent="-533400">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r>
              <a:rPr lang="es-ES" sz="2900" dirty="0"/>
              <a:t>Se estima de acuerdo al enfoque de ISW, métodos y técnicas de estimación.</a:t>
            </a:r>
          </a:p>
          <a:p>
            <a:pPr marL="590550" lvl="1" indent="-533400">
              <a:lnSpc>
                <a:spcPct val="100000"/>
              </a:lnSpc>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r>
              <a:rPr lang="es-ES" sz="2900" dirty="0"/>
              <a:t>Sus momentos más importantes son antes y después de cada actividad genérica o hito.</a:t>
            </a:r>
          </a:p>
          <a:p>
            <a:pPr marL="590550" lvl="1" indent="-533400">
              <a:lnSpc>
                <a:spcPct val="100000"/>
              </a:lnSpc>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r>
              <a:rPr lang="es-ES" sz="2900" dirty="0"/>
              <a:t>La técnica a usar depende de la información que posea en ese momento.</a:t>
            </a:r>
          </a:p>
          <a:p>
            <a:pPr marL="590550" lvl="1" indent="-533400">
              <a:lnSpc>
                <a:spcPct val="100000"/>
              </a:lnSpc>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r>
              <a:rPr lang="es-ES" sz="2900" dirty="0"/>
              <a:t>Es recomendable triangular los resultados de las técnicas de estimación.</a:t>
            </a:r>
          </a:p>
          <a:p>
            <a:pPr marL="590550" lvl="1" indent="-533400">
              <a:lnSpc>
                <a:spcPct val="100000"/>
              </a:lnSpc>
              <a:spcBef>
                <a:spcPts val="1200"/>
              </a:spcBef>
              <a:buClr>
                <a:schemeClr val="accent2"/>
              </a:buClr>
              <a:buFont typeface="Wingdings" panose="05000000000000000000" pitchFamily="2" charset="2"/>
              <a:buChar char="Ø"/>
              <a:tabLst>
                <a:tab pos="312738" algn="l"/>
                <a:tab pos="990600" algn="l"/>
                <a:tab pos="1209675" algn="l"/>
                <a:tab pos="1658938" algn="l"/>
                <a:tab pos="2108200" algn="l"/>
                <a:tab pos="2557463" algn="l"/>
                <a:tab pos="3006725" algn="l"/>
                <a:tab pos="3455988" algn="l"/>
                <a:tab pos="3905250" algn="l"/>
                <a:tab pos="4354513" algn="l"/>
                <a:tab pos="4803775" algn="l"/>
                <a:tab pos="5253038" algn="l"/>
                <a:tab pos="5702300" algn="l"/>
                <a:tab pos="6151563" algn="l"/>
                <a:tab pos="6600825" algn="l"/>
                <a:tab pos="7050088" algn="l"/>
                <a:tab pos="7499350" algn="l"/>
                <a:tab pos="7948613" algn="l"/>
                <a:tab pos="8397875" algn="l"/>
                <a:tab pos="8847138" algn="l"/>
                <a:tab pos="9296400" algn="l"/>
              </a:tabLst>
              <a:defRPr/>
            </a:pPr>
            <a:endParaRPr lang="es-ES" sz="2800" dirty="0"/>
          </a:p>
          <a:p>
            <a:endParaRPr lang="es-ES" dirty="0"/>
          </a:p>
        </p:txBody>
      </p:sp>
    </p:spTree>
    <p:extLst>
      <p:ext uri="{BB962C8B-B14F-4D97-AF65-F5344CB8AC3E}">
        <p14:creationId xmlns:p14="http://schemas.microsoft.com/office/powerpoint/2010/main" val="19129463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sz="half" idx="1"/>
          </p:nvPr>
        </p:nvSpPr>
        <p:spPr>
          <a:xfrm>
            <a:off x="1701799" y="1816925"/>
            <a:ext cx="4622801" cy="4702938"/>
          </a:xfrm>
        </p:spPr>
        <p:txBody>
          <a:bodyPr>
            <a:normAutofit/>
          </a:bodyPr>
          <a:lstStyle/>
          <a:p>
            <a:pPr marL="338138" indent="-338138">
              <a:lnSpc>
                <a:spcPct val="100000"/>
              </a:lnSpc>
              <a:spcBef>
                <a:spcPct val="0"/>
              </a:spcBef>
              <a:buNone/>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r>
              <a:rPr lang="es-ES" sz="2800" b="1" dirty="0">
                <a:latin typeface="Corbel" pitchFamily="32" charset="0"/>
              </a:rPr>
              <a:t>1. Analógicas:</a:t>
            </a:r>
          </a:p>
          <a:p>
            <a:pPr marL="739775" lvl="1" indent="-282575">
              <a:lnSpc>
                <a:spcPct val="100000"/>
              </a:lnSpc>
              <a:spcBef>
                <a:spcPct val="0"/>
              </a:spcBef>
              <a:buFont typeface="Times New Roman" pitchFamily="16"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r>
              <a:rPr lang="es-ES" sz="2800" dirty="0">
                <a:latin typeface="Corbel" pitchFamily="32" charset="0"/>
              </a:rPr>
              <a:t>Por analogía.</a:t>
            </a:r>
          </a:p>
          <a:p>
            <a:pPr marL="739775" lvl="1" indent="-282575">
              <a:lnSpc>
                <a:spcPct val="100000"/>
              </a:lnSpc>
              <a:spcBef>
                <a:spcPct val="0"/>
              </a:spcBef>
              <a:buFont typeface="Times New Roman" pitchFamily="16"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r>
              <a:rPr lang="es-ES" sz="2800" dirty="0">
                <a:latin typeface="Corbel" pitchFamily="32" charset="0"/>
              </a:rPr>
              <a:t>Juicio de expertos.</a:t>
            </a:r>
          </a:p>
          <a:p>
            <a:pPr marL="739775" lvl="1" indent="-282575">
              <a:lnSpc>
                <a:spcPct val="100000"/>
              </a:lnSpc>
              <a:spcBef>
                <a:spcPct val="0"/>
              </a:spcBef>
              <a:buNone/>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endParaRPr lang="es-ES" sz="2800" dirty="0">
              <a:latin typeface="Corbel" pitchFamily="32" charset="0"/>
            </a:endParaRPr>
          </a:p>
          <a:p>
            <a:pPr marL="338138" indent="-338138">
              <a:lnSpc>
                <a:spcPct val="100000"/>
              </a:lnSpc>
              <a:spcBef>
                <a:spcPct val="0"/>
              </a:spcBef>
              <a:buNone/>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r>
              <a:rPr lang="es-ES" sz="2800" b="1" dirty="0">
                <a:latin typeface="Corbel" pitchFamily="32" charset="0"/>
              </a:rPr>
              <a:t>2. Por descomposición:</a:t>
            </a:r>
          </a:p>
          <a:p>
            <a:pPr marL="739775" lvl="1" indent="-282575">
              <a:lnSpc>
                <a:spcPct val="100000"/>
              </a:lnSpc>
              <a:spcBef>
                <a:spcPct val="0"/>
              </a:spcBef>
              <a:buFont typeface="Times New Roman" pitchFamily="16"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r>
              <a:rPr lang="es-ES" sz="2800" dirty="0">
                <a:latin typeface="Corbel" pitchFamily="32" charset="0"/>
              </a:rPr>
              <a:t>Tamaño del software.</a:t>
            </a:r>
          </a:p>
          <a:p>
            <a:pPr marL="739775" lvl="1" indent="-282575">
              <a:lnSpc>
                <a:spcPct val="100000"/>
              </a:lnSpc>
              <a:spcBef>
                <a:spcPct val="0"/>
              </a:spcBef>
              <a:buFont typeface="Times New Roman" pitchFamily="16"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r>
              <a:rPr lang="es-ES" sz="2800" dirty="0">
                <a:latin typeface="Corbel" pitchFamily="32" charset="0"/>
              </a:rPr>
              <a:t>Problema.</a:t>
            </a:r>
          </a:p>
          <a:p>
            <a:pPr marL="739775" lvl="1" indent="-282575">
              <a:lnSpc>
                <a:spcPct val="100000"/>
              </a:lnSpc>
              <a:spcBef>
                <a:spcPct val="0"/>
              </a:spcBef>
              <a:buFont typeface="Times New Roman" pitchFamily="16"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r>
              <a:rPr lang="es-ES" sz="2800" dirty="0">
                <a:latin typeface="Corbel" pitchFamily="32" charset="0"/>
              </a:rPr>
              <a:t>Proceso.</a:t>
            </a:r>
          </a:p>
          <a:p>
            <a:pPr marL="739775" lvl="1" indent="-282575">
              <a:lnSpc>
                <a:spcPct val="100000"/>
              </a:lnSpc>
              <a:spcBef>
                <a:spcPct val="0"/>
              </a:spcBef>
              <a:buFont typeface="Times New Roman" pitchFamily="16" charset="0"/>
              <a:buChar char="•"/>
              <a:tabLst>
                <a:tab pos="338138" algn="l"/>
                <a:tab pos="785813" algn="l"/>
                <a:tab pos="1235075" algn="l"/>
                <a:tab pos="1684338" algn="l"/>
                <a:tab pos="2133600" algn="l"/>
                <a:tab pos="2582863" algn="l"/>
                <a:tab pos="3032125" algn="l"/>
                <a:tab pos="3481388" algn="l"/>
                <a:tab pos="3930650" algn="l"/>
                <a:tab pos="4379913" algn="l"/>
                <a:tab pos="4829175" algn="l"/>
                <a:tab pos="5278438" algn="l"/>
                <a:tab pos="5727700" algn="l"/>
                <a:tab pos="6176963" algn="l"/>
                <a:tab pos="6626225" algn="l"/>
                <a:tab pos="7075488" algn="l"/>
                <a:tab pos="7524750" algn="l"/>
                <a:tab pos="7974013" algn="l"/>
                <a:tab pos="8423275" algn="l"/>
                <a:tab pos="8872538" algn="l"/>
                <a:tab pos="9321800" algn="l"/>
              </a:tabLst>
              <a:defRPr/>
            </a:pPr>
            <a:r>
              <a:rPr lang="es-ES" sz="2800" dirty="0">
                <a:latin typeface="Corbel" pitchFamily="32" charset="0"/>
              </a:rPr>
              <a:t>Casos de uso.</a:t>
            </a:r>
          </a:p>
          <a:p>
            <a:pPr eaLnBrk="1" hangingPunct="1">
              <a:buFont typeface="Times New Roman" pitchFamily="16" charset="0"/>
              <a:buNone/>
              <a:defRPr/>
            </a:pPr>
            <a:endParaRPr lang="es-ES" sz="2800" dirty="0"/>
          </a:p>
        </p:txBody>
      </p:sp>
      <p:sp>
        <p:nvSpPr>
          <p:cNvPr id="7" name="6 Marcador de contenido"/>
          <p:cNvSpPr>
            <a:spLocks noGrp="1"/>
          </p:cNvSpPr>
          <p:nvPr>
            <p:ph sz="half" idx="2"/>
          </p:nvPr>
        </p:nvSpPr>
        <p:spPr>
          <a:xfrm>
            <a:off x="6324600" y="1816925"/>
            <a:ext cx="4408487" cy="5683250"/>
          </a:xfrm>
        </p:spPr>
        <p:txBody>
          <a:bodyPr>
            <a:normAutofit/>
          </a:bodyPr>
          <a:lstStyle/>
          <a:p>
            <a:pPr marL="341313" indent="-338138">
              <a:lnSpc>
                <a:spcPct val="100000"/>
              </a:lnSpc>
              <a:spcBef>
                <a:spcPct val="0"/>
              </a:spcBef>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s-ES" sz="2800" b="1" dirty="0">
                <a:latin typeface="Corbel" pitchFamily="32" charset="0"/>
              </a:rPr>
              <a:t>3. Empíricas:</a:t>
            </a:r>
          </a:p>
          <a:p>
            <a:pPr marL="739775" lvl="1" indent="-282575">
              <a:lnSpc>
                <a:spcPct val="100000"/>
              </a:lnSpc>
              <a:spcBef>
                <a:spcPct val="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s-ES" sz="2800" dirty="0">
                <a:latin typeface="Corbel" pitchFamily="32" charset="0"/>
              </a:rPr>
              <a:t>COCOMO.</a:t>
            </a:r>
          </a:p>
          <a:p>
            <a:pPr marL="739775" lvl="1" indent="-282575">
              <a:lnSpc>
                <a:spcPct val="100000"/>
              </a:lnSpc>
              <a:spcBef>
                <a:spcPct val="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s-ES" sz="2800" dirty="0">
                <a:latin typeface="Corbel" pitchFamily="32" charset="0"/>
              </a:rPr>
              <a:t>Ecuación del software.</a:t>
            </a:r>
          </a:p>
          <a:p>
            <a:pPr marL="739775" lvl="1" indent="-282575">
              <a:lnSpc>
                <a:spcPct val="100000"/>
              </a:lnSpc>
              <a:spcBef>
                <a:spcPct val="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endParaRPr lang="es-ES" sz="2200" dirty="0">
              <a:latin typeface="Corbel" pitchFamily="32" charset="0"/>
            </a:endParaRPr>
          </a:p>
          <a:p>
            <a:pPr marL="341313" indent="-338138">
              <a:lnSpc>
                <a:spcPct val="100000"/>
              </a:lnSpc>
              <a:spcBef>
                <a:spcPct val="0"/>
              </a:spcBef>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s-ES" sz="2800" b="1" dirty="0">
                <a:latin typeface="Corbel" pitchFamily="32" charset="0"/>
              </a:rPr>
              <a:t>4.Orientada a Objetos:</a:t>
            </a:r>
          </a:p>
          <a:p>
            <a:pPr marL="739775" lvl="1" indent="-282575">
              <a:lnSpc>
                <a:spcPct val="100000"/>
              </a:lnSpc>
              <a:spcBef>
                <a:spcPct val="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s-ES" sz="2800" dirty="0">
                <a:latin typeface="Corbel" pitchFamily="32" charset="0"/>
              </a:rPr>
              <a:t>Estimación OO.</a:t>
            </a:r>
          </a:p>
          <a:p>
            <a:pPr marL="739775" lvl="1" indent="-282575">
              <a:lnSpc>
                <a:spcPct val="100000"/>
              </a:lnSpc>
              <a:spcBef>
                <a:spcPct val="0"/>
              </a:spcBef>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endParaRPr lang="es-ES" sz="2200" dirty="0">
              <a:latin typeface="Corbel" pitchFamily="32" charset="0"/>
            </a:endParaRPr>
          </a:p>
          <a:p>
            <a:pPr marL="341313" indent="-338138">
              <a:lnSpc>
                <a:spcPct val="100000"/>
              </a:lnSpc>
              <a:spcBef>
                <a:spcPct val="0"/>
              </a:spcBef>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s-ES" sz="2800" b="1" dirty="0">
                <a:latin typeface="Corbel" pitchFamily="32" charset="0"/>
              </a:rPr>
              <a:t>5. Especializadas:</a:t>
            </a:r>
          </a:p>
          <a:p>
            <a:pPr marL="739775" lvl="1" indent="-282575">
              <a:lnSpc>
                <a:spcPct val="100000"/>
              </a:lnSpc>
              <a:spcBef>
                <a:spcPct val="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s-ES" sz="2800" dirty="0">
                <a:latin typeface="Corbel" pitchFamily="32" charset="0"/>
              </a:rPr>
              <a:t>Desarrollo ágil.</a:t>
            </a:r>
          </a:p>
          <a:p>
            <a:pPr marL="739775" lvl="1" indent="-282575">
              <a:lnSpc>
                <a:spcPct val="100000"/>
              </a:lnSpc>
              <a:spcBef>
                <a:spcPct val="0"/>
              </a:spcBef>
              <a:buFont typeface="Times New Roman" pitchFamily="16" charset="0"/>
              <a:buChar char="•"/>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defRPr/>
            </a:pPr>
            <a:r>
              <a:rPr lang="es-ES" sz="2800" dirty="0">
                <a:latin typeface="Corbel" pitchFamily="32" charset="0"/>
              </a:rPr>
              <a:t>Ingeniería Web.</a:t>
            </a:r>
          </a:p>
          <a:p>
            <a:pPr eaLnBrk="1" hangingPunct="1">
              <a:buFont typeface="Times New Roman" pitchFamily="16" charset="0"/>
              <a:buNone/>
              <a:defRPr/>
            </a:pPr>
            <a:endParaRPr lang="es-ES" sz="2800" dirty="0"/>
          </a:p>
        </p:txBody>
      </p:sp>
      <p:sp>
        <p:nvSpPr>
          <p:cNvPr id="8" name="Título 1"/>
          <p:cNvSpPr>
            <a:spLocks noGrp="1"/>
          </p:cNvSpPr>
          <p:nvPr>
            <p:ph type="title"/>
          </p:nvPr>
        </p:nvSpPr>
        <p:spPr>
          <a:xfrm>
            <a:off x="1097280" y="286603"/>
            <a:ext cx="10058400" cy="1450757"/>
          </a:xfrm>
        </p:spPr>
        <p:txBody>
          <a:bodyPr/>
          <a:lstStyle/>
          <a:p>
            <a:r>
              <a:rPr lang="es-ES" dirty="0">
                <a:solidFill>
                  <a:schemeClr val="tx1"/>
                </a:solidFill>
              </a:rPr>
              <a:t>Técnicas de estimación</a:t>
            </a:r>
          </a:p>
        </p:txBody>
      </p:sp>
      <p:sp>
        <p:nvSpPr>
          <p:cNvPr id="9" name="CuadroTexto 8"/>
          <p:cNvSpPr txBox="1"/>
          <p:nvPr/>
        </p:nvSpPr>
        <p:spPr>
          <a:xfrm>
            <a:off x="9468766" y="5770880"/>
            <a:ext cx="2528641" cy="492443"/>
          </a:xfrm>
          <a:prstGeom prst="rect">
            <a:avLst/>
          </a:prstGeom>
          <a:noFill/>
        </p:spPr>
        <p:txBody>
          <a:bodyPr wrap="none" rtlCol="0">
            <a:spAutoFit/>
          </a:bodyPr>
          <a:lstStyle/>
          <a:p>
            <a:r>
              <a:rPr lang="es-ES" sz="2600" dirty="0"/>
              <a:t>(</a:t>
            </a:r>
            <a:r>
              <a:rPr lang="es-ES" sz="2600" dirty="0" err="1"/>
              <a:t>Pressman</a:t>
            </a:r>
            <a:r>
              <a:rPr lang="es-ES" sz="2600" dirty="0"/>
              <a:t>, 2007)</a:t>
            </a:r>
          </a:p>
        </p:txBody>
      </p:sp>
      <p:sp>
        <p:nvSpPr>
          <p:cNvPr id="11" name="7 Rectángulo">
            <a:extLst>
              <a:ext uri="{FF2B5EF4-FFF2-40B4-BE49-F238E27FC236}">
                <a16:creationId xmlns:a16="http://schemas.microsoft.com/office/drawing/2014/main" xmlns="" id="{78E49EBC-BE48-4E06-A093-99EA61C148D5}"/>
              </a:ext>
            </a:extLst>
          </p:cNvPr>
          <p:cNvSpPr>
            <a:spLocks noChangeArrowheads="1"/>
          </p:cNvSpPr>
          <p:nvPr/>
        </p:nvSpPr>
        <p:spPr bwMode="auto">
          <a:xfrm>
            <a:off x="1458913" y="1816925"/>
            <a:ext cx="3961226" cy="1673714"/>
          </a:xfrm>
          <a:prstGeom prst="rect">
            <a:avLst/>
          </a:prstGeom>
          <a:noFill/>
          <a:ln w="76200" algn="ctr">
            <a:solidFill>
              <a:srgbClr val="FF0000"/>
            </a:solidFill>
            <a:round/>
            <a:headEnd/>
            <a:tailEnd/>
          </a:ln>
        </p:spPr>
        <p:txBody>
          <a:bodyPr/>
          <a:lstStyle/>
          <a:p>
            <a:endParaRPr lang="es-ES"/>
          </a:p>
        </p:txBody>
      </p:sp>
    </p:spTree>
    <p:extLst>
      <p:ext uri="{BB962C8B-B14F-4D97-AF65-F5344CB8AC3E}">
        <p14:creationId xmlns:p14="http://schemas.microsoft.com/office/powerpoint/2010/main" val="47936060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Gestión de riesgos</a:t>
            </a:r>
          </a:p>
        </p:txBody>
      </p:sp>
      <p:sp>
        <p:nvSpPr>
          <p:cNvPr id="3" name="Marcador de texto 2"/>
          <p:cNvSpPr>
            <a:spLocks noGrp="1"/>
          </p:cNvSpPr>
          <p:nvPr>
            <p:ph type="body" idx="1"/>
          </p:nvPr>
        </p:nvSpPr>
        <p:spPr/>
        <p:txBody>
          <a:bodyPr/>
          <a:lstStyle/>
          <a:p>
            <a:endParaRPr lang="es-ES"/>
          </a:p>
        </p:txBody>
      </p:sp>
    </p:spTree>
    <p:extLst>
      <p:ext uri="{BB962C8B-B14F-4D97-AF65-F5344CB8AC3E}">
        <p14:creationId xmlns:p14="http://schemas.microsoft.com/office/powerpoint/2010/main" val="1795163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Riesgo</a:t>
            </a:r>
          </a:p>
        </p:txBody>
      </p:sp>
      <p:sp>
        <p:nvSpPr>
          <p:cNvPr id="3" name="Marcador de contenido 2"/>
          <p:cNvSpPr>
            <a:spLocks noGrp="1"/>
          </p:cNvSpPr>
          <p:nvPr>
            <p:ph idx="1"/>
          </p:nvPr>
        </p:nvSpPr>
        <p:spPr/>
        <p:txBody>
          <a:bodyPr/>
          <a:lstStyle/>
          <a:p>
            <a:pPr algn="just">
              <a:buFont typeface="Wingdings" panose="05000000000000000000" pitchFamily="2" charset="2"/>
              <a:buChar char="Ø"/>
            </a:pPr>
            <a:r>
              <a:rPr lang="es-ES" sz="2800" i="1" dirty="0"/>
              <a:t>“Contingencia o proximidad de un </a:t>
            </a:r>
            <a:r>
              <a:rPr lang="es-ES" sz="2800" i="1" dirty="0">
                <a:solidFill>
                  <a:schemeClr val="tx1"/>
                </a:solidFill>
              </a:rPr>
              <a:t>daño”</a:t>
            </a:r>
            <a:r>
              <a:rPr lang="es-ES" sz="2800" dirty="0"/>
              <a:t>.</a:t>
            </a:r>
            <a:r>
              <a:rPr lang="es-ES_tradnl" sz="2800" dirty="0">
                <a:solidFill>
                  <a:srgbClr val="000000"/>
                </a:solidFill>
              </a:rPr>
              <a:t>(RAE, 2001)</a:t>
            </a:r>
          </a:p>
          <a:p>
            <a:pPr algn="just">
              <a:lnSpc>
                <a:spcPct val="80000"/>
              </a:lnSpc>
              <a:buFont typeface="Wingdings" panose="05000000000000000000" pitchFamily="2" charset="2"/>
              <a:buChar char="Ø"/>
            </a:pPr>
            <a:r>
              <a:rPr lang="es-ES" sz="2800" i="1" dirty="0"/>
              <a:t>“Posibilidad</a:t>
            </a:r>
            <a:r>
              <a:rPr lang="es-ES" sz="2800" dirty="0"/>
              <a:t> de sufrir una </a:t>
            </a:r>
            <a:r>
              <a:rPr lang="es-ES" sz="2800" i="1" dirty="0"/>
              <a:t>pérdida”</a:t>
            </a:r>
            <a:r>
              <a:rPr lang="es-ES" sz="2800" dirty="0"/>
              <a:t>. </a:t>
            </a:r>
            <a:r>
              <a:rPr lang="es-ES" sz="2800" dirty="0">
                <a:solidFill>
                  <a:srgbClr val="04060C"/>
                </a:solidFill>
              </a:rPr>
              <a:t>(SEI 2000)</a:t>
            </a:r>
            <a:r>
              <a:rPr lang="en-US" sz="2800" dirty="0">
                <a:solidFill>
                  <a:srgbClr val="04060C"/>
                </a:solidFill>
              </a:rPr>
              <a:t> </a:t>
            </a:r>
          </a:p>
          <a:p>
            <a:pPr algn="just">
              <a:lnSpc>
                <a:spcPct val="80000"/>
              </a:lnSpc>
              <a:buFont typeface="Wingdings" panose="05000000000000000000" pitchFamily="2" charset="2"/>
              <a:buChar char="Ø"/>
            </a:pPr>
            <a:r>
              <a:rPr lang="es-ES" sz="2800" dirty="0"/>
              <a:t>“</a:t>
            </a:r>
            <a:r>
              <a:rPr lang="es-ES" sz="2800" i="1" dirty="0"/>
              <a:t>Evento o condición que, si ocurre, tiene un efecto positivo o negativo sobre los objetivos de un proyecto”</a:t>
            </a:r>
            <a:r>
              <a:rPr lang="es-ES" sz="2800" dirty="0"/>
              <a:t>. </a:t>
            </a:r>
            <a:r>
              <a:rPr lang="es-ES" sz="2800" dirty="0">
                <a:solidFill>
                  <a:srgbClr val="04060C"/>
                </a:solidFill>
              </a:rPr>
              <a:t>(PMI 2004)</a:t>
            </a:r>
          </a:p>
          <a:p>
            <a:pPr algn="just">
              <a:lnSpc>
                <a:spcPct val="110000"/>
              </a:lnSpc>
              <a:buFont typeface="Wingdings" panose="05000000000000000000" pitchFamily="2" charset="2"/>
              <a:buChar char="Ø"/>
            </a:pPr>
            <a:r>
              <a:rPr lang="es-ES_tradnl" sz="2800" dirty="0"/>
              <a:t>“</a:t>
            </a:r>
            <a:r>
              <a:rPr lang="es-ES_tradnl" sz="2800" i="1" dirty="0"/>
              <a:t>Medida de la probabilidad y el impacto de un acontecimiento que afecta el proyecto, proceso o producto de software y/o a las personas que lo desarrollan</a:t>
            </a:r>
            <a:r>
              <a:rPr lang="es-ES_tradnl" sz="2800" dirty="0"/>
              <a:t>”. </a:t>
            </a:r>
            <a:r>
              <a:rPr lang="es-ES_tradnl" sz="2800" dirty="0">
                <a:solidFill>
                  <a:srgbClr val="000000"/>
                </a:solidFill>
              </a:rPr>
              <a:t>(Zulueta, 2008)</a:t>
            </a:r>
          </a:p>
          <a:p>
            <a:pPr algn="just"/>
            <a:endParaRPr lang="es-ES_tradnl" sz="1400" b="1" dirty="0">
              <a:solidFill>
                <a:srgbClr val="000000"/>
              </a:solidFill>
            </a:endParaRPr>
          </a:p>
          <a:p>
            <a:pPr algn="just"/>
            <a:endParaRPr lang="es-ES" dirty="0"/>
          </a:p>
        </p:txBody>
      </p:sp>
    </p:spTree>
    <p:extLst>
      <p:ext uri="{BB962C8B-B14F-4D97-AF65-F5344CB8AC3E}">
        <p14:creationId xmlns:p14="http://schemas.microsoft.com/office/powerpoint/2010/main" val="345368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s-ES_tradnl" dirty="0"/>
              <a:t>Categorías de riesgos</a:t>
            </a:r>
            <a:endParaRPr lang="es-ES" dirty="0"/>
          </a:p>
        </p:txBody>
      </p:sp>
      <p:graphicFrame>
        <p:nvGraphicFramePr>
          <p:cNvPr id="4" name="Content Placeholder 3"/>
          <p:cNvGraphicFramePr>
            <a:graphicFrameLocks noGrp="1"/>
          </p:cNvGraphicFramePr>
          <p:nvPr>
            <p:ph idx="1"/>
          </p:nvPr>
        </p:nvGraphicFramePr>
        <p:xfrm>
          <a:off x="814388" y="1846263"/>
          <a:ext cx="10340975"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268" name="TextBox 4"/>
          <p:cNvSpPr txBox="1">
            <a:spLocks noChangeArrowheads="1"/>
          </p:cNvSpPr>
          <p:nvPr/>
        </p:nvSpPr>
        <p:spPr bwMode="auto">
          <a:xfrm>
            <a:off x="9810750" y="5834064"/>
            <a:ext cx="19159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s-ES" sz="2800" b="1" dirty="0">
                <a:solidFill>
                  <a:srgbClr val="000000"/>
                </a:solidFill>
                <a:latin typeface="+mn-lt"/>
                <a:cs typeface="Arial" panose="020B0604020202020204" pitchFamily="34" charset="0"/>
              </a:rPr>
              <a:t>(PMI, 2004)</a:t>
            </a:r>
          </a:p>
        </p:txBody>
      </p:sp>
    </p:spTree>
    <p:extLst>
      <p:ext uri="{BB962C8B-B14F-4D97-AF65-F5344CB8AC3E}">
        <p14:creationId xmlns:p14="http://schemas.microsoft.com/office/powerpoint/2010/main" val="30560286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pPr eaLnBrk="1" hangingPunct="1"/>
            <a:r>
              <a:rPr lang="es-ES_tradnl" dirty="0"/>
              <a:t>Gestión de riesgos</a:t>
            </a:r>
            <a:endParaRPr lang="en-US" dirty="0"/>
          </a:p>
        </p:txBody>
      </p:sp>
      <p:sp>
        <p:nvSpPr>
          <p:cNvPr id="18435" name="Rectangle 3"/>
          <p:cNvSpPr>
            <a:spLocks noGrp="1" noChangeArrowheads="1"/>
          </p:cNvSpPr>
          <p:nvPr>
            <p:ph idx="1"/>
          </p:nvPr>
        </p:nvSpPr>
        <p:spPr/>
        <p:txBody>
          <a:bodyPr>
            <a:normAutofit/>
          </a:bodyPr>
          <a:lstStyle/>
          <a:p>
            <a:pPr algn="just">
              <a:lnSpc>
                <a:spcPct val="110000"/>
              </a:lnSpc>
            </a:pPr>
            <a:r>
              <a:rPr lang="es-ES" sz="3200" i="1" dirty="0"/>
              <a:t>“Procesos que se encargan tanto de planificar, identificar y analizar, como de responder al riesgo y seguir y controlar las actividades planificadas al respecto. “</a:t>
            </a:r>
            <a:r>
              <a:rPr lang="es-ES" sz="3200" dirty="0"/>
              <a:t>				      										</a:t>
            </a:r>
            <a:r>
              <a:rPr lang="es-ES" sz="3200" dirty="0">
                <a:solidFill>
                  <a:srgbClr val="000000"/>
                </a:solidFill>
              </a:rPr>
              <a:t>(PMI 2004)</a:t>
            </a:r>
            <a:endParaRPr lang="es-ES_tradnl" sz="3200" dirty="0">
              <a:solidFill>
                <a:srgbClr val="000000"/>
              </a:solidFill>
            </a:endParaRPr>
          </a:p>
        </p:txBody>
      </p:sp>
    </p:spTree>
    <p:extLst>
      <p:ext uri="{BB962C8B-B14F-4D97-AF65-F5344CB8AC3E}">
        <p14:creationId xmlns:p14="http://schemas.microsoft.com/office/powerpoint/2010/main" val="363822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down)">
                                      <p:cBhvr>
                                        <p:cTn id="7"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rmAutofit/>
          </a:bodyPr>
          <a:lstStyle/>
          <a:p>
            <a:pPr eaLnBrk="1" hangingPunct="1"/>
            <a:r>
              <a:rPr lang="es-ES_tradnl" dirty="0"/>
              <a:t>Estrategias de gestión de riesgos</a:t>
            </a:r>
            <a:endParaRPr lang="en-US" dirty="0"/>
          </a:p>
        </p:txBody>
      </p:sp>
      <p:sp>
        <p:nvSpPr>
          <p:cNvPr id="177157" name="AutoShape 5"/>
          <p:cNvSpPr>
            <a:spLocks noChangeArrowheads="1"/>
          </p:cNvSpPr>
          <p:nvPr/>
        </p:nvSpPr>
        <p:spPr bwMode="gray">
          <a:xfrm>
            <a:off x="2165731" y="2121755"/>
            <a:ext cx="7409687" cy="1746986"/>
          </a:xfrm>
          <a:prstGeom prst="roundRect">
            <a:avLst>
              <a:gd name="adj" fmla="val 10889"/>
            </a:avLst>
          </a:prstGeom>
          <a:gradFill rotWithShape="1">
            <a:gsLst>
              <a:gs pos="0">
                <a:srgbClr val="DDDDDD"/>
              </a:gs>
              <a:gs pos="50000">
                <a:srgbClr val="DDDDDD">
                  <a:gamma/>
                  <a:tint val="36471"/>
                  <a:invGamma/>
                </a:srgbClr>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p>
            <a:pPr>
              <a:defRPr/>
            </a:pPr>
            <a:endParaRPr lang="es-ES">
              <a:latin typeface="Arial" charset="0"/>
            </a:endParaRPr>
          </a:p>
        </p:txBody>
      </p:sp>
      <p:grpSp>
        <p:nvGrpSpPr>
          <p:cNvPr id="59396" name="Group 6"/>
          <p:cNvGrpSpPr>
            <a:grpSpLocks/>
          </p:cNvGrpSpPr>
          <p:nvPr/>
        </p:nvGrpSpPr>
        <p:grpSpPr bwMode="auto">
          <a:xfrm>
            <a:off x="2294922" y="2418423"/>
            <a:ext cx="2303463" cy="1257300"/>
            <a:chOff x="999" y="1092"/>
            <a:chExt cx="768" cy="746"/>
          </a:xfrm>
        </p:grpSpPr>
        <p:sp>
          <p:nvSpPr>
            <p:cNvPr id="177159" name="AutoShape 7"/>
            <p:cNvSpPr>
              <a:spLocks noChangeArrowheads="1"/>
            </p:cNvSpPr>
            <p:nvPr/>
          </p:nvSpPr>
          <p:spPr bwMode="gray">
            <a:xfrm>
              <a:off x="999" y="1092"/>
              <a:ext cx="768" cy="746"/>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es-ES">
                <a:latin typeface="Arial" charset="0"/>
              </a:endParaRPr>
            </a:p>
          </p:txBody>
        </p:sp>
        <p:sp>
          <p:nvSpPr>
            <p:cNvPr id="177160" name="Freeform 8"/>
            <p:cNvSpPr>
              <a:spLocks/>
            </p:cNvSpPr>
            <p:nvPr/>
          </p:nvSpPr>
          <p:spPr bwMode="gray">
            <a:xfrm>
              <a:off x="1047" y="1140"/>
              <a:ext cx="383" cy="373"/>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es-ES">
                <a:latin typeface="Arial" charset="0"/>
              </a:endParaRPr>
            </a:p>
          </p:txBody>
        </p:sp>
        <p:sp>
          <p:nvSpPr>
            <p:cNvPr id="59406" name="Text Box 9"/>
            <p:cNvSpPr txBox="1">
              <a:spLocks noChangeArrowheads="1"/>
            </p:cNvSpPr>
            <p:nvPr/>
          </p:nvSpPr>
          <p:spPr bwMode="gray">
            <a:xfrm>
              <a:off x="1030" y="1272"/>
              <a:ext cx="693"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r>
                <a:rPr lang="en-US" sz="3200" b="1" dirty="0" err="1"/>
                <a:t>Reactivas</a:t>
              </a:r>
              <a:endParaRPr lang="en-US" sz="3200" b="1" dirty="0"/>
            </a:p>
          </p:txBody>
        </p:sp>
      </p:grpSp>
      <p:sp>
        <p:nvSpPr>
          <p:cNvPr id="177164" name="AutoShape 12"/>
          <p:cNvSpPr>
            <a:spLocks noChangeArrowheads="1"/>
          </p:cNvSpPr>
          <p:nvPr/>
        </p:nvSpPr>
        <p:spPr bwMode="gray">
          <a:xfrm>
            <a:off x="2192337" y="4040654"/>
            <a:ext cx="7356476" cy="2214562"/>
          </a:xfrm>
          <a:prstGeom prst="roundRect">
            <a:avLst>
              <a:gd name="adj" fmla="val 10889"/>
            </a:avLst>
          </a:prstGeom>
          <a:gradFill rotWithShape="1">
            <a:gsLst>
              <a:gs pos="0">
                <a:srgbClr val="DDDDDD"/>
              </a:gs>
              <a:gs pos="50000">
                <a:srgbClr val="DDDDDD">
                  <a:gamma/>
                  <a:tint val="36471"/>
                  <a:invGamma/>
                </a:srgbClr>
              </a:gs>
              <a:gs pos="100000">
                <a:srgbClr val="DDDDDD"/>
              </a:gs>
            </a:gsLst>
            <a:lin ang="2700000" scaled="1"/>
          </a:gradFill>
          <a:ln w="38100">
            <a:solidFill>
              <a:srgbClr val="FFFFFF"/>
            </a:solidFill>
            <a:round/>
            <a:headEnd/>
            <a:tailEnd/>
          </a:ln>
          <a:effectLst>
            <a:outerShdw dist="135003" dir="2928844" algn="ctr" rotWithShape="0">
              <a:srgbClr val="000000">
                <a:alpha val="50000"/>
              </a:srgbClr>
            </a:outerShdw>
          </a:effectLst>
        </p:spPr>
        <p:txBody>
          <a:bodyPr wrap="none" anchor="ctr"/>
          <a:lstStyle/>
          <a:p>
            <a:pPr>
              <a:defRPr/>
            </a:pPr>
            <a:endParaRPr lang="es-ES">
              <a:latin typeface="Arial" charset="0"/>
            </a:endParaRPr>
          </a:p>
        </p:txBody>
      </p:sp>
      <p:grpSp>
        <p:nvGrpSpPr>
          <p:cNvPr id="59398" name="Group 13"/>
          <p:cNvGrpSpPr>
            <a:grpSpLocks/>
          </p:cNvGrpSpPr>
          <p:nvPr/>
        </p:nvGrpSpPr>
        <p:grpSpPr bwMode="auto">
          <a:xfrm>
            <a:off x="1610709" y="4466898"/>
            <a:ext cx="3671888" cy="1204912"/>
            <a:chOff x="776" y="1092"/>
            <a:chExt cx="1199" cy="746"/>
          </a:xfrm>
        </p:grpSpPr>
        <p:sp>
          <p:nvSpPr>
            <p:cNvPr id="177166" name="AutoShape 14"/>
            <p:cNvSpPr>
              <a:spLocks noChangeArrowheads="1"/>
            </p:cNvSpPr>
            <p:nvPr/>
          </p:nvSpPr>
          <p:spPr bwMode="gray">
            <a:xfrm>
              <a:off x="999" y="1092"/>
              <a:ext cx="768" cy="746"/>
            </a:xfrm>
            <a:prstGeom prst="roundRect">
              <a:avLst>
                <a:gd name="adj" fmla="val 11921"/>
              </a:avLst>
            </a:prstGeom>
            <a:gradFill rotWithShape="1">
              <a:gsLst>
                <a:gs pos="0">
                  <a:schemeClr val="accent1"/>
                </a:gs>
                <a:gs pos="100000">
                  <a:schemeClr val="accent1">
                    <a:gamma/>
                    <a:shade val="69804"/>
                    <a:invGamma/>
                  </a:schemeClr>
                </a:gs>
              </a:gsLst>
              <a:lin ang="5400000" scaled="1"/>
            </a:gradFill>
            <a:ln w="38100">
              <a:solidFill>
                <a:schemeClr val="bg1"/>
              </a:solidFill>
              <a:round/>
              <a:headEnd/>
              <a:tailEnd/>
            </a:ln>
            <a:effectLst/>
          </p:spPr>
          <p:txBody>
            <a:bodyPr wrap="none" anchor="ctr"/>
            <a:lstStyle/>
            <a:p>
              <a:pPr>
                <a:defRPr/>
              </a:pPr>
              <a:endParaRPr lang="es-ES">
                <a:latin typeface="Arial" charset="0"/>
              </a:endParaRPr>
            </a:p>
          </p:txBody>
        </p:sp>
        <p:sp>
          <p:nvSpPr>
            <p:cNvPr id="177167" name="Freeform 15"/>
            <p:cNvSpPr>
              <a:spLocks/>
            </p:cNvSpPr>
            <p:nvPr/>
          </p:nvSpPr>
          <p:spPr bwMode="gray">
            <a:xfrm>
              <a:off x="1035" y="1295"/>
              <a:ext cx="383" cy="373"/>
            </a:xfrm>
            <a:custGeom>
              <a:avLst/>
              <a:gdLst/>
              <a:ahLst/>
              <a:cxnLst>
                <a:cxn ang="0">
                  <a:pos x="118" y="0"/>
                </a:cxn>
                <a:cxn ang="0">
                  <a:pos x="0" y="118"/>
                </a:cxn>
                <a:cxn ang="0">
                  <a:pos x="0" y="589"/>
                </a:cxn>
                <a:cxn ang="0">
                  <a:pos x="161" y="174"/>
                </a:cxn>
                <a:cxn ang="0">
                  <a:pos x="589" y="0"/>
                </a:cxn>
                <a:cxn ang="0">
                  <a:pos x="118" y="0"/>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schemeClr>
                </a:gs>
                <a:gs pos="50000">
                  <a:schemeClr val="accent1">
                    <a:alpha val="0"/>
                  </a:schemeClr>
                </a:gs>
                <a:gs pos="100000">
                  <a:schemeClr val="accent1">
                    <a:gamma/>
                    <a:tint val="54510"/>
                    <a:invGamma/>
                  </a:schemeClr>
                </a:gs>
              </a:gsLst>
              <a:lin ang="2700000" scaled="1"/>
            </a:gradFill>
            <a:ln w="0">
              <a:noFill/>
              <a:prstDash val="solid"/>
              <a:round/>
              <a:headEnd/>
              <a:tailEnd/>
            </a:ln>
          </p:spPr>
          <p:txBody>
            <a:bodyPr/>
            <a:lstStyle/>
            <a:p>
              <a:pPr>
                <a:defRPr/>
              </a:pPr>
              <a:endParaRPr lang="es-ES">
                <a:latin typeface="Arial" charset="0"/>
              </a:endParaRPr>
            </a:p>
          </p:txBody>
        </p:sp>
        <p:sp>
          <p:nvSpPr>
            <p:cNvPr id="59403" name="Text Box 16"/>
            <p:cNvSpPr txBox="1">
              <a:spLocks noChangeArrowheads="1"/>
            </p:cNvSpPr>
            <p:nvPr/>
          </p:nvSpPr>
          <p:spPr bwMode="gray">
            <a:xfrm>
              <a:off x="776" y="1295"/>
              <a:ext cx="1199"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ctr"/>
              <a:r>
                <a:rPr lang="en-US" sz="3200" b="1" dirty="0" err="1"/>
                <a:t>Proactivas</a:t>
              </a:r>
              <a:endParaRPr lang="en-US" sz="3200" b="1" dirty="0"/>
            </a:p>
          </p:txBody>
        </p:sp>
      </p:grpSp>
      <p:sp>
        <p:nvSpPr>
          <p:cNvPr id="59399" name="Text Box 13"/>
          <p:cNvSpPr txBox="1">
            <a:spLocks noChangeArrowheads="1"/>
          </p:cNvSpPr>
          <p:nvPr/>
        </p:nvSpPr>
        <p:spPr bwMode="auto">
          <a:xfrm>
            <a:off x="4754180" y="2323113"/>
            <a:ext cx="4821238"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eaLnBrk="1" hangingPunct="1">
              <a:lnSpc>
                <a:spcPct val="110000"/>
              </a:lnSpc>
              <a:buFontTx/>
              <a:buChar char="•"/>
            </a:pPr>
            <a:r>
              <a:rPr lang="es-ES_tradnl" sz="2800" b="1" dirty="0"/>
              <a:t>Trabajo sobre el efecto</a:t>
            </a:r>
          </a:p>
          <a:p>
            <a:pPr algn="l" eaLnBrk="1" hangingPunct="1">
              <a:lnSpc>
                <a:spcPct val="110000"/>
              </a:lnSpc>
              <a:buFontTx/>
              <a:buChar char="•"/>
            </a:pPr>
            <a:r>
              <a:rPr lang="es-ES_tradnl" sz="2800" b="1" dirty="0"/>
              <a:t>Medidas correctoras</a:t>
            </a:r>
          </a:p>
          <a:p>
            <a:pPr algn="l" eaLnBrk="1" hangingPunct="1">
              <a:lnSpc>
                <a:spcPct val="110000"/>
              </a:lnSpc>
              <a:buFontTx/>
              <a:buChar char="•"/>
            </a:pPr>
            <a:r>
              <a:rPr lang="es-ES_tradnl" sz="2800" b="1" dirty="0"/>
              <a:t>Minimizar consecuencias</a:t>
            </a:r>
          </a:p>
        </p:txBody>
      </p:sp>
      <p:sp>
        <p:nvSpPr>
          <p:cNvPr id="59400" name="Text Box 14"/>
          <p:cNvSpPr txBox="1">
            <a:spLocks noChangeArrowheads="1"/>
          </p:cNvSpPr>
          <p:nvPr/>
        </p:nvSpPr>
        <p:spPr bwMode="auto">
          <a:xfrm>
            <a:off x="4693833" y="4040654"/>
            <a:ext cx="5329238"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eaLnBrk="1" hangingPunct="1">
              <a:buFontTx/>
              <a:buChar char="•"/>
            </a:pPr>
            <a:r>
              <a:rPr lang="es-ES" sz="2800" b="1" dirty="0"/>
              <a:t>Evaluación previa y sistemática</a:t>
            </a:r>
          </a:p>
          <a:p>
            <a:pPr algn="l" eaLnBrk="1" hangingPunct="1">
              <a:buFontTx/>
              <a:buChar char="•"/>
            </a:pPr>
            <a:r>
              <a:rPr lang="es-ES" sz="2800" b="1" dirty="0"/>
              <a:t>Medidas planificadas para menor tiempo de reacción</a:t>
            </a:r>
          </a:p>
          <a:p>
            <a:pPr algn="l" eaLnBrk="1" hangingPunct="1">
              <a:buFontTx/>
              <a:buChar char="•"/>
            </a:pPr>
            <a:r>
              <a:rPr lang="es-ES" sz="2800" b="1" dirty="0"/>
              <a:t>Evasión de riesgo</a:t>
            </a:r>
            <a:r>
              <a:rPr lang="en-US" sz="2800" b="1" dirty="0"/>
              <a:t> </a:t>
            </a:r>
            <a:endParaRPr lang="es-ES_tradnl" sz="2800" b="1" dirty="0"/>
          </a:p>
        </p:txBody>
      </p:sp>
    </p:spTree>
    <p:extLst>
      <p:ext uri="{BB962C8B-B14F-4D97-AF65-F5344CB8AC3E}">
        <p14:creationId xmlns:p14="http://schemas.microsoft.com/office/powerpoint/2010/main" val="229699962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s-ES" dirty="0"/>
              <a:t>Estrategias para riesgos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19277610"/>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uadroTexto 2">
            <a:extLst>
              <a:ext uri="{FF2B5EF4-FFF2-40B4-BE49-F238E27FC236}">
                <a16:creationId xmlns:a16="http://schemas.microsoft.com/office/drawing/2014/main" xmlns="" id="{E677E712-1681-7435-1744-5C33FF27B2ED}"/>
              </a:ext>
            </a:extLst>
          </p:cNvPr>
          <p:cNvSpPr txBox="1"/>
          <p:nvPr/>
        </p:nvSpPr>
        <p:spPr>
          <a:xfrm>
            <a:off x="182562" y="5888161"/>
            <a:ext cx="10719899" cy="430887"/>
          </a:xfrm>
          <a:prstGeom prst="rect">
            <a:avLst/>
          </a:prstGeom>
          <a:noFill/>
        </p:spPr>
        <p:txBody>
          <a:bodyPr wrap="square">
            <a:spAutoFit/>
          </a:bodyPr>
          <a:lstStyle/>
          <a:p>
            <a:pPr algn="ctr"/>
            <a:r>
              <a:rPr lang="es-ES" sz="2200" dirty="0">
                <a:latin typeface="quote-cjk-patch"/>
              </a:rPr>
              <a:t>Ejemplo:</a:t>
            </a:r>
            <a:r>
              <a:rPr lang="es-ES" sz="2200" b="0" i="0" dirty="0">
                <a:effectLst/>
                <a:latin typeface="quote-cjk-patch"/>
              </a:rPr>
              <a:t> "</a:t>
            </a:r>
            <a:r>
              <a:rPr lang="es-ES" sz="2200" b="1" i="1" dirty="0" err="1">
                <a:effectLst/>
                <a:latin typeface="quote-cjk-patch"/>
              </a:rPr>
              <a:t>FinanSmart</a:t>
            </a:r>
            <a:r>
              <a:rPr lang="es-ES" sz="2200" b="0" i="0" dirty="0">
                <a:effectLst/>
                <a:latin typeface="quote-cjk-patch"/>
              </a:rPr>
              <a:t>", una aplicación para gestión de finanzas personales</a:t>
            </a:r>
            <a:endParaRPr lang="en-US" sz="2200" dirty="0"/>
          </a:p>
        </p:txBody>
      </p:sp>
    </p:spTree>
    <p:extLst>
      <p:ext uri="{BB962C8B-B14F-4D97-AF65-F5344CB8AC3E}">
        <p14:creationId xmlns:p14="http://schemas.microsoft.com/office/powerpoint/2010/main" val="29760116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s-ES" dirty="0"/>
              <a:t>Explotar</a:t>
            </a:r>
          </a:p>
        </p:txBody>
      </p:sp>
      <p:sp>
        <p:nvSpPr>
          <p:cNvPr id="4" name="Content Placeholder 3"/>
          <p:cNvSpPr>
            <a:spLocks noGrp="1"/>
          </p:cNvSpPr>
          <p:nvPr>
            <p:ph idx="1"/>
          </p:nvPr>
        </p:nvSpPr>
        <p:spPr>
          <a:xfrm>
            <a:off x="1097279" y="1845734"/>
            <a:ext cx="10883705" cy="4023360"/>
          </a:xfrm>
        </p:spPr>
        <p:txBody>
          <a:bodyPr>
            <a:noAutofit/>
          </a:bodyPr>
          <a:lstStyle/>
          <a:p>
            <a:pPr>
              <a:defRPr/>
            </a:pPr>
            <a:r>
              <a:rPr lang="es-ES" sz="2200" kern="1200" dirty="0">
                <a:cs typeface="Arial" panose="020B0604020202020204" pitchFamily="34" charset="0"/>
              </a:rPr>
              <a:t>Lograr que la oportunidad definitivamente se concrete. </a:t>
            </a:r>
          </a:p>
          <a:p>
            <a:r>
              <a:rPr lang="es-ES" sz="2200" b="1" dirty="0"/>
              <a:t>Escenario</a:t>
            </a:r>
            <a:r>
              <a:rPr lang="es-ES" sz="2200" dirty="0"/>
              <a:t>: El equipo descubre una </a:t>
            </a:r>
            <a:r>
              <a:rPr lang="es-ES" sz="2200" b="1" dirty="0"/>
              <a:t>nueva biblioteca de código abierto</a:t>
            </a:r>
            <a:r>
              <a:rPr lang="es-ES" sz="2200" dirty="0"/>
              <a:t> para visualizar gráficos que es un 50% más rápida y tiene mejor documentación que la que planificaron usar.</a:t>
            </a:r>
          </a:p>
          <a:p>
            <a:r>
              <a:rPr lang="es-ES" sz="2200" b="1" dirty="0"/>
              <a:t>¿Por qué es una oportunidad?</a:t>
            </a:r>
            <a:r>
              <a:rPr lang="es-ES" sz="2200" dirty="0"/>
              <a:t>: Reduce el tiempo de desarrollo, mejora el rendimiento de la app y disminuye los </a:t>
            </a:r>
            <a:r>
              <a:rPr lang="es-ES" sz="2200" i="1" dirty="0"/>
              <a:t>bugs</a:t>
            </a:r>
            <a:r>
              <a:rPr lang="es-ES" sz="2200" dirty="0"/>
              <a:t> potenciales.</a:t>
            </a:r>
          </a:p>
          <a:p>
            <a:r>
              <a:rPr lang="es-ES" sz="2200" b="1" dirty="0"/>
              <a:t>Acciones para EXPLOTAR</a:t>
            </a:r>
            <a:r>
              <a:rPr lang="es-ES" sz="2200" dirty="0"/>
              <a:t>:</a:t>
            </a:r>
          </a:p>
          <a:p>
            <a:pPr lvl="1"/>
            <a:r>
              <a:rPr lang="es-ES" sz="2200" b="1" dirty="0"/>
              <a:t>Asignar recursos inmediatamente</a:t>
            </a:r>
            <a:r>
              <a:rPr lang="es-ES" sz="2200" dirty="0"/>
              <a:t>: Reasignar a un desarrollador para que investigue e implemente la nueva biblioteca de inmediato.</a:t>
            </a:r>
          </a:p>
          <a:p>
            <a:pPr lvl="1"/>
            <a:r>
              <a:rPr lang="es-ES" sz="2200" b="1" dirty="0"/>
              <a:t>Modificar el plan de trabajo</a:t>
            </a:r>
            <a:r>
              <a:rPr lang="es-ES" sz="2200" dirty="0"/>
              <a:t>: Actualizar el cronograma y las tareas para reflejar la adopción de esta nueva tecnología.</a:t>
            </a:r>
          </a:p>
          <a:p>
            <a:pPr marL="201168" lvl="1" indent="0">
              <a:buNone/>
            </a:pPr>
            <a:r>
              <a:rPr lang="es-ES" sz="2200" b="1" dirty="0"/>
              <a:t>Resultado</a:t>
            </a:r>
            <a:r>
              <a:rPr lang="es-ES" sz="2200" dirty="0"/>
              <a:t>: Asegurar los beneficios de la oportunidad (menos tiempo, mejor calidad) de manera directa e interna.</a:t>
            </a:r>
          </a:p>
          <a:p>
            <a:pPr>
              <a:defRPr/>
            </a:pPr>
            <a:endParaRPr lang="es-ES" sz="2200" kern="1200" dirty="0">
              <a:cs typeface="Arial" panose="020B0604020202020204" pitchFamily="34" charset="0"/>
            </a:endParaRPr>
          </a:p>
        </p:txBody>
      </p:sp>
    </p:spTree>
    <p:extLst>
      <p:ext uri="{BB962C8B-B14F-4D97-AF65-F5344CB8AC3E}">
        <p14:creationId xmlns:p14="http://schemas.microsoft.com/office/powerpoint/2010/main" val="36419157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s-ES" dirty="0"/>
              <a:t>Compartir</a:t>
            </a:r>
          </a:p>
        </p:txBody>
      </p:sp>
      <p:sp>
        <p:nvSpPr>
          <p:cNvPr id="6" name="Content Placeholder 5"/>
          <p:cNvSpPr>
            <a:spLocks noGrp="1"/>
          </p:cNvSpPr>
          <p:nvPr>
            <p:ph idx="1"/>
          </p:nvPr>
        </p:nvSpPr>
        <p:spPr>
          <a:xfrm>
            <a:off x="1097280" y="1775396"/>
            <a:ext cx="11094720" cy="4023360"/>
          </a:xfrm>
        </p:spPr>
        <p:txBody>
          <a:bodyPr>
            <a:noAutofit/>
          </a:bodyPr>
          <a:lstStyle/>
          <a:p>
            <a:pPr>
              <a:defRPr/>
            </a:pPr>
            <a:r>
              <a:rPr lang="es-ES" sz="2200" kern="1200" dirty="0"/>
              <a:t>Implica asignar la propiedad a un tercero que está mejor capacitado para capturar la oportunidad para beneficio del proyecto</a:t>
            </a:r>
          </a:p>
          <a:p>
            <a:r>
              <a:rPr lang="es-ES" sz="2200" b="1" dirty="0"/>
              <a:t>Escenario</a:t>
            </a:r>
            <a:r>
              <a:rPr lang="es-ES" sz="2200" dirty="0"/>
              <a:t>: Una </a:t>
            </a:r>
            <a:r>
              <a:rPr lang="es-ES" sz="2200" i="1" dirty="0"/>
              <a:t>startup</a:t>
            </a:r>
            <a:r>
              <a:rPr lang="es-ES" sz="2200" dirty="0"/>
              <a:t> emergente en el sector de "educación financiera" se acerca a tu empresa. Quieren integrar su contenido educativo dentro de "</a:t>
            </a:r>
            <a:r>
              <a:rPr lang="es-ES" sz="2200" dirty="0" err="1"/>
              <a:t>FinanSmart</a:t>
            </a:r>
            <a:r>
              <a:rPr lang="es-ES" sz="2200" dirty="0"/>
              <a:t>" a cambio de promocionar tu </a:t>
            </a:r>
            <a:r>
              <a:rPr lang="es-ES" sz="2200" i="1" dirty="0"/>
              <a:t>app</a:t>
            </a:r>
            <a:r>
              <a:rPr lang="es-ES" sz="2200" dirty="0"/>
              <a:t> a su base de usuarios.</a:t>
            </a:r>
          </a:p>
          <a:p>
            <a:r>
              <a:rPr lang="es-ES" sz="2200" b="1" dirty="0"/>
              <a:t>¿Por qué es una oportunidad?</a:t>
            </a:r>
            <a:r>
              <a:rPr lang="es-ES" sz="2200" dirty="0"/>
              <a:t>: Añade valor a tu producto sin desarrollar el contenido desde cero y gana acceso a un nuevo mercado potencial.</a:t>
            </a:r>
          </a:p>
          <a:p>
            <a:r>
              <a:rPr lang="es-ES" sz="2200" b="1" dirty="0"/>
              <a:t>Acciones para COMPARTIR</a:t>
            </a:r>
            <a:r>
              <a:rPr lang="es-ES" sz="2200" dirty="0"/>
              <a:t>:</a:t>
            </a:r>
          </a:p>
          <a:p>
            <a:pPr lvl="1"/>
            <a:r>
              <a:rPr lang="es-ES" sz="2200" b="1" dirty="0"/>
              <a:t>Establecer un Acuerdo de Nivel de Servicio</a:t>
            </a:r>
            <a:r>
              <a:rPr lang="es-ES" sz="2200" dirty="0"/>
              <a:t>: </a:t>
            </a:r>
            <a:r>
              <a:rPr lang="es-ES" sz="2100" dirty="0"/>
              <a:t>Firmar un contrato que defina responsabilidades de cada parte, plazos de integración y aspectos financieros.</a:t>
            </a:r>
          </a:p>
          <a:p>
            <a:pPr lvl="1"/>
            <a:r>
              <a:rPr lang="es-ES" sz="2200" b="1" dirty="0"/>
              <a:t>Crear equipos de trabajo conjuntos</a:t>
            </a:r>
            <a:r>
              <a:rPr lang="es-ES" sz="2200" dirty="0"/>
              <a:t>: Integración técnica y de marketing fluida.</a:t>
            </a:r>
          </a:p>
          <a:p>
            <a:pPr marL="201168" lvl="1" indent="0">
              <a:buNone/>
            </a:pPr>
            <a:r>
              <a:rPr lang="es-ES" sz="2100" b="1" dirty="0"/>
              <a:t>Resultado</a:t>
            </a:r>
            <a:r>
              <a:rPr lang="es-ES" sz="2100" dirty="0"/>
              <a:t>: Compartir el riesgo de la integración, pero también los beneficios (nuevos usuarios, funcionalidad enriquecida), logrando un objetivo que sería difícil alcanzar solo.</a:t>
            </a:r>
          </a:p>
          <a:p>
            <a:pPr>
              <a:defRPr/>
            </a:pPr>
            <a:endParaRPr lang="es-ES" sz="2200" kern="1200" dirty="0"/>
          </a:p>
          <a:p>
            <a:pPr>
              <a:defRPr/>
            </a:pPr>
            <a:endParaRPr lang="es-ES" sz="2200" dirty="0"/>
          </a:p>
        </p:txBody>
      </p:sp>
    </p:spTree>
    <p:extLst>
      <p:ext uri="{BB962C8B-B14F-4D97-AF65-F5344CB8AC3E}">
        <p14:creationId xmlns:p14="http://schemas.microsoft.com/office/powerpoint/2010/main" val="37707080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s-ES" dirty="0"/>
              <a:t>Mejorar</a:t>
            </a:r>
          </a:p>
        </p:txBody>
      </p:sp>
      <p:sp>
        <p:nvSpPr>
          <p:cNvPr id="5" name="Content Placeholder 4"/>
          <p:cNvSpPr>
            <a:spLocks noGrp="1"/>
          </p:cNvSpPr>
          <p:nvPr>
            <p:ph idx="1"/>
          </p:nvPr>
        </p:nvSpPr>
        <p:spPr>
          <a:xfrm>
            <a:off x="1097279" y="1845734"/>
            <a:ext cx="10778197" cy="4023360"/>
          </a:xfrm>
        </p:spPr>
        <p:txBody>
          <a:bodyPr>
            <a:noAutofit/>
          </a:bodyPr>
          <a:lstStyle/>
          <a:p>
            <a:pPr algn="just">
              <a:defRPr/>
            </a:pPr>
            <a:r>
              <a:rPr lang="es-ES" sz="2200" dirty="0"/>
              <a:t>Buscar, facilitar o fortalecer la causa de la oportunidad.</a:t>
            </a:r>
          </a:p>
          <a:p>
            <a:r>
              <a:rPr lang="es-ES" sz="2200" b="1" dirty="0"/>
              <a:t>Escenario</a:t>
            </a:r>
            <a:r>
              <a:rPr lang="es-ES" sz="2200" dirty="0"/>
              <a:t>: Durante una demo, los usuarios responden excepcionalmente bien a una funcionalidad: "simulador de ahorro para metas". Dicen que es "adictivo" y fácil de usar.</a:t>
            </a:r>
          </a:p>
          <a:p>
            <a:r>
              <a:rPr lang="es-ES" sz="2200" b="1" dirty="0"/>
              <a:t>¿Por qué es una oportunidad?</a:t>
            </a:r>
            <a:r>
              <a:rPr lang="es-ES" sz="2200" dirty="0"/>
              <a:t>: Un </a:t>
            </a:r>
            <a:r>
              <a:rPr lang="es-ES" sz="2200" b="1" dirty="0"/>
              <a:t>"</a:t>
            </a:r>
            <a:r>
              <a:rPr lang="es-ES" sz="2200" b="1" i="1" dirty="0" err="1"/>
              <a:t>feature</a:t>
            </a:r>
            <a:r>
              <a:rPr lang="es-ES" sz="2200" b="1" i="1" dirty="0"/>
              <a:t> </a:t>
            </a:r>
            <a:r>
              <a:rPr lang="es-ES" sz="2200" b="1" i="1" dirty="0" err="1"/>
              <a:t>winner</a:t>
            </a:r>
            <a:r>
              <a:rPr lang="es-ES" sz="2200" b="1" dirty="0"/>
              <a:t>"</a:t>
            </a:r>
            <a:r>
              <a:rPr lang="es-ES" sz="2200" dirty="0"/>
              <a:t> puede ser la ventaja competitiva principal y el principal argumento de marketing.</a:t>
            </a:r>
          </a:p>
          <a:p>
            <a:r>
              <a:rPr lang="es-ES" sz="2200" b="1" dirty="0"/>
              <a:t>Acciones para MEJORAR</a:t>
            </a:r>
            <a:r>
              <a:rPr lang="es-ES" sz="2200" dirty="0"/>
              <a:t>:</a:t>
            </a:r>
          </a:p>
          <a:p>
            <a:pPr lvl="1"/>
            <a:r>
              <a:rPr lang="es-ES" sz="2200" b="1" dirty="0"/>
              <a:t>Aumentar el IMPACTO</a:t>
            </a:r>
            <a:r>
              <a:rPr lang="es-ES" sz="2200" dirty="0"/>
              <a:t>: Destinar más recursos de marketing para destacar esta funcionalidad en la campaña de lanzamiento.</a:t>
            </a:r>
          </a:p>
          <a:p>
            <a:pPr lvl="1"/>
            <a:r>
              <a:rPr lang="es-ES" sz="2200" b="1" dirty="0"/>
              <a:t>Aumentar la PROBABILIDAD de éxito</a:t>
            </a:r>
            <a:r>
              <a:rPr lang="es-ES" sz="2200" dirty="0"/>
              <a:t>: Asignar más desarrolladores para pulir y optimizar aún más esta función antes del lanzamiento, añadiendo, por ejemplo, notificaciones de progreso o la capacidad de compartir metas en redes sociales.</a:t>
            </a:r>
          </a:p>
          <a:p>
            <a:pPr marL="201168" lvl="1" indent="0">
              <a:buNone/>
            </a:pPr>
            <a:r>
              <a:rPr lang="es-ES" sz="2200" b="1" dirty="0"/>
              <a:t>Resultado</a:t>
            </a:r>
            <a:r>
              <a:rPr lang="es-ES" sz="2200" dirty="0"/>
              <a:t>: Transformar una funcionalidad en la piedra angular de tu producto, maximizando su potencial para atraer y retener usuarios.</a:t>
            </a:r>
          </a:p>
          <a:p>
            <a:pPr algn="just">
              <a:defRPr/>
            </a:pPr>
            <a:endParaRPr lang="es-ES" sz="2200" dirty="0"/>
          </a:p>
        </p:txBody>
      </p:sp>
    </p:spTree>
    <p:extLst>
      <p:ext uri="{BB962C8B-B14F-4D97-AF65-F5344CB8AC3E}">
        <p14:creationId xmlns:p14="http://schemas.microsoft.com/office/powerpoint/2010/main" val="29369480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s-ES"/>
              <a:t>Evitar</a:t>
            </a:r>
          </a:p>
        </p:txBody>
      </p:sp>
      <p:sp>
        <p:nvSpPr>
          <p:cNvPr id="64515" name="Rectangle 10"/>
          <p:cNvSpPr>
            <a:spLocks noGrp="1" noChangeArrowheads="1"/>
          </p:cNvSpPr>
          <p:nvPr>
            <p:ph idx="1"/>
          </p:nvPr>
        </p:nvSpPr>
        <p:spPr/>
        <p:txBody>
          <a:bodyPr>
            <a:normAutofit/>
          </a:bodyPr>
          <a:lstStyle/>
          <a:p>
            <a:r>
              <a:rPr lang="es-ES" sz="2800" dirty="0"/>
              <a:t>Implica cambiar el plan de gestión del proyecto para eliminar la amenaza.</a:t>
            </a:r>
          </a:p>
          <a:p>
            <a:r>
              <a:rPr lang="es-ES" sz="2800" dirty="0"/>
              <a:t>Aislar los objetivos del proyecto del impacto del riesgo o relajar el objetivo que está en peligro.</a:t>
            </a:r>
          </a:p>
          <a:p>
            <a:endParaRPr lang="es-ES" sz="2800" dirty="0"/>
          </a:p>
          <a:p>
            <a:endParaRPr lang="es-ES" sz="2800" dirty="0"/>
          </a:p>
        </p:txBody>
      </p:sp>
      <p:grpSp>
        <p:nvGrpSpPr>
          <p:cNvPr id="64516" name="Group 4"/>
          <p:cNvGrpSpPr>
            <a:grpSpLocks/>
          </p:cNvGrpSpPr>
          <p:nvPr/>
        </p:nvGrpSpPr>
        <p:grpSpPr bwMode="auto">
          <a:xfrm>
            <a:off x="7280031" y="3429000"/>
            <a:ext cx="4200035" cy="2836106"/>
            <a:chOff x="2744" y="1207"/>
            <a:chExt cx="2730" cy="2042"/>
          </a:xfrm>
        </p:grpSpPr>
        <p:pic>
          <p:nvPicPr>
            <p:cNvPr id="645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 y="1207"/>
              <a:ext cx="2730" cy="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Freeform 6"/>
            <p:cNvSpPr>
              <a:spLocks/>
            </p:cNvSpPr>
            <p:nvPr/>
          </p:nvSpPr>
          <p:spPr bwMode="auto">
            <a:xfrm>
              <a:off x="4831" y="2659"/>
              <a:ext cx="386" cy="544"/>
            </a:xfrm>
            <a:custGeom>
              <a:avLst/>
              <a:gdLst>
                <a:gd name="T0" fmla="*/ 0 w 386"/>
                <a:gd name="T1" fmla="*/ 0 h 544"/>
                <a:gd name="T2" fmla="*/ 226 w 386"/>
                <a:gd name="T3" fmla="*/ 45 h 544"/>
                <a:gd name="T4" fmla="*/ 363 w 386"/>
                <a:gd name="T5" fmla="*/ 181 h 544"/>
                <a:gd name="T6" fmla="*/ 363 w 386"/>
                <a:gd name="T7" fmla="*/ 363 h 544"/>
                <a:gd name="T8" fmla="*/ 226 w 386"/>
                <a:gd name="T9" fmla="*/ 544 h 544"/>
                <a:gd name="T10" fmla="*/ 0 60000 65536"/>
                <a:gd name="T11" fmla="*/ 0 60000 65536"/>
                <a:gd name="T12" fmla="*/ 0 60000 65536"/>
                <a:gd name="T13" fmla="*/ 0 60000 65536"/>
                <a:gd name="T14" fmla="*/ 0 60000 65536"/>
                <a:gd name="T15" fmla="*/ 0 w 386"/>
                <a:gd name="T16" fmla="*/ 0 h 544"/>
                <a:gd name="T17" fmla="*/ 386 w 386"/>
                <a:gd name="T18" fmla="*/ 544 h 544"/>
              </a:gdLst>
              <a:ahLst/>
              <a:cxnLst>
                <a:cxn ang="T10">
                  <a:pos x="T0" y="T1"/>
                </a:cxn>
                <a:cxn ang="T11">
                  <a:pos x="T2" y="T3"/>
                </a:cxn>
                <a:cxn ang="T12">
                  <a:pos x="T4" y="T5"/>
                </a:cxn>
                <a:cxn ang="T13">
                  <a:pos x="T6" y="T7"/>
                </a:cxn>
                <a:cxn ang="T14">
                  <a:pos x="T8" y="T9"/>
                </a:cxn>
              </a:cxnLst>
              <a:rect l="T15" t="T16" r="T17" b="T18"/>
              <a:pathLst>
                <a:path w="386" h="544">
                  <a:moveTo>
                    <a:pt x="0" y="0"/>
                  </a:moveTo>
                  <a:cubicBezTo>
                    <a:pt x="83" y="7"/>
                    <a:pt x="166" y="15"/>
                    <a:pt x="226" y="45"/>
                  </a:cubicBezTo>
                  <a:cubicBezTo>
                    <a:pt x="286" y="75"/>
                    <a:pt x="340" y="128"/>
                    <a:pt x="363" y="181"/>
                  </a:cubicBezTo>
                  <a:cubicBezTo>
                    <a:pt x="386" y="234"/>
                    <a:pt x="386" y="302"/>
                    <a:pt x="363" y="363"/>
                  </a:cubicBezTo>
                  <a:cubicBezTo>
                    <a:pt x="340" y="424"/>
                    <a:pt x="272" y="521"/>
                    <a:pt x="226" y="544"/>
                  </a:cubicBezTo>
                </a:path>
              </a:pathLst>
            </a:custGeom>
            <a:noFill/>
            <a:ln w="762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es-ES"/>
            </a:p>
          </p:txBody>
        </p:sp>
        <p:sp>
          <p:nvSpPr>
            <p:cNvPr id="64519" name="Freeform 7"/>
            <p:cNvSpPr>
              <a:spLocks/>
            </p:cNvSpPr>
            <p:nvPr/>
          </p:nvSpPr>
          <p:spPr bwMode="auto">
            <a:xfrm>
              <a:off x="4438" y="2704"/>
              <a:ext cx="302" cy="545"/>
            </a:xfrm>
            <a:custGeom>
              <a:avLst/>
              <a:gdLst>
                <a:gd name="T0" fmla="*/ 257 w 302"/>
                <a:gd name="T1" fmla="*/ 0 h 545"/>
                <a:gd name="T2" fmla="*/ 30 w 302"/>
                <a:gd name="T3" fmla="*/ 136 h 545"/>
                <a:gd name="T4" fmla="*/ 75 w 302"/>
                <a:gd name="T5" fmla="*/ 363 h 545"/>
                <a:gd name="T6" fmla="*/ 302 w 302"/>
                <a:gd name="T7" fmla="*/ 545 h 545"/>
                <a:gd name="T8" fmla="*/ 0 60000 65536"/>
                <a:gd name="T9" fmla="*/ 0 60000 65536"/>
                <a:gd name="T10" fmla="*/ 0 60000 65536"/>
                <a:gd name="T11" fmla="*/ 0 60000 65536"/>
                <a:gd name="T12" fmla="*/ 0 w 302"/>
                <a:gd name="T13" fmla="*/ 0 h 545"/>
                <a:gd name="T14" fmla="*/ 302 w 302"/>
                <a:gd name="T15" fmla="*/ 545 h 545"/>
              </a:gdLst>
              <a:ahLst/>
              <a:cxnLst>
                <a:cxn ang="T8">
                  <a:pos x="T0" y="T1"/>
                </a:cxn>
                <a:cxn ang="T9">
                  <a:pos x="T2" y="T3"/>
                </a:cxn>
                <a:cxn ang="T10">
                  <a:pos x="T4" y="T5"/>
                </a:cxn>
                <a:cxn ang="T11">
                  <a:pos x="T6" y="T7"/>
                </a:cxn>
              </a:cxnLst>
              <a:rect l="T12" t="T13" r="T14" b="T15"/>
              <a:pathLst>
                <a:path w="302" h="545">
                  <a:moveTo>
                    <a:pt x="257" y="0"/>
                  </a:moveTo>
                  <a:cubicBezTo>
                    <a:pt x="158" y="38"/>
                    <a:pt x="60" y="76"/>
                    <a:pt x="30" y="136"/>
                  </a:cubicBezTo>
                  <a:cubicBezTo>
                    <a:pt x="0" y="196"/>
                    <a:pt x="30" y="295"/>
                    <a:pt x="75" y="363"/>
                  </a:cubicBezTo>
                  <a:cubicBezTo>
                    <a:pt x="120" y="431"/>
                    <a:pt x="211" y="488"/>
                    <a:pt x="302" y="545"/>
                  </a:cubicBezTo>
                </a:path>
              </a:pathLst>
            </a:custGeom>
            <a:noFill/>
            <a:ln w="76200">
              <a:solidFill>
                <a:srgbClr val="008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es-ES"/>
            </a:p>
          </p:txBody>
        </p:sp>
      </p:grpSp>
    </p:spTree>
    <p:extLst>
      <p:ext uri="{BB962C8B-B14F-4D97-AF65-F5344CB8AC3E}">
        <p14:creationId xmlns:p14="http://schemas.microsoft.com/office/powerpoint/2010/main" val="38427729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0B9573-8150-DAD6-7EFB-56CBE9F09185}"/>
            </a:ext>
          </a:extLst>
        </p:cNvPr>
        <p:cNvGrpSpPr/>
        <p:nvPr/>
      </p:nvGrpSpPr>
      <p:grpSpPr>
        <a:xfrm>
          <a:off x="0" y="0"/>
          <a:ext cx="0" cy="0"/>
          <a:chOff x="0" y="0"/>
          <a:chExt cx="0" cy="0"/>
        </a:xfrm>
      </p:grpSpPr>
      <p:sp>
        <p:nvSpPr>
          <p:cNvPr id="64514" name="Rectangle 2">
            <a:extLst>
              <a:ext uri="{FF2B5EF4-FFF2-40B4-BE49-F238E27FC236}">
                <a16:creationId xmlns:a16="http://schemas.microsoft.com/office/drawing/2014/main" xmlns="" id="{10E2D974-F5EF-E49A-3255-DDD2329E9A40}"/>
              </a:ext>
            </a:extLst>
          </p:cNvPr>
          <p:cNvSpPr>
            <a:spLocks noGrp="1" noChangeArrowheads="1"/>
          </p:cNvSpPr>
          <p:nvPr>
            <p:ph type="title"/>
          </p:nvPr>
        </p:nvSpPr>
        <p:spPr/>
        <p:txBody>
          <a:bodyPr/>
          <a:lstStyle/>
          <a:p>
            <a:r>
              <a:rPr lang="es-ES" dirty="0"/>
              <a:t>Evitar. Ejemplo</a:t>
            </a:r>
          </a:p>
        </p:txBody>
      </p:sp>
      <p:sp>
        <p:nvSpPr>
          <p:cNvPr id="64515" name="Rectangle 10">
            <a:extLst>
              <a:ext uri="{FF2B5EF4-FFF2-40B4-BE49-F238E27FC236}">
                <a16:creationId xmlns:a16="http://schemas.microsoft.com/office/drawing/2014/main" xmlns="" id="{4F1DFE78-90FE-D68E-0EC3-E479FDE5A9A3}"/>
              </a:ext>
            </a:extLst>
          </p:cNvPr>
          <p:cNvSpPr>
            <a:spLocks noGrp="1" noChangeArrowheads="1"/>
          </p:cNvSpPr>
          <p:nvPr>
            <p:ph idx="1"/>
          </p:nvPr>
        </p:nvSpPr>
        <p:spPr>
          <a:xfrm>
            <a:off x="1097280" y="1986410"/>
            <a:ext cx="10058400" cy="4023360"/>
          </a:xfrm>
        </p:spPr>
        <p:txBody>
          <a:bodyPr>
            <a:normAutofit lnSpcReduction="10000"/>
          </a:bodyPr>
          <a:lstStyle/>
          <a:p>
            <a:r>
              <a:rPr lang="es-ES" sz="2200" dirty="0"/>
              <a:t>"Existe un </a:t>
            </a:r>
            <a:r>
              <a:rPr lang="es-ES" sz="2200" b="1" dirty="0"/>
              <a:t>alto riesgo de que la integración directa con los bancos locales</a:t>
            </a:r>
            <a:r>
              <a:rPr lang="es-ES" sz="2200" dirty="0"/>
              <a:t> falle o no esté lista para el lanzamiento, ya que requiere protocolos complejos y aprobaciones  por parte de los bancos."</a:t>
            </a:r>
          </a:p>
          <a:p>
            <a:r>
              <a:rPr lang="es-ES" sz="2200" b="1" dirty="0"/>
              <a:t>Acciones Concretas</a:t>
            </a:r>
            <a:r>
              <a:rPr lang="es-ES" sz="2200" dirty="0"/>
              <a:t>:</a:t>
            </a:r>
          </a:p>
          <a:p>
            <a:pPr lvl="1"/>
            <a:r>
              <a:rPr lang="es-ES" sz="2200" b="1" dirty="0"/>
              <a:t>Cambiar el Plan</a:t>
            </a:r>
            <a:r>
              <a:rPr lang="es-ES" sz="2200" dirty="0"/>
              <a:t>: En lugar de desarrollar integraciones directas con cada banco para la versión 1.0, decides utilizar un </a:t>
            </a:r>
            <a:r>
              <a:rPr lang="es-ES" sz="2200" b="1" dirty="0"/>
              <a:t>proveedor de API agregador</a:t>
            </a:r>
            <a:r>
              <a:rPr lang="es-ES" sz="2200" dirty="0"/>
              <a:t> (como </a:t>
            </a:r>
            <a:r>
              <a:rPr lang="es-ES" sz="2200" dirty="0" err="1"/>
              <a:t>Plaid</a:t>
            </a:r>
            <a:r>
              <a:rPr lang="es-ES" sz="2200" dirty="0"/>
              <a:t> o un equivalente local).</a:t>
            </a:r>
          </a:p>
          <a:p>
            <a:pPr lvl="1"/>
            <a:r>
              <a:rPr lang="es-ES" sz="2200" b="1" dirty="0"/>
              <a:t>Modificar el Alcance</a:t>
            </a:r>
            <a:r>
              <a:rPr lang="es-ES" sz="2200" dirty="0"/>
              <a:t>: Lanzas la app inicialmente con la funcionalidad de que los usuarios </a:t>
            </a:r>
            <a:r>
              <a:rPr lang="es-ES" sz="2200" b="1" dirty="0"/>
              <a:t>ingresen sus transacciones manualmente</a:t>
            </a:r>
            <a:r>
              <a:rPr lang="es-ES" sz="2200" dirty="0"/>
              <a:t> o suban archivos CSV de sus extractos bancarios. La integración automática se pospone para una versión futura.</a:t>
            </a:r>
          </a:p>
          <a:p>
            <a:r>
              <a:rPr lang="es-ES" sz="2200" b="1" dirty="0"/>
              <a:t>Resultado</a:t>
            </a:r>
            <a:r>
              <a:rPr lang="es-ES" sz="2200" dirty="0"/>
              <a:t>: El riesgo de fallar en las integraciones bancarias se </a:t>
            </a:r>
            <a:r>
              <a:rPr lang="es-ES" sz="2200" b="1" dirty="0"/>
              <a:t>elimina por completo</a:t>
            </a:r>
            <a:r>
              <a:rPr lang="es-ES" sz="2200" dirty="0"/>
              <a:t> del lanzamiento inicial. Cambiaste el plan para evitar el problema.</a:t>
            </a:r>
          </a:p>
          <a:p>
            <a:endParaRPr lang="es-ES" sz="2800" dirty="0"/>
          </a:p>
          <a:p>
            <a:endParaRPr lang="es-ES" sz="2800" dirty="0"/>
          </a:p>
        </p:txBody>
      </p:sp>
    </p:spTree>
    <p:extLst>
      <p:ext uri="{BB962C8B-B14F-4D97-AF65-F5344CB8AC3E}">
        <p14:creationId xmlns:p14="http://schemas.microsoft.com/office/powerpoint/2010/main" val="16643192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s-ES"/>
              <a:t>Mitigar</a:t>
            </a:r>
            <a:endParaRPr lang="es-PE"/>
          </a:p>
        </p:txBody>
      </p:sp>
      <p:sp>
        <p:nvSpPr>
          <p:cNvPr id="68611" name="Rectangle 3"/>
          <p:cNvSpPr>
            <a:spLocks noGrp="1" noChangeArrowheads="1"/>
          </p:cNvSpPr>
          <p:nvPr>
            <p:ph idx="1"/>
          </p:nvPr>
        </p:nvSpPr>
        <p:spPr/>
        <p:txBody>
          <a:bodyPr>
            <a:normAutofit/>
          </a:bodyPr>
          <a:lstStyle/>
          <a:p>
            <a:pPr>
              <a:lnSpc>
                <a:spcPct val="110000"/>
              </a:lnSpc>
            </a:pPr>
            <a:r>
              <a:rPr lang="es-ES" sz="3600" dirty="0"/>
              <a:t>Implica reducir la probabilidad y/o el impacto a un umbral aceptable.</a:t>
            </a:r>
          </a:p>
          <a:p>
            <a:pPr>
              <a:lnSpc>
                <a:spcPct val="110000"/>
              </a:lnSpc>
            </a:pPr>
            <a:endParaRPr lang="es-ES" sz="3600" dirty="0"/>
          </a:p>
          <a:p>
            <a:pPr>
              <a:lnSpc>
                <a:spcPct val="110000"/>
              </a:lnSpc>
            </a:pPr>
            <a:endParaRPr lang="es-ES" sz="3600" dirty="0"/>
          </a:p>
        </p:txBody>
      </p:sp>
      <p:pic>
        <p:nvPicPr>
          <p:cNvPr id="686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1804" y="4517458"/>
            <a:ext cx="1845588" cy="164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8613" name="Group 5"/>
          <p:cNvGrpSpPr>
            <a:grpSpLocks/>
          </p:cNvGrpSpPr>
          <p:nvPr/>
        </p:nvGrpSpPr>
        <p:grpSpPr bwMode="auto">
          <a:xfrm>
            <a:off x="7804597" y="3876540"/>
            <a:ext cx="4291082" cy="2473459"/>
            <a:chOff x="2290" y="2568"/>
            <a:chExt cx="2808" cy="1069"/>
          </a:xfrm>
        </p:grpSpPr>
        <p:pic>
          <p:nvPicPr>
            <p:cNvPr id="68614" name="Picture 6" descr="untitled11"/>
            <p:cNvPicPr>
              <a:picLocks noChangeAspect="1" noChangeArrowheads="1"/>
            </p:cNvPicPr>
            <p:nvPr/>
          </p:nvPicPr>
          <p:blipFill>
            <a:blip r:embed="rId4">
              <a:extLst>
                <a:ext uri="{28A0092B-C50C-407E-A947-70E740481C1C}">
                  <a14:useLocalDpi xmlns:a14="http://schemas.microsoft.com/office/drawing/2010/main" val="0"/>
                </a:ext>
              </a:extLst>
            </a:blip>
            <a:srcRect r="41499" b="67781"/>
            <a:stretch>
              <a:fillRect/>
            </a:stretch>
          </p:blipFill>
          <p:spPr bwMode="auto">
            <a:xfrm>
              <a:off x="2290" y="2568"/>
              <a:ext cx="2808" cy="1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5" name="Rectangle 7"/>
            <p:cNvSpPr>
              <a:spLocks noChangeArrowheads="1"/>
            </p:cNvSpPr>
            <p:nvPr/>
          </p:nvSpPr>
          <p:spPr bwMode="auto">
            <a:xfrm>
              <a:off x="2608" y="3113"/>
              <a:ext cx="99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s-ES" sz="3000" b="1" dirty="0"/>
                <a:t>Mitigar</a:t>
              </a:r>
            </a:p>
          </p:txBody>
        </p:sp>
      </p:grpSp>
    </p:spTree>
    <p:extLst>
      <p:ext uri="{BB962C8B-B14F-4D97-AF65-F5344CB8AC3E}">
        <p14:creationId xmlns:p14="http://schemas.microsoft.com/office/powerpoint/2010/main" val="2209759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208124B-3B26-D07C-F2C4-B37DA0C4AFAC}"/>
            </a:ext>
          </a:extLst>
        </p:cNvPr>
        <p:cNvGrpSpPr/>
        <p:nvPr/>
      </p:nvGrpSpPr>
      <p:grpSpPr>
        <a:xfrm>
          <a:off x="0" y="0"/>
          <a:ext cx="0" cy="0"/>
          <a:chOff x="0" y="0"/>
          <a:chExt cx="0" cy="0"/>
        </a:xfrm>
      </p:grpSpPr>
      <p:sp>
        <p:nvSpPr>
          <p:cNvPr id="68610" name="Rectangle 2">
            <a:extLst>
              <a:ext uri="{FF2B5EF4-FFF2-40B4-BE49-F238E27FC236}">
                <a16:creationId xmlns:a16="http://schemas.microsoft.com/office/drawing/2014/main" xmlns="" id="{93967194-A306-B199-A369-A15F84EDCE30}"/>
              </a:ext>
            </a:extLst>
          </p:cNvPr>
          <p:cNvSpPr>
            <a:spLocks noGrp="1" noChangeArrowheads="1"/>
          </p:cNvSpPr>
          <p:nvPr>
            <p:ph type="title"/>
          </p:nvPr>
        </p:nvSpPr>
        <p:spPr/>
        <p:txBody>
          <a:bodyPr/>
          <a:lstStyle/>
          <a:p>
            <a:r>
              <a:rPr lang="es-ES" dirty="0"/>
              <a:t>Mitigar. Ejemplo</a:t>
            </a:r>
            <a:endParaRPr lang="es-PE" dirty="0"/>
          </a:p>
        </p:txBody>
      </p:sp>
      <p:sp>
        <p:nvSpPr>
          <p:cNvPr id="68611" name="Rectangle 3">
            <a:extLst>
              <a:ext uri="{FF2B5EF4-FFF2-40B4-BE49-F238E27FC236}">
                <a16:creationId xmlns:a16="http://schemas.microsoft.com/office/drawing/2014/main" xmlns="" id="{23CF0F9D-E8AF-7898-B403-5B01CE578A19}"/>
              </a:ext>
            </a:extLst>
          </p:cNvPr>
          <p:cNvSpPr>
            <a:spLocks noGrp="1" noChangeArrowheads="1"/>
          </p:cNvSpPr>
          <p:nvPr>
            <p:ph idx="1"/>
          </p:nvPr>
        </p:nvSpPr>
        <p:spPr>
          <a:xfrm>
            <a:off x="937846" y="1763673"/>
            <a:ext cx="11254154" cy="4023360"/>
          </a:xfrm>
        </p:spPr>
        <p:txBody>
          <a:bodyPr>
            <a:noAutofit/>
          </a:bodyPr>
          <a:lstStyle/>
          <a:p>
            <a:pPr marL="0" indent="0">
              <a:buNone/>
            </a:pPr>
            <a:r>
              <a:rPr lang="es-ES" sz="2200" dirty="0"/>
              <a:t>"Debido a la novedad del equipo con la tecnología de gráficos elegida, existe el </a:t>
            </a:r>
            <a:r>
              <a:rPr lang="es-ES" sz="2200" b="1" dirty="0"/>
              <a:t>riesgo de que el rendimiento de la app sea lento</a:t>
            </a:r>
            <a:r>
              <a:rPr lang="es-ES" sz="2200" dirty="0"/>
              <a:t> (bajos </a:t>
            </a:r>
            <a:r>
              <a:rPr lang="es-ES" sz="2200" i="1" dirty="0" err="1"/>
              <a:t>frames</a:t>
            </a:r>
            <a:r>
              <a:rPr lang="es-ES" sz="2200" dirty="0"/>
              <a:t> por segundo) en dispositivos antiguos."</a:t>
            </a:r>
          </a:p>
          <a:p>
            <a:r>
              <a:rPr lang="es-ES" sz="2200" b="1" dirty="0"/>
              <a:t>Acciones Concretas</a:t>
            </a:r>
            <a:r>
              <a:rPr lang="es-ES" sz="2200" dirty="0"/>
              <a:t>:</a:t>
            </a:r>
          </a:p>
          <a:p>
            <a:pPr lvl="1"/>
            <a:r>
              <a:rPr lang="es-ES" sz="2200" b="1" dirty="0"/>
              <a:t>Mitigar la PROBABILIDAD</a:t>
            </a:r>
            <a:r>
              <a:rPr lang="es-ES" sz="2200" dirty="0"/>
              <a:t>:</a:t>
            </a:r>
          </a:p>
          <a:p>
            <a:pPr lvl="2"/>
            <a:r>
              <a:rPr lang="es-ES" sz="2200" dirty="0"/>
              <a:t>Asignar al desarrollador más experimentado en esa tecnología.</a:t>
            </a:r>
          </a:p>
          <a:p>
            <a:pPr lvl="2"/>
            <a:r>
              <a:rPr lang="es-ES" sz="2200" dirty="0"/>
              <a:t>Realizar </a:t>
            </a:r>
            <a:r>
              <a:rPr lang="es-ES" sz="2200" b="1" dirty="0"/>
              <a:t>sesiones de </a:t>
            </a:r>
            <a:r>
              <a:rPr lang="es-ES" sz="2200" b="1" i="1" dirty="0" err="1"/>
              <a:t>pair</a:t>
            </a:r>
            <a:r>
              <a:rPr lang="es-ES" sz="2200" b="1" i="1" dirty="0"/>
              <a:t> </a:t>
            </a:r>
            <a:r>
              <a:rPr lang="es-ES" sz="2200" b="1" i="1" dirty="0" err="1"/>
              <a:t>programming</a:t>
            </a:r>
            <a:r>
              <a:rPr lang="es-ES" sz="2200" i="1" dirty="0"/>
              <a:t> </a:t>
            </a:r>
            <a:r>
              <a:rPr lang="es-ES" sz="2200" dirty="0"/>
              <a:t>para compartir conocimiento. </a:t>
            </a:r>
          </a:p>
          <a:p>
            <a:pPr lvl="2"/>
            <a:r>
              <a:rPr lang="es-ES" sz="2200" dirty="0"/>
              <a:t>Incluir </a:t>
            </a:r>
            <a:r>
              <a:rPr lang="es-ES" sz="2200" b="1" dirty="0"/>
              <a:t>revisiones de código</a:t>
            </a:r>
            <a:r>
              <a:rPr lang="es-ES" sz="2200" dirty="0"/>
              <a:t> específicas para optimización.</a:t>
            </a:r>
          </a:p>
          <a:p>
            <a:pPr lvl="1"/>
            <a:r>
              <a:rPr lang="es-ES" sz="2200" b="1" dirty="0"/>
              <a:t>Mitigar el IMPACTO</a:t>
            </a:r>
            <a:r>
              <a:rPr lang="es-ES" sz="2200" dirty="0"/>
              <a:t>:</a:t>
            </a:r>
          </a:p>
          <a:p>
            <a:pPr lvl="2"/>
            <a:r>
              <a:rPr lang="es-ES" sz="2200" dirty="0"/>
              <a:t>Establecer un </a:t>
            </a:r>
            <a:r>
              <a:rPr lang="es-ES" sz="2200" b="1" dirty="0"/>
              <a:t>"límite de rendimiento"</a:t>
            </a:r>
            <a:r>
              <a:rPr lang="es-ES" sz="2200" dirty="0"/>
              <a:t> aceptable (</a:t>
            </a:r>
            <a:r>
              <a:rPr lang="es-ES" sz="2200" dirty="0" err="1"/>
              <a:t>ej</a:t>
            </a:r>
            <a:r>
              <a:rPr lang="es-ES" sz="2200" dirty="0"/>
              <a:t>: 60 FPS en dispositivos de gama media).</a:t>
            </a:r>
          </a:p>
          <a:p>
            <a:pPr lvl="2"/>
            <a:r>
              <a:rPr lang="es-ES" sz="2200" dirty="0"/>
              <a:t>Planificar </a:t>
            </a:r>
            <a:r>
              <a:rPr lang="es-ES" sz="2200" b="1" dirty="0"/>
              <a:t>pruebas de estrés y rendimiento</a:t>
            </a:r>
            <a:r>
              <a:rPr lang="es-ES" sz="2200" dirty="0"/>
              <a:t> tempranas.</a:t>
            </a:r>
          </a:p>
          <a:p>
            <a:pPr lvl="2"/>
            <a:r>
              <a:rPr lang="es-ES" sz="2200" dirty="0"/>
              <a:t>Tener un </a:t>
            </a:r>
            <a:r>
              <a:rPr lang="es-ES" sz="2200" b="1" dirty="0"/>
              <a:t>"Plan B"</a:t>
            </a:r>
            <a:r>
              <a:rPr lang="es-ES" sz="2200" dirty="0"/>
              <a:t> listo (</a:t>
            </a:r>
            <a:r>
              <a:rPr lang="es-ES" sz="2200" dirty="0" err="1"/>
              <a:t>ej</a:t>
            </a:r>
            <a:r>
              <a:rPr lang="es-ES" sz="2200" dirty="0"/>
              <a:t>: reducir la complejidad de las animaciones si es necesario).</a:t>
            </a:r>
          </a:p>
          <a:p>
            <a:r>
              <a:rPr lang="es-ES" sz="2200" b="1" dirty="0"/>
              <a:t>Resultado</a:t>
            </a:r>
            <a:r>
              <a:rPr lang="es-ES" sz="2200" dirty="0"/>
              <a:t>: No se evita el riesgo por completo, pero reduce las posibilidades de que ocurra y minimiza el daño si llega a pasar.</a:t>
            </a:r>
          </a:p>
          <a:p>
            <a:pPr>
              <a:lnSpc>
                <a:spcPct val="110000"/>
              </a:lnSpc>
            </a:pPr>
            <a:endParaRPr lang="es-ES" sz="2200" dirty="0"/>
          </a:p>
          <a:p>
            <a:pPr>
              <a:lnSpc>
                <a:spcPct val="110000"/>
              </a:lnSpc>
            </a:pPr>
            <a:endParaRPr lang="es-ES" sz="2200" dirty="0"/>
          </a:p>
        </p:txBody>
      </p:sp>
    </p:spTree>
    <p:extLst>
      <p:ext uri="{BB962C8B-B14F-4D97-AF65-F5344CB8AC3E}">
        <p14:creationId xmlns:p14="http://schemas.microsoft.com/office/powerpoint/2010/main" val="24902242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1939" y="2000251"/>
            <a:ext cx="2376487"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Rectangle 4"/>
          <p:cNvSpPr>
            <a:spLocks noGrp="1" noChangeArrowheads="1"/>
          </p:cNvSpPr>
          <p:nvPr>
            <p:ph type="title"/>
          </p:nvPr>
        </p:nvSpPr>
        <p:spPr>
          <a:noFill/>
        </p:spPr>
        <p:txBody>
          <a:bodyPr/>
          <a:lstStyle/>
          <a:p>
            <a:r>
              <a:rPr lang="es-ES_tradnl" dirty="0"/>
              <a:t>Transferir</a:t>
            </a:r>
          </a:p>
        </p:txBody>
      </p:sp>
      <p:sp>
        <p:nvSpPr>
          <p:cNvPr id="66564" name="Rectangle 8"/>
          <p:cNvSpPr>
            <a:spLocks noGrp="1" noChangeArrowheads="1"/>
          </p:cNvSpPr>
          <p:nvPr>
            <p:ph idx="1"/>
          </p:nvPr>
        </p:nvSpPr>
        <p:spPr>
          <a:xfrm>
            <a:off x="759854" y="1845734"/>
            <a:ext cx="10395826" cy="4400520"/>
          </a:xfrm>
        </p:spPr>
        <p:txBody>
          <a:bodyPr>
            <a:noAutofit/>
          </a:bodyPr>
          <a:lstStyle/>
          <a:p>
            <a:pPr>
              <a:lnSpc>
                <a:spcPct val="120000"/>
              </a:lnSpc>
            </a:pPr>
            <a:r>
              <a:rPr lang="es-ES" sz="2600" dirty="0"/>
              <a:t>Implica trasladar el impacto negativo, junto con la propiedad de la respuesta, a un tercero.</a:t>
            </a:r>
          </a:p>
          <a:p>
            <a:pPr>
              <a:lnSpc>
                <a:spcPct val="120000"/>
              </a:lnSpc>
            </a:pPr>
            <a:r>
              <a:rPr lang="es-ES" sz="2600" dirty="0"/>
              <a:t>Generalmente para riesgos:</a:t>
            </a:r>
          </a:p>
          <a:p>
            <a:pPr lvl="1">
              <a:lnSpc>
                <a:spcPct val="120000"/>
              </a:lnSpc>
            </a:pPr>
            <a:r>
              <a:rPr lang="es-ES_tradnl" sz="2600" dirty="0"/>
              <a:t>Poco probables pero muy negativos.</a:t>
            </a:r>
          </a:p>
          <a:p>
            <a:pPr lvl="1">
              <a:lnSpc>
                <a:spcPct val="120000"/>
              </a:lnSpc>
            </a:pPr>
            <a:r>
              <a:rPr lang="es-ES_tradnl" sz="2600" dirty="0"/>
              <a:t>Financieros.</a:t>
            </a:r>
          </a:p>
          <a:p>
            <a:pPr>
              <a:lnSpc>
                <a:spcPct val="120000"/>
              </a:lnSpc>
              <a:spcBef>
                <a:spcPts val="0"/>
              </a:spcBef>
              <a:spcAft>
                <a:spcPts val="0"/>
              </a:spcAft>
            </a:pPr>
            <a:r>
              <a:rPr lang="es-ES_tradnl" sz="2600" dirty="0"/>
              <a:t>No significa eliminar el riesgo sino transferir responsabilidad de la gestión.</a:t>
            </a:r>
          </a:p>
          <a:p>
            <a:pPr>
              <a:lnSpc>
                <a:spcPct val="120000"/>
              </a:lnSpc>
            </a:pPr>
            <a:endParaRPr lang="es-ES_tradnl" sz="2600" dirty="0"/>
          </a:p>
          <a:p>
            <a:pPr>
              <a:lnSpc>
                <a:spcPct val="120000"/>
              </a:lnSpc>
            </a:pPr>
            <a:endParaRPr lang="es-ES_tradnl" sz="2600" dirty="0"/>
          </a:p>
          <a:p>
            <a:pPr>
              <a:lnSpc>
                <a:spcPct val="120000"/>
              </a:lnSpc>
            </a:pPr>
            <a:endParaRPr lang="es-ES_tradnl" sz="2600" dirty="0"/>
          </a:p>
        </p:txBody>
      </p:sp>
    </p:spTree>
    <p:extLst>
      <p:ext uri="{BB962C8B-B14F-4D97-AF65-F5344CB8AC3E}">
        <p14:creationId xmlns:p14="http://schemas.microsoft.com/office/powerpoint/2010/main" val="1564610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0E0AEA9-3F90-0578-1CE7-70A7EE5C49D2}"/>
            </a:ext>
          </a:extLst>
        </p:cNvPr>
        <p:cNvGrpSpPr/>
        <p:nvPr/>
      </p:nvGrpSpPr>
      <p:grpSpPr>
        <a:xfrm>
          <a:off x="0" y="0"/>
          <a:ext cx="0" cy="0"/>
          <a:chOff x="0" y="0"/>
          <a:chExt cx="0" cy="0"/>
        </a:xfrm>
      </p:grpSpPr>
      <p:sp>
        <p:nvSpPr>
          <p:cNvPr id="66563" name="Rectangle 4">
            <a:extLst>
              <a:ext uri="{FF2B5EF4-FFF2-40B4-BE49-F238E27FC236}">
                <a16:creationId xmlns:a16="http://schemas.microsoft.com/office/drawing/2014/main" xmlns="" id="{8EF35ECD-BD50-F194-4D91-5B0A587F3846}"/>
              </a:ext>
            </a:extLst>
          </p:cNvPr>
          <p:cNvSpPr>
            <a:spLocks noGrp="1" noChangeArrowheads="1"/>
          </p:cNvSpPr>
          <p:nvPr>
            <p:ph type="title"/>
          </p:nvPr>
        </p:nvSpPr>
        <p:spPr>
          <a:noFill/>
        </p:spPr>
        <p:txBody>
          <a:bodyPr/>
          <a:lstStyle/>
          <a:p>
            <a:r>
              <a:rPr lang="es-ES_tradnl" dirty="0"/>
              <a:t>Transferir. Ejemplo</a:t>
            </a:r>
          </a:p>
        </p:txBody>
      </p:sp>
      <p:sp>
        <p:nvSpPr>
          <p:cNvPr id="66564" name="Rectangle 8">
            <a:extLst>
              <a:ext uri="{FF2B5EF4-FFF2-40B4-BE49-F238E27FC236}">
                <a16:creationId xmlns:a16="http://schemas.microsoft.com/office/drawing/2014/main" xmlns="" id="{C4FC835D-87D1-CD6D-B8BB-ED963AD2D644}"/>
              </a:ext>
            </a:extLst>
          </p:cNvPr>
          <p:cNvSpPr>
            <a:spLocks noGrp="1" noChangeArrowheads="1"/>
          </p:cNvSpPr>
          <p:nvPr>
            <p:ph idx="1"/>
          </p:nvPr>
        </p:nvSpPr>
        <p:spPr>
          <a:xfrm>
            <a:off x="1097280" y="1927796"/>
            <a:ext cx="10395826" cy="4400520"/>
          </a:xfrm>
        </p:spPr>
        <p:txBody>
          <a:bodyPr>
            <a:noAutofit/>
          </a:bodyPr>
          <a:lstStyle/>
          <a:p>
            <a:r>
              <a:rPr lang="es-ES" dirty="0"/>
              <a:t>"Existe el </a:t>
            </a:r>
            <a:r>
              <a:rPr lang="es-ES" b="1" dirty="0"/>
              <a:t>riesgo de una brecha de seguridad</a:t>
            </a:r>
            <a:r>
              <a:rPr lang="es-ES" dirty="0"/>
              <a:t> que podría exponer los datos financieros sensibles de los usuarios, lo que generaría multas, demandas y daño reputacional."</a:t>
            </a:r>
          </a:p>
          <a:p>
            <a:r>
              <a:rPr lang="es-ES" b="1" dirty="0"/>
              <a:t>Acciones Concretas</a:t>
            </a:r>
            <a:r>
              <a:rPr lang="es-ES" dirty="0"/>
              <a:t>:</a:t>
            </a:r>
          </a:p>
          <a:p>
            <a:pPr lvl="1"/>
            <a:r>
              <a:rPr lang="es-ES" b="1" dirty="0"/>
              <a:t>Contratar un Seguro</a:t>
            </a:r>
            <a:r>
              <a:rPr lang="es-ES" dirty="0"/>
              <a:t>: Adquirir una póliza que cubra los costos asociados a una filtración de datos (multas, gastos legales, notificación a usuarios).</a:t>
            </a:r>
          </a:p>
          <a:p>
            <a:pPr lvl="1"/>
            <a:r>
              <a:rPr lang="es-ES" b="1" dirty="0"/>
              <a:t>Utilizar Servicios en la Nube con Certificaciones</a:t>
            </a:r>
            <a:r>
              <a:rPr lang="es-ES" dirty="0"/>
              <a:t>: En lugar de almacenar los datos en servidores propios, usar un proveedor </a:t>
            </a:r>
            <a:r>
              <a:rPr lang="es-ES" dirty="0" err="1"/>
              <a:t>cloud</a:t>
            </a:r>
            <a:r>
              <a:rPr lang="es-ES" dirty="0"/>
              <a:t> como </a:t>
            </a:r>
            <a:r>
              <a:rPr lang="es-ES" b="1" dirty="0"/>
              <a:t>Google Cloud </a:t>
            </a:r>
            <a:r>
              <a:rPr lang="es-ES" b="1" dirty="0" err="1"/>
              <a:t>Platform</a:t>
            </a:r>
            <a:r>
              <a:rPr lang="es-ES" b="1" dirty="0"/>
              <a:t> (GCP) o </a:t>
            </a:r>
            <a:r>
              <a:rPr lang="en-US" b="1" dirty="0"/>
              <a:t>Amazon Web Services (AWS)</a:t>
            </a:r>
            <a:r>
              <a:rPr lang="en-US" dirty="0"/>
              <a:t> </a:t>
            </a:r>
            <a:r>
              <a:rPr lang="es-ES" dirty="0"/>
              <a:t>, que tiene certificaciones de seguridad robustas (como ISO 27001). El contrato con ellos transfiere parte de la responsabilidad de la seguridad física y de infraestructura.</a:t>
            </a:r>
          </a:p>
          <a:p>
            <a:pPr lvl="1"/>
            <a:r>
              <a:rPr lang="es-ES" b="1" dirty="0"/>
              <a:t>Subcontratar una Auditoría de Seguridad</a:t>
            </a:r>
            <a:r>
              <a:rPr lang="es-ES" dirty="0"/>
              <a:t>: Contratar  una empresa especializada para que pruebe la seguridad de tu aplicación. Si algo se les escapa, parte de la responsabilidad se transfiere a ellos (esto se define en el contrato de servicios).</a:t>
            </a:r>
          </a:p>
          <a:p>
            <a:pPr>
              <a:lnSpc>
                <a:spcPct val="120000"/>
              </a:lnSpc>
            </a:pPr>
            <a:r>
              <a:rPr lang="es-ES" b="1" dirty="0"/>
              <a:t>Resultado</a:t>
            </a:r>
            <a:r>
              <a:rPr lang="es-ES" dirty="0"/>
              <a:t>: No evita que ocurra un ataque, pero </a:t>
            </a:r>
            <a:r>
              <a:rPr lang="es-ES" b="1" dirty="0"/>
              <a:t>transfiere las consecuencias financieras y legales</a:t>
            </a:r>
            <a:r>
              <a:rPr lang="es-ES" dirty="0"/>
              <a:t> a una aseguradora o compartes la responsabilidad con un socio especializado.</a:t>
            </a:r>
            <a:r>
              <a:rPr lang="es-ES" sz="2800" dirty="0"/>
              <a:t/>
            </a:r>
            <a:br>
              <a:rPr lang="es-ES" sz="2800" dirty="0"/>
            </a:br>
            <a:endParaRPr lang="es-ES_tradnl" sz="2600" dirty="0"/>
          </a:p>
        </p:txBody>
      </p:sp>
    </p:spTree>
    <p:extLst>
      <p:ext uri="{BB962C8B-B14F-4D97-AF65-F5344CB8AC3E}">
        <p14:creationId xmlns:p14="http://schemas.microsoft.com/office/powerpoint/2010/main" val="31485198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noChangeArrowheads="1"/>
          </p:cNvSpPr>
          <p:nvPr>
            <p:ph type="title"/>
          </p:nvPr>
        </p:nvSpPr>
        <p:spPr>
          <a:noFill/>
        </p:spPr>
        <p:txBody>
          <a:bodyPr/>
          <a:lstStyle/>
          <a:p>
            <a:r>
              <a:rPr lang="es-ES_tradnl" dirty="0"/>
              <a:t>Aceptar el riesgo</a:t>
            </a:r>
          </a:p>
        </p:txBody>
      </p:sp>
      <p:sp>
        <p:nvSpPr>
          <p:cNvPr id="68612" name="Rectangle 9"/>
          <p:cNvSpPr>
            <a:spLocks noGrp="1" noChangeArrowheads="1"/>
          </p:cNvSpPr>
          <p:nvPr>
            <p:ph idx="1"/>
          </p:nvPr>
        </p:nvSpPr>
        <p:spPr>
          <a:xfrm>
            <a:off x="1097280" y="2034420"/>
            <a:ext cx="10586720" cy="4023360"/>
          </a:xfrm>
        </p:spPr>
        <p:txBody>
          <a:bodyPr>
            <a:normAutofit/>
          </a:bodyPr>
          <a:lstStyle/>
          <a:p>
            <a:pPr>
              <a:lnSpc>
                <a:spcPct val="150000"/>
              </a:lnSpc>
            </a:pPr>
            <a:r>
              <a:rPr lang="es-ES_tradnl" sz="3200" dirty="0"/>
              <a:t>Ejemplo de respuesta de aceptación:</a:t>
            </a:r>
          </a:p>
          <a:p>
            <a:pPr marL="0" indent="0">
              <a:buNone/>
            </a:pPr>
            <a:r>
              <a:rPr lang="es-ES" sz="2800" dirty="0"/>
              <a:t>Establecer una reserva para contingencias que </a:t>
            </a:r>
          </a:p>
          <a:p>
            <a:pPr marL="0" indent="0">
              <a:buNone/>
            </a:pPr>
            <a:r>
              <a:rPr lang="es-ES" sz="2800" dirty="0"/>
              <a:t>incluya recursos necesarios para manejar las amenazas u oportunidades conocidas. </a:t>
            </a:r>
            <a:endParaRPr lang="es-ES_tradnl" sz="2800" dirty="0"/>
          </a:p>
          <a:p>
            <a:r>
              <a:rPr lang="es-ES" sz="2800" dirty="0"/>
              <a:t>Ejemplo que dispara una contingencia:</a:t>
            </a:r>
          </a:p>
          <a:p>
            <a:pPr lvl="1"/>
            <a:r>
              <a:rPr lang="es-ES" sz="2800" dirty="0"/>
              <a:t>No cumplir con hitos intermedios.</a:t>
            </a:r>
          </a:p>
          <a:p>
            <a:pPr lvl="1"/>
            <a:r>
              <a:rPr lang="es-ES" sz="2800" dirty="0"/>
              <a:t>Perder o ganar un importante proveedor.</a:t>
            </a:r>
          </a:p>
          <a:p>
            <a:pPr>
              <a:lnSpc>
                <a:spcPct val="120000"/>
              </a:lnSpc>
              <a:defRPr/>
            </a:pPr>
            <a:endParaRPr lang="es-ES_tradnl" sz="2800" dirty="0"/>
          </a:p>
        </p:txBody>
      </p:sp>
      <p:grpSp>
        <p:nvGrpSpPr>
          <p:cNvPr id="70660" name="Group 4"/>
          <p:cNvGrpSpPr>
            <a:grpSpLocks/>
          </p:cNvGrpSpPr>
          <p:nvPr/>
        </p:nvGrpSpPr>
        <p:grpSpPr bwMode="auto">
          <a:xfrm>
            <a:off x="8757225" y="1929324"/>
            <a:ext cx="3073758" cy="1499676"/>
            <a:chOff x="1804" y="2209"/>
            <a:chExt cx="2490" cy="1128"/>
          </a:xfrm>
        </p:grpSpPr>
        <p:pic>
          <p:nvPicPr>
            <p:cNvPr id="7066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4" y="2209"/>
              <a:ext cx="2490" cy="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3" name="Text Box 6"/>
            <p:cNvSpPr txBox="1">
              <a:spLocks noChangeArrowheads="1"/>
            </p:cNvSpPr>
            <p:nvPr/>
          </p:nvSpPr>
          <p:spPr bwMode="auto">
            <a:xfrm>
              <a:off x="1996" y="2494"/>
              <a:ext cx="239"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s-ES_tradnl" sz="3600" b="1" dirty="0">
                  <a:solidFill>
                    <a:srgbClr val="FF0000"/>
                  </a:solidFill>
                </a:rPr>
                <a:t>?</a:t>
              </a:r>
            </a:p>
          </p:txBody>
        </p:sp>
      </p:grpSp>
      <p:sp>
        <p:nvSpPr>
          <p:cNvPr id="70661" name="Rectangle 6"/>
          <p:cNvSpPr>
            <a:spLocks noChangeArrowheads="1"/>
          </p:cNvSpPr>
          <p:nvPr/>
        </p:nvSpPr>
        <p:spPr bwMode="auto">
          <a:xfrm>
            <a:off x="1235033" y="1737360"/>
            <a:ext cx="4902304"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algn="l" eaLnBrk="1" hangingPunct="1">
              <a:lnSpc>
                <a:spcPct val="110000"/>
              </a:lnSpc>
            </a:pPr>
            <a:r>
              <a:rPr lang="es-ES_tradnl" sz="2400" b="1" dirty="0"/>
              <a:t>Se acepta “vivir con la pérdida”.</a:t>
            </a:r>
          </a:p>
        </p:txBody>
      </p:sp>
      <p:sp>
        <p:nvSpPr>
          <p:cNvPr id="2" name="Marcador de fecha 1"/>
          <p:cNvSpPr>
            <a:spLocks noGrp="1"/>
          </p:cNvSpPr>
          <p:nvPr>
            <p:ph type="dt" sz="half" idx="10"/>
          </p:nvPr>
        </p:nvSpPr>
        <p:spPr/>
        <p:txBody>
          <a:bodyPr/>
          <a:lstStyle/>
          <a:p>
            <a:r>
              <a:rPr lang="es-ES"/>
              <a:t>MSc. Aracelys García Armenteros</a:t>
            </a:r>
          </a:p>
        </p:txBody>
      </p:sp>
      <p:sp>
        <p:nvSpPr>
          <p:cNvPr id="11" name="Marcador de pie de página 2">
            <a:extLst>
              <a:ext uri="{FF2B5EF4-FFF2-40B4-BE49-F238E27FC236}">
                <a16:creationId xmlns:a16="http://schemas.microsoft.com/office/drawing/2014/main" xmlns="" id="{E96DCDC6-8354-4347-8E18-4D4E33F04825}"/>
              </a:ext>
            </a:extLst>
          </p:cNvPr>
          <p:cNvSpPr>
            <a:spLocks noGrp="1"/>
          </p:cNvSpPr>
          <p:nvPr>
            <p:ph type="ftr" sz="quarter" idx="11"/>
          </p:nvPr>
        </p:nvSpPr>
        <p:spPr>
          <a:xfrm>
            <a:off x="3686185" y="6459785"/>
            <a:ext cx="4822804" cy="365125"/>
          </a:xfrm>
        </p:spPr>
        <p:txBody>
          <a:bodyPr/>
          <a:lstStyle/>
          <a:p>
            <a:r>
              <a:rPr lang="es-ES_tradnl" dirty="0"/>
              <a:t>Gestión de proyectos y de riesgos</a:t>
            </a:r>
            <a:endParaRPr lang="es-ES" dirty="0"/>
          </a:p>
        </p:txBody>
      </p:sp>
    </p:spTree>
    <p:extLst>
      <p:ext uri="{BB962C8B-B14F-4D97-AF65-F5344CB8AC3E}">
        <p14:creationId xmlns:p14="http://schemas.microsoft.com/office/powerpoint/2010/main" val="14604008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4"/>
          <p:cNvSpPr>
            <a:spLocks noGrp="1" noChangeArrowheads="1"/>
          </p:cNvSpPr>
          <p:nvPr>
            <p:ph type="title"/>
          </p:nvPr>
        </p:nvSpPr>
        <p:spPr>
          <a:noFill/>
        </p:spPr>
        <p:txBody>
          <a:bodyPr/>
          <a:lstStyle/>
          <a:p>
            <a:r>
              <a:rPr lang="es-ES_tradnl"/>
              <a:t>Monitorear / Retener el riesgo</a:t>
            </a:r>
          </a:p>
        </p:txBody>
      </p:sp>
      <p:sp>
        <p:nvSpPr>
          <p:cNvPr id="73731" name="Rectangle 2"/>
          <p:cNvSpPr>
            <a:spLocks noGrp="1" noChangeArrowheads="1"/>
          </p:cNvSpPr>
          <p:nvPr>
            <p:ph idx="1"/>
          </p:nvPr>
        </p:nvSpPr>
        <p:spPr/>
        <p:txBody>
          <a:bodyPr/>
          <a:lstStyle/>
          <a:p>
            <a:pPr>
              <a:lnSpc>
                <a:spcPct val="110000"/>
              </a:lnSpc>
            </a:pPr>
            <a:r>
              <a:rPr lang="es-ES_tradnl" sz="3200" dirty="0"/>
              <a:t>No se tienen elementos necesarios y suficientes para planificar respuesta.</a:t>
            </a:r>
          </a:p>
          <a:p>
            <a:pPr>
              <a:lnSpc>
                <a:spcPct val="50000"/>
              </a:lnSpc>
            </a:pPr>
            <a:endParaRPr lang="es-ES_tradnl" sz="3200" dirty="0"/>
          </a:p>
          <a:p>
            <a:pPr>
              <a:lnSpc>
                <a:spcPct val="110000"/>
              </a:lnSpc>
            </a:pPr>
            <a:r>
              <a:rPr lang="es-ES_tradnl" sz="3200" dirty="0"/>
              <a:t>No está entre los riesgos priorizados.</a:t>
            </a:r>
          </a:p>
          <a:p>
            <a:pPr>
              <a:lnSpc>
                <a:spcPct val="40000"/>
              </a:lnSpc>
            </a:pPr>
            <a:endParaRPr lang="es-ES_tradnl" sz="3200" dirty="0"/>
          </a:p>
          <a:p>
            <a:pPr>
              <a:lnSpc>
                <a:spcPct val="110000"/>
              </a:lnSpc>
            </a:pPr>
            <a:r>
              <a:rPr lang="es-ES_tradnl" sz="3200" dirty="0"/>
              <a:t>Existe un margen de tiempo que no exige actuar con rapidez. </a:t>
            </a:r>
          </a:p>
          <a:p>
            <a:pPr>
              <a:lnSpc>
                <a:spcPct val="110000"/>
              </a:lnSpc>
            </a:pPr>
            <a:endParaRPr lang="es-ES_tradnl" sz="3200" dirty="0"/>
          </a:p>
          <a:p>
            <a:pPr>
              <a:lnSpc>
                <a:spcPct val="110000"/>
              </a:lnSpc>
            </a:pPr>
            <a:endParaRPr lang="es-ES_tradnl" sz="3200" dirty="0"/>
          </a:p>
        </p:txBody>
      </p:sp>
      <p:pic>
        <p:nvPicPr>
          <p:cNvPr id="73732" name="Picture 3"/>
          <p:cNvPicPr>
            <a:picLocks noChangeAspect="1" noChangeArrowheads="1"/>
          </p:cNvPicPr>
          <p:nvPr/>
        </p:nvPicPr>
        <p:blipFill>
          <a:blip r:embed="rId3">
            <a:extLst>
              <a:ext uri="{28A0092B-C50C-407E-A947-70E740481C1C}">
                <a14:useLocalDpi xmlns:a14="http://schemas.microsoft.com/office/drawing/2010/main" val="0"/>
              </a:ext>
            </a:extLst>
          </a:blip>
          <a:srcRect l="10233" t="3201" r="7687"/>
          <a:stretch>
            <a:fillRect/>
          </a:stretch>
        </p:blipFill>
        <p:spPr bwMode="auto">
          <a:xfrm>
            <a:off x="9989990" y="3589338"/>
            <a:ext cx="1922609" cy="258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29137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s-ES_tradnl" dirty="0"/>
              <a:t>Ignorar el riesgo</a:t>
            </a:r>
          </a:p>
        </p:txBody>
      </p:sp>
      <p:sp>
        <p:nvSpPr>
          <p:cNvPr id="75779" name="Rectangle 3"/>
          <p:cNvSpPr>
            <a:spLocks noGrp="1" noChangeArrowheads="1"/>
          </p:cNvSpPr>
          <p:nvPr>
            <p:ph idx="1"/>
          </p:nvPr>
        </p:nvSpPr>
        <p:spPr/>
        <p:txBody>
          <a:bodyPr/>
          <a:lstStyle/>
          <a:p>
            <a:pPr>
              <a:lnSpc>
                <a:spcPct val="110000"/>
              </a:lnSpc>
            </a:pPr>
            <a:r>
              <a:rPr lang="es-ES_tradnl" sz="3200" dirty="0"/>
              <a:t>Ni siquiera es analizado el riesgo.</a:t>
            </a:r>
          </a:p>
          <a:p>
            <a:pPr>
              <a:lnSpc>
                <a:spcPct val="110000"/>
              </a:lnSpc>
            </a:pPr>
            <a:endParaRPr lang="es-ES_tradnl" sz="3200" dirty="0"/>
          </a:p>
        </p:txBody>
      </p:sp>
      <p:pic>
        <p:nvPicPr>
          <p:cNvPr id="757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5989" y="2565401"/>
            <a:ext cx="28098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97009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s-ES"/>
              <a:t>“Eliminar” el riesgo</a:t>
            </a:r>
          </a:p>
        </p:txBody>
      </p:sp>
      <p:sp>
        <p:nvSpPr>
          <p:cNvPr id="74755" name="Rectangle 3"/>
          <p:cNvSpPr>
            <a:spLocks noGrp="1" noChangeArrowheads="1"/>
          </p:cNvSpPr>
          <p:nvPr>
            <p:ph idx="1"/>
          </p:nvPr>
        </p:nvSpPr>
        <p:spPr/>
        <p:txBody>
          <a:bodyPr>
            <a:normAutofit/>
          </a:bodyPr>
          <a:lstStyle/>
          <a:p>
            <a:pPr>
              <a:lnSpc>
                <a:spcPct val="110000"/>
              </a:lnSpc>
            </a:pPr>
            <a:r>
              <a:rPr lang="es-ES_tradnl" sz="3600" dirty="0"/>
              <a:t>Eliminar los factores que inducen el riesgo y con ello eliminar la posibilidad de exposición.</a:t>
            </a:r>
          </a:p>
          <a:p>
            <a:pPr>
              <a:lnSpc>
                <a:spcPct val="110000"/>
              </a:lnSpc>
              <a:buFont typeface="Wingdings" panose="05000000000000000000" pitchFamily="2" charset="2"/>
              <a:buNone/>
            </a:pPr>
            <a:endParaRPr lang="es-ES" sz="3600" dirty="0"/>
          </a:p>
        </p:txBody>
      </p:sp>
      <p:pic>
        <p:nvPicPr>
          <p:cNvPr id="7475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1790" y="3151277"/>
            <a:ext cx="5878469" cy="291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Line 6"/>
          <p:cNvSpPr>
            <a:spLocks noChangeShapeType="1"/>
          </p:cNvSpPr>
          <p:nvPr/>
        </p:nvSpPr>
        <p:spPr bwMode="auto">
          <a:xfrm>
            <a:off x="7796214" y="5464175"/>
            <a:ext cx="1127125" cy="84455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4758" name="Line 7"/>
          <p:cNvSpPr>
            <a:spLocks noChangeShapeType="1"/>
          </p:cNvSpPr>
          <p:nvPr/>
        </p:nvSpPr>
        <p:spPr bwMode="auto">
          <a:xfrm flipH="1">
            <a:off x="7796213" y="5341939"/>
            <a:ext cx="1033462" cy="966787"/>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4759" name="Text Box 8"/>
          <p:cNvSpPr txBox="1">
            <a:spLocks noChangeArrowheads="1"/>
          </p:cNvSpPr>
          <p:nvPr/>
        </p:nvSpPr>
        <p:spPr bwMode="auto">
          <a:xfrm>
            <a:off x="4448869" y="4830632"/>
            <a:ext cx="17875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s-ES" sz="3200" b="1" dirty="0"/>
              <a:t>Eliminar</a:t>
            </a:r>
          </a:p>
        </p:txBody>
      </p:sp>
      <p:sp>
        <p:nvSpPr>
          <p:cNvPr id="3" name="CuadroTexto 2">
            <a:extLst>
              <a:ext uri="{FF2B5EF4-FFF2-40B4-BE49-F238E27FC236}">
                <a16:creationId xmlns:a16="http://schemas.microsoft.com/office/drawing/2014/main" xmlns="" id="{6A7B9F0D-784D-BDB9-7EA1-3D13565843F5}"/>
              </a:ext>
            </a:extLst>
          </p:cNvPr>
          <p:cNvSpPr txBox="1"/>
          <p:nvPr/>
        </p:nvSpPr>
        <p:spPr>
          <a:xfrm>
            <a:off x="1255437" y="3429000"/>
            <a:ext cx="2894532" cy="646331"/>
          </a:xfrm>
          <a:prstGeom prst="rect">
            <a:avLst/>
          </a:prstGeom>
          <a:noFill/>
        </p:spPr>
        <p:txBody>
          <a:bodyPr wrap="square" rtlCol="0">
            <a:spAutoFit/>
          </a:bodyPr>
          <a:lstStyle/>
          <a:p>
            <a:r>
              <a:rPr lang="es-419" sz="3600" dirty="0">
                <a:solidFill>
                  <a:srgbClr val="FF0000"/>
                </a:solidFill>
              </a:rPr>
              <a:t>¿Es posible?</a:t>
            </a:r>
            <a:endParaRPr lang="en-US" sz="3600" dirty="0">
              <a:solidFill>
                <a:srgbClr val="FF0000"/>
              </a:solidFill>
            </a:endParaRPr>
          </a:p>
        </p:txBody>
      </p:sp>
    </p:spTree>
    <p:extLst>
      <p:ext uri="{BB962C8B-B14F-4D97-AF65-F5344CB8AC3E}">
        <p14:creationId xmlns:p14="http://schemas.microsoft.com/office/powerpoint/2010/main" val="2003818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a:extLst>
              <a:ext uri="{FF2B5EF4-FFF2-40B4-BE49-F238E27FC236}">
                <a16:creationId xmlns:a16="http://schemas.microsoft.com/office/drawing/2014/main" xmlns="" id="{963FC912-D111-4DE7-871F-FA826C799655}"/>
              </a:ext>
            </a:extLst>
          </p:cNvPr>
          <p:cNvSpPr>
            <a:spLocks noGrp="1"/>
          </p:cNvSpPr>
          <p:nvPr>
            <p:ph type="title"/>
          </p:nvPr>
        </p:nvSpPr>
        <p:spPr>
          <a:xfrm>
            <a:off x="1097279" y="286603"/>
            <a:ext cx="10391335" cy="1450757"/>
          </a:xfrm>
        </p:spPr>
        <p:txBody>
          <a:bodyPr/>
          <a:lstStyle/>
          <a:p>
            <a:r>
              <a:rPr lang="es-ES" altLang="es-MX" dirty="0"/>
              <a:t>Contingencias que pueden generar riesgos</a:t>
            </a:r>
          </a:p>
        </p:txBody>
      </p:sp>
      <p:sp>
        <p:nvSpPr>
          <p:cNvPr id="89091" name="Content Placeholder 2">
            <a:extLst>
              <a:ext uri="{FF2B5EF4-FFF2-40B4-BE49-F238E27FC236}">
                <a16:creationId xmlns:a16="http://schemas.microsoft.com/office/drawing/2014/main" xmlns="" id="{289A79A8-83F5-4439-BF7C-B9B4503F3EB5}"/>
              </a:ext>
            </a:extLst>
          </p:cNvPr>
          <p:cNvSpPr>
            <a:spLocks noGrp="1"/>
          </p:cNvSpPr>
          <p:nvPr>
            <p:ph idx="1"/>
          </p:nvPr>
        </p:nvSpPr>
        <p:spPr>
          <a:xfrm>
            <a:off x="1513398" y="1830124"/>
            <a:ext cx="9417368" cy="5248275"/>
          </a:xfrm>
        </p:spPr>
        <p:txBody>
          <a:bodyPr>
            <a:normAutofit/>
          </a:bodyPr>
          <a:lstStyle/>
          <a:p>
            <a:pPr>
              <a:buFont typeface="Wingdings" panose="05000000000000000000" pitchFamily="2" charset="2"/>
              <a:buChar char="Ø"/>
            </a:pPr>
            <a:r>
              <a:rPr lang="es-ES" altLang="es-MX" sz="2400" dirty="0"/>
              <a:t>Inadecuado análisis preliminar de la solución que provoque una insuficiente estimación de los tiempos de desarrollo.</a:t>
            </a:r>
          </a:p>
          <a:p>
            <a:pPr>
              <a:buFont typeface="Wingdings" panose="05000000000000000000" pitchFamily="2" charset="2"/>
              <a:buChar char="Ø"/>
            </a:pPr>
            <a:r>
              <a:rPr lang="es-ES" altLang="es-MX" sz="2400" dirty="0"/>
              <a:t>El cliente no participa en los ciclos de revisión del proyecto desde etapas tempranas de su desarrollo.</a:t>
            </a:r>
          </a:p>
          <a:p>
            <a:pPr>
              <a:buFont typeface="Wingdings" panose="05000000000000000000" pitchFamily="2" charset="2"/>
              <a:buChar char="Ø"/>
            </a:pPr>
            <a:r>
              <a:rPr lang="es-ES" altLang="es-MX" sz="2400" dirty="0"/>
              <a:t>Inestabilidad en los procesos del negocio y en los datos e informaciones requeridos entre aplicaciones que provoquen cambios en el alcance del proyecto.</a:t>
            </a:r>
          </a:p>
          <a:p>
            <a:pPr>
              <a:buFont typeface="Wingdings" panose="05000000000000000000" pitchFamily="2" charset="2"/>
              <a:buChar char="Ø"/>
            </a:pPr>
            <a:r>
              <a:rPr lang="es-ES" altLang="es-MX" sz="2400" dirty="0"/>
              <a:t>Incorporación de nuevos especialistas al equipo de desarrollo.</a:t>
            </a:r>
          </a:p>
          <a:p>
            <a:pPr>
              <a:buFont typeface="Wingdings" panose="05000000000000000000" pitchFamily="2" charset="2"/>
              <a:buChar char="Ø"/>
            </a:pPr>
            <a:r>
              <a:rPr lang="es-ES" altLang="es-MX" sz="2400" dirty="0"/>
              <a:t>Eventos climatológicos</a:t>
            </a:r>
          </a:p>
          <a:p>
            <a:endParaRPr lang="es-ES" altLang="es-MX" sz="2400" dirty="0"/>
          </a:p>
          <a:p>
            <a:endParaRPr lang="es-ES" altLang="es-MX" sz="2400"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Resumen</a:t>
            </a:r>
          </a:p>
        </p:txBody>
      </p:sp>
      <p:sp>
        <p:nvSpPr>
          <p:cNvPr id="3" name="Marcador de contenido 2"/>
          <p:cNvSpPr>
            <a:spLocks noGrp="1"/>
          </p:cNvSpPr>
          <p:nvPr>
            <p:ph idx="1"/>
          </p:nvPr>
        </p:nvSpPr>
        <p:spPr>
          <a:xfrm>
            <a:off x="1097279" y="1886075"/>
            <a:ext cx="10543735" cy="4023360"/>
          </a:xfrm>
        </p:spPr>
        <p:txBody>
          <a:bodyPr>
            <a:noAutofit/>
          </a:bodyPr>
          <a:lstStyle/>
          <a:p>
            <a:pPr lvl="0" algn="just">
              <a:buFont typeface="Wingdings" panose="05000000000000000000" pitchFamily="2" charset="2"/>
              <a:buChar char="Ø"/>
            </a:pPr>
            <a:r>
              <a:rPr lang="es-ES" sz="2200" dirty="0"/>
              <a:t>La aplicación de principios de gestión de proyectos demuestra valor significativo en todo el espectro de desarrollo de software, optimizando el uso de recursos y aumentando la probabilidad de éxito.</a:t>
            </a:r>
          </a:p>
          <a:p>
            <a:pPr lvl="0" algn="just">
              <a:buFont typeface="Wingdings" panose="05000000000000000000" pitchFamily="2" charset="2"/>
              <a:buChar char="Ø"/>
            </a:pPr>
            <a:r>
              <a:rPr lang="es-ES" sz="2200" dirty="0"/>
              <a:t>El Plan de Desarrollo de Software es el artefacto fundamental que establece el marco único de referencia para alcance, cronograma, recursos y criterios de calidad, sirviendo como contrato social entre </a:t>
            </a:r>
            <a:r>
              <a:rPr lang="es-ES" sz="2200" i="1" dirty="0" err="1"/>
              <a:t>stakeholders</a:t>
            </a:r>
            <a:r>
              <a:rPr lang="es-ES" sz="2200" dirty="0"/>
              <a:t> y equipo de desarrollo.</a:t>
            </a:r>
          </a:p>
          <a:p>
            <a:pPr lvl="0" algn="just">
              <a:buFont typeface="Wingdings" panose="05000000000000000000" pitchFamily="2" charset="2"/>
              <a:buChar char="Ø"/>
            </a:pPr>
            <a:r>
              <a:rPr lang="es-ES" sz="2200" dirty="0"/>
              <a:t>Los procesos de estimación representan el fundamento cuantitativo que valida y sustenta la viabilidad del plan, transformando supuestos en compromisos basados en datos y experiencia. </a:t>
            </a:r>
          </a:p>
          <a:p>
            <a:pPr>
              <a:spcBef>
                <a:spcPct val="20000"/>
              </a:spcBef>
              <a:buFont typeface="Wingdings" panose="05000000000000000000" pitchFamily="2" charset="2"/>
              <a:buChar char="Ø"/>
            </a:pPr>
            <a:r>
              <a:rPr lang="es-ES" sz="2200" dirty="0"/>
              <a:t>La exposición al riesgo en proyectos de software varía según dimensiones críticas como volumen de inversión, complejidad técnica, perfil de usuarios y estabilidad del entorno operativo.</a:t>
            </a:r>
          </a:p>
          <a:p>
            <a:pPr marL="0" indent="0">
              <a:spcBef>
                <a:spcPct val="20000"/>
              </a:spcBef>
              <a:buNone/>
            </a:pPr>
            <a:endParaRPr lang="en-US" sz="2600" dirty="0"/>
          </a:p>
        </p:txBody>
      </p:sp>
    </p:spTree>
    <p:extLst>
      <p:ext uri="{BB962C8B-B14F-4D97-AF65-F5344CB8AC3E}">
        <p14:creationId xmlns:p14="http://schemas.microsoft.com/office/powerpoint/2010/main" val="31588606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904E2D9-661E-1C47-34A5-198F2FE9A16F}"/>
            </a:ext>
          </a:extLst>
        </p:cNvPr>
        <p:cNvGrpSpPr/>
        <p:nvPr/>
      </p:nvGrpSpPr>
      <p:grpSpPr>
        <a:xfrm>
          <a:off x="0" y="0"/>
          <a:ext cx="0" cy="0"/>
          <a:chOff x="0" y="0"/>
          <a:chExt cx="0" cy="0"/>
        </a:xfrm>
      </p:grpSpPr>
      <p:sp>
        <p:nvSpPr>
          <p:cNvPr id="4097" name="Rectangle 1">
            <a:extLst>
              <a:ext uri="{FF2B5EF4-FFF2-40B4-BE49-F238E27FC236}">
                <a16:creationId xmlns:a16="http://schemas.microsoft.com/office/drawing/2014/main" xmlns="" id="{9A67DB89-6162-524A-E909-64C7239B235B}"/>
              </a:ext>
            </a:extLst>
          </p:cNvPr>
          <p:cNvSpPr>
            <a:spLocks noGrp="1" noChangeArrowheads="1"/>
          </p:cNvSpPr>
          <p:nvPr>
            <p:ph type="title"/>
          </p:nvPr>
        </p:nvSpPr>
        <p:spPr>
          <a:xfrm>
            <a:off x="1761116" y="2168338"/>
            <a:ext cx="8418342" cy="1752600"/>
          </a:xfrm>
        </p:spPr>
        <p:txBody>
          <a:bodyPr>
            <a:norm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ES" dirty="0"/>
              <a:t>Planificación y seguimiento de proyectos. Gestión de Riesgos. </a:t>
            </a:r>
            <a:endParaRPr lang="es-ES_tradnl" sz="4800" dirty="0"/>
          </a:p>
        </p:txBody>
      </p:sp>
      <p:sp>
        <p:nvSpPr>
          <p:cNvPr id="3" name="CuadroTexto 2">
            <a:extLst>
              <a:ext uri="{FF2B5EF4-FFF2-40B4-BE49-F238E27FC236}">
                <a16:creationId xmlns:a16="http://schemas.microsoft.com/office/drawing/2014/main" xmlns="" id="{EED61DA5-47DC-982E-A94C-B101C77A4B91}"/>
              </a:ext>
            </a:extLst>
          </p:cNvPr>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Software</a:t>
            </a:r>
          </a:p>
        </p:txBody>
      </p:sp>
    </p:spTree>
    <p:extLst>
      <p:ext uri="{BB962C8B-B14F-4D97-AF65-F5344CB8AC3E}">
        <p14:creationId xmlns:p14="http://schemas.microsoft.com/office/powerpoint/2010/main" val="2513299186"/>
      </p:ext>
    </p:extLst>
  </p:cSld>
  <p:clrMapOvr>
    <a:masterClrMapping/>
  </p:clrMapOvr>
  <p:transition spd="med"/>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13040</TotalTime>
  <Words>3769</Words>
  <Application>Microsoft Office PowerPoint</Application>
  <PresentationFormat>Personalizado</PresentationFormat>
  <Paragraphs>466</Paragraphs>
  <Slides>59</Slides>
  <Notes>34</Notes>
  <HiddenSlides>0</HiddenSlides>
  <MMClips>0</MMClips>
  <ScaleCrop>false</ScaleCrop>
  <HeadingPairs>
    <vt:vector size="4" baseType="variant">
      <vt:variant>
        <vt:lpstr>Tema</vt:lpstr>
      </vt:variant>
      <vt:variant>
        <vt:i4>1</vt:i4>
      </vt:variant>
      <vt:variant>
        <vt:lpstr>Títulos de diapositiva</vt:lpstr>
      </vt:variant>
      <vt:variant>
        <vt:i4>59</vt:i4>
      </vt:variant>
    </vt:vector>
  </HeadingPairs>
  <TitlesOfParts>
    <vt:vector size="60" baseType="lpstr">
      <vt:lpstr>Retrospección</vt:lpstr>
      <vt:lpstr>Planificación y seguimiento de proyectos. Gestión de Riesgos. </vt:lpstr>
      <vt:lpstr>Sumario:</vt:lpstr>
      <vt:lpstr>Bibliografía</vt:lpstr>
      <vt:lpstr>¿Qué es un proyecto?</vt:lpstr>
      <vt:lpstr>Características de cualquier proyecto</vt:lpstr>
      <vt:lpstr>Gestión de proyectos </vt:lpstr>
      <vt:lpstr>Las 4 P’s de la gestión de proyectos</vt:lpstr>
      <vt:lpstr>Funciones básicas de la gestión de proyectos</vt:lpstr>
      <vt:lpstr>Presentación de PowerPoint</vt:lpstr>
      <vt:lpstr>Reporte 2020</vt:lpstr>
      <vt:lpstr>Presentación de PowerPoint</vt:lpstr>
      <vt:lpstr>Presentación de PowerPoint</vt:lpstr>
      <vt:lpstr>¿Cómo explicamos la alta incidencia de fallos en los proyectos de software?</vt:lpstr>
      <vt:lpstr>Factores clave identificados para el éxito de un proyecto</vt:lpstr>
      <vt:lpstr>Planificación</vt:lpstr>
      <vt:lpstr>Planificación</vt:lpstr>
      <vt:lpstr>Planificar es decidir de antemano:</vt:lpstr>
      <vt:lpstr>¿Cuándo se planifica?</vt:lpstr>
      <vt:lpstr>Principios básicos</vt:lpstr>
      <vt:lpstr>Principios básicos (cont.)</vt:lpstr>
      <vt:lpstr>Presentación de PowerPoint</vt:lpstr>
      <vt:lpstr>¿Qué se planifica en el plan de desarrollo?</vt:lpstr>
      <vt:lpstr>Implementación de una tienda virtual</vt:lpstr>
      <vt:lpstr>Implementación de una tienda virtual</vt:lpstr>
      <vt:lpstr>Técnicas y métodos de planificación</vt:lpstr>
      <vt:lpstr>Técnicas y métodos de planificación(cont.)</vt:lpstr>
      <vt:lpstr>Problemas en la planificación</vt:lpstr>
      <vt:lpstr>Herramientas de planificación</vt:lpstr>
      <vt:lpstr>Estimación</vt:lpstr>
      <vt:lpstr>Estimación</vt:lpstr>
      <vt:lpstr>¿Qué se estima en un proyecto?</vt:lpstr>
      <vt:lpstr>¿Cuándo se estima en un proyecto?</vt:lpstr>
      <vt:lpstr>¿Cuándo se estima en un proyecto? (cont. I)</vt:lpstr>
      <vt:lpstr>¿Cuándo se estima en un proyecto? (cont. II)</vt:lpstr>
      <vt:lpstr>¿Por qué es importante estimar?</vt:lpstr>
      <vt:lpstr>¿Cómo se estima en un proyecto?</vt:lpstr>
      <vt:lpstr>Técnicas de estimación</vt:lpstr>
      <vt:lpstr>Gestión de riesgos</vt:lpstr>
      <vt:lpstr>Riesgo</vt:lpstr>
      <vt:lpstr>Categorías de riesgos</vt:lpstr>
      <vt:lpstr>Gestión de riesgos</vt:lpstr>
      <vt:lpstr>Estrategias de gestión de riesgos</vt:lpstr>
      <vt:lpstr>Estrategias para riesgos</vt:lpstr>
      <vt:lpstr>Explotar</vt:lpstr>
      <vt:lpstr>Compartir</vt:lpstr>
      <vt:lpstr>Mejorar</vt:lpstr>
      <vt:lpstr>Evitar</vt:lpstr>
      <vt:lpstr>Evitar. Ejemplo</vt:lpstr>
      <vt:lpstr>Mitigar</vt:lpstr>
      <vt:lpstr>Mitigar. Ejemplo</vt:lpstr>
      <vt:lpstr>Transferir</vt:lpstr>
      <vt:lpstr>Transferir. Ejemplo</vt:lpstr>
      <vt:lpstr>Aceptar el riesgo</vt:lpstr>
      <vt:lpstr>Monitorear / Retener el riesgo</vt:lpstr>
      <vt:lpstr>Ignorar el riesgo</vt:lpstr>
      <vt:lpstr>“Eliminar” el riesgo</vt:lpstr>
      <vt:lpstr>Contingencias que pueden generar riesgos</vt:lpstr>
      <vt:lpstr>Resumen</vt:lpstr>
      <vt:lpstr>Planificación y seguimiento de proyectos. Gestión de Riesgos. </vt:lpstr>
    </vt:vector>
  </TitlesOfParts>
  <Company>Universidad de Málaga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Proyectos Software</dc:title>
  <dc:creator>Aracelys</dc:creator>
  <cp:lastModifiedBy>Admin</cp:lastModifiedBy>
  <cp:revision>250</cp:revision>
  <dcterms:created xsi:type="dcterms:W3CDTF">2016-09-19T15:25:44Z</dcterms:created>
  <dcterms:modified xsi:type="dcterms:W3CDTF">2026-04-14T17:32:50Z</dcterms:modified>
</cp:coreProperties>
</file>