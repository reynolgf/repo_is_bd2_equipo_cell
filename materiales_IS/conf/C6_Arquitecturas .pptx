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0" r:id="rId1"/>
  </p:sldMasterIdLst>
  <p:notesMasterIdLst>
    <p:notesMasterId r:id="rId63"/>
  </p:notesMasterIdLst>
  <p:handoutMasterIdLst>
    <p:handoutMasterId r:id="rId64"/>
  </p:handoutMasterIdLst>
  <p:sldIdLst>
    <p:sldId id="446" r:id="rId2"/>
    <p:sldId id="258" r:id="rId3"/>
    <p:sldId id="763" r:id="rId4"/>
    <p:sldId id="764" r:id="rId5"/>
    <p:sldId id="766" r:id="rId6"/>
    <p:sldId id="767" r:id="rId7"/>
    <p:sldId id="768" r:id="rId8"/>
    <p:sldId id="771" r:id="rId9"/>
    <p:sldId id="772" r:id="rId10"/>
    <p:sldId id="773" r:id="rId11"/>
    <p:sldId id="774" r:id="rId12"/>
    <p:sldId id="775" r:id="rId13"/>
    <p:sldId id="776" r:id="rId14"/>
    <p:sldId id="781" r:id="rId15"/>
    <p:sldId id="777" r:id="rId16"/>
    <p:sldId id="779" r:id="rId17"/>
    <p:sldId id="787" r:id="rId18"/>
    <p:sldId id="788" r:id="rId19"/>
    <p:sldId id="828" r:id="rId20"/>
    <p:sldId id="829" r:id="rId21"/>
    <p:sldId id="780" r:id="rId22"/>
    <p:sldId id="782" r:id="rId23"/>
    <p:sldId id="783" r:id="rId24"/>
    <p:sldId id="790" r:id="rId25"/>
    <p:sldId id="792" r:id="rId26"/>
    <p:sldId id="791" r:id="rId27"/>
    <p:sldId id="793" r:id="rId28"/>
    <p:sldId id="794" r:id="rId29"/>
    <p:sldId id="795" r:id="rId30"/>
    <p:sldId id="796" r:id="rId31"/>
    <p:sldId id="797" r:id="rId32"/>
    <p:sldId id="798" r:id="rId33"/>
    <p:sldId id="799" r:id="rId34"/>
    <p:sldId id="800" r:id="rId35"/>
    <p:sldId id="801" r:id="rId36"/>
    <p:sldId id="803" r:id="rId37"/>
    <p:sldId id="804" r:id="rId38"/>
    <p:sldId id="805" r:id="rId39"/>
    <p:sldId id="806" r:id="rId40"/>
    <p:sldId id="807" r:id="rId41"/>
    <p:sldId id="808" r:id="rId42"/>
    <p:sldId id="809" r:id="rId43"/>
    <p:sldId id="810" r:id="rId44"/>
    <p:sldId id="811" r:id="rId45"/>
    <p:sldId id="812" r:id="rId46"/>
    <p:sldId id="813" r:id="rId47"/>
    <p:sldId id="814" r:id="rId48"/>
    <p:sldId id="815" r:id="rId49"/>
    <p:sldId id="816" r:id="rId50"/>
    <p:sldId id="817" r:id="rId51"/>
    <p:sldId id="818" r:id="rId52"/>
    <p:sldId id="819" r:id="rId53"/>
    <p:sldId id="820" r:id="rId54"/>
    <p:sldId id="821" r:id="rId55"/>
    <p:sldId id="823" r:id="rId56"/>
    <p:sldId id="826" r:id="rId57"/>
    <p:sldId id="831" r:id="rId58"/>
    <p:sldId id="834" r:id="rId59"/>
    <p:sldId id="835" r:id="rId60"/>
    <p:sldId id="836" r:id="rId61"/>
    <p:sldId id="832" r:id="rId6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49" autoAdjust="0"/>
    <p:restoredTop sz="63811" autoAdjust="0"/>
  </p:normalViewPr>
  <p:slideViewPr>
    <p:cSldViewPr snapToGrid="0">
      <p:cViewPr>
        <p:scale>
          <a:sx n="48" d="100"/>
          <a:sy n="48" d="100"/>
        </p:scale>
        <p:origin x="-158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FF55ED-5264-4878-BCB3-BA86DDA5A23D}"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s-ES"/>
        </a:p>
      </dgm:t>
    </dgm:pt>
    <dgm:pt modelId="{987F49FC-CCF8-4896-9BBF-CD82CDCE9D63}">
      <dgm:prSet phldrT="[Texto]"/>
      <dgm:spPr/>
      <dgm:t>
        <a:bodyPr/>
        <a:lstStyle/>
        <a:p>
          <a:r>
            <a:rPr lang="es-ES" dirty="0" smtClean="0"/>
            <a:t>Cliente</a:t>
          </a:r>
          <a:endParaRPr lang="es-ES" dirty="0"/>
        </a:p>
      </dgm:t>
    </dgm:pt>
    <dgm:pt modelId="{E658233A-766B-4B58-BF2A-65BE540BD81D}" type="parTrans" cxnId="{240AEB26-3147-4352-9132-8A8B552E45BE}">
      <dgm:prSet/>
      <dgm:spPr/>
      <dgm:t>
        <a:bodyPr/>
        <a:lstStyle/>
        <a:p>
          <a:endParaRPr lang="es-ES"/>
        </a:p>
      </dgm:t>
    </dgm:pt>
    <dgm:pt modelId="{B62BD3D3-B457-4F2A-850E-F1B1F24761CC}" type="sibTrans" cxnId="{240AEB26-3147-4352-9132-8A8B552E45BE}">
      <dgm:prSet/>
      <dgm:spPr/>
      <dgm:t>
        <a:bodyPr/>
        <a:lstStyle/>
        <a:p>
          <a:endParaRPr lang="es-ES"/>
        </a:p>
      </dgm:t>
    </dgm:pt>
    <dgm:pt modelId="{69A1A501-2504-426A-9030-663AFADF0AB1}">
      <dgm:prSet phldrT="[Texto]"/>
      <dgm:spPr/>
      <dgm:t>
        <a:bodyPr/>
        <a:lstStyle/>
        <a:p>
          <a:r>
            <a:rPr lang="es-ES" dirty="0" smtClean="0"/>
            <a:t>API Gateway</a:t>
          </a:r>
          <a:endParaRPr lang="es-ES" dirty="0"/>
        </a:p>
      </dgm:t>
    </dgm:pt>
    <dgm:pt modelId="{EE381C9C-73DE-4CC6-AC21-795235B2C1F6}" type="parTrans" cxnId="{0194B288-F0EE-4CF9-9D25-0EC8C538E5FD}">
      <dgm:prSet/>
      <dgm:spPr/>
      <dgm:t>
        <a:bodyPr/>
        <a:lstStyle/>
        <a:p>
          <a:endParaRPr lang="es-ES"/>
        </a:p>
      </dgm:t>
    </dgm:pt>
    <dgm:pt modelId="{7A2E5898-A8FC-4D7F-A091-5AC4AB02C40F}" type="sibTrans" cxnId="{0194B288-F0EE-4CF9-9D25-0EC8C538E5FD}">
      <dgm:prSet/>
      <dgm:spPr/>
      <dgm:t>
        <a:bodyPr/>
        <a:lstStyle/>
        <a:p>
          <a:endParaRPr lang="es-ES"/>
        </a:p>
      </dgm:t>
    </dgm:pt>
    <dgm:pt modelId="{BBB89974-07EB-4EBC-B4C0-F71B525F9CD5}">
      <dgm:prSet phldrT="[Texto]">
        <dgm:style>
          <a:lnRef idx="1">
            <a:schemeClr val="dk1"/>
          </a:lnRef>
          <a:fillRef idx="2">
            <a:schemeClr val="dk1"/>
          </a:fillRef>
          <a:effectRef idx="1">
            <a:schemeClr val="dk1"/>
          </a:effectRef>
          <a:fontRef idx="minor">
            <a:schemeClr val="dk1"/>
          </a:fontRef>
        </dgm:style>
      </dgm:prSet>
      <dgm:spPr>
        <a:ln/>
      </dgm:spPr>
      <dgm:t>
        <a:bodyPr/>
        <a:lstStyle/>
        <a:p>
          <a:r>
            <a:rPr lang="es-ES" dirty="0" smtClean="0"/>
            <a:t>MS: Pedidos</a:t>
          </a:r>
          <a:endParaRPr lang="es-ES" dirty="0"/>
        </a:p>
      </dgm:t>
    </dgm:pt>
    <dgm:pt modelId="{D87CF6B9-D3B0-4B83-8FB9-CF8F7122D867}" type="parTrans" cxnId="{C405AB0C-A520-4DD9-BEF4-8C93D5F44E66}">
      <dgm:prSet/>
      <dgm:spPr/>
      <dgm:t>
        <a:bodyPr/>
        <a:lstStyle/>
        <a:p>
          <a:endParaRPr lang="es-ES"/>
        </a:p>
      </dgm:t>
    </dgm:pt>
    <dgm:pt modelId="{7BABCE19-D743-491E-8E30-F51FBB9BC205}" type="sibTrans" cxnId="{C405AB0C-A520-4DD9-BEF4-8C93D5F44E66}">
      <dgm:prSet/>
      <dgm:spPr/>
      <dgm:t>
        <a:bodyPr/>
        <a:lstStyle/>
        <a:p>
          <a:endParaRPr lang="es-ES"/>
        </a:p>
      </dgm:t>
    </dgm:pt>
    <dgm:pt modelId="{FF819311-BFCF-4D32-ABC2-1A01DCDC927A}">
      <dgm:prSet>
        <dgm:style>
          <a:lnRef idx="1">
            <a:schemeClr val="dk1"/>
          </a:lnRef>
          <a:fillRef idx="2">
            <a:schemeClr val="dk1"/>
          </a:fillRef>
          <a:effectRef idx="1">
            <a:schemeClr val="dk1"/>
          </a:effectRef>
          <a:fontRef idx="minor">
            <a:schemeClr val="dk1"/>
          </a:fontRef>
        </dgm:style>
      </dgm:prSet>
      <dgm:spPr>
        <a:ln/>
      </dgm:spPr>
      <dgm:t>
        <a:bodyPr/>
        <a:lstStyle/>
        <a:p>
          <a:r>
            <a:rPr lang="es-ES" dirty="0" smtClean="0"/>
            <a:t>MS: Inventario</a:t>
          </a:r>
          <a:endParaRPr lang="es-ES" dirty="0"/>
        </a:p>
      </dgm:t>
    </dgm:pt>
    <dgm:pt modelId="{F1F4ACB4-1A76-4F96-9A24-E49AA2697E77}" type="parTrans" cxnId="{08ACDFF9-BA03-4BF7-8CC6-671BCDF38EE2}">
      <dgm:prSet/>
      <dgm:spPr/>
      <dgm:t>
        <a:bodyPr/>
        <a:lstStyle/>
        <a:p>
          <a:endParaRPr lang="es-ES"/>
        </a:p>
      </dgm:t>
    </dgm:pt>
    <dgm:pt modelId="{AEC08800-CC3D-4B9D-A2DD-5EA4C2ABC712}" type="sibTrans" cxnId="{08ACDFF9-BA03-4BF7-8CC6-671BCDF38EE2}">
      <dgm:prSet/>
      <dgm:spPr/>
      <dgm:t>
        <a:bodyPr/>
        <a:lstStyle/>
        <a:p>
          <a:endParaRPr lang="es-ES"/>
        </a:p>
      </dgm:t>
    </dgm:pt>
    <dgm:pt modelId="{0285EF58-0A79-4BA3-8E5C-D0F899FA2C49}">
      <dgm:prSet>
        <dgm:style>
          <a:lnRef idx="1">
            <a:schemeClr val="dk1"/>
          </a:lnRef>
          <a:fillRef idx="2">
            <a:schemeClr val="dk1"/>
          </a:fillRef>
          <a:effectRef idx="1">
            <a:schemeClr val="dk1"/>
          </a:effectRef>
          <a:fontRef idx="minor">
            <a:schemeClr val="dk1"/>
          </a:fontRef>
        </dgm:style>
      </dgm:prSet>
      <dgm:spPr>
        <a:ln/>
      </dgm:spPr>
      <dgm:t>
        <a:bodyPr/>
        <a:lstStyle/>
        <a:p>
          <a:r>
            <a:rPr lang="es-ES" dirty="0" smtClean="0"/>
            <a:t>MS: Pagos</a:t>
          </a:r>
          <a:endParaRPr lang="es-ES" dirty="0"/>
        </a:p>
      </dgm:t>
    </dgm:pt>
    <dgm:pt modelId="{8C7B7ED5-5CB0-4715-80DB-B89368D26CAE}" type="parTrans" cxnId="{3F7645E9-E9E2-4CEC-8734-D342EBD9D5FB}">
      <dgm:prSet/>
      <dgm:spPr/>
      <dgm:t>
        <a:bodyPr/>
        <a:lstStyle/>
        <a:p>
          <a:endParaRPr lang="es-ES"/>
        </a:p>
      </dgm:t>
    </dgm:pt>
    <dgm:pt modelId="{B2859231-49D7-4410-94FD-B3DC10862752}" type="sibTrans" cxnId="{3F7645E9-E9E2-4CEC-8734-D342EBD9D5FB}">
      <dgm:prSet/>
      <dgm:spPr/>
      <dgm:t>
        <a:bodyPr/>
        <a:lstStyle/>
        <a:p>
          <a:endParaRPr lang="es-ES"/>
        </a:p>
      </dgm:t>
    </dgm:pt>
    <dgm:pt modelId="{A4E86757-42F0-4300-885C-86F1AC32B8EB}">
      <dgm:prSet>
        <dgm:style>
          <a:lnRef idx="1">
            <a:schemeClr val="dk1"/>
          </a:lnRef>
          <a:fillRef idx="2">
            <a:schemeClr val="dk1"/>
          </a:fillRef>
          <a:effectRef idx="1">
            <a:schemeClr val="dk1"/>
          </a:effectRef>
          <a:fontRef idx="minor">
            <a:schemeClr val="dk1"/>
          </a:fontRef>
        </dgm:style>
      </dgm:prSet>
      <dgm:spPr>
        <a:ln/>
      </dgm:spPr>
      <dgm:t>
        <a:bodyPr/>
        <a:lstStyle/>
        <a:p>
          <a:r>
            <a:rPr lang="es-ES" dirty="0" smtClean="0"/>
            <a:t>MS: Usuario</a:t>
          </a:r>
          <a:endParaRPr lang="es-ES" dirty="0"/>
        </a:p>
      </dgm:t>
    </dgm:pt>
    <dgm:pt modelId="{B3AFFD8D-10E2-4D36-9EDC-0DCD32FC3DBA}" type="parTrans" cxnId="{88EEED4E-6470-427F-8B0C-487503924D4A}">
      <dgm:prSet/>
      <dgm:spPr/>
      <dgm:t>
        <a:bodyPr/>
        <a:lstStyle/>
        <a:p>
          <a:endParaRPr lang="es-ES"/>
        </a:p>
      </dgm:t>
    </dgm:pt>
    <dgm:pt modelId="{D931BE51-71BB-4914-AD13-3E5AEA039AD2}" type="sibTrans" cxnId="{88EEED4E-6470-427F-8B0C-487503924D4A}">
      <dgm:prSet/>
      <dgm:spPr/>
      <dgm:t>
        <a:bodyPr/>
        <a:lstStyle/>
        <a:p>
          <a:endParaRPr lang="es-ES"/>
        </a:p>
      </dgm:t>
    </dgm:pt>
    <dgm:pt modelId="{E243D837-49D0-4553-9E3B-8609DEBF17B4}">
      <dgm:prSet/>
      <dgm:spPr/>
      <dgm:t>
        <a:bodyPr/>
        <a:lstStyle/>
        <a:p>
          <a:r>
            <a:rPr lang="es-ES" dirty="0" err="1" smtClean="0"/>
            <a:t>Event</a:t>
          </a:r>
          <a:r>
            <a:rPr lang="es-ES" dirty="0" smtClean="0"/>
            <a:t> BUS</a:t>
          </a:r>
        </a:p>
        <a:p>
          <a:endParaRPr lang="es-ES" dirty="0"/>
        </a:p>
      </dgm:t>
    </dgm:pt>
    <dgm:pt modelId="{9439B01B-77E4-4DD0-98BE-DC3EB4DD76E1}" type="parTrans" cxnId="{C17B43AC-F768-4D00-A2CA-F1BF81F2EEAE}">
      <dgm:prSet/>
      <dgm:spPr/>
      <dgm:t>
        <a:bodyPr/>
        <a:lstStyle/>
        <a:p>
          <a:endParaRPr lang="es-ES"/>
        </a:p>
      </dgm:t>
    </dgm:pt>
    <dgm:pt modelId="{EF6FCB3F-F3ED-421A-94F5-2B74AED97BB7}" type="sibTrans" cxnId="{C17B43AC-F768-4D00-A2CA-F1BF81F2EEAE}">
      <dgm:prSet/>
      <dgm:spPr/>
      <dgm:t>
        <a:bodyPr/>
        <a:lstStyle/>
        <a:p>
          <a:endParaRPr lang="es-ES"/>
        </a:p>
      </dgm:t>
    </dgm:pt>
    <dgm:pt modelId="{2DDD23EB-2657-40B5-A090-86CE8966D7B1}">
      <dgm:prSet/>
      <dgm:spPr/>
      <dgm:t>
        <a:bodyPr/>
        <a:lstStyle/>
        <a:p>
          <a:r>
            <a:rPr lang="es-ES" dirty="0" smtClean="0"/>
            <a:t>Servicio </a:t>
          </a:r>
        </a:p>
        <a:p>
          <a:r>
            <a:rPr lang="es-ES" dirty="0" smtClean="0"/>
            <a:t>Inventario</a:t>
          </a:r>
          <a:endParaRPr lang="es-ES" dirty="0"/>
        </a:p>
      </dgm:t>
    </dgm:pt>
    <dgm:pt modelId="{65CE316F-C10C-4512-99BD-703F66BA8C20}" type="parTrans" cxnId="{596AE42C-10FC-4028-A75A-714E1F5D6C96}">
      <dgm:prSet/>
      <dgm:spPr/>
      <dgm:t>
        <a:bodyPr/>
        <a:lstStyle/>
        <a:p>
          <a:endParaRPr lang="es-ES"/>
        </a:p>
      </dgm:t>
    </dgm:pt>
    <dgm:pt modelId="{DB95627E-9EA3-4BBA-9A01-4057D9E788D8}" type="sibTrans" cxnId="{596AE42C-10FC-4028-A75A-714E1F5D6C96}">
      <dgm:prSet/>
      <dgm:spPr/>
      <dgm:t>
        <a:bodyPr/>
        <a:lstStyle/>
        <a:p>
          <a:endParaRPr lang="es-ES"/>
        </a:p>
      </dgm:t>
    </dgm:pt>
    <dgm:pt modelId="{DBA0E620-9B45-4BD7-942F-829F8DF843A0}">
      <dgm:prSet/>
      <dgm:spPr/>
      <dgm:t>
        <a:bodyPr/>
        <a:lstStyle/>
        <a:p>
          <a:r>
            <a:rPr lang="es-ES" dirty="0" smtClean="0"/>
            <a:t>Servicio</a:t>
          </a:r>
        </a:p>
        <a:p>
          <a:r>
            <a:rPr lang="es-ES" dirty="0" smtClean="0"/>
            <a:t>Envió</a:t>
          </a:r>
          <a:endParaRPr lang="es-ES" dirty="0"/>
        </a:p>
      </dgm:t>
    </dgm:pt>
    <dgm:pt modelId="{89F63233-305E-44B5-A8D0-ED81C9DB7B6C}" type="parTrans" cxnId="{49AEE4A3-C5D1-4145-8F1F-6301E9851CB1}">
      <dgm:prSet/>
      <dgm:spPr/>
      <dgm:t>
        <a:bodyPr/>
        <a:lstStyle/>
        <a:p>
          <a:endParaRPr lang="es-ES"/>
        </a:p>
      </dgm:t>
    </dgm:pt>
    <dgm:pt modelId="{3BF1A1D1-D73A-4365-8297-2D2325E1584B}" type="sibTrans" cxnId="{49AEE4A3-C5D1-4145-8F1F-6301E9851CB1}">
      <dgm:prSet/>
      <dgm:spPr/>
      <dgm:t>
        <a:bodyPr/>
        <a:lstStyle/>
        <a:p>
          <a:endParaRPr lang="es-ES"/>
        </a:p>
      </dgm:t>
    </dgm:pt>
    <dgm:pt modelId="{9874D1BD-21FE-4804-A554-7B9FA493E0A4}">
      <dgm:prSet/>
      <dgm:spPr/>
      <dgm:t>
        <a:bodyPr/>
        <a:lstStyle/>
        <a:p>
          <a:r>
            <a:rPr lang="es-ES" dirty="0" smtClean="0"/>
            <a:t>Servicio </a:t>
          </a:r>
        </a:p>
        <a:p>
          <a:r>
            <a:rPr lang="es-ES" dirty="0" smtClean="0"/>
            <a:t>Notificación</a:t>
          </a:r>
          <a:endParaRPr lang="es-ES" dirty="0"/>
        </a:p>
      </dgm:t>
    </dgm:pt>
    <dgm:pt modelId="{F10A0A75-9ECE-4732-B971-4F886AA5EB3D}" type="parTrans" cxnId="{C22D800B-5501-43FA-B9F9-4894E39FCC2F}">
      <dgm:prSet/>
      <dgm:spPr/>
      <dgm:t>
        <a:bodyPr/>
        <a:lstStyle/>
        <a:p>
          <a:endParaRPr lang="es-ES"/>
        </a:p>
      </dgm:t>
    </dgm:pt>
    <dgm:pt modelId="{2C751409-678F-47E2-A761-6EF208099087}" type="sibTrans" cxnId="{C22D800B-5501-43FA-B9F9-4894E39FCC2F}">
      <dgm:prSet/>
      <dgm:spPr/>
      <dgm:t>
        <a:bodyPr/>
        <a:lstStyle/>
        <a:p>
          <a:endParaRPr lang="es-ES"/>
        </a:p>
      </dgm:t>
    </dgm:pt>
    <dgm:pt modelId="{F14D6263-A9AD-48D8-996A-20332A5B12E3}" type="pres">
      <dgm:prSet presAssocID="{ADFF55ED-5264-4878-BCB3-BA86DDA5A23D}" presName="hierChild1" presStyleCnt="0">
        <dgm:presLayoutVars>
          <dgm:chPref val="1"/>
          <dgm:dir/>
          <dgm:animOne val="branch"/>
          <dgm:animLvl val="lvl"/>
          <dgm:resizeHandles/>
        </dgm:presLayoutVars>
      </dgm:prSet>
      <dgm:spPr/>
      <dgm:t>
        <a:bodyPr/>
        <a:lstStyle/>
        <a:p>
          <a:endParaRPr lang="es-ES"/>
        </a:p>
      </dgm:t>
    </dgm:pt>
    <dgm:pt modelId="{C935B864-8751-413D-851B-46245F666BFF}" type="pres">
      <dgm:prSet presAssocID="{987F49FC-CCF8-4896-9BBF-CD82CDCE9D63}" presName="hierRoot1" presStyleCnt="0"/>
      <dgm:spPr/>
    </dgm:pt>
    <dgm:pt modelId="{17CDC162-9735-486A-84DD-44F697112E4D}" type="pres">
      <dgm:prSet presAssocID="{987F49FC-CCF8-4896-9BBF-CD82CDCE9D63}" presName="composite" presStyleCnt="0"/>
      <dgm:spPr/>
    </dgm:pt>
    <dgm:pt modelId="{2CDFABF2-B6BF-4A49-87F4-53B94C600204}" type="pres">
      <dgm:prSet presAssocID="{987F49FC-CCF8-4896-9BBF-CD82CDCE9D63}" presName="background" presStyleLbl="node0" presStyleIdx="0" presStyleCnt="1"/>
      <dgm:spPr/>
    </dgm:pt>
    <dgm:pt modelId="{04B75F7E-8CD9-4C71-9517-97F9DD8C1A0B}" type="pres">
      <dgm:prSet presAssocID="{987F49FC-CCF8-4896-9BBF-CD82CDCE9D63}" presName="text" presStyleLbl="fgAcc0" presStyleIdx="0" presStyleCnt="1" custScaleX="306826" custScaleY="53286">
        <dgm:presLayoutVars>
          <dgm:chPref val="3"/>
        </dgm:presLayoutVars>
      </dgm:prSet>
      <dgm:spPr/>
      <dgm:t>
        <a:bodyPr/>
        <a:lstStyle/>
        <a:p>
          <a:endParaRPr lang="es-ES"/>
        </a:p>
      </dgm:t>
    </dgm:pt>
    <dgm:pt modelId="{7BCAA6D8-90D7-4CE6-99DC-187011CD6780}" type="pres">
      <dgm:prSet presAssocID="{987F49FC-CCF8-4896-9BBF-CD82CDCE9D63}" presName="hierChild2" presStyleCnt="0"/>
      <dgm:spPr/>
    </dgm:pt>
    <dgm:pt modelId="{7FB6F8A7-82F9-443D-9C40-150A9DC92BE9}" type="pres">
      <dgm:prSet presAssocID="{EE381C9C-73DE-4CC6-AC21-795235B2C1F6}" presName="Name10" presStyleLbl="parChTrans1D2" presStyleIdx="0" presStyleCnt="1"/>
      <dgm:spPr/>
      <dgm:t>
        <a:bodyPr/>
        <a:lstStyle/>
        <a:p>
          <a:endParaRPr lang="es-ES"/>
        </a:p>
      </dgm:t>
    </dgm:pt>
    <dgm:pt modelId="{D3593918-CBC3-4D79-8E00-BA2E4045955B}" type="pres">
      <dgm:prSet presAssocID="{69A1A501-2504-426A-9030-663AFADF0AB1}" presName="hierRoot2" presStyleCnt="0"/>
      <dgm:spPr/>
    </dgm:pt>
    <dgm:pt modelId="{BB47BFA9-ED21-4906-9241-14B23B8A447F}" type="pres">
      <dgm:prSet presAssocID="{69A1A501-2504-426A-9030-663AFADF0AB1}" presName="composite2" presStyleCnt="0"/>
      <dgm:spPr/>
    </dgm:pt>
    <dgm:pt modelId="{A70AD096-3502-4BF1-B8F7-763618842A28}" type="pres">
      <dgm:prSet presAssocID="{69A1A501-2504-426A-9030-663AFADF0AB1}" presName="background2" presStyleLbl="node2" presStyleIdx="0" presStyleCnt="1"/>
      <dgm:spPr/>
    </dgm:pt>
    <dgm:pt modelId="{3562F49D-C35E-4032-BB93-6D6D6C0C9CE5}" type="pres">
      <dgm:prSet presAssocID="{69A1A501-2504-426A-9030-663AFADF0AB1}" presName="text2" presStyleLbl="fgAcc2" presStyleIdx="0" presStyleCnt="1" custScaleX="439635" custScaleY="54489">
        <dgm:presLayoutVars>
          <dgm:chPref val="3"/>
        </dgm:presLayoutVars>
      </dgm:prSet>
      <dgm:spPr/>
      <dgm:t>
        <a:bodyPr/>
        <a:lstStyle/>
        <a:p>
          <a:endParaRPr lang="es-ES"/>
        </a:p>
      </dgm:t>
    </dgm:pt>
    <dgm:pt modelId="{05923E7C-2FB9-4631-B94D-C9D87D2359B5}" type="pres">
      <dgm:prSet presAssocID="{69A1A501-2504-426A-9030-663AFADF0AB1}" presName="hierChild3" presStyleCnt="0"/>
      <dgm:spPr/>
    </dgm:pt>
    <dgm:pt modelId="{C6B07108-8BBF-4A14-A5DA-3A6F1C7229ED}" type="pres">
      <dgm:prSet presAssocID="{B3AFFD8D-10E2-4D36-9EDC-0DCD32FC3DBA}" presName="Name17" presStyleLbl="parChTrans1D3" presStyleIdx="0" presStyleCnt="4"/>
      <dgm:spPr/>
      <dgm:t>
        <a:bodyPr/>
        <a:lstStyle/>
        <a:p>
          <a:endParaRPr lang="es-ES"/>
        </a:p>
      </dgm:t>
    </dgm:pt>
    <dgm:pt modelId="{433A5ECA-4B77-4051-86C6-122953D60B89}" type="pres">
      <dgm:prSet presAssocID="{A4E86757-42F0-4300-885C-86F1AC32B8EB}" presName="hierRoot3" presStyleCnt="0"/>
      <dgm:spPr/>
    </dgm:pt>
    <dgm:pt modelId="{C453922B-8331-4883-A6A7-BAF5AB4756F5}" type="pres">
      <dgm:prSet presAssocID="{A4E86757-42F0-4300-885C-86F1AC32B8EB}" presName="composite3" presStyleCnt="0"/>
      <dgm:spPr/>
    </dgm:pt>
    <dgm:pt modelId="{2652B3BB-97C0-4BA5-876F-01B141158055}" type="pres">
      <dgm:prSet presAssocID="{A4E86757-42F0-4300-885C-86F1AC32B8EB}" presName="background3" presStyleLbl="node3" presStyleIdx="0" presStyleCnt="4"/>
      <dgm:spPr/>
    </dgm:pt>
    <dgm:pt modelId="{D484BD82-3FB6-46A5-9444-D042150DF204}" type="pres">
      <dgm:prSet presAssocID="{A4E86757-42F0-4300-885C-86F1AC32B8EB}" presName="text3" presStyleLbl="fgAcc3" presStyleIdx="0" presStyleCnt="4" custScaleX="135918" custScaleY="90344">
        <dgm:presLayoutVars>
          <dgm:chPref val="3"/>
        </dgm:presLayoutVars>
      </dgm:prSet>
      <dgm:spPr/>
      <dgm:t>
        <a:bodyPr/>
        <a:lstStyle/>
        <a:p>
          <a:endParaRPr lang="es-ES"/>
        </a:p>
      </dgm:t>
    </dgm:pt>
    <dgm:pt modelId="{B756DEE6-3AC3-4DAA-94F4-7A611529E379}" type="pres">
      <dgm:prSet presAssocID="{A4E86757-42F0-4300-885C-86F1AC32B8EB}" presName="hierChild4" presStyleCnt="0"/>
      <dgm:spPr/>
    </dgm:pt>
    <dgm:pt modelId="{4A54AD90-CDA7-4069-A4A5-D7D7969523EB}" type="pres">
      <dgm:prSet presAssocID="{8C7B7ED5-5CB0-4715-80DB-B89368D26CAE}" presName="Name17" presStyleLbl="parChTrans1D3" presStyleIdx="1" presStyleCnt="4"/>
      <dgm:spPr/>
      <dgm:t>
        <a:bodyPr/>
        <a:lstStyle/>
        <a:p>
          <a:endParaRPr lang="es-ES"/>
        </a:p>
      </dgm:t>
    </dgm:pt>
    <dgm:pt modelId="{13BFB456-9CA4-4ED6-B2AA-42211D25C498}" type="pres">
      <dgm:prSet presAssocID="{0285EF58-0A79-4BA3-8E5C-D0F899FA2C49}" presName="hierRoot3" presStyleCnt="0"/>
      <dgm:spPr/>
    </dgm:pt>
    <dgm:pt modelId="{C1AB8D61-4CAE-4A74-9A6F-B210F70A1175}" type="pres">
      <dgm:prSet presAssocID="{0285EF58-0A79-4BA3-8E5C-D0F899FA2C49}" presName="composite3" presStyleCnt="0"/>
      <dgm:spPr/>
    </dgm:pt>
    <dgm:pt modelId="{B88EBABB-2350-4839-A7E0-46317E8FA5B2}" type="pres">
      <dgm:prSet presAssocID="{0285EF58-0A79-4BA3-8E5C-D0F899FA2C49}" presName="background3" presStyleLbl="node3" presStyleIdx="1" presStyleCnt="4"/>
      <dgm:spPr/>
    </dgm:pt>
    <dgm:pt modelId="{B503EBCA-A6CA-48B9-9E7E-12E4A109E495}" type="pres">
      <dgm:prSet presAssocID="{0285EF58-0A79-4BA3-8E5C-D0F899FA2C49}" presName="text3" presStyleLbl="fgAcc3" presStyleIdx="1" presStyleCnt="4">
        <dgm:presLayoutVars>
          <dgm:chPref val="3"/>
        </dgm:presLayoutVars>
      </dgm:prSet>
      <dgm:spPr/>
      <dgm:t>
        <a:bodyPr/>
        <a:lstStyle/>
        <a:p>
          <a:endParaRPr lang="es-ES"/>
        </a:p>
      </dgm:t>
    </dgm:pt>
    <dgm:pt modelId="{365B2357-84FD-4BF5-8EAC-8C66D5D55089}" type="pres">
      <dgm:prSet presAssocID="{0285EF58-0A79-4BA3-8E5C-D0F899FA2C49}" presName="hierChild4" presStyleCnt="0"/>
      <dgm:spPr/>
    </dgm:pt>
    <dgm:pt modelId="{F0CCCB5A-E1E6-42A4-B940-22873C862BD3}" type="pres">
      <dgm:prSet presAssocID="{F1F4ACB4-1A76-4F96-9A24-E49AA2697E77}" presName="Name17" presStyleLbl="parChTrans1D3" presStyleIdx="2" presStyleCnt="4"/>
      <dgm:spPr/>
      <dgm:t>
        <a:bodyPr/>
        <a:lstStyle/>
        <a:p>
          <a:endParaRPr lang="es-ES"/>
        </a:p>
      </dgm:t>
    </dgm:pt>
    <dgm:pt modelId="{D1D8159A-6F21-4894-9F6D-B1E0A02ED742}" type="pres">
      <dgm:prSet presAssocID="{FF819311-BFCF-4D32-ABC2-1A01DCDC927A}" presName="hierRoot3" presStyleCnt="0"/>
      <dgm:spPr/>
    </dgm:pt>
    <dgm:pt modelId="{28A7CAD3-6E93-458A-B513-762D9FA9915C}" type="pres">
      <dgm:prSet presAssocID="{FF819311-BFCF-4D32-ABC2-1A01DCDC927A}" presName="composite3" presStyleCnt="0"/>
      <dgm:spPr/>
    </dgm:pt>
    <dgm:pt modelId="{FF4168AB-F101-4D7F-9696-53381D5C4025}" type="pres">
      <dgm:prSet presAssocID="{FF819311-BFCF-4D32-ABC2-1A01DCDC927A}" presName="background3" presStyleLbl="node3" presStyleIdx="2" presStyleCnt="4"/>
      <dgm:spPr/>
    </dgm:pt>
    <dgm:pt modelId="{5352BF14-E10A-4993-9ED9-CE97F8EB4D9E}" type="pres">
      <dgm:prSet presAssocID="{FF819311-BFCF-4D32-ABC2-1A01DCDC927A}" presName="text3" presStyleLbl="fgAcc3" presStyleIdx="2" presStyleCnt="4">
        <dgm:presLayoutVars>
          <dgm:chPref val="3"/>
        </dgm:presLayoutVars>
      </dgm:prSet>
      <dgm:spPr/>
      <dgm:t>
        <a:bodyPr/>
        <a:lstStyle/>
        <a:p>
          <a:endParaRPr lang="es-ES"/>
        </a:p>
      </dgm:t>
    </dgm:pt>
    <dgm:pt modelId="{FA054AF9-8DC2-475F-B0F9-B1418E6769B3}" type="pres">
      <dgm:prSet presAssocID="{FF819311-BFCF-4D32-ABC2-1A01DCDC927A}" presName="hierChild4" presStyleCnt="0"/>
      <dgm:spPr/>
    </dgm:pt>
    <dgm:pt modelId="{7A01757A-678B-4773-B70D-4975CD62DADC}" type="pres">
      <dgm:prSet presAssocID="{D87CF6B9-D3B0-4B83-8FB9-CF8F7122D867}" presName="Name17" presStyleLbl="parChTrans1D3" presStyleIdx="3" presStyleCnt="4"/>
      <dgm:spPr/>
      <dgm:t>
        <a:bodyPr/>
        <a:lstStyle/>
        <a:p>
          <a:endParaRPr lang="es-ES"/>
        </a:p>
      </dgm:t>
    </dgm:pt>
    <dgm:pt modelId="{1FB81A4F-5481-45A1-AAEC-680E958CD43A}" type="pres">
      <dgm:prSet presAssocID="{BBB89974-07EB-4EBC-B4C0-F71B525F9CD5}" presName="hierRoot3" presStyleCnt="0"/>
      <dgm:spPr/>
    </dgm:pt>
    <dgm:pt modelId="{CBFF3DAA-6DC2-49EC-83FE-AA765C251FA6}" type="pres">
      <dgm:prSet presAssocID="{BBB89974-07EB-4EBC-B4C0-F71B525F9CD5}" presName="composite3" presStyleCnt="0"/>
      <dgm:spPr/>
    </dgm:pt>
    <dgm:pt modelId="{30E74011-A69F-4E56-8B3A-022C0C86D3B8}" type="pres">
      <dgm:prSet presAssocID="{BBB89974-07EB-4EBC-B4C0-F71B525F9CD5}" presName="background3" presStyleLbl="node3" presStyleIdx="3" presStyleCnt="4"/>
      <dgm:spPr/>
    </dgm:pt>
    <dgm:pt modelId="{87D660EC-35F8-4977-AE50-9B21CE1CB350}" type="pres">
      <dgm:prSet presAssocID="{BBB89974-07EB-4EBC-B4C0-F71B525F9CD5}" presName="text3" presStyleLbl="fgAcc3" presStyleIdx="3" presStyleCnt="4">
        <dgm:presLayoutVars>
          <dgm:chPref val="3"/>
        </dgm:presLayoutVars>
      </dgm:prSet>
      <dgm:spPr/>
      <dgm:t>
        <a:bodyPr/>
        <a:lstStyle/>
        <a:p>
          <a:endParaRPr lang="es-ES"/>
        </a:p>
      </dgm:t>
    </dgm:pt>
    <dgm:pt modelId="{31BAC67E-BCEC-4CC8-953E-A7140D1B93EE}" type="pres">
      <dgm:prSet presAssocID="{BBB89974-07EB-4EBC-B4C0-F71B525F9CD5}" presName="hierChild4" presStyleCnt="0"/>
      <dgm:spPr/>
    </dgm:pt>
    <dgm:pt modelId="{2C3E726C-DB76-4241-B48D-12E128C03C69}" type="pres">
      <dgm:prSet presAssocID="{9439B01B-77E4-4DD0-98BE-DC3EB4DD76E1}" presName="Name23" presStyleLbl="parChTrans1D4" presStyleIdx="0" presStyleCnt="4"/>
      <dgm:spPr/>
      <dgm:t>
        <a:bodyPr/>
        <a:lstStyle/>
        <a:p>
          <a:endParaRPr lang="es-ES"/>
        </a:p>
      </dgm:t>
    </dgm:pt>
    <dgm:pt modelId="{0543D13D-8CDF-4655-83A2-2A7BD1E6249D}" type="pres">
      <dgm:prSet presAssocID="{E243D837-49D0-4553-9E3B-8609DEBF17B4}" presName="hierRoot4" presStyleCnt="0"/>
      <dgm:spPr/>
    </dgm:pt>
    <dgm:pt modelId="{3DD66CA3-D063-432B-B977-ED059C5AEAF2}" type="pres">
      <dgm:prSet presAssocID="{E243D837-49D0-4553-9E3B-8609DEBF17B4}" presName="composite4" presStyleCnt="0"/>
      <dgm:spPr/>
    </dgm:pt>
    <dgm:pt modelId="{719F2E30-76A1-4BC1-AB32-B6E72911AF0A}" type="pres">
      <dgm:prSet presAssocID="{E243D837-49D0-4553-9E3B-8609DEBF17B4}" presName="background4" presStyleLbl="node4" presStyleIdx="0" presStyleCnt="4"/>
      <dgm:spPr/>
    </dgm:pt>
    <dgm:pt modelId="{391092B3-C619-4545-B673-5A9E6E129551}" type="pres">
      <dgm:prSet presAssocID="{E243D837-49D0-4553-9E3B-8609DEBF17B4}" presName="text4" presStyleLbl="fgAcc4" presStyleIdx="0" presStyleCnt="4" custScaleX="411156">
        <dgm:presLayoutVars>
          <dgm:chPref val="3"/>
        </dgm:presLayoutVars>
      </dgm:prSet>
      <dgm:spPr/>
      <dgm:t>
        <a:bodyPr/>
        <a:lstStyle/>
        <a:p>
          <a:endParaRPr lang="es-ES"/>
        </a:p>
      </dgm:t>
    </dgm:pt>
    <dgm:pt modelId="{ACE9DA9F-2F22-4718-8BAB-2E8FEAE1EF3F}" type="pres">
      <dgm:prSet presAssocID="{E243D837-49D0-4553-9E3B-8609DEBF17B4}" presName="hierChild5" presStyleCnt="0"/>
      <dgm:spPr/>
    </dgm:pt>
    <dgm:pt modelId="{ED783225-717C-4A24-A470-9253EB0B6F75}" type="pres">
      <dgm:prSet presAssocID="{65CE316F-C10C-4512-99BD-703F66BA8C20}" presName="Name23" presStyleLbl="parChTrans1D4" presStyleIdx="1" presStyleCnt="4"/>
      <dgm:spPr/>
      <dgm:t>
        <a:bodyPr/>
        <a:lstStyle/>
        <a:p>
          <a:endParaRPr lang="es-ES"/>
        </a:p>
      </dgm:t>
    </dgm:pt>
    <dgm:pt modelId="{C5D058CF-26D1-4F00-A42C-81DE12156F52}" type="pres">
      <dgm:prSet presAssocID="{2DDD23EB-2657-40B5-A090-86CE8966D7B1}" presName="hierRoot4" presStyleCnt="0"/>
      <dgm:spPr/>
    </dgm:pt>
    <dgm:pt modelId="{B67AEBF0-C87A-4D10-924E-6CBDA43636CB}" type="pres">
      <dgm:prSet presAssocID="{2DDD23EB-2657-40B5-A090-86CE8966D7B1}" presName="composite4" presStyleCnt="0"/>
      <dgm:spPr/>
    </dgm:pt>
    <dgm:pt modelId="{F181EDE4-BE1C-41A1-8CD9-4B8451B7CDB4}" type="pres">
      <dgm:prSet presAssocID="{2DDD23EB-2657-40B5-A090-86CE8966D7B1}" presName="background4" presStyleLbl="node4" presStyleIdx="1" presStyleCnt="4"/>
      <dgm:spPr/>
    </dgm:pt>
    <dgm:pt modelId="{6FA35E34-E5F5-4437-BB52-A306E64B91BF}" type="pres">
      <dgm:prSet presAssocID="{2DDD23EB-2657-40B5-A090-86CE8966D7B1}" presName="text4" presStyleLbl="fgAcc4" presStyleIdx="1" presStyleCnt="4">
        <dgm:presLayoutVars>
          <dgm:chPref val="3"/>
        </dgm:presLayoutVars>
      </dgm:prSet>
      <dgm:spPr/>
      <dgm:t>
        <a:bodyPr/>
        <a:lstStyle/>
        <a:p>
          <a:endParaRPr lang="es-ES"/>
        </a:p>
      </dgm:t>
    </dgm:pt>
    <dgm:pt modelId="{0BC30B5F-7D38-405D-A0DD-592B7FB388AA}" type="pres">
      <dgm:prSet presAssocID="{2DDD23EB-2657-40B5-A090-86CE8966D7B1}" presName="hierChild5" presStyleCnt="0"/>
      <dgm:spPr/>
    </dgm:pt>
    <dgm:pt modelId="{3A62F7D0-77DC-4606-A6A5-CF8BCFB720C0}" type="pres">
      <dgm:prSet presAssocID="{F10A0A75-9ECE-4732-B971-4F886AA5EB3D}" presName="Name23" presStyleLbl="parChTrans1D4" presStyleIdx="2" presStyleCnt="4"/>
      <dgm:spPr/>
      <dgm:t>
        <a:bodyPr/>
        <a:lstStyle/>
        <a:p>
          <a:endParaRPr lang="es-ES"/>
        </a:p>
      </dgm:t>
    </dgm:pt>
    <dgm:pt modelId="{73DD2B55-D718-4FB0-9B7F-501B580D84DD}" type="pres">
      <dgm:prSet presAssocID="{9874D1BD-21FE-4804-A554-7B9FA493E0A4}" presName="hierRoot4" presStyleCnt="0"/>
      <dgm:spPr/>
    </dgm:pt>
    <dgm:pt modelId="{8D81B2E6-DF0F-4AC5-BA64-64EF58F106AF}" type="pres">
      <dgm:prSet presAssocID="{9874D1BD-21FE-4804-A554-7B9FA493E0A4}" presName="composite4" presStyleCnt="0"/>
      <dgm:spPr/>
    </dgm:pt>
    <dgm:pt modelId="{DF552252-2C6D-4E8C-B6B4-7B1D8020A003}" type="pres">
      <dgm:prSet presAssocID="{9874D1BD-21FE-4804-A554-7B9FA493E0A4}" presName="background4" presStyleLbl="node4" presStyleIdx="2" presStyleCnt="4"/>
      <dgm:spPr/>
    </dgm:pt>
    <dgm:pt modelId="{66414920-E622-4B8A-8692-5BFBBE13CDEB}" type="pres">
      <dgm:prSet presAssocID="{9874D1BD-21FE-4804-A554-7B9FA493E0A4}" presName="text4" presStyleLbl="fgAcc4" presStyleIdx="2" presStyleCnt="4">
        <dgm:presLayoutVars>
          <dgm:chPref val="3"/>
        </dgm:presLayoutVars>
      </dgm:prSet>
      <dgm:spPr/>
      <dgm:t>
        <a:bodyPr/>
        <a:lstStyle/>
        <a:p>
          <a:endParaRPr lang="es-ES"/>
        </a:p>
      </dgm:t>
    </dgm:pt>
    <dgm:pt modelId="{126FEDD8-BD1F-44E2-8E2D-1C90515975C8}" type="pres">
      <dgm:prSet presAssocID="{9874D1BD-21FE-4804-A554-7B9FA493E0A4}" presName="hierChild5" presStyleCnt="0"/>
      <dgm:spPr/>
    </dgm:pt>
    <dgm:pt modelId="{7AE12C31-F0AB-4505-9018-7A2B65A6DF7B}" type="pres">
      <dgm:prSet presAssocID="{89F63233-305E-44B5-A8D0-ED81C9DB7B6C}" presName="Name23" presStyleLbl="parChTrans1D4" presStyleIdx="3" presStyleCnt="4"/>
      <dgm:spPr/>
      <dgm:t>
        <a:bodyPr/>
        <a:lstStyle/>
        <a:p>
          <a:endParaRPr lang="es-ES"/>
        </a:p>
      </dgm:t>
    </dgm:pt>
    <dgm:pt modelId="{C5FBB921-8235-4EEF-84F4-5593075C7766}" type="pres">
      <dgm:prSet presAssocID="{DBA0E620-9B45-4BD7-942F-829F8DF843A0}" presName="hierRoot4" presStyleCnt="0"/>
      <dgm:spPr/>
    </dgm:pt>
    <dgm:pt modelId="{B2C49F3E-BC4B-49FB-B060-BFD0771A0DE4}" type="pres">
      <dgm:prSet presAssocID="{DBA0E620-9B45-4BD7-942F-829F8DF843A0}" presName="composite4" presStyleCnt="0"/>
      <dgm:spPr/>
    </dgm:pt>
    <dgm:pt modelId="{9BD76A33-3D68-41E3-BE74-31E2A4908C84}" type="pres">
      <dgm:prSet presAssocID="{DBA0E620-9B45-4BD7-942F-829F8DF843A0}" presName="background4" presStyleLbl="node4" presStyleIdx="3" presStyleCnt="4"/>
      <dgm:spPr/>
    </dgm:pt>
    <dgm:pt modelId="{5DB72956-7EFA-4F6A-B4C2-9DE5C24FAA19}" type="pres">
      <dgm:prSet presAssocID="{DBA0E620-9B45-4BD7-942F-829F8DF843A0}" presName="text4" presStyleLbl="fgAcc4" presStyleIdx="3" presStyleCnt="4">
        <dgm:presLayoutVars>
          <dgm:chPref val="3"/>
        </dgm:presLayoutVars>
      </dgm:prSet>
      <dgm:spPr/>
      <dgm:t>
        <a:bodyPr/>
        <a:lstStyle/>
        <a:p>
          <a:endParaRPr lang="es-ES"/>
        </a:p>
      </dgm:t>
    </dgm:pt>
    <dgm:pt modelId="{47470A50-6993-4EF8-A9AE-4794AA9BD3D2}" type="pres">
      <dgm:prSet presAssocID="{DBA0E620-9B45-4BD7-942F-829F8DF843A0}" presName="hierChild5" presStyleCnt="0"/>
      <dgm:spPr/>
    </dgm:pt>
  </dgm:ptLst>
  <dgm:cxnLst>
    <dgm:cxn modelId="{C17B43AC-F768-4D00-A2CA-F1BF81F2EEAE}" srcId="{BBB89974-07EB-4EBC-B4C0-F71B525F9CD5}" destId="{E243D837-49D0-4553-9E3B-8609DEBF17B4}" srcOrd="0" destOrd="0" parTransId="{9439B01B-77E4-4DD0-98BE-DC3EB4DD76E1}" sibTransId="{EF6FCB3F-F3ED-421A-94F5-2B74AED97BB7}"/>
    <dgm:cxn modelId="{240AEB26-3147-4352-9132-8A8B552E45BE}" srcId="{ADFF55ED-5264-4878-BCB3-BA86DDA5A23D}" destId="{987F49FC-CCF8-4896-9BBF-CD82CDCE9D63}" srcOrd="0" destOrd="0" parTransId="{E658233A-766B-4B58-BF2A-65BE540BD81D}" sibTransId="{B62BD3D3-B457-4F2A-850E-F1B1F24761CC}"/>
    <dgm:cxn modelId="{0194B288-F0EE-4CF9-9D25-0EC8C538E5FD}" srcId="{987F49FC-CCF8-4896-9BBF-CD82CDCE9D63}" destId="{69A1A501-2504-426A-9030-663AFADF0AB1}" srcOrd="0" destOrd="0" parTransId="{EE381C9C-73DE-4CC6-AC21-795235B2C1F6}" sibTransId="{7A2E5898-A8FC-4D7F-A091-5AC4AB02C40F}"/>
    <dgm:cxn modelId="{192F0890-F131-4E31-9FBD-4D52BA42C30C}" type="presOf" srcId="{FF819311-BFCF-4D32-ABC2-1A01DCDC927A}" destId="{5352BF14-E10A-4993-9ED9-CE97F8EB4D9E}" srcOrd="0" destOrd="0" presId="urn:microsoft.com/office/officeart/2005/8/layout/hierarchy1"/>
    <dgm:cxn modelId="{C405AB0C-A520-4DD9-BEF4-8C93D5F44E66}" srcId="{69A1A501-2504-426A-9030-663AFADF0AB1}" destId="{BBB89974-07EB-4EBC-B4C0-F71B525F9CD5}" srcOrd="3" destOrd="0" parTransId="{D87CF6B9-D3B0-4B83-8FB9-CF8F7122D867}" sibTransId="{7BABCE19-D743-491E-8E30-F51FBB9BC205}"/>
    <dgm:cxn modelId="{5EBCAE3B-1544-413C-97E1-CD596236F701}" type="presOf" srcId="{B3AFFD8D-10E2-4D36-9EDC-0DCD32FC3DBA}" destId="{C6B07108-8BBF-4A14-A5DA-3A6F1C7229ED}" srcOrd="0" destOrd="0" presId="urn:microsoft.com/office/officeart/2005/8/layout/hierarchy1"/>
    <dgm:cxn modelId="{49AEE4A3-C5D1-4145-8F1F-6301E9851CB1}" srcId="{E243D837-49D0-4553-9E3B-8609DEBF17B4}" destId="{DBA0E620-9B45-4BD7-942F-829F8DF843A0}" srcOrd="2" destOrd="0" parTransId="{89F63233-305E-44B5-A8D0-ED81C9DB7B6C}" sibTransId="{3BF1A1D1-D73A-4365-8297-2D2325E1584B}"/>
    <dgm:cxn modelId="{3F7645E9-E9E2-4CEC-8734-D342EBD9D5FB}" srcId="{69A1A501-2504-426A-9030-663AFADF0AB1}" destId="{0285EF58-0A79-4BA3-8E5C-D0F899FA2C49}" srcOrd="1" destOrd="0" parTransId="{8C7B7ED5-5CB0-4715-80DB-B89368D26CAE}" sibTransId="{B2859231-49D7-4410-94FD-B3DC10862752}"/>
    <dgm:cxn modelId="{BD63DD62-2524-4E57-B819-9D3938E9CBB3}" type="presOf" srcId="{D87CF6B9-D3B0-4B83-8FB9-CF8F7122D867}" destId="{7A01757A-678B-4773-B70D-4975CD62DADC}" srcOrd="0" destOrd="0" presId="urn:microsoft.com/office/officeart/2005/8/layout/hierarchy1"/>
    <dgm:cxn modelId="{B021A1BB-9795-490C-BD49-389CC29AB26D}" type="presOf" srcId="{DBA0E620-9B45-4BD7-942F-829F8DF843A0}" destId="{5DB72956-7EFA-4F6A-B4C2-9DE5C24FAA19}" srcOrd="0" destOrd="0" presId="urn:microsoft.com/office/officeart/2005/8/layout/hierarchy1"/>
    <dgm:cxn modelId="{2CD77BE5-658C-446C-B4D4-CCF73ABF57BB}" type="presOf" srcId="{ADFF55ED-5264-4878-BCB3-BA86DDA5A23D}" destId="{F14D6263-A9AD-48D8-996A-20332A5B12E3}" srcOrd="0" destOrd="0" presId="urn:microsoft.com/office/officeart/2005/8/layout/hierarchy1"/>
    <dgm:cxn modelId="{E7E51271-E506-41B1-B41D-B0B1A991441D}" type="presOf" srcId="{65CE316F-C10C-4512-99BD-703F66BA8C20}" destId="{ED783225-717C-4A24-A470-9253EB0B6F75}" srcOrd="0" destOrd="0" presId="urn:microsoft.com/office/officeart/2005/8/layout/hierarchy1"/>
    <dgm:cxn modelId="{C22D800B-5501-43FA-B9F9-4894E39FCC2F}" srcId="{E243D837-49D0-4553-9E3B-8609DEBF17B4}" destId="{9874D1BD-21FE-4804-A554-7B9FA493E0A4}" srcOrd="1" destOrd="0" parTransId="{F10A0A75-9ECE-4732-B971-4F886AA5EB3D}" sibTransId="{2C751409-678F-47E2-A761-6EF208099087}"/>
    <dgm:cxn modelId="{6AB6818D-F126-4B78-BFA0-B8A10D2E35E4}" type="presOf" srcId="{A4E86757-42F0-4300-885C-86F1AC32B8EB}" destId="{D484BD82-3FB6-46A5-9444-D042150DF204}" srcOrd="0" destOrd="0" presId="urn:microsoft.com/office/officeart/2005/8/layout/hierarchy1"/>
    <dgm:cxn modelId="{596AE42C-10FC-4028-A75A-714E1F5D6C96}" srcId="{E243D837-49D0-4553-9E3B-8609DEBF17B4}" destId="{2DDD23EB-2657-40B5-A090-86CE8966D7B1}" srcOrd="0" destOrd="0" parTransId="{65CE316F-C10C-4512-99BD-703F66BA8C20}" sibTransId="{DB95627E-9EA3-4BBA-9A01-4057D9E788D8}"/>
    <dgm:cxn modelId="{7364857D-F71E-4BC4-91C1-ADA392B3480A}" type="presOf" srcId="{9874D1BD-21FE-4804-A554-7B9FA493E0A4}" destId="{66414920-E622-4B8A-8692-5BFBBE13CDEB}" srcOrd="0" destOrd="0" presId="urn:microsoft.com/office/officeart/2005/8/layout/hierarchy1"/>
    <dgm:cxn modelId="{88EEED4E-6470-427F-8B0C-487503924D4A}" srcId="{69A1A501-2504-426A-9030-663AFADF0AB1}" destId="{A4E86757-42F0-4300-885C-86F1AC32B8EB}" srcOrd="0" destOrd="0" parTransId="{B3AFFD8D-10E2-4D36-9EDC-0DCD32FC3DBA}" sibTransId="{D931BE51-71BB-4914-AD13-3E5AEA039AD2}"/>
    <dgm:cxn modelId="{0CC5BEE6-5851-4BCE-8E7F-5EC324D98154}" type="presOf" srcId="{E243D837-49D0-4553-9E3B-8609DEBF17B4}" destId="{391092B3-C619-4545-B673-5A9E6E129551}" srcOrd="0" destOrd="0" presId="urn:microsoft.com/office/officeart/2005/8/layout/hierarchy1"/>
    <dgm:cxn modelId="{0E8658E4-C07E-4554-B631-C6268F069482}" type="presOf" srcId="{987F49FC-CCF8-4896-9BBF-CD82CDCE9D63}" destId="{04B75F7E-8CD9-4C71-9517-97F9DD8C1A0B}" srcOrd="0" destOrd="0" presId="urn:microsoft.com/office/officeart/2005/8/layout/hierarchy1"/>
    <dgm:cxn modelId="{DBF21DFB-FA6D-4154-8668-EE72304D8C15}" type="presOf" srcId="{9439B01B-77E4-4DD0-98BE-DC3EB4DD76E1}" destId="{2C3E726C-DB76-4241-B48D-12E128C03C69}" srcOrd="0" destOrd="0" presId="urn:microsoft.com/office/officeart/2005/8/layout/hierarchy1"/>
    <dgm:cxn modelId="{6184F7D7-E441-4C2D-B798-2319098E57A9}" type="presOf" srcId="{F10A0A75-9ECE-4732-B971-4F886AA5EB3D}" destId="{3A62F7D0-77DC-4606-A6A5-CF8BCFB720C0}" srcOrd="0" destOrd="0" presId="urn:microsoft.com/office/officeart/2005/8/layout/hierarchy1"/>
    <dgm:cxn modelId="{08ACDFF9-BA03-4BF7-8CC6-671BCDF38EE2}" srcId="{69A1A501-2504-426A-9030-663AFADF0AB1}" destId="{FF819311-BFCF-4D32-ABC2-1A01DCDC927A}" srcOrd="2" destOrd="0" parTransId="{F1F4ACB4-1A76-4F96-9A24-E49AA2697E77}" sibTransId="{AEC08800-CC3D-4B9D-A2DD-5EA4C2ABC712}"/>
    <dgm:cxn modelId="{AAB15263-64EE-452A-BE7C-18AFDF8961D0}" type="presOf" srcId="{8C7B7ED5-5CB0-4715-80DB-B89368D26CAE}" destId="{4A54AD90-CDA7-4069-A4A5-D7D7969523EB}" srcOrd="0" destOrd="0" presId="urn:microsoft.com/office/officeart/2005/8/layout/hierarchy1"/>
    <dgm:cxn modelId="{33FA87E4-9542-430C-9222-D07358605E92}" type="presOf" srcId="{89F63233-305E-44B5-A8D0-ED81C9DB7B6C}" destId="{7AE12C31-F0AB-4505-9018-7A2B65A6DF7B}" srcOrd="0" destOrd="0" presId="urn:microsoft.com/office/officeart/2005/8/layout/hierarchy1"/>
    <dgm:cxn modelId="{FD7EE2E3-D2EC-4CDC-9632-9AF8A41ADC6A}" type="presOf" srcId="{69A1A501-2504-426A-9030-663AFADF0AB1}" destId="{3562F49D-C35E-4032-BB93-6D6D6C0C9CE5}" srcOrd="0" destOrd="0" presId="urn:microsoft.com/office/officeart/2005/8/layout/hierarchy1"/>
    <dgm:cxn modelId="{97442012-2346-4F92-88E3-9BAD875BC28B}" type="presOf" srcId="{EE381C9C-73DE-4CC6-AC21-795235B2C1F6}" destId="{7FB6F8A7-82F9-443D-9C40-150A9DC92BE9}" srcOrd="0" destOrd="0" presId="urn:microsoft.com/office/officeart/2005/8/layout/hierarchy1"/>
    <dgm:cxn modelId="{56C5D70F-F075-4BA5-90BA-8F5749E5A2B3}" type="presOf" srcId="{F1F4ACB4-1A76-4F96-9A24-E49AA2697E77}" destId="{F0CCCB5A-E1E6-42A4-B940-22873C862BD3}" srcOrd="0" destOrd="0" presId="urn:microsoft.com/office/officeart/2005/8/layout/hierarchy1"/>
    <dgm:cxn modelId="{F53FB590-7DD9-4693-9125-4DD4225BFB8B}" type="presOf" srcId="{BBB89974-07EB-4EBC-B4C0-F71B525F9CD5}" destId="{87D660EC-35F8-4977-AE50-9B21CE1CB350}" srcOrd="0" destOrd="0" presId="urn:microsoft.com/office/officeart/2005/8/layout/hierarchy1"/>
    <dgm:cxn modelId="{1B0CE356-322A-4EC6-B82B-5B6796F7ABB8}" type="presOf" srcId="{0285EF58-0A79-4BA3-8E5C-D0F899FA2C49}" destId="{B503EBCA-A6CA-48B9-9E7E-12E4A109E495}" srcOrd="0" destOrd="0" presId="urn:microsoft.com/office/officeart/2005/8/layout/hierarchy1"/>
    <dgm:cxn modelId="{4550C557-5ED4-4579-9A9C-5574E35CCED9}" type="presOf" srcId="{2DDD23EB-2657-40B5-A090-86CE8966D7B1}" destId="{6FA35E34-E5F5-4437-BB52-A306E64B91BF}" srcOrd="0" destOrd="0" presId="urn:microsoft.com/office/officeart/2005/8/layout/hierarchy1"/>
    <dgm:cxn modelId="{B2B92698-D941-4B21-8E5E-D3ADD575525F}" type="presParOf" srcId="{F14D6263-A9AD-48D8-996A-20332A5B12E3}" destId="{C935B864-8751-413D-851B-46245F666BFF}" srcOrd="0" destOrd="0" presId="urn:microsoft.com/office/officeart/2005/8/layout/hierarchy1"/>
    <dgm:cxn modelId="{E289CC6D-D9B6-4FA8-9384-F33ECD26E878}" type="presParOf" srcId="{C935B864-8751-413D-851B-46245F666BFF}" destId="{17CDC162-9735-486A-84DD-44F697112E4D}" srcOrd="0" destOrd="0" presId="urn:microsoft.com/office/officeart/2005/8/layout/hierarchy1"/>
    <dgm:cxn modelId="{47D946C1-95D3-404A-80E0-3C2FF667A365}" type="presParOf" srcId="{17CDC162-9735-486A-84DD-44F697112E4D}" destId="{2CDFABF2-B6BF-4A49-87F4-53B94C600204}" srcOrd="0" destOrd="0" presId="urn:microsoft.com/office/officeart/2005/8/layout/hierarchy1"/>
    <dgm:cxn modelId="{39434719-3152-43AF-8925-E28E917B5316}" type="presParOf" srcId="{17CDC162-9735-486A-84DD-44F697112E4D}" destId="{04B75F7E-8CD9-4C71-9517-97F9DD8C1A0B}" srcOrd="1" destOrd="0" presId="urn:microsoft.com/office/officeart/2005/8/layout/hierarchy1"/>
    <dgm:cxn modelId="{40F8E566-A9D5-4BEA-ACCF-04A0A756E129}" type="presParOf" srcId="{C935B864-8751-413D-851B-46245F666BFF}" destId="{7BCAA6D8-90D7-4CE6-99DC-187011CD6780}" srcOrd="1" destOrd="0" presId="urn:microsoft.com/office/officeart/2005/8/layout/hierarchy1"/>
    <dgm:cxn modelId="{7069884E-E7A1-4150-8462-044052A163C6}" type="presParOf" srcId="{7BCAA6D8-90D7-4CE6-99DC-187011CD6780}" destId="{7FB6F8A7-82F9-443D-9C40-150A9DC92BE9}" srcOrd="0" destOrd="0" presId="urn:microsoft.com/office/officeart/2005/8/layout/hierarchy1"/>
    <dgm:cxn modelId="{DC6C0600-EFA6-4A53-A11F-4582AC8B17C2}" type="presParOf" srcId="{7BCAA6D8-90D7-4CE6-99DC-187011CD6780}" destId="{D3593918-CBC3-4D79-8E00-BA2E4045955B}" srcOrd="1" destOrd="0" presId="urn:microsoft.com/office/officeart/2005/8/layout/hierarchy1"/>
    <dgm:cxn modelId="{8EE801AF-6EAA-4B33-9F06-AA9BDD8DCA4A}" type="presParOf" srcId="{D3593918-CBC3-4D79-8E00-BA2E4045955B}" destId="{BB47BFA9-ED21-4906-9241-14B23B8A447F}" srcOrd="0" destOrd="0" presId="urn:microsoft.com/office/officeart/2005/8/layout/hierarchy1"/>
    <dgm:cxn modelId="{1493A27E-E58E-47AE-A1B4-451ED92CECFD}" type="presParOf" srcId="{BB47BFA9-ED21-4906-9241-14B23B8A447F}" destId="{A70AD096-3502-4BF1-B8F7-763618842A28}" srcOrd="0" destOrd="0" presId="urn:microsoft.com/office/officeart/2005/8/layout/hierarchy1"/>
    <dgm:cxn modelId="{D0A791F7-3F23-4CBF-B114-B67B21EFF308}" type="presParOf" srcId="{BB47BFA9-ED21-4906-9241-14B23B8A447F}" destId="{3562F49D-C35E-4032-BB93-6D6D6C0C9CE5}" srcOrd="1" destOrd="0" presId="urn:microsoft.com/office/officeart/2005/8/layout/hierarchy1"/>
    <dgm:cxn modelId="{83281E97-2201-4689-907D-D5857B9FEB05}" type="presParOf" srcId="{D3593918-CBC3-4D79-8E00-BA2E4045955B}" destId="{05923E7C-2FB9-4631-B94D-C9D87D2359B5}" srcOrd="1" destOrd="0" presId="urn:microsoft.com/office/officeart/2005/8/layout/hierarchy1"/>
    <dgm:cxn modelId="{75083CD5-713D-44BD-A01C-D61CDB3D5092}" type="presParOf" srcId="{05923E7C-2FB9-4631-B94D-C9D87D2359B5}" destId="{C6B07108-8BBF-4A14-A5DA-3A6F1C7229ED}" srcOrd="0" destOrd="0" presId="urn:microsoft.com/office/officeart/2005/8/layout/hierarchy1"/>
    <dgm:cxn modelId="{56BFEF35-1FA6-4DC1-B2F6-DF98A9C90406}" type="presParOf" srcId="{05923E7C-2FB9-4631-B94D-C9D87D2359B5}" destId="{433A5ECA-4B77-4051-86C6-122953D60B89}" srcOrd="1" destOrd="0" presId="urn:microsoft.com/office/officeart/2005/8/layout/hierarchy1"/>
    <dgm:cxn modelId="{71B7FA9D-CD38-4E48-A988-147A1EF6D5CA}" type="presParOf" srcId="{433A5ECA-4B77-4051-86C6-122953D60B89}" destId="{C453922B-8331-4883-A6A7-BAF5AB4756F5}" srcOrd="0" destOrd="0" presId="urn:microsoft.com/office/officeart/2005/8/layout/hierarchy1"/>
    <dgm:cxn modelId="{24772903-4127-46BF-9163-E503ACEFA62F}" type="presParOf" srcId="{C453922B-8331-4883-A6A7-BAF5AB4756F5}" destId="{2652B3BB-97C0-4BA5-876F-01B141158055}" srcOrd="0" destOrd="0" presId="urn:microsoft.com/office/officeart/2005/8/layout/hierarchy1"/>
    <dgm:cxn modelId="{711B27DC-C868-41FA-8252-65F700A21528}" type="presParOf" srcId="{C453922B-8331-4883-A6A7-BAF5AB4756F5}" destId="{D484BD82-3FB6-46A5-9444-D042150DF204}" srcOrd="1" destOrd="0" presId="urn:microsoft.com/office/officeart/2005/8/layout/hierarchy1"/>
    <dgm:cxn modelId="{62BCA954-7057-4AA8-A57A-C6D8302BCC56}" type="presParOf" srcId="{433A5ECA-4B77-4051-86C6-122953D60B89}" destId="{B756DEE6-3AC3-4DAA-94F4-7A611529E379}" srcOrd="1" destOrd="0" presId="urn:microsoft.com/office/officeart/2005/8/layout/hierarchy1"/>
    <dgm:cxn modelId="{5BBA7D2F-48F7-4652-80F9-A2D0D27DDBAD}" type="presParOf" srcId="{05923E7C-2FB9-4631-B94D-C9D87D2359B5}" destId="{4A54AD90-CDA7-4069-A4A5-D7D7969523EB}" srcOrd="2" destOrd="0" presId="urn:microsoft.com/office/officeart/2005/8/layout/hierarchy1"/>
    <dgm:cxn modelId="{10BDB961-C54C-4391-B87A-762A25998B6A}" type="presParOf" srcId="{05923E7C-2FB9-4631-B94D-C9D87D2359B5}" destId="{13BFB456-9CA4-4ED6-B2AA-42211D25C498}" srcOrd="3" destOrd="0" presId="urn:microsoft.com/office/officeart/2005/8/layout/hierarchy1"/>
    <dgm:cxn modelId="{84DA4C3B-89D6-46B9-85C4-200CC8FA8D21}" type="presParOf" srcId="{13BFB456-9CA4-4ED6-B2AA-42211D25C498}" destId="{C1AB8D61-4CAE-4A74-9A6F-B210F70A1175}" srcOrd="0" destOrd="0" presId="urn:microsoft.com/office/officeart/2005/8/layout/hierarchy1"/>
    <dgm:cxn modelId="{A2AFAC6D-85D0-49BC-A6F4-68783E3687E2}" type="presParOf" srcId="{C1AB8D61-4CAE-4A74-9A6F-B210F70A1175}" destId="{B88EBABB-2350-4839-A7E0-46317E8FA5B2}" srcOrd="0" destOrd="0" presId="urn:microsoft.com/office/officeart/2005/8/layout/hierarchy1"/>
    <dgm:cxn modelId="{E6742D87-9511-439E-A317-EAB88D4000D4}" type="presParOf" srcId="{C1AB8D61-4CAE-4A74-9A6F-B210F70A1175}" destId="{B503EBCA-A6CA-48B9-9E7E-12E4A109E495}" srcOrd="1" destOrd="0" presId="urn:microsoft.com/office/officeart/2005/8/layout/hierarchy1"/>
    <dgm:cxn modelId="{B9B18BBF-5F0F-475E-A7AD-04E639447376}" type="presParOf" srcId="{13BFB456-9CA4-4ED6-B2AA-42211D25C498}" destId="{365B2357-84FD-4BF5-8EAC-8C66D5D55089}" srcOrd="1" destOrd="0" presId="urn:microsoft.com/office/officeart/2005/8/layout/hierarchy1"/>
    <dgm:cxn modelId="{D44992ED-C4AA-47DD-BE6E-91776A77B8B1}" type="presParOf" srcId="{05923E7C-2FB9-4631-B94D-C9D87D2359B5}" destId="{F0CCCB5A-E1E6-42A4-B940-22873C862BD3}" srcOrd="4" destOrd="0" presId="urn:microsoft.com/office/officeart/2005/8/layout/hierarchy1"/>
    <dgm:cxn modelId="{E9A89660-E08F-4BCF-8C26-58D3743C0FBC}" type="presParOf" srcId="{05923E7C-2FB9-4631-B94D-C9D87D2359B5}" destId="{D1D8159A-6F21-4894-9F6D-B1E0A02ED742}" srcOrd="5" destOrd="0" presId="urn:microsoft.com/office/officeart/2005/8/layout/hierarchy1"/>
    <dgm:cxn modelId="{CD67CE3A-E98D-408A-8F98-0A966D3846C3}" type="presParOf" srcId="{D1D8159A-6F21-4894-9F6D-B1E0A02ED742}" destId="{28A7CAD3-6E93-458A-B513-762D9FA9915C}" srcOrd="0" destOrd="0" presId="urn:microsoft.com/office/officeart/2005/8/layout/hierarchy1"/>
    <dgm:cxn modelId="{A7C78331-4FD6-43F4-97BC-7F71F43A5C91}" type="presParOf" srcId="{28A7CAD3-6E93-458A-B513-762D9FA9915C}" destId="{FF4168AB-F101-4D7F-9696-53381D5C4025}" srcOrd="0" destOrd="0" presId="urn:microsoft.com/office/officeart/2005/8/layout/hierarchy1"/>
    <dgm:cxn modelId="{9CFBBD13-C788-4035-9E9C-14FB20B852BD}" type="presParOf" srcId="{28A7CAD3-6E93-458A-B513-762D9FA9915C}" destId="{5352BF14-E10A-4993-9ED9-CE97F8EB4D9E}" srcOrd="1" destOrd="0" presId="urn:microsoft.com/office/officeart/2005/8/layout/hierarchy1"/>
    <dgm:cxn modelId="{A30D8CCA-6F3B-45D3-9EEC-7D046938A127}" type="presParOf" srcId="{D1D8159A-6F21-4894-9F6D-B1E0A02ED742}" destId="{FA054AF9-8DC2-475F-B0F9-B1418E6769B3}" srcOrd="1" destOrd="0" presId="urn:microsoft.com/office/officeart/2005/8/layout/hierarchy1"/>
    <dgm:cxn modelId="{46D08A97-9E96-40BE-9819-D615EFFEC2C8}" type="presParOf" srcId="{05923E7C-2FB9-4631-B94D-C9D87D2359B5}" destId="{7A01757A-678B-4773-B70D-4975CD62DADC}" srcOrd="6" destOrd="0" presId="urn:microsoft.com/office/officeart/2005/8/layout/hierarchy1"/>
    <dgm:cxn modelId="{A609885B-4B25-4DA9-8177-8A5B961B3BBE}" type="presParOf" srcId="{05923E7C-2FB9-4631-B94D-C9D87D2359B5}" destId="{1FB81A4F-5481-45A1-AAEC-680E958CD43A}" srcOrd="7" destOrd="0" presId="urn:microsoft.com/office/officeart/2005/8/layout/hierarchy1"/>
    <dgm:cxn modelId="{99968B48-7CD7-4981-AFFD-1552FA648934}" type="presParOf" srcId="{1FB81A4F-5481-45A1-AAEC-680E958CD43A}" destId="{CBFF3DAA-6DC2-49EC-83FE-AA765C251FA6}" srcOrd="0" destOrd="0" presId="urn:microsoft.com/office/officeart/2005/8/layout/hierarchy1"/>
    <dgm:cxn modelId="{5B6ECC38-B4CD-47C9-AC0B-9E657379E8A3}" type="presParOf" srcId="{CBFF3DAA-6DC2-49EC-83FE-AA765C251FA6}" destId="{30E74011-A69F-4E56-8B3A-022C0C86D3B8}" srcOrd="0" destOrd="0" presId="urn:microsoft.com/office/officeart/2005/8/layout/hierarchy1"/>
    <dgm:cxn modelId="{D601A34E-9F8A-4A5D-A327-C4B4D00ADB60}" type="presParOf" srcId="{CBFF3DAA-6DC2-49EC-83FE-AA765C251FA6}" destId="{87D660EC-35F8-4977-AE50-9B21CE1CB350}" srcOrd="1" destOrd="0" presId="urn:microsoft.com/office/officeart/2005/8/layout/hierarchy1"/>
    <dgm:cxn modelId="{CB164736-A1E3-4F3B-A3B8-8FA3CCEE154E}" type="presParOf" srcId="{1FB81A4F-5481-45A1-AAEC-680E958CD43A}" destId="{31BAC67E-BCEC-4CC8-953E-A7140D1B93EE}" srcOrd="1" destOrd="0" presId="urn:microsoft.com/office/officeart/2005/8/layout/hierarchy1"/>
    <dgm:cxn modelId="{E803ABFE-D5F9-4C9C-AB62-662D653E2116}" type="presParOf" srcId="{31BAC67E-BCEC-4CC8-953E-A7140D1B93EE}" destId="{2C3E726C-DB76-4241-B48D-12E128C03C69}" srcOrd="0" destOrd="0" presId="urn:microsoft.com/office/officeart/2005/8/layout/hierarchy1"/>
    <dgm:cxn modelId="{3CF0F4CF-061F-43F7-B14F-7AF603EC3B71}" type="presParOf" srcId="{31BAC67E-BCEC-4CC8-953E-A7140D1B93EE}" destId="{0543D13D-8CDF-4655-83A2-2A7BD1E6249D}" srcOrd="1" destOrd="0" presId="urn:microsoft.com/office/officeart/2005/8/layout/hierarchy1"/>
    <dgm:cxn modelId="{F0616B32-B7E9-44DF-8EF9-0C92FCD07099}" type="presParOf" srcId="{0543D13D-8CDF-4655-83A2-2A7BD1E6249D}" destId="{3DD66CA3-D063-432B-B977-ED059C5AEAF2}" srcOrd="0" destOrd="0" presId="urn:microsoft.com/office/officeart/2005/8/layout/hierarchy1"/>
    <dgm:cxn modelId="{D83E83C0-AEB7-43E3-B9C9-716695B9B9D0}" type="presParOf" srcId="{3DD66CA3-D063-432B-B977-ED059C5AEAF2}" destId="{719F2E30-76A1-4BC1-AB32-B6E72911AF0A}" srcOrd="0" destOrd="0" presId="urn:microsoft.com/office/officeart/2005/8/layout/hierarchy1"/>
    <dgm:cxn modelId="{C3891523-724D-47D0-BBD1-430098A3E0C3}" type="presParOf" srcId="{3DD66CA3-D063-432B-B977-ED059C5AEAF2}" destId="{391092B3-C619-4545-B673-5A9E6E129551}" srcOrd="1" destOrd="0" presId="urn:microsoft.com/office/officeart/2005/8/layout/hierarchy1"/>
    <dgm:cxn modelId="{6A6A359A-05DB-4E64-8C27-523C9FA2C5EA}" type="presParOf" srcId="{0543D13D-8CDF-4655-83A2-2A7BD1E6249D}" destId="{ACE9DA9F-2F22-4718-8BAB-2E8FEAE1EF3F}" srcOrd="1" destOrd="0" presId="urn:microsoft.com/office/officeart/2005/8/layout/hierarchy1"/>
    <dgm:cxn modelId="{331CBCEB-8924-4176-93ED-86757F3FD1D9}" type="presParOf" srcId="{ACE9DA9F-2F22-4718-8BAB-2E8FEAE1EF3F}" destId="{ED783225-717C-4A24-A470-9253EB0B6F75}" srcOrd="0" destOrd="0" presId="urn:microsoft.com/office/officeart/2005/8/layout/hierarchy1"/>
    <dgm:cxn modelId="{82355DFA-363E-46F6-BF93-1DEC5DBB55F9}" type="presParOf" srcId="{ACE9DA9F-2F22-4718-8BAB-2E8FEAE1EF3F}" destId="{C5D058CF-26D1-4F00-A42C-81DE12156F52}" srcOrd="1" destOrd="0" presId="urn:microsoft.com/office/officeart/2005/8/layout/hierarchy1"/>
    <dgm:cxn modelId="{F799B3A5-1BB5-42FF-A274-2578BB069A1F}" type="presParOf" srcId="{C5D058CF-26D1-4F00-A42C-81DE12156F52}" destId="{B67AEBF0-C87A-4D10-924E-6CBDA43636CB}" srcOrd="0" destOrd="0" presId="urn:microsoft.com/office/officeart/2005/8/layout/hierarchy1"/>
    <dgm:cxn modelId="{366FA2E7-55D4-4D19-995B-AEBE21E4C25D}" type="presParOf" srcId="{B67AEBF0-C87A-4D10-924E-6CBDA43636CB}" destId="{F181EDE4-BE1C-41A1-8CD9-4B8451B7CDB4}" srcOrd="0" destOrd="0" presId="urn:microsoft.com/office/officeart/2005/8/layout/hierarchy1"/>
    <dgm:cxn modelId="{AF64FB08-F4F1-4184-BA6A-0A8C5344F652}" type="presParOf" srcId="{B67AEBF0-C87A-4D10-924E-6CBDA43636CB}" destId="{6FA35E34-E5F5-4437-BB52-A306E64B91BF}" srcOrd="1" destOrd="0" presId="urn:microsoft.com/office/officeart/2005/8/layout/hierarchy1"/>
    <dgm:cxn modelId="{17E45F26-8431-4A14-AF11-F6A018876CC4}" type="presParOf" srcId="{C5D058CF-26D1-4F00-A42C-81DE12156F52}" destId="{0BC30B5F-7D38-405D-A0DD-592B7FB388AA}" srcOrd="1" destOrd="0" presId="urn:microsoft.com/office/officeart/2005/8/layout/hierarchy1"/>
    <dgm:cxn modelId="{6215EF53-493F-43FE-BF81-A2B3DCF1F0F3}" type="presParOf" srcId="{ACE9DA9F-2F22-4718-8BAB-2E8FEAE1EF3F}" destId="{3A62F7D0-77DC-4606-A6A5-CF8BCFB720C0}" srcOrd="2" destOrd="0" presId="urn:microsoft.com/office/officeart/2005/8/layout/hierarchy1"/>
    <dgm:cxn modelId="{19B7C867-15AB-469E-A438-054F924DB747}" type="presParOf" srcId="{ACE9DA9F-2F22-4718-8BAB-2E8FEAE1EF3F}" destId="{73DD2B55-D718-4FB0-9B7F-501B580D84DD}" srcOrd="3" destOrd="0" presId="urn:microsoft.com/office/officeart/2005/8/layout/hierarchy1"/>
    <dgm:cxn modelId="{82D0E568-D613-4B9E-B1BA-57949FA13557}" type="presParOf" srcId="{73DD2B55-D718-4FB0-9B7F-501B580D84DD}" destId="{8D81B2E6-DF0F-4AC5-BA64-64EF58F106AF}" srcOrd="0" destOrd="0" presId="urn:microsoft.com/office/officeart/2005/8/layout/hierarchy1"/>
    <dgm:cxn modelId="{C5AD9445-D5A2-4DE9-83BB-82C85B0486A6}" type="presParOf" srcId="{8D81B2E6-DF0F-4AC5-BA64-64EF58F106AF}" destId="{DF552252-2C6D-4E8C-B6B4-7B1D8020A003}" srcOrd="0" destOrd="0" presId="urn:microsoft.com/office/officeart/2005/8/layout/hierarchy1"/>
    <dgm:cxn modelId="{48CDFBD9-099B-4A09-BEA3-66C3A601DCE7}" type="presParOf" srcId="{8D81B2E6-DF0F-4AC5-BA64-64EF58F106AF}" destId="{66414920-E622-4B8A-8692-5BFBBE13CDEB}" srcOrd="1" destOrd="0" presId="urn:microsoft.com/office/officeart/2005/8/layout/hierarchy1"/>
    <dgm:cxn modelId="{C76C1D3F-8FA0-4C00-BFD5-7C81CB5B5CA0}" type="presParOf" srcId="{73DD2B55-D718-4FB0-9B7F-501B580D84DD}" destId="{126FEDD8-BD1F-44E2-8E2D-1C90515975C8}" srcOrd="1" destOrd="0" presId="urn:microsoft.com/office/officeart/2005/8/layout/hierarchy1"/>
    <dgm:cxn modelId="{57284A3B-BCEA-4A65-B237-C5C6D73F3D6D}" type="presParOf" srcId="{ACE9DA9F-2F22-4718-8BAB-2E8FEAE1EF3F}" destId="{7AE12C31-F0AB-4505-9018-7A2B65A6DF7B}" srcOrd="4" destOrd="0" presId="urn:microsoft.com/office/officeart/2005/8/layout/hierarchy1"/>
    <dgm:cxn modelId="{B11DB38D-2933-42A7-BE61-5C4E3F91A4ED}" type="presParOf" srcId="{ACE9DA9F-2F22-4718-8BAB-2E8FEAE1EF3F}" destId="{C5FBB921-8235-4EEF-84F4-5593075C7766}" srcOrd="5" destOrd="0" presId="urn:microsoft.com/office/officeart/2005/8/layout/hierarchy1"/>
    <dgm:cxn modelId="{ABF43A6E-BCB2-4EC7-B921-D068EBE9EE24}" type="presParOf" srcId="{C5FBB921-8235-4EEF-84F4-5593075C7766}" destId="{B2C49F3E-BC4B-49FB-B060-BFD0771A0DE4}" srcOrd="0" destOrd="0" presId="urn:microsoft.com/office/officeart/2005/8/layout/hierarchy1"/>
    <dgm:cxn modelId="{56DEDD65-687D-4266-BFB6-C872A2A4F4EE}" type="presParOf" srcId="{B2C49F3E-BC4B-49FB-B060-BFD0771A0DE4}" destId="{9BD76A33-3D68-41E3-BE74-31E2A4908C84}" srcOrd="0" destOrd="0" presId="urn:microsoft.com/office/officeart/2005/8/layout/hierarchy1"/>
    <dgm:cxn modelId="{EBE4BD8B-7F50-4413-ADD6-1A8870C0A1E9}" type="presParOf" srcId="{B2C49F3E-BC4B-49FB-B060-BFD0771A0DE4}" destId="{5DB72956-7EFA-4F6A-B4C2-9DE5C24FAA19}" srcOrd="1" destOrd="0" presId="urn:microsoft.com/office/officeart/2005/8/layout/hierarchy1"/>
    <dgm:cxn modelId="{B71813E6-7653-474F-A026-E535BFD6F6EC}" type="presParOf" srcId="{C5FBB921-8235-4EEF-84F4-5593075C7766}" destId="{47470A50-6993-4EF8-A9AE-4794AA9BD3D2}"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BE8426E-C95A-4296-9F8A-7263F8F33140}"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s-ES"/>
        </a:p>
      </dgm:t>
    </dgm:pt>
    <dgm:pt modelId="{5FA6AEAE-E02E-4B72-AF09-91DEDC11F412}">
      <dgm:prSet phldrT="[Texto]"/>
      <dgm:spPr/>
      <dgm:t>
        <a:bodyPr/>
        <a:lstStyle/>
        <a:p>
          <a:r>
            <a:rPr lang="es-ES" dirty="0" err="1" smtClean="0"/>
            <a:t>MS:Usuarios</a:t>
          </a:r>
          <a:endParaRPr lang="es-ES" dirty="0"/>
        </a:p>
      </dgm:t>
    </dgm:pt>
    <dgm:pt modelId="{E36D924B-EF3A-4454-AD1D-9E33DBCF4E81}" type="parTrans" cxnId="{C65FD853-F8E7-4ECE-9CE8-422136BDB742}">
      <dgm:prSet/>
      <dgm:spPr/>
      <dgm:t>
        <a:bodyPr/>
        <a:lstStyle/>
        <a:p>
          <a:endParaRPr lang="es-ES"/>
        </a:p>
      </dgm:t>
    </dgm:pt>
    <dgm:pt modelId="{6737D46E-3BB5-4A62-8AF2-792C5D74E3D5}" type="sibTrans" cxnId="{C65FD853-F8E7-4ECE-9CE8-422136BDB742}">
      <dgm:prSet/>
      <dgm:spPr/>
      <dgm:t>
        <a:bodyPr/>
        <a:lstStyle/>
        <a:p>
          <a:endParaRPr lang="es-ES"/>
        </a:p>
      </dgm:t>
    </dgm:pt>
    <dgm:pt modelId="{EC9A0461-DB53-4745-B7BF-B5EAFE7D3BAC}">
      <dgm:prSet phldrT="[Texto]" custT="1"/>
      <dgm:spPr/>
      <dgm:t>
        <a:bodyPr/>
        <a:lstStyle/>
        <a:p>
          <a:r>
            <a:rPr lang="es-ES" sz="2400" dirty="0" smtClean="0"/>
            <a:t>Capa Presentación</a:t>
          </a:r>
          <a:endParaRPr lang="es-ES" sz="2400" dirty="0"/>
        </a:p>
      </dgm:t>
    </dgm:pt>
    <dgm:pt modelId="{1084B4CE-FC00-4999-B782-A70986F314B4}" type="parTrans" cxnId="{0C04727A-A31C-4EF4-AC7A-7AB6CB6C986F}">
      <dgm:prSet/>
      <dgm:spPr/>
      <dgm:t>
        <a:bodyPr/>
        <a:lstStyle/>
        <a:p>
          <a:endParaRPr lang="es-ES"/>
        </a:p>
      </dgm:t>
    </dgm:pt>
    <dgm:pt modelId="{1D6B18F5-D33D-431C-A508-C28AA24DFE2B}" type="sibTrans" cxnId="{0C04727A-A31C-4EF4-AC7A-7AB6CB6C986F}">
      <dgm:prSet/>
      <dgm:spPr/>
      <dgm:t>
        <a:bodyPr/>
        <a:lstStyle/>
        <a:p>
          <a:endParaRPr lang="es-ES"/>
        </a:p>
      </dgm:t>
    </dgm:pt>
    <dgm:pt modelId="{81E1121A-6874-43F3-8FA9-69DB4CCD6D2A}">
      <dgm:prSet phldrT="[Texto]" custT="1"/>
      <dgm:spPr/>
      <dgm:t>
        <a:bodyPr/>
        <a:lstStyle/>
        <a:p>
          <a:r>
            <a:rPr lang="es-ES" sz="2400" dirty="0" smtClean="0"/>
            <a:t>Lógica Negocio</a:t>
          </a:r>
        </a:p>
      </dgm:t>
    </dgm:pt>
    <dgm:pt modelId="{42AF73AD-0397-4105-99DD-97323B5B4D1A}" type="parTrans" cxnId="{3326C058-2CA7-4DD1-80A3-DDD4CFC27DFE}">
      <dgm:prSet/>
      <dgm:spPr/>
      <dgm:t>
        <a:bodyPr/>
        <a:lstStyle/>
        <a:p>
          <a:endParaRPr lang="es-ES"/>
        </a:p>
      </dgm:t>
    </dgm:pt>
    <dgm:pt modelId="{F1EC8D0E-8142-4BC9-BACC-161E20107CA3}" type="sibTrans" cxnId="{3326C058-2CA7-4DD1-80A3-DDD4CFC27DFE}">
      <dgm:prSet/>
      <dgm:spPr/>
      <dgm:t>
        <a:bodyPr/>
        <a:lstStyle/>
        <a:p>
          <a:endParaRPr lang="es-ES"/>
        </a:p>
      </dgm:t>
    </dgm:pt>
    <dgm:pt modelId="{2775865B-A6E9-460A-919D-86BBB1FF12E0}">
      <dgm:prSet phldrT="[Texto]" custT="1"/>
      <dgm:spPr>
        <a:solidFill>
          <a:schemeClr val="tx1">
            <a:lumMod val="50000"/>
            <a:lumOff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s-ES" sz="2400" dirty="0" smtClean="0"/>
            <a:t>BD </a:t>
          </a:r>
        </a:p>
        <a:p>
          <a:endParaRPr lang="es-ES" sz="2400" dirty="0"/>
        </a:p>
      </dgm:t>
    </dgm:pt>
    <dgm:pt modelId="{80E514A9-2B20-49EB-B3C9-ACC948B725EE}" type="parTrans" cxnId="{64E1F97D-B09D-4FEF-BF94-17AFF42B1739}">
      <dgm:prSet/>
      <dgm:spPr/>
      <dgm:t>
        <a:bodyPr/>
        <a:lstStyle/>
        <a:p>
          <a:endParaRPr lang="es-ES"/>
        </a:p>
      </dgm:t>
    </dgm:pt>
    <dgm:pt modelId="{3A664D74-5038-41FE-9D33-2CA10D534B2F}" type="sibTrans" cxnId="{64E1F97D-B09D-4FEF-BF94-17AFF42B1739}">
      <dgm:prSet/>
      <dgm:spPr/>
      <dgm:t>
        <a:bodyPr/>
        <a:lstStyle/>
        <a:p>
          <a:endParaRPr lang="es-ES"/>
        </a:p>
      </dgm:t>
    </dgm:pt>
    <dgm:pt modelId="{FD86820B-30FE-4E67-8337-D6C660B95952}">
      <dgm:prSet phldrT="[Texto]" custT="1"/>
      <dgm:spPr/>
      <dgm:t>
        <a:bodyPr/>
        <a:lstStyle/>
        <a:p>
          <a:r>
            <a:rPr lang="es-ES" sz="2400" dirty="0" smtClean="0"/>
            <a:t>Acceso a Datos</a:t>
          </a:r>
        </a:p>
        <a:p>
          <a:endParaRPr lang="es-ES" sz="2400" dirty="0"/>
        </a:p>
      </dgm:t>
    </dgm:pt>
    <dgm:pt modelId="{8182F093-9B5C-404D-8729-387E238C7FF7}" type="parTrans" cxnId="{44C02EE7-11B3-4A40-B302-1DAC3165BE8D}">
      <dgm:prSet/>
      <dgm:spPr/>
      <dgm:t>
        <a:bodyPr/>
        <a:lstStyle/>
        <a:p>
          <a:endParaRPr lang="es-ES"/>
        </a:p>
      </dgm:t>
    </dgm:pt>
    <dgm:pt modelId="{A55F0834-3247-440B-819F-69E1AC9226E6}" type="sibTrans" cxnId="{44C02EE7-11B3-4A40-B302-1DAC3165BE8D}">
      <dgm:prSet/>
      <dgm:spPr/>
      <dgm:t>
        <a:bodyPr/>
        <a:lstStyle/>
        <a:p>
          <a:endParaRPr lang="es-ES"/>
        </a:p>
      </dgm:t>
    </dgm:pt>
    <dgm:pt modelId="{654217E9-F292-4A59-8FE1-5BD253DB547C}" type="pres">
      <dgm:prSet presAssocID="{EBE8426E-C95A-4296-9F8A-7263F8F33140}" presName="theList" presStyleCnt="0">
        <dgm:presLayoutVars>
          <dgm:dir/>
          <dgm:animLvl val="lvl"/>
          <dgm:resizeHandles val="exact"/>
        </dgm:presLayoutVars>
      </dgm:prSet>
      <dgm:spPr/>
      <dgm:t>
        <a:bodyPr/>
        <a:lstStyle/>
        <a:p>
          <a:endParaRPr lang="es-ES"/>
        </a:p>
      </dgm:t>
    </dgm:pt>
    <dgm:pt modelId="{AA0D0498-1210-45CC-BEAF-F5439C86C45E}" type="pres">
      <dgm:prSet presAssocID="{5FA6AEAE-E02E-4B72-AF09-91DEDC11F412}" presName="compNode" presStyleCnt="0"/>
      <dgm:spPr/>
    </dgm:pt>
    <dgm:pt modelId="{EA2CFBEA-86E9-4101-AD73-9B419BEAF63E}" type="pres">
      <dgm:prSet presAssocID="{5FA6AEAE-E02E-4B72-AF09-91DEDC11F412}" presName="aNode" presStyleLbl="bgShp" presStyleIdx="0" presStyleCnt="1" custLinFactNeighborX="48437" custLinFactNeighborY="-4268"/>
      <dgm:spPr/>
      <dgm:t>
        <a:bodyPr/>
        <a:lstStyle/>
        <a:p>
          <a:endParaRPr lang="es-ES"/>
        </a:p>
      </dgm:t>
    </dgm:pt>
    <dgm:pt modelId="{C0DD0503-057F-49BC-A456-266FABD33175}" type="pres">
      <dgm:prSet presAssocID="{5FA6AEAE-E02E-4B72-AF09-91DEDC11F412}" presName="textNode" presStyleLbl="bgShp" presStyleIdx="0" presStyleCnt="1"/>
      <dgm:spPr/>
      <dgm:t>
        <a:bodyPr/>
        <a:lstStyle/>
        <a:p>
          <a:endParaRPr lang="es-ES"/>
        </a:p>
      </dgm:t>
    </dgm:pt>
    <dgm:pt modelId="{73D9414C-E204-4AC8-AFD9-DE804DB44810}" type="pres">
      <dgm:prSet presAssocID="{5FA6AEAE-E02E-4B72-AF09-91DEDC11F412}" presName="compChildNode" presStyleCnt="0"/>
      <dgm:spPr/>
    </dgm:pt>
    <dgm:pt modelId="{D88A2C2F-161B-4060-B78D-93C1D479C7A5}" type="pres">
      <dgm:prSet presAssocID="{5FA6AEAE-E02E-4B72-AF09-91DEDC11F412}" presName="theInnerList" presStyleCnt="0"/>
      <dgm:spPr/>
    </dgm:pt>
    <dgm:pt modelId="{11400663-E466-4552-B520-6FF0ED3A82C9}" type="pres">
      <dgm:prSet presAssocID="{EC9A0461-DB53-4745-B7BF-B5EAFE7D3BAC}" presName="childNode" presStyleLbl="node1" presStyleIdx="0" presStyleCnt="4" custScaleX="97176" custScaleY="48917">
        <dgm:presLayoutVars>
          <dgm:bulletEnabled val="1"/>
        </dgm:presLayoutVars>
      </dgm:prSet>
      <dgm:spPr/>
      <dgm:t>
        <a:bodyPr/>
        <a:lstStyle/>
        <a:p>
          <a:endParaRPr lang="es-ES"/>
        </a:p>
      </dgm:t>
    </dgm:pt>
    <dgm:pt modelId="{DA8C5AAF-A8AD-4A8D-94D3-B475383295A8}" type="pres">
      <dgm:prSet presAssocID="{EC9A0461-DB53-4745-B7BF-B5EAFE7D3BAC}" presName="aSpace2" presStyleCnt="0"/>
      <dgm:spPr/>
    </dgm:pt>
    <dgm:pt modelId="{9B3637CB-EE71-4817-87BE-1045C2F43CBF}" type="pres">
      <dgm:prSet presAssocID="{81E1121A-6874-43F3-8FA9-69DB4CCD6D2A}" presName="childNode" presStyleLbl="node1" presStyleIdx="1" presStyleCnt="4" custScaleX="97176" custScaleY="73029">
        <dgm:presLayoutVars>
          <dgm:bulletEnabled val="1"/>
        </dgm:presLayoutVars>
      </dgm:prSet>
      <dgm:spPr/>
      <dgm:t>
        <a:bodyPr/>
        <a:lstStyle/>
        <a:p>
          <a:endParaRPr lang="es-ES"/>
        </a:p>
      </dgm:t>
    </dgm:pt>
    <dgm:pt modelId="{8552E2E3-8735-4121-9B1B-3B0F5B606AF1}" type="pres">
      <dgm:prSet presAssocID="{81E1121A-6874-43F3-8FA9-69DB4CCD6D2A}" presName="aSpace2" presStyleCnt="0"/>
      <dgm:spPr/>
    </dgm:pt>
    <dgm:pt modelId="{23180900-594A-460B-9107-A847655808CF}" type="pres">
      <dgm:prSet presAssocID="{FD86820B-30FE-4E67-8337-D6C660B95952}" presName="childNode" presStyleLbl="node1" presStyleIdx="2" presStyleCnt="4" custScaleY="79941">
        <dgm:presLayoutVars>
          <dgm:bulletEnabled val="1"/>
        </dgm:presLayoutVars>
      </dgm:prSet>
      <dgm:spPr/>
      <dgm:t>
        <a:bodyPr/>
        <a:lstStyle/>
        <a:p>
          <a:endParaRPr lang="es-ES"/>
        </a:p>
      </dgm:t>
    </dgm:pt>
    <dgm:pt modelId="{5F096FED-DC7D-4FED-9D98-2C7EB81D3264}" type="pres">
      <dgm:prSet presAssocID="{FD86820B-30FE-4E67-8337-D6C660B95952}" presName="aSpace2" presStyleCnt="0"/>
      <dgm:spPr/>
    </dgm:pt>
    <dgm:pt modelId="{6B5A128E-7BC5-4F07-B695-9D97F02BF162}" type="pres">
      <dgm:prSet presAssocID="{2775865B-A6E9-460A-919D-86BBB1FF12E0}" presName="childNode" presStyleLbl="node1" presStyleIdx="3" presStyleCnt="4" custScaleX="24978" custScaleY="110851">
        <dgm:presLayoutVars>
          <dgm:bulletEnabled val="1"/>
        </dgm:presLayoutVars>
      </dgm:prSet>
      <dgm:spPr/>
      <dgm:t>
        <a:bodyPr/>
        <a:lstStyle/>
        <a:p>
          <a:endParaRPr lang="es-ES"/>
        </a:p>
      </dgm:t>
    </dgm:pt>
  </dgm:ptLst>
  <dgm:cxnLst>
    <dgm:cxn modelId="{BE65D3CE-CECE-4922-BFFE-DDCB85A48EDF}" type="presOf" srcId="{2775865B-A6E9-460A-919D-86BBB1FF12E0}" destId="{6B5A128E-7BC5-4F07-B695-9D97F02BF162}" srcOrd="0" destOrd="0" presId="urn:microsoft.com/office/officeart/2005/8/layout/lProcess2"/>
    <dgm:cxn modelId="{3326C058-2CA7-4DD1-80A3-DDD4CFC27DFE}" srcId="{5FA6AEAE-E02E-4B72-AF09-91DEDC11F412}" destId="{81E1121A-6874-43F3-8FA9-69DB4CCD6D2A}" srcOrd="1" destOrd="0" parTransId="{42AF73AD-0397-4105-99DD-97323B5B4D1A}" sibTransId="{F1EC8D0E-8142-4BC9-BACC-161E20107CA3}"/>
    <dgm:cxn modelId="{B76D07EB-51AE-426B-9634-BA32B3F876CE}" type="presOf" srcId="{81E1121A-6874-43F3-8FA9-69DB4CCD6D2A}" destId="{9B3637CB-EE71-4817-87BE-1045C2F43CBF}" srcOrd="0" destOrd="0" presId="urn:microsoft.com/office/officeart/2005/8/layout/lProcess2"/>
    <dgm:cxn modelId="{FBD42E91-2304-4C22-882A-AF5CC4A449FE}" type="presOf" srcId="{EBE8426E-C95A-4296-9F8A-7263F8F33140}" destId="{654217E9-F292-4A59-8FE1-5BD253DB547C}" srcOrd="0" destOrd="0" presId="urn:microsoft.com/office/officeart/2005/8/layout/lProcess2"/>
    <dgm:cxn modelId="{C86B47A4-ADA6-47F2-AD76-0F0466ED8388}" type="presOf" srcId="{5FA6AEAE-E02E-4B72-AF09-91DEDC11F412}" destId="{C0DD0503-057F-49BC-A456-266FABD33175}" srcOrd="1" destOrd="0" presId="urn:microsoft.com/office/officeart/2005/8/layout/lProcess2"/>
    <dgm:cxn modelId="{A76355B7-85DC-400A-9903-C839B55709B3}" type="presOf" srcId="{FD86820B-30FE-4E67-8337-D6C660B95952}" destId="{23180900-594A-460B-9107-A847655808CF}" srcOrd="0" destOrd="0" presId="urn:microsoft.com/office/officeart/2005/8/layout/lProcess2"/>
    <dgm:cxn modelId="{44C02EE7-11B3-4A40-B302-1DAC3165BE8D}" srcId="{5FA6AEAE-E02E-4B72-AF09-91DEDC11F412}" destId="{FD86820B-30FE-4E67-8337-D6C660B95952}" srcOrd="2" destOrd="0" parTransId="{8182F093-9B5C-404D-8729-387E238C7FF7}" sibTransId="{A55F0834-3247-440B-819F-69E1AC9226E6}"/>
    <dgm:cxn modelId="{2938A772-C976-4F52-AE27-3B6D42610C5A}" type="presOf" srcId="{EC9A0461-DB53-4745-B7BF-B5EAFE7D3BAC}" destId="{11400663-E466-4552-B520-6FF0ED3A82C9}" srcOrd="0" destOrd="0" presId="urn:microsoft.com/office/officeart/2005/8/layout/lProcess2"/>
    <dgm:cxn modelId="{64E1F97D-B09D-4FEF-BF94-17AFF42B1739}" srcId="{5FA6AEAE-E02E-4B72-AF09-91DEDC11F412}" destId="{2775865B-A6E9-460A-919D-86BBB1FF12E0}" srcOrd="3" destOrd="0" parTransId="{80E514A9-2B20-49EB-B3C9-ACC948B725EE}" sibTransId="{3A664D74-5038-41FE-9D33-2CA10D534B2F}"/>
    <dgm:cxn modelId="{0C04727A-A31C-4EF4-AC7A-7AB6CB6C986F}" srcId="{5FA6AEAE-E02E-4B72-AF09-91DEDC11F412}" destId="{EC9A0461-DB53-4745-B7BF-B5EAFE7D3BAC}" srcOrd="0" destOrd="0" parTransId="{1084B4CE-FC00-4999-B782-A70986F314B4}" sibTransId="{1D6B18F5-D33D-431C-A508-C28AA24DFE2B}"/>
    <dgm:cxn modelId="{C65FD853-F8E7-4ECE-9CE8-422136BDB742}" srcId="{EBE8426E-C95A-4296-9F8A-7263F8F33140}" destId="{5FA6AEAE-E02E-4B72-AF09-91DEDC11F412}" srcOrd="0" destOrd="0" parTransId="{E36D924B-EF3A-4454-AD1D-9E33DBCF4E81}" sibTransId="{6737D46E-3BB5-4A62-8AF2-792C5D74E3D5}"/>
    <dgm:cxn modelId="{FA1F006D-9186-4769-B286-EC531D3B30B5}" type="presOf" srcId="{5FA6AEAE-E02E-4B72-AF09-91DEDC11F412}" destId="{EA2CFBEA-86E9-4101-AD73-9B419BEAF63E}" srcOrd="0" destOrd="0" presId="urn:microsoft.com/office/officeart/2005/8/layout/lProcess2"/>
    <dgm:cxn modelId="{B45E2ABA-4FE9-47D2-ACE0-86ED18CAA9D8}" type="presParOf" srcId="{654217E9-F292-4A59-8FE1-5BD253DB547C}" destId="{AA0D0498-1210-45CC-BEAF-F5439C86C45E}" srcOrd="0" destOrd="0" presId="urn:microsoft.com/office/officeart/2005/8/layout/lProcess2"/>
    <dgm:cxn modelId="{447ED09B-70F3-444B-B640-42CAAE4F14F3}" type="presParOf" srcId="{AA0D0498-1210-45CC-BEAF-F5439C86C45E}" destId="{EA2CFBEA-86E9-4101-AD73-9B419BEAF63E}" srcOrd="0" destOrd="0" presId="urn:microsoft.com/office/officeart/2005/8/layout/lProcess2"/>
    <dgm:cxn modelId="{F825E786-69CF-4323-8DA5-E095F5F9C211}" type="presParOf" srcId="{AA0D0498-1210-45CC-BEAF-F5439C86C45E}" destId="{C0DD0503-057F-49BC-A456-266FABD33175}" srcOrd="1" destOrd="0" presId="urn:microsoft.com/office/officeart/2005/8/layout/lProcess2"/>
    <dgm:cxn modelId="{D661C352-69C9-4C5A-9BB9-DFAEFCA0A15C}" type="presParOf" srcId="{AA0D0498-1210-45CC-BEAF-F5439C86C45E}" destId="{73D9414C-E204-4AC8-AFD9-DE804DB44810}" srcOrd="2" destOrd="0" presId="urn:microsoft.com/office/officeart/2005/8/layout/lProcess2"/>
    <dgm:cxn modelId="{CE252E4F-CA18-4556-BCCD-017F8B1758C3}" type="presParOf" srcId="{73D9414C-E204-4AC8-AFD9-DE804DB44810}" destId="{D88A2C2F-161B-4060-B78D-93C1D479C7A5}" srcOrd="0" destOrd="0" presId="urn:microsoft.com/office/officeart/2005/8/layout/lProcess2"/>
    <dgm:cxn modelId="{BAB6A3C2-61B3-4A31-A823-E499F021188C}" type="presParOf" srcId="{D88A2C2F-161B-4060-B78D-93C1D479C7A5}" destId="{11400663-E466-4552-B520-6FF0ED3A82C9}" srcOrd="0" destOrd="0" presId="urn:microsoft.com/office/officeart/2005/8/layout/lProcess2"/>
    <dgm:cxn modelId="{50E00037-3562-4FF3-8FA0-83C7CB15FBCD}" type="presParOf" srcId="{D88A2C2F-161B-4060-B78D-93C1D479C7A5}" destId="{DA8C5AAF-A8AD-4A8D-94D3-B475383295A8}" srcOrd="1" destOrd="0" presId="urn:microsoft.com/office/officeart/2005/8/layout/lProcess2"/>
    <dgm:cxn modelId="{C33DEC05-B116-4156-87BE-701BD346A66D}" type="presParOf" srcId="{D88A2C2F-161B-4060-B78D-93C1D479C7A5}" destId="{9B3637CB-EE71-4817-87BE-1045C2F43CBF}" srcOrd="2" destOrd="0" presId="urn:microsoft.com/office/officeart/2005/8/layout/lProcess2"/>
    <dgm:cxn modelId="{70544617-269F-4006-9C3F-336F25C79987}" type="presParOf" srcId="{D88A2C2F-161B-4060-B78D-93C1D479C7A5}" destId="{8552E2E3-8735-4121-9B1B-3B0F5B606AF1}" srcOrd="3" destOrd="0" presId="urn:microsoft.com/office/officeart/2005/8/layout/lProcess2"/>
    <dgm:cxn modelId="{BF7B937F-CFF8-418E-9024-504488100C51}" type="presParOf" srcId="{D88A2C2F-161B-4060-B78D-93C1D479C7A5}" destId="{23180900-594A-460B-9107-A847655808CF}" srcOrd="4" destOrd="0" presId="urn:microsoft.com/office/officeart/2005/8/layout/lProcess2"/>
    <dgm:cxn modelId="{2BB7DDD9-ECC7-4A0E-B361-27785F83B769}" type="presParOf" srcId="{D88A2C2F-161B-4060-B78D-93C1D479C7A5}" destId="{5F096FED-DC7D-4FED-9D98-2C7EB81D3264}" srcOrd="5" destOrd="0" presId="urn:microsoft.com/office/officeart/2005/8/layout/lProcess2"/>
    <dgm:cxn modelId="{B4AD4F3F-1B21-42C3-868B-03FA950DD68A}" type="presParOf" srcId="{D88A2C2F-161B-4060-B78D-93C1D479C7A5}" destId="{6B5A128E-7BC5-4F07-B695-9D97F02BF162}" srcOrd="6" destOrd="0" presId="urn:microsoft.com/office/officeart/2005/8/layout/lProcess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E12C31-F0AB-4505-9018-7A2B65A6DF7B}">
      <dsp:nvSpPr>
        <dsp:cNvPr id="0" name=""/>
        <dsp:cNvSpPr/>
      </dsp:nvSpPr>
      <dsp:spPr>
        <a:xfrm>
          <a:off x="5833689" y="3335928"/>
          <a:ext cx="1441304" cy="342964"/>
        </a:xfrm>
        <a:custGeom>
          <a:avLst/>
          <a:gdLst/>
          <a:ahLst/>
          <a:cxnLst/>
          <a:rect l="0" t="0" r="0" b="0"/>
          <a:pathLst>
            <a:path>
              <a:moveTo>
                <a:pt x="0" y="0"/>
              </a:moveTo>
              <a:lnTo>
                <a:pt x="0" y="233720"/>
              </a:lnTo>
              <a:lnTo>
                <a:pt x="1441304" y="233720"/>
              </a:lnTo>
              <a:lnTo>
                <a:pt x="1441304" y="342964"/>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62F7D0-77DC-4606-A6A5-CF8BCFB720C0}">
      <dsp:nvSpPr>
        <dsp:cNvPr id="0" name=""/>
        <dsp:cNvSpPr/>
      </dsp:nvSpPr>
      <dsp:spPr>
        <a:xfrm>
          <a:off x="5787969" y="3335928"/>
          <a:ext cx="91440" cy="342964"/>
        </a:xfrm>
        <a:custGeom>
          <a:avLst/>
          <a:gdLst/>
          <a:ahLst/>
          <a:cxnLst/>
          <a:rect l="0" t="0" r="0" b="0"/>
          <a:pathLst>
            <a:path>
              <a:moveTo>
                <a:pt x="45720" y="0"/>
              </a:moveTo>
              <a:lnTo>
                <a:pt x="45720" y="342964"/>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783225-717C-4A24-A470-9253EB0B6F75}">
      <dsp:nvSpPr>
        <dsp:cNvPr id="0" name=""/>
        <dsp:cNvSpPr/>
      </dsp:nvSpPr>
      <dsp:spPr>
        <a:xfrm>
          <a:off x="4392385" y="3335928"/>
          <a:ext cx="1441304" cy="342964"/>
        </a:xfrm>
        <a:custGeom>
          <a:avLst/>
          <a:gdLst/>
          <a:ahLst/>
          <a:cxnLst/>
          <a:rect l="0" t="0" r="0" b="0"/>
          <a:pathLst>
            <a:path>
              <a:moveTo>
                <a:pt x="1441304" y="0"/>
              </a:moveTo>
              <a:lnTo>
                <a:pt x="1441304" y="233720"/>
              </a:lnTo>
              <a:lnTo>
                <a:pt x="0" y="233720"/>
              </a:lnTo>
              <a:lnTo>
                <a:pt x="0" y="342964"/>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C3E726C-DB76-4241-B48D-12E128C03C69}">
      <dsp:nvSpPr>
        <dsp:cNvPr id="0" name=""/>
        <dsp:cNvSpPr/>
      </dsp:nvSpPr>
      <dsp:spPr>
        <a:xfrm>
          <a:off x="5787969" y="2244140"/>
          <a:ext cx="91440" cy="342964"/>
        </a:xfrm>
        <a:custGeom>
          <a:avLst/>
          <a:gdLst/>
          <a:ahLst/>
          <a:cxnLst/>
          <a:rect l="0" t="0" r="0" b="0"/>
          <a:pathLst>
            <a:path>
              <a:moveTo>
                <a:pt x="45720" y="0"/>
              </a:moveTo>
              <a:lnTo>
                <a:pt x="45720" y="342964"/>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A01757A-678B-4773-B70D-4975CD62DADC}">
      <dsp:nvSpPr>
        <dsp:cNvPr id="0" name=""/>
        <dsp:cNvSpPr/>
      </dsp:nvSpPr>
      <dsp:spPr>
        <a:xfrm>
          <a:off x="3459951" y="1152353"/>
          <a:ext cx="2373737" cy="342964"/>
        </a:xfrm>
        <a:custGeom>
          <a:avLst/>
          <a:gdLst/>
          <a:ahLst/>
          <a:cxnLst/>
          <a:rect l="0" t="0" r="0" b="0"/>
          <a:pathLst>
            <a:path>
              <a:moveTo>
                <a:pt x="0" y="0"/>
              </a:moveTo>
              <a:lnTo>
                <a:pt x="0" y="233720"/>
              </a:lnTo>
              <a:lnTo>
                <a:pt x="2373737" y="233720"/>
              </a:lnTo>
              <a:lnTo>
                <a:pt x="2373737" y="342964"/>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0CCCB5A-E1E6-42A4-B940-22873C862BD3}">
      <dsp:nvSpPr>
        <dsp:cNvPr id="0" name=""/>
        <dsp:cNvSpPr/>
      </dsp:nvSpPr>
      <dsp:spPr>
        <a:xfrm>
          <a:off x="3459951" y="1152353"/>
          <a:ext cx="932433" cy="342964"/>
        </a:xfrm>
        <a:custGeom>
          <a:avLst/>
          <a:gdLst/>
          <a:ahLst/>
          <a:cxnLst/>
          <a:rect l="0" t="0" r="0" b="0"/>
          <a:pathLst>
            <a:path>
              <a:moveTo>
                <a:pt x="0" y="0"/>
              </a:moveTo>
              <a:lnTo>
                <a:pt x="0" y="233720"/>
              </a:lnTo>
              <a:lnTo>
                <a:pt x="932433" y="233720"/>
              </a:lnTo>
              <a:lnTo>
                <a:pt x="932433" y="342964"/>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A54AD90-CDA7-4069-A4A5-D7D7969523EB}">
      <dsp:nvSpPr>
        <dsp:cNvPr id="0" name=""/>
        <dsp:cNvSpPr/>
      </dsp:nvSpPr>
      <dsp:spPr>
        <a:xfrm>
          <a:off x="2951081" y="1152353"/>
          <a:ext cx="508870" cy="342964"/>
        </a:xfrm>
        <a:custGeom>
          <a:avLst/>
          <a:gdLst/>
          <a:ahLst/>
          <a:cxnLst/>
          <a:rect l="0" t="0" r="0" b="0"/>
          <a:pathLst>
            <a:path>
              <a:moveTo>
                <a:pt x="508870" y="0"/>
              </a:moveTo>
              <a:lnTo>
                <a:pt x="508870" y="233720"/>
              </a:lnTo>
              <a:lnTo>
                <a:pt x="0" y="233720"/>
              </a:lnTo>
              <a:lnTo>
                <a:pt x="0" y="342964"/>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B07108-8BBF-4A14-A5DA-3A6F1C7229ED}">
      <dsp:nvSpPr>
        <dsp:cNvPr id="0" name=""/>
        <dsp:cNvSpPr/>
      </dsp:nvSpPr>
      <dsp:spPr>
        <a:xfrm>
          <a:off x="1297995" y="1152353"/>
          <a:ext cx="2161956" cy="342964"/>
        </a:xfrm>
        <a:custGeom>
          <a:avLst/>
          <a:gdLst/>
          <a:ahLst/>
          <a:cxnLst/>
          <a:rect l="0" t="0" r="0" b="0"/>
          <a:pathLst>
            <a:path>
              <a:moveTo>
                <a:pt x="2161956" y="0"/>
              </a:moveTo>
              <a:lnTo>
                <a:pt x="2161956" y="233720"/>
              </a:lnTo>
              <a:lnTo>
                <a:pt x="0" y="233720"/>
              </a:lnTo>
              <a:lnTo>
                <a:pt x="0" y="342964"/>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FB6F8A7-82F9-443D-9C40-150A9DC92BE9}">
      <dsp:nvSpPr>
        <dsp:cNvPr id="0" name=""/>
        <dsp:cNvSpPr/>
      </dsp:nvSpPr>
      <dsp:spPr>
        <a:xfrm>
          <a:off x="3414231" y="401362"/>
          <a:ext cx="91440" cy="342964"/>
        </a:xfrm>
        <a:custGeom>
          <a:avLst/>
          <a:gdLst/>
          <a:ahLst/>
          <a:cxnLst/>
          <a:rect l="0" t="0" r="0" b="0"/>
          <a:pathLst>
            <a:path>
              <a:moveTo>
                <a:pt x="45720" y="0"/>
              </a:moveTo>
              <a:lnTo>
                <a:pt x="45720" y="342964"/>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CDFABF2-B6BF-4A49-87F4-53B94C600204}">
      <dsp:nvSpPr>
        <dsp:cNvPr id="0" name=""/>
        <dsp:cNvSpPr/>
      </dsp:nvSpPr>
      <dsp:spPr>
        <a:xfrm>
          <a:off x="1650830" y="2344"/>
          <a:ext cx="3618241" cy="39901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4B75F7E-8CD9-4C71-9517-97F9DD8C1A0B}">
      <dsp:nvSpPr>
        <dsp:cNvPr id="0" name=""/>
        <dsp:cNvSpPr/>
      </dsp:nvSpPr>
      <dsp:spPr>
        <a:xfrm>
          <a:off x="1781858" y="126820"/>
          <a:ext cx="3618241" cy="39901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ES" sz="1600" kern="1200" dirty="0" smtClean="0"/>
            <a:t>Cliente</a:t>
          </a:r>
          <a:endParaRPr lang="es-ES" sz="1600" kern="1200" dirty="0"/>
        </a:p>
      </dsp:txBody>
      <dsp:txXfrm>
        <a:off x="1793545" y="138507"/>
        <a:ext cx="3594867" cy="375643"/>
      </dsp:txXfrm>
    </dsp:sp>
    <dsp:sp modelId="{A70AD096-3502-4BF1-B8F7-763618842A28}">
      <dsp:nvSpPr>
        <dsp:cNvPr id="0" name=""/>
        <dsp:cNvSpPr/>
      </dsp:nvSpPr>
      <dsp:spPr>
        <a:xfrm>
          <a:off x="867756" y="744326"/>
          <a:ext cx="5184390" cy="40802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62F49D-C35E-4032-BB93-6D6D6C0C9CE5}">
      <dsp:nvSpPr>
        <dsp:cNvPr id="0" name=""/>
        <dsp:cNvSpPr/>
      </dsp:nvSpPr>
      <dsp:spPr>
        <a:xfrm>
          <a:off x="998784" y="868803"/>
          <a:ext cx="5184390" cy="40802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ES" sz="1600" kern="1200" dirty="0" smtClean="0"/>
            <a:t>API Gateway</a:t>
          </a:r>
          <a:endParaRPr lang="es-ES" sz="1600" kern="1200" dirty="0"/>
        </a:p>
      </dsp:txBody>
      <dsp:txXfrm>
        <a:off x="1010735" y="880754"/>
        <a:ext cx="5160488" cy="384124"/>
      </dsp:txXfrm>
    </dsp:sp>
    <dsp:sp modelId="{2652B3BB-97C0-4BA5-876F-01B141158055}">
      <dsp:nvSpPr>
        <dsp:cNvPr id="0" name=""/>
        <dsp:cNvSpPr/>
      </dsp:nvSpPr>
      <dsp:spPr>
        <a:xfrm>
          <a:off x="496590" y="1495317"/>
          <a:ext cx="1602811" cy="67651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84BD82-3FB6-46A5-9444-D042150DF204}">
      <dsp:nvSpPr>
        <dsp:cNvPr id="0" name=""/>
        <dsp:cNvSpPr/>
      </dsp:nvSpPr>
      <dsp:spPr>
        <a:xfrm>
          <a:off x="627617" y="1619794"/>
          <a:ext cx="1602811" cy="676516"/>
        </a:xfrm>
        <a:prstGeom prst="roundRect">
          <a:avLst>
            <a:gd name="adj" fmla="val 10000"/>
          </a:avLst>
        </a:prstGeom>
        <a:gradFill rotWithShape="1">
          <a:gsLst>
            <a:gs pos="0">
              <a:schemeClr val="dk1">
                <a:tint val="65000"/>
                <a:shade val="92000"/>
                <a:satMod val="130000"/>
              </a:schemeClr>
            </a:gs>
            <a:gs pos="45000">
              <a:schemeClr val="dk1">
                <a:tint val="60000"/>
                <a:shade val="99000"/>
                <a:satMod val="120000"/>
              </a:schemeClr>
            </a:gs>
            <a:gs pos="100000">
              <a:schemeClr val="dk1">
                <a:tint val="55000"/>
                <a:satMod val="140000"/>
              </a:schemeClr>
            </a:gs>
          </a:gsLst>
          <a:path path="circle">
            <a:fillToRect l="100000" t="100000" r="100000" b="100000"/>
          </a:path>
        </a:gradFill>
        <a:ln w="12700" cap="flat" cmpd="sng" algn="ctr">
          <a:solidFill>
            <a:schemeClr val="dk1"/>
          </a:solidFill>
          <a:prstDash val="solid"/>
        </a:ln>
        <a:effectLst/>
      </dsp:spPr>
      <dsp:style>
        <a:lnRef idx="1">
          <a:schemeClr val="dk1"/>
        </a:lnRef>
        <a:fillRef idx="2">
          <a:schemeClr val="dk1"/>
        </a:fillRef>
        <a:effectRef idx="1">
          <a:schemeClr val="dk1"/>
        </a:effectRef>
        <a:fontRef idx="minor">
          <a:schemeClr val="dk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ES" sz="1600" kern="1200" dirty="0" smtClean="0"/>
            <a:t>MS: Usuario</a:t>
          </a:r>
          <a:endParaRPr lang="es-ES" sz="1600" kern="1200" dirty="0"/>
        </a:p>
      </dsp:txBody>
      <dsp:txXfrm>
        <a:off x="647431" y="1639608"/>
        <a:ext cx="1563183" cy="636888"/>
      </dsp:txXfrm>
    </dsp:sp>
    <dsp:sp modelId="{B88EBABB-2350-4839-A7E0-46317E8FA5B2}">
      <dsp:nvSpPr>
        <dsp:cNvPr id="0" name=""/>
        <dsp:cNvSpPr/>
      </dsp:nvSpPr>
      <dsp:spPr>
        <a:xfrm>
          <a:off x="2361456" y="1495317"/>
          <a:ext cx="1179248" cy="7488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03EBCA-A6CA-48B9-9E7E-12E4A109E495}">
      <dsp:nvSpPr>
        <dsp:cNvPr id="0" name=""/>
        <dsp:cNvSpPr/>
      </dsp:nvSpPr>
      <dsp:spPr>
        <a:xfrm>
          <a:off x="2492484" y="1619794"/>
          <a:ext cx="1179248" cy="748822"/>
        </a:xfrm>
        <a:prstGeom prst="roundRect">
          <a:avLst>
            <a:gd name="adj" fmla="val 10000"/>
          </a:avLst>
        </a:prstGeom>
        <a:gradFill rotWithShape="1">
          <a:gsLst>
            <a:gs pos="0">
              <a:schemeClr val="dk1">
                <a:tint val="65000"/>
                <a:shade val="92000"/>
                <a:satMod val="130000"/>
              </a:schemeClr>
            </a:gs>
            <a:gs pos="45000">
              <a:schemeClr val="dk1">
                <a:tint val="60000"/>
                <a:shade val="99000"/>
                <a:satMod val="120000"/>
              </a:schemeClr>
            </a:gs>
            <a:gs pos="100000">
              <a:schemeClr val="dk1">
                <a:tint val="55000"/>
                <a:satMod val="140000"/>
              </a:schemeClr>
            </a:gs>
          </a:gsLst>
          <a:path path="circle">
            <a:fillToRect l="100000" t="100000" r="100000" b="100000"/>
          </a:path>
        </a:gradFill>
        <a:ln w="12700" cap="flat" cmpd="sng" algn="ctr">
          <a:solidFill>
            <a:schemeClr val="dk1"/>
          </a:solidFill>
          <a:prstDash val="solid"/>
        </a:ln>
        <a:effectLst/>
      </dsp:spPr>
      <dsp:style>
        <a:lnRef idx="1">
          <a:schemeClr val="dk1"/>
        </a:lnRef>
        <a:fillRef idx="2">
          <a:schemeClr val="dk1"/>
        </a:fillRef>
        <a:effectRef idx="1">
          <a:schemeClr val="dk1"/>
        </a:effectRef>
        <a:fontRef idx="minor">
          <a:schemeClr val="dk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ES" sz="1600" kern="1200" dirty="0" smtClean="0"/>
            <a:t>MS: Pagos</a:t>
          </a:r>
          <a:endParaRPr lang="es-ES" sz="1600" kern="1200" dirty="0"/>
        </a:p>
      </dsp:txBody>
      <dsp:txXfrm>
        <a:off x="2514416" y="1641726"/>
        <a:ext cx="1135384" cy="704958"/>
      </dsp:txXfrm>
    </dsp:sp>
    <dsp:sp modelId="{FF4168AB-F101-4D7F-9696-53381D5C4025}">
      <dsp:nvSpPr>
        <dsp:cNvPr id="0" name=""/>
        <dsp:cNvSpPr/>
      </dsp:nvSpPr>
      <dsp:spPr>
        <a:xfrm>
          <a:off x="3802760" y="1495317"/>
          <a:ext cx="1179248" cy="7488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52BF14-E10A-4993-9ED9-CE97F8EB4D9E}">
      <dsp:nvSpPr>
        <dsp:cNvPr id="0" name=""/>
        <dsp:cNvSpPr/>
      </dsp:nvSpPr>
      <dsp:spPr>
        <a:xfrm>
          <a:off x="3933788" y="1619794"/>
          <a:ext cx="1179248" cy="748822"/>
        </a:xfrm>
        <a:prstGeom prst="roundRect">
          <a:avLst>
            <a:gd name="adj" fmla="val 10000"/>
          </a:avLst>
        </a:prstGeom>
        <a:gradFill rotWithShape="1">
          <a:gsLst>
            <a:gs pos="0">
              <a:schemeClr val="dk1">
                <a:tint val="65000"/>
                <a:shade val="92000"/>
                <a:satMod val="130000"/>
              </a:schemeClr>
            </a:gs>
            <a:gs pos="45000">
              <a:schemeClr val="dk1">
                <a:tint val="60000"/>
                <a:shade val="99000"/>
                <a:satMod val="120000"/>
              </a:schemeClr>
            </a:gs>
            <a:gs pos="100000">
              <a:schemeClr val="dk1">
                <a:tint val="55000"/>
                <a:satMod val="140000"/>
              </a:schemeClr>
            </a:gs>
          </a:gsLst>
          <a:path path="circle">
            <a:fillToRect l="100000" t="100000" r="100000" b="100000"/>
          </a:path>
        </a:gradFill>
        <a:ln w="12700" cap="flat" cmpd="sng" algn="ctr">
          <a:solidFill>
            <a:schemeClr val="dk1"/>
          </a:solidFill>
          <a:prstDash val="solid"/>
        </a:ln>
        <a:effectLst/>
      </dsp:spPr>
      <dsp:style>
        <a:lnRef idx="1">
          <a:schemeClr val="dk1"/>
        </a:lnRef>
        <a:fillRef idx="2">
          <a:schemeClr val="dk1"/>
        </a:fillRef>
        <a:effectRef idx="1">
          <a:schemeClr val="dk1"/>
        </a:effectRef>
        <a:fontRef idx="minor">
          <a:schemeClr val="dk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ES" sz="1600" kern="1200" dirty="0" smtClean="0"/>
            <a:t>MS: Inventario</a:t>
          </a:r>
          <a:endParaRPr lang="es-ES" sz="1600" kern="1200" dirty="0"/>
        </a:p>
      </dsp:txBody>
      <dsp:txXfrm>
        <a:off x="3955720" y="1641726"/>
        <a:ext cx="1135384" cy="704958"/>
      </dsp:txXfrm>
    </dsp:sp>
    <dsp:sp modelId="{30E74011-A69F-4E56-8B3A-022C0C86D3B8}">
      <dsp:nvSpPr>
        <dsp:cNvPr id="0" name=""/>
        <dsp:cNvSpPr/>
      </dsp:nvSpPr>
      <dsp:spPr>
        <a:xfrm>
          <a:off x="5244064" y="1495317"/>
          <a:ext cx="1179248" cy="7488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D660EC-35F8-4977-AE50-9B21CE1CB350}">
      <dsp:nvSpPr>
        <dsp:cNvPr id="0" name=""/>
        <dsp:cNvSpPr/>
      </dsp:nvSpPr>
      <dsp:spPr>
        <a:xfrm>
          <a:off x="5375092" y="1619794"/>
          <a:ext cx="1179248" cy="748822"/>
        </a:xfrm>
        <a:prstGeom prst="roundRect">
          <a:avLst>
            <a:gd name="adj" fmla="val 10000"/>
          </a:avLst>
        </a:prstGeom>
        <a:gradFill rotWithShape="1">
          <a:gsLst>
            <a:gs pos="0">
              <a:schemeClr val="dk1">
                <a:tint val="65000"/>
                <a:shade val="92000"/>
                <a:satMod val="130000"/>
              </a:schemeClr>
            </a:gs>
            <a:gs pos="45000">
              <a:schemeClr val="dk1">
                <a:tint val="60000"/>
                <a:shade val="99000"/>
                <a:satMod val="120000"/>
              </a:schemeClr>
            </a:gs>
            <a:gs pos="100000">
              <a:schemeClr val="dk1">
                <a:tint val="55000"/>
                <a:satMod val="140000"/>
              </a:schemeClr>
            </a:gs>
          </a:gsLst>
          <a:path path="circle">
            <a:fillToRect l="100000" t="100000" r="100000" b="100000"/>
          </a:path>
        </a:gradFill>
        <a:ln w="12700" cap="flat" cmpd="sng" algn="ctr">
          <a:solidFill>
            <a:schemeClr val="dk1"/>
          </a:solidFill>
          <a:prstDash val="solid"/>
        </a:ln>
        <a:effectLst/>
      </dsp:spPr>
      <dsp:style>
        <a:lnRef idx="1">
          <a:schemeClr val="dk1"/>
        </a:lnRef>
        <a:fillRef idx="2">
          <a:schemeClr val="dk1"/>
        </a:fillRef>
        <a:effectRef idx="1">
          <a:schemeClr val="dk1"/>
        </a:effectRef>
        <a:fontRef idx="minor">
          <a:schemeClr val="dk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ES" sz="1600" kern="1200" dirty="0" smtClean="0"/>
            <a:t>MS: Pedidos</a:t>
          </a:r>
          <a:endParaRPr lang="es-ES" sz="1600" kern="1200" dirty="0"/>
        </a:p>
      </dsp:txBody>
      <dsp:txXfrm>
        <a:off x="5397024" y="1641726"/>
        <a:ext cx="1135384" cy="704958"/>
      </dsp:txXfrm>
    </dsp:sp>
    <dsp:sp modelId="{719F2E30-76A1-4BC1-AB32-B6E72911AF0A}">
      <dsp:nvSpPr>
        <dsp:cNvPr id="0" name=""/>
        <dsp:cNvSpPr/>
      </dsp:nvSpPr>
      <dsp:spPr>
        <a:xfrm>
          <a:off x="3409413" y="2587105"/>
          <a:ext cx="4848552" cy="7488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1092B3-C619-4545-B673-5A9E6E129551}">
      <dsp:nvSpPr>
        <dsp:cNvPr id="0" name=""/>
        <dsp:cNvSpPr/>
      </dsp:nvSpPr>
      <dsp:spPr>
        <a:xfrm>
          <a:off x="3540440" y="2711581"/>
          <a:ext cx="4848552" cy="74882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ES" sz="1600" kern="1200" dirty="0" err="1" smtClean="0"/>
            <a:t>Event</a:t>
          </a:r>
          <a:r>
            <a:rPr lang="es-ES" sz="1600" kern="1200" dirty="0" smtClean="0"/>
            <a:t> BUS</a:t>
          </a:r>
        </a:p>
        <a:p>
          <a:pPr lvl="0" algn="ctr" defTabSz="711200">
            <a:lnSpc>
              <a:spcPct val="90000"/>
            </a:lnSpc>
            <a:spcBef>
              <a:spcPct val="0"/>
            </a:spcBef>
            <a:spcAft>
              <a:spcPct val="35000"/>
            </a:spcAft>
          </a:pPr>
          <a:endParaRPr lang="es-ES" sz="1600" kern="1200" dirty="0"/>
        </a:p>
      </dsp:txBody>
      <dsp:txXfrm>
        <a:off x="3562372" y="2733513"/>
        <a:ext cx="4804688" cy="704958"/>
      </dsp:txXfrm>
    </dsp:sp>
    <dsp:sp modelId="{F181EDE4-BE1C-41A1-8CD9-4B8451B7CDB4}">
      <dsp:nvSpPr>
        <dsp:cNvPr id="0" name=""/>
        <dsp:cNvSpPr/>
      </dsp:nvSpPr>
      <dsp:spPr>
        <a:xfrm>
          <a:off x="3802760" y="3678893"/>
          <a:ext cx="1179248" cy="7488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A35E34-E5F5-4437-BB52-A306E64B91BF}">
      <dsp:nvSpPr>
        <dsp:cNvPr id="0" name=""/>
        <dsp:cNvSpPr/>
      </dsp:nvSpPr>
      <dsp:spPr>
        <a:xfrm>
          <a:off x="3933788" y="3803369"/>
          <a:ext cx="1179248" cy="74882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ES" sz="1600" kern="1200" dirty="0" smtClean="0"/>
            <a:t>Servicio </a:t>
          </a:r>
        </a:p>
        <a:p>
          <a:pPr lvl="0" algn="ctr" defTabSz="711200">
            <a:lnSpc>
              <a:spcPct val="90000"/>
            </a:lnSpc>
            <a:spcBef>
              <a:spcPct val="0"/>
            </a:spcBef>
            <a:spcAft>
              <a:spcPct val="35000"/>
            </a:spcAft>
          </a:pPr>
          <a:r>
            <a:rPr lang="es-ES" sz="1600" kern="1200" dirty="0" smtClean="0"/>
            <a:t>Inventario</a:t>
          </a:r>
          <a:endParaRPr lang="es-ES" sz="1600" kern="1200" dirty="0"/>
        </a:p>
      </dsp:txBody>
      <dsp:txXfrm>
        <a:off x="3955720" y="3825301"/>
        <a:ext cx="1135384" cy="704958"/>
      </dsp:txXfrm>
    </dsp:sp>
    <dsp:sp modelId="{DF552252-2C6D-4E8C-B6B4-7B1D8020A003}">
      <dsp:nvSpPr>
        <dsp:cNvPr id="0" name=""/>
        <dsp:cNvSpPr/>
      </dsp:nvSpPr>
      <dsp:spPr>
        <a:xfrm>
          <a:off x="5244064" y="3678893"/>
          <a:ext cx="1179248" cy="7488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414920-E622-4B8A-8692-5BFBBE13CDEB}">
      <dsp:nvSpPr>
        <dsp:cNvPr id="0" name=""/>
        <dsp:cNvSpPr/>
      </dsp:nvSpPr>
      <dsp:spPr>
        <a:xfrm>
          <a:off x="5375092" y="3803369"/>
          <a:ext cx="1179248" cy="74882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ES" sz="1600" kern="1200" dirty="0" smtClean="0"/>
            <a:t>Servicio </a:t>
          </a:r>
        </a:p>
        <a:p>
          <a:pPr lvl="0" algn="ctr" defTabSz="711200">
            <a:lnSpc>
              <a:spcPct val="90000"/>
            </a:lnSpc>
            <a:spcBef>
              <a:spcPct val="0"/>
            </a:spcBef>
            <a:spcAft>
              <a:spcPct val="35000"/>
            </a:spcAft>
          </a:pPr>
          <a:r>
            <a:rPr lang="es-ES" sz="1600" kern="1200" dirty="0" smtClean="0"/>
            <a:t>Notificación</a:t>
          </a:r>
          <a:endParaRPr lang="es-ES" sz="1600" kern="1200" dirty="0"/>
        </a:p>
      </dsp:txBody>
      <dsp:txXfrm>
        <a:off x="5397024" y="3825301"/>
        <a:ext cx="1135384" cy="704958"/>
      </dsp:txXfrm>
    </dsp:sp>
    <dsp:sp modelId="{9BD76A33-3D68-41E3-BE74-31E2A4908C84}">
      <dsp:nvSpPr>
        <dsp:cNvPr id="0" name=""/>
        <dsp:cNvSpPr/>
      </dsp:nvSpPr>
      <dsp:spPr>
        <a:xfrm>
          <a:off x="6685368" y="3678893"/>
          <a:ext cx="1179248" cy="7488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DB72956-7EFA-4F6A-B4C2-9DE5C24FAA19}">
      <dsp:nvSpPr>
        <dsp:cNvPr id="0" name=""/>
        <dsp:cNvSpPr/>
      </dsp:nvSpPr>
      <dsp:spPr>
        <a:xfrm>
          <a:off x="6816396" y="3803369"/>
          <a:ext cx="1179248" cy="74882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ES" sz="1600" kern="1200" dirty="0" smtClean="0"/>
            <a:t>Servicio</a:t>
          </a:r>
        </a:p>
        <a:p>
          <a:pPr lvl="0" algn="ctr" defTabSz="711200">
            <a:lnSpc>
              <a:spcPct val="90000"/>
            </a:lnSpc>
            <a:spcBef>
              <a:spcPct val="0"/>
            </a:spcBef>
            <a:spcAft>
              <a:spcPct val="35000"/>
            </a:spcAft>
          </a:pPr>
          <a:r>
            <a:rPr lang="es-ES" sz="1600" kern="1200" dirty="0" smtClean="0"/>
            <a:t>Envió</a:t>
          </a:r>
          <a:endParaRPr lang="es-ES" sz="1600" kern="1200" dirty="0"/>
        </a:p>
      </dsp:txBody>
      <dsp:txXfrm>
        <a:off x="6838328" y="3825301"/>
        <a:ext cx="1135384" cy="7049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2CFBEA-86E9-4101-AD73-9B419BEAF63E}">
      <dsp:nvSpPr>
        <dsp:cNvPr id="0" name=""/>
        <dsp:cNvSpPr/>
      </dsp:nvSpPr>
      <dsp:spPr>
        <a:xfrm>
          <a:off x="3746" y="0"/>
          <a:ext cx="3832757" cy="38961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98120" tIns="198120" rIns="198120" bIns="198120" numCol="1" spcCol="1270" anchor="ctr" anchorCtr="0">
          <a:noAutofit/>
        </a:bodyPr>
        <a:lstStyle/>
        <a:p>
          <a:pPr lvl="0" algn="ctr" defTabSz="2311400">
            <a:lnSpc>
              <a:spcPct val="90000"/>
            </a:lnSpc>
            <a:spcBef>
              <a:spcPct val="0"/>
            </a:spcBef>
            <a:spcAft>
              <a:spcPct val="35000"/>
            </a:spcAft>
          </a:pPr>
          <a:r>
            <a:rPr lang="es-ES" sz="5200" kern="1200" dirty="0" err="1" smtClean="0"/>
            <a:t>MS:Usuarios</a:t>
          </a:r>
          <a:endParaRPr lang="es-ES" sz="5200" kern="1200" dirty="0"/>
        </a:p>
      </dsp:txBody>
      <dsp:txXfrm>
        <a:off x="3746" y="0"/>
        <a:ext cx="3832757" cy="1168841"/>
      </dsp:txXfrm>
    </dsp:sp>
    <dsp:sp modelId="{11400663-E466-4552-B520-6FF0ED3A82C9}">
      <dsp:nvSpPr>
        <dsp:cNvPr id="0" name=""/>
        <dsp:cNvSpPr/>
      </dsp:nvSpPr>
      <dsp:spPr>
        <a:xfrm>
          <a:off x="428443" y="1170273"/>
          <a:ext cx="2979616" cy="34478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lvl="0" algn="ctr" defTabSz="1066800">
            <a:lnSpc>
              <a:spcPct val="90000"/>
            </a:lnSpc>
            <a:spcBef>
              <a:spcPct val="0"/>
            </a:spcBef>
            <a:spcAft>
              <a:spcPct val="35000"/>
            </a:spcAft>
          </a:pPr>
          <a:r>
            <a:rPr lang="es-ES" sz="2400" kern="1200" dirty="0" smtClean="0"/>
            <a:t>Capa Presentación</a:t>
          </a:r>
          <a:endParaRPr lang="es-ES" sz="2400" kern="1200" dirty="0"/>
        </a:p>
      </dsp:txBody>
      <dsp:txXfrm>
        <a:off x="438541" y="1180371"/>
        <a:ext cx="2959420" cy="324592"/>
      </dsp:txXfrm>
    </dsp:sp>
    <dsp:sp modelId="{9B3637CB-EE71-4817-87BE-1045C2F43CBF}">
      <dsp:nvSpPr>
        <dsp:cNvPr id="0" name=""/>
        <dsp:cNvSpPr/>
      </dsp:nvSpPr>
      <dsp:spPr>
        <a:xfrm>
          <a:off x="428443" y="1623499"/>
          <a:ext cx="2979616" cy="51474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lvl="0" algn="ctr" defTabSz="1066800">
            <a:lnSpc>
              <a:spcPct val="90000"/>
            </a:lnSpc>
            <a:spcBef>
              <a:spcPct val="0"/>
            </a:spcBef>
            <a:spcAft>
              <a:spcPct val="35000"/>
            </a:spcAft>
          </a:pPr>
          <a:r>
            <a:rPr lang="es-ES" sz="2400" kern="1200" dirty="0" smtClean="0"/>
            <a:t>Lógica Negocio</a:t>
          </a:r>
        </a:p>
      </dsp:txBody>
      <dsp:txXfrm>
        <a:off x="443519" y="1638575"/>
        <a:ext cx="2949464" cy="484588"/>
      </dsp:txXfrm>
    </dsp:sp>
    <dsp:sp modelId="{23180900-594A-460B-9107-A847655808CF}">
      <dsp:nvSpPr>
        <dsp:cNvPr id="0" name=""/>
        <dsp:cNvSpPr/>
      </dsp:nvSpPr>
      <dsp:spPr>
        <a:xfrm>
          <a:off x="385149" y="2246676"/>
          <a:ext cx="3066205" cy="56345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lvl="0" algn="ctr" defTabSz="1066800">
            <a:lnSpc>
              <a:spcPct val="90000"/>
            </a:lnSpc>
            <a:spcBef>
              <a:spcPct val="0"/>
            </a:spcBef>
            <a:spcAft>
              <a:spcPct val="35000"/>
            </a:spcAft>
          </a:pPr>
          <a:r>
            <a:rPr lang="es-ES" sz="2400" kern="1200" dirty="0" smtClean="0"/>
            <a:t>Acceso a Datos</a:t>
          </a:r>
        </a:p>
        <a:p>
          <a:pPr lvl="0" algn="ctr" defTabSz="1066800">
            <a:lnSpc>
              <a:spcPct val="90000"/>
            </a:lnSpc>
            <a:spcBef>
              <a:spcPct val="0"/>
            </a:spcBef>
            <a:spcAft>
              <a:spcPct val="35000"/>
            </a:spcAft>
          </a:pPr>
          <a:endParaRPr lang="es-ES" sz="2400" kern="1200" dirty="0"/>
        </a:p>
      </dsp:txBody>
      <dsp:txXfrm>
        <a:off x="401652" y="2263179"/>
        <a:ext cx="3033199" cy="530452"/>
      </dsp:txXfrm>
    </dsp:sp>
    <dsp:sp modelId="{6B5A128E-7BC5-4F07-B695-9D97F02BF162}">
      <dsp:nvSpPr>
        <dsp:cNvPr id="0" name=""/>
        <dsp:cNvSpPr/>
      </dsp:nvSpPr>
      <dsp:spPr>
        <a:xfrm>
          <a:off x="1535313" y="2918572"/>
          <a:ext cx="765876" cy="781325"/>
        </a:xfrm>
        <a:prstGeom prst="roundRect">
          <a:avLst>
            <a:gd name="adj" fmla="val 10000"/>
          </a:avLst>
        </a:prstGeom>
        <a:solidFill>
          <a:schemeClr val="tx1">
            <a:lumMod val="50000"/>
            <a:lumOff val="50000"/>
          </a:schemeClr>
        </a:solidFill>
        <a:ln w="15875" cap="flat"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lvl="0" algn="ctr" defTabSz="1066800">
            <a:lnSpc>
              <a:spcPct val="90000"/>
            </a:lnSpc>
            <a:spcBef>
              <a:spcPct val="0"/>
            </a:spcBef>
            <a:spcAft>
              <a:spcPct val="35000"/>
            </a:spcAft>
          </a:pPr>
          <a:r>
            <a:rPr lang="es-ES" sz="2400" kern="1200" dirty="0" smtClean="0"/>
            <a:t>BD </a:t>
          </a:r>
        </a:p>
        <a:p>
          <a:pPr lvl="0" algn="ctr" defTabSz="1066800">
            <a:lnSpc>
              <a:spcPct val="90000"/>
            </a:lnSpc>
            <a:spcBef>
              <a:spcPct val="0"/>
            </a:spcBef>
            <a:spcAft>
              <a:spcPct val="35000"/>
            </a:spcAft>
          </a:pPr>
          <a:endParaRPr lang="es-ES" sz="2400" kern="1200" dirty="0"/>
        </a:p>
      </dsp:txBody>
      <dsp:txXfrm>
        <a:off x="1557745" y="2941004"/>
        <a:ext cx="721012" cy="73646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E54A35-C587-4D9E-88EB-28625A5AAE59}" type="datetimeFigureOut">
              <a:rPr lang="es-ES" smtClean="0"/>
              <a:t>22/09/2025</a:t>
            </a:fld>
            <a:endParaRPr lang="es-ES"/>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FB20A4-F458-406D-8DAC-3B8EE176367F}" type="slidenum">
              <a:rPr lang="es-ES" smtClean="0"/>
              <a:t>‹Nº›</a:t>
            </a:fld>
            <a:endParaRPr lang="es-ES"/>
          </a:p>
        </p:txBody>
      </p:sp>
    </p:spTree>
    <p:extLst>
      <p:ext uri="{BB962C8B-B14F-4D97-AF65-F5344CB8AC3E}">
        <p14:creationId xmlns:p14="http://schemas.microsoft.com/office/powerpoint/2010/main" val="282072254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B2E9DD-9C30-4075-A3B5-08E83A83D8F0}" type="datetimeFigureOut">
              <a:rPr lang="es-ES" smtClean="0"/>
              <a:t>22/09/2025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D236AF-7B77-41A3-9722-60AF9BD7B607}" type="slidenum">
              <a:rPr lang="es-ES" smtClean="0"/>
              <a:t>‹Nº›</a:t>
            </a:fld>
            <a:endParaRPr lang="es-ES"/>
          </a:p>
        </p:txBody>
      </p:sp>
    </p:spTree>
    <p:extLst>
      <p:ext uri="{BB962C8B-B14F-4D97-AF65-F5344CB8AC3E}">
        <p14:creationId xmlns:p14="http://schemas.microsoft.com/office/powerpoint/2010/main" val="265285922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7" name="Text Box 1"/>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1pPr>
            <a:lvl2pPr marL="742950" indent="-28575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2pPr>
            <a:lvl3pPr marL="11430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3pPr>
            <a:lvl4pPr marL="16002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4pPr>
            <a:lvl5pPr marL="20574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9pPr>
          </a:lstStyle>
          <a:p>
            <a:pPr eaLnBrk="1" hangingPunct="1"/>
            <a:endParaRPr lang="en-US" dirty="0"/>
          </a:p>
        </p:txBody>
      </p:sp>
      <p:sp>
        <p:nvSpPr>
          <p:cNvPr id="108548" name="Rectangle 2"/>
          <p:cNvSpPr>
            <a:spLocks noGrp="1" noChangeArrowheads="1"/>
          </p:cNvSpPr>
          <p:nvPr>
            <p:ph type="body"/>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dirty="0">
              <a:cs typeface="Arial" panose="020B0604020202020204" pitchFamily="34" charset="0"/>
            </a:endParaRPr>
          </a:p>
        </p:txBody>
      </p:sp>
    </p:spTree>
    <p:extLst>
      <p:ext uri="{BB962C8B-B14F-4D97-AF65-F5344CB8AC3E}">
        <p14:creationId xmlns:p14="http://schemas.microsoft.com/office/powerpoint/2010/main" val="1109841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1" name="Rectangle 1"/>
          <p:cNvSpPr>
            <a:spLocks noGrp="1" noRot="1" noChangeAspect="1" noChangeArrowheads="1" noTextEdit="1"/>
          </p:cNvSpPr>
          <p:nvPr>
            <p:ph type="sldImg"/>
          </p:nvPr>
        </p:nvSpPr>
        <p:spPr>
          <a:xfrm>
            <a:off x="381000" y="685800"/>
            <a:ext cx="6096000" cy="3429000"/>
          </a:xfrm>
          <a:ln/>
        </p:spPr>
      </p:sp>
      <p:sp>
        <p:nvSpPr>
          <p:cNvPr id="109572" name="Text Box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dirty="0">
              <a:cs typeface="Arial" panose="020B0604020202020204" pitchFamily="34" charset="0"/>
            </a:endParaRPr>
          </a:p>
        </p:txBody>
      </p:sp>
    </p:spTree>
    <p:extLst>
      <p:ext uri="{BB962C8B-B14F-4D97-AF65-F5344CB8AC3E}">
        <p14:creationId xmlns:p14="http://schemas.microsoft.com/office/powerpoint/2010/main" val="979760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(0)</a:t>
            </a:r>
          </a:p>
          <a:p>
            <a:r>
              <a:rPr lang="es-ES" noProof="0" dirty="0" smtClean="0"/>
              <a:t>La arquitectura de</a:t>
            </a:r>
            <a:r>
              <a:rPr lang="es-ES" baseline="0" noProof="0" dirty="0" smtClean="0"/>
              <a:t> un sistema se define como un cierto numero de componentes y que relaciones hay entre ellas</a:t>
            </a:r>
            <a:endParaRPr lang="es-ES" noProof="0" dirty="0" smtClean="0"/>
          </a:p>
          <a:p>
            <a:endParaRPr lang="es-ES" noProof="0" dirty="0" smtClean="0"/>
          </a:p>
          <a:p>
            <a:r>
              <a:rPr lang="es-ES" noProof="0" dirty="0" smtClean="0"/>
              <a:t>(1)</a:t>
            </a:r>
          </a:p>
          <a:p>
            <a:r>
              <a:rPr lang="es-ES" noProof="0" dirty="0" smtClean="0"/>
              <a:t>Podemos ver en el siguiente diagrama un proceso central enlazado con 3 módulos.</a:t>
            </a:r>
          </a:p>
          <a:p>
            <a:endParaRPr lang="es-ES" noProof="0" dirty="0" smtClean="0"/>
          </a:p>
          <a:p>
            <a:r>
              <a:rPr lang="es-ES" noProof="0" dirty="0" smtClean="0"/>
              <a:t>Que quiere decir este diagrama?</a:t>
            </a:r>
          </a:p>
          <a:p>
            <a:endParaRPr lang="es-ES" noProof="0" dirty="0" smtClean="0"/>
          </a:p>
          <a:p>
            <a:r>
              <a:rPr lang="es-ES" noProof="0" dirty="0" smtClean="0"/>
              <a:t>Este diagrama puede significar que proceso central este mandando mensajes a cada uno de sus módulos? </a:t>
            </a:r>
          </a:p>
          <a:p>
            <a:r>
              <a:rPr lang="es-ES" noProof="0" dirty="0" smtClean="0"/>
              <a:t>Si es así, los manda todos al mismo tiempo, o los envía con un orden especifico?</a:t>
            </a:r>
          </a:p>
          <a:p>
            <a:endParaRPr lang="es-ES" noProof="0" dirty="0" smtClean="0"/>
          </a:p>
          <a:p>
            <a:r>
              <a:rPr lang="es-ES" noProof="0" dirty="0" smtClean="0"/>
              <a:t>O pudiéramos dar otro significado a este diagrama? </a:t>
            </a:r>
          </a:p>
          <a:p>
            <a:r>
              <a:rPr lang="es-ES" noProof="0" dirty="0" smtClean="0"/>
              <a:t>El proceso central ejecuta instancias paralelas de cada uno de los módulos?</a:t>
            </a:r>
          </a:p>
          <a:p>
            <a:endParaRPr lang="es-ES" noProof="0" dirty="0" smtClean="0"/>
          </a:p>
          <a:p>
            <a:r>
              <a:rPr lang="es-ES" noProof="0" dirty="0" smtClean="0"/>
              <a:t>(2)</a:t>
            </a:r>
          </a:p>
          <a:p>
            <a:r>
              <a:rPr lang="es-ES" noProof="0" dirty="0" smtClean="0"/>
              <a:t>Realmente la información en este diagrama solo depende del contexto donde este ubicado el mismo </a:t>
            </a:r>
          </a:p>
          <a:p>
            <a:r>
              <a:rPr lang="es-ES" noProof="0" dirty="0" smtClean="0"/>
              <a:t>y obviamente falta información relevante aquí.</a:t>
            </a:r>
          </a:p>
          <a:p>
            <a:endParaRPr lang="es-ES" dirty="0" smtClean="0"/>
          </a:p>
          <a:p>
            <a:r>
              <a:rPr lang="es-ES" dirty="0" smtClean="0"/>
              <a:t>(0)</a:t>
            </a:r>
          </a:p>
          <a:p>
            <a:r>
              <a:rPr lang="es-ES" dirty="0" smtClean="0"/>
              <a:t>Que información</a:t>
            </a:r>
            <a:r>
              <a:rPr lang="es-ES" baseline="0" dirty="0" smtClean="0"/>
              <a:t> nos falta entonces?</a:t>
            </a:r>
          </a:p>
          <a:p>
            <a:endParaRPr lang="es-ES" baseline="0" dirty="0" smtClean="0"/>
          </a:p>
          <a:p>
            <a:r>
              <a:rPr lang="es-ES" baseline="0" dirty="0" smtClean="0"/>
              <a:t>Que hacen? </a:t>
            </a:r>
          </a:p>
          <a:p>
            <a:r>
              <a:rPr lang="es-ES" baseline="0" dirty="0" smtClean="0"/>
              <a:t>que cosa son esos componentes que están dibujados ahí?</a:t>
            </a:r>
          </a:p>
          <a:p>
            <a:r>
              <a:rPr lang="es-ES" baseline="0" dirty="0" smtClean="0"/>
              <a:t>Que significan los enlaces entre los componentes?</a:t>
            </a:r>
          </a:p>
          <a:p>
            <a:r>
              <a:rPr lang="es-ES" baseline="0" dirty="0" smtClean="0"/>
              <a:t>Como funciona todo esto?</a:t>
            </a:r>
          </a:p>
          <a:p>
            <a:endParaRPr lang="es-ES" baseline="0" dirty="0" smtClean="0"/>
          </a:p>
          <a:p>
            <a:r>
              <a:rPr lang="es-ES" baseline="0" dirty="0" smtClean="0"/>
              <a:t>(1)</a:t>
            </a:r>
          </a:p>
          <a:p>
            <a:r>
              <a:rPr lang="es-ES" dirty="0" smtClean="0"/>
              <a:t>En la forma que esta dibujado ese diagrama que vimos anteriormente,</a:t>
            </a:r>
            <a:r>
              <a:rPr lang="es-ES" baseline="0" dirty="0" smtClean="0"/>
              <a:t> nos sirve de muy poco o no nos sirve de nada.</a:t>
            </a:r>
            <a:endParaRPr lang="es-ES" dirty="0" smtClean="0"/>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indent="0">
              <a:spcBef>
                <a:spcPts val="413"/>
              </a:spcBef>
              <a:buClrTx/>
              <a:buFontTx/>
              <a:buNone/>
            </a:pPr>
            <a:r>
              <a:rPr lang="es-ES" noProof="0" dirty="0" smtClean="0"/>
              <a:t>Podemos dar una segunda</a:t>
            </a:r>
            <a:r>
              <a:rPr lang="es-ES" baseline="0" noProof="0" dirty="0" smtClean="0"/>
              <a:t> definición de arquitectura </a:t>
            </a:r>
          </a:p>
          <a:p>
            <a:pPr marL="0" indent="0">
              <a:spcBef>
                <a:spcPts val="413"/>
              </a:spcBef>
              <a:buClrTx/>
              <a:buFontTx/>
              <a:buNone/>
            </a:pPr>
            <a:r>
              <a:rPr lang="es-ES" baseline="0" noProof="0" dirty="0" smtClean="0"/>
              <a:t>en la cual se podemos hacer énfasis en la interrelación los componentes y sus propiedades especificas, </a:t>
            </a:r>
          </a:p>
          <a:p>
            <a:pPr marL="0" indent="0">
              <a:spcBef>
                <a:spcPts val="413"/>
              </a:spcBef>
              <a:buClrTx/>
              <a:buFontTx/>
              <a:buNone/>
            </a:pPr>
            <a:r>
              <a:rPr lang="es-ES" baseline="0" noProof="0" dirty="0" smtClean="0"/>
              <a:t>así como la relación existente entre cada componente y los principios sobre los que basan su comportamiento.</a:t>
            </a:r>
          </a:p>
          <a:p>
            <a:pPr>
              <a:spcBef>
                <a:spcPts val="1293"/>
              </a:spcBef>
            </a:pPr>
            <a:r>
              <a:rPr lang="en-GB" i="1" dirty="0" err="1" smtClean="0"/>
              <a:t>Notas</a:t>
            </a:r>
            <a:r>
              <a:rPr lang="en-GB" i="1" dirty="0" smtClean="0"/>
              <a:t>:</a:t>
            </a:r>
          </a:p>
          <a:p>
            <a:pPr marL="285750" indent="-285750">
              <a:spcBef>
                <a:spcPts val="1078"/>
              </a:spcBef>
              <a:buSzPct val="99000"/>
              <a:buFont typeface="Arial" panose="020B0604020202020204" pitchFamily="34" charset="0"/>
              <a:buChar char="•"/>
            </a:pPr>
            <a:r>
              <a:rPr lang="en-GB" i="1" dirty="0" err="1" smtClean="0"/>
              <a:t>propiedades</a:t>
            </a:r>
            <a:r>
              <a:rPr lang="en-GB" i="1" dirty="0" smtClean="0"/>
              <a:t> </a:t>
            </a:r>
            <a:r>
              <a:rPr lang="en-GB" i="1" dirty="0" err="1" smtClean="0"/>
              <a:t>específicas</a:t>
            </a:r>
            <a:r>
              <a:rPr lang="en-GB" i="1" dirty="0" smtClean="0"/>
              <a:t> de un </a:t>
            </a:r>
            <a:r>
              <a:rPr lang="en-GB" i="1" dirty="0" err="1" smtClean="0"/>
              <a:t>componente</a:t>
            </a:r>
            <a:r>
              <a:rPr lang="en-GB" i="1" dirty="0" smtClean="0"/>
              <a:t> son </a:t>
            </a:r>
            <a:r>
              <a:rPr lang="en-GB" i="1" dirty="0" err="1" smtClean="0"/>
              <a:t>las</a:t>
            </a:r>
            <a:r>
              <a:rPr lang="en-GB" i="1" dirty="0" smtClean="0"/>
              <a:t> </a:t>
            </a:r>
            <a:r>
              <a:rPr lang="en-GB" i="1" dirty="0" err="1" smtClean="0"/>
              <a:t>suposiciones</a:t>
            </a:r>
            <a:r>
              <a:rPr lang="en-GB" i="1" dirty="0" smtClean="0"/>
              <a:t> </a:t>
            </a:r>
            <a:r>
              <a:rPr lang="en-GB" i="1" dirty="0" err="1" smtClean="0"/>
              <a:t>que</a:t>
            </a:r>
            <a:r>
              <a:rPr lang="en-GB" i="1" dirty="0" smtClean="0"/>
              <a:t> </a:t>
            </a:r>
            <a:r>
              <a:rPr lang="en-GB" i="1" dirty="0" err="1" smtClean="0"/>
              <a:t>otras</a:t>
            </a:r>
            <a:r>
              <a:rPr lang="en-GB" i="1" dirty="0" smtClean="0"/>
              <a:t> </a:t>
            </a:r>
            <a:r>
              <a:rPr lang="en-GB" i="1" dirty="0" err="1" smtClean="0"/>
              <a:t>componentes</a:t>
            </a:r>
            <a:r>
              <a:rPr lang="en-GB" i="1" dirty="0" smtClean="0"/>
              <a:t> </a:t>
            </a:r>
            <a:r>
              <a:rPr lang="en-GB" i="1" dirty="0" err="1" smtClean="0"/>
              <a:t>hacen</a:t>
            </a:r>
            <a:r>
              <a:rPr lang="en-GB" i="1" dirty="0" smtClean="0"/>
              <a:t> de </a:t>
            </a:r>
            <a:r>
              <a:rPr lang="en-GB" i="1" dirty="0" err="1" smtClean="0"/>
              <a:t>esta</a:t>
            </a:r>
            <a:r>
              <a:rPr lang="en-GB" i="1" dirty="0" smtClean="0"/>
              <a:t> (</a:t>
            </a:r>
            <a:r>
              <a:rPr lang="en-GB" i="1" dirty="0" err="1" smtClean="0"/>
              <a:t>contratos</a:t>
            </a:r>
            <a:r>
              <a:rPr lang="en-GB" i="1" dirty="0" smtClean="0"/>
              <a:t>)</a:t>
            </a:r>
          </a:p>
          <a:p>
            <a:pPr marL="285750" indent="-285750">
              <a:spcBef>
                <a:spcPts val="1078"/>
              </a:spcBef>
              <a:buSzPct val="99000"/>
              <a:buFont typeface="Arial" panose="020B0604020202020204" pitchFamily="34" charset="0"/>
              <a:buChar char="•"/>
            </a:pPr>
            <a:r>
              <a:rPr lang="en-GB" i="1" dirty="0" smtClean="0"/>
              <a:t>los </a:t>
            </a:r>
            <a:r>
              <a:rPr lang="en-GB" i="1" dirty="0" err="1" smtClean="0"/>
              <a:t>sistemas</a:t>
            </a:r>
            <a:r>
              <a:rPr lang="en-GB" i="1" dirty="0" smtClean="0"/>
              <a:t> </a:t>
            </a:r>
            <a:r>
              <a:rPr lang="en-GB" i="1" dirty="0" err="1" smtClean="0"/>
              <a:t>pueden</a:t>
            </a:r>
            <a:r>
              <a:rPr lang="en-GB" i="1" dirty="0" smtClean="0"/>
              <a:t> </a:t>
            </a:r>
            <a:r>
              <a:rPr lang="en-GB" i="1" dirty="0" err="1" smtClean="0"/>
              <a:t>incluir</a:t>
            </a:r>
            <a:r>
              <a:rPr lang="en-GB" i="1" dirty="0" smtClean="0"/>
              <a:t> </a:t>
            </a:r>
            <a:r>
              <a:rPr lang="en-GB" i="1" dirty="0" err="1" smtClean="0"/>
              <a:t>más</a:t>
            </a:r>
            <a:r>
              <a:rPr lang="en-GB" i="1" dirty="0" smtClean="0"/>
              <a:t> de </a:t>
            </a:r>
            <a:r>
              <a:rPr lang="en-GB" i="1" dirty="0" err="1" smtClean="0"/>
              <a:t>una</a:t>
            </a:r>
            <a:r>
              <a:rPr lang="en-GB" i="1" dirty="0" smtClean="0"/>
              <a:t> </a:t>
            </a:r>
            <a:r>
              <a:rPr lang="en-GB" i="1" dirty="0" err="1" smtClean="0"/>
              <a:t>estructura</a:t>
            </a:r>
            <a:r>
              <a:rPr lang="en-GB" i="1" dirty="0" smtClean="0"/>
              <a:t>. (</a:t>
            </a:r>
            <a:r>
              <a:rPr lang="en-GB" i="1" dirty="0" err="1" smtClean="0"/>
              <a:t>modulos</a:t>
            </a:r>
            <a:r>
              <a:rPr lang="en-GB" i="1" dirty="0" smtClean="0"/>
              <a:t>, </a:t>
            </a:r>
            <a:r>
              <a:rPr lang="en-GB" i="1" dirty="0" err="1" smtClean="0"/>
              <a:t>procesos</a:t>
            </a:r>
            <a:r>
              <a:rPr lang="en-GB" i="1" dirty="0" smtClean="0"/>
              <a:t>, </a:t>
            </a:r>
            <a:r>
              <a:rPr lang="en-GB" i="1" dirty="0" err="1" smtClean="0"/>
              <a:t>etc</a:t>
            </a:r>
            <a:r>
              <a:rPr lang="en-GB" i="1" dirty="0" smtClean="0"/>
              <a:t>)</a:t>
            </a:r>
          </a:p>
          <a:p>
            <a:pPr marL="285750" indent="-285750">
              <a:spcBef>
                <a:spcPts val="1078"/>
              </a:spcBef>
              <a:buSzPct val="99000"/>
              <a:buFont typeface="Arial" panose="020B0604020202020204" pitchFamily="34" charset="0"/>
              <a:buChar char="•"/>
            </a:pPr>
            <a:r>
              <a:rPr lang="en-GB" i="1" dirty="0" smtClean="0"/>
              <a:t>el </a:t>
            </a:r>
            <a:r>
              <a:rPr lang="en-GB" i="1" dirty="0" err="1" smtClean="0"/>
              <a:t>comportamiento</a:t>
            </a:r>
            <a:r>
              <a:rPr lang="en-GB" i="1" dirty="0" smtClean="0"/>
              <a:t> de un </a:t>
            </a:r>
            <a:r>
              <a:rPr lang="en-GB" i="1" dirty="0" err="1" smtClean="0"/>
              <a:t>componente</a:t>
            </a:r>
            <a:r>
              <a:rPr lang="en-GB" i="1" dirty="0" smtClean="0"/>
              <a:t> </a:t>
            </a:r>
            <a:r>
              <a:rPr lang="en-GB" i="1" dirty="0" err="1" smtClean="0"/>
              <a:t>es</a:t>
            </a:r>
            <a:r>
              <a:rPr lang="en-GB" i="1" dirty="0" smtClean="0"/>
              <a:t> parte de la </a:t>
            </a:r>
            <a:r>
              <a:rPr lang="en-GB" i="1" dirty="0" err="1" smtClean="0"/>
              <a:t>arquitectura</a:t>
            </a:r>
            <a:r>
              <a:rPr lang="en-GB" i="1" dirty="0" smtClean="0"/>
              <a:t>.</a:t>
            </a:r>
          </a:p>
          <a:p>
            <a:pPr marL="0" indent="0">
              <a:spcBef>
                <a:spcPts val="413"/>
              </a:spcBef>
              <a:buClrTx/>
              <a:buFontTx/>
              <a:buNone/>
            </a:pPr>
            <a:endParaRPr lang="es-ES" baseline="0" noProof="0" dirty="0" smtClean="0"/>
          </a:p>
          <a:p>
            <a:pPr marL="0" marR="0" indent="0" algn="l" defTabSz="914400" rtl="0" eaLnBrk="1" fontAlgn="auto" latinLnBrk="0" hangingPunct="1">
              <a:lnSpc>
                <a:spcPct val="100000"/>
              </a:lnSpc>
              <a:spcBef>
                <a:spcPts val="413"/>
              </a:spcBef>
              <a:spcAft>
                <a:spcPts val="0"/>
              </a:spcAft>
              <a:buClrTx/>
              <a:buSz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ES" noProof="0" dirty="0" smtClean="0"/>
              <a:t>Cuando hablamos de comportamiento nos referimos a que debemos saber lo que hace un componente </a:t>
            </a:r>
          </a:p>
          <a:p>
            <a:pPr marL="0" marR="0" indent="0" algn="l" defTabSz="914400" rtl="0" eaLnBrk="1" fontAlgn="auto" latinLnBrk="0" hangingPunct="1">
              <a:lnSpc>
                <a:spcPct val="100000"/>
              </a:lnSpc>
              <a:spcBef>
                <a:spcPts val="413"/>
              </a:spcBef>
              <a:spcAft>
                <a:spcPts val="0"/>
              </a:spcAft>
              <a:buClrTx/>
              <a:buSz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s-ES" noProof="0" dirty="0" smtClean="0"/>
              <a:t>Esto</a:t>
            </a:r>
            <a:r>
              <a:rPr lang="es-ES" baseline="0" noProof="0" dirty="0" smtClean="0"/>
              <a:t> es debido a que el comportamiento de</a:t>
            </a:r>
            <a:r>
              <a:rPr lang="es-ES" noProof="0" dirty="0" smtClean="0"/>
              <a:t> un componente influye en el comportamiento de los otros componentes.</a:t>
            </a:r>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baseline="0" noProof="0" dirty="0" smtClean="0"/>
          </a:p>
          <a:p>
            <a:r>
              <a:rPr lang="es-ES" baseline="0" noProof="0" dirty="0" smtClean="0"/>
              <a:t>Cuando hablamos de entorno podemos interpretarlo como la interrelación que puede existir entre una arquitectura y otra con la que pueda interactuar, </a:t>
            </a:r>
          </a:p>
          <a:p>
            <a:r>
              <a:rPr lang="es-ES" baseline="0" noProof="0" dirty="0" smtClean="0"/>
              <a:t>incluso la interacción puede verse con un ecosistema de otras aplicaciones vistas como desde el punto de sus propias arquitecturas, </a:t>
            </a:r>
          </a:p>
          <a:p>
            <a:r>
              <a:rPr lang="es-ES" baseline="0" noProof="0" dirty="0" smtClean="0"/>
              <a:t>estas arquitecturas de los otros sistemas pueden ser conocidas o no</a:t>
            </a:r>
          </a:p>
          <a:p>
            <a:endParaRPr lang="es-ES" baseline="0" noProof="0" dirty="0" smtClean="0"/>
          </a:p>
          <a:p>
            <a:r>
              <a:rPr lang="es-ES" baseline="0" noProof="0" dirty="0" smtClean="0"/>
              <a:t>También podemos interpretar el entorno como las condiciones sobre las cuales se va a ejecutar la arquitectura,</a:t>
            </a:r>
          </a:p>
          <a:p>
            <a:r>
              <a:rPr lang="es-ES" baseline="0" noProof="0" dirty="0" smtClean="0"/>
              <a:t>e inclusive hasta los propios usuarios de la aplicación.</a:t>
            </a:r>
            <a:endParaRPr lang="es-ES" noProof="0" dirty="0" smtClean="0"/>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baseline="0" noProof="0" dirty="0" smtClean="0"/>
              <a:t>Un ejemplo clásico es la persistencia</a:t>
            </a:r>
          </a:p>
          <a:p>
            <a:endParaRPr lang="es-ES" baseline="0" noProof="0" dirty="0" smtClean="0"/>
          </a:p>
          <a:p>
            <a:r>
              <a:rPr lang="es-ES" baseline="0" noProof="0" dirty="0" smtClean="0"/>
              <a:t>Podemos tener un componente que se encarga de la persistencia </a:t>
            </a:r>
          </a:p>
          <a:p>
            <a:r>
              <a:rPr lang="es-ES" baseline="0" noProof="0" dirty="0" smtClean="0"/>
              <a:t>y cuando hablamos de persistencia al final nos da lo mismo si esta es un archivo físico en nuestra computadora, </a:t>
            </a:r>
          </a:p>
          <a:p>
            <a:r>
              <a:rPr lang="es-ES" baseline="0" noProof="0" dirty="0" smtClean="0"/>
              <a:t>en una base de datos, </a:t>
            </a:r>
          </a:p>
          <a:p>
            <a:r>
              <a:rPr lang="es-ES" baseline="0" noProof="0" dirty="0" smtClean="0"/>
              <a:t>en un servidor remoto con el cual intercambiamos datos usando servicios web </a:t>
            </a:r>
          </a:p>
          <a:p>
            <a:r>
              <a:rPr lang="es-ES" baseline="0" noProof="0" dirty="0" smtClean="0"/>
              <a:t>o inclusive </a:t>
            </a:r>
            <a:r>
              <a:rPr lang="es-ES" baseline="0" noProof="0" dirty="0" err="1" smtClean="0"/>
              <a:t>streaming</a:t>
            </a:r>
            <a:r>
              <a:rPr lang="es-ES" baseline="0" noProof="0" dirty="0" smtClean="0"/>
              <a:t> de datos.</a:t>
            </a:r>
          </a:p>
          <a:p>
            <a:endParaRPr lang="es-ES" baseline="0" noProof="0" dirty="0" smtClean="0"/>
          </a:p>
          <a:p>
            <a:r>
              <a:rPr lang="es-ES" baseline="0" noProof="0" dirty="0" smtClean="0"/>
              <a:t>Lo que nos importa a nosotros en cierto momento que nuestros datos sean almacenados y después puedan ser recuperados</a:t>
            </a:r>
          </a:p>
          <a:p>
            <a:endParaRPr lang="es-ES" baseline="0" noProof="0" dirty="0" smtClean="0"/>
          </a:p>
          <a:p>
            <a:r>
              <a:rPr lang="es-ES" baseline="0" noProof="0" dirty="0" smtClean="0"/>
              <a:t>Cualquier tipo de persistencia nos sirve y con solo cambiar de modulo podemos obtener funcionalidades diferentes basadas en una misma forma de comportarse</a:t>
            </a:r>
            <a:endParaRPr lang="es-ES" noProof="0" dirty="0"/>
          </a:p>
        </p:txBody>
      </p:sp>
    </p:spTree>
    <p:extLst>
      <p:ext uri="{BB962C8B-B14F-4D97-AF65-F5344CB8AC3E}">
        <p14:creationId xmlns:p14="http://schemas.microsoft.com/office/powerpoint/2010/main" val="1369886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Se hace mucho énfasis</a:t>
            </a:r>
            <a:r>
              <a:rPr lang="es-ES" baseline="0" noProof="0" dirty="0" smtClean="0"/>
              <a:t> en</a:t>
            </a:r>
          </a:p>
          <a:p>
            <a:endParaRPr lang="es-ES" baseline="0" noProof="0" dirty="0" smtClean="0"/>
          </a:p>
          <a:p>
            <a:r>
              <a:rPr lang="es-ES" baseline="0" noProof="0" dirty="0" smtClean="0"/>
              <a:t>La forma que las componentes están diseñadas dentro de la arquitectura, </a:t>
            </a:r>
          </a:p>
          <a:p>
            <a:endParaRPr lang="es-ES" baseline="0" noProof="0" dirty="0" smtClean="0"/>
          </a:p>
          <a:p>
            <a:r>
              <a:rPr lang="es-ES" baseline="0" noProof="0" dirty="0" smtClean="0"/>
              <a:t>para que sirve cada componente, </a:t>
            </a:r>
          </a:p>
          <a:p>
            <a:endParaRPr lang="es-ES" baseline="0" noProof="0" dirty="0" smtClean="0"/>
          </a:p>
          <a:p>
            <a:r>
              <a:rPr lang="es-ES" baseline="0" noProof="0" dirty="0" smtClean="0"/>
              <a:t>que acción realiza de forma individual cada componente en el contexto de las acciones de la arquitectura que esta representando</a:t>
            </a:r>
          </a:p>
          <a:p>
            <a:endParaRPr lang="es-ES" baseline="0" noProof="0" dirty="0" smtClean="0"/>
          </a:p>
          <a:p>
            <a:r>
              <a:rPr lang="es-ES" baseline="0" noProof="0" dirty="0" smtClean="0"/>
              <a:t>Que hace cada componente para relacionarse con aquellas otras componentes con las cuales interacciona</a:t>
            </a:r>
            <a:endParaRPr lang="es-ES" noProof="0" dirty="0"/>
          </a:p>
        </p:txBody>
      </p:sp>
    </p:spTree>
    <p:extLst>
      <p:ext uri="{BB962C8B-B14F-4D97-AF65-F5344CB8AC3E}">
        <p14:creationId xmlns:p14="http://schemas.microsoft.com/office/powerpoint/2010/main" val="1369886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Las</a:t>
            </a:r>
            <a:r>
              <a:rPr lang="es-ES" baseline="0" noProof="0" dirty="0" smtClean="0"/>
              <a:t> arquitecturas de software se centran en</a:t>
            </a:r>
          </a:p>
          <a:p>
            <a:endParaRPr lang="es-ES" baseline="0" noProof="0" dirty="0" smtClean="0"/>
          </a:p>
          <a:p>
            <a:r>
              <a:rPr lang="es-ES" baseline="0" noProof="0" dirty="0" smtClean="0"/>
              <a:t>La comprensión y manejo de la estructura de aplicaciones complejas</a:t>
            </a:r>
          </a:p>
          <a:p>
            <a:r>
              <a:rPr lang="es-ES" baseline="0" noProof="0" dirty="0" smtClean="0"/>
              <a:t>La reutilización de estas estructuras o al menos parte de estas estructuras en otras partes de la aplicación o en otras aplicaciones</a:t>
            </a:r>
          </a:p>
          <a:p>
            <a:r>
              <a:rPr lang="es-ES" baseline="0" noProof="0" dirty="0" smtClean="0"/>
              <a:t>La planificación de la evolución de la aplicación (o ecosistema de aplicaciones) a partir de la comprensión de la estructura </a:t>
            </a:r>
          </a:p>
          <a:p>
            <a:r>
              <a:rPr lang="es-ES" baseline="0" noProof="0" dirty="0" smtClean="0"/>
              <a:t>El estudio de propiedades especificas para realizar el análisis de compromisos a los que va a estar sometida nuestra solución.</a:t>
            </a:r>
            <a:endParaRPr lang="es-ES" noProof="0" dirty="0" smtClean="0"/>
          </a:p>
          <a:p>
            <a:endParaRPr lang="es-ES" noProof="0" dirty="0"/>
          </a:p>
        </p:txBody>
      </p:sp>
    </p:spTree>
    <p:extLst>
      <p:ext uri="{BB962C8B-B14F-4D97-AF65-F5344CB8AC3E}">
        <p14:creationId xmlns:p14="http://schemas.microsoft.com/office/powerpoint/2010/main" val="1369886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La calidad en la arquitectura de software es un aspecto fundamental que determina el éxito y la sostenibilidad de un sistema a largo plazo. Algunos de los atributos más importantes son el rendimiento, la escalabilidad y la seguridad. A continuación, se describen cada uno de estos atributos:</a:t>
            </a:r>
          </a:p>
          <a:p>
            <a:endParaRPr lang="es-ES" noProof="0" dirty="0" smtClean="0"/>
          </a:p>
          <a:p>
            <a:r>
              <a:rPr lang="es-ES" noProof="0" dirty="0" smtClean="0"/>
              <a:t>▎1. Rendimiento</a:t>
            </a:r>
          </a:p>
          <a:p>
            <a:endParaRPr lang="es-ES" noProof="0" dirty="0" smtClean="0"/>
          </a:p>
          <a:p>
            <a:r>
              <a:rPr lang="es-ES" noProof="0" dirty="0" smtClean="0"/>
              <a:t>El rendimiento se refiere a la capacidad del sistema para responder a las solicitudes de los usuarios en un tiempo razonable. Incluye varios aspectos:</a:t>
            </a:r>
          </a:p>
          <a:p>
            <a:endParaRPr lang="es-ES" noProof="0" dirty="0" smtClean="0"/>
          </a:p>
          <a:p>
            <a:r>
              <a:rPr lang="es-ES" noProof="0" dirty="0" smtClean="0"/>
              <a:t>• Tiempo de respuesta: La rapidez con la que el sistema puede procesar una solicitud y devolver una respuesta.</a:t>
            </a:r>
          </a:p>
          <a:p>
            <a:endParaRPr lang="es-ES" noProof="0" dirty="0" smtClean="0"/>
          </a:p>
          <a:p>
            <a:r>
              <a:rPr lang="es-ES" noProof="0" dirty="0" smtClean="0"/>
              <a:t>• </a:t>
            </a:r>
            <a:r>
              <a:rPr lang="es-ES" noProof="0" dirty="0" err="1" smtClean="0"/>
              <a:t>Throughput</a:t>
            </a:r>
            <a:r>
              <a:rPr lang="es-ES" noProof="0" dirty="0" smtClean="0"/>
              <a:t>: La cantidad de trabajo que el sistema puede manejar en un período de tiempo determinado, como el número de transacciones por segundo.</a:t>
            </a:r>
          </a:p>
          <a:p>
            <a:endParaRPr lang="es-ES" noProof="0" dirty="0" smtClean="0"/>
          </a:p>
          <a:p>
            <a:r>
              <a:rPr lang="es-ES" noProof="0" dirty="0" smtClean="0"/>
              <a:t>• Uso de recursos: La eficiencia con la que el sistema utiliza recursos como CPU, memoria y ancho de banda.</a:t>
            </a:r>
          </a:p>
          <a:p>
            <a:endParaRPr lang="es-ES" noProof="0" dirty="0" smtClean="0"/>
          </a:p>
          <a:p>
            <a:r>
              <a:rPr lang="es-ES" noProof="0" dirty="0" smtClean="0"/>
              <a:t>.</a:t>
            </a:r>
          </a:p>
        </p:txBody>
      </p:sp>
    </p:spTree>
    <p:extLst>
      <p:ext uri="{BB962C8B-B14F-4D97-AF65-F5344CB8AC3E}">
        <p14:creationId xmlns:p14="http://schemas.microsoft.com/office/powerpoint/2010/main" val="1369886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a:p>
            <a:r>
              <a:rPr lang="es-ES" noProof="0" dirty="0" smtClean="0"/>
              <a:t>▎2. Escalabilidad</a:t>
            </a:r>
          </a:p>
          <a:p>
            <a:endParaRPr lang="es-ES" noProof="0" dirty="0" smtClean="0"/>
          </a:p>
          <a:p>
            <a:r>
              <a:rPr lang="es-ES" noProof="0" dirty="0" smtClean="0"/>
              <a:t>La escalabilidad es la capacidad del sistema para manejar un aumento en la carga de trabajo sin comprometer el rendimiento. Se puede clasificar en:</a:t>
            </a:r>
          </a:p>
          <a:p>
            <a:endParaRPr lang="es-ES" noProof="0" dirty="0" smtClean="0"/>
          </a:p>
          <a:p>
            <a:r>
              <a:rPr lang="es-ES" noProof="0" dirty="0" smtClean="0"/>
              <a:t>• Escalabilidad vertical: Aumentar la capacidad de un solo servidor (por ejemplo, añadiendo más CPU o memoria).</a:t>
            </a:r>
          </a:p>
          <a:p>
            <a:endParaRPr lang="es-ES" noProof="0" dirty="0" smtClean="0"/>
          </a:p>
          <a:p>
            <a:r>
              <a:rPr lang="es-ES" noProof="0" dirty="0" smtClean="0"/>
              <a:t>• Escalabilidad horizontal: Añadir más servidores al sistema para distribuir la carga.</a:t>
            </a:r>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a:p>
            <a:r>
              <a:rPr lang="es-ES" noProof="0" dirty="0" smtClean="0"/>
              <a:t>▎3. Seguridad</a:t>
            </a:r>
          </a:p>
          <a:p>
            <a:endParaRPr lang="es-ES" noProof="0" dirty="0" smtClean="0"/>
          </a:p>
          <a:p>
            <a:r>
              <a:rPr lang="es-ES" noProof="0" dirty="0" smtClean="0"/>
              <a:t>La seguridad es un atributo crítico que protege los datos y recursos del sistema contra accesos no autorizados y ataques maliciosos. Incluye:</a:t>
            </a:r>
          </a:p>
          <a:p>
            <a:endParaRPr lang="es-ES" noProof="0" dirty="0" smtClean="0"/>
          </a:p>
          <a:p>
            <a:r>
              <a:rPr lang="es-ES" noProof="0" dirty="0" smtClean="0"/>
              <a:t>• Confidencialidad: Asegurar que solo las partes autorizadas puedan acceder a la información sensible.</a:t>
            </a:r>
          </a:p>
          <a:p>
            <a:endParaRPr lang="es-ES" noProof="0" dirty="0" smtClean="0"/>
          </a:p>
          <a:p>
            <a:r>
              <a:rPr lang="es-ES" noProof="0" dirty="0" smtClean="0"/>
              <a:t>• Integridad: Garantizar que los datos no sean alterados o manipulados sin autorización.</a:t>
            </a:r>
          </a:p>
          <a:p>
            <a:endParaRPr lang="es-ES" noProof="0" dirty="0" smtClean="0"/>
          </a:p>
          <a:p>
            <a:r>
              <a:rPr lang="es-ES" noProof="0" dirty="0" smtClean="0"/>
              <a:t>• Disponibilidad: Asegurar que el sistema esté disponible para los usuarios autorizados cuando lo necesiten.</a:t>
            </a:r>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8. Principios Básicos</a:t>
            </a:r>
          </a:p>
          <a:p>
            <a:endParaRPr lang="es-ES" noProof="0" dirty="0" smtClean="0"/>
          </a:p>
          <a:p>
            <a:r>
              <a:rPr lang="es-ES" noProof="0" dirty="0" smtClean="0"/>
              <a:t>▎Modularidad</a:t>
            </a:r>
          </a:p>
          <a:p>
            <a:endParaRPr lang="es-ES" noProof="0" dirty="0" smtClean="0"/>
          </a:p>
          <a:p>
            <a:r>
              <a:rPr lang="es-ES" noProof="0" dirty="0" smtClean="0"/>
              <a:t>La modularidad se refiere a la división de un sistema en partes más pequeñas y manejables, llamadas módulos. Cada módulo tiene una funcionalidad específica y puede desarrollarse, probarse y mantenerse de manera independiente. Esto facilita la comprensión del sistema y mejora la </a:t>
            </a:r>
            <a:r>
              <a:rPr lang="es-ES" noProof="0" dirty="0" err="1" smtClean="0"/>
              <a:t>mantenibilidad</a:t>
            </a:r>
            <a:r>
              <a:rPr lang="es-ES" noProof="0" dirty="0" smtClean="0"/>
              <a:t>.</a:t>
            </a:r>
          </a:p>
          <a:p>
            <a:endParaRPr lang="es-ES" noProof="0" dirty="0" smtClean="0"/>
          </a:p>
          <a:p>
            <a:r>
              <a:rPr lang="es-ES" noProof="0" dirty="0" smtClean="0"/>
              <a:t>▎Reutilización</a:t>
            </a:r>
          </a:p>
          <a:p>
            <a:endParaRPr lang="es-ES" noProof="0" dirty="0" smtClean="0"/>
          </a:p>
          <a:p>
            <a:r>
              <a:rPr lang="es-ES" noProof="0" dirty="0" smtClean="0"/>
              <a:t>La reutilización implica el uso de componentes o módulos existentes en nuevos sistemas o aplicaciones. Esto no solo ahorra tiempo y recursos, sino que también mejora la calidad del software, ya que los componentes reutilizados suelen estar probados y validados.</a:t>
            </a:r>
          </a:p>
          <a:p>
            <a:endParaRPr lang="es-ES" noProof="0" dirty="0" smtClean="0"/>
          </a:p>
          <a:p>
            <a:r>
              <a:rPr lang="es-ES" noProof="0" dirty="0" smtClean="0"/>
              <a:t>▎Separación de Responsabilidades</a:t>
            </a:r>
          </a:p>
          <a:p>
            <a:endParaRPr lang="es-ES" noProof="0" dirty="0" smtClean="0"/>
          </a:p>
          <a:p>
            <a:r>
              <a:rPr lang="es-ES" noProof="0" dirty="0" smtClean="0"/>
              <a:t>Este principio establece que cada módulo o componente debe tener una única responsabilidad o función bien definida. Esto reduce la complejidad y mejora la claridad del sistema, facilitando el mantenimiento y la evolución del software.</a:t>
            </a:r>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a:p>
            <a:r>
              <a:rPr lang="es-ES" noProof="0" dirty="0" smtClean="0"/>
              <a:t>• Arquitectura: En una aplicación web, la arquitectura puede definir que se usará un enfoque de </a:t>
            </a:r>
            <a:r>
              <a:rPr lang="es-ES" noProof="0" dirty="0" err="1" smtClean="0"/>
              <a:t>microservicios</a:t>
            </a:r>
            <a:r>
              <a:rPr lang="es-ES" noProof="0" dirty="0" smtClean="0"/>
              <a:t>, donde cada servicio es responsable de una funcionalidad específica.</a:t>
            </a:r>
          </a:p>
          <a:p>
            <a:endParaRPr lang="es-ES" noProof="0" dirty="0" smtClean="0"/>
          </a:p>
          <a:p>
            <a:r>
              <a:rPr lang="es-ES" noProof="0" dirty="0" smtClean="0"/>
              <a:t>• Diseño: Dentro de un </a:t>
            </a:r>
            <a:r>
              <a:rPr lang="es-ES" noProof="0" dirty="0" err="1" smtClean="0"/>
              <a:t>microservicio</a:t>
            </a:r>
            <a:r>
              <a:rPr lang="es-ES" noProof="0" dirty="0" smtClean="0"/>
              <a:t>, el diseño puede especificar el uso del patrón de diseño "</a:t>
            </a:r>
            <a:r>
              <a:rPr lang="es-ES" noProof="0" dirty="0" err="1" smtClean="0"/>
              <a:t>Singleton</a:t>
            </a:r>
            <a:r>
              <a:rPr lang="es-ES" noProof="0" dirty="0" smtClean="0"/>
              <a:t>" para gestionar instancias de conexión a una base de datos.</a:t>
            </a:r>
          </a:p>
        </p:txBody>
      </p:sp>
    </p:spTree>
    <p:extLst>
      <p:ext uri="{BB962C8B-B14F-4D97-AF65-F5344CB8AC3E}">
        <p14:creationId xmlns:p14="http://schemas.microsoft.com/office/powerpoint/2010/main" val="13698864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11. Toma de Decisiones Arquitectónicas</a:t>
            </a:r>
          </a:p>
          <a:p>
            <a:endParaRPr lang="es-ES" noProof="0" dirty="0" smtClean="0"/>
          </a:p>
          <a:p>
            <a:r>
              <a:rPr lang="es-ES" noProof="0" dirty="0" smtClean="0"/>
              <a:t>Los factores que influyen en la toma de decisiones arquitectónicas incluyen:</a:t>
            </a:r>
          </a:p>
          <a:p>
            <a:endParaRPr lang="es-ES" noProof="0" dirty="0" smtClean="0"/>
          </a:p>
          <a:p>
            <a:r>
              <a:rPr lang="es-ES" noProof="0" dirty="0" smtClean="0"/>
              <a:t>• Requisitos del negocio: Necesidades específicas que deben cumplirse.</a:t>
            </a:r>
          </a:p>
          <a:p>
            <a:endParaRPr lang="es-ES" noProof="0" dirty="0" smtClean="0"/>
          </a:p>
          <a:p>
            <a:r>
              <a:rPr lang="es-ES" noProof="0" dirty="0" smtClean="0"/>
              <a:t>• Restricciones técnicas: Limitaciones impuestas por tecnologías existentes o infraestructuras.</a:t>
            </a:r>
          </a:p>
          <a:p>
            <a:endParaRPr lang="es-ES" noProof="0" dirty="0" smtClean="0"/>
          </a:p>
          <a:p>
            <a:r>
              <a:rPr lang="es-ES" noProof="0" dirty="0" smtClean="0"/>
              <a:t>• Costo: Presupuesto disponible para el desarrollo y mantenimiento.</a:t>
            </a:r>
          </a:p>
          <a:p>
            <a:endParaRPr lang="es-ES" noProof="0" dirty="0" smtClean="0"/>
          </a:p>
          <a:p>
            <a:r>
              <a:rPr lang="es-ES" noProof="0" dirty="0" smtClean="0"/>
              <a:t>• Escalabilidad y rendimiento: Necesidades futuras de crecimiento y eficiencia.</a:t>
            </a:r>
          </a:p>
          <a:p>
            <a:endParaRPr lang="es-ES" noProof="0" dirty="0" smtClean="0"/>
          </a:p>
          <a:p>
            <a:r>
              <a:rPr lang="es-ES" noProof="0" dirty="0" smtClean="0"/>
              <a:t>• Seguridad: Requisitos de protección de datos y acceso.</a:t>
            </a:r>
          </a:p>
          <a:p>
            <a:endParaRPr lang="es-ES" noProof="0" dirty="0" smtClean="0"/>
          </a:p>
          <a:p>
            <a:r>
              <a:rPr lang="es-ES" noProof="0" dirty="0" smtClean="0"/>
              <a:t>• Facilidad de mantenimiento: Capacidad para actualizar y corregir el sistema a lo largo del tiempo..</a:t>
            </a:r>
          </a:p>
        </p:txBody>
      </p:sp>
    </p:spTree>
    <p:extLst>
      <p:ext uri="{BB962C8B-B14F-4D97-AF65-F5344CB8AC3E}">
        <p14:creationId xmlns:p14="http://schemas.microsoft.com/office/powerpoint/2010/main" val="13698864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Los estilos de arquitectura nos permiten poder clasificar de acuerdo al comportamiento de los componentes,</a:t>
            </a:r>
            <a:r>
              <a:rPr lang="es-ES" baseline="0" noProof="0" dirty="0" smtClean="0"/>
              <a:t> </a:t>
            </a:r>
          </a:p>
          <a:p>
            <a:r>
              <a:rPr lang="es-ES" baseline="0" noProof="0" dirty="0" smtClean="0"/>
              <a:t>sus propiedades y relaciones entre ellos para poder describir la actividad que realizan de forma conjunta. </a:t>
            </a:r>
          </a:p>
          <a:p>
            <a:endParaRPr lang="es-ES" baseline="0" noProof="0" dirty="0" smtClean="0"/>
          </a:p>
          <a:p>
            <a:r>
              <a:rPr lang="es-ES" baseline="0" noProof="0" dirty="0" smtClean="0"/>
              <a:t>Es importante señalar que el estilo de la arquitectura no establece por si sola la solución del problema, </a:t>
            </a:r>
          </a:p>
          <a:p>
            <a:r>
              <a:rPr lang="es-ES" baseline="0" noProof="0" dirty="0" smtClean="0"/>
              <a:t>pero si orienta sobre como abordar la implementación de las soluciones a través de las componentes, </a:t>
            </a:r>
          </a:p>
          <a:p>
            <a:r>
              <a:rPr lang="es-ES" baseline="0" noProof="0" dirty="0" smtClean="0"/>
              <a:t>las relaciones, las restricciones y las declaraciones de comportamiento y naturaleza de los mismos </a:t>
            </a:r>
            <a:endParaRPr lang="es-ES" noProof="0" dirty="0" smtClean="0"/>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Características</a:t>
            </a:r>
          </a:p>
          <a:p>
            <a:endParaRPr lang="es-ES" dirty="0" smtClean="0"/>
          </a:p>
          <a:p>
            <a:r>
              <a:rPr lang="es-ES" dirty="0" smtClean="0"/>
              <a:t>1. Despliegue Único: La aplicación se despliega como un único archivo ejecutable o conjunto de archivos. No hay componentes independientes.</a:t>
            </a:r>
          </a:p>
          <a:p>
            <a:endParaRPr lang="es-ES" dirty="0" smtClean="0"/>
          </a:p>
          <a:p>
            <a:r>
              <a:rPr lang="es-ES" dirty="0" smtClean="0"/>
              <a:t>2. Cohesión: Todos los módulos y funciones están altamente interconectados, lo que puede facilitar el desarrollo inicial.</a:t>
            </a:r>
          </a:p>
          <a:p>
            <a:endParaRPr lang="es-ES" dirty="0" smtClean="0"/>
          </a:p>
          <a:p>
            <a:r>
              <a:rPr lang="es-ES" dirty="0" smtClean="0"/>
              <a:t>3. Simplicidad: Es más fácil de desarrollar y probar en las etapas iniciales debido a su estructura simple.</a:t>
            </a:r>
          </a:p>
          <a:p>
            <a:endParaRPr lang="es-ES" dirty="0" smtClean="0"/>
          </a:p>
          <a:p>
            <a:r>
              <a:rPr lang="es-ES" dirty="0" smtClean="0"/>
              <a:t>4. Rendimiento: Puede ofrecer un buen rendimiento en aplicaciones pequeñas, ya que todas las partes se ejecutan en el mismo proceso.</a:t>
            </a:r>
          </a:p>
          <a:p>
            <a:endParaRPr lang="es-ES" dirty="0" smtClean="0"/>
          </a:p>
          <a:p>
            <a:r>
              <a:rPr lang="es-ES" dirty="0" smtClean="0"/>
              <a:t>5. Escalabilidad Limitada: Escalar puede ser complicado, ya que requiere escalar toda la aplicación en lugar de componentes individuales.</a:t>
            </a:r>
          </a:p>
          <a:p>
            <a:endParaRPr lang="es-ES" dirty="0" smtClean="0"/>
          </a:p>
          <a:p>
            <a:r>
              <a:rPr lang="es-ES" dirty="0" smtClean="0"/>
              <a:t>6. Mantenimiento: A medida que la aplicación crece, el mantenimiento puede volverse complicado y costoso, ya que cualquier cambio puede afectar a otras partes del sistema.</a:t>
            </a:r>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1. Simplicidad en el Desarrollo: </a:t>
            </a:r>
          </a:p>
          <a:p>
            <a:endParaRPr lang="es-ES" dirty="0" smtClean="0"/>
          </a:p>
          <a:p>
            <a:r>
              <a:rPr lang="es-ES" dirty="0" smtClean="0"/>
              <a:t>   • La estructura monolítica es más fácil de entender y desarrollar, especialmente para equipos pequeños. Todos los componentes están en un solo lugar, lo que facilita la colaboración.</a:t>
            </a:r>
          </a:p>
          <a:p>
            <a:endParaRPr lang="es-ES" dirty="0" smtClean="0"/>
          </a:p>
          <a:p>
            <a:r>
              <a:rPr lang="es-ES" dirty="0" smtClean="0"/>
              <a:t>2. Despliegue Sencillo: </a:t>
            </a:r>
          </a:p>
          <a:p>
            <a:endParaRPr lang="es-ES" dirty="0" smtClean="0"/>
          </a:p>
          <a:p>
            <a:r>
              <a:rPr lang="es-ES" dirty="0" smtClean="0"/>
              <a:t>   • El proceso de despliegue es más simple, ya que solo hay un único artefacto o conjunto de archivos que se necesita manejar. Esto reduce la complejidad del entorno de producción.</a:t>
            </a:r>
          </a:p>
          <a:p>
            <a:endParaRPr lang="es-ES" dirty="0" smtClean="0"/>
          </a:p>
          <a:p>
            <a:r>
              <a:rPr lang="es-ES" dirty="0" smtClean="0"/>
              <a:t>3. Rendimiento Inicial: </a:t>
            </a:r>
          </a:p>
          <a:p>
            <a:endParaRPr lang="es-ES" dirty="0" smtClean="0"/>
          </a:p>
          <a:p>
            <a:r>
              <a:rPr lang="es-ES" dirty="0" smtClean="0"/>
              <a:t>   • Para aplicaciones pequeñas o medianas, el rendimiento puede ser óptimo, ya que todos los componentes se ejecutan en el mismo proceso y no hay sobrecarga de comunicación entre servicios.</a:t>
            </a:r>
          </a:p>
          <a:p>
            <a:endParaRPr lang="es-ES" dirty="0" smtClean="0"/>
          </a:p>
          <a:p>
            <a:r>
              <a:rPr lang="es-ES" dirty="0" smtClean="0"/>
              <a:t>4. Facilidad de Pruebas: </a:t>
            </a:r>
          </a:p>
          <a:p>
            <a:endParaRPr lang="es-ES" dirty="0" smtClean="0"/>
          </a:p>
          <a:p>
            <a:r>
              <a:rPr lang="es-ES" dirty="0" smtClean="0"/>
              <a:t>   • Las pruebas pueden ser más sencillas, ya que todo el sistema se puede probar como una sola unidad. Esto permite realizar pruebas integradas sin necesidad de configurar múltiples servicios.</a:t>
            </a:r>
          </a:p>
          <a:p>
            <a:endParaRPr lang="es-ES" dirty="0" smtClean="0"/>
          </a:p>
          <a:p>
            <a:r>
              <a:rPr lang="es-ES" dirty="0" smtClean="0"/>
              <a:t>5. Menor Sobrecarga de Infraestructura: </a:t>
            </a:r>
          </a:p>
          <a:p>
            <a:endParaRPr lang="es-ES" dirty="0" smtClean="0"/>
          </a:p>
          <a:p>
            <a:r>
              <a:rPr lang="es-ES" dirty="0" smtClean="0"/>
              <a:t>   • No es necesario gestionar múltiples servidores o instancias, lo que puede ser beneficioso en términos de costos y recursos, especialmente para </a:t>
            </a:r>
            <a:r>
              <a:rPr lang="es-ES" dirty="0" err="1" smtClean="0"/>
              <a:t>startups</a:t>
            </a:r>
            <a:r>
              <a:rPr lang="es-ES" dirty="0" smtClean="0"/>
              <a:t> o proyectos pequeños.</a:t>
            </a:r>
          </a:p>
          <a:p>
            <a:endParaRPr lang="en-US" noProof="0" dirty="0" smtClean="0"/>
          </a:p>
          <a:p>
            <a:r>
              <a:rPr lang="es-ES" noProof="0" dirty="0" smtClean="0"/>
              <a:t>▎Desventajas de las Arquitecturas Monolíticas</a:t>
            </a:r>
          </a:p>
          <a:p>
            <a:endParaRPr lang="es-ES" noProof="0" dirty="0" smtClean="0"/>
          </a:p>
          <a:p>
            <a:r>
              <a:rPr lang="es-ES" noProof="0" dirty="0" smtClean="0"/>
              <a:t>1. Escalabilidad Limitada: </a:t>
            </a:r>
          </a:p>
          <a:p>
            <a:endParaRPr lang="es-ES" noProof="0" dirty="0" smtClean="0"/>
          </a:p>
          <a:p>
            <a:r>
              <a:rPr lang="es-ES" noProof="0" dirty="0" smtClean="0"/>
              <a:t>   • Escalar una aplicación monolítica puede ser complicado. Si una parte de la aplicación necesita más recursos, es necesario escalar toda la aplicación, lo que puede resultar ineficiente y costoso.</a:t>
            </a:r>
          </a:p>
          <a:p>
            <a:endParaRPr lang="es-ES" noProof="0" dirty="0" smtClean="0"/>
          </a:p>
          <a:p>
            <a:r>
              <a:rPr lang="es-ES" noProof="0" dirty="0" smtClean="0"/>
              <a:t>2. Dificultades en el Mantenimiento: </a:t>
            </a:r>
          </a:p>
          <a:p>
            <a:endParaRPr lang="es-ES" noProof="0" dirty="0" smtClean="0"/>
          </a:p>
          <a:p>
            <a:r>
              <a:rPr lang="es-ES" noProof="0" dirty="0" smtClean="0"/>
              <a:t>   • A medida que la aplicación crece, el código puede volverse difícil de mantener. Los cambios en un área pueden afectar otras partes del sistema, lo que aumenta el riesgo de introducir errores.</a:t>
            </a:r>
          </a:p>
          <a:p>
            <a:endParaRPr lang="es-ES" noProof="0" dirty="0" smtClean="0"/>
          </a:p>
          <a:p>
            <a:r>
              <a:rPr lang="es-ES" noProof="0" dirty="0" smtClean="0"/>
              <a:t>3. Desarrollo Lento: </a:t>
            </a:r>
          </a:p>
          <a:p>
            <a:endParaRPr lang="es-ES" noProof="0" dirty="0" smtClean="0"/>
          </a:p>
          <a:p>
            <a:r>
              <a:rPr lang="es-ES" noProof="0" dirty="0" smtClean="0"/>
              <a:t>   • En equipos grandes, el trabajo en un monolito puede llevar a cuellos de botella, ya que múltiples desarrolladores pueden estar trabajando en la misma base de código, lo que puede provocar conflictos y complicaciones.</a:t>
            </a:r>
          </a:p>
          <a:p>
            <a:endParaRPr lang="es-ES" noProof="0" dirty="0" smtClean="0"/>
          </a:p>
          <a:p>
            <a:r>
              <a:rPr lang="es-ES" noProof="0" dirty="0" smtClean="0"/>
              <a:t>4. </a:t>
            </a:r>
            <a:r>
              <a:rPr lang="es-ES" noProof="0" dirty="0" err="1" smtClean="0"/>
              <a:t>Resiliencia</a:t>
            </a:r>
            <a:r>
              <a:rPr lang="es-ES" noProof="0" dirty="0" smtClean="0"/>
              <a:t> y Disponibilidad: </a:t>
            </a:r>
          </a:p>
          <a:p>
            <a:endParaRPr lang="es-ES" noProof="0" dirty="0" smtClean="0"/>
          </a:p>
          <a:p>
            <a:r>
              <a:rPr lang="es-ES" noProof="0" dirty="0" smtClean="0"/>
              <a:t>   • Si una parte de la aplicación falla, puede afectar a todo el sistema. Esto reduce la </a:t>
            </a:r>
            <a:r>
              <a:rPr lang="es-ES" noProof="0" dirty="0" err="1" smtClean="0"/>
              <a:t>resiliencia</a:t>
            </a:r>
            <a:r>
              <a:rPr lang="es-ES" noProof="0" dirty="0" smtClean="0"/>
              <a:t> y disponibilidad general de la aplicación.</a:t>
            </a:r>
          </a:p>
          <a:p>
            <a:endParaRPr lang="es-ES" noProof="0" dirty="0" smtClean="0"/>
          </a:p>
          <a:p>
            <a:r>
              <a:rPr lang="es-ES" noProof="0" dirty="0" smtClean="0"/>
              <a:t>5. Dificultad para Adoptar Nuevas Tecnologías: </a:t>
            </a:r>
          </a:p>
          <a:p>
            <a:endParaRPr lang="es-ES" noProof="0" dirty="0" smtClean="0"/>
          </a:p>
          <a:p>
            <a:r>
              <a:rPr lang="es-ES" noProof="0" dirty="0" smtClean="0"/>
              <a:t>   • La integración de nuevas tecnologías o herramientas puede ser complicada, ya que todo el sistema está interconectado. Cambiar un componente puede requerir cambios en otros módulos.</a:t>
            </a:r>
          </a:p>
          <a:p>
            <a:endParaRPr lang="es-ES" noProof="0" dirty="0" smtClean="0"/>
          </a:p>
          <a:p>
            <a:r>
              <a:rPr lang="es-ES" noProof="0" dirty="0" smtClean="0"/>
              <a:t>6. Limitaciones en la Tecnología: </a:t>
            </a:r>
          </a:p>
          <a:p>
            <a:endParaRPr lang="es-ES" noProof="0" dirty="0" smtClean="0"/>
          </a:p>
          <a:p>
            <a:r>
              <a:rPr lang="es-ES" noProof="0" dirty="0" smtClean="0"/>
              <a:t>   • Al estar todos los componentes interconectados, es difícil utilizar diferentes tecnologías para diferentes partes de la aplicación (por ejemplo, usar un lenguaje de programación diferente para ciertos módulos).</a:t>
            </a:r>
          </a:p>
          <a:p>
            <a:endParaRPr lang="es-ES" noProof="0" dirty="0" smtClean="0"/>
          </a:p>
          <a:p>
            <a:r>
              <a:rPr lang="es-ES" noProof="0" dirty="0" smtClean="0"/>
              <a:t>▎Resumen</a:t>
            </a:r>
          </a:p>
          <a:p>
            <a:endParaRPr lang="es-ES" noProof="0" dirty="0" smtClean="0"/>
          </a:p>
          <a:p>
            <a:r>
              <a:rPr lang="es-ES" noProof="0" dirty="0" smtClean="0"/>
              <a:t>La arquitectura monolítica ofrece simplicidad y facilidad en las primeras etapas del desarrollo, pero puede presentar desafíos significativos a medida que la aplicación crece y se vuelve más compleja. Es importante evaluar cuidadosamente las necesidades del proyecto y el equipo antes de decidir si este enfoque es el más adecuado</a:t>
            </a:r>
          </a:p>
        </p:txBody>
      </p:sp>
    </p:spTree>
    <p:extLst>
      <p:ext uri="{BB962C8B-B14F-4D97-AF65-F5344CB8AC3E}">
        <p14:creationId xmlns:p14="http://schemas.microsoft.com/office/powerpoint/2010/main" val="13698864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Cada capa del estilo de arquitectura en capas puede ser cerrada o abierta. Una capa cerrada significa que, a medida que una solicitud se desplaza de arriba hacia abajo de una capa a otra, no puede omitir ninguna capa.</a:t>
            </a:r>
          </a:p>
          <a:p>
            <a:r>
              <a:rPr lang="es-ES" noProof="0" dirty="0" smtClean="0"/>
              <a:t>El concepto de capas de aislamiento significa que los cambios realizados en una capa de la arquitectura generalmente no afectan a los componentes de otras capas, siempre que los contratos entre esas capas permanezcan inalterados. Cada capa es independiente de las demás, por lo que tiene poco o ningún conocimiento del funcionamiento interno de otras capas de la arquitectura. El concepto de capas de aislamiento también permite reemplazar cualquier capa de la arquitectura sin afectar a ninguna otra capa (nuevamente, asumiendo contratos bien definidos y el uso del patrón de delegado comercial).</a:t>
            </a:r>
          </a:p>
          <a:p>
            <a:endParaRPr lang="es-ES" noProof="0" dirty="0" smtClean="0"/>
          </a:p>
          <a:p>
            <a:r>
              <a:rPr lang="es-ES" noProof="0" dirty="0" smtClean="0"/>
              <a:t>1. Capa de Presentación (UI </a:t>
            </a:r>
            <a:r>
              <a:rPr lang="es-ES" noProof="0" dirty="0" err="1" smtClean="0"/>
              <a:t>Layer</a:t>
            </a:r>
            <a:r>
              <a:rPr lang="es-ES" noProof="0" dirty="0" smtClean="0"/>
              <a:t>):</a:t>
            </a:r>
          </a:p>
          <a:p>
            <a:endParaRPr lang="es-ES" noProof="0" dirty="0" smtClean="0"/>
          </a:p>
          <a:p>
            <a:r>
              <a:rPr lang="es-ES" noProof="0" dirty="0" smtClean="0"/>
              <a:t>   • Esta capa es responsable de la interacción con el usuario. Puede incluir aplicaciones web, móviles o de escritorio.</a:t>
            </a:r>
          </a:p>
          <a:p>
            <a:endParaRPr lang="es-ES" noProof="0" dirty="0" smtClean="0"/>
          </a:p>
          <a:p>
            <a:r>
              <a:rPr lang="es-ES" noProof="0" dirty="0" smtClean="0"/>
              <a:t>   • Se encarga de mostrar la información y recibir las entradas del usuario.</a:t>
            </a:r>
          </a:p>
          <a:p>
            <a:endParaRPr lang="es-ES" noProof="0" dirty="0" smtClean="0"/>
          </a:p>
          <a:p>
            <a:r>
              <a:rPr lang="es-ES" noProof="0" dirty="0" smtClean="0"/>
              <a:t>2. Capa de Aplicación (</a:t>
            </a:r>
            <a:r>
              <a:rPr lang="es-ES" noProof="0" dirty="0" err="1" smtClean="0"/>
              <a:t>Application</a:t>
            </a:r>
            <a:r>
              <a:rPr lang="es-ES" noProof="0" dirty="0" smtClean="0"/>
              <a:t> </a:t>
            </a:r>
            <a:r>
              <a:rPr lang="es-ES" noProof="0" dirty="0" err="1" smtClean="0"/>
              <a:t>Layer</a:t>
            </a:r>
            <a:r>
              <a:rPr lang="es-ES" noProof="0" dirty="0" smtClean="0"/>
              <a:t>):</a:t>
            </a:r>
          </a:p>
          <a:p>
            <a:endParaRPr lang="es-ES" noProof="0" dirty="0" smtClean="0"/>
          </a:p>
          <a:p>
            <a:r>
              <a:rPr lang="es-ES" noProof="0" dirty="0" smtClean="0"/>
              <a:t>   • Contiene la lógica de negocio y las reglas de aplicación. Aquí se manejan las operaciones y se procesan las solicitudes del usuario.</a:t>
            </a:r>
          </a:p>
          <a:p>
            <a:endParaRPr lang="es-ES" noProof="0" dirty="0" smtClean="0"/>
          </a:p>
          <a:p>
            <a:r>
              <a:rPr lang="es-ES" noProof="0" dirty="0" smtClean="0"/>
              <a:t>   • Puede incluir servicios que interactúan con la capa de presentación y la capa de dominio.</a:t>
            </a:r>
          </a:p>
          <a:p>
            <a:endParaRPr lang="es-ES" noProof="0" dirty="0" smtClean="0"/>
          </a:p>
          <a:p>
            <a:r>
              <a:rPr lang="es-ES" noProof="0" dirty="0" smtClean="0"/>
              <a:t>3. Capa de Persistencia (</a:t>
            </a:r>
            <a:r>
              <a:rPr lang="es-ES" noProof="0" dirty="0" err="1" smtClean="0"/>
              <a:t>Persistence</a:t>
            </a:r>
            <a:r>
              <a:rPr lang="es-ES" noProof="0" dirty="0" smtClean="0"/>
              <a:t> </a:t>
            </a:r>
            <a:r>
              <a:rPr lang="es-ES" noProof="0" dirty="0" err="1" smtClean="0"/>
              <a:t>Layer</a:t>
            </a:r>
            <a:r>
              <a:rPr lang="es-ES" noProof="0" dirty="0" smtClean="0"/>
              <a:t>):</a:t>
            </a:r>
          </a:p>
          <a:p>
            <a:endParaRPr lang="es-ES" noProof="0" dirty="0" smtClean="0"/>
          </a:p>
          <a:p>
            <a:r>
              <a:rPr lang="es-ES" noProof="0" dirty="0" smtClean="0"/>
              <a:t>   • Se encarga del acceso a datos y la interacción con bases de datos o sistemas de almacenamiento.</a:t>
            </a:r>
          </a:p>
          <a:p>
            <a:endParaRPr lang="es-ES" noProof="0" dirty="0" smtClean="0"/>
          </a:p>
          <a:p>
            <a:r>
              <a:rPr lang="es-ES" noProof="0" dirty="0" smtClean="0"/>
              <a:t>   • Incluye repositorios, </a:t>
            </a:r>
            <a:r>
              <a:rPr lang="es-ES" noProof="0" dirty="0" err="1" smtClean="0"/>
              <a:t>DAOs</a:t>
            </a:r>
            <a:r>
              <a:rPr lang="es-ES" noProof="0" dirty="0" smtClean="0"/>
              <a:t> (Data Access </a:t>
            </a:r>
            <a:r>
              <a:rPr lang="es-ES" noProof="0" dirty="0" err="1" smtClean="0"/>
              <a:t>Objects</a:t>
            </a:r>
            <a:r>
              <a:rPr lang="es-ES" noProof="0" dirty="0" smtClean="0"/>
              <a:t>) y cualquier otro componente necesario para manejar datos.</a:t>
            </a:r>
          </a:p>
        </p:txBody>
      </p:sp>
    </p:spTree>
    <p:extLst>
      <p:ext uri="{BB962C8B-B14F-4D97-AF65-F5344CB8AC3E}">
        <p14:creationId xmlns:p14="http://schemas.microsoft.com/office/powerpoint/2010/main" val="13698864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Ventajas de la Arquitectura N-Capas</a:t>
            </a:r>
          </a:p>
          <a:p>
            <a:endParaRPr lang="es-ES" noProof="0" dirty="0" smtClean="0"/>
          </a:p>
          <a:p>
            <a:r>
              <a:rPr lang="es-ES" noProof="0" dirty="0" smtClean="0"/>
              <a:t>1. Separación de Responsabilidades:</a:t>
            </a:r>
          </a:p>
          <a:p>
            <a:endParaRPr lang="es-ES" noProof="0" dirty="0" smtClean="0"/>
          </a:p>
          <a:p>
            <a:r>
              <a:rPr lang="es-ES" noProof="0" dirty="0" smtClean="0"/>
              <a:t>   • Cada capa tiene una función específica (presentación, lógica de negocio, acceso a datos), lo que facilita la gestión y el mantenimiento del código.</a:t>
            </a:r>
          </a:p>
          <a:p>
            <a:endParaRPr lang="es-ES" noProof="0" dirty="0" smtClean="0"/>
          </a:p>
          <a:p>
            <a:r>
              <a:rPr lang="es-ES" noProof="0" dirty="0" smtClean="0"/>
              <a:t>2. Facilidad de Mantenimiento:</a:t>
            </a:r>
          </a:p>
          <a:p>
            <a:endParaRPr lang="es-ES" noProof="0" dirty="0" smtClean="0"/>
          </a:p>
          <a:p>
            <a:r>
              <a:rPr lang="es-ES" noProof="0" dirty="0" smtClean="0"/>
              <a:t>   • Al estar separadas las preocupaciones, es más fácil realizar cambios en una capa sin afectar las demás, lo que mejora la </a:t>
            </a:r>
            <a:r>
              <a:rPr lang="es-ES" noProof="0" dirty="0" err="1" smtClean="0"/>
              <a:t>mantenibilidad</a:t>
            </a:r>
            <a:r>
              <a:rPr lang="es-ES" noProof="0" dirty="0" smtClean="0"/>
              <a:t> del sistema.</a:t>
            </a:r>
          </a:p>
          <a:p>
            <a:endParaRPr lang="es-ES" noProof="0" dirty="0" smtClean="0"/>
          </a:p>
          <a:p>
            <a:r>
              <a:rPr lang="es-ES" noProof="0" dirty="0" smtClean="0"/>
              <a:t>3. Reusabilidad:</a:t>
            </a:r>
          </a:p>
          <a:p>
            <a:endParaRPr lang="es-ES" noProof="0" dirty="0" smtClean="0"/>
          </a:p>
          <a:p>
            <a:r>
              <a:rPr lang="es-ES" noProof="0" dirty="0" smtClean="0"/>
              <a:t>   • Las capas pueden ser reutilizadas en diferentes aplicaciones. Por ejemplo, la lógica de negocio puede ser utilizada por varias aplicaciones con diferentes interfaces de usuario.</a:t>
            </a:r>
          </a:p>
          <a:p>
            <a:endParaRPr lang="es-ES" noProof="0" dirty="0" smtClean="0"/>
          </a:p>
          <a:p>
            <a:r>
              <a:rPr lang="es-ES" noProof="0" dirty="0" smtClean="0"/>
              <a:t>4. Escalabilidad:</a:t>
            </a:r>
          </a:p>
          <a:p>
            <a:endParaRPr lang="es-ES" noProof="0" dirty="0" smtClean="0"/>
          </a:p>
          <a:p>
            <a:r>
              <a:rPr lang="es-ES" noProof="0" dirty="0" smtClean="0"/>
              <a:t>   • La arquitectura permite escalar diferentes capas de manera independiente. Por ejemplo, se puede escalar la capa de presentación sin necesidad de modificar la lógica de negocio.</a:t>
            </a:r>
          </a:p>
          <a:p>
            <a:endParaRPr lang="es-ES" noProof="0" dirty="0" smtClean="0"/>
          </a:p>
          <a:p>
            <a:r>
              <a:rPr lang="es-ES" noProof="0" dirty="0" smtClean="0"/>
              <a:t>5. Facilidad para Pruebas:</a:t>
            </a:r>
          </a:p>
          <a:p>
            <a:endParaRPr lang="es-ES" noProof="0" dirty="0" smtClean="0"/>
          </a:p>
          <a:p>
            <a:r>
              <a:rPr lang="es-ES" noProof="0" dirty="0" smtClean="0"/>
              <a:t>   • Las pruebas unitarias son más sencillas de implementar, ya que cada capa puede ser probada de forma aislada.</a:t>
            </a:r>
          </a:p>
          <a:p>
            <a:endParaRPr lang="es-ES" noProof="0" dirty="0" smtClean="0"/>
          </a:p>
          <a:p>
            <a:r>
              <a:rPr lang="es-ES" noProof="0" dirty="0" smtClean="0"/>
              <a:t>6. Flexibilidad:</a:t>
            </a:r>
          </a:p>
          <a:p>
            <a:endParaRPr lang="es-ES" noProof="0" dirty="0" smtClean="0"/>
          </a:p>
          <a:p>
            <a:r>
              <a:rPr lang="es-ES" noProof="0" dirty="0" smtClean="0"/>
              <a:t>   • Permite cambiar o actualizar capas individuales (como cambiar la base de datos o la interfaz de usuario) sin afectar al resto del sistema.</a:t>
            </a:r>
          </a:p>
          <a:p>
            <a:endParaRPr lang="es-ES" noProof="0" dirty="0" smtClean="0"/>
          </a:p>
          <a:p>
            <a:r>
              <a:rPr lang="es-ES" noProof="0" dirty="0" smtClean="0"/>
              <a:t>▎Desventajas de la Arquitectura N-Capas</a:t>
            </a:r>
          </a:p>
          <a:p>
            <a:endParaRPr lang="es-ES" noProof="0" dirty="0" smtClean="0"/>
          </a:p>
          <a:p>
            <a:r>
              <a:rPr lang="es-ES" noProof="0" dirty="0" smtClean="0"/>
              <a:t>2. Rendimiento:</a:t>
            </a:r>
          </a:p>
          <a:p>
            <a:endParaRPr lang="es-ES" noProof="0" dirty="0" smtClean="0"/>
          </a:p>
          <a:p>
            <a:r>
              <a:rPr lang="es-ES" noProof="0" dirty="0" smtClean="0"/>
              <a:t>   • La comunicación entre capas puede introducir latencias y sobrecargas, afectando el rendimiento general.</a:t>
            </a:r>
          </a:p>
          <a:p>
            <a:endParaRPr lang="es-ES" noProof="0" dirty="0" smtClean="0"/>
          </a:p>
          <a:p>
            <a:r>
              <a:rPr lang="es-ES" noProof="0" dirty="0" smtClean="0"/>
              <a:t>3. Dificultades en el Mantenimiento:</a:t>
            </a:r>
          </a:p>
          <a:p>
            <a:endParaRPr lang="es-ES" noProof="0" dirty="0" smtClean="0"/>
          </a:p>
          <a:p>
            <a:r>
              <a:rPr lang="es-ES" noProof="0" dirty="0" smtClean="0"/>
              <a:t>   • Las interdependencias entre capas pueden complicar el mantenimiento y requerir cambios en múltiples capas.</a:t>
            </a:r>
          </a:p>
          <a:p>
            <a:endParaRPr lang="es-ES" noProof="0" dirty="0" smtClean="0"/>
          </a:p>
          <a:p>
            <a:r>
              <a:rPr lang="es-ES" noProof="0" dirty="0" smtClean="0"/>
              <a:t>4. Sobrecarga de Desarrollo:</a:t>
            </a:r>
          </a:p>
          <a:p>
            <a:endParaRPr lang="es-ES" noProof="0" dirty="0" smtClean="0"/>
          </a:p>
          <a:p>
            <a:r>
              <a:rPr lang="es-ES" noProof="0" dirty="0" smtClean="0"/>
              <a:t>   • El tiempo y esfuerzo necesarios para desarrollar y mantener múltiples capas pueden ser significativos.</a:t>
            </a:r>
          </a:p>
          <a:p>
            <a:endParaRPr lang="es-ES" noProof="0" dirty="0" smtClean="0"/>
          </a:p>
          <a:p>
            <a:r>
              <a:rPr lang="es-ES" noProof="0" dirty="0" smtClean="0"/>
              <a:t>5. Rigidez:</a:t>
            </a:r>
          </a:p>
          <a:p>
            <a:endParaRPr lang="es-ES" noProof="0" dirty="0" smtClean="0"/>
          </a:p>
          <a:p>
            <a:r>
              <a:rPr lang="es-ES" noProof="0" dirty="0" smtClean="0"/>
              <a:t>   • Puede ser menos flexible frente a cambios en los requisitos del negocio o nuevas tecnologías en comparación con arquitecturas más modernas.</a:t>
            </a:r>
          </a:p>
          <a:p>
            <a:endParaRPr lang="en-US" noProof="0" dirty="0" smtClean="0"/>
          </a:p>
          <a:p>
            <a:r>
              <a:rPr lang="es-ES" noProof="0" dirty="0" smtClean="0"/>
              <a:t>Sistemas de Gestión de Contenidos (CMS)</a:t>
            </a:r>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La arquitectura cliente servidor es una de las mas comunes y conocidas. </a:t>
            </a:r>
          </a:p>
          <a:p>
            <a:endParaRPr lang="es-ES" dirty="0" smtClean="0"/>
          </a:p>
          <a:p>
            <a:r>
              <a:rPr lang="es-ES" dirty="0" smtClean="0"/>
              <a:t>Los clientes realizan peticiones al servidor el cual procesa cada una de estas peticiones devolviendo una respuesta al cliente que la realizo.</a:t>
            </a:r>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Los servidores pueden ser con estado o sin estado. Un servidor con estado puede recibir múltiples peticiones de los clientes, mantiene un record de las peticiones de cada cliente, a esto se le llama sesión</a:t>
            </a:r>
          </a:p>
          <a:p>
            <a:endParaRPr lang="es-ES" dirty="0" smtClean="0"/>
          </a:p>
          <a:p>
            <a:r>
              <a:rPr lang="es-ES" dirty="0" smtClean="0"/>
              <a:t>Normalmente esta arquitectura esta asociada a servicios de red, ya que es muy común ver implementaciones de la misma en sistemas como </a:t>
            </a:r>
          </a:p>
          <a:p>
            <a:r>
              <a:rPr lang="es-ES" dirty="0" smtClean="0"/>
              <a:t>correo electrónico, acceso a sitios web, sistemas de gestión de base de datos, entre otros pero también puede ser encontrada un poco mas internamente dentro de una misma solución al actuar algunas de sus componentes siguiendo esta arquitectura.</a:t>
            </a:r>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Podemos resaltar como ventajas que</a:t>
            </a:r>
          </a:p>
          <a:p>
            <a:endParaRPr lang="es-ES" dirty="0" smtClean="0"/>
          </a:p>
          <a:p>
            <a:r>
              <a:rPr lang="es-ES" dirty="0" smtClean="0"/>
              <a:t>Los servicios se acceden usando “INTERFACES de USUARIO”, no hay necesidad de que hagan</a:t>
            </a:r>
            <a:r>
              <a:rPr lang="es-ES" baseline="0" dirty="0" smtClean="0"/>
              <a:t> sesiones de comandos remotas directamente en el servicio.</a:t>
            </a:r>
          </a:p>
          <a:p>
            <a:r>
              <a:rPr lang="es-ES" baseline="0" dirty="0" smtClean="0"/>
              <a:t>Cuando hablamos de </a:t>
            </a:r>
            <a:r>
              <a:rPr lang="es-ES" dirty="0" smtClean="0"/>
              <a:t>“INTERFACES de USUARIO” nos estamos refiriendo a servicios a los cuales nuestras aplicaciones pueden conectarse mediante un protocolo de comunicación preestablecido. </a:t>
            </a:r>
          </a:p>
          <a:p>
            <a:r>
              <a:rPr lang="es-ES" dirty="0" smtClean="0"/>
              <a:t>De esta forma las aplicaciones</a:t>
            </a:r>
            <a:r>
              <a:rPr lang="es-ES" baseline="0" dirty="0" smtClean="0"/>
              <a:t> </a:t>
            </a:r>
            <a:r>
              <a:rPr lang="es-ES" dirty="0" smtClean="0"/>
              <a:t>pueden realizar sus peticiones y obtener la respuesta por parte del servidor, </a:t>
            </a:r>
          </a:p>
          <a:p>
            <a:r>
              <a:rPr lang="es-ES" dirty="0" smtClean="0"/>
              <a:t>Ejemplos clásicos de esto son los protocolos SMTP, IMAP, POP3 y en cierta medida HTTP.</a:t>
            </a:r>
          </a:p>
          <a:p>
            <a:endParaRPr lang="es-ES" dirty="0" smtClean="0"/>
          </a:p>
          <a:p>
            <a:r>
              <a:rPr lang="es-ES" dirty="0" smtClean="0"/>
              <a:t>Cabe señalar que no es necesario la implementación de los clientes y los servicios en una misma plataforma tecnológica, </a:t>
            </a:r>
          </a:p>
          <a:p>
            <a:r>
              <a:rPr lang="es-ES" dirty="0" smtClean="0"/>
              <a:t>Un servidor puede tener clientes implementados en diferentes tecnologías todos realizando peticiones al mismo tiempo  </a:t>
            </a:r>
          </a:p>
          <a:p>
            <a:r>
              <a:rPr lang="es-ES" dirty="0" smtClean="0"/>
              <a:t>Por ejemplo podemos tener una aplicación web hecha en </a:t>
            </a:r>
            <a:r>
              <a:rPr lang="es-ES" dirty="0" err="1" smtClean="0"/>
              <a:t>Python</a:t>
            </a:r>
            <a:r>
              <a:rPr lang="es-ES" dirty="0" smtClean="0"/>
              <a:t> que consuma de una Base de Datos soportada en un Sistema de gestión de Bases de datos como MS SQL server </a:t>
            </a:r>
          </a:p>
          <a:p>
            <a:r>
              <a:rPr lang="es-ES" dirty="0" smtClean="0"/>
              <a:t>Y al mismo tiempo tener un sistema de escritorio accediendo la misma base de datos programado en C#, </a:t>
            </a:r>
          </a:p>
          <a:p>
            <a:r>
              <a:rPr lang="es-ES" dirty="0" smtClean="0"/>
              <a:t>Aun mas podemos tener una aplicación </a:t>
            </a:r>
            <a:r>
              <a:rPr lang="es-ES" dirty="0" err="1" smtClean="0"/>
              <a:t>Android</a:t>
            </a:r>
            <a:r>
              <a:rPr lang="es-ES" dirty="0" smtClean="0"/>
              <a:t> programada en </a:t>
            </a:r>
            <a:r>
              <a:rPr lang="es-ES" dirty="0" err="1" smtClean="0"/>
              <a:t>flutter</a:t>
            </a:r>
            <a:r>
              <a:rPr lang="es-ES" dirty="0" smtClean="0"/>
              <a:t> que acceda a la misma base de datos</a:t>
            </a:r>
          </a:p>
          <a:p>
            <a:endParaRPr lang="es-ES" dirty="0" smtClean="0"/>
          </a:p>
          <a:p>
            <a:r>
              <a:rPr lang="es-ES" dirty="0" smtClean="0"/>
              <a:t>Es</a:t>
            </a:r>
            <a:r>
              <a:rPr lang="es-ES" baseline="0" dirty="0" smtClean="0"/>
              <a:t> un modelo de acceso distribuido, con cada componente cliente tiene funcionalidades y responsabilidades especificas bien definidas, lo cual provoca que el mantenimiento de cada de estos componentes será relativamente fácil.</a:t>
            </a:r>
            <a:endParaRPr lang="es-ES" dirty="0" smtClean="0"/>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Esta arquitectura también presenta desventajas, algunas de ellas son</a:t>
            </a:r>
          </a:p>
          <a:p>
            <a:r>
              <a:rPr lang="es-ES" dirty="0" smtClean="0"/>
              <a:t>Los servidores pueden colapsar en momentos de alta demanda, Esto puede suceder tanto a nivel físico como a nivel de aplicación, </a:t>
            </a:r>
          </a:p>
          <a:p>
            <a:r>
              <a:rPr lang="es-ES" dirty="0" smtClean="0"/>
              <a:t>independientemente que el sistema pueda estar programado o no para soportar y manejar eficientemente altos niveles de carga </a:t>
            </a:r>
          </a:p>
          <a:p>
            <a:endParaRPr lang="es-ES" dirty="0" smtClean="0"/>
          </a:p>
          <a:p>
            <a:r>
              <a:rPr lang="es-ES" dirty="0" smtClean="0"/>
              <a:t>Otra</a:t>
            </a:r>
            <a:r>
              <a:rPr lang="es-ES" baseline="0" dirty="0" smtClean="0"/>
              <a:t> de las desventajas es que al estar soportado sobre un único proveedor de servicio este representa un punto único de fallo en el cual si colapsa este puede interrumpirse la funcionalidad del sistema aunque este quizás tenga implementadas capacidades de recuperación cuando esto ocurra. Lo cierto es que cuando ocurre el fallo las operaciones dejan de hacerse durante un tiempo y esto afecta el servicio al no haber quien pueda atender las peticiones.</a:t>
            </a:r>
          </a:p>
          <a:p>
            <a:endParaRPr lang="es-E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Un ejemplo reciente son las caídas de servicio del sistema “TU-ENVIO” durante este tiempo, </a:t>
            </a:r>
          </a:p>
          <a:p>
            <a:r>
              <a:rPr lang="es-ES" dirty="0" smtClean="0"/>
              <a:t>es evidente que la infraestructura de este sistema en algún momento ha colapsado ante números grandes de peticiones dejando transacciones incompletas</a:t>
            </a:r>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a:p>
            <a:r>
              <a:rPr lang="es-ES" dirty="0" smtClean="0"/>
              <a:t>La arquitectura peer 2 peer se caracteriza por la descentralización del control.</a:t>
            </a:r>
          </a:p>
          <a:p>
            <a:endParaRPr lang="es-ES" dirty="0" smtClean="0"/>
          </a:p>
          <a:p>
            <a:r>
              <a:rPr lang="es-ES" dirty="0" smtClean="0"/>
              <a:t>Cada uno de los componentes llamados peer actúan al mismo tiempo como server y como cliente teniendo las mismas capacidades y responsabilidades. </a:t>
            </a:r>
          </a:p>
          <a:p>
            <a:endParaRPr lang="es-ES" dirty="0" smtClean="0"/>
          </a:p>
          <a:p>
            <a:r>
              <a:rPr lang="es-ES" dirty="0" smtClean="0"/>
              <a:t>Es a menudo comparada y contrastada con la arquitectura cliente servidor</a:t>
            </a:r>
          </a:p>
          <a:p>
            <a:endParaRPr lang="es-ES" dirty="0" smtClean="0"/>
          </a:p>
          <a:p>
            <a:r>
              <a:rPr lang="es-ES" dirty="0" smtClean="0"/>
              <a:t>)</a:t>
            </a:r>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La arquitectura pipe and </a:t>
            </a:r>
            <a:r>
              <a:rPr lang="es-ES" noProof="0" dirty="0" err="1" smtClean="0"/>
              <a:t>filter</a:t>
            </a:r>
            <a:r>
              <a:rPr lang="es-ES" noProof="0" dirty="0" smtClean="0"/>
              <a:t> tiene una topología lineal en la cual </a:t>
            </a:r>
          </a:p>
          <a:p>
            <a:r>
              <a:rPr lang="es-ES" noProof="0" dirty="0" smtClean="0"/>
              <a:t>Cada uno de los filtros son los componentes activos de procesamiento de datos </a:t>
            </a:r>
          </a:p>
          <a:p>
            <a:r>
              <a:rPr lang="es-ES" noProof="0" dirty="0" smtClean="0"/>
              <a:t>y los pipes son el medio de transporte, ya sea un protocolo, un bus de datos, etc...</a:t>
            </a:r>
          </a:p>
          <a:p>
            <a:endParaRPr lang="es-ES" noProof="0" dirty="0" smtClean="0"/>
          </a:p>
          <a:p>
            <a:r>
              <a:rPr lang="es-ES" noProof="0" dirty="0" smtClean="0"/>
              <a:t>Lo mas importante a destacar de esta arquitectura es que lo que produce cada filtro es consumido por el filtro sub siguiente hasta terminar el procesamiento completo. </a:t>
            </a:r>
          </a:p>
          <a:p>
            <a:endParaRPr lang="es-ES" noProof="0" dirty="0" smtClean="0"/>
          </a:p>
          <a:p>
            <a:r>
              <a:rPr lang="es-ES" noProof="0" dirty="0" smtClean="0"/>
              <a:t>El procesamiento en los filtros puede considerarse de tipo secuencial aunque no necesariamente tienen que ser así, </a:t>
            </a:r>
          </a:p>
          <a:p>
            <a:r>
              <a:rPr lang="es-ES" noProof="0" dirty="0" smtClean="0"/>
              <a:t>los filtros pueden paralelizarse para trabajar con flujos de entrada en lotes</a:t>
            </a:r>
          </a:p>
          <a:p>
            <a:endParaRPr lang="es-ES" noProof="0" dirty="0" smtClean="0"/>
          </a:p>
          <a:p>
            <a:r>
              <a:rPr lang="es-ES" noProof="0" dirty="0" smtClean="0"/>
              <a:t>En dependencia del problema pueden adicionarse o quitarse filtros de la cadena de ejecución para obtener resultados diferentes, </a:t>
            </a:r>
          </a:p>
          <a:p>
            <a:r>
              <a:rPr lang="es-ES" noProof="0" dirty="0" smtClean="0"/>
              <a:t>inclusive un mismo filtro puede ser aplicado varias veces en diferentes lugares dentro de la misma cadena de procesamiento</a:t>
            </a:r>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baseline="0" noProof="0" dirty="0" smtClean="0"/>
          </a:p>
          <a:p>
            <a:r>
              <a:rPr lang="es-ES" baseline="0" noProof="0" dirty="0" smtClean="0"/>
              <a:t>También si la información es de alto volumen y se le puede hacer el mismo proceso de atomización y garantizarse la misma independencia entre cada unidad se pueden utilizar múltiples ejecutores de filtros de forma paralela para el procesamiento de la información (También los microprocesadores aprovechan esta característica al usar múltiples núcleos de ejecución, cada uno con su propio pipeline de ejecución).</a:t>
            </a:r>
            <a:endParaRPr lang="es-ES" noProof="0" dirty="0" smtClean="0"/>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La arquitectura </a:t>
            </a:r>
            <a:r>
              <a:rPr lang="es-ES" noProof="0" dirty="0" err="1" smtClean="0"/>
              <a:t>Blackboard</a:t>
            </a:r>
            <a:r>
              <a:rPr lang="es-ES" noProof="0" dirty="0" smtClean="0"/>
              <a:t> es un patrón de diseño utilizado en sistemas de software que se basa en un enfoque colaborativo para resolver problemas complejos. Este patrón es especialmente útil en aplicaciones donde se requiere combinar conocimientos de diferentes fuentes o expertos para llegar a una solución. Se inspira en el concepto de un "pizarra" (</a:t>
            </a:r>
            <a:r>
              <a:rPr lang="es-ES" noProof="0" dirty="0" err="1" smtClean="0"/>
              <a:t>blackboard</a:t>
            </a:r>
            <a:r>
              <a:rPr lang="es-ES" noProof="0" dirty="0" smtClean="0"/>
              <a:t>) donde múltiples agentes o componentes pueden leer y escribir información, colaborando para resolver un problema.</a:t>
            </a:r>
          </a:p>
          <a:p>
            <a:endParaRPr lang="es-ES" noProof="0" dirty="0" smtClean="0"/>
          </a:p>
          <a:p>
            <a:r>
              <a:rPr lang="es-ES" noProof="0" dirty="0" smtClean="0"/>
              <a:t>▎Componentes Principales</a:t>
            </a:r>
          </a:p>
          <a:p>
            <a:endParaRPr lang="es-ES" noProof="0" dirty="0" smtClean="0"/>
          </a:p>
          <a:p>
            <a:r>
              <a:rPr lang="es-ES" noProof="0" dirty="0" smtClean="0"/>
              <a:t>1. </a:t>
            </a:r>
            <a:r>
              <a:rPr lang="es-ES" noProof="0" dirty="0" err="1" smtClean="0"/>
              <a:t>Blackboard</a:t>
            </a:r>
            <a:r>
              <a:rPr lang="es-ES" noProof="0" dirty="0" smtClean="0"/>
              <a:t> (Pizarra):</a:t>
            </a:r>
          </a:p>
          <a:p>
            <a:endParaRPr lang="es-ES" noProof="0" dirty="0" smtClean="0"/>
          </a:p>
          <a:p>
            <a:r>
              <a:rPr lang="es-ES" noProof="0" dirty="0" smtClean="0"/>
              <a:t>   • Es un espacio compartido donde se almacena el conocimiento y los datos necesarios para resolver el problema. Los diferentes componentes (agentes) pueden leer de esta pizarra y escribir en ella, lo que facilita la colaboración y el intercambio de información.</a:t>
            </a:r>
          </a:p>
          <a:p>
            <a:endParaRPr lang="es-ES" noProof="0" dirty="0" smtClean="0"/>
          </a:p>
          <a:p>
            <a:r>
              <a:rPr lang="es-ES" noProof="0" dirty="0" smtClean="0"/>
              <a:t>2. Agentes (o Módulos):</a:t>
            </a:r>
          </a:p>
          <a:p>
            <a:endParaRPr lang="es-ES" noProof="0" dirty="0" smtClean="0"/>
          </a:p>
          <a:p>
            <a:r>
              <a:rPr lang="es-ES" noProof="0" dirty="0" smtClean="0"/>
              <a:t>   • Son componentes que representan diferentes conocimientos o habilidades. Cada agente puede acceder a la pizarra, procesar la información que encuentra y contribuir con nuevos datos o soluciones. Los agentes pueden ser activados por cambios en la pizarra o por condiciones específicas.</a:t>
            </a:r>
          </a:p>
          <a:p>
            <a:endParaRPr lang="es-ES" noProof="0" dirty="0" smtClean="0"/>
          </a:p>
          <a:p>
            <a:r>
              <a:rPr lang="es-ES" noProof="0" dirty="0" smtClean="0"/>
              <a:t>3. Controlador (opcional):</a:t>
            </a:r>
          </a:p>
          <a:p>
            <a:endParaRPr lang="es-ES" noProof="0" dirty="0" smtClean="0"/>
          </a:p>
          <a:p>
            <a:r>
              <a:rPr lang="es-ES" noProof="0" dirty="0" smtClean="0"/>
              <a:t>   • Puede existir un componente que gestione la coordinación entre los agentes, determinando cuándo deben activarse y qué información deben procesar. Sin embargo, en algunos sistemas, los agentes pueden funcionar de manera autónoma.</a:t>
            </a:r>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Ventajas de la Arquitectura </a:t>
            </a:r>
            <a:r>
              <a:rPr lang="es-ES" noProof="0" dirty="0" err="1" smtClean="0"/>
              <a:t>Blackboard</a:t>
            </a:r>
            <a:endParaRPr lang="es-ES" noProof="0" dirty="0" smtClean="0"/>
          </a:p>
          <a:p>
            <a:endParaRPr lang="es-ES" noProof="0" dirty="0" smtClean="0"/>
          </a:p>
          <a:p>
            <a:r>
              <a:rPr lang="es-ES" noProof="0" dirty="0" smtClean="0"/>
              <a:t>1. Adaptabilidad:</a:t>
            </a:r>
          </a:p>
          <a:p>
            <a:endParaRPr lang="es-ES" noProof="0" dirty="0" smtClean="0"/>
          </a:p>
          <a:p>
            <a:r>
              <a:rPr lang="es-ES" noProof="0" dirty="0" smtClean="0"/>
              <a:t>   • Es fácil incorporar nuevos agentes o modificar los existentes sin necesidad de reestructurar el sistema completo.</a:t>
            </a:r>
          </a:p>
          <a:p>
            <a:endParaRPr lang="es-ES" noProof="0" dirty="0" smtClean="0"/>
          </a:p>
          <a:p>
            <a:r>
              <a:rPr lang="es-ES" noProof="0" dirty="0" smtClean="0"/>
              <a:t>2. Escalabilidad:</a:t>
            </a:r>
          </a:p>
          <a:p>
            <a:endParaRPr lang="es-ES" noProof="0" dirty="0" smtClean="0"/>
          </a:p>
          <a:p>
            <a:r>
              <a:rPr lang="es-ES" noProof="0" dirty="0" smtClean="0"/>
              <a:t>   • La arquitectura puede escalar fácilmente al agregar más agentes según sea necesario para abordar problemas más complejos o diferentes dominios.</a:t>
            </a:r>
          </a:p>
          <a:p>
            <a:endParaRPr lang="es-ES" noProof="0" dirty="0" smtClean="0"/>
          </a:p>
          <a:p>
            <a:r>
              <a:rPr lang="es-ES" noProof="0" dirty="0" smtClean="0"/>
              <a:t>3. Resolución de Problemas Complejos:</a:t>
            </a:r>
          </a:p>
          <a:p>
            <a:endParaRPr lang="es-ES" noProof="0" dirty="0" smtClean="0"/>
          </a:p>
          <a:p>
            <a:r>
              <a:rPr lang="es-ES" noProof="0" dirty="0" smtClean="0"/>
              <a:t>   • Es particularmente efectiva para problemas que requieren la integración de múltiples disciplinas o tipos de conocimiento, como en inteligencia artificial, procesamiento del lenguaje natural y sistemas expertos.</a:t>
            </a:r>
          </a:p>
          <a:p>
            <a:endParaRPr lang="es-ES" noProof="0" dirty="0" smtClean="0"/>
          </a:p>
          <a:p>
            <a:r>
              <a:rPr lang="es-ES" noProof="0" dirty="0" smtClean="0"/>
              <a:t>4. Facilidad de </a:t>
            </a:r>
            <a:r>
              <a:rPr lang="es-ES" noProof="0" dirty="0" err="1" smtClean="0"/>
              <a:t>Prototipado</a:t>
            </a:r>
            <a:r>
              <a:rPr lang="es-ES" noProof="0" dirty="0" smtClean="0"/>
              <a:t>:</a:t>
            </a:r>
          </a:p>
          <a:p>
            <a:endParaRPr lang="es-ES" noProof="0" dirty="0" smtClean="0"/>
          </a:p>
          <a:p>
            <a:r>
              <a:rPr lang="es-ES" noProof="0" dirty="0" smtClean="0"/>
              <a:t>   • Permite construir prototipos rápidamente al agregar agentes que implementen diferentes enfoques o algoritmos para resolver un problema específico.</a:t>
            </a:r>
          </a:p>
          <a:p>
            <a:r>
              <a:rPr lang="es-ES" noProof="0" dirty="0" smtClean="0"/>
              <a:t>▎Desventajas de la Arquitectura </a:t>
            </a:r>
            <a:r>
              <a:rPr lang="es-ES" noProof="0" dirty="0" err="1" smtClean="0"/>
              <a:t>Blackboard</a:t>
            </a:r>
            <a:endParaRPr lang="es-ES" noProof="0" dirty="0" smtClean="0"/>
          </a:p>
          <a:p>
            <a:endParaRPr lang="es-ES" noProof="0" dirty="0" smtClean="0"/>
          </a:p>
          <a:p>
            <a:r>
              <a:rPr lang="es-ES" noProof="0" dirty="0" smtClean="0"/>
              <a:t>1. Complejidad:</a:t>
            </a:r>
          </a:p>
          <a:p>
            <a:endParaRPr lang="es-ES" noProof="0" dirty="0" smtClean="0"/>
          </a:p>
          <a:p>
            <a:r>
              <a:rPr lang="es-ES" noProof="0" dirty="0" smtClean="0"/>
              <a:t>   • La gestión del flujo de información y la coordinación entre múltiples agentes puede volverse compleja, especialmente en sistemas grandes.</a:t>
            </a:r>
          </a:p>
          <a:p>
            <a:endParaRPr lang="es-ES" noProof="0" dirty="0" smtClean="0"/>
          </a:p>
          <a:p>
            <a:r>
              <a:rPr lang="es-ES" noProof="0" dirty="0" smtClean="0"/>
              <a:t>2. Rendimiento:</a:t>
            </a:r>
          </a:p>
          <a:p>
            <a:endParaRPr lang="es-ES" noProof="0" dirty="0" smtClean="0"/>
          </a:p>
          <a:p>
            <a:r>
              <a:rPr lang="es-ES" noProof="0" dirty="0" smtClean="0"/>
              <a:t>   • Dependiendo de cómo se implemente la pizarra y cómo interactúen los agentes, puede haber problemas de rendimiento debido a la contención del acceso a la pizarra o a la sobrecarga del procesamiento.</a:t>
            </a:r>
          </a:p>
          <a:p>
            <a:endParaRPr lang="es-ES" noProof="0" dirty="0" smtClean="0"/>
          </a:p>
          <a:p>
            <a:r>
              <a:rPr lang="es-ES" noProof="0" dirty="0" smtClean="0"/>
              <a:t>3. Dificultades en el Control:</a:t>
            </a:r>
          </a:p>
          <a:p>
            <a:endParaRPr lang="es-ES" noProof="0" dirty="0" smtClean="0"/>
          </a:p>
          <a:p>
            <a:r>
              <a:rPr lang="es-ES" noProof="0" dirty="0" smtClean="0"/>
              <a:t>   • Sin un controlador claro, puede ser difícil gestionar qué agente debe activarse en qué momento, lo que puede llevar a condiciones no deseadas o a una ejecución ineficiente.</a:t>
            </a:r>
          </a:p>
          <a:p>
            <a:endParaRPr lang="es-ES" noProof="0" dirty="0" smtClean="0"/>
          </a:p>
          <a:p>
            <a:r>
              <a:rPr lang="es-ES" noProof="0" dirty="0" smtClean="0"/>
              <a:t>4. Dependencia del Diseño de la Pizarra:</a:t>
            </a:r>
          </a:p>
          <a:p>
            <a:endParaRPr lang="es-ES" noProof="0" dirty="0" smtClean="0"/>
          </a:p>
          <a:p>
            <a:r>
              <a:rPr lang="es-ES" noProof="0" dirty="0" smtClean="0"/>
              <a:t>   • El éxito del sistema depende en gran medida de cómo se diseñe la pizarra y cómo se estructuren los datos. Un diseño ineficiente puede limitar la efectividad del sistema.</a:t>
            </a:r>
          </a:p>
        </p:txBody>
      </p:sp>
    </p:spTree>
    <p:extLst>
      <p:ext uri="{BB962C8B-B14F-4D97-AF65-F5344CB8AC3E}">
        <p14:creationId xmlns:p14="http://schemas.microsoft.com/office/powerpoint/2010/main" val="13698864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El problema de detección de incidencias por parte de las autoridades encargadas de</a:t>
            </a:r>
            <a:r>
              <a:rPr lang="es-ES" baseline="0" noProof="0" dirty="0" smtClean="0"/>
              <a:t> su solución es muy complejo. Tiene que coincidir en el lugar la persona adecuada, con el poder suficiente para reportar una incidencia y que esta se le de seguimiento. En la practica esto no es factible, no tiene mucho sentido pagar salarios de personas para que detecten los problemas. </a:t>
            </a:r>
          </a:p>
          <a:p>
            <a:r>
              <a:rPr lang="es-ES" baseline="0" noProof="0" dirty="0" smtClean="0"/>
              <a:t>Por otro lado también puede darse una sectorización de la detección, por ejemplo a mi me paga la compañía eléctrica y si el problema que estoy viendo es de agua, siempre que no afecte a la condición eléctrica a mi no me importa. Eso lo tiene que reportar el que se dedica a reportar problemas de agua.</a:t>
            </a:r>
            <a:endParaRPr lang="es-ES" noProof="0" dirty="0" smtClean="0"/>
          </a:p>
          <a:p>
            <a:endParaRPr lang="es-ES" noProof="0" dirty="0" smtClean="0"/>
          </a:p>
          <a:p>
            <a:r>
              <a:rPr lang="es-ES" noProof="0" dirty="0" smtClean="0"/>
              <a:t>Lo mas común es que las personas afectadas por un incidente determinado sean exactamente las mas interesadas en que el problema sea resuelto.  Y son exactamente aquellas que</a:t>
            </a:r>
            <a:r>
              <a:rPr lang="es-ES" baseline="0" noProof="0" dirty="0" smtClean="0"/>
              <a:t> pudieran realizar  los reportes correspondientes para que empiece generarse una solución.</a:t>
            </a:r>
            <a:endParaRPr lang="es-ES" noProof="0" dirty="0" smtClean="0"/>
          </a:p>
          <a:p>
            <a:endParaRPr lang="es-ES" noProof="0" dirty="0" smtClean="0"/>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Cuando el ciudadano común, aquel que esta interesado en que un determinado incidente se resuelva, se plantea la necesidad de reportar in incidente de esta naturaleza se encuentra con varios problemas.</a:t>
            </a:r>
          </a:p>
          <a:p>
            <a:r>
              <a:rPr lang="es-ES" noProof="0" dirty="0" smtClean="0"/>
              <a:t>No tiene idea a quien reporteárselo, si a la empresa eléctrica o a la empresa del agua.</a:t>
            </a:r>
          </a:p>
          <a:p>
            <a:r>
              <a:rPr lang="es-ES" noProof="0" dirty="0" smtClean="0"/>
              <a:t>Por otro lado las diferentes empresas tienen divididos los trabajos de acuerdo a diferentes perfiles y por lo tanto usan</a:t>
            </a:r>
            <a:r>
              <a:rPr lang="es-ES" baseline="0" noProof="0" dirty="0" smtClean="0"/>
              <a:t> diferentes brigadas.</a:t>
            </a:r>
          </a:p>
          <a:p>
            <a:endParaRPr lang="es-ES" baseline="0" noProof="0" dirty="0" smtClean="0"/>
          </a:p>
          <a:p>
            <a:r>
              <a:rPr lang="es-ES" baseline="0" noProof="0" dirty="0" smtClean="0"/>
              <a:t>Pongamos por ejemplo un salidero de gas (este es un caso real, en nuestro país y es una experiencia personal)</a:t>
            </a:r>
          </a:p>
          <a:p>
            <a:r>
              <a:rPr lang="es-ES" baseline="0" noProof="0" dirty="0" smtClean="0"/>
              <a:t>Hay un salidero de gas…</a:t>
            </a:r>
          </a:p>
          <a:p>
            <a:r>
              <a:rPr lang="es-ES" baseline="0" noProof="0" dirty="0" smtClean="0"/>
              <a:t>Se llama a la empresa del gas y viene el carro de la guardia, este determina que si que efectivamente hay un salidero, rellena un reporte y se va.</a:t>
            </a:r>
          </a:p>
          <a:p>
            <a:r>
              <a:rPr lang="es-ES" baseline="0" noProof="0" dirty="0" smtClean="0"/>
              <a:t>Al cabo del rato (de 2 a 3 horas) se aparece otro carro de la guardia, este con mas personas y con ciertas herramientas, pican un poco la acera,, una pared y así hasta que encuentran el salidero, tratan de taponarlo con un trapo pero la tubería esta demasiado podrida por lo que van a la conexión maestra, cierran la conexión de gas de dos cuadras, rellenan un reporte y se van</a:t>
            </a:r>
          </a:p>
          <a:p>
            <a:r>
              <a:rPr lang="es-ES" baseline="0" noProof="0" dirty="0" smtClean="0"/>
              <a:t>Al otro </a:t>
            </a:r>
            <a:r>
              <a:rPr lang="es-ES" baseline="0" noProof="0" dirty="0" err="1" smtClean="0"/>
              <a:t>dia</a:t>
            </a:r>
            <a:r>
              <a:rPr lang="es-ES" baseline="0" noProof="0" dirty="0" smtClean="0"/>
              <a:t> x la tarde se aparece una brigada de instaladores, x mas esta decir que todos los vecinos llevaban mas de 24 horas protestando, </a:t>
            </a:r>
            <a:r>
              <a:rPr lang="es-ES" baseline="0" noProof="0" dirty="0" err="1" smtClean="0"/>
              <a:t>cdr</a:t>
            </a:r>
            <a:r>
              <a:rPr lang="es-ES" baseline="0" noProof="0" dirty="0" smtClean="0"/>
              <a:t>, delegado, empresa del gas y nadie sabia nada, pues esa brigada abre mas huecos, sustituye todas las tuberías podridas, restablece el flujo de gas en las dos cuadras, todo bonito y contento, rellenan su reporte y se van, pero no llenan el hueco que han abierto, ni cementan la acera y el tramo de calle, porque no tienen los materiales y no es su trabajo</a:t>
            </a:r>
          </a:p>
          <a:p>
            <a:r>
              <a:rPr lang="es-ES" baseline="0" noProof="0" dirty="0" smtClean="0"/>
              <a:t>Para no cansar al cabo de 3 meses fue que se cerro el dichoso hueco y por cierto ni </a:t>
            </a:r>
            <a:r>
              <a:rPr lang="es-ES" baseline="0" noProof="0" dirty="0" err="1" smtClean="0"/>
              <a:t>cdr</a:t>
            </a:r>
            <a:r>
              <a:rPr lang="es-ES" baseline="0" noProof="0" dirty="0" smtClean="0"/>
              <a:t>, ni delegado, ni empresa del gas saben nada de nada…. </a:t>
            </a:r>
          </a:p>
          <a:p>
            <a:endParaRPr lang="es-ES" baseline="0" noProof="0" dirty="0" smtClean="0"/>
          </a:p>
          <a:p>
            <a:r>
              <a:rPr lang="es-ES" baseline="0" noProof="0" dirty="0" smtClean="0"/>
              <a:t>Cada una de las brigadas que intervinieron en la solución del salidero de gas solo hace una cosa, son trabajadores especializados que solo actúan en una parte de la cadena de soluciones, realizan su trabajo y se van. Este esquema de solución no solo esta implementado en nuestro país, en la empresa del gas, si no que es mas común de lo que se piensa y esta muy extendido a nivel mundial. En algunos lugares es mas eficiente la solución, en otros lados mucho menos. Pero el esquema es el mismo.</a:t>
            </a:r>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Esta es una vista del sistema real en explotación. El ciudadano detecta una avería y puede, señalar en un mapa el lugar aproximado</a:t>
            </a:r>
            <a:r>
              <a:rPr lang="es-ES" baseline="0" noProof="0" dirty="0" smtClean="0"/>
              <a:t> donde se encuentra, si tiene un dispositivo móvil con </a:t>
            </a:r>
            <a:r>
              <a:rPr lang="es-ES" baseline="0" noProof="0" dirty="0" err="1" smtClean="0"/>
              <a:t>gps</a:t>
            </a:r>
            <a:r>
              <a:rPr lang="es-ES" baseline="0" noProof="0" dirty="0" smtClean="0"/>
              <a:t> puede usar la posición del mismo para dar la posición. Puede marcar que tipo de incidencias desea reportar, pueden ser mas de una incidencia en el mismo lugar y si lo desea puede proporcionar un nuero de contacto para poder ser contactado por las autoridades en relación con su problema. </a:t>
            </a:r>
          </a:p>
          <a:p>
            <a:r>
              <a:rPr lang="es-ES" baseline="0" noProof="0" dirty="0" smtClean="0"/>
              <a:t>Puede rellenar también otra información relacionada, aunque esto no es obligatorio.</a:t>
            </a:r>
          </a:p>
          <a:p>
            <a:endParaRPr lang="es-ES" baseline="0" noProof="0" dirty="0" smtClean="0"/>
          </a:p>
          <a:p>
            <a:r>
              <a:rPr lang="es-ES" baseline="0" noProof="0" dirty="0" smtClean="0"/>
              <a:t>El estado de la solución de la incidencia reportada puede ser seguido mediante el uso de la aplicación.</a:t>
            </a:r>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a:p>
            <a:r>
              <a:rPr lang="es-ES" noProof="0" dirty="0" smtClean="0"/>
              <a:t>▎1. Arquitectura de </a:t>
            </a:r>
            <a:r>
              <a:rPr lang="es-ES" noProof="0" dirty="0" err="1" smtClean="0"/>
              <a:t>Microservicios</a:t>
            </a:r>
            <a:endParaRPr lang="es-ES" noProof="0" dirty="0" smtClean="0"/>
          </a:p>
          <a:p>
            <a:endParaRPr lang="es-ES" noProof="0" dirty="0" smtClean="0"/>
          </a:p>
          <a:p>
            <a:r>
              <a:rPr lang="es-ES" noProof="0" dirty="0" smtClean="0"/>
              <a:t>Descripción:</a:t>
            </a:r>
          </a:p>
          <a:p>
            <a:endParaRPr lang="es-ES" noProof="0" dirty="0" smtClean="0"/>
          </a:p>
          <a:p>
            <a:r>
              <a:rPr lang="es-ES" noProof="0" dirty="0" smtClean="0"/>
              <a:t>• La arquitectura de </a:t>
            </a:r>
            <a:r>
              <a:rPr lang="es-ES" noProof="0" dirty="0" err="1" smtClean="0"/>
              <a:t>microservicios</a:t>
            </a:r>
            <a:r>
              <a:rPr lang="es-ES" noProof="0" dirty="0" smtClean="0"/>
              <a:t> divide una aplicación en pequeños servicios independientes que se comunican entre sí a través de </a:t>
            </a:r>
            <a:r>
              <a:rPr lang="es-ES" noProof="0" dirty="0" err="1" smtClean="0"/>
              <a:t>APIs</a:t>
            </a:r>
            <a:r>
              <a:rPr lang="es-ES" noProof="0" dirty="0" smtClean="0"/>
              <a:t>. Cada </a:t>
            </a:r>
            <a:r>
              <a:rPr lang="es-ES" noProof="0" dirty="0" err="1" smtClean="0"/>
              <a:t>microservicio</a:t>
            </a:r>
            <a:r>
              <a:rPr lang="es-ES" noProof="0" dirty="0" smtClean="0"/>
              <a:t> es responsable de una función específica y puede ser desarrollado, desplegado y escalado de manera independiente.</a:t>
            </a:r>
          </a:p>
          <a:p>
            <a:endParaRPr lang="es-ES" noProof="0" dirty="0" smtClean="0"/>
          </a:p>
          <a:p>
            <a:endParaRPr lang="es-ES" noProof="0" dirty="0" smtClean="0"/>
          </a:p>
          <a:p>
            <a:r>
              <a:rPr lang="es-ES" noProof="0" dirty="0" smtClean="0"/>
              <a:t>▎2. Arquitectura Basada en Eventos</a:t>
            </a:r>
          </a:p>
          <a:p>
            <a:endParaRPr lang="es-ES" noProof="0" dirty="0" smtClean="0"/>
          </a:p>
          <a:p>
            <a:r>
              <a:rPr lang="es-ES" noProof="0" dirty="0" smtClean="0"/>
              <a:t>Descripción:</a:t>
            </a:r>
          </a:p>
          <a:p>
            <a:endParaRPr lang="es-ES" noProof="0" dirty="0" smtClean="0"/>
          </a:p>
          <a:p>
            <a:r>
              <a:rPr lang="es-ES" noProof="0" dirty="0" smtClean="0"/>
              <a:t>• En esta arquitectura, los componentes del sistema se comunican mediante eventos. Los productores envían eventos a un bus de eventos, y los consumidores reaccionan a esos eventos. Esto permite una interacción asíncrona y desacoplada entre los diferentes componentes.</a:t>
            </a:r>
          </a:p>
          <a:p>
            <a:endParaRPr lang="es-ES" noProof="0" dirty="0" smtClean="0"/>
          </a:p>
          <a:p>
            <a:endParaRPr lang="es-ES" noProof="0" dirty="0" smtClean="0"/>
          </a:p>
          <a:p>
            <a:r>
              <a:rPr lang="es-ES" noProof="0" dirty="0" smtClean="0"/>
              <a:t>▎3. Arquitectura </a:t>
            </a:r>
            <a:r>
              <a:rPr lang="es-ES" noProof="0" dirty="0" err="1" smtClean="0"/>
              <a:t>Serverless</a:t>
            </a:r>
            <a:endParaRPr lang="es-ES" noProof="0" dirty="0" smtClean="0"/>
          </a:p>
          <a:p>
            <a:endParaRPr lang="es-ES" noProof="0" dirty="0" smtClean="0"/>
          </a:p>
          <a:p>
            <a:r>
              <a:rPr lang="es-ES" noProof="0" dirty="0" smtClean="0"/>
              <a:t>Descripción:</a:t>
            </a:r>
          </a:p>
          <a:p>
            <a:endParaRPr lang="es-ES" noProof="0" dirty="0" smtClean="0"/>
          </a:p>
          <a:p>
            <a:r>
              <a:rPr lang="es-ES" noProof="0" dirty="0" smtClean="0"/>
              <a:t>• En una arquitectura </a:t>
            </a:r>
            <a:r>
              <a:rPr lang="es-ES" noProof="0" dirty="0" err="1" smtClean="0"/>
              <a:t>serverless</a:t>
            </a:r>
            <a:r>
              <a:rPr lang="es-ES" noProof="0" dirty="0" smtClean="0"/>
              <a:t>, los desarrolladores crean aplicaciones sin preocuparse por la infraestructura subyacente. Los proveedores en la nube gestionan automáticamente la escalabilidad y el aprovisionamiento de recursos. Las funciones se ejecutan en respuesta a eventos específicos.</a:t>
            </a:r>
          </a:p>
          <a:p>
            <a:endParaRPr lang="es-ES" noProof="0" dirty="0" smtClean="0"/>
          </a:p>
          <a:p>
            <a:endParaRPr lang="es-ES" noProof="0" dirty="0" smtClean="0"/>
          </a:p>
          <a:p>
            <a:endParaRPr lang="es-ES" noProof="0" dirty="0" smtClean="0"/>
          </a:p>
          <a:p>
            <a:r>
              <a:rPr lang="es-ES" noProof="0" dirty="0" smtClean="0"/>
              <a:t>▎4. Arquitectura Orientada a Servicios (SOA)</a:t>
            </a:r>
          </a:p>
          <a:p>
            <a:endParaRPr lang="es-ES" noProof="0" dirty="0" smtClean="0"/>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La arquitectura orientada a servicios (SOA) puede decirse que es una evolución de la arquitectura cliente servidor </a:t>
            </a:r>
          </a:p>
          <a:p>
            <a:r>
              <a:rPr lang="es-ES" dirty="0" smtClean="0"/>
              <a:t>donde en vez de conectarnos a un servidor directamente lo que hacemos es conectarnos a una capa intermedia con interfaces bien definidas. </a:t>
            </a:r>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Normalmente se interpreta como una capa de servicio la cual esta enlazada directamente con múltiples servidores, </a:t>
            </a:r>
          </a:p>
          <a:p>
            <a:r>
              <a:rPr lang="es-ES" dirty="0" smtClean="0"/>
              <a:t>cuando un cliente realiza una petición de información lo hace a la capa de servicios la cual es la encargada de </a:t>
            </a:r>
          </a:p>
          <a:p>
            <a:r>
              <a:rPr lang="es-ES" dirty="0" smtClean="0"/>
              <a:t>determinar a que servidor o servidores le corresponde atender esta petición.</a:t>
            </a:r>
          </a:p>
          <a:p>
            <a:endParaRPr lang="es-ES" dirty="0" smtClean="0"/>
          </a:p>
          <a:p>
            <a:r>
              <a:rPr lang="es-ES" dirty="0" smtClean="0"/>
              <a:t>Esto nos permite la integración de sistemas diversos distribuidos que pueden formar un conjunto de aplicaciones aisladas. </a:t>
            </a:r>
          </a:p>
          <a:p>
            <a:r>
              <a:rPr lang="es-ES" dirty="0" smtClean="0"/>
              <a:t>Con esto se consigue la unificación de las actividades de las mismas.</a:t>
            </a:r>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De forma comparativa podemos ver</a:t>
            </a:r>
            <a:r>
              <a:rPr lang="es-ES" baseline="0" dirty="0" smtClean="0"/>
              <a:t> un conjunto de funcionalidades como se expresarían desde un punto de vista sin aplicación de SOA y como esta podría ordenarse mediante el uso de una capa de servicios especializada encargada de realizar las acciones necesarias. </a:t>
            </a:r>
          </a:p>
          <a:p>
            <a:pPr marL="0" marR="0" indent="0" algn="l" defTabSz="914400" rtl="0" eaLnBrk="1" fontAlgn="auto" latinLnBrk="0" hangingPunct="1">
              <a:lnSpc>
                <a:spcPct val="100000"/>
              </a:lnSpc>
              <a:spcBef>
                <a:spcPts val="0"/>
              </a:spcBef>
              <a:spcAft>
                <a:spcPts val="0"/>
              </a:spcAft>
              <a:buClrTx/>
              <a:buSzTx/>
              <a:buFontTx/>
              <a:buNone/>
              <a:tabLst/>
              <a:defRPr/>
            </a:pPr>
            <a:endParaRPr lang="es-E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baseline="0" dirty="0" smtClean="0"/>
              <a:t>En la figura de la izquierda podemos ver que cada una de las funcionalidades accede de forma indistinta a diferentes repositorios de datos y que esto lo hace a demanda y por voluntad propia. Esto implica que cada funcionalidad debe tener conocimiento de como ubicar el recurso deseado e interactuar con el. </a:t>
            </a:r>
          </a:p>
          <a:p>
            <a:pPr marL="0" marR="0" indent="0" algn="l" defTabSz="914400" rtl="0" eaLnBrk="1" fontAlgn="auto" latinLnBrk="0" hangingPunct="1">
              <a:lnSpc>
                <a:spcPct val="100000"/>
              </a:lnSpc>
              <a:spcBef>
                <a:spcPts val="0"/>
              </a:spcBef>
              <a:spcAft>
                <a:spcPts val="0"/>
              </a:spcAft>
              <a:buClrTx/>
              <a:buSzTx/>
              <a:buFontTx/>
              <a:buNone/>
              <a:tabLst/>
              <a:defRPr/>
            </a:pPr>
            <a:r>
              <a:rPr lang="es-ES" baseline="0" dirty="0" smtClean="0"/>
              <a:t>Muchas veces esto trae problemas al operar una funcionalidad de una forma determinada siguiendo sus propias reglas y restricciones de interés, lo cual puede llegar a afectar la forma de como las otras funcionalidades manejan los datos. </a:t>
            </a:r>
          </a:p>
          <a:p>
            <a:pPr marL="0" marR="0" indent="0" algn="l" defTabSz="914400" rtl="0" eaLnBrk="1" fontAlgn="auto" latinLnBrk="0" hangingPunct="1">
              <a:lnSpc>
                <a:spcPct val="100000"/>
              </a:lnSpc>
              <a:spcBef>
                <a:spcPts val="0"/>
              </a:spcBef>
              <a:spcAft>
                <a:spcPts val="0"/>
              </a:spcAft>
              <a:buClrTx/>
              <a:buSzTx/>
              <a:buFontTx/>
              <a:buNone/>
              <a:tabLst/>
              <a:defRPr/>
            </a:pPr>
            <a:r>
              <a:rPr lang="es-ES" baseline="0" dirty="0" smtClean="0"/>
              <a:t>Inclusive puede darse el caso que para una funcionalidad la operación sobre los datos sea correcta mientras este corrompiendo los datos para otra de las funcionalidades. </a:t>
            </a:r>
          </a:p>
          <a:p>
            <a:pPr marL="0" marR="0" indent="0" algn="l" defTabSz="914400" rtl="0" eaLnBrk="1" fontAlgn="auto" latinLnBrk="0" hangingPunct="1">
              <a:lnSpc>
                <a:spcPct val="100000"/>
              </a:lnSpc>
              <a:spcBef>
                <a:spcPts val="0"/>
              </a:spcBef>
              <a:spcAft>
                <a:spcPts val="0"/>
              </a:spcAft>
              <a:buClrTx/>
              <a:buSzTx/>
              <a:buFontTx/>
              <a:buNone/>
              <a:tabLst/>
              <a:defRPr/>
            </a:pPr>
            <a:r>
              <a:rPr lang="es-ES" baseline="0" dirty="0" smtClean="0"/>
              <a:t>Eso no quiere decir que los datos estén corrupto,, sino que quiere decir que los mismos datos afectados por funcionalidades diferentes para una este en un estado usable y para la otra le falten datos de descripción sobre la operación de los mismos y por lo tanto el proceso que necesita realizar sobre esos mismos datos esta corrompido.</a:t>
            </a:r>
          </a:p>
          <a:p>
            <a:pPr marL="0" marR="0" indent="0" algn="l" defTabSz="914400" rtl="0" eaLnBrk="1" fontAlgn="auto" latinLnBrk="0" hangingPunct="1">
              <a:lnSpc>
                <a:spcPct val="100000"/>
              </a:lnSpc>
              <a:spcBef>
                <a:spcPts val="0"/>
              </a:spcBef>
              <a:spcAft>
                <a:spcPts val="0"/>
              </a:spcAft>
              <a:buClrTx/>
              <a:buSzTx/>
              <a:buFontTx/>
              <a:buNone/>
              <a:tabLst/>
              <a:defRPr/>
            </a:pPr>
            <a:r>
              <a:rPr lang="es-ES" baseline="0" dirty="0" smtClean="0"/>
              <a:t>Esto implica directamente que cada funcionalidad para operar correctamente debe conocer explícitamente que tiene que hacer para operar ella efectivamente actuando de forma que no rompa las cosas para las otras.</a:t>
            </a:r>
          </a:p>
          <a:p>
            <a:pPr marL="0" marR="0" indent="0" algn="l" defTabSz="914400" rtl="0" eaLnBrk="1" fontAlgn="auto" latinLnBrk="0" hangingPunct="1">
              <a:lnSpc>
                <a:spcPct val="100000"/>
              </a:lnSpc>
              <a:spcBef>
                <a:spcPts val="0"/>
              </a:spcBef>
              <a:spcAft>
                <a:spcPts val="0"/>
              </a:spcAft>
              <a:buClrTx/>
              <a:buSzTx/>
              <a:buFontTx/>
              <a:buNone/>
              <a:tabLst/>
              <a:defRPr/>
            </a:pPr>
            <a:r>
              <a:rPr lang="es-ES" baseline="0" dirty="0" smtClean="0"/>
              <a:t>Cualquier modificación en una de las funcionalidades, inclusive la agregación de una nueva funcionalidad, implica que es muy posible que haya que modificar las otras funcionalidades también,  esto trae como consecuencia sistemas fuertemente acoplados y dependientes en los que un cambio o una adición mínima puede afectar a todo el sistema.</a:t>
            </a:r>
          </a:p>
          <a:p>
            <a:pPr marL="0" marR="0" indent="0" algn="l" defTabSz="914400" rtl="0" eaLnBrk="1" fontAlgn="auto" latinLnBrk="0" hangingPunct="1">
              <a:lnSpc>
                <a:spcPct val="100000"/>
              </a:lnSpc>
              <a:spcBef>
                <a:spcPts val="0"/>
              </a:spcBef>
              <a:spcAft>
                <a:spcPts val="0"/>
              </a:spcAft>
              <a:buClrTx/>
              <a:buSzTx/>
              <a:buFontTx/>
              <a:buNone/>
              <a:tabLst/>
              <a:defRPr/>
            </a:pPr>
            <a:endParaRPr lang="es-E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baseline="0" dirty="0" smtClean="0"/>
              <a:t>Por el otro lado tenemos la figura de la derecha en la cual se a creado una capa de servicios intermedia, la cual es encargada de mantener la lógica de acceso y la consistencia de la información, brindando una forma simple y segura de acceso a la información por parte de las funcionalidades superiores. </a:t>
            </a:r>
          </a:p>
          <a:p>
            <a:pPr marL="0" marR="0" indent="0" algn="l" defTabSz="914400" rtl="0" eaLnBrk="1" fontAlgn="auto" latinLnBrk="0" hangingPunct="1">
              <a:lnSpc>
                <a:spcPct val="100000"/>
              </a:lnSpc>
              <a:spcBef>
                <a:spcPts val="0"/>
              </a:spcBef>
              <a:spcAft>
                <a:spcPts val="0"/>
              </a:spcAft>
              <a:buClrTx/>
              <a:buSzTx/>
              <a:buFontTx/>
              <a:buNone/>
              <a:tabLst/>
              <a:defRPr/>
            </a:pPr>
            <a:r>
              <a:rPr lang="es-ES" baseline="0" dirty="0" smtClean="0"/>
              <a:t>Inclusive cada uno de los servicios representado en esta capa puede servir a otros servicios de la misma capa. Se busca con esto que cada servicio solo se encargue de una función o de un conjunto mínimo de funciones buscando una consistencia en las operaciones.</a:t>
            </a:r>
          </a:p>
          <a:p>
            <a:pPr marL="0" marR="0" indent="0" algn="l" defTabSz="914400" rtl="0" eaLnBrk="1" fontAlgn="auto" latinLnBrk="0" hangingPunct="1">
              <a:lnSpc>
                <a:spcPct val="100000"/>
              </a:lnSpc>
              <a:spcBef>
                <a:spcPts val="0"/>
              </a:spcBef>
              <a:spcAft>
                <a:spcPts val="0"/>
              </a:spcAft>
              <a:buClrTx/>
              <a:buSzTx/>
              <a:buFontTx/>
              <a:buNone/>
              <a:tabLst/>
              <a:defRPr/>
            </a:pPr>
            <a:r>
              <a:rPr lang="es-ES" baseline="0" dirty="0" smtClean="0"/>
              <a:t>Esto nos permite que si necesitamos modificar alguna de las funcionalidades en la capa superior solo sea afectada esta y no afecte a las que ya se están usando de forma estable. </a:t>
            </a:r>
          </a:p>
          <a:p>
            <a:pPr marL="0" marR="0" indent="0" algn="l" defTabSz="914400" rtl="0" eaLnBrk="1" fontAlgn="auto" latinLnBrk="0" hangingPunct="1">
              <a:lnSpc>
                <a:spcPct val="100000"/>
              </a:lnSpc>
              <a:spcBef>
                <a:spcPts val="0"/>
              </a:spcBef>
              <a:spcAft>
                <a:spcPts val="0"/>
              </a:spcAft>
              <a:buClrTx/>
              <a:buSzTx/>
              <a:buFontTx/>
              <a:buNone/>
              <a:tabLst/>
              <a:defRPr/>
            </a:pPr>
            <a:r>
              <a:rPr lang="es-ES" baseline="0" dirty="0" smtClean="0"/>
              <a:t>También nos permite agregar nuevas funcionalidades sin necesidad de afectar a aquellas funcionalidades que existen previamente.</a:t>
            </a:r>
            <a:endParaRPr lang="es-ES" dirty="0" smtClean="0"/>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1. Sistemas de Gestión Empresarial (ERP)</a:t>
            </a:r>
          </a:p>
          <a:p>
            <a:endParaRPr lang="es-ES" noProof="0" dirty="0" smtClean="0"/>
          </a:p>
          <a:p>
            <a:r>
              <a:rPr lang="es-ES" noProof="0" dirty="0" smtClean="0"/>
              <a:t>   • SAP: SAP utiliza SOA para permitir la integración de diferentes módulos, como finanzas, recursos humanos y logística. Esto permite que las empresas personalicen y escalen sus sistemas según sus necesidades.</a:t>
            </a:r>
          </a:p>
          <a:p>
            <a:endParaRPr lang="es-ES" noProof="0" dirty="0" smtClean="0"/>
          </a:p>
          <a:p>
            <a:r>
              <a:rPr lang="es-ES" noProof="0" dirty="0" smtClean="0"/>
              <a:t>▎2. Servicios en la Nube</a:t>
            </a:r>
          </a:p>
          <a:p>
            <a:endParaRPr lang="es-ES" noProof="0" dirty="0" smtClean="0"/>
          </a:p>
          <a:p>
            <a:r>
              <a:rPr lang="es-ES" noProof="0" dirty="0" smtClean="0"/>
              <a:t>   • Amazon Web </a:t>
            </a:r>
            <a:r>
              <a:rPr lang="es-ES" noProof="0" dirty="0" err="1" smtClean="0"/>
              <a:t>Services</a:t>
            </a:r>
            <a:r>
              <a:rPr lang="es-ES" noProof="0" dirty="0" smtClean="0"/>
              <a:t> (AWS): AWS ofrece una variedad de servicios que se pueden consumir de manera independiente, como almacenamiento (S3), computación (EC2) y bases de datos (RDS). Cada uno de estos servicios puede ser considerado un servicio en una arquitectura SOA.</a:t>
            </a:r>
          </a:p>
          <a:p>
            <a:endParaRPr lang="es-ES" noProof="0" dirty="0" smtClean="0"/>
          </a:p>
          <a:p>
            <a:r>
              <a:rPr lang="es-ES" noProof="0" dirty="0" smtClean="0"/>
              <a:t>▎3. Aplicaciones de Comercio Electrónico</a:t>
            </a:r>
          </a:p>
          <a:p>
            <a:endParaRPr lang="es-ES" noProof="0" dirty="0" smtClean="0"/>
          </a:p>
          <a:p>
            <a:r>
              <a:rPr lang="es-ES" noProof="0" dirty="0" smtClean="0"/>
              <a:t>   • eBay: eBay utiliza SOA para integrar diversos servicios como la búsqueda de productos, procesamiento de pagos y gestión de cuentas de usuario, permitiendo una experiencia fluida para el usuario.</a:t>
            </a:r>
          </a:p>
          <a:p>
            <a:endParaRPr lang="es-ES" noProof="0" dirty="0" smtClean="0"/>
          </a:p>
          <a:p>
            <a:r>
              <a:rPr lang="es-ES" noProof="0" dirty="0" smtClean="0"/>
              <a:t>▎4. Sistemas de Salud</a:t>
            </a:r>
          </a:p>
          <a:p>
            <a:endParaRPr lang="es-ES" noProof="0" dirty="0" smtClean="0"/>
          </a:p>
          <a:p>
            <a:r>
              <a:rPr lang="es-ES" noProof="0" dirty="0" smtClean="0"/>
              <a:t>   • </a:t>
            </a:r>
            <a:r>
              <a:rPr lang="es-ES" noProof="0" dirty="0" err="1" smtClean="0"/>
              <a:t>Epic</a:t>
            </a:r>
            <a:r>
              <a:rPr lang="es-ES" noProof="0" dirty="0" smtClean="0"/>
              <a:t> </a:t>
            </a:r>
            <a:r>
              <a:rPr lang="es-ES" noProof="0" dirty="0" err="1" smtClean="0"/>
              <a:t>Systems</a:t>
            </a:r>
            <a:r>
              <a:rPr lang="es-ES" noProof="0" dirty="0" smtClean="0"/>
              <a:t>: Esta plataforma de gestión de información en salud utiliza SOA para integrar diferentes servicios médicos, como registros electrónicos de salud (EHR), programación de citas y facturación, facilitando la interoperabilidad entre diferentes sistemas de atención médica.</a:t>
            </a:r>
          </a:p>
          <a:p>
            <a:endParaRPr lang="es-ES" noProof="0" dirty="0" smtClean="0"/>
          </a:p>
          <a:p>
            <a:r>
              <a:rPr lang="es-ES" noProof="0" dirty="0" smtClean="0"/>
              <a:t>▎5. Bancos y Servicios Financieros</a:t>
            </a:r>
          </a:p>
          <a:p>
            <a:endParaRPr lang="es-ES" noProof="0" dirty="0" smtClean="0"/>
          </a:p>
          <a:p>
            <a:r>
              <a:rPr lang="es-ES" noProof="0" dirty="0" smtClean="0"/>
              <a:t>   • BBVA: Los bancos como BBVA han adoptado SOA para ofrecer servicios financieros a través de </a:t>
            </a:r>
            <a:r>
              <a:rPr lang="es-ES" noProof="0" dirty="0" err="1" smtClean="0"/>
              <a:t>APIs</a:t>
            </a:r>
            <a:r>
              <a:rPr lang="es-ES" noProof="0" dirty="0" smtClean="0"/>
              <a:t>, permitiendo que aplicaciones externas interactúen con sus sistemas para realizar transacciones, consultar saldos o acceder a información del cliente.</a:t>
            </a:r>
          </a:p>
          <a:p>
            <a:endParaRPr lang="es-ES" noProof="0" dirty="0" smtClean="0"/>
          </a:p>
          <a:p>
            <a:r>
              <a:rPr lang="es-ES" noProof="0" dirty="0" smtClean="0"/>
              <a:t>▎6. Plataformas de Redes Sociales</a:t>
            </a:r>
          </a:p>
          <a:p>
            <a:endParaRPr lang="es-ES" noProof="0" dirty="0" smtClean="0"/>
          </a:p>
          <a:p>
            <a:r>
              <a:rPr lang="es-ES" noProof="0" dirty="0" smtClean="0"/>
              <a:t>   • Facebook: Facebook utiliza una arquitectura orientada a servicios para permitir que diferentes componentes de su plataforma, como el </a:t>
            </a:r>
            <a:r>
              <a:rPr lang="es-ES" noProof="0" dirty="0" err="1" smtClean="0"/>
              <a:t>feed</a:t>
            </a:r>
            <a:r>
              <a:rPr lang="es-ES" noProof="0" dirty="0" smtClean="0"/>
              <a:t> de noticias, la mensajería y las notificaciones, se comuniquen entre sí y con aplicaciones externas a través de </a:t>
            </a:r>
            <a:r>
              <a:rPr lang="es-ES" noProof="0" dirty="0" err="1" smtClean="0"/>
              <a:t>APIs</a:t>
            </a:r>
            <a:r>
              <a:rPr lang="es-ES" noProof="0" dirty="0" smtClean="0"/>
              <a:t>.</a:t>
            </a:r>
          </a:p>
          <a:p>
            <a:endParaRPr lang="es-ES" noProof="0" dirty="0" smtClean="0"/>
          </a:p>
          <a:p>
            <a:r>
              <a:rPr lang="es-ES" noProof="0" dirty="0" smtClean="0"/>
              <a:t>▎7. Sistemas de Reservas</a:t>
            </a:r>
          </a:p>
          <a:p>
            <a:endParaRPr lang="es-ES" noProof="0" dirty="0" smtClean="0"/>
          </a:p>
          <a:p>
            <a:r>
              <a:rPr lang="es-ES" noProof="0" dirty="0" smtClean="0"/>
              <a:t>   • Booking.com: Esta plataforma utiliza SOA para integrar servicios que gestionan reservas, disponibilidad de habitaciones, procesamiento de pagos y atención al cliente, permitiendo una experiencia cohesiva para los usuarios.</a:t>
            </a:r>
          </a:p>
          <a:p>
            <a:endParaRPr lang="es-ES" noProof="0" dirty="0" smtClean="0"/>
          </a:p>
          <a:p>
            <a:r>
              <a:rPr lang="es-ES" noProof="0" dirty="0" smtClean="0"/>
              <a:t>▎8. Gestión de Recursos Humanos</a:t>
            </a:r>
          </a:p>
          <a:p>
            <a:endParaRPr lang="es-ES" noProof="0" dirty="0" smtClean="0"/>
          </a:p>
          <a:p>
            <a:r>
              <a:rPr lang="es-ES" noProof="0" dirty="0" smtClean="0"/>
              <a:t>   • </a:t>
            </a:r>
            <a:r>
              <a:rPr lang="es-ES" noProof="0" dirty="0" err="1" smtClean="0"/>
              <a:t>Workday</a:t>
            </a:r>
            <a:r>
              <a:rPr lang="es-ES" noProof="0" dirty="0" smtClean="0"/>
              <a:t>: </a:t>
            </a:r>
            <a:r>
              <a:rPr lang="es-ES" noProof="0" dirty="0" err="1" smtClean="0"/>
              <a:t>Workday</a:t>
            </a:r>
            <a:r>
              <a:rPr lang="es-ES" noProof="0" dirty="0" smtClean="0"/>
              <a:t> emplea SOA para ofrecer soluciones integradas para la gestión del capital humano, la contabilidad y la planificación financiera, permitiendo que las empresas conecten diversos servicios relacionados con el personal.</a:t>
            </a:r>
          </a:p>
          <a:p>
            <a:endParaRPr lang="es-ES" noProof="0" dirty="0" smtClean="0"/>
          </a:p>
          <a:p>
            <a:r>
              <a:rPr lang="es-ES" noProof="0" dirty="0" smtClean="0"/>
              <a:t>▎9. Automatización del Hogar</a:t>
            </a:r>
          </a:p>
          <a:p>
            <a:endParaRPr lang="es-ES" noProof="0" dirty="0" smtClean="0"/>
          </a:p>
          <a:p>
            <a:r>
              <a:rPr lang="es-ES" noProof="0" dirty="0" smtClean="0"/>
              <a:t>   • Google Home: La arquitectura detrás de Google Home permite la integración de múltiples dispositivos y servicios del hogar inteligente, facilitando la comunicación entre diferentes servicios como control de luces, termostatos y sistemas de seguridad.</a:t>
            </a:r>
          </a:p>
          <a:p>
            <a:endParaRPr lang="es-ES" noProof="0" dirty="0" smtClean="0"/>
          </a:p>
          <a:p>
            <a:r>
              <a:rPr lang="es-ES" noProof="0" dirty="0" smtClean="0"/>
              <a:t>▎10. Sistemas de Información Geográfica (GIS)</a:t>
            </a:r>
          </a:p>
          <a:p>
            <a:endParaRPr lang="es-ES" noProof="0" dirty="0" smtClean="0"/>
          </a:p>
          <a:p>
            <a:r>
              <a:rPr lang="es-ES" noProof="0" dirty="0" smtClean="0"/>
              <a:t>   • </a:t>
            </a:r>
            <a:r>
              <a:rPr lang="es-ES" noProof="0" dirty="0" err="1" smtClean="0"/>
              <a:t>ArcGIS</a:t>
            </a:r>
            <a:r>
              <a:rPr lang="es-ES" noProof="0" dirty="0" smtClean="0"/>
              <a:t>: Esta plataforma utiliza SOA para proporcionar servicios geoespaciales que permiten a los desarrolladores acceder a datos geográficos y realizar análisis espaciales desde diversas aplicaciones.</a:t>
            </a:r>
          </a:p>
          <a:p>
            <a:endParaRPr lang="es-ES" noProof="0" dirty="0" smtClean="0"/>
          </a:p>
          <a:p>
            <a:r>
              <a:rPr lang="es-ES" noProof="0" dirty="0" smtClean="0"/>
              <a:t>Estos ejemplos ilustran cómo SOA permite la creación de sistemas flexibles y escalables en diversas industrias, facilitando la integración y la interoperabilidad entre diferentes servicios y aplicaciones.</a:t>
            </a:r>
          </a:p>
        </p:txBody>
      </p:sp>
    </p:spTree>
    <p:extLst>
      <p:ext uri="{BB962C8B-B14F-4D97-AF65-F5344CB8AC3E}">
        <p14:creationId xmlns:p14="http://schemas.microsoft.com/office/powerpoint/2010/main" val="136988644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Ejemplo de Implementación</a:t>
            </a:r>
          </a:p>
          <a:p>
            <a:endParaRPr lang="es-ES" noProof="0" dirty="0" smtClean="0"/>
          </a:p>
          <a:p>
            <a:r>
              <a:rPr lang="es-ES" noProof="0" dirty="0" smtClean="0"/>
              <a:t>Supongamos que estamos desarrollando una aplicación de comercio electrónico. Podríamos implementar una arquitectura compuesta de la siguiente manera:</a:t>
            </a:r>
          </a:p>
          <a:p>
            <a:endParaRPr lang="es-ES" noProof="0" dirty="0" smtClean="0"/>
          </a:p>
          <a:p>
            <a:r>
              <a:rPr lang="es-ES" noProof="0" dirty="0" smtClean="0"/>
              <a:t>• </a:t>
            </a:r>
            <a:r>
              <a:rPr lang="es-ES" noProof="0" dirty="0" err="1" smtClean="0"/>
              <a:t>Microservicios</a:t>
            </a:r>
            <a:r>
              <a:rPr lang="es-ES" noProof="0" dirty="0" smtClean="0"/>
              <a:t>: Utilizar </a:t>
            </a:r>
            <a:r>
              <a:rPr lang="es-ES" noProof="0" dirty="0" err="1" smtClean="0"/>
              <a:t>microservicios</a:t>
            </a:r>
            <a:r>
              <a:rPr lang="es-ES" noProof="0" dirty="0" smtClean="0"/>
              <a:t> para manejar diferentes funcionalidades, como gestión de usuarios, procesamiento de pagos, gestión de inventario y procesamiento de pedidos. Cada </a:t>
            </a:r>
            <a:r>
              <a:rPr lang="es-ES" noProof="0" dirty="0" err="1" smtClean="0"/>
              <a:t>microservicio</a:t>
            </a:r>
            <a:r>
              <a:rPr lang="es-ES" noProof="0" dirty="0" smtClean="0"/>
              <a:t> puede ser desarrollado, desplegado y escalado de forma independiente.</a:t>
            </a:r>
          </a:p>
          <a:p>
            <a:endParaRPr lang="es-ES" noProof="0" dirty="0" smtClean="0"/>
          </a:p>
          <a:p>
            <a:r>
              <a:rPr lang="es-ES" noProof="0" dirty="0" smtClean="0"/>
              <a:t>• Arquitectura Basada en Eventos: Implementar un sistema basado en eventos para la comunicación entre </a:t>
            </a:r>
            <a:r>
              <a:rPr lang="es-ES" noProof="0" dirty="0" err="1" smtClean="0"/>
              <a:t>microservicios</a:t>
            </a:r>
            <a:r>
              <a:rPr lang="es-ES" noProof="0" dirty="0" smtClean="0"/>
              <a:t>. Por ejemplo, cuando se realiza un pedido, un evento se puede publicar para notificar al servicio de inventario y al servicio de envío.</a:t>
            </a:r>
          </a:p>
          <a:p>
            <a:endParaRPr lang="es-ES" noProof="0" dirty="0" smtClean="0"/>
          </a:p>
          <a:p>
            <a:r>
              <a:rPr lang="es-ES" noProof="0" dirty="0" smtClean="0"/>
              <a:t>• Arquitectura en Capas: Cada </a:t>
            </a:r>
            <a:r>
              <a:rPr lang="es-ES" noProof="0" dirty="0" err="1" smtClean="0"/>
              <a:t>microservicio</a:t>
            </a:r>
            <a:r>
              <a:rPr lang="es-ES" noProof="0" dirty="0" smtClean="0"/>
              <a:t> puede seguir una arquitectura en capas interna, donde se separan las responsabilidades entre la capa de presentación (API), la lógica de negocio y el acceso a datos.</a:t>
            </a:r>
          </a:p>
          <a:p>
            <a:endParaRPr lang="es-ES" noProof="0" dirty="0" smtClean="0"/>
          </a:p>
          <a:p>
            <a:r>
              <a:rPr lang="es-ES" noProof="0" dirty="0" smtClean="0"/>
              <a:t>• Contenedores: Utilizar contenedores (como </a:t>
            </a:r>
            <a:r>
              <a:rPr lang="es-ES" noProof="0" dirty="0" err="1" smtClean="0"/>
              <a:t>Docker</a:t>
            </a:r>
            <a:r>
              <a:rPr lang="es-ES" noProof="0" dirty="0" smtClean="0"/>
              <a:t>) para empaquetar cada </a:t>
            </a:r>
            <a:r>
              <a:rPr lang="es-ES" noProof="0" dirty="0" err="1" smtClean="0"/>
              <a:t>microservicio</a:t>
            </a:r>
            <a:r>
              <a:rPr lang="es-ES" noProof="0" dirty="0" smtClean="0"/>
              <a:t> junto con sus dependencias, lo que facilita el despliegue y la gestión de entornos.</a:t>
            </a:r>
          </a:p>
        </p:txBody>
      </p:sp>
    </p:spTree>
    <p:extLst>
      <p:ext uri="{BB962C8B-B14F-4D97-AF65-F5344CB8AC3E}">
        <p14:creationId xmlns:p14="http://schemas.microsoft.com/office/powerpoint/2010/main" val="136988644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▎Desafíos en Arquitecturas Distribuidas</a:t>
            </a:r>
          </a:p>
          <a:p>
            <a:endParaRPr lang="es-ES" noProof="0" dirty="0" smtClean="0"/>
          </a:p>
          <a:p>
            <a:r>
              <a:rPr lang="es-ES" noProof="0" dirty="0" smtClean="0"/>
              <a:t>▎1. Latencia</a:t>
            </a:r>
          </a:p>
          <a:p>
            <a:endParaRPr lang="es-ES" noProof="0" dirty="0" smtClean="0"/>
          </a:p>
          <a:p>
            <a:r>
              <a:rPr lang="es-ES" noProof="0" dirty="0" smtClean="0"/>
              <a:t>En arquitecturas distribuidas, este tiempo puede verse afectado por múltiples factores, como la distancia geográfica entre nodos, la congestión de la red y la carga del servidor.</a:t>
            </a:r>
          </a:p>
          <a:p>
            <a:endParaRPr lang="es-ES" noProof="0" dirty="0" smtClean="0"/>
          </a:p>
          <a:p>
            <a:r>
              <a:rPr lang="es-ES" noProof="0" dirty="0" smtClean="0"/>
              <a:t>  </a:t>
            </a:r>
          </a:p>
          <a:p>
            <a:r>
              <a:rPr lang="es-ES" noProof="0" dirty="0" smtClean="0"/>
              <a:t>• Impacto:</a:t>
            </a:r>
          </a:p>
          <a:p>
            <a:endParaRPr lang="es-ES" noProof="0" dirty="0" smtClean="0"/>
          </a:p>
          <a:p>
            <a:r>
              <a:rPr lang="es-ES" noProof="0" dirty="0" smtClean="0"/>
              <a:t>  • Experiencia del Usuario: Una alta latencia puede resultar en tiempos de respuesta lentos, lo que afecta negativamente la experiencia del usuario. Por ejemplo, en aplicaciones en tiempo real (como videojuegos o videoconferencias), la latencia puede ser crítica.</a:t>
            </a:r>
          </a:p>
          <a:p>
            <a:endParaRPr lang="es-ES" noProof="0" dirty="0" smtClean="0"/>
          </a:p>
          <a:p>
            <a:r>
              <a:rPr lang="es-ES" noProof="0" dirty="0" smtClean="0"/>
              <a:t>  • Rendimiento de la Aplicación: Las aplicaciones que requieren múltiples llamadas a servicios distribuidos pueden experimentar acumulación de latencia, lo que disminuye el rendimiento general.</a:t>
            </a:r>
          </a:p>
          <a:p>
            <a:endParaRPr lang="es-ES" noProof="0" dirty="0" smtClean="0"/>
          </a:p>
          <a:p>
            <a:r>
              <a:rPr lang="es-ES" noProof="0" dirty="0" smtClean="0"/>
              <a:t>• Soluciones:</a:t>
            </a:r>
          </a:p>
          <a:p>
            <a:endParaRPr lang="es-ES" noProof="0" dirty="0" smtClean="0"/>
          </a:p>
          <a:p>
            <a:r>
              <a:rPr lang="es-ES" noProof="0" dirty="0" smtClean="0"/>
              <a:t>  • Caché Local: Implementar mecanismos de caché para almacenar datos frecuentemente solicitados cerca del usuario.</a:t>
            </a:r>
          </a:p>
          <a:p>
            <a:endParaRPr lang="es-ES" noProof="0" dirty="0" smtClean="0"/>
          </a:p>
          <a:p>
            <a:r>
              <a:rPr lang="es-ES" noProof="0" dirty="0" smtClean="0"/>
              <a:t>  • Optimización de Red: Uso de redes de entrega de contenido (CDN) para reducir la distancia que los datos deben recorrer.</a:t>
            </a:r>
          </a:p>
          <a:p>
            <a:endParaRPr lang="es-ES" noProof="0" dirty="0" smtClean="0"/>
          </a:p>
          <a:p>
            <a:r>
              <a:rPr lang="es-ES" noProof="0" dirty="0" smtClean="0"/>
              <a:t>  • Arquitectura de </a:t>
            </a:r>
            <a:r>
              <a:rPr lang="es-ES" noProof="0" dirty="0" err="1" smtClean="0"/>
              <a:t>Microservicios</a:t>
            </a:r>
            <a:r>
              <a:rPr lang="es-ES" noProof="0" dirty="0" smtClean="0"/>
              <a:t>: Diseñar servicios que minimicen las dependencias entre ellos para reducir las llamadas </a:t>
            </a:r>
            <a:r>
              <a:rPr lang="es-ES" noProof="0" dirty="0" err="1" smtClean="0"/>
              <a:t>interservicio</a:t>
            </a:r>
            <a:r>
              <a:rPr lang="es-ES" noProof="0" dirty="0" smtClean="0"/>
              <a:t>.</a:t>
            </a:r>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▎2. Consistencia</a:t>
            </a:r>
          </a:p>
          <a:p>
            <a:endParaRPr lang="es-ES" noProof="0" dirty="0" smtClean="0"/>
          </a:p>
          <a:p>
            <a:r>
              <a:rPr lang="es-ES" noProof="0" dirty="0" smtClean="0"/>
              <a:t>• En sistemas distribuidos, mantener esta consistencia puede ser complicado debido a la naturaleza asincrónica de las comunicaciones entre nodos.</a:t>
            </a:r>
          </a:p>
          <a:p>
            <a:endParaRPr lang="es-ES" noProof="0" dirty="0" smtClean="0"/>
          </a:p>
          <a:p>
            <a:r>
              <a:rPr lang="es-ES" noProof="0" dirty="0" smtClean="0"/>
              <a:t>• Desafíos:</a:t>
            </a:r>
          </a:p>
          <a:p>
            <a:endParaRPr lang="es-ES" noProof="0" dirty="0" smtClean="0"/>
          </a:p>
          <a:p>
            <a:r>
              <a:rPr lang="es-ES" noProof="0" dirty="0" smtClean="0"/>
              <a:t>  • Modelos de Consistencia: Existen diferentes modelos de consistencia (fuerte, eventual, etc.) y elegir el adecuado depende de los requisitos de la aplicación. La consistencia fuerte garantiza que todos los nodos vean los mismos datos al mismo tiempo, mientras que la consistencia eventual permite cierta latencia en la sincronización.</a:t>
            </a:r>
          </a:p>
          <a:p>
            <a:endParaRPr lang="es-ES" noProof="0" dirty="0" smtClean="0"/>
          </a:p>
          <a:p>
            <a:r>
              <a:rPr lang="es-ES" noProof="0" dirty="0" smtClean="0"/>
              <a:t>  • Particiones de Red: En caso de fallos en la red, algunos nodos pueden quedar aislados y tener información obsoleta, lo que genera inconsistencias.</a:t>
            </a:r>
          </a:p>
          <a:p>
            <a:endParaRPr lang="es-ES" noProof="0" dirty="0" smtClean="0"/>
          </a:p>
          <a:p>
            <a:r>
              <a:rPr lang="es-ES" noProof="0" dirty="0" smtClean="0"/>
              <a:t>• Soluciones:</a:t>
            </a:r>
          </a:p>
          <a:p>
            <a:endParaRPr lang="es-ES" noProof="0" dirty="0" smtClean="0"/>
          </a:p>
          <a:p>
            <a:r>
              <a:rPr lang="es-ES" noProof="0" dirty="0" smtClean="0"/>
              <a:t>  • Protocolos de Consenso: Implementar algoritmos como </a:t>
            </a:r>
            <a:r>
              <a:rPr lang="es-ES" noProof="0" dirty="0" err="1" smtClean="0"/>
              <a:t>Paxos</a:t>
            </a:r>
            <a:r>
              <a:rPr lang="es-ES" noProof="0" dirty="0" smtClean="0"/>
              <a:t> o </a:t>
            </a:r>
            <a:r>
              <a:rPr lang="es-ES" noProof="0" dirty="0" err="1" smtClean="0"/>
              <a:t>Raft</a:t>
            </a:r>
            <a:r>
              <a:rPr lang="es-ES" noProof="0" dirty="0" smtClean="0"/>
              <a:t> para asegurar que todos los nodos lleguen a un acuerdo sobre el estado del sistema.</a:t>
            </a:r>
          </a:p>
          <a:p>
            <a:endParaRPr lang="es-ES" noProof="0" dirty="0" smtClean="0"/>
          </a:p>
          <a:p>
            <a:r>
              <a:rPr lang="es-ES" noProof="0" dirty="0" smtClean="0"/>
              <a:t>  • Compensación de Transacciones: Utilizar patrones como Sagas para manejar inconsistencias en transacciones distribuidas.</a:t>
            </a:r>
          </a:p>
          <a:p>
            <a:endParaRPr lang="es-ES" noProof="0" dirty="0" smtClean="0"/>
          </a:p>
          <a:p>
            <a:r>
              <a:rPr lang="es-ES" noProof="0" dirty="0" smtClean="0"/>
              <a:t>  • Tolerancia a Fallos: Diseñar sistemas que puedan recuperarse automáticamente de fallos y restablecer la consistencia sin intervención manual.</a:t>
            </a:r>
          </a:p>
          <a:p>
            <a:endParaRPr lang="es-ES" noProof="0" dirty="0" smtClean="0"/>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a:p>
            <a:r>
              <a:rPr lang="es-ES" noProof="0" dirty="0" smtClean="0"/>
              <a:t>Aplicaciones de </a:t>
            </a:r>
            <a:r>
              <a:rPr lang="es-ES" noProof="0" dirty="0" err="1" smtClean="0"/>
              <a:t>Blockchain</a:t>
            </a:r>
            <a:endParaRPr lang="es-ES" noProof="0" dirty="0" smtClean="0"/>
          </a:p>
          <a:p>
            <a:endParaRPr lang="es-ES" noProof="0" dirty="0" smtClean="0"/>
          </a:p>
          <a:p>
            <a:r>
              <a:rPr lang="es-ES" noProof="0" dirty="0" smtClean="0"/>
              <a:t>• </a:t>
            </a:r>
            <a:r>
              <a:rPr lang="es-ES" noProof="0" dirty="0" err="1" smtClean="0"/>
              <a:t>Criptomonedas</a:t>
            </a:r>
            <a:r>
              <a:rPr lang="es-ES" noProof="0" dirty="0" smtClean="0"/>
              <a:t>: La aplicación más conocida, donde </a:t>
            </a:r>
            <a:r>
              <a:rPr lang="es-ES" noProof="0" dirty="0" err="1" smtClean="0"/>
              <a:t>blockchain</a:t>
            </a:r>
            <a:r>
              <a:rPr lang="es-ES" noProof="0" dirty="0" smtClean="0"/>
              <a:t> se utiliza para gestionar transacciones de dinero digital (ej., </a:t>
            </a:r>
            <a:r>
              <a:rPr lang="es-ES" noProof="0" dirty="0" err="1" smtClean="0"/>
              <a:t>Bitcoin</a:t>
            </a:r>
            <a:r>
              <a:rPr lang="es-ES" noProof="0" dirty="0" smtClean="0"/>
              <a:t>, </a:t>
            </a:r>
            <a:r>
              <a:rPr lang="es-ES" noProof="0" dirty="0" err="1" smtClean="0"/>
              <a:t>Ethereum</a:t>
            </a:r>
            <a:r>
              <a:rPr lang="es-ES" noProof="0" dirty="0" smtClean="0"/>
              <a:t>).</a:t>
            </a:r>
          </a:p>
          <a:p>
            <a:endParaRPr lang="es-ES" noProof="0" dirty="0" smtClean="0"/>
          </a:p>
          <a:p>
            <a:r>
              <a:rPr lang="es-ES" noProof="0" dirty="0" smtClean="0"/>
              <a:t>• Cadenas de Suministro: Mejora la trazabilidad y transparencia en las cadenas de suministro, permitiendo a las empresas rastrear productos desde su origen hasta el consumidor final.</a:t>
            </a:r>
          </a:p>
          <a:p>
            <a:endParaRPr lang="es-ES" noProof="0" dirty="0" smtClean="0"/>
          </a:p>
          <a:p>
            <a:r>
              <a:rPr lang="es-ES" noProof="0" dirty="0" smtClean="0"/>
              <a:t>• Identidad Digital: Permite a los usuarios controlar su propia identidad digital y compartir información personal solo con quienes decidan.</a:t>
            </a:r>
          </a:p>
          <a:p>
            <a:endParaRPr lang="es-ES" noProof="0" dirty="0" smtClean="0"/>
          </a:p>
          <a:p>
            <a:r>
              <a:rPr lang="es-ES" noProof="0" dirty="0" smtClean="0"/>
              <a:t>• Contratos Inteligentes: Automatizan acuerdos entre partes sin necesidad de intermediarios, lo que reduce costos y aumenta la eficiencia.</a:t>
            </a:r>
          </a:p>
          <a:p>
            <a:endParaRPr lang="es-ES" noProof="0" dirty="0" smtClean="0"/>
          </a:p>
          <a:p>
            <a:r>
              <a:rPr lang="es-ES" noProof="0" dirty="0" smtClean="0"/>
              <a:t>• Votación Electrónica: Aumenta la transparencia y seguridad en procesos electorales, asegurando que los votos no puedan ser alterados.</a:t>
            </a:r>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Ejemplos de Aplicaciones </a:t>
            </a:r>
            <a:r>
              <a:rPr lang="es-ES" noProof="0" dirty="0" err="1" smtClean="0"/>
              <a:t>IoT</a:t>
            </a:r>
            <a:endParaRPr lang="es-ES" noProof="0" dirty="0" smtClean="0"/>
          </a:p>
          <a:p>
            <a:endParaRPr lang="es-ES" noProof="0" dirty="0" smtClean="0"/>
          </a:p>
          <a:p>
            <a:r>
              <a:rPr lang="es-ES" noProof="0" dirty="0" smtClean="0"/>
              <a:t>• Hogar Inteligente: Dispositivos como termostatos inteligentes, cámaras de seguridad y asistentes virtuales que permiten el control remoto y la automatización del hogar.</a:t>
            </a:r>
          </a:p>
          <a:p>
            <a:endParaRPr lang="es-ES" noProof="0" dirty="0" smtClean="0"/>
          </a:p>
          <a:p>
            <a:r>
              <a:rPr lang="es-ES" noProof="0" dirty="0" smtClean="0"/>
              <a:t>• Ciudades Inteligentes: Sistemas de gestión del tráfico, iluminación pública inteligente y monitoreo ambiental que mejoran la eficiencia urbana.</a:t>
            </a:r>
          </a:p>
          <a:p>
            <a:endParaRPr lang="es-ES" noProof="0" dirty="0" smtClean="0"/>
          </a:p>
          <a:p>
            <a:r>
              <a:rPr lang="es-ES" noProof="0" dirty="0" smtClean="0"/>
              <a:t>• Salud Conectada: Dispositivos médicos que monitorean la salud del paciente en tiempo real, permitiendo una atención más proactiva.</a:t>
            </a:r>
          </a:p>
        </p:txBody>
      </p:sp>
    </p:spTree>
    <p:extLst>
      <p:ext uri="{BB962C8B-B14F-4D97-AF65-F5344CB8AC3E}">
        <p14:creationId xmlns:p14="http://schemas.microsoft.com/office/powerpoint/2010/main" val="136988644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1" name="Rectangle 1"/>
          <p:cNvSpPr>
            <a:spLocks noGrp="1" noRot="1" noChangeAspect="1" noChangeArrowheads="1" noTextEdit="1"/>
          </p:cNvSpPr>
          <p:nvPr>
            <p:ph type="sldImg"/>
          </p:nvPr>
        </p:nvSpPr>
        <p:spPr>
          <a:xfrm>
            <a:off x="381000" y="685800"/>
            <a:ext cx="6096000" cy="3429000"/>
          </a:xfrm>
          <a:ln/>
        </p:spPr>
      </p:sp>
      <p:sp>
        <p:nvSpPr>
          <p:cNvPr id="109572" name="Text Box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dirty="0">
              <a:cs typeface="Arial" panose="020B0604020202020204" pitchFamily="34" charset="0"/>
            </a:endParaRPr>
          </a:p>
        </p:txBody>
      </p:sp>
    </p:spTree>
    <p:extLst>
      <p:ext uri="{BB962C8B-B14F-4D97-AF65-F5344CB8AC3E}">
        <p14:creationId xmlns:p14="http://schemas.microsoft.com/office/powerpoint/2010/main" val="979760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09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871953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6141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r>
              <a:rPr lang="es-ES"/>
              <a:t>MSc. Aracelys García Armenteros</a:t>
            </a:r>
          </a:p>
        </p:txBody>
      </p:sp>
      <p:sp>
        <p:nvSpPr>
          <p:cNvPr id="6" name="Footer Placeholder 5"/>
          <p:cNvSpPr>
            <a:spLocks noGrp="1"/>
          </p:cNvSpPr>
          <p:nvPr>
            <p:ph type="ftr" sz="quarter" idx="11"/>
          </p:nvPr>
        </p:nvSpPr>
        <p:spPr/>
        <p:txBody>
          <a:bodyPr/>
          <a:lstStyle/>
          <a:p>
            <a:r>
              <a:rPr lang="es-ES"/>
              <a:t>Gestión de Proyectos. Planificación y estimación.</a:t>
            </a:r>
          </a:p>
        </p:txBody>
      </p:sp>
      <p:sp>
        <p:nvSpPr>
          <p:cNvPr id="7" name="Slide Number Placeholder 6"/>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290220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1097280" y="2582335"/>
            <a:ext cx="4937760" cy="32867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6217920" y="2582334"/>
            <a:ext cx="4937760" cy="32867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r>
              <a:rPr lang="es-ES"/>
              <a:t>MSc. Aracelys García Armenteros</a:t>
            </a:r>
          </a:p>
        </p:txBody>
      </p:sp>
      <p:sp>
        <p:nvSpPr>
          <p:cNvPr id="8" name="Footer Placeholder 7"/>
          <p:cNvSpPr>
            <a:spLocks noGrp="1"/>
          </p:cNvSpPr>
          <p:nvPr>
            <p:ph type="ftr" sz="quarter" idx="11"/>
          </p:nvPr>
        </p:nvSpPr>
        <p:spPr/>
        <p:txBody>
          <a:bodyPr/>
          <a:lstStyle/>
          <a:p>
            <a:r>
              <a:rPr lang="es-ES"/>
              <a:t>Gestión de Proyectos. Planificación y estimación.</a:t>
            </a:r>
          </a:p>
        </p:txBody>
      </p:sp>
      <p:sp>
        <p:nvSpPr>
          <p:cNvPr id="9" name="Slide Number Placeholder 8"/>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2404808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r>
              <a:rPr lang="es-ES"/>
              <a:t>MSc. Aracelys García Armenteros</a:t>
            </a:r>
          </a:p>
        </p:txBody>
      </p:sp>
      <p:sp>
        <p:nvSpPr>
          <p:cNvPr id="4" name="Footer Placeholder 3"/>
          <p:cNvSpPr>
            <a:spLocks noGrp="1"/>
          </p:cNvSpPr>
          <p:nvPr>
            <p:ph type="ftr" sz="quarter" idx="11"/>
          </p:nvPr>
        </p:nvSpPr>
        <p:spPr/>
        <p:txBody>
          <a:bodyPr/>
          <a:lstStyle/>
          <a:p>
            <a:r>
              <a:rPr lang="es-ES"/>
              <a:t>Gestión de Proyectos. Planificación y estimación.</a:t>
            </a:r>
          </a:p>
        </p:txBody>
      </p:sp>
      <p:sp>
        <p:nvSpPr>
          <p:cNvPr id="5" name="Slide Number Placeholder 4"/>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882151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es-ES"/>
              <a:t>MSc. Aracelys García Armenteros</a:t>
            </a:r>
          </a:p>
        </p:txBody>
      </p:sp>
      <p:sp>
        <p:nvSpPr>
          <p:cNvPr id="8" name="Footer Placeholder 7"/>
          <p:cNvSpPr>
            <a:spLocks noGrp="1"/>
          </p:cNvSpPr>
          <p:nvPr>
            <p:ph type="ftr" sz="quarter" idx="11"/>
          </p:nvPr>
        </p:nvSpPr>
        <p:spPr/>
        <p:txBody>
          <a:bodyPr/>
          <a:lstStyle>
            <a:lvl1pPr>
              <a:defRPr>
                <a:solidFill>
                  <a:srgbClr val="FFFFFF"/>
                </a:solidFill>
              </a:defRPr>
            </a:lvl1pPr>
          </a:lstStyle>
          <a:p>
            <a:r>
              <a:rPr lang="es-ES"/>
              <a:t>Gestión de Proyectos. Planificación y estimación.</a:t>
            </a:r>
          </a:p>
        </p:txBody>
      </p:sp>
      <p:sp>
        <p:nvSpPr>
          <p:cNvPr id="9" name="Slide Number Placeholder 8"/>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979413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s-ES"/>
              <a:t>MSc. Aracelys García Armenteros</a:t>
            </a: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s-ES"/>
              <a:t>Gestión de Proyectos. Planificación y estimación.</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C4EE0E4-9C8A-4542-A491-318C3530755B}" type="slidenum">
              <a:rPr lang="es-ES" smtClean="0"/>
              <a:t>‹Nº›</a:t>
            </a:fld>
            <a:endParaRPr lang="es-ES"/>
          </a:p>
        </p:txBody>
      </p:sp>
    </p:spTree>
    <p:extLst>
      <p:ext uri="{BB962C8B-B14F-4D97-AF65-F5344CB8AC3E}">
        <p14:creationId xmlns:p14="http://schemas.microsoft.com/office/powerpoint/2010/main" val="2346865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r>
              <a:rPr lang="es-ES"/>
              <a:t>MSc. Aracelys García Armenteros</a:t>
            </a:r>
          </a:p>
        </p:txBody>
      </p:sp>
      <p:sp>
        <p:nvSpPr>
          <p:cNvPr id="6" name="Footer Placeholder 5"/>
          <p:cNvSpPr>
            <a:spLocks noGrp="1"/>
          </p:cNvSpPr>
          <p:nvPr>
            <p:ph type="ftr" sz="quarter" idx="11"/>
          </p:nvPr>
        </p:nvSpPr>
        <p:spPr/>
        <p:txBody>
          <a:bodyPr/>
          <a:lstStyle/>
          <a:p>
            <a:r>
              <a:rPr lang="es-ES"/>
              <a:t>Gestión de Proyectos. Planificación y estimación.</a:t>
            </a:r>
          </a:p>
        </p:txBody>
      </p:sp>
      <p:sp>
        <p:nvSpPr>
          <p:cNvPr id="7" name="Slide Number Placeholder 6"/>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3765602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3737871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11365008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a:xfrm>
            <a:off x="1826685" y="252414"/>
            <a:ext cx="9749367" cy="1189037"/>
          </a:xfrm>
        </p:spPr>
        <p:txBody>
          <a:bodyPr/>
          <a:lstStyle/>
          <a:p>
            <a:r>
              <a:rPr lang="es-ES"/>
              <a:t>Haga clic para modificar el estilo de título del patrón</a:t>
            </a:r>
            <a:endParaRPr lang="en-US"/>
          </a:p>
        </p:txBody>
      </p:sp>
      <p:sp>
        <p:nvSpPr>
          <p:cNvPr id="3" name="Rectangle 7"/>
          <p:cNvSpPr>
            <a:spLocks noGrp="1" noChangeArrowheads="1"/>
          </p:cNvSpPr>
          <p:nvPr>
            <p:ph type="dt" idx="10"/>
          </p:nvPr>
        </p:nvSpPr>
        <p:spPr>
          <a:ln/>
        </p:spPr>
        <p:txBody>
          <a:bodyPr/>
          <a:lstStyle>
            <a:lvl1pPr>
              <a:defRPr/>
            </a:lvl1pPr>
          </a:lstStyle>
          <a:p>
            <a:pPr>
              <a:defRPr/>
            </a:pPr>
            <a:r>
              <a:rPr lang="es-ES"/>
              <a:t>MSc. Aracelys García Armenteros</a:t>
            </a:r>
            <a:endParaRPr lang="es-ES_tradnl"/>
          </a:p>
        </p:txBody>
      </p:sp>
      <p:sp>
        <p:nvSpPr>
          <p:cNvPr id="4" name="Rectangle 8"/>
          <p:cNvSpPr>
            <a:spLocks noGrp="1" noChangeArrowheads="1"/>
          </p:cNvSpPr>
          <p:nvPr>
            <p:ph type="ftr" idx="11"/>
          </p:nvPr>
        </p:nvSpPr>
        <p:spPr>
          <a:ln/>
        </p:spPr>
        <p:txBody>
          <a:bodyPr/>
          <a:lstStyle>
            <a:lvl1pPr>
              <a:defRPr/>
            </a:lvl1pPr>
          </a:lstStyle>
          <a:p>
            <a:pPr>
              <a:defRPr/>
            </a:pPr>
            <a:r>
              <a:rPr lang="es-ES"/>
              <a:t>Gestión de Proyectos. Planificación y estimación.</a:t>
            </a:r>
            <a:endParaRPr lang="en-US"/>
          </a:p>
        </p:txBody>
      </p:sp>
      <p:sp>
        <p:nvSpPr>
          <p:cNvPr id="5" name="Rectangle 9"/>
          <p:cNvSpPr>
            <a:spLocks noGrp="1" noChangeArrowheads="1"/>
          </p:cNvSpPr>
          <p:nvPr>
            <p:ph type="sldNum" idx="12"/>
          </p:nvPr>
        </p:nvSpPr>
        <p:spPr>
          <a:ln/>
        </p:spPr>
        <p:txBody>
          <a:bodyPr/>
          <a:lstStyle>
            <a:lvl1pPr>
              <a:defRPr/>
            </a:lvl1pPr>
          </a:lstStyle>
          <a:p>
            <a:fld id="{263DA378-A288-4DEE-B6C0-5484F297BAE2}" type="slidenum">
              <a:rPr lang="en-US"/>
              <a:pPr/>
              <a:t>‹Nº›</a:t>
            </a:fld>
            <a:endParaRPr lang="en-US"/>
          </a:p>
        </p:txBody>
      </p:sp>
    </p:spTree>
    <p:extLst>
      <p:ext uri="{BB962C8B-B14F-4D97-AF65-F5344CB8AC3E}">
        <p14:creationId xmlns:p14="http://schemas.microsoft.com/office/powerpoint/2010/main" val="1449705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s-ES"/>
              <a:t>MSc. Aracelys García Armenteros</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s-ES"/>
              <a:t>Gestión de Proyectos. Planificación y estimación.</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C4EE0E4-9C8A-4542-A491-318C3530755B}" type="slidenum">
              <a:rPr lang="es-ES" smtClean="0"/>
              <a:t>‹Nº›</a:t>
            </a:fld>
            <a:endParaRPr lang="es-E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3470030"/>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Lst>
  <p:hf sldNum="0"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gi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p:cNvSpPr>
            <a:spLocks noGrp="1" noChangeArrowheads="1"/>
          </p:cNvSpPr>
          <p:nvPr>
            <p:ph type="title"/>
          </p:nvPr>
        </p:nvSpPr>
        <p:spPr>
          <a:xfrm>
            <a:off x="1761116" y="2168338"/>
            <a:ext cx="8418342" cy="1752600"/>
          </a:xfrm>
        </p:spPr>
        <p:txBody>
          <a:bodyPr>
            <a:norm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s-ES" dirty="0"/>
              <a:t>Arquitecturas de </a:t>
            </a:r>
            <a:r>
              <a:rPr lang="es-ES" dirty="0" smtClean="0"/>
              <a:t>Software (A.S)</a:t>
            </a:r>
            <a:endParaRPr lang="es-ES_tradnl" sz="4800" dirty="0"/>
          </a:p>
        </p:txBody>
      </p:sp>
      <p:sp>
        <p:nvSpPr>
          <p:cNvPr id="3" name="CuadroTexto 2"/>
          <p:cNvSpPr txBox="1"/>
          <p:nvPr/>
        </p:nvSpPr>
        <p:spPr>
          <a:xfrm>
            <a:off x="4604510" y="4601224"/>
            <a:ext cx="2963375" cy="461665"/>
          </a:xfrm>
          <a:prstGeom prst="rect">
            <a:avLst/>
          </a:prstGeom>
          <a:noFill/>
        </p:spPr>
        <p:txBody>
          <a:bodyPr wrap="none" rtlCol="0">
            <a:spAutoFit/>
          </a:bodyPr>
          <a:lstStyle/>
          <a:p>
            <a:pPr algn="ctr"/>
            <a:r>
              <a:rPr lang="es-ES" sz="2400" dirty="0">
                <a:latin typeface="+mj-lt"/>
              </a:rPr>
              <a:t>Ingeniería de </a:t>
            </a:r>
            <a:r>
              <a:rPr lang="es-ES" sz="2400" dirty="0" smtClean="0">
                <a:latin typeface="+mj-lt"/>
              </a:rPr>
              <a:t>Software</a:t>
            </a:r>
            <a:endParaRPr lang="es-ES" sz="2400" dirty="0">
              <a:latin typeface="+mj-lt"/>
            </a:endParaRPr>
          </a:p>
        </p:txBody>
      </p:sp>
    </p:spTree>
    <p:extLst>
      <p:ext uri="{BB962C8B-B14F-4D97-AF65-F5344CB8AC3E}">
        <p14:creationId xmlns:p14="http://schemas.microsoft.com/office/powerpoint/2010/main" val="3810362731"/>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idx="1"/>
          </p:nvPr>
        </p:nvSpPr>
        <p:spPr>
          <a:xfrm>
            <a:off x="1275229" y="2077798"/>
            <a:ext cx="9372600" cy="4421187"/>
          </a:xfrm>
        </p:spPr>
        <p:txBody>
          <a:bodyPr>
            <a:normAutofit/>
          </a:bodyPr>
          <a:lstStyle/>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a:t>Fundamentos de la Arquitectura de </a:t>
            </a:r>
            <a:r>
              <a:rPr lang="es-ES" sz="2800" dirty="0" smtClean="0"/>
              <a:t>Software: Conceptos de Arquitectura, componentes, calidad de </a:t>
            </a:r>
            <a:r>
              <a:rPr lang="es-ES" sz="2800" dirty="0"/>
              <a:t>la arquitectura, principios básicos, </a:t>
            </a:r>
            <a:r>
              <a:rPr lang="es-ES" sz="2800" dirty="0" smtClean="0"/>
              <a:t>relación </a:t>
            </a:r>
            <a:r>
              <a:rPr lang="es-ES" sz="2800" dirty="0"/>
              <a:t>entre arquitectura y </a:t>
            </a:r>
            <a:r>
              <a:rPr lang="es-ES" sz="2800" dirty="0" smtClean="0"/>
              <a:t>diseño </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smtClean="0"/>
              <a:t>Estilos </a:t>
            </a:r>
            <a:r>
              <a:rPr lang="es-ES" sz="2800" dirty="0"/>
              <a:t>Arquitectónicos Tradicionales</a:t>
            </a:r>
            <a:r>
              <a:rPr lang="es-ES" sz="2800" dirty="0" smtClean="0"/>
              <a:t>: Arquitectura Monolítica</a:t>
            </a:r>
            <a:r>
              <a:rPr lang="es-ES" sz="2800" dirty="0"/>
              <a:t>, Arquitectura en Capas, Cliente-Servidor, </a:t>
            </a:r>
            <a:r>
              <a:rPr lang="es-ES" sz="2800" dirty="0" smtClean="0"/>
              <a:t>Pipeline, </a:t>
            </a:r>
            <a:r>
              <a:rPr lang="en-US" sz="2800" dirty="0" smtClean="0"/>
              <a:t>Peer-to-peer, Blackboard</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smtClean="0"/>
              <a:t>Arquitecturas </a:t>
            </a:r>
            <a:r>
              <a:rPr lang="es-ES" sz="2800" dirty="0"/>
              <a:t>Modernas y Distribuidas: </a:t>
            </a:r>
            <a:r>
              <a:rPr lang="es-ES" sz="2800" dirty="0" smtClean="0"/>
              <a:t>SOA</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a:t>Retos y Tendencias Actuales </a:t>
            </a:r>
            <a:endParaRPr lang="es-ES" sz="2800" dirty="0" smtClean="0"/>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800" dirty="0" smtClean="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800" dirty="0" smtClean="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800" dirty="0">
              <a:cs typeface="Times New Roman" panose="02020603050405020304" pitchFamily="18" charset="0"/>
            </a:endParaRPr>
          </a:p>
          <a:p>
            <a:pPr marL="552450" indent="-552450">
              <a:buNone/>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600" dirty="0">
              <a:cs typeface="Times New Roman" panose="02020603050405020304" pitchFamily="18" charset="0"/>
            </a:endParaRPr>
          </a:p>
        </p:txBody>
      </p:sp>
      <p:sp>
        <p:nvSpPr>
          <p:cNvPr id="2" name="Título 1"/>
          <p:cNvSpPr>
            <a:spLocks noGrp="1"/>
          </p:cNvSpPr>
          <p:nvPr>
            <p:ph type="title"/>
          </p:nvPr>
        </p:nvSpPr>
        <p:spPr/>
        <p:txBody>
          <a:bodyPr/>
          <a:lstStyle/>
          <a:p>
            <a:r>
              <a:rPr lang="es-ES" dirty="0"/>
              <a:t>Sumario:</a:t>
            </a:r>
          </a:p>
        </p:txBody>
      </p:sp>
      <p:sp>
        <p:nvSpPr>
          <p:cNvPr id="3" name="Marcador de pie de página 2"/>
          <p:cNvSpPr>
            <a:spLocks noGrp="1"/>
          </p:cNvSpPr>
          <p:nvPr>
            <p:ph type="ftr" sz="quarter" idx="11"/>
          </p:nvPr>
        </p:nvSpPr>
        <p:spPr/>
        <p:txBody>
          <a:bodyPr/>
          <a:lstStyle/>
          <a:p>
            <a:r>
              <a:rPr lang="es-ES" dirty="0" smtClean="0"/>
              <a:t>Arquitectura de Software</a:t>
            </a:r>
            <a:endParaRPr lang="es-ES" dirty="0"/>
          </a:p>
        </p:txBody>
      </p:sp>
    </p:spTree>
    <p:extLst>
      <p:ext uri="{BB962C8B-B14F-4D97-AF65-F5344CB8AC3E}">
        <p14:creationId xmlns:p14="http://schemas.microsoft.com/office/powerpoint/2010/main" val="3576632108"/>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fontScale="90000"/>
          </a:bodyPr>
          <a:lstStyle/>
          <a:p>
            <a:r>
              <a:rPr lang="es-ES" dirty="0" smtClean="0"/>
              <a:t>¿Qué podemos entender por Arquitectura de Software ? </a:t>
            </a:r>
            <a:endParaRPr lang="es-ES" dirty="0"/>
          </a:p>
        </p:txBody>
      </p:sp>
      <p:sp>
        <p:nvSpPr>
          <p:cNvPr id="3" name="Marcador de contenido 2"/>
          <p:cNvSpPr>
            <a:spLocks noGrp="1"/>
          </p:cNvSpPr>
          <p:nvPr>
            <p:ph idx="1"/>
          </p:nvPr>
        </p:nvSpPr>
        <p:spPr>
          <a:xfrm>
            <a:off x="965143" y="1744266"/>
            <a:ext cx="10058400" cy="1223639"/>
          </a:xfrm>
        </p:spPr>
        <p:txBody>
          <a:bodyPr>
            <a:noAutofit/>
          </a:bodyPr>
          <a:lstStyle/>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La arquitectura de un sistema son sus componentes y las conexiones entre </a:t>
            </a:r>
            <a:r>
              <a:rPr lang="es-ES" sz="3600" dirty="0" smtClean="0"/>
              <a:t>ellas</a:t>
            </a: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grpSp>
        <p:nvGrpSpPr>
          <p:cNvPr id="7" name="Group 3"/>
          <p:cNvGrpSpPr/>
          <p:nvPr/>
        </p:nvGrpSpPr>
        <p:grpSpPr>
          <a:xfrm>
            <a:off x="309223" y="2927907"/>
            <a:ext cx="5735520" cy="2625396"/>
            <a:chOff x="1382401" y="2488582"/>
            <a:chExt cx="5735520" cy="2625396"/>
          </a:xfrm>
        </p:grpSpPr>
        <p:sp>
          <p:nvSpPr>
            <p:cNvPr id="8" name="Oval 3"/>
            <p:cNvSpPr>
              <a:spLocks noChangeArrowheads="1"/>
            </p:cNvSpPr>
            <p:nvPr/>
          </p:nvSpPr>
          <p:spPr bwMode="auto">
            <a:xfrm>
              <a:off x="3594240" y="2488582"/>
              <a:ext cx="964800" cy="828087"/>
            </a:xfrm>
            <a:prstGeom prst="ellipse">
              <a:avLst/>
            </a:prstGeom>
            <a:noFill/>
            <a:ln w="936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lIns="82945" tIns="41473" rIns="82945" bIns="41473" anchor="ctr"/>
            <a:lstStyle/>
            <a:p>
              <a:endParaRPr lang="en-US"/>
            </a:p>
          </p:txBody>
        </p:sp>
        <p:sp>
          <p:nvSpPr>
            <p:cNvPr id="9" name="Oval 4"/>
            <p:cNvSpPr>
              <a:spLocks noChangeArrowheads="1"/>
            </p:cNvSpPr>
            <p:nvPr/>
          </p:nvSpPr>
          <p:spPr bwMode="auto">
            <a:xfrm>
              <a:off x="3594240" y="4285891"/>
              <a:ext cx="964800" cy="828087"/>
            </a:xfrm>
            <a:prstGeom prst="ellipse">
              <a:avLst/>
            </a:prstGeom>
            <a:noFill/>
            <a:ln w="936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lIns="82945" tIns="41473" rIns="82945" bIns="41473" anchor="ctr"/>
            <a:lstStyle/>
            <a:p>
              <a:endParaRPr lang="en-US"/>
            </a:p>
          </p:txBody>
        </p:sp>
        <p:sp>
          <p:nvSpPr>
            <p:cNvPr id="10" name="Oval 5"/>
            <p:cNvSpPr>
              <a:spLocks noChangeArrowheads="1"/>
            </p:cNvSpPr>
            <p:nvPr/>
          </p:nvSpPr>
          <p:spPr bwMode="auto">
            <a:xfrm>
              <a:off x="1451520" y="4285891"/>
              <a:ext cx="964800" cy="828087"/>
            </a:xfrm>
            <a:prstGeom prst="ellipse">
              <a:avLst/>
            </a:prstGeom>
            <a:noFill/>
            <a:ln w="936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lIns="82945" tIns="41473" rIns="82945" bIns="41473" anchor="ctr"/>
            <a:lstStyle/>
            <a:p>
              <a:endParaRPr lang="en-US"/>
            </a:p>
          </p:txBody>
        </p:sp>
        <p:sp>
          <p:nvSpPr>
            <p:cNvPr id="11" name="Oval 6"/>
            <p:cNvSpPr>
              <a:spLocks noChangeArrowheads="1"/>
            </p:cNvSpPr>
            <p:nvPr/>
          </p:nvSpPr>
          <p:spPr bwMode="auto">
            <a:xfrm>
              <a:off x="5875200" y="4285891"/>
              <a:ext cx="964800" cy="828087"/>
            </a:xfrm>
            <a:prstGeom prst="ellipse">
              <a:avLst/>
            </a:prstGeom>
            <a:noFill/>
            <a:ln w="936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lIns="82945" tIns="41473" rIns="82945" bIns="41473" anchor="ctr"/>
            <a:lstStyle/>
            <a:p>
              <a:endParaRPr lang="en-US"/>
            </a:p>
          </p:txBody>
        </p:sp>
        <p:sp>
          <p:nvSpPr>
            <p:cNvPr id="12" name="Line 7"/>
            <p:cNvSpPr>
              <a:spLocks noChangeShapeType="1"/>
            </p:cNvSpPr>
            <p:nvPr/>
          </p:nvSpPr>
          <p:spPr bwMode="auto">
            <a:xfrm>
              <a:off x="1935360" y="3801999"/>
              <a:ext cx="4423680" cy="0"/>
            </a:xfrm>
            <a:prstGeom prst="line">
              <a:avLst/>
            </a:prstGeom>
            <a:noFill/>
            <a:ln w="9360">
              <a:solidFill>
                <a:srgbClr val="000000"/>
              </a:solidFill>
              <a:round/>
              <a:headEnd/>
              <a:tailEnd type="none" w="lg" len="lg"/>
            </a:ln>
            <a:extLst>
              <a:ext uri="{909E8E84-426E-40DD-AFC4-6F175D3DCCD1}">
                <a14:hiddenFill xmlns:a14="http://schemas.microsoft.com/office/drawing/2010/main">
                  <a:noFill/>
                </a14:hiddenFill>
              </a:ext>
            </a:extLst>
          </p:spPr>
          <p:txBody>
            <a:bodyPr lIns="82945" tIns="41473" rIns="82945" bIns="41473"/>
            <a:lstStyle/>
            <a:p>
              <a:endParaRPr lang="en-US"/>
            </a:p>
          </p:txBody>
        </p:sp>
        <p:sp>
          <p:nvSpPr>
            <p:cNvPr id="13" name="Line 8"/>
            <p:cNvSpPr>
              <a:spLocks noChangeShapeType="1"/>
            </p:cNvSpPr>
            <p:nvPr/>
          </p:nvSpPr>
          <p:spPr bwMode="auto">
            <a:xfrm>
              <a:off x="1935360" y="3801999"/>
              <a:ext cx="0" cy="414764"/>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lIns="82945" tIns="41473" rIns="82945" bIns="41473"/>
            <a:lstStyle/>
            <a:p>
              <a:endParaRPr lang="en-US"/>
            </a:p>
          </p:txBody>
        </p:sp>
        <p:sp>
          <p:nvSpPr>
            <p:cNvPr id="14" name="Line 9"/>
            <p:cNvSpPr>
              <a:spLocks noChangeShapeType="1"/>
            </p:cNvSpPr>
            <p:nvPr/>
          </p:nvSpPr>
          <p:spPr bwMode="auto">
            <a:xfrm>
              <a:off x="4078080" y="3318108"/>
              <a:ext cx="0" cy="967782"/>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lIns="82945" tIns="41473" rIns="82945" bIns="41473"/>
            <a:lstStyle/>
            <a:p>
              <a:endParaRPr lang="en-US"/>
            </a:p>
          </p:txBody>
        </p:sp>
        <p:sp>
          <p:nvSpPr>
            <p:cNvPr id="15" name="Text Box 11"/>
            <p:cNvSpPr txBox="1">
              <a:spLocks noChangeArrowheads="1"/>
            </p:cNvSpPr>
            <p:nvPr/>
          </p:nvSpPr>
          <p:spPr bwMode="auto">
            <a:xfrm>
              <a:off x="3594241" y="4493272"/>
              <a:ext cx="1242720" cy="33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3598" tIns="41799" rIns="83598" bIns="41799">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5pPr>
              <a:lvl6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6pPr>
              <a:lvl7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7pPr>
              <a:lvl8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8pPr>
              <a:lvl9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9pPr>
            </a:lstStyle>
            <a:p>
              <a:pPr>
                <a:spcBef>
                  <a:spcPts val="964"/>
                </a:spcBef>
              </a:pPr>
              <a:r>
                <a:rPr lang="en-GB" sz="1600" dirty="0" smtClean="0"/>
                <a:t>Modulo </a:t>
              </a:r>
              <a:r>
                <a:rPr lang="en-GB" sz="1600" dirty="0"/>
                <a:t>B</a:t>
              </a:r>
            </a:p>
          </p:txBody>
        </p:sp>
        <p:sp>
          <p:nvSpPr>
            <p:cNvPr id="16" name="Text Box 12"/>
            <p:cNvSpPr txBox="1">
              <a:spLocks noChangeArrowheads="1"/>
            </p:cNvSpPr>
            <p:nvPr/>
          </p:nvSpPr>
          <p:spPr bwMode="auto">
            <a:xfrm>
              <a:off x="5875201" y="4493272"/>
              <a:ext cx="1242720" cy="33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3598" tIns="41799" rIns="83598" bIns="41799">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5pPr>
              <a:lvl6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6pPr>
              <a:lvl7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7pPr>
              <a:lvl8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8pPr>
              <a:lvl9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9pPr>
            </a:lstStyle>
            <a:p>
              <a:pPr>
                <a:spcBef>
                  <a:spcPts val="964"/>
                </a:spcBef>
              </a:pPr>
              <a:r>
                <a:rPr lang="en-GB" sz="1600" dirty="0" smtClean="0"/>
                <a:t>Modulo C</a:t>
              </a:r>
              <a:endParaRPr lang="en-GB" sz="1600" dirty="0"/>
            </a:p>
          </p:txBody>
        </p:sp>
        <p:sp>
          <p:nvSpPr>
            <p:cNvPr id="17" name="Text Box 13"/>
            <p:cNvSpPr txBox="1">
              <a:spLocks noChangeArrowheads="1"/>
            </p:cNvSpPr>
            <p:nvPr/>
          </p:nvSpPr>
          <p:spPr bwMode="auto">
            <a:xfrm>
              <a:off x="1382401" y="4562400"/>
              <a:ext cx="1242720" cy="33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3598" tIns="41799" rIns="83598" bIns="41799">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5pPr>
              <a:lvl6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6pPr>
              <a:lvl7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7pPr>
              <a:lvl8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8pPr>
              <a:lvl9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9pPr>
            </a:lstStyle>
            <a:p>
              <a:pPr>
                <a:spcBef>
                  <a:spcPts val="964"/>
                </a:spcBef>
              </a:pPr>
              <a:r>
                <a:rPr lang="en-GB" sz="1600" dirty="0" smtClean="0"/>
                <a:t>Modulo A</a:t>
              </a:r>
              <a:endParaRPr lang="en-GB" sz="1600" dirty="0"/>
            </a:p>
          </p:txBody>
        </p:sp>
        <p:sp>
          <p:nvSpPr>
            <p:cNvPr id="18" name="Text Box 14"/>
            <p:cNvSpPr txBox="1">
              <a:spLocks noChangeArrowheads="1"/>
            </p:cNvSpPr>
            <p:nvPr/>
          </p:nvSpPr>
          <p:spPr bwMode="auto">
            <a:xfrm>
              <a:off x="3663361" y="2557709"/>
              <a:ext cx="1242720" cy="580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3598" tIns="41799" rIns="83598" bIns="41799">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5pPr>
              <a:lvl6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6pPr>
              <a:lvl7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7pPr>
              <a:lvl8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8pPr>
              <a:lvl9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9pPr>
            </a:lstStyle>
            <a:p>
              <a:pPr>
                <a:spcBef>
                  <a:spcPts val="964"/>
                </a:spcBef>
              </a:pPr>
              <a:r>
                <a:rPr lang="en-GB" sz="1600" dirty="0" err="1"/>
                <a:t>Proceso</a:t>
              </a:r>
              <a:r>
                <a:rPr lang="en-GB" sz="1600" dirty="0"/>
                <a:t> </a:t>
              </a:r>
              <a:r>
                <a:rPr lang="en-GB" sz="1600" dirty="0" smtClean="0"/>
                <a:t>Central</a:t>
              </a:r>
              <a:endParaRPr lang="en-GB" sz="1600" dirty="0"/>
            </a:p>
          </p:txBody>
        </p:sp>
        <p:sp>
          <p:nvSpPr>
            <p:cNvPr id="19" name="Line 8"/>
            <p:cNvSpPr>
              <a:spLocks noChangeShapeType="1"/>
            </p:cNvSpPr>
            <p:nvPr/>
          </p:nvSpPr>
          <p:spPr bwMode="auto">
            <a:xfrm>
              <a:off x="6400800" y="3810000"/>
              <a:ext cx="0" cy="414764"/>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lIns="82945" tIns="41473" rIns="82945" bIns="41473"/>
            <a:lstStyle/>
            <a:p>
              <a:endParaRPr lang="en-US"/>
            </a:p>
          </p:txBody>
        </p:sp>
      </p:grpSp>
      <p:sp>
        <p:nvSpPr>
          <p:cNvPr id="33" name="Marcador de contenido 2"/>
          <p:cNvSpPr txBox="1">
            <a:spLocks/>
          </p:cNvSpPr>
          <p:nvPr/>
        </p:nvSpPr>
        <p:spPr>
          <a:xfrm>
            <a:off x="6619462" y="2642518"/>
            <a:ext cx="4591878" cy="1727218"/>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¿A la vista del dibujo, te ofrece información valiosa</a:t>
            </a:r>
            <a:r>
              <a:rPr lang="es-ES" sz="3600" dirty="0" smtClean="0"/>
              <a:t>?</a:t>
            </a:r>
            <a:endParaRPr lang="es-ES" sz="3600" dirty="0"/>
          </a:p>
        </p:txBody>
      </p:sp>
      <p:sp>
        <p:nvSpPr>
          <p:cNvPr id="34" name="Marcador de contenido 2"/>
          <p:cNvSpPr txBox="1">
            <a:spLocks/>
          </p:cNvSpPr>
          <p:nvPr/>
        </p:nvSpPr>
        <p:spPr>
          <a:xfrm>
            <a:off x="6619462" y="4073227"/>
            <a:ext cx="4591878" cy="1303978"/>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z="3600" dirty="0" smtClean="0"/>
              <a:t>¿</a:t>
            </a:r>
            <a:r>
              <a:rPr lang="es-ES" sz="3600" dirty="0" smtClean="0"/>
              <a:t>Qué</a:t>
            </a:r>
            <a:r>
              <a:rPr lang="en-GB" sz="3600" dirty="0" smtClean="0"/>
              <a:t> </a:t>
            </a:r>
            <a:r>
              <a:rPr lang="en-GB" sz="3600" dirty="0"/>
              <a:t>no dice el </a:t>
            </a:r>
            <a:r>
              <a:rPr lang="es-ES" sz="3600" dirty="0" smtClean="0"/>
              <a:t>diagrama</a:t>
            </a:r>
            <a:r>
              <a:rPr lang="en-GB" sz="3600" dirty="0" smtClean="0"/>
              <a:t> </a:t>
            </a:r>
            <a:r>
              <a:rPr lang="en-GB" sz="3600" dirty="0"/>
              <a:t>anterior?</a:t>
            </a:r>
            <a:endParaRPr lang="es-ES" sz="3600" dirty="0"/>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p:txBody>
      </p:sp>
      <p:sp>
        <p:nvSpPr>
          <p:cNvPr id="35" name="Marcador de contenido 2"/>
          <p:cNvSpPr txBox="1">
            <a:spLocks/>
          </p:cNvSpPr>
          <p:nvPr/>
        </p:nvSpPr>
        <p:spPr>
          <a:xfrm>
            <a:off x="6400799" y="5098935"/>
            <a:ext cx="5791199" cy="1281988"/>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342900" indent="-342900">
              <a:spcBef>
                <a:spcPts val="1293"/>
              </a:spcBef>
              <a:buFont typeface="Arial" panose="020B0604020202020204" pitchFamily="34" charset="0"/>
              <a:buChar char="•"/>
            </a:pPr>
            <a:r>
              <a:rPr lang="es-ES" dirty="0" smtClean="0"/>
              <a:t>La naturaleza de los componentes</a:t>
            </a:r>
          </a:p>
          <a:p>
            <a:pPr marL="342900" indent="-342900">
              <a:spcBef>
                <a:spcPts val="1293"/>
              </a:spcBef>
              <a:buFont typeface="Arial" panose="020B0604020202020204" pitchFamily="34" charset="0"/>
              <a:buChar char="•"/>
            </a:pPr>
            <a:r>
              <a:rPr lang="es-ES" dirty="0" smtClean="0"/>
              <a:t>El significado de los enlaces</a:t>
            </a:r>
          </a:p>
          <a:p>
            <a:pPr marL="342900" indent="-342900">
              <a:spcBef>
                <a:spcPts val="1293"/>
              </a:spcBef>
              <a:buFont typeface="Arial" panose="020B0604020202020204" pitchFamily="34" charset="0"/>
              <a:buChar char="•"/>
            </a:pPr>
            <a:r>
              <a:rPr lang="es-ES" dirty="0" smtClean="0"/>
              <a:t>Como funciona en tiempo de ejecución</a:t>
            </a:r>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p:txBody>
      </p:sp>
    </p:spTree>
    <p:extLst>
      <p:ext uri="{BB962C8B-B14F-4D97-AF65-F5344CB8AC3E}">
        <p14:creationId xmlns:p14="http://schemas.microsoft.com/office/powerpoint/2010/main" val="380579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3" grpId="0"/>
      <p:bldP spid="34" grpId="0"/>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1094720" cy="1450757"/>
          </a:xfrm>
        </p:spPr>
        <p:txBody>
          <a:bodyPr/>
          <a:lstStyle/>
          <a:p>
            <a:r>
              <a:rPr lang="es-ES" dirty="0" smtClean="0"/>
              <a:t>¿Qué podemos entender por Arquitectura de Software ? </a:t>
            </a:r>
            <a:endParaRPr lang="es-ES" dirty="0"/>
          </a:p>
        </p:txBody>
      </p:sp>
      <p:sp>
        <p:nvSpPr>
          <p:cNvPr id="3" name="Marcador de contenido 2"/>
          <p:cNvSpPr>
            <a:spLocks noGrp="1"/>
          </p:cNvSpPr>
          <p:nvPr>
            <p:ph idx="1"/>
          </p:nvPr>
        </p:nvSpPr>
        <p:spPr>
          <a:xfrm>
            <a:off x="1117158" y="1777978"/>
            <a:ext cx="9935155" cy="4781848"/>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La arquitectura de software </a:t>
            </a:r>
            <a:r>
              <a:rPr lang="es-ES" sz="3600" dirty="0" smtClean="0"/>
              <a:t>es </a:t>
            </a:r>
            <a:r>
              <a:rPr lang="es-ES" sz="3600" dirty="0"/>
              <a:t>la </a:t>
            </a:r>
            <a:r>
              <a:rPr lang="es-ES" sz="3600" b="1" dirty="0">
                <a:solidFill>
                  <a:srgbClr val="FF0000"/>
                </a:solidFill>
              </a:rPr>
              <a:t>estructura</a:t>
            </a:r>
            <a:r>
              <a:rPr lang="es-ES" sz="3600" dirty="0">
                <a:solidFill>
                  <a:srgbClr val="FF0000"/>
                </a:solidFill>
              </a:rPr>
              <a:t> o </a:t>
            </a:r>
            <a:r>
              <a:rPr lang="es-ES" sz="3600" b="1" dirty="0">
                <a:solidFill>
                  <a:srgbClr val="FF0000"/>
                </a:solidFill>
              </a:rPr>
              <a:t>estructuras</a:t>
            </a:r>
            <a:r>
              <a:rPr lang="es-ES" sz="3600" dirty="0">
                <a:solidFill>
                  <a:srgbClr val="FF0000"/>
                </a:solidFill>
              </a:rPr>
              <a:t> </a:t>
            </a:r>
            <a:r>
              <a:rPr lang="es-ES" sz="3600" b="1" dirty="0">
                <a:solidFill>
                  <a:srgbClr val="FF0000"/>
                </a:solidFill>
              </a:rPr>
              <a:t>del sistema</a:t>
            </a:r>
            <a:r>
              <a:rPr lang="es-ES" sz="3600" dirty="0"/>
              <a:t>, incluyendo sus </a:t>
            </a:r>
            <a:r>
              <a:rPr lang="es-ES" sz="3600" b="1" dirty="0">
                <a:solidFill>
                  <a:srgbClr val="FF0000"/>
                </a:solidFill>
              </a:rPr>
              <a:t>componentes</a:t>
            </a:r>
            <a:r>
              <a:rPr lang="es-ES" sz="3600" dirty="0"/>
              <a:t>, las </a:t>
            </a:r>
            <a:r>
              <a:rPr lang="es-ES" sz="3600" b="1" dirty="0">
                <a:solidFill>
                  <a:srgbClr val="FF0000"/>
                </a:solidFill>
              </a:rPr>
              <a:t>propiedades específicas </a:t>
            </a:r>
            <a:r>
              <a:rPr lang="es-ES" sz="3600" dirty="0"/>
              <a:t>de estas componentes,  </a:t>
            </a:r>
            <a:r>
              <a:rPr lang="es-ES" sz="3600" b="1" dirty="0">
                <a:solidFill>
                  <a:srgbClr val="FF0000"/>
                </a:solidFill>
              </a:rPr>
              <a:t>las relaciones</a:t>
            </a:r>
            <a:r>
              <a:rPr lang="es-ES" sz="3600" dirty="0">
                <a:solidFill>
                  <a:srgbClr val="FF0000"/>
                </a:solidFill>
              </a:rPr>
              <a:t> </a:t>
            </a:r>
            <a:r>
              <a:rPr lang="es-ES" sz="3600" dirty="0"/>
              <a:t>entre ellos y los principios de su </a:t>
            </a:r>
            <a:r>
              <a:rPr lang="es-ES" sz="3600" b="1" dirty="0" smtClean="0">
                <a:solidFill>
                  <a:srgbClr val="FF0000"/>
                </a:solidFill>
              </a:rPr>
              <a:t>comportamiento</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6358622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Entonces…¿Qué podría ser una definición formal de arquitectura ? </a:t>
            </a:r>
            <a:endParaRPr lang="es-ES" dirty="0"/>
          </a:p>
        </p:txBody>
      </p:sp>
      <p:sp>
        <p:nvSpPr>
          <p:cNvPr id="3" name="Marcador de contenido 2"/>
          <p:cNvSpPr>
            <a:spLocks noGrp="1"/>
          </p:cNvSpPr>
          <p:nvPr>
            <p:ph idx="1"/>
          </p:nvPr>
        </p:nvSpPr>
        <p:spPr>
          <a:xfrm>
            <a:off x="1117158" y="1777978"/>
            <a:ext cx="9935155" cy="4125865"/>
          </a:xfrm>
        </p:spPr>
        <p:txBody>
          <a:bodyPr>
            <a:noAutofit/>
          </a:bodyPr>
          <a:lstStyle/>
          <a:p>
            <a:pPr marL="0" indent="0" algn="just">
              <a:buNone/>
            </a:pPr>
            <a:r>
              <a:rPr lang="en-US" sz="3600" dirty="0" err="1"/>
              <a:t>Según</a:t>
            </a:r>
            <a:r>
              <a:rPr lang="en-US" sz="3600" dirty="0"/>
              <a:t> IEEE </a:t>
            </a:r>
            <a:r>
              <a:rPr lang="en-US" sz="3600" dirty="0" err="1"/>
              <a:t>Std</a:t>
            </a:r>
            <a:r>
              <a:rPr lang="en-US" sz="3600" dirty="0"/>
              <a:t> 1472000, the IEEE Recommended Practice for Architectural Description of Software-Intensive Systems, referred to as IEEE 1471:</a:t>
            </a:r>
          </a:p>
          <a:p>
            <a:pPr marL="0" indent="0" algn="just">
              <a:buNone/>
            </a:pPr>
            <a:r>
              <a:rPr lang="es-ES" sz="3600" i="1" dirty="0" smtClean="0"/>
              <a:t>Arquitectura se define como </a:t>
            </a:r>
            <a:r>
              <a:rPr lang="es-ES" sz="3600" i="1" dirty="0"/>
              <a:t>la organización fundamental de un sistema, </a:t>
            </a:r>
            <a:r>
              <a:rPr lang="es-ES" sz="3600" i="1" dirty="0" smtClean="0"/>
              <a:t>el </a:t>
            </a:r>
            <a:r>
              <a:rPr lang="es-ES" sz="3600" i="1" dirty="0"/>
              <a:t>cual esta representado por sus componentes, </a:t>
            </a:r>
            <a:r>
              <a:rPr lang="es-ES" sz="3600" i="1" dirty="0" smtClean="0"/>
              <a:t>las </a:t>
            </a:r>
            <a:r>
              <a:rPr lang="es-ES" sz="3600" i="1" dirty="0"/>
              <a:t>relaciones entre ellos y con el entorno .Así como los principios que guían su diseño y evolución</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30872858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¿Qué es un componente ? </a:t>
            </a:r>
            <a:endParaRPr lang="es-ES" dirty="0"/>
          </a:p>
        </p:txBody>
      </p:sp>
      <p:sp>
        <p:nvSpPr>
          <p:cNvPr id="3" name="Marcador de contenido 2"/>
          <p:cNvSpPr>
            <a:spLocks noGrp="1"/>
          </p:cNvSpPr>
          <p:nvPr>
            <p:ph idx="1"/>
          </p:nvPr>
        </p:nvSpPr>
        <p:spPr>
          <a:xfrm>
            <a:off x="516836" y="1777978"/>
            <a:ext cx="11032434" cy="4384283"/>
          </a:xfrm>
        </p:spPr>
        <p:txBody>
          <a:bodyPr>
            <a:noAutofit/>
          </a:bodyPr>
          <a:lstStyle/>
          <a:p>
            <a:pPr algn="just">
              <a:buFont typeface="Wingdings" pitchFamily="2" charset="2"/>
              <a:buChar char="Ø"/>
            </a:pPr>
            <a:r>
              <a:rPr lang="es-ES" sz="3600" dirty="0"/>
              <a:t>Una componente es una parte modular de un sistema que encapsula su contenido y cuya manifestación es reemplazable. </a:t>
            </a:r>
          </a:p>
          <a:p>
            <a:pPr algn="just">
              <a:buFont typeface="Wingdings" pitchFamily="2" charset="2"/>
              <a:buChar char="Ø"/>
            </a:pPr>
            <a:r>
              <a:rPr lang="es-ES" sz="3600" dirty="0"/>
              <a:t> </a:t>
            </a:r>
            <a:r>
              <a:rPr lang="es-ES" sz="3600" dirty="0" smtClean="0"/>
              <a:t>Define </a:t>
            </a:r>
            <a:r>
              <a:rPr lang="es-ES" sz="3600" dirty="0"/>
              <a:t>su comportamiento a través de las interfaces que provee o </a:t>
            </a:r>
            <a:r>
              <a:rPr lang="es-ES" sz="3600" dirty="0" smtClean="0"/>
              <a:t>necesita</a:t>
            </a:r>
          </a:p>
          <a:p>
            <a:pPr algn="just">
              <a:buFont typeface="Wingdings" pitchFamily="2" charset="2"/>
              <a:buChar char="Ø"/>
            </a:pPr>
            <a:r>
              <a:rPr lang="es-ES" sz="3600" dirty="0"/>
              <a:t>Una componente debe poder ser sustituida por otra “similar”, </a:t>
            </a:r>
            <a:r>
              <a:rPr lang="es-ES" sz="3600" dirty="0" smtClean="0"/>
              <a:t>debido a que ambas deben de </a:t>
            </a:r>
            <a:r>
              <a:rPr lang="es-ES" sz="3600" dirty="0"/>
              <a:t>implementar las mismas interfaces</a:t>
            </a:r>
          </a:p>
          <a:p>
            <a:pPr algn="just">
              <a:buFont typeface="Wingdings" pitchFamily="2" charset="2"/>
              <a:buChar char="Ø"/>
            </a:pPr>
            <a:endParaRPr lang="es-ES" sz="3600" dirty="0"/>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17382971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¿Qué es un componente ? </a:t>
            </a:r>
            <a:endParaRPr lang="es-ES" dirty="0"/>
          </a:p>
        </p:txBody>
      </p:sp>
      <p:sp>
        <p:nvSpPr>
          <p:cNvPr id="3" name="Marcador de contenido 2"/>
          <p:cNvSpPr>
            <a:spLocks noGrp="1"/>
          </p:cNvSpPr>
          <p:nvPr>
            <p:ph idx="1"/>
          </p:nvPr>
        </p:nvSpPr>
        <p:spPr>
          <a:xfrm>
            <a:off x="1117158" y="1777978"/>
            <a:ext cx="9935155" cy="4125865"/>
          </a:xfrm>
        </p:spPr>
        <p:txBody>
          <a:bodyPr>
            <a:noAutofit/>
          </a:bodyPr>
          <a:lstStyle/>
          <a:p>
            <a:pPr algn="just">
              <a:buFont typeface="Wingdings" pitchFamily="2" charset="2"/>
              <a:buChar char="Ø"/>
            </a:pPr>
            <a:r>
              <a:rPr lang="es-ES" sz="3600" dirty="0"/>
              <a:t>Estructura: vista de las componentes del sistema</a:t>
            </a:r>
          </a:p>
          <a:p>
            <a:pPr algn="just">
              <a:buFont typeface="Wingdings" pitchFamily="2" charset="2"/>
              <a:buChar char="Ø"/>
            </a:pPr>
            <a:r>
              <a:rPr lang="es-ES" sz="3600" dirty="0"/>
              <a:t>Comportamiento: interacciones entre las componentes estructurales</a:t>
            </a:r>
          </a:p>
          <a:p>
            <a:pPr algn="just">
              <a:buFont typeface="Wingdings" pitchFamily="2" charset="2"/>
              <a:buChar char="Ø"/>
            </a:pPr>
            <a:r>
              <a:rPr lang="es-ES" sz="3600" dirty="0"/>
              <a:t>Estilo de arquitectura: abstracción de experiencias y buenas prácticas para su </a:t>
            </a:r>
            <a:r>
              <a:rPr lang="es-ES" sz="3600" dirty="0" smtClean="0"/>
              <a:t>reúso</a:t>
            </a:r>
            <a:endParaRPr lang="es-ES" sz="3600" dirty="0"/>
          </a:p>
          <a:p>
            <a:pPr algn="just">
              <a:buFont typeface="Wingdings" pitchFamily="2" charset="2"/>
              <a:buChar char="Ø"/>
            </a:pPr>
            <a:r>
              <a:rPr lang="es-ES" sz="3600" dirty="0"/>
              <a:t>Racionalización: lo importante no es solo el resultado final, sino su justificación</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5786365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79" y="286603"/>
            <a:ext cx="10591137" cy="1450757"/>
          </a:xfrm>
        </p:spPr>
        <p:txBody>
          <a:bodyPr/>
          <a:lstStyle/>
          <a:p>
            <a:r>
              <a:rPr lang="es-ES" dirty="0" smtClean="0"/>
              <a:t>¿Cuáles son los objetivos de las Arquitecturas de software (A.S)? </a:t>
            </a:r>
            <a:endParaRPr lang="es-ES" dirty="0"/>
          </a:p>
        </p:txBody>
      </p:sp>
      <p:sp>
        <p:nvSpPr>
          <p:cNvPr id="3" name="Marcador de contenido 2"/>
          <p:cNvSpPr>
            <a:spLocks noGrp="1"/>
          </p:cNvSpPr>
          <p:nvPr>
            <p:ph idx="1"/>
          </p:nvPr>
        </p:nvSpPr>
        <p:spPr>
          <a:xfrm>
            <a:off x="1117158" y="1777978"/>
            <a:ext cx="9935155" cy="4543309"/>
          </a:xfrm>
        </p:spPr>
        <p:txBody>
          <a:bodyPr>
            <a:noAutofit/>
          </a:bodyPr>
          <a:lstStyle/>
          <a:p>
            <a:pPr algn="just">
              <a:buFont typeface="Wingdings" pitchFamily="2" charset="2"/>
              <a:buChar char="Ø"/>
            </a:pPr>
            <a:r>
              <a:rPr lang="es-ES" sz="3600" dirty="0"/>
              <a:t>Comprender y manejar la estructura de las aplicaciones complejas</a:t>
            </a:r>
          </a:p>
          <a:p>
            <a:pPr algn="just">
              <a:buFont typeface="Wingdings" pitchFamily="2" charset="2"/>
              <a:buChar char="Ø"/>
            </a:pPr>
            <a:r>
              <a:rPr lang="es-ES" sz="3600" dirty="0"/>
              <a:t>Facilitar la reutilización de su estructura (o parte de ella)</a:t>
            </a:r>
          </a:p>
          <a:p>
            <a:pPr algn="just">
              <a:buFont typeface="Wingdings" pitchFamily="2" charset="2"/>
              <a:buChar char="Ø"/>
            </a:pPr>
            <a:r>
              <a:rPr lang="es-ES" sz="3600" dirty="0"/>
              <a:t>Planificar la evolución de la aplicación</a:t>
            </a:r>
          </a:p>
          <a:p>
            <a:pPr algn="just">
              <a:buFont typeface="Wingdings" pitchFamily="2" charset="2"/>
              <a:buChar char="Ø"/>
            </a:pPr>
            <a:r>
              <a:rPr lang="es-ES" sz="3600" dirty="0"/>
              <a:t>Permitir el estudio de propiedades específicas (portabilidad vs. eficiencia, flexibilidad vs usabilidad, etc.)</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32000732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909190" cy="1450757"/>
          </a:xfrm>
        </p:spPr>
        <p:txBody>
          <a:bodyPr/>
          <a:lstStyle/>
          <a:p>
            <a:r>
              <a:rPr lang="es-ES" dirty="0" smtClean="0"/>
              <a:t>¿Cómo medir la calidad de la A.S?</a:t>
            </a:r>
            <a:endParaRPr lang="es-ES" dirty="0"/>
          </a:p>
        </p:txBody>
      </p:sp>
      <p:sp>
        <p:nvSpPr>
          <p:cNvPr id="3" name="Marcador de contenido 2"/>
          <p:cNvSpPr>
            <a:spLocks noGrp="1"/>
          </p:cNvSpPr>
          <p:nvPr>
            <p:ph idx="1"/>
          </p:nvPr>
        </p:nvSpPr>
        <p:spPr>
          <a:xfrm>
            <a:off x="1117158" y="1777978"/>
            <a:ext cx="9935155" cy="4543309"/>
          </a:xfrm>
        </p:spPr>
        <p:txBody>
          <a:bodyPr>
            <a:noAutofit/>
          </a:bodyPr>
          <a:lstStyle/>
          <a:p>
            <a:pPr algn="just">
              <a:buFont typeface="Wingdings" pitchFamily="2" charset="2"/>
              <a:buChar char="Ø"/>
            </a:pPr>
            <a:r>
              <a:rPr lang="es-ES" sz="3600" dirty="0" smtClean="0"/>
              <a:t>Rendimiento</a:t>
            </a:r>
          </a:p>
          <a:p>
            <a:pPr lvl="3" algn="just">
              <a:buFont typeface="Wingdings" pitchFamily="2" charset="2"/>
              <a:buChar char="ü"/>
            </a:pPr>
            <a:r>
              <a:rPr lang="es-ES" sz="3000" dirty="0" smtClean="0"/>
              <a:t>Tiempo </a:t>
            </a:r>
            <a:r>
              <a:rPr lang="es-ES" sz="3000" dirty="0"/>
              <a:t>de </a:t>
            </a:r>
            <a:r>
              <a:rPr lang="es-ES" sz="3000" dirty="0" smtClean="0"/>
              <a:t>respuesta</a:t>
            </a:r>
          </a:p>
          <a:p>
            <a:pPr lvl="3" algn="just">
              <a:buFont typeface="Wingdings" pitchFamily="2" charset="2"/>
              <a:buChar char="ü"/>
            </a:pPr>
            <a:r>
              <a:rPr lang="es-ES" sz="3000" dirty="0" err="1" smtClean="0"/>
              <a:t>Throughput</a:t>
            </a:r>
            <a:endParaRPr lang="es-ES" sz="3000" dirty="0" smtClean="0"/>
          </a:p>
          <a:p>
            <a:pPr lvl="3" algn="just">
              <a:buFont typeface="Wingdings" pitchFamily="2" charset="2"/>
              <a:buChar char="ü"/>
            </a:pPr>
            <a:r>
              <a:rPr lang="es-ES" sz="3000" dirty="0" smtClean="0"/>
              <a:t>Uso </a:t>
            </a:r>
            <a:r>
              <a:rPr lang="es-ES" sz="3000" dirty="0"/>
              <a:t>de </a:t>
            </a:r>
            <a:r>
              <a:rPr lang="es-ES" sz="3000" dirty="0" smtClean="0"/>
              <a:t>recursos</a:t>
            </a:r>
          </a:p>
          <a:p>
            <a:pPr lvl="2" algn="just">
              <a:buFont typeface="Wingdings" pitchFamily="2" charset="2"/>
              <a:buChar char="§"/>
            </a:pPr>
            <a:r>
              <a:rPr lang="es-ES" sz="3200" dirty="0"/>
              <a:t>Mejoras en </a:t>
            </a:r>
            <a:r>
              <a:rPr lang="es-ES" sz="3200" dirty="0" smtClean="0"/>
              <a:t>rendimiento</a:t>
            </a:r>
          </a:p>
          <a:p>
            <a:pPr lvl="3" algn="just">
              <a:buFont typeface="Wingdings" pitchFamily="2" charset="2"/>
              <a:buChar char="ü"/>
            </a:pPr>
            <a:r>
              <a:rPr lang="es-ES" sz="3000" dirty="0" smtClean="0"/>
              <a:t>Optimización </a:t>
            </a:r>
            <a:r>
              <a:rPr lang="es-ES" sz="3000" dirty="0"/>
              <a:t>de algoritmos y estructuras de datos.</a:t>
            </a:r>
          </a:p>
          <a:p>
            <a:pPr lvl="3" algn="just">
              <a:buFont typeface="Wingdings" pitchFamily="2" charset="2"/>
              <a:buChar char="ü"/>
            </a:pPr>
            <a:r>
              <a:rPr lang="es-ES" sz="3000" dirty="0" smtClean="0"/>
              <a:t>Uso </a:t>
            </a:r>
            <a:r>
              <a:rPr lang="es-ES" sz="3000" dirty="0"/>
              <a:t>de cachés para almacenar datos frecuentemente accedidos.</a:t>
            </a:r>
          </a:p>
          <a:p>
            <a:pPr lvl="3" algn="just">
              <a:buFont typeface="Wingdings" pitchFamily="2" charset="2"/>
              <a:buChar char="ü"/>
            </a:pPr>
            <a:r>
              <a:rPr lang="es-ES" sz="3000" dirty="0" smtClean="0"/>
              <a:t>Balanceo </a:t>
            </a:r>
            <a:r>
              <a:rPr lang="es-ES" sz="3000" dirty="0"/>
              <a:t>de carga entre múltiples servidores.</a:t>
            </a:r>
          </a:p>
          <a:p>
            <a:pPr lvl="3" algn="just">
              <a:buFont typeface="Wingdings" pitchFamily="2" charset="2"/>
              <a:buChar char="ü"/>
            </a:pPr>
            <a:endParaRPr lang="es-ES" sz="3000" dirty="0" smtClean="0"/>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19863218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¿Cómo medir la calidad de la arquitectura?</a:t>
            </a:r>
            <a:endParaRPr lang="es-ES" dirty="0"/>
          </a:p>
        </p:txBody>
      </p:sp>
      <p:sp>
        <p:nvSpPr>
          <p:cNvPr id="3" name="Marcador de contenido 2"/>
          <p:cNvSpPr>
            <a:spLocks noGrp="1"/>
          </p:cNvSpPr>
          <p:nvPr>
            <p:ph idx="1"/>
          </p:nvPr>
        </p:nvSpPr>
        <p:spPr>
          <a:xfrm>
            <a:off x="1117158" y="1777978"/>
            <a:ext cx="9935155" cy="4543309"/>
          </a:xfrm>
        </p:spPr>
        <p:txBody>
          <a:bodyPr>
            <a:noAutofit/>
          </a:bodyPr>
          <a:lstStyle/>
          <a:p>
            <a:pPr algn="just">
              <a:buFont typeface="Wingdings" pitchFamily="2" charset="2"/>
              <a:buChar char="Ø"/>
            </a:pPr>
            <a:r>
              <a:rPr lang="es-ES" sz="3600" dirty="0"/>
              <a:t>Escalabilidad</a:t>
            </a:r>
            <a:endParaRPr lang="es-ES" sz="3600" dirty="0" smtClean="0"/>
          </a:p>
          <a:p>
            <a:pPr lvl="3" algn="just">
              <a:buFont typeface="Wingdings" pitchFamily="2" charset="2"/>
              <a:buChar char="ü"/>
            </a:pPr>
            <a:r>
              <a:rPr lang="es-ES" sz="3000" dirty="0"/>
              <a:t>Escalabilidad </a:t>
            </a:r>
            <a:r>
              <a:rPr lang="es-ES" sz="3000" dirty="0" smtClean="0"/>
              <a:t>vertical</a:t>
            </a:r>
          </a:p>
          <a:p>
            <a:pPr lvl="3" algn="just">
              <a:buFont typeface="Wingdings" pitchFamily="2" charset="2"/>
              <a:buChar char="ü"/>
            </a:pPr>
            <a:r>
              <a:rPr lang="es-ES" sz="3000" dirty="0"/>
              <a:t>Escalabilidad horizontal</a:t>
            </a:r>
            <a:endParaRPr lang="es-ES" sz="3000" dirty="0" smtClean="0"/>
          </a:p>
          <a:p>
            <a:pPr lvl="2" algn="just">
              <a:buFont typeface="Wingdings" pitchFamily="2" charset="2"/>
              <a:buChar char="§"/>
            </a:pPr>
            <a:r>
              <a:rPr lang="es-ES" sz="3200" dirty="0" smtClean="0"/>
              <a:t>Consideraciones</a:t>
            </a:r>
          </a:p>
          <a:p>
            <a:pPr lvl="3" algn="just">
              <a:buFont typeface="Wingdings" pitchFamily="2" charset="2"/>
              <a:buChar char="ü"/>
            </a:pPr>
            <a:r>
              <a:rPr lang="es-ES" sz="3000" dirty="0"/>
              <a:t>Diseño modular que permita agregar componentes sin afectar el sistema existente.</a:t>
            </a:r>
            <a:endParaRPr lang="es-ES" sz="3000" dirty="0" smtClean="0"/>
          </a:p>
          <a:p>
            <a:pPr lvl="3" algn="just">
              <a:buFont typeface="Wingdings" pitchFamily="2" charset="2"/>
              <a:buChar char="ü"/>
            </a:pPr>
            <a:r>
              <a:rPr lang="es-ES" sz="3000" dirty="0"/>
              <a:t>Uso de arquitecturas basadas en </a:t>
            </a:r>
            <a:r>
              <a:rPr lang="es-ES" sz="3000" dirty="0" err="1"/>
              <a:t>microservicios</a:t>
            </a:r>
            <a:r>
              <a:rPr lang="es-ES" sz="3000" dirty="0"/>
              <a:t> que faciliten la implementación de nuevas instancias.</a:t>
            </a:r>
          </a:p>
          <a:p>
            <a:pPr lvl="3" algn="just">
              <a:buFont typeface="Wingdings" pitchFamily="2" charset="2"/>
              <a:buChar char="ü"/>
            </a:pPr>
            <a:r>
              <a:rPr lang="es-ES" sz="3000" dirty="0"/>
              <a:t>Implementación de bases de datos distribuidas o sistemas de almacenamiento que soporten el crecimiento.</a:t>
            </a:r>
          </a:p>
          <a:p>
            <a:pPr lvl="3" algn="just">
              <a:buFont typeface="Wingdings" pitchFamily="2" charset="2"/>
              <a:buChar char="ü"/>
            </a:pPr>
            <a:endParaRPr lang="es-ES" sz="3000" dirty="0" smtClean="0"/>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31062650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¿Cómo medir la calidad de la arquitectura de software?</a:t>
            </a:r>
            <a:endParaRPr lang="es-ES" dirty="0"/>
          </a:p>
        </p:txBody>
      </p:sp>
      <p:sp>
        <p:nvSpPr>
          <p:cNvPr id="3" name="Marcador de contenido 2"/>
          <p:cNvSpPr>
            <a:spLocks noGrp="1"/>
          </p:cNvSpPr>
          <p:nvPr>
            <p:ph idx="1"/>
          </p:nvPr>
        </p:nvSpPr>
        <p:spPr>
          <a:xfrm>
            <a:off x="1117158" y="1777978"/>
            <a:ext cx="9935155" cy="4543309"/>
          </a:xfrm>
        </p:spPr>
        <p:txBody>
          <a:bodyPr>
            <a:noAutofit/>
          </a:bodyPr>
          <a:lstStyle/>
          <a:p>
            <a:pPr algn="just">
              <a:buFont typeface="Wingdings" pitchFamily="2" charset="2"/>
              <a:buChar char="Ø"/>
            </a:pPr>
            <a:r>
              <a:rPr lang="es-ES" sz="3600" dirty="0"/>
              <a:t>Seguridad</a:t>
            </a:r>
            <a:endParaRPr lang="es-ES" sz="3600" dirty="0" smtClean="0"/>
          </a:p>
          <a:p>
            <a:pPr lvl="3" algn="just">
              <a:buFont typeface="Wingdings" pitchFamily="2" charset="2"/>
              <a:buChar char="ü"/>
            </a:pPr>
            <a:r>
              <a:rPr lang="es-ES" sz="3000" dirty="0" smtClean="0"/>
              <a:t>Confidencialidad</a:t>
            </a:r>
          </a:p>
          <a:p>
            <a:pPr lvl="3" algn="just">
              <a:buFont typeface="Wingdings" pitchFamily="2" charset="2"/>
              <a:buChar char="ü"/>
            </a:pPr>
            <a:r>
              <a:rPr lang="es-ES" sz="3000" dirty="0" smtClean="0"/>
              <a:t>Integridad</a:t>
            </a:r>
          </a:p>
          <a:p>
            <a:pPr lvl="3" algn="just">
              <a:buFont typeface="Wingdings" pitchFamily="2" charset="2"/>
              <a:buChar char="ü"/>
            </a:pPr>
            <a:r>
              <a:rPr lang="es-ES" sz="3200" dirty="0" smtClean="0"/>
              <a:t>Disponibilidad</a:t>
            </a:r>
          </a:p>
          <a:p>
            <a:pPr lvl="2" algn="just">
              <a:buFont typeface="Wingdings" pitchFamily="2" charset="2"/>
              <a:buChar char="§"/>
            </a:pPr>
            <a:r>
              <a:rPr lang="es-ES" sz="3200" dirty="0"/>
              <a:t>Prácticas para mejorar la seguridad</a:t>
            </a:r>
            <a:endParaRPr lang="es-ES" sz="3200" dirty="0" smtClean="0"/>
          </a:p>
          <a:p>
            <a:pPr lvl="3" algn="just">
              <a:buFont typeface="Wingdings" pitchFamily="2" charset="2"/>
              <a:buChar char="ü"/>
            </a:pPr>
            <a:r>
              <a:rPr lang="es-ES" sz="2800" dirty="0" smtClean="0"/>
              <a:t>Implementación </a:t>
            </a:r>
            <a:r>
              <a:rPr lang="es-ES" sz="2800" dirty="0"/>
              <a:t>de autenticación y autorización robustas</a:t>
            </a:r>
            <a:r>
              <a:rPr lang="es-ES" sz="2800" dirty="0" smtClean="0"/>
              <a:t>.</a:t>
            </a:r>
            <a:endParaRPr lang="es-ES" sz="2800" dirty="0"/>
          </a:p>
          <a:p>
            <a:pPr lvl="3" algn="just">
              <a:buFont typeface="Wingdings" pitchFamily="2" charset="2"/>
              <a:buChar char="ü"/>
            </a:pPr>
            <a:r>
              <a:rPr lang="es-ES" sz="2800" dirty="0" smtClean="0"/>
              <a:t>Uso </a:t>
            </a:r>
            <a:r>
              <a:rPr lang="es-ES" sz="2800" dirty="0"/>
              <a:t>de cifrado para proteger datos en tránsito y en reposo</a:t>
            </a:r>
            <a:r>
              <a:rPr lang="es-ES" sz="2800" dirty="0" smtClean="0"/>
              <a:t>.</a:t>
            </a:r>
            <a:endParaRPr lang="es-ES" sz="2800" dirty="0"/>
          </a:p>
          <a:p>
            <a:pPr lvl="3" algn="just">
              <a:buFont typeface="Wingdings" pitchFamily="2" charset="2"/>
              <a:buChar char="ü"/>
            </a:pPr>
            <a:r>
              <a:rPr lang="es-ES" sz="2800" dirty="0" smtClean="0"/>
              <a:t>Monitoreo </a:t>
            </a:r>
            <a:r>
              <a:rPr lang="es-ES" sz="2800" dirty="0"/>
              <a:t>continuo y análisis de vulnerabilidades para detectar y mitigar amenazas.</a:t>
            </a:r>
          </a:p>
          <a:p>
            <a:pPr lvl="3" algn="just">
              <a:buFont typeface="Wingdings" pitchFamily="2" charset="2"/>
              <a:buChar char="ü"/>
            </a:pPr>
            <a:endParaRPr lang="es-ES" sz="3000" dirty="0" smtClean="0"/>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12677466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¿Cuáles son los principios básicos ?</a:t>
            </a:r>
            <a:endParaRPr lang="es-ES" dirty="0"/>
          </a:p>
        </p:txBody>
      </p:sp>
      <p:sp>
        <p:nvSpPr>
          <p:cNvPr id="3" name="Marcador de contenido 2"/>
          <p:cNvSpPr>
            <a:spLocks noGrp="1"/>
          </p:cNvSpPr>
          <p:nvPr>
            <p:ph idx="1"/>
          </p:nvPr>
        </p:nvSpPr>
        <p:spPr>
          <a:xfrm>
            <a:off x="1117159" y="1777978"/>
            <a:ext cx="4607780" cy="4543309"/>
          </a:xfrm>
        </p:spPr>
        <p:txBody>
          <a:bodyPr>
            <a:noAutofit/>
          </a:bodyPr>
          <a:lstStyle/>
          <a:p>
            <a:pPr>
              <a:buFont typeface="Wingdings" pitchFamily="2" charset="2"/>
              <a:buChar char="Ø"/>
            </a:pPr>
            <a:r>
              <a:rPr lang="es-ES" sz="3600" dirty="0" smtClean="0"/>
              <a:t>Modularidad</a:t>
            </a:r>
          </a:p>
          <a:p>
            <a:pPr>
              <a:buFont typeface="Wingdings" pitchFamily="2" charset="2"/>
              <a:buChar char="Ø"/>
            </a:pPr>
            <a:r>
              <a:rPr lang="es-ES" sz="3600" dirty="0" smtClean="0"/>
              <a:t>Reutilización</a:t>
            </a:r>
          </a:p>
          <a:p>
            <a:pPr>
              <a:buFont typeface="Wingdings" pitchFamily="2" charset="2"/>
              <a:buChar char="Ø"/>
            </a:pPr>
            <a:r>
              <a:rPr lang="es-ES" sz="3600" dirty="0" smtClean="0"/>
              <a:t>Separación de Responsabilidades</a:t>
            </a:r>
          </a:p>
          <a:p>
            <a:pPr>
              <a:buFont typeface="Wingdings" pitchFamily="2" charset="2"/>
              <a:buChar char="Ø"/>
            </a:pPr>
            <a:r>
              <a:rPr lang="es-ES" sz="3600" dirty="0" smtClean="0"/>
              <a:t>Abstracción</a:t>
            </a:r>
          </a:p>
          <a:p>
            <a:pPr>
              <a:buFont typeface="Wingdings" pitchFamily="2" charset="2"/>
              <a:buChar char="Ø"/>
            </a:pPr>
            <a:r>
              <a:rPr lang="es-ES" sz="3600" dirty="0" smtClean="0"/>
              <a:t>Escalabilidad</a:t>
            </a:r>
            <a:endParaRPr lang="es-ES" sz="3600" dirty="0"/>
          </a:p>
          <a:p>
            <a:pPr algn="just">
              <a:buFont typeface="Wingdings" pitchFamily="2" charset="2"/>
              <a:buChar char="Ø"/>
            </a:pPr>
            <a:endParaRPr lang="es-ES" sz="3600" dirty="0" smtClean="0"/>
          </a:p>
          <a:p>
            <a:pPr algn="just">
              <a:buFont typeface="Wingdings" pitchFamily="2" charset="2"/>
              <a:buChar char="Ø"/>
            </a:pPr>
            <a:endParaRPr lang="es-ES" sz="3600" dirty="0" smtClean="0"/>
          </a:p>
          <a:p>
            <a:pPr lvl="3" algn="just">
              <a:buFont typeface="Wingdings" pitchFamily="2" charset="2"/>
              <a:buChar char="ü"/>
            </a:pPr>
            <a:endParaRPr lang="es-ES" sz="3000" dirty="0" smtClean="0"/>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pic>
        <p:nvPicPr>
          <p:cNvPr id="4" name="3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4696" y="1874141"/>
            <a:ext cx="6049617" cy="4486902"/>
          </a:xfrm>
          <a:prstGeom prst="rect">
            <a:avLst/>
          </a:prstGeom>
        </p:spPr>
      </p:pic>
    </p:spTree>
    <p:extLst>
      <p:ext uri="{BB962C8B-B14F-4D97-AF65-F5344CB8AC3E}">
        <p14:creationId xmlns:p14="http://schemas.microsoft.com/office/powerpoint/2010/main" val="38556383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¿Cuáles son las diferencias entre A.S y Diseño?</a:t>
            </a:r>
            <a:endParaRPr lang="es-ES" dirty="0"/>
          </a:p>
        </p:txBody>
      </p:sp>
      <p:sp>
        <p:nvSpPr>
          <p:cNvPr id="3" name="Marcador de contenido 2"/>
          <p:cNvSpPr>
            <a:spLocks noGrp="1"/>
          </p:cNvSpPr>
          <p:nvPr>
            <p:ph idx="1"/>
          </p:nvPr>
        </p:nvSpPr>
        <p:spPr>
          <a:xfrm>
            <a:off x="1117158" y="1777978"/>
            <a:ext cx="10332719" cy="4543309"/>
          </a:xfrm>
        </p:spPr>
        <p:txBody>
          <a:bodyPr>
            <a:noAutofit/>
          </a:bodyPr>
          <a:lstStyle/>
          <a:p>
            <a:pPr>
              <a:buFont typeface="Wingdings" pitchFamily="2" charset="2"/>
              <a:buChar char="Ø"/>
            </a:pPr>
            <a:r>
              <a:rPr lang="es-ES" sz="3600" dirty="0"/>
              <a:t>Arquitectura: Se refiere a la estructura general del sistema, incluyendo sus componentes principales y las interacciones entre ellos. Define cómo se organizan y comunican los módulos.</a:t>
            </a:r>
          </a:p>
          <a:p>
            <a:pPr>
              <a:buFont typeface="Wingdings" pitchFamily="2" charset="2"/>
              <a:buChar char="Ø"/>
            </a:pPr>
            <a:r>
              <a:rPr lang="es-ES" sz="3600" dirty="0"/>
              <a:t>Diseño: Se centra en la implementación detallada de los componentes individuales. Incluye decisiones sobre algoritmos, estructuras de datos y patrones de diseño.</a:t>
            </a:r>
          </a:p>
          <a:p>
            <a:pPr algn="just">
              <a:buFont typeface="Wingdings" pitchFamily="2" charset="2"/>
              <a:buChar char="Ø"/>
            </a:pPr>
            <a:endParaRPr lang="es-ES" sz="3600" dirty="0" smtClean="0"/>
          </a:p>
          <a:p>
            <a:pPr lvl="3" algn="just">
              <a:buFont typeface="Wingdings" pitchFamily="2" charset="2"/>
              <a:buChar char="ü"/>
            </a:pPr>
            <a:endParaRPr lang="es-ES" sz="3000" dirty="0" smtClean="0"/>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27033757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¿Cuáles son las diferencias entre A.S y Diseño?</a:t>
            </a:r>
            <a:endParaRPr lang="es-ES"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pic>
        <p:nvPicPr>
          <p:cNvPr id="6" name="5 Marcador de contenido"/>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49896" y="1846263"/>
            <a:ext cx="8282579" cy="4022725"/>
          </a:xfrm>
        </p:spPr>
      </p:pic>
    </p:spTree>
    <p:extLst>
      <p:ext uri="{BB962C8B-B14F-4D97-AF65-F5344CB8AC3E}">
        <p14:creationId xmlns:p14="http://schemas.microsoft.com/office/powerpoint/2010/main" val="24619482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¿Cuáles son los factores que inciden en la toma de decisión de una A.S?</a:t>
            </a:r>
            <a:endParaRPr lang="es-ES" dirty="0"/>
          </a:p>
        </p:txBody>
      </p:sp>
      <p:sp>
        <p:nvSpPr>
          <p:cNvPr id="3" name="Marcador de contenido 2"/>
          <p:cNvSpPr>
            <a:spLocks noGrp="1"/>
          </p:cNvSpPr>
          <p:nvPr>
            <p:ph idx="1"/>
          </p:nvPr>
        </p:nvSpPr>
        <p:spPr>
          <a:xfrm>
            <a:off x="1117158" y="1777978"/>
            <a:ext cx="10332719" cy="4543309"/>
          </a:xfrm>
        </p:spPr>
        <p:txBody>
          <a:bodyPr>
            <a:noAutofit/>
          </a:bodyPr>
          <a:lstStyle/>
          <a:p>
            <a:pPr>
              <a:buFont typeface="Wingdings" pitchFamily="2" charset="2"/>
              <a:buChar char="Ø"/>
            </a:pPr>
            <a:r>
              <a:rPr lang="es-ES" sz="3600" dirty="0"/>
              <a:t>Requisitos del </a:t>
            </a:r>
            <a:r>
              <a:rPr lang="es-ES" sz="3600" dirty="0" smtClean="0"/>
              <a:t>negocio</a:t>
            </a:r>
          </a:p>
          <a:p>
            <a:pPr>
              <a:buFont typeface="Wingdings" pitchFamily="2" charset="2"/>
              <a:buChar char="Ø"/>
            </a:pPr>
            <a:r>
              <a:rPr lang="es-ES" sz="3600" dirty="0"/>
              <a:t>Restricciones </a:t>
            </a:r>
            <a:r>
              <a:rPr lang="es-ES" sz="3600" dirty="0" smtClean="0"/>
              <a:t>técnicas</a:t>
            </a:r>
          </a:p>
          <a:p>
            <a:pPr>
              <a:buFont typeface="Wingdings" pitchFamily="2" charset="2"/>
              <a:buChar char="Ø"/>
            </a:pPr>
            <a:r>
              <a:rPr lang="es-ES" sz="3600" dirty="0" smtClean="0"/>
              <a:t>Costo</a:t>
            </a:r>
          </a:p>
          <a:p>
            <a:pPr>
              <a:buFont typeface="Wingdings" pitchFamily="2" charset="2"/>
              <a:buChar char="Ø"/>
            </a:pPr>
            <a:r>
              <a:rPr lang="es-ES" sz="3600" dirty="0"/>
              <a:t>Escalabilidad y </a:t>
            </a:r>
            <a:r>
              <a:rPr lang="es-ES" sz="3600" dirty="0" smtClean="0"/>
              <a:t>rendimiento</a:t>
            </a:r>
          </a:p>
          <a:p>
            <a:pPr>
              <a:buFont typeface="Wingdings" pitchFamily="2" charset="2"/>
              <a:buChar char="Ø"/>
            </a:pPr>
            <a:r>
              <a:rPr lang="es-ES" sz="3600" dirty="0" smtClean="0"/>
              <a:t>Seguridad</a:t>
            </a:r>
          </a:p>
          <a:p>
            <a:pPr>
              <a:buFont typeface="Wingdings" pitchFamily="2" charset="2"/>
              <a:buChar char="Ø"/>
            </a:pPr>
            <a:r>
              <a:rPr lang="es-ES" sz="3600" dirty="0"/>
              <a:t>Facilidad de mantenimiento</a:t>
            </a:r>
            <a:endParaRPr lang="es-ES" sz="3600" dirty="0" smtClean="0"/>
          </a:p>
          <a:p>
            <a:pPr>
              <a:buFont typeface="Wingdings" pitchFamily="2" charset="2"/>
              <a:buChar char="Ø"/>
            </a:pPr>
            <a:endParaRPr lang="es-ES" sz="3000" dirty="0" smtClean="0"/>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6610660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¿Cuáles son los estilos de las A.S?</a:t>
            </a:r>
            <a:endParaRPr lang="es-ES" dirty="0"/>
          </a:p>
        </p:txBody>
      </p:sp>
      <p:sp>
        <p:nvSpPr>
          <p:cNvPr id="3" name="Marcador de contenido 2"/>
          <p:cNvSpPr>
            <a:spLocks noGrp="1"/>
          </p:cNvSpPr>
          <p:nvPr>
            <p:ph idx="1"/>
          </p:nvPr>
        </p:nvSpPr>
        <p:spPr>
          <a:xfrm>
            <a:off x="357810" y="1777978"/>
            <a:ext cx="11648660" cy="4543309"/>
          </a:xfrm>
        </p:spPr>
        <p:txBody>
          <a:bodyPr>
            <a:noAutofit/>
          </a:bodyPr>
          <a:lstStyle/>
          <a:p>
            <a:pPr>
              <a:buFont typeface="Wingdings" pitchFamily="2" charset="2"/>
              <a:buChar char="Ø"/>
            </a:pPr>
            <a:r>
              <a:rPr lang="es-ES" sz="3600" dirty="0"/>
              <a:t>Un estilo de arquitectura agrupa a una familia de diseños con estructura, componentes y conexiones similares, es decir, define un conjunto de tipos de componentes y conectores, acompañados de las restricciones y reglas de como pueden combinarse</a:t>
            </a:r>
          </a:p>
          <a:p>
            <a:pPr>
              <a:buFont typeface="Wingdings" pitchFamily="2" charset="2"/>
              <a:buChar char="Ø"/>
            </a:pPr>
            <a:r>
              <a:rPr lang="es-ES" sz="3600" dirty="0" smtClean="0"/>
              <a:t>Se </a:t>
            </a:r>
            <a:r>
              <a:rPr lang="es-ES" sz="3600" dirty="0"/>
              <a:t>le llama también Patrón Arquitectónico (</a:t>
            </a:r>
            <a:r>
              <a:rPr lang="es-ES" sz="3600" dirty="0" err="1"/>
              <a:t>Architectural</a:t>
            </a:r>
            <a:r>
              <a:rPr lang="es-ES" sz="3600" dirty="0"/>
              <a:t> </a:t>
            </a:r>
            <a:r>
              <a:rPr lang="es-ES" sz="3600" dirty="0" err="1"/>
              <a:t>Pattern</a:t>
            </a:r>
            <a:r>
              <a:rPr lang="es-ES" sz="3600" dirty="0" smtClean="0"/>
              <a:t>)</a:t>
            </a:r>
          </a:p>
          <a:p>
            <a:pPr>
              <a:buFont typeface="Wingdings" pitchFamily="2" charset="2"/>
              <a:buChar char="Ø"/>
            </a:pPr>
            <a:r>
              <a:rPr lang="es-ES" sz="3600" dirty="0" smtClean="0"/>
              <a:t>Existen 2 grandes estilos: Tradicionales y Modernas-Distribuidas</a:t>
            </a:r>
            <a:endParaRPr lang="es-ES" sz="3600" dirty="0"/>
          </a:p>
          <a:p>
            <a:pPr>
              <a:buFont typeface="Wingdings" pitchFamily="2" charset="2"/>
              <a:buChar char="Ø"/>
            </a:pPr>
            <a:endParaRPr lang="es-ES" sz="3000" dirty="0" smtClean="0"/>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10447576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Monolítica</a:t>
            </a:r>
            <a:endParaRPr lang="es-ES" dirty="0"/>
          </a:p>
        </p:txBody>
      </p:sp>
      <p:sp>
        <p:nvSpPr>
          <p:cNvPr id="3" name="Marcador de contenido 2"/>
          <p:cNvSpPr>
            <a:spLocks noGrp="1"/>
          </p:cNvSpPr>
          <p:nvPr>
            <p:ph idx="1"/>
          </p:nvPr>
        </p:nvSpPr>
        <p:spPr>
          <a:xfrm>
            <a:off x="357810" y="1777978"/>
            <a:ext cx="6361042"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Aplicación </a:t>
            </a:r>
            <a:r>
              <a:rPr lang="es-ES" sz="3600" dirty="0"/>
              <a:t>se desarrolla como un único bloque cohesivo, lo que significa que todos los componentes (interfaz de usuario, lógica de negocio, y acceso a datos) están interconectados y se despliegan como una sola entidad.</a:t>
            </a:r>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pic>
        <p:nvPicPr>
          <p:cNvPr id="6" name="5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4836" y="2025176"/>
            <a:ext cx="4214190" cy="4057572"/>
          </a:xfrm>
          <a:prstGeom prst="rect">
            <a:avLst/>
          </a:prstGeom>
        </p:spPr>
      </p:pic>
    </p:spTree>
    <p:extLst>
      <p:ext uri="{BB962C8B-B14F-4D97-AF65-F5344CB8AC3E}">
        <p14:creationId xmlns:p14="http://schemas.microsoft.com/office/powerpoint/2010/main" val="137351280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Monolítica</a:t>
            </a:r>
            <a:br>
              <a:rPr lang="es-ES" dirty="0" smtClean="0"/>
            </a:br>
            <a:r>
              <a:rPr lang="es-ES" dirty="0"/>
              <a:t>Ventajas </a:t>
            </a:r>
            <a:r>
              <a:rPr lang="es-ES" dirty="0" smtClean="0"/>
              <a:t>                     Desventajas</a:t>
            </a:r>
            <a:endParaRPr lang="es-ES" dirty="0"/>
          </a:p>
        </p:txBody>
      </p:sp>
      <p:sp>
        <p:nvSpPr>
          <p:cNvPr id="3" name="Marcador de contenido 2"/>
          <p:cNvSpPr>
            <a:spLocks noGrp="1"/>
          </p:cNvSpPr>
          <p:nvPr>
            <p:ph idx="1"/>
          </p:nvPr>
        </p:nvSpPr>
        <p:spPr>
          <a:xfrm>
            <a:off x="357810" y="1777978"/>
            <a:ext cx="4432851"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Simplicidad en el </a:t>
            </a:r>
            <a:r>
              <a:rPr lang="es-ES" sz="3600" dirty="0" smtClean="0"/>
              <a:t>Desarrollo</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Despliegue </a:t>
            </a:r>
            <a:r>
              <a:rPr lang="es-ES" sz="3600" dirty="0" smtClean="0"/>
              <a:t>Sencillo</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Rendimiento </a:t>
            </a:r>
            <a:r>
              <a:rPr lang="es-ES" sz="3600" dirty="0" smtClean="0"/>
              <a:t>Inicial</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Facilidad de </a:t>
            </a:r>
            <a:r>
              <a:rPr lang="es-ES" sz="3600" dirty="0" smtClean="0"/>
              <a:t>Pruebas</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Menor Sobrecarga de Infraestructura</a:t>
            </a:r>
            <a:endParaRPr lang="es-ES" sz="3600" dirty="0" smtClean="0"/>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
        <p:nvSpPr>
          <p:cNvPr id="6" name="Marcador de contenido 2"/>
          <p:cNvSpPr txBox="1">
            <a:spLocks/>
          </p:cNvSpPr>
          <p:nvPr/>
        </p:nvSpPr>
        <p:spPr>
          <a:xfrm>
            <a:off x="5188227" y="1727155"/>
            <a:ext cx="6778487" cy="4543309"/>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Escalabilidad Limitada</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Dificultades en el Mantenimiento</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Desarrollo Lento</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err="1" smtClean="0"/>
              <a:t>Resiliencia</a:t>
            </a:r>
            <a:r>
              <a:rPr lang="es-ES" sz="3600" dirty="0" smtClean="0"/>
              <a:t> y Disponibilidad </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Dificultad para Adoptar Nuevas Tecnologías</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Limitaciones en la Tecnología</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Ejemplo: proyecto IS</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p:txBody>
      </p:sp>
    </p:spTree>
    <p:extLst>
      <p:ext uri="{BB962C8B-B14F-4D97-AF65-F5344CB8AC3E}">
        <p14:creationId xmlns:p14="http://schemas.microsoft.com/office/powerpoint/2010/main" val="225366925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N-Capas</a:t>
            </a:r>
            <a:endParaRPr lang="es-ES" dirty="0"/>
          </a:p>
        </p:txBody>
      </p:sp>
      <p:sp>
        <p:nvSpPr>
          <p:cNvPr id="3" name="Marcador de contenido 2"/>
          <p:cNvSpPr>
            <a:spLocks noGrp="1"/>
          </p:cNvSpPr>
          <p:nvPr>
            <p:ph idx="1"/>
          </p:nvPr>
        </p:nvSpPr>
        <p:spPr>
          <a:xfrm>
            <a:off x="357810" y="1777978"/>
            <a:ext cx="7653128"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 </a:t>
            </a:r>
            <a:r>
              <a:rPr lang="es-ES" sz="3600" dirty="0" smtClean="0"/>
              <a:t>Divide </a:t>
            </a:r>
            <a:r>
              <a:rPr lang="es-ES" sz="3600" dirty="0"/>
              <a:t>una aplicación en capas distintas, cada una con responsabilidades </a:t>
            </a:r>
            <a:r>
              <a:rPr lang="es-ES" sz="3600" dirty="0" smtClean="0"/>
              <a:t>específicas</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Cada capa puede ser abierta o cerrada. </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Cumple con el concepto de capas de aislamiento(</a:t>
            </a:r>
            <a:r>
              <a:rPr lang="es-ES" sz="3600" i="1" dirty="0" err="1"/>
              <a:t>layers</a:t>
            </a:r>
            <a:r>
              <a:rPr lang="es-ES" sz="3600" i="1" dirty="0"/>
              <a:t> of </a:t>
            </a:r>
            <a:r>
              <a:rPr lang="es-ES" sz="3600" i="1" dirty="0" err="1"/>
              <a:t>isolation</a:t>
            </a:r>
            <a:r>
              <a:rPr lang="es-ES" sz="3600" dirty="0" smtClean="0"/>
              <a:t>)</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smtClean="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pic>
        <p:nvPicPr>
          <p:cNvPr id="4" name="3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0938" y="1998386"/>
            <a:ext cx="3916019" cy="3488014"/>
          </a:xfrm>
          <a:prstGeom prst="rect">
            <a:avLst/>
          </a:prstGeom>
        </p:spPr>
      </p:pic>
    </p:spTree>
    <p:extLst>
      <p:ext uri="{BB962C8B-B14F-4D97-AF65-F5344CB8AC3E}">
        <p14:creationId xmlns:p14="http://schemas.microsoft.com/office/powerpoint/2010/main" val="325084942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N-Capas</a:t>
            </a:r>
            <a:br>
              <a:rPr lang="es-ES" dirty="0" smtClean="0"/>
            </a:br>
            <a:r>
              <a:rPr lang="es-ES" dirty="0"/>
              <a:t>Ventajas </a:t>
            </a:r>
            <a:r>
              <a:rPr lang="es-ES" dirty="0" smtClean="0"/>
              <a:t>                   Desventajas</a:t>
            </a:r>
            <a:endParaRPr lang="es-ES" dirty="0"/>
          </a:p>
        </p:txBody>
      </p:sp>
      <p:sp>
        <p:nvSpPr>
          <p:cNvPr id="3" name="Marcador de contenido 2"/>
          <p:cNvSpPr>
            <a:spLocks noGrp="1"/>
          </p:cNvSpPr>
          <p:nvPr>
            <p:ph idx="1"/>
          </p:nvPr>
        </p:nvSpPr>
        <p:spPr>
          <a:xfrm>
            <a:off x="357810" y="1777978"/>
            <a:ext cx="5068955" cy="4543309"/>
          </a:xfrm>
        </p:spPr>
        <p:txBody>
          <a:bodyPr>
            <a:noAutofit/>
          </a:bodyPr>
          <a:lstStyle/>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 Separación de </a:t>
            </a:r>
            <a:r>
              <a:rPr lang="es-ES" sz="3600" dirty="0" smtClean="0"/>
              <a:t>Responsabilidades</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Facilidad de Mantenimiento</a:t>
            </a:r>
            <a:r>
              <a:rPr lang="es-ES" sz="3600" dirty="0" smtClean="0"/>
              <a:t>. </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Reusabilidad</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Escalabilidad</a:t>
            </a:r>
            <a:endParaRPr lang="es-ES" sz="3600" dirty="0" smtClean="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Facilidad para </a:t>
            </a:r>
            <a:r>
              <a:rPr lang="es-ES" sz="3600" dirty="0" smtClean="0"/>
              <a:t>Pruebas</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Flexibilidad</a:t>
            </a:r>
            <a:endParaRPr lang="es-ES" sz="3600" dirty="0" smtClean="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
        <p:nvSpPr>
          <p:cNvPr id="6" name="Marcador de contenido 2"/>
          <p:cNvSpPr txBox="1">
            <a:spLocks/>
          </p:cNvSpPr>
          <p:nvPr/>
        </p:nvSpPr>
        <p:spPr>
          <a:xfrm>
            <a:off x="5592419" y="1826547"/>
            <a:ext cx="6221894" cy="4543309"/>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 Rendimiento</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Dificultades en el Mantenimiento</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Sobrecarga de Desarrollo</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Rigidez</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smtClean="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Ejemplos: aplicaciones móviles, CMS (</a:t>
            </a:r>
            <a:r>
              <a:rPr lang="es-ES" sz="3600" dirty="0" err="1" smtClean="0"/>
              <a:t>WordPress</a:t>
            </a:r>
            <a:r>
              <a:rPr lang="es-ES" sz="3600" dirty="0" smtClean="0"/>
              <a:t>, </a:t>
            </a:r>
            <a:r>
              <a:rPr lang="es-ES" sz="3600" dirty="0" err="1" smtClean="0"/>
              <a:t>Drupal</a:t>
            </a:r>
            <a:r>
              <a:rPr lang="es-ES" sz="3600" dirty="0" smtClean="0"/>
              <a:t>)</a:t>
            </a:r>
          </a:p>
        </p:txBody>
      </p:sp>
    </p:spTree>
    <p:extLst>
      <p:ext uri="{BB962C8B-B14F-4D97-AF65-F5344CB8AC3E}">
        <p14:creationId xmlns:p14="http://schemas.microsoft.com/office/powerpoint/2010/main" val="35589897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smtClean="0"/>
              <a:t>Arquitecturas Tradicionales: </a:t>
            </a:r>
            <a:r>
              <a:rPr lang="es-ES" dirty="0"/>
              <a:t>Cliente-Servidor</a:t>
            </a:r>
            <a:br>
              <a:rPr lang="es-ES" dirty="0"/>
            </a:br>
            <a:endParaRPr lang="es-ES" dirty="0"/>
          </a:p>
        </p:txBody>
      </p:sp>
      <p:sp>
        <p:nvSpPr>
          <p:cNvPr id="3" name="Marcador de contenido 2"/>
          <p:cNvSpPr>
            <a:spLocks noGrp="1"/>
          </p:cNvSpPr>
          <p:nvPr>
            <p:ph idx="1"/>
          </p:nvPr>
        </p:nvSpPr>
        <p:spPr>
          <a:xfrm>
            <a:off x="357810" y="1777978"/>
            <a:ext cx="6361042"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Consta de dos partes </a:t>
            </a:r>
            <a:r>
              <a:rPr lang="es-ES" sz="3600" dirty="0" smtClean="0"/>
              <a:t>:un server y </a:t>
            </a:r>
            <a:r>
              <a:rPr lang="es-ES" sz="3600" dirty="0"/>
              <a:t>múltiples clientes.</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Topología </a:t>
            </a:r>
            <a:r>
              <a:rPr lang="es-ES" sz="3600" dirty="0"/>
              <a:t>en estrella.</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Cliente hace peticiones (activo), el servidor las procesa y responde (</a:t>
            </a:r>
            <a:r>
              <a:rPr lang="es-ES" sz="3600" dirty="0" smtClean="0"/>
              <a:t>reactivo)</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Los servidores pueden ser con estado o sin estado. </a:t>
            </a:r>
            <a:endParaRPr lang="es-ES" sz="3600" dirty="0" smtClean="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pic>
        <p:nvPicPr>
          <p:cNvPr id="4" name="3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37098" y="1869384"/>
            <a:ext cx="4640331" cy="3060425"/>
          </a:xfrm>
          <a:prstGeom prst="rect">
            <a:avLst/>
          </a:prstGeom>
        </p:spPr>
      </p:pic>
    </p:spTree>
    <p:extLst>
      <p:ext uri="{BB962C8B-B14F-4D97-AF65-F5344CB8AC3E}">
        <p14:creationId xmlns:p14="http://schemas.microsoft.com/office/powerpoint/2010/main" val="142391944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smtClean="0"/>
              <a:t>Arquitecturas Tradicionales: </a:t>
            </a:r>
            <a:r>
              <a:rPr lang="es-ES" dirty="0"/>
              <a:t>Cliente-Servidor</a:t>
            </a:r>
            <a:br>
              <a:rPr lang="es-ES" dirty="0"/>
            </a:br>
            <a:r>
              <a:rPr lang="es-ES" dirty="0"/>
              <a:t>Ventajas</a:t>
            </a:r>
          </a:p>
        </p:txBody>
      </p:sp>
      <p:sp>
        <p:nvSpPr>
          <p:cNvPr id="3" name="Marcador de contenido 2"/>
          <p:cNvSpPr>
            <a:spLocks noGrp="1"/>
          </p:cNvSpPr>
          <p:nvPr>
            <p:ph idx="1"/>
          </p:nvPr>
        </p:nvSpPr>
        <p:spPr>
          <a:xfrm>
            <a:off x="357810" y="1777978"/>
            <a:ext cx="11410120"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Los </a:t>
            </a:r>
            <a:r>
              <a:rPr lang="es-ES" sz="3600" dirty="0"/>
              <a:t>servicios se acceden usando “interfaces usuario”, no hay necesidad de que se hagan sesiones de comando remotas directamente en el servicio</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Pueden ser construidas en sin tener en cuenta  un tipo de tecnología especifica</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Es un modelo distribuido </a:t>
            </a:r>
            <a:r>
              <a:rPr lang="es-ES" sz="3600" dirty="0" smtClean="0"/>
              <a:t>donde </a:t>
            </a:r>
            <a:r>
              <a:rPr lang="es-ES" sz="3600" dirty="0"/>
              <a:t>cada componente tiene responsabilidades </a:t>
            </a:r>
            <a:r>
              <a:rPr lang="es-ES" sz="3600" dirty="0" smtClean="0"/>
              <a:t>específicas, </a:t>
            </a:r>
            <a:r>
              <a:rPr lang="es-ES" sz="3600" dirty="0"/>
              <a:t>lo que hace el mantenimiento fácil</a:t>
            </a:r>
            <a:r>
              <a:rPr lang="es-ES" sz="3600" dirty="0" smtClean="0"/>
              <a:t>.</a:t>
            </a: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59136364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smtClean="0"/>
              <a:t>Arquitecturas Tradicionales: </a:t>
            </a:r>
            <a:r>
              <a:rPr lang="es-ES" dirty="0"/>
              <a:t>Cliente-Servidor</a:t>
            </a:r>
            <a:br>
              <a:rPr lang="es-ES" dirty="0"/>
            </a:br>
            <a:r>
              <a:rPr lang="es-ES" dirty="0"/>
              <a:t>Desventajas</a:t>
            </a:r>
          </a:p>
        </p:txBody>
      </p:sp>
      <p:sp>
        <p:nvSpPr>
          <p:cNvPr id="3" name="Marcador de contenido 2"/>
          <p:cNvSpPr>
            <a:spLocks noGrp="1"/>
          </p:cNvSpPr>
          <p:nvPr>
            <p:ph idx="1"/>
          </p:nvPr>
        </p:nvSpPr>
        <p:spPr>
          <a:xfrm>
            <a:off x="357810" y="1777978"/>
            <a:ext cx="11410120"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Los </a:t>
            </a:r>
            <a:r>
              <a:rPr lang="es-ES" sz="3600" dirty="0"/>
              <a:t>servidores pueden sobrecargarse debido a un exceso de peticiones</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Un servidor central para soportar múltiples clientes representa un “punto único de fallo”</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Ejemplo: Email</a:t>
            </a:r>
            <a:r>
              <a:rPr lang="es-ES" sz="3600" dirty="0"/>
              <a:t>, aplicaciones web, bases de datos, </a:t>
            </a:r>
            <a:r>
              <a:rPr lang="es-ES" sz="3600" dirty="0" err="1"/>
              <a:t>banking</a:t>
            </a: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217395438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s-ES" dirty="0"/>
              <a:t>Peer 2 Peer</a:t>
            </a:r>
          </a:p>
        </p:txBody>
      </p:sp>
      <p:sp>
        <p:nvSpPr>
          <p:cNvPr id="3" name="Marcador de contenido 2"/>
          <p:cNvSpPr>
            <a:spLocks noGrp="1"/>
          </p:cNvSpPr>
          <p:nvPr>
            <p:ph idx="1"/>
          </p:nvPr>
        </p:nvSpPr>
        <p:spPr>
          <a:xfrm>
            <a:off x="0" y="1777978"/>
            <a:ext cx="8169965"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Descentralización</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smtClean="0"/>
              <a:t>No </a:t>
            </a:r>
            <a:r>
              <a:rPr lang="es-ES" sz="2400" dirty="0"/>
              <a:t>hay un servidor central que controle la red. Cada nodo tiene igual importancia y puede iniciar o responder a solicitudes.</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Interacción Directa</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Los nodos se comunican directamente entre sí, lo que puede mejorar la eficiencia en la transferencia de datos.</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Recursos Compartidos</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Los nodos pueden compartir recursos como archivos, ancho de banda y capacidad de procesamiento</a:t>
            </a:r>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pic>
        <p:nvPicPr>
          <p:cNvPr id="6" name="5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4428" y="1530625"/>
            <a:ext cx="4343191" cy="4492488"/>
          </a:xfrm>
          <a:prstGeom prst="rect">
            <a:avLst/>
          </a:prstGeom>
        </p:spPr>
      </p:pic>
    </p:spTree>
    <p:extLst>
      <p:ext uri="{BB962C8B-B14F-4D97-AF65-F5344CB8AC3E}">
        <p14:creationId xmlns:p14="http://schemas.microsoft.com/office/powerpoint/2010/main" val="221564345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s-ES" dirty="0"/>
              <a:t>Peer 2 Peer</a:t>
            </a:r>
          </a:p>
        </p:txBody>
      </p:sp>
      <p:sp>
        <p:nvSpPr>
          <p:cNvPr id="3" name="Marcador de contenido 2"/>
          <p:cNvSpPr>
            <a:spLocks noGrp="1"/>
          </p:cNvSpPr>
          <p:nvPr>
            <p:ph idx="1"/>
          </p:nvPr>
        </p:nvSpPr>
        <p:spPr>
          <a:xfrm>
            <a:off x="0" y="1777978"/>
            <a:ext cx="8169965"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 Escalabilidad</a:t>
            </a:r>
            <a:endParaRPr lang="es-ES" sz="3600" dirty="0"/>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   </a:t>
            </a:r>
            <a:r>
              <a:rPr lang="es-ES" sz="2400" dirty="0" smtClean="0"/>
              <a:t>La </a:t>
            </a:r>
            <a:r>
              <a:rPr lang="es-ES" sz="2400" dirty="0"/>
              <a:t>adición de nuevos nodos puede aumentar la capacidad de la red sin necesidad de una infraestructura centralizada.</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Redundancia</a:t>
            </a:r>
            <a:r>
              <a:rPr lang="es-ES" sz="3600" dirty="0"/>
              <a:t>: </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smtClean="0"/>
              <a:t>Al </a:t>
            </a:r>
            <a:r>
              <a:rPr lang="es-ES" sz="2400" dirty="0"/>
              <a:t>no depender de un único punto de fallo, la red puede ser más resistente a fallos</a:t>
            </a:r>
            <a:r>
              <a:rPr lang="es-ES" sz="2400" dirty="0" smtClean="0"/>
              <a:t>.</a:t>
            </a:r>
          </a:p>
          <a:p>
            <a:pPr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000" dirty="0" smtClean="0"/>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2400" dirty="0"/>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24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pic>
        <p:nvPicPr>
          <p:cNvPr id="6" name="5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4427" y="1530625"/>
            <a:ext cx="4343191" cy="4492488"/>
          </a:xfrm>
          <a:prstGeom prst="rect">
            <a:avLst/>
          </a:prstGeom>
        </p:spPr>
      </p:pic>
    </p:spTree>
    <p:extLst>
      <p:ext uri="{BB962C8B-B14F-4D97-AF65-F5344CB8AC3E}">
        <p14:creationId xmlns:p14="http://schemas.microsoft.com/office/powerpoint/2010/main" val="354217561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s-ES" dirty="0"/>
              <a:t>Peer 2 </a:t>
            </a:r>
            <a:r>
              <a:rPr lang="es-ES" dirty="0" smtClean="0"/>
              <a:t>Peer</a:t>
            </a:r>
            <a:br>
              <a:rPr lang="es-ES" dirty="0" smtClean="0"/>
            </a:br>
            <a:r>
              <a:rPr lang="es-ES" dirty="0" smtClean="0"/>
              <a:t>Ventajas</a:t>
            </a:r>
            <a:endParaRPr lang="es-ES" dirty="0"/>
          </a:p>
        </p:txBody>
      </p:sp>
      <p:sp>
        <p:nvSpPr>
          <p:cNvPr id="3" name="Marcador de contenido 2"/>
          <p:cNvSpPr>
            <a:spLocks noGrp="1"/>
          </p:cNvSpPr>
          <p:nvPr>
            <p:ph idx="1"/>
          </p:nvPr>
        </p:nvSpPr>
        <p:spPr>
          <a:xfrm>
            <a:off x="0" y="1777978"/>
            <a:ext cx="11589026"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 </a:t>
            </a:r>
            <a:r>
              <a:rPr lang="es-ES" sz="3600" dirty="0" err="1"/>
              <a:t>Resiliencia</a:t>
            </a:r>
            <a:r>
              <a:rPr lang="es-ES" sz="3600" dirty="0"/>
              <a:t>: </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smtClean="0"/>
              <a:t>   La </a:t>
            </a:r>
            <a:r>
              <a:rPr lang="es-ES" sz="3000" dirty="0"/>
              <a:t>red puede seguir funcionando incluso si algunos nodos fallan, ya que no hay un punto único de fallo.</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Escalabilidad</a:t>
            </a:r>
            <a:r>
              <a:rPr lang="es-ES" sz="3600" dirty="0"/>
              <a:t>: </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smtClean="0"/>
              <a:t>  La </a:t>
            </a:r>
            <a:r>
              <a:rPr lang="es-ES" sz="3000" dirty="0"/>
              <a:t>capacidad de la red puede crecer de manera más natural a medida que se añaden más nodos.</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 </a:t>
            </a:r>
            <a:r>
              <a:rPr lang="es-ES" sz="3600" dirty="0"/>
              <a:t>Costo: </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smtClean="0"/>
              <a:t> </a:t>
            </a:r>
            <a:r>
              <a:rPr lang="es-ES" sz="3000" dirty="0"/>
              <a:t>Puede ser más económico, ya que no se requiere una infraestructura central costosa.</a:t>
            </a:r>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343870434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s-ES" dirty="0"/>
              <a:t>Peer 2 </a:t>
            </a:r>
            <a:r>
              <a:rPr lang="es-ES" dirty="0" smtClean="0"/>
              <a:t>Peer</a:t>
            </a:r>
            <a:br>
              <a:rPr lang="es-ES" dirty="0" smtClean="0"/>
            </a:br>
            <a:r>
              <a:rPr lang="es-ES" dirty="0" smtClean="0"/>
              <a:t>Ventajas</a:t>
            </a:r>
            <a:endParaRPr lang="es-ES" dirty="0"/>
          </a:p>
        </p:txBody>
      </p:sp>
      <p:sp>
        <p:nvSpPr>
          <p:cNvPr id="3" name="Marcador de contenido 2"/>
          <p:cNvSpPr>
            <a:spLocks noGrp="1"/>
          </p:cNvSpPr>
          <p:nvPr>
            <p:ph idx="1"/>
          </p:nvPr>
        </p:nvSpPr>
        <p:spPr>
          <a:xfrm>
            <a:off x="0" y="1777978"/>
            <a:ext cx="11589026"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Facilidad </a:t>
            </a:r>
            <a:r>
              <a:rPr lang="es-ES" sz="3600" dirty="0"/>
              <a:t>de Uso: </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smtClean="0"/>
              <a:t>   Muchos </a:t>
            </a:r>
            <a:r>
              <a:rPr lang="es-ES" sz="3000" dirty="0"/>
              <a:t>sistemas P2P son fáciles de usar y no requieren configuraciones complejas</a:t>
            </a:r>
            <a:r>
              <a:rPr lang="es-ES" sz="3000" dirty="0" smtClean="0"/>
              <a:t>.</a:t>
            </a:r>
            <a:endParaRPr lang="es-ES" sz="3600" dirty="0"/>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Distribución </a:t>
            </a:r>
            <a:r>
              <a:rPr lang="es-ES" sz="3600" dirty="0"/>
              <a:t>del Carga: </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smtClean="0"/>
              <a:t>   La </a:t>
            </a:r>
            <a:r>
              <a:rPr lang="es-ES" sz="3000" dirty="0"/>
              <a:t>carga de trabajo se distribuye entre todos los nodos, lo que puede mejorar el rendimiento general.</a:t>
            </a:r>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356703003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s-ES" dirty="0"/>
              <a:t>Peer 2 </a:t>
            </a:r>
            <a:r>
              <a:rPr lang="es-ES" dirty="0" smtClean="0"/>
              <a:t>Peer</a:t>
            </a:r>
            <a:br>
              <a:rPr lang="es-ES" dirty="0" smtClean="0"/>
            </a:br>
            <a:r>
              <a:rPr lang="es-ES" dirty="0" smtClean="0"/>
              <a:t>Desventajas</a:t>
            </a:r>
            <a:endParaRPr lang="es-ES" dirty="0"/>
          </a:p>
        </p:txBody>
      </p:sp>
      <p:sp>
        <p:nvSpPr>
          <p:cNvPr id="3" name="Marcador de contenido 2"/>
          <p:cNvSpPr>
            <a:spLocks noGrp="1"/>
          </p:cNvSpPr>
          <p:nvPr>
            <p:ph idx="1"/>
          </p:nvPr>
        </p:nvSpPr>
        <p:spPr>
          <a:xfrm>
            <a:off x="0" y="1777978"/>
            <a:ext cx="11589026"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Seguridad</a:t>
            </a:r>
            <a:r>
              <a:rPr lang="es-ES" sz="3600" dirty="0"/>
              <a:t>: </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a:t> </a:t>
            </a:r>
            <a:r>
              <a:rPr lang="es-ES" sz="3000" dirty="0" smtClean="0"/>
              <a:t> </a:t>
            </a:r>
            <a:r>
              <a:rPr lang="es-ES" sz="3000" dirty="0"/>
              <a:t>La falta de un control central puede hacer que sea más difícil implementar medidas de seguridad efectivas. Los nodos pueden ser vulnerables a ataques y fraudes</a:t>
            </a:r>
            <a:r>
              <a:rPr lang="es-ES" sz="3000" dirty="0" smtClean="0"/>
              <a:t>.</a:t>
            </a:r>
            <a:endParaRPr lang="es-ES" sz="3600" dirty="0"/>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Gestión </a:t>
            </a:r>
            <a:r>
              <a:rPr lang="es-ES" sz="3600" dirty="0"/>
              <a:t>de Recursos: </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a:t>   </a:t>
            </a:r>
            <a:r>
              <a:rPr lang="es-ES" sz="3000" dirty="0" smtClean="0"/>
              <a:t>La </a:t>
            </a:r>
            <a:r>
              <a:rPr lang="es-ES" sz="3000" dirty="0"/>
              <a:t>gestión y coordinación entre nodos pueden ser complicadas, especialmente en redes grandes y dinámicas</a:t>
            </a:r>
            <a:r>
              <a:rPr lang="es-ES" sz="3000" dirty="0" smtClean="0"/>
              <a:t>.</a:t>
            </a: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429278244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s-ES" dirty="0"/>
              <a:t>Peer 2 </a:t>
            </a:r>
            <a:r>
              <a:rPr lang="es-ES" dirty="0" smtClean="0"/>
              <a:t>Peer</a:t>
            </a:r>
            <a:br>
              <a:rPr lang="es-ES" dirty="0" smtClean="0"/>
            </a:br>
            <a:r>
              <a:rPr lang="es-ES" dirty="0" smtClean="0"/>
              <a:t>Desventajas</a:t>
            </a:r>
            <a:endParaRPr lang="es-ES" dirty="0"/>
          </a:p>
        </p:txBody>
      </p:sp>
      <p:sp>
        <p:nvSpPr>
          <p:cNvPr id="3" name="Marcador de contenido 2"/>
          <p:cNvSpPr>
            <a:spLocks noGrp="1"/>
          </p:cNvSpPr>
          <p:nvPr>
            <p:ph idx="1"/>
          </p:nvPr>
        </p:nvSpPr>
        <p:spPr>
          <a:xfrm>
            <a:off x="0" y="1777978"/>
            <a:ext cx="11589026"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Calidad </a:t>
            </a:r>
            <a:r>
              <a:rPr lang="es-ES" sz="3600" dirty="0"/>
              <a:t>del Servicio: </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smtClean="0"/>
              <a:t>   </a:t>
            </a:r>
            <a:r>
              <a:rPr lang="es-ES" sz="3000" dirty="0"/>
              <a:t>La calidad y disponibilidad del servicio pueden variar dependiendo de los nodos participantes, ya que algunos pueden estar inactivos o tener ancho de banda limitado</a:t>
            </a:r>
            <a:r>
              <a:rPr lang="es-ES" sz="3000" dirty="0" smtClean="0"/>
              <a:t>.</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 </a:t>
            </a:r>
            <a:r>
              <a:rPr lang="es-ES" sz="3600" dirty="0"/>
              <a:t>Dificultad en el Control: </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smtClean="0"/>
              <a:t>Es </a:t>
            </a:r>
            <a:r>
              <a:rPr lang="es-ES" sz="3000" dirty="0"/>
              <a:t>difícil controlar el acceso y el uso de recursos compartidos, lo que puede dar lugar a problemas legales o éticos (por ejemplo, en el intercambio de archivos</a:t>
            </a:r>
            <a:r>
              <a:rPr lang="es-ES" sz="3000" dirty="0" smtClean="0"/>
              <a:t>).</a:t>
            </a:r>
            <a:endParaRPr lang="es-ES" sz="30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13780740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s-ES" dirty="0"/>
              <a:t>Peer 2 </a:t>
            </a:r>
            <a:r>
              <a:rPr lang="es-ES" dirty="0" smtClean="0"/>
              <a:t>Peer</a:t>
            </a:r>
            <a:br>
              <a:rPr lang="es-ES" dirty="0" smtClean="0"/>
            </a:br>
            <a:r>
              <a:rPr lang="es-ES" dirty="0" smtClean="0"/>
              <a:t>Desventajas</a:t>
            </a:r>
            <a:endParaRPr lang="es-ES" dirty="0"/>
          </a:p>
        </p:txBody>
      </p:sp>
      <p:sp>
        <p:nvSpPr>
          <p:cNvPr id="3" name="Marcador de contenido 2"/>
          <p:cNvSpPr>
            <a:spLocks noGrp="1"/>
          </p:cNvSpPr>
          <p:nvPr>
            <p:ph idx="1"/>
          </p:nvPr>
        </p:nvSpPr>
        <p:spPr>
          <a:xfrm>
            <a:off x="0" y="1777978"/>
            <a:ext cx="11589026"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 </a:t>
            </a:r>
            <a:r>
              <a:rPr lang="es-ES" sz="3600" dirty="0"/>
              <a:t>Complejidad en el Desarrollo: </a:t>
            </a:r>
          </a:p>
          <a:p>
            <a:pPr marL="932688" lvl="2" indent="-457200"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smtClean="0"/>
              <a:t> </a:t>
            </a:r>
            <a:r>
              <a:rPr lang="es-ES" sz="3000" dirty="0"/>
              <a:t>Crear aplicaciones P2P puede ser más complejo debido a la necesidad de manejar la comunicación directa entre nodos y la </a:t>
            </a:r>
            <a:r>
              <a:rPr lang="es-ES" sz="3000" dirty="0" smtClean="0"/>
              <a:t>sincronización </a:t>
            </a:r>
            <a:r>
              <a:rPr lang="es-ES" sz="3000" dirty="0"/>
              <a:t>de datos</a:t>
            </a:r>
            <a:r>
              <a:rPr lang="es-ES" sz="3000" dirty="0" smtClean="0"/>
              <a:t>.</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Ejemplos</a:t>
            </a:r>
          </a:p>
          <a:p>
            <a:pPr marL="932688" lvl="2" indent="-457200"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smtClean="0"/>
              <a:t> </a:t>
            </a:r>
            <a:r>
              <a:rPr lang="es-ES" sz="3000" dirty="0"/>
              <a:t>Intercambio de Archivos: Redes </a:t>
            </a:r>
            <a:r>
              <a:rPr lang="es-ES" sz="3000" dirty="0" smtClean="0"/>
              <a:t>como </a:t>
            </a:r>
            <a:r>
              <a:rPr lang="es-ES" sz="3000" dirty="0" err="1" smtClean="0"/>
              <a:t>BitTorrent</a:t>
            </a:r>
            <a:r>
              <a:rPr lang="es-ES" sz="3000" dirty="0" smtClean="0"/>
              <a:t> </a:t>
            </a:r>
          </a:p>
          <a:p>
            <a:pPr marL="932688" lvl="2" indent="-457200"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smtClean="0"/>
              <a:t> </a:t>
            </a:r>
            <a:r>
              <a:rPr lang="es-ES" sz="3000" dirty="0" err="1"/>
              <a:t>Criptomonedas</a:t>
            </a:r>
            <a:r>
              <a:rPr lang="es-ES" sz="3000" dirty="0"/>
              <a:t>: </a:t>
            </a:r>
            <a:r>
              <a:rPr lang="es-ES" sz="3000" dirty="0" err="1" smtClean="0"/>
              <a:t>Bitcoin</a:t>
            </a:r>
            <a:r>
              <a:rPr lang="es-ES" sz="3000" dirty="0" smtClean="0"/>
              <a:t> para realizar transacciones</a:t>
            </a:r>
            <a:endParaRPr lang="es-ES" sz="3000" dirty="0"/>
          </a:p>
          <a:p>
            <a:pPr marL="932688" lvl="2" indent="-457200"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err="1" smtClean="0"/>
              <a:t>VoIP</a:t>
            </a:r>
            <a:r>
              <a:rPr lang="es-ES" sz="3000" dirty="0"/>
              <a:t>: Aplicaciones como </a:t>
            </a:r>
            <a:r>
              <a:rPr lang="es-ES" sz="3000" dirty="0" err="1"/>
              <a:t>Skype</a:t>
            </a:r>
            <a:r>
              <a:rPr lang="es-ES" sz="3000" dirty="0"/>
              <a:t> </a:t>
            </a:r>
            <a:r>
              <a:rPr lang="es-ES" sz="3000" dirty="0" smtClean="0"/>
              <a:t>para </a:t>
            </a:r>
            <a:r>
              <a:rPr lang="es-ES" sz="3000" dirty="0"/>
              <a:t>permitir llamadas entre usuarios sin depender de servidores centrales</a:t>
            </a:r>
            <a:r>
              <a:rPr lang="es-ES" sz="3000" dirty="0" smtClean="0"/>
              <a:t>.</a:t>
            </a:r>
            <a:endParaRPr lang="es-ES" sz="30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52371395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s-ES" dirty="0"/>
              <a:t>Pipe &amp; </a:t>
            </a:r>
            <a:r>
              <a:rPr lang="es-ES" dirty="0" err="1"/>
              <a:t>Filter</a:t>
            </a:r>
            <a:endParaRPr lang="es-ES" dirty="0"/>
          </a:p>
        </p:txBody>
      </p:sp>
      <p:sp>
        <p:nvSpPr>
          <p:cNvPr id="3" name="Marcador de contenido 2"/>
          <p:cNvSpPr>
            <a:spLocks noGrp="1"/>
          </p:cNvSpPr>
          <p:nvPr>
            <p:ph idx="1"/>
          </p:nvPr>
        </p:nvSpPr>
        <p:spPr>
          <a:xfrm>
            <a:off x="0" y="1777978"/>
            <a:ext cx="7096537"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Topología lineal y incremental: el resultado final de una componente es la entrada de la siguiente</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El código en cada tarea es relativamente pequeño. Puede ser tratado como un filtro independiente</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Se puede implementar, mantener, escalar, reutilizar código en cada filtro</a:t>
            </a:r>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pic>
        <p:nvPicPr>
          <p:cNvPr id="4" name="3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4713" y="2028964"/>
            <a:ext cx="4797287" cy="4133298"/>
          </a:xfrm>
          <a:prstGeom prst="rect">
            <a:avLst/>
          </a:prstGeom>
        </p:spPr>
      </p:pic>
    </p:spTree>
    <p:extLst>
      <p:ext uri="{BB962C8B-B14F-4D97-AF65-F5344CB8AC3E}">
        <p14:creationId xmlns:p14="http://schemas.microsoft.com/office/powerpoint/2010/main" val="16703948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s-ES" dirty="0"/>
              <a:t>Pipe &amp; </a:t>
            </a:r>
            <a:r>
              <a:rPr lang="es-ES" dirty="0" err="1" smtClean="0"/>
              <a:t>Filter</a:t>
            </a:r>
            <a:r>
              <a:rPr lang="es-ES" dirty="0" smtClean="0"/>
              <a:t/>
            </a:r>
            <a:br>
              <a:rPr lang="es-ES" dirty="0" smtClean="0"/>
            </a:br>
            <a:r>
              <a:rPr lang="es-ES" dirty="0" smtClean="0"/>
              <a:t>Ventajas</a:t>
            </a:r>
            <a:endParaRPr lang="es-ES" dirty="0"/>
          </a:p>
        </p:txBody>
      </p:sp>
      <p:sp>
        <p:nvSpPr>
          <p:cNvPr id="3" name="Marcador de contenido 2"/>
          <p:cNvSpPr>
            <a:spLocks noGrp="1"/>
          </p:cNvSpPr>
          <p:nvPr>
            <p:ph idx="1"/>
          </p:nvPr>
        </p:nvSpPr>
        <p:spPr>
          <a:xfrm>
            <a:off x="0" y="1777978"/>
            <a:ext cx="10774017"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Simplicidad</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200" dirty="0"/>
              <a:t>La separación clara entre procesamiento y comunicación simplifica el diseño y la comprensión del sistema.</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Escalabilidad</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200" dirty="0"/>
              <a:t>Se pueden añadir nuevos filtros para ampliar las capacidades del sistema sin reestructurar la arquitectura existente</a:t>
            </a:r>
            <a:r>
              <a:rPr lang="es-ES" sz="3200" dirty="0" smtClean="0"/>
              <a:t>.</a:t>
            </a:r>
            <a:endParaRPr lang="es-ES" sz="32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64119958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s-ES" dirty="0"/>
              <a:t>Pipe &amp; </a:t>
            </a:r>
            <a:r>
              <a:rPr lang="es-ES" dirty="0" err="1" smtClean="0"/>
              <a:t>Filter</a:t>
            </a:r>
            <a:r>
              <a:rPr lang="es-ES" dirty="0" smtClean="0"/>
              <a:t/>
            </a:r>
            <a:br>
              <a:rPr lang="es-ES" dirty="0" smtClean="0"/>
            </a:br>
            <a:r>
              <a:rPr lang="es-ES" dirty="0" smtClean="0"/>
              <a:t>Ventajas</a:t>
            </a:r>
            <a:endParaRPr lang="es-ES" dirty="0"/>
          </a:p>
        </p:txBody>
      </p:sp>
      <p:sp>
        <p:nvSpPr>
          <p:cNvPr id="3" name="Marcador de contenido 2"/>
          <p:cNvSpPr>
            <a:spLocks noGrp="1"/>
          </p:cNvSpPr>
          <p:nvPr>
            <p:ph idx="1"/>
          </p:nvPr>
        </p:nvSpPr>
        <p:spPr>
          <a:xfrm>
            <a:off x="0" y="1777978"/>
            <a:ext cx="10774017"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err="1" smtClean="0"/>
              <a:t>Mantenibilidad</a:t>
            </a:r>
            <a:endParaRPr lang="es-ES" sz="3600" dirty="0" smtClean="0"/>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200" dirty="0"/>
              <a:t>La modularidad facilita el mantenimiento y la actualización de componentes individuales sin afectar el sistema completo.</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Facilidad para el </a:t>
            </a:r>
            <a:r>
              <a:rPr lang="es-ES" sz="3600" dirty="0" smtClean="0"/>
              <a:t>Paralelismo</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200" dirty="0"/>
              <a:t>Los filtros pueden ejecutarse en paralelo, ya que son independientes, lo que puede mejorar el rendimiento en sistemas con múltiples hilos o procesos</a:t>
            </a:r>
            <a:endParaRPr lang="es-ES" sz="3000" dirty="0" smtClean="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218275139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s-ES" dirty="0"/>
              <a:t>Pipe &amp; </a:t>
            </a:r>
            <a:r>
              <a:rPr lang="es-ES" dirty="0" err="1" smtClean="0"/>
              <a:t>Filter</a:t>
            </a:r>
            <a:r>
              <a:rPr lang="es-ES" dirty="0" smtClean="0"/>
              <a:t/>
            </a:r>
            <a:br>
              <a:rPr lang="es-ES" dirty="0" smtClean="0"/>
            </a:br>
            <a:r>
              <a:rPr lang="es-ES" dirty="0" smtClean="0"/>
              <a:t>Desventajas</a:t>
            </a:r>
            <a:endParaRPr lang="es-ES" dirty="0"/>
          </a:p>
        </p:txBody>
      </p:sp>
      <p:sp>
        <p:nvSpPr>
          <p:cNvPr id="3" name="Marcador de contenido 2"/>
          <p:cNvSpPr>
            <a:spLocks noGrp="1"/>
          </p:cNvSpPr>
          <p:nvPr>
            <p:ph idx="1"/>
          </p:nvPr>
        </p:nvSpPr>
        <p:spPr>
          <a:xfrm>
            <a:off x="0" y="1777978"/>
            <a:ext cx="10774017"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Rendimiento</a:t>
            </a:r>
            <a:r>
              <a:rPr lang="es-ES" sz="3600" dirty="0"/>
              <a:t>: </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smtClean="0"/>
              <a:t>   El </a:t>
            </a:r>
            <a:r>
              <a:rPr lang="es-ES" sz="3000" dirty="0"/>
              <a:t>uso de pipes puede introducir latencias en la comunicación entre filtros, especialmente si se utilizan mecanismos de comunicación más lentos.</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Control </a:t>
            </a:r>
            <a:r>
              <a:rPr lang="es-ES" sz="3600" dirty="0"/>
              <a:t>de Flujo: </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smtClean="0"/>
              <a:t> Puede </a:t>
            </a:r>
            <a:r>
              <a:rPr lang="es-ES" sz="3000" dirty="0"/>
              <a:t>ser complicado manejar el control de flujo y la sincronización entre filtros, especialmente si algunos filtros producen datos más rápido que otros pueden procesarlos.</a:t>
            </a:r>
            <a:endParaRPr lang="es-ES" sz="3000" dirty="0" smtClean="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123374656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s-ES" dirty="0"/>
              <a:t>Pipe &amp; </a:t>
            </a:r>
            <a:r>
              <a:rPr lang="es-ES" dirty="0" err="1" smtClean="0"/>
              <a:t>Filter</a:t>
            </a:r>
            <a:r>
              <a:rPr lang="es-ES" dirty="0" smtClean="0"/>
              <a:t/>
            </a:r>
            <a:br>
              <a:rPr lang="es-ES" dirty="0" smtClean="0"/>
            </a:br>
            <a:r>
              <a:rPr lang="es-ES" dirty="0" smtClean="0"/>
              <a:t>Desventajas</a:t>
            </a:r>
            <a:endParaRPr lang="es-ES" dirty="0"/>
          </a:p>
        </p:txBody>
      </p:sp>
      <p:sp>
        <p:nvSpPr>
          <p:cNvPr id="3" name="Marcador de contenido 2"/>
          <p:cNvSpPr>
            <a:spLocks noGrp="1"/>
          </p:cNvSpPr>
          <p:nvPr>
            <p:ph idx="1"/>
          </p:nvPr>
        </p:nvSpPr>
        <p:spPr>
          <a:xfrm>
            <a:off x="0" y="1777978"/>
            <a:ext cx="11946835"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Gestión </a:t>
            </a:r>
            <a:r>
              <a:rPr lang="es-ES" sz="3600" dirty="0"/>
              <a:t>de </a:t>
            </a:r>
            <a:r>
              <a:rPr lang="es-ES" sz="3600" dirty="0" smtClean="0"/>
              <a:t>Errores</a:t>
            </a:r>
            <a:endParaRPr lang="es-ES" sz="3600" dirty="0"/>
          </a:p>
          <a:p>
            <a:pPr lvl="3"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a:t> </a:t>
            </a:r>
            <a:r>
              <a:rPr lang="es-ES" sz="3000" dirty="0" smtClean="0"/>
              <a:t>La </a:t>
            </a:r>
            <a:r>
              <a:rPr lang="es-ES" sz="3000" dirty="0"/>
              <a:t>propagación de errores a través de los pipes puede complicar el manejo de excepciones y errores, ya que no siempre es evidente dónde ocurrió un fallo</a:t>
            </a:r>
            <a:r>
              <a:rPr lang="es-ES" sz="3000" dirty="0" smtClean="0"/>
              <a:t>.</a:t>
            </a:r>
            <a:endParaRPr lang="es-ES" sz="3600" dirty="0"/>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Complejidad </a:t>
            </a:r>
            <a:r>
              <a:rPr lang="es-ES" sz="3600" dirty="0"/>
              <a:t>en la Interfaz</a:t>
            </a:r>
            <a:r>
              <a:rPr lang="es-ES" sz="3600" dirty="0" smtClean="0"/>
              <a:t>:</a:t>
            </a:r>
            <a:endParaRPr lang="es-ES" sz="3600" dirty="0"/>
          </a:p>
          <a:p>
            <a:pPr lvl="3"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a:t> </a:t>
            </a:r>
            <a:r>
              <a:rPr lang="es-ES" sz="3000" dirty="0" smtClean="0"/>
              <a:t>Definir </a:t>
            </a:r>
            <a:r>
              <a:rPr lang="es-ES" sz="3000" dirty="0"/>
              <a:t>interfaces claras y efectivas para los filtros puede ser un desafío, especialmente si los datos que se están procesando son complejos</a:t>
            </a:r>
            <a:r>
              <a:rPr lang="es-ES" sz="3000" dirty="0" smtClean="0"/>
              <a:t>.</a:t>
            </a:r>
          </a:p>
          <a:p>
            <a:pPr lvl="1"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400" dirty="0"/>
              <a:t>Ejemplos: </a:t>
            </a:r>
            <a:r>
              <a:rPr lang="es-ES" sz="3200" dirty="0"/>
              <a:t>Procesamiento imágenes, compiladores, ejecución de instrucciones dentro de los microprocesadores</a:t>
            </a:r>
          </a:p>
          <a:p>
            <a:pPr lvl="1"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400" dirty="0" smtClean="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318969346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n-US" dirty="0" err="1"/>
              <a:t>BlackBoard</a:t>
            </a:r>
            <a:endParaRPr lang="es-ES" dirty="0"/>
          </a:p>
        </p:txBody>
      </p:sp>
      <p:sp>
        <p:nvSpPr>
          <p:cNvPr id="3" name="Marcador de contenido 2"/>
          <p:cNvSpPr>
            <a:spLocks noGrp="1"/>
          </p:cNvSpPr>
          <p:nvPr>
            <p:ph idx="1"/>
          </p:nvPr>
        </p:nvSpPr>
        <p:spPr>
          <a:xfrm>
            <a:off x="0" y="1777978"/>
            <a:ext cx="7096537"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 Basada en un enfoque colaborativo entre  múltiples </a:t>
            </a:r>
            <a:r>
              <a:rPr lang="es-ES" sz="3600" dirty="0"/>
              <a:t>agentes o componentes </a:t>
            </a:r>
            <a:r>
              <a:rPr lang="es-ES" sz="3600" dirty="0" smtClean="0"/>
              <a:t>débilmente  conectadas que pueden </a:t>
            </a:r>
            <a:r>
              <a:rPr lang="es-ES" sz="3600" dirty="0"/>
              <a:t>leer y escribir </a:t>
            </a:r>
            <a:r>
              <a:rPr lang="es-ES" sz="3600" dirty="0" smtClean="0"/>
              <a:t>información</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Componentes :</a:t>
            </a:r>
            <a:r>
              <a:rPr lang="es-ES" sz="3600" dirty="0" err="1"/>
              <a:t>Blackboard</a:t>
            </a:r>
            <a:r>
              <a:rPr lang="es-ES" sz="3600" dirty="0"/>
              <a:t> , Agentes </a:t>
            </a:r>
            <a:r>
              <a:rPr lang="es-ES" sz="3600" dirty="0" smtClean="0"/>
              <a:t>y </a:t>
            </a:r>
            <a:r>
              <a:rPr lang="es-ES" sz="3600" dirty="0"/>
              <a:t>Controlador </a:t>
            </a:r>
            <a:r>
              <a:rPr lang="es-ES" sz="3600" dirty="0" smtClean="0"/>
              <a:t>(opcional)</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pic>
        <p:nvPicPr>
          <p:cNvPr id="6" name="5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6539" y="1747602"/>
            <a:ext cx="5095461" cy="4474294"/>
          </a:xfrm>
          <a:prstGeom prst="rect">
            <a:avLst/>
          </a:prstGeom>
        </p:spPr>
      </p:pic>
    </p:spTree>
    <p:extLst>
      <p:ext uri="{BB962C8B-B14F-4D97-AF65-F5344CB8AC3E}">
        <p14:creationId xmlns:p14="http://schemas.microsoft.com/office/powerpoint/2010/main" val="161693800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n-US" dirty="0" err="1"/>
              <a:t>BlackBoard</a:t>
            </a:r>
            <a:endParaRPr lang="es-ES" dirty="0"/>
          </a:p>
        </p:txBody>
      </p:sp>
      <p:sp>
        <p:nvSpPr>
          <p:cNvPr id="3" name="Marcador de contenido 2"/>
          <p:cNvSpPr>
            <a:spLocks noGrp="1"/>
          </p:cNvSpPr>
          <p:nvPr>
            <p:ph idx="1"/>
          </p:nvPr>
        </p:nvSpPr>
        <p:spPr>
          <a:xfrm>
            <a:off x="0" y="1777978"/>
            <a:ext cx="7752522"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 Colaboración</a:t>
            </a:r>
          </a:p>
          <a:p>
            <a:pPr lvl="1">
              <a:buFont typeface="Wingdings" pitchFamily="2" charset="2"/>
              <a:buChar char="ü"/>
            </a:pPr>
            <a:r>
              <a:rPr lang="es-ES" sz="2400" dirty="0"/>
              <a:t>Los agentes trabajan juntos, compartiendo información y conocimientos a través de la </a:t>
            </a:r>
            <a:r>
              <a:rPr lang="es-ES" sz="2400" dirty="0" smtClean="0"/>
              <a:t>pizarra</a:t>
            </a:r>
          </a:p>
          <a:p>
            <a:pPr>
              <a:buFont typeface="Wingdings" pitchFamily="2" charset="2"/>
              <a:buChar char="Ø"/>
            </a:pPr>
            <a:r>
              <a:rPr lang="es-ES" sz="3800" dirty="0" smtClean="0"/>
              <a:t>Flexibilidad</a:t>
            </a:r>
          </a:p>
          <a:p>
            <a:pPr lvl="2">
              <a:buFont typeface="Wingdings" pitchFamily="2" charset="2"/>
              <a:buChar char="ü"/>
            </a:pPr>
            <a:r>
              <a:rPr lang="es-ES" sz="2400" dirty="0"/>
              <a:t>La arquitectura permite agregar o modificar agentes sin afectar significativamente al sistema en su conjunto</a:t>
            </a:r>
            <a:endParaRPr lang="es-ES" sz="2400" dirty="0" smtClean="0"/>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Desacoplamiento</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Los agentes no necesitan conocer los detalles internos de otros agentes; solo interactúan a través de la pizarra</a:t>
            </a:r>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pic>
        <p:nvPicPr>
          <p:cNvPr id="6" name="5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2522" y="1747602"/>
            <a:ext cx="4439478" cy="4474294"/>
          </a:xfrm>
          <a:prstGeom prst="rect">
            <a:avLst/>
          </a:prstGeom>
        </p:spPr>
      </p:pic>
    </p:spTree>
    <p:extLst>
      <p:ext uri="{BB962C8B-B14F-4D97-AF65-F5344CB8AC3E}">
        <p14:creationId xmlns:p14="http://schemas.microsoft.com/office/powerpoint/2010/main" val="403931499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n-US" dirty="0" err="1" smtClean="0"/>
              <a:t>BlackBoard</a:t>
            </a:r>
            <a:r>
              <a:rPr lang="en-US" dirty="0" smtClean="0"/>
              <a:t/>
            </a:r>
            <a:br>
              <a:rPr lang="en-US" dirty="0" smtClean="0"/>
            </a:br>
            <a:r>
              <a:rPr lang="en-US" dirty="0" err="1" smtClean="0"/>
              <a:t>Ventajas</a:t>
            </a:r>
            <a:r>
              <a:rPr lang="en-US" dirty="0" smtClean="0"/>
              <a:t>        y               </a:t>
            </a:r>
            <a:r>
              <a:rPr lang="en-US" dirty="0" err="1" smtClean="0"/>
              <a:t>Desventajas</a:t>
            </a:r>
            <a:endParaRPr lang="es-ES" dirty="0"/>
          </a:p>
        </p:txBody>
      </p:sp>
      <p:sp>
        <p:nvSpPr>
          <p:cNvPr id="3" name="Marcador de contenido 2"/>
          <p:cNvSpPr>
            <a:spLocks noGrp="1"/>
          </p:cNvSpPr>
          <p:nvPr>
            <p:ph idx="1"/>
          </p:nvPr>
        </p:nvSpPr>
        <p:spPr>
          <a:xfrm>
            <a:off x="0" y="1777978"/>
            <a:ext cx="6082748"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 </a:t>
            </a:r>
            <a:r>
              <a:rPr lang="es-ES" sz="3600" dirty="0"/>
              <a:t>Adaptabilidad</a:t>
            </a:r>
            <a:endParaRPr lang="es-ES" sz="3600" dirty="0" smtClean="0"/>
          </a:p>
          <a:p>
            <a:pPr>
              <a:buFont typeface="Wingdings" pitchFamily="2" charset="2"/>
              <a:buChar char="Ø"/>
            </a:pPr>
            <a:r>
              <a:rPr lang="es-ES" sz="4000" dirty="0" smtClean="0"/>
              <a:t>Escalabilidad</a:t>
            </a:r>
            <a:endParaRPr lang="es-ES" sz="3800" dirty="0" smtClean="0"/>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Resolución </a:t>
            </a:r>
            <a:r>
              <a:rPr lang="es-ES" sz="3600" dirty="0"/>
              <a:t>de Problemas </a:t>
            </a:r>
            <a:r>
              <a:rPr lang="es-ES" sz="3600" dirty="0" smtClean="0"/>
              <a:t>Complejos</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Facilidad de </a:t>
            </a:r>
            <a:r>
              <a:rPr lang="es-ES" sz="3600" dirty="0" err="1"/>
              <a:t>Prototipado</a:t>
            </a:r>
            <a:endParaRPr lang="es-ES" sz="3600" dirty="0" smtClean="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
        <p:nvSpPr>
          <p:cNvPr id="7" name="Marcador de contenido 2"/>
          <p:cNvSpPr txBox="1">
            <a:spLocks/>
          </p:cNvSpPr>
          <p:nvPr/>
        </p:nvSpPr>
        <p:spPr>
          <a:xfrm>
            <a:off x="6235148" y="1930377"/>
            <a:ext cx="5791200" cy="4543309"/>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 </a:t>
            </a:r>
            <a:r>
              <a:rPr lang="es-ES" sz="3600" dirty="0"/>
              <a:t>Complejidad</a:t>
            </a:r>
            <a:endParaRPr lang="es-ES" sz="3600" dirty="0" smtClean="0"/>
          </a:p>
          <a:p>
            <a:pPr>
              <a:buFont typeface="Wingdings" pitchFamily="2" charset="2"/>
              <a:buChar char="Ø"/>
            </a:pPr>
            <a:r>
              <a:rPr lang="es-ES" sz="4000" dirty="0"/>
              <a:t>Rendimiento</a:t>
            </a:r>
            <a:endParaRPr lang="es-ES" sz="3800" dirty="0" smtClean="0"/>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Dificultades en el </a:t>
            </a:r>
            <a:r>
              <a:rPr lang="es-ES" sz="3600" dirty="0" smtClean="0"/>
              <a:t>Control</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Dependencia del Diseño de la Pizarra</a:t>
            </a:r>
            <a:endParaRPr lang="es-ES" sz="3600" dirty="0" smtClean="0"/>
          </a:p>
        </p:txBody>
      </p:sp>
    </p:spTree>
    <p:extLst>
      <p:ext uri="{BB962C8B-B14F-4D97-AF65-F5344CB8AC3E}">
        <p14:creationId xmlns:p14="http://schemas.microsoft.com/office/powerpoint/2010/main" val="300384868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n-US" dirty="0" err="1" smtClean="0"/>
              <a:t>BlackBoard</a:t>
            </a:r>
            <a:r>
              <a:rPr lang="en-US" dirty="0" smtClean="0"/>
              <a:t/>
            </a:r>
            <a:br>
              <a:rPr lang="en-US" dirty="0" smtClean="0"/>
            </a:br>
            <a:r>
              <a:rPr lang="en-US" dirty="0" err="1" smtClean="0"/>
              <a:t>Caso</a:t>
            </a:r>
            <a:r>
              <a:rPr lang="en-US" dirty="0" smtClean="0"/>
              <a:t> </a:t>
            </a:r>
            <a:r>
              <a:rPr lang="en-US" dirty="0" err="1" smtClean="0"/>
              <a:t>Estudio</a:t>
            </a:r>
            <a:r>
              <a:rPr lang="en-US" dirty="0" smtClean="0"/>
              <a:t> </a:t>
            </a:r>
            <a:r>
              <a:rPr lang="en-US" dirty="0" err="1" smtClean="0"/>
              <a:t>Servicio</a:t>
            </a:r>
            <a:r>
              <a:rPr lang="en-US" dirty="0" smtClean="0"/>
              <a:t> 311</a:t>
            </a:r>
            <a:endParaRPr lang="es-ES" dirty="0"/>
          </a:p>
        </p:txBody>
      </p:sp>
      <p:sp>
        <p:nvSpPr>
          <p:cNvPr id="3" name="Marcador de contenido 2"/>
          <p:cNvSpPr>
            <a:spLocks noGrp="1"/>
          </p:cNvSpPr>
          <p:nvPr>
            <p:ph idx="1"/>
          </p:nvPr>
        </p:nvSpPr>
        <p:spPr>
          <a:xfrm>
            <a:off x="-1" y="1777978"/>
            <a:ext cx="11946835"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El “Servicio 311” toma su nombre de servicios similares existentes en otros países. </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	</a:t>
            </a:r>
            <a:r>
              <a:rPr lang="es-ES" sz="3600" dirty="0" smtClean="0"/>
              <a:t>Su </a:t>
            </a:r>
            <a:r>
              <a:rPr lang="es-ES" sz="3600" dirty="0"/>
              <a:t>objetivo es brindar al ciudadano un espacio para la notificación en línea de incidencias en los servicios municipales o de cualquier otro tipo, con la premisa de que no sean servicios de urgencia (como complemento del conocido 911)</a:t>
            </a:r>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178155049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n-US" dirty="0" err="1" smtClean="0"/>
              <a:t>BlackBoard</a:t>
            </a:r>
            <a:r>
              <a:rPr lang="en-US" dirty="0" smtClean="0"/>
              <a:t/>
            </a:r>
            <a:br>
              <a:rPr lang="en-US" dirty="0" smtClean="0"/>
            </a:br>
            <a:r>
              <a:rPr lang="en-US" dirty="0" err="1" smtClean="0"/>
              <a:t>Caso</a:t>
            </a:r>
            <a:r>
              <a:rPr lang="en-US" dirty="0" smtClean="0"/>
              <a:t> </a:t>
            </a:r>
            <a:r>
              <a:rPr lang="en-US" dirty="0" err="1" smtClean="0"/>
              <a:t>Estudio</a:t>
            </a:r>
            <a:r>
              <a:rPr lang="en-US" dirty="0" smtClean="0"/>
              <a:t> </a:t>
            </a:r>
            <a:r>
              <a:rPr lang="en-US" dirty="0" err="1" smtClean="0"/>
              <a:t>Servicio</a:t>
            </a:r>
            <a:r>
              <a:rPr lang="en-US" dirty="0" smtClean="0"/>
              <a:t> 311</a:t>
            </a:r>
            <a:endParaRPr lang="es-ES" dirty="0"/>
          </a:p>
        </p:txBody>
      </p:sp>
      <p:sp>
        <p:nvSpPr>
          <p:cNvPr id="3" name="Marcador de contenido 2"/>
          <p:cNvSpPr>
            <a:spLocks noGrp="1"/>
          </p:cNvSpPr>
          <p:nvPr>
            <p:ph idx="1"/>
          </p:nvPr>
        </p:nvSpPr>
        <p:spPr>
          <a:xfrm>
            <a:off x="-1" y="1777978"/>
            <a:ext cx="11946835"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El ciudadano común detecta con frecuencia problemas, afectaciones o interrupciones a servicios básicos, que desea reportar a las autoridades competentes para su pronta solución, por ejemplo </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a:t>una rotura en el asfalto</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a:t>una luminaria dañada</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a:t>un salidero de agua</a:t>
            </a:r>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127806498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n-US" dirty="0" err="1" smtClean="0"/>
              <a:t>BlackBoard</a:t>
            </a:r>
            <a:r>
              <a:rPr lang="en-US" dirty="0" smtClean="0"/>
              <a:t/>
            </a:r>
            <a:br>
              <a:rPr lang="en-US" dirty="0" smtClean="0"/>
            </a:br>
            <a:r>
              <a:rPr lang="en-US" dirty="0" err="1" smtClean="0"/>
              <a:t>Caso</a:t>
            </a:r>
            <a:r>
              <a:rPr lang="en-US" dirty="0" smtClean="0"/>
              <a:t> </a:t>
            </a:r>
            <a:r>
              <a:rPr lang="en-US" dirty="0" err="1" smtClean="0"/>
              <a:t>Estudio</a:t>
            </a:r>
            <a:r>
              <a:rPr lang="en-US" dirty="0" smtClean="0"/>
              <a:t> </a:t>
            </a:r>
            <a:r>
              <a:rPr lang="en-US" dirty="0" err="1" smtClean="0"/>
              <a:t>Servicio</a:t>
            </a:r>
            <a:r>
              <a:rPr lang="en-US" dirty="0" smtClean="0"/>
              <a:t> 311</a:t>
            </a:r>
            <a:endParaRPr lang="es-ES" dirty="0"/>
          </a:p>
        </p:txBody>
      </p:sp>
      <p:sp>
        <p:nvSpPr>
          <p:cNvPr id="3" name="Marcador de contenido 2"/>
          <p:cNvSpPr>
            <a:spLocks noGrp="1"/>
          </p:cNvSpPr>
          <p:nvPr>
            <p:ph idx="1"/>
          </p:nvPr>
        </p:nvSpPr>
        <p:spPr>
          <a:xfrm>
            <a:off x="-1" y="1777978"/>
            <a:ext cx="11946835"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PERO…..</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a:t>Comúnmente:</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a:t> </a:t>
            </a:r>
            <a:r>
              <a:rPr lang="es-ES" sz="3000" dirty="0" smtClean="0"/>
              <a:t>No </a:t>
            </a:r>
            <a:r>
              <a:rPr lang="es-ES" sz="3000" dirty="0"/>
              <a:t>tiene como o no sabe a quién dirigirse a reportar el problema</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smtClean="0"/>
              <a:t>Recibe </a:t>
            </a:r>
            <a:r>
              <a:rPr lang="es-ES" sz="3000" dirty="0"/>
              <a:t>muchas veces negativas o desvíos hacia otros destinos cuando logra contactar a algún presunto responsable</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0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408266620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n-US" dirty="0" err="1" smtClean="0"/>
              <a:t>BlackBoard</a:t>
            </a:r>
            <a:r>
              <a:rPr lang="en-US" dirty="0" smtClean="0"/>
              <a:t/>
            </a:r>
            <a:br>
              <a:rPr lang="en-US" dirty="0" smtClean="0"/>
            </a:br>
            <a:r>
              <a:rPr lang="en-US" dirty="0" err="1" smtClean="0"/>
              <a:t>Caso</a:t>
            </a:r>
            <a:r>
              <a:rPr lang="en-US" dirty="0" smtClean="0"/>
              <a:t> </a:t>
            </a:r>
            <a:r>
              <a:rPr lang="en-US" dirty="0" err="1" smtClean="0"/>
              <a:t>Estudio</a:t>
            </a:r>
            <a:r>
              <a:rPr lang="en-US" dirty="0" smtClean="0"/>
              <a:t> </a:t>
            </a:r>
            <a:r>
              <a:rPr lang="en-US" dirty="0" err="1" smtClean="0"/>
              <a:t>Servicio</a:t>
            </a:r>
            <a:r>
              <a:rPr lang="en-US" dirty="0" smtClean="0"/>
              <a:t> 311</a:t>
            </a:r>
            <a:endParaRPr lang="es-ES" dirty="0"/>
          </a:p>
        </p:txBody>
      </p:sp>
      <p:sp>
        <p:nvSpPr>
          <p:cNvPr id="3" name="Marcador de contenido 2"/>
          <p:cNvSpPr>
            <a:spLocks noGrp="1"/>
          </p:cNvSpPr>
          <p:nvPr>
            <p:ph idx="1"/>
          </p:nvPr>
        </p:nvSpPr>
        <p:spPr>
          <a:xfrm>
            <a:off x="-1" y="1777978"/>
            <a:ext cx="11946835"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Requerimientos del producto </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a:t>Se propone desarrollar una solución informática que ofrezca al ciudadano una forma única y simple de comunicar su reporte de alguna incidencia en los servicios</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a:t> El propio sistema es el encargado de:</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Lidiar con detalles de interconexión</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Problemas de comunicación</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Formatos de notificación</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Necesidad de cooperación (</a:t>
            </a:r>
            <a:r>
              <a:rPr lang="es-ES" sz="2400" dirty="0" err="1"/>
              <a:t>ej</a:t>
            </a:r>
            <a:r>
              <a:rPr lang="es-ES" sz="2400" dirty="0"/>
              <a:t> agua y calles)</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0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353141600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n-US" dirty="0" err="1" smtClean="0"/>
              <a:t>BlackBoard</a:t>
            </a:r>
            <a:r>
              <a:rPr lang="en-US" dirty="0" smtClean="0"/>
              <a:t/>
            </a:r>
            <a:br>
              <a:rPr lang="en-US" dirty="0" smtClean="0"/>
            </a:br>
            <a:r>
              <a:rPr lang="en-US" dirty="0" err="1" smtClean="0"/>
              <a:t>Caso</a:t>
            </a:r>
            <a:r>
              <a:rPr lang="en-US" dirty="0" smtClean="0"/>
              <a:t> </a:t>
            </a:r>
            <a:r>
              <a:rPr lang="en-US" dirty="0" err="1" smtClean="0"/>
              <a:t>Estudio</a:t>
            </a:r>
            <a:r>
              <a:rPr lang="en-US" dirty="0" smtClean="0"/>
              <a:t> </a:t>
            </a:r>
            <a:r>
              <a:rPr lang="en-US" dirty="0" err="1" smtClean="0"/>
              <a:t>Servicio</a:t>
            </a:r>
            <a:r>
              <a:rPr lang="en-US" dirty="0" smtClean="0"/>
              <a:t> 311</a:t>
            </a:r>
            <a:endParaRPr lang="es-ES" dirty="0"/>
          </a:p>
        </p:txBody>
      </p:sp>
      <p:sp>
        <p:nvSpPr>
          <p:cNvPr id="3" name="Marcador de contenido 2"/>
          <p:cNvSpPr>
            <a:spLocks noGrp="1"/>
          </p:cNvSpPr>
          <p:nvPr>
            <p:ph idx="1"/>
          </p:nvPr>
        </p:nvSpPr>
        <p:spPr>
          <a:xfrm>
            <a:off x="-1" y="1777978"/>
            <a:ext cx="11946835"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Requerimientos del producto </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a:t>Debe garantizar:</a:t>
            </a:r>
          </a:p>
          <a:p>
            <a:pPr lvl="1"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800" dirty="0"/>
              <a:t>Máxima disponibilidad del servicio</a:t>
            </a:r>
          </a:p>
          <a:p>
            <a:pPr lvl="1"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800" dirty="0"/>
              <a:t>Ejecución cooperada entre las partes involucradas</a:t>
            </a:r>
          </a:p>
          <a:p>
            <a:pPr lvl="1"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800" dirty="0"/>
              <a:t>Librar al ciudadano de la engorrosa tarea de localizar al responsable de atender la incidencia</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0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332099180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n-US" dirty="0" err="1" smtClean="0"/>
              <a:t>BlackBoard</a:t>
            </a:r>
            <a:r>
              <a:rPr lang="en-US" dirty="0" smtClean="0"/>
              <a:t/>
            </a:r>
            <a:br>
              <a:rPr lang="en-US" dirty="0" smtClean="0"/>
            </a:br>
            <a:r>
              <a:rPr lang="en-US" dirty="0" err="1" smtClean="0"/>
              <a:t>Caso</a:t>
            </a:r>
            <a:r>
              <a:rPr lang="en-US" dirty="0" smtClean="0"/>
              <a:t> </a:t>
            </a:r>
            <a:r>
              <a:rPr lang="en-US" dirty="0" err="1" smtClean="0"/>
              <a:t>Estudio</a:t>
            </a:r>
            <a:r>
              <a:rPr lang="en-US" dirty="0" smtClean="0"/>
              <a:t> </a:t>
            </a:r>
            <a:r>
              <a:rPr lang="en-US" dirty="0" err="1" smtClean="0"/>
              <a:t>Servicio</a:t>
            </a:r>
            <a:r>
              <a:rPr lang="en-US" dirty="0" smtClean="0"/>
              <a:t> 311</a:t>
            </a:r>
            <a:endParaRPr lang="es-ES" dirty="0"/>
          </a:p>
        </p:txBody>
      </p:sp>
      <p:sp>
        <p:nvSpPr>
          <p:cNvPr id="3" name="Marcador de contenido 2"/>
          <p:cNvSpPr>
            <a:spLocks noGrp="1"/>
          </p:cNvSpPr>
          <p:nvPr>
            <p:ph idx="1"/>
          </p:nvPr>
        </p:nvSpPr>
        <p:spPr>
          <a:xfrm>
            <a:off x="-1" y="1777978"/>
            <a:ext cx="11946835"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Pero en la práctica </a:t>
            </a:r>
            <a:r>
              <a:rPr lang="es-ES" sz="3600" dirty="0" smtClean="0"/>
              <a:t>…</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a:t>Se recibe una notificación sobre el siguiente problema: calle rota y salidero de agua</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smtClean="0"/>
              <a:t>Esto </a:t>
            </a:r>
            <a:r>
              <a:rPr lang="es-ES" sz="3000" dirty="0"/>
              <a:t>genera un problema mucho peor: Imaginemos por un instante a </a:t>
            </a:r>
            <a:r>
              <a:rPr lang="es-ES" sz="3000" dirty="0" err="1"/>
              <a:t>Lindoro</a:t>
            </a:r>
            <a:r>
              <a:rPr lang="es-ES" sz="3000" dirty="0"/>
              <a:t> 1 y </a:t>
            </a:r>
            <a:r>
              <a:rPr lang="es-ES" sz="3000" dirty="0" err="1"/>
              <a:t>Lindoro</a:t>
            </a:r>
            <a:r>
              <a:rPr lang="es-ES" sz="3000" dirty="0"/>
              <a:t> 2 coordinando sus esfuerzos para resolver el problema </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0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pic>
        <p:nvPicPr>
          <p:cNvPr id="6" name="Picture 10" descr="j0088968"/>
          <p:cNvPicPr>
            <a:picLocks noChangeAspect="1" noChangeArrowheads="1"/>
          </p:cNvPicPr>
          <p:nvPr/>
        </p:nvPicPr>
        <p:blipFill>
          <a:blip r:embed="rId3"/>
          <a:srcRect/>
          <a:stretch>
            <a:fillRect/>
          </a:stretch>
        </p:blipFill>
        <p:spPr bwMode="auto">
          <a:xfrm>
            <a:off x="430695" y="4181129"/>
            <a:ext cx="1427163" cy="1793875"/>
          </a:xfrm>
          <a:prstGeom prst="rect">
            <a:avLst/>
          </a:prstGeom>
          <a:noFill/>
        </p:spPr>
      </p:pic>
      <p:pic>
        <p:nvPicPr>
          <p:cNvPr id="7" name="Picture 10" descr="j0088968"/>
          <p:cNvPicPr>
            <a:picLocks noChangeAspect="1" noChangeArrowheads="1"/>
          </p:cNvPicPr>
          <p:nvPr/>
        </p:nvPicPr>
        <p:blipFill>
          <a:blip r:embed="rId3"/>
          <a:srcRect/>
          <a:stretch>
            <a:fillRect/>
          </a:stretch>
        </p:blipFill>
        <p:spPr bwMode="auto">
          <a:xfrm>
            <a:off x="9624391" y="4441478"/>
            <a:ext cx="1427163" cy="1793875"/>
          </a:xfrm>
          <a:prstGeom prst="rect">
            <a:avLst/>
          </a:prstGeom>
          <a:noFill/>
        </p:spPr>
      </p:pic>
      <p:pic>
        <p:nvPicPr>
          <p:cNvPr id="8" name="Picture 13" descr="36_12_6"/>
          <p:cNvPicPr>
            <a:picLocks noChangeAspect="1" noChangeArrowheads="1" noCrop="1"/>
          </p:cNvPicPr>
          <p:nvPr/>
        </p:nvPicPr>
        <p:blipFill>
          <a:blip r:embed="rId4"/>
          <a:srcRect/>
          <a:stretch>
            <a:fillRect/>
          </a:stretch>
        </p:blipFill>
        <p:spPr bwMode="auto">
          <a:xfrm>
            <a:off x="1973745" y="4354648"/>
            <a:ext cx="952500" cy="704850"/>
          </a:xfrm>
          <a:prstGeom prst="rect">
            <a:avLst/>
          </a:prstGeom>
          <a:noFill/>
        </p:spPr>
      </p:pic>
      <p:grpSp>
        <p:nvGrpSpPr>
          <p:cNvPr id="9" name="8 Grupo"/>
          <p:cNvGrpSpPr/>
          <p:nvPr/>
        </p:nvGrpSpPr>
        <p:grpSpPr>
          <a:xfrm>
            <a:off x="7962568" y="4441478"/>
            <a:ext cx="1013460" cy="1128712"/>
            <a:chOff x="5775960" y="2152650"/>
            <a:chExt cx="1013460" cy="1128712"/>
          </a:xfrm>
        </p:grpSpPr>
        <p:pic>
          <p:nvPicPr>
            <p:cNvPr id="10" name="Picture 21" descr="1eletter-thumb"/>
            <p:cNvPicPr>
              <a:picLocks noChangeAspect="1" noChangeArrowheads="1"/>
            </p:cNvPicPr>
            <p:nvPr/>
          </p:nvPicPr>
          <p:blipFill>
            <a:blip r:embed="rId5"/>
            <a:srcRect/>
            <a:stretch>
              <a:fillRect/>
            </a:stretch>
          </p:blipFill>
          <p:spPr bwMode="auto">
            <a:xfrm>
              <a:off x="5836920" y="2152650"/>
              <a:ext cx="952500" cy="714375"/>
            </a:xfrm>
            <a:prstGeom prst="rect">
              <a:avLst/>
            </a:prstGeom>
            <a:noFill/>
          </p:spPr>
        </p:pic>
        <p:pic>
          <p:nvPicPr>
            <p:cNvPr id="11" name="Picture 22" descr="1animal002-thumb"/>
            <p:cNvPicPr>
              <a:picLocks noChangeAspect="1" noChangeArrowheads="1"/>
            </p:cNvPicPr>
            <p:nvPr/>
          </p:nvPicPr>
          <p:blipFill>
            <a:blip r:embed="rId6"/>
            <a:srcRect/>
            <a:stretch>
              <a:fillRect/>
            </a:stretch>
          </p:blipFill>
          <p:spPr bwMode="auto">
            <a:xfrm>
              <a:off x="5775960" y="2566987"/>
              <a:ext cx="952500" cy="714375"/>
            </a:xfrm>
            <a:prstGeom prst="rect">
              <a:avLst/>
            </a:prstGeom>
            <a:noFill/>
          </p:spPr>
        </p:pic>
      </p:grpSp>
      <p:sp>
        <p:nvSpPr>
          <p:cNvPr id="4" name="3 Rectángulo"/>
          <p:cNvSpPr/>
          <p:nvPr/>
        </p:nvSpPr>
        <p:spPr>
          <a:xfrm>
            <a:off x="3956258" y="5160030"/>
            <a:ext cx="3444597" cy="369332"/>
          </a:xfrm>
          <a:prstGeom prst="rect">
            <a:avLst/>
          </a:prstGeom>
        </p:spPr>
        <p:txBody>
          <a:bodyPr wrap="none">
            <a:spAutoFit/>
          </a:bodyPr>
          <a:lstStyle/>
          <a:p>
            <a:pPr>
              <a:buNone/>
            </a:pPr>
            <a:r>
              <a:rPr lang="en-US" dirty="0" err="1"/>
              <a:t>Resultado</a:t>
            </a:r>
            <a:r>
              <a:rPr lang="en-US" dirty="0"/>
              <a:t>: NUNCA SE SOLUCIONA!</a:t>
            </a:r>
          </a:p>
        </p:txBody>
      </p:sp>
    </p:spTree>
    <p:extLst>
      <p:ext uri="{BB962C8B-B14F-4D97-AF65-F5344CB8AC3E}">
        <p14:creationId xmlns:p14="http://schemas.microsoft.com/office/powerpoint/2010/main" val="2909327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4" presetClass="path" presetSubtype="0" accel="50000" decel="50000" fill="hold" nodeType="clickEffect">
                                  <p:stCondLst>
                                    <p:cond delay="0"/>
                                  </p:stCondLst>
                                  <p:childTnLst>
                                    <p:animMotion origin="layout" path="M 8.33333E-7 0.03727 L -0.1217 -0.03055 C -0.14722 -0.04583 -0.18524 -0.05393 -0.225 -0.05393 C -0.27031 -0.05393 -0.3066 -0.04583 -0.33212 -0.03055 L -0.45365 0.03727 " pathEditMode="relative" rAng="0" ptsTypes="FffFF">
                                      <p:cBhvr>
                                        <p:cTn id="6" dur="4000" fill="hold"/>
                                        <p:tgtEl>
                                          <p:spTgt spid="9"/>
                                        </p:tgtEl>
                                        <p:attrNameLst>
                                          <p:attrName>ppt_x</p:attrName>
                                          <p:attrName>ppt_y</p:attrName>
                                        </p:attrNameLst>
                                      </p:cBhvr>
                                      <p:rCtr x="-22691" y="-4560"/>
                                    </p:animMotion>
                                  </p:childTnLst>
                                </p:cTn>
                              </p:par>
                            </p:childTnLst>
                          </p:cTn>
                        </p:par>
                        <p:par>
                          <p:cTn id="7" fill="hold">
                            <p:stCondLst>
                              <p:cond delay="4000"/>
                            </p:stCondLst>
                            <p:childTnLst>
                              <p:par>
                                <p:cTn id="8" presetID="6" presetClass="entr" presetSubtype="16" fill="hold" nodeType="after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circle(in)">
                                      <p:cBhvr>
                                        <p:cTn id="10"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n-US" dirty="0" err="1" smtClean="0"/>
              <a:t>BlackBoard</a:t>
            </a:r>
            <a:r>
              <a:rPr lang="en-US" dirty="0" smtClean="0"/>
              <a:t/>
            </a:r>
            <a:br>
              <a:rPr lang="en-US" dirty="0" smtClean="0"/>
            </a:br>
            <a:r>
              <a:rPr lang="en-US" dirty="0" err="1" smtClean="0"/>
              <a:t>Caso</a:t>
            </a:r>
            <a:r>
              <a:rPr lang="en-US" dirty="0" smtClean="0"/>
              <a:t> </a:t>
            </a:r>
            <a:r>
              <a:rPr lang="en-US" dirty="0" err="1" smtClean="0"/>
              <a:t>Estudio</a:t>
            </a:r>
            <a:r>
              <a:rPr lang="en-US" dirty="0" smtClean="0"/>
              <a:t> </a:t>
            </a:r>
            <a:r>
              <a:rPr lang="en-US" dirty="0" err="1" smtClean="0"/>
              <a:t>Servicio</a:t>
            </a:r>
            <a:r>
              <a:rPr lang="en-US" dirty="0" smtClean="0"/>
              <a:t> 311</a:t>
            </a:r>
            <a:endParaRPr lang="es-ES" dirty="0"/>
          </a:p>
        </p:txBody>
      </p:sp>
      <p:sp>
        <p:nvSpPr>
          <p:cNvPr id="3" name="Marcador de contenido 2"/>
          <p:cNvSpPr>
            <a:spLocks noGrp="1"/>
          </p:cNvSpPr>
          <p:nvPr>
            <p:ph idx="1"/>
          </p:nvPr>
        </p:nvSpPr>
        <p:spPr>
          <a:xfrm>
            <a:off x="-1" y="1777978"/>
            <a:ext cx="11946835"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Requerimientos  Reformulados</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a:t>Que el ciudadano pueda notificar cualquier evento o afectación</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smtClean="0"/>
              <a:t>Que </a:t>
            </a:r>
            <a:r>
              <a:rPr lang="es-ES" sz="3000" dirty="0"/>
              <a:t>no sea necesaria colaboración coordinada entre las partes para resolver el problema (colaboración desacoplada)</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0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343838783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n-US" dirty="0" err="1" smtClean="0"/>
              <a:t>BlackBoard</a:t>
            </a:r>
            <a:r>
              <a:rPr lang="en-US" dirty="0" smtClean="0"/>
              <a:t/>
            </a:r>
            <a:br>
              <a:rPr lang="en-US" dirty="0" smtClean="0"/>
            </a:br>
            <a:r>
              <a:rPr lang="en-US" dirty="0" err="1" smtClean="0"/>
              <a:t>Caso</a:t>
            </a:r>
            <a:r>
              <a:rPr lang="en-US" dirty="0" smtClean="0"/>
              <a:t> </a:t>
            </a:r>
            <a:r>
              <a:rPr lang="en-US" dirty="0" err="1" smtClean="0"/>
              <a:t>Estudio</a:t>
            </a:r>
            <a:r>
              <a:rPr lang="en-US" dirty="0" smtClean="0"/>
              <a:t> </a:t>
            </a:r>
            <a:r>
              <a:rPr lang="en-US" dirty="0" err="1" smtClean="0"/>
              <a:t>Servicio</a:t>
            </a:r>
            <a:r>
              <a:rPr lang="en-US" dirty="0" smtClean="0"/>
              <a:t> 311</a:t>
            </a:r>
            <a:endParaRPr lang="es-ES" dirty="0"/>
          </a:p>
        </p:txBody>
      </p:sp>
      <p:sp>
        <p:nvSpPr>
          <p:cNvPr id="3" name="Marcador de contenido 2"/>
          <p:cNvSpPr>
            <a:spLocks noGrp="1"/>
          </p:cNvSpPr>
          <p:nvPr>
            <p:ph idx="1"/>
          </p:nvPr>
        </p:nvSpPr>
        <p:spPr>
          <a:xfrm>
            <a:off x="0" y="1777978"/>
            <a:ext cx="7374836"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Propuesta de solución arquitectónica</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800" dirty="0"/>
              <a:t>Se crearon módulos de software (agentes) que “conocen” la forma en que deben notificarse las averías y afectaciones a cada uno de los involucrados</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800" dirty="0"/>
              <a:t>Se implementaron notificaciones:</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Correo electrónico</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SMS</a:t>
            </a:r>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Publicación en </a:t>
            </a:r>
            <a:r>
              <a:rPr lang="es-ES" sz="2400" dirty="0" err="1"/>
              <a:t>Twitter</a:t>
            </a:r>
            <a:endParaRPr lang="es-ES" sz="2400" dirty="0"/>
          </a:p>
          <a:p>
            <a:pPr lvl="2" algn="just">
              <a:spcBef>
                <a:spcPts val="625"/>
              </a:spcBef>
              <a:buSzPct val="70000"/>
              <a:buFont typeface="Wingdings" pitchFamily="2" charset="2"/>
              <a:buChar char="ü"/>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Módulos específicos (</a:t>
            </a:r>
            <a:r>
              <a:rPr lang="es-ES" sz="2400" dirty="0" err="1"/>
              <a:t>webservices</a:t>
            </a:r>
            <a:r>
              <a:rPr lang="es-ES" sz="2400" dirty="0"/>
              <a:t>) </a:t>
            </a:r>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smtClean="0"/>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0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pic>
        <p:nvPicPr>
          <p:cNvPr id="6" name="Picture 2"/>
          <p:cNvPicPr>
            <a:picLocks noChangeAspect="1" noChangeArrowheads="1"/>
          </p:cNvPicPr>
          <p:nvPr/>
        </p:nvPicPr>
        <p:blipFill>
          <a:blip r:embed="rId3"/>
          <a:srcRect/>
          <a:stretch>
            <a:fillRect/>
          </a:stretch>
        </p:blipFill>
        <p:spPr bwMode="auto">
          <a:xfrm>
            <a:off x="7673007" y="1967948"/>
            <a:ext cx="4333461" cy="3856382"/>
          </a:xfrm>
          <a:prstGeom prst="rect">
            <a:avLst/>
          </a:prstGeom>
          <a:noFill/>
          <a:ln w="9525">
            <a:noFill/>
            <a:miter lim="800000"/>
            <a:headEnd/>
            <a:tailEnd/>
          </a:ln>
          <a:effectLst/>
        </p:spPr>
      </p:pic>
    </p:spTree>
    <p:extLst>
      <p:ext uri="{BB962C8B-B14F-4D97-AF65-F5344CB8AC3E}">
        <p14:creationId xmlns:p14="http://schemas.microsoft.com/office/powerpoint/2010/main" val="226276782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Arquitecturas Tradicionales: </a:t>
            </a:r>
            <a:r>
              <a:rPr lang="en-US" dirty="0" err="1" smtClean="0"/>
              <a:t>BlackBoard</a:t>
            </a:r>
            <a:r>
              <a:rPr lang="en-US" dirty="0" smtClean="0"/>
              <a:t/>
            </a:r>
            <a:br>
              <a:rPr lang="en-US" dirty="0" smtClean="0"/>
            </a:br>
            <a:r>
              <a:rPr lang="en-US" dirty="0" err="1" smtClean="0"/>
              <a:t>Caso</a:t>
            </a:r>
            <a:r>
              <a:rPr lang="en-US" dirty="0" smtClean="0"/>
              <a:t> </a:t>
            </a:r>
            <a:r>
              <a:rPr lang="en-US" dirty="0" err="1" smtClean="0"/>
              <a:t>Estudio</a:t>
            </a:r>
            <a:r>
              <a:rPr lang="en-US" dirty="0" smtClean="0"/>
              <a:t> </a:t>
            </a:r>
            <a:r>
              <a:rPr lang="en-US" dirty="0" err="1" smtClean="0"/>
              <a:t>Servicio</a:t>
            </a:r>
            <a:r>
              <a:rPr lang="en-US" dirty="0" smtClean="0"/>
              <a:t> 311</a:t>
            </a:r>
            <a:endParaRPr lang="es-ES"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pic>
        <p:nvPicPr>
          <p:cNvPr id="7" name="6 Marcador de contenido"/>
          <p:cNvPicPr>
            <a:picLocks noGrp="1"/>
          </p:cNvPicPr>
          <p:nvPr>
            <p:ph idx="1"/>
          </p:nvPr>
        </p:nvPicPr>
        <p:blipFill>
          <a:blip r:embed="rId3" cstate="print"/>
          <a:srcRect/>
          <a:stretch>
            <a:fillRect/>
          </a:stretch>
        </p:blipFill>
        <p:spPr bwMode="auto">
          <a:xfrm>
            <a:off x="934279" y="1789043"/>
            <a:ext cx="10455965" cy="4512366"/>
          </a:xfrm>
          <a:prstGeom prst="rect">
            <a:avLst/>
          </a:prstGeom>
          <a:noFill/>
          <a:ln w="9525">
            <a:noFill/>
            <a:miter lim="800000"/>
            <a:headEnd/>
            <a:tailEnd/>
          </a:ln>
        </p:spPr>
      </p:pic>
    </p:spTree>
    <p:extLst>
      <p:ext uri="{BB962C8B-B14F-4D97-AF65-F5344CB8AC3E}">
        <p14:creationId xmlns:p14="http://schemas.microsoft.com/office/powerpoint/2010/main" val="413765044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Arquitecturas Modernas y Distribuidas</a:t>
            </a:r>
          </a:p>
        </p:txBody>
      </p:sp>
      <p:sp>
        <p:nvSpPr>
          <p:cNvPr id="3" name="Marcador de contenido 2"/>
          <p:cNvSpPr>
            <a:spLocks noGrp="1"/>
          </p:cNvSpPr>
          <p:nvPr>
            <p:ph idx="1"/>
          </p:nvPr>
        </p:nvSpPr>
        <p:spPr>
          <a:xfrm>
            <a:off x="-1" y="1777978"/>
            <a:ext cx="11370365" cy="4543309"/>
          </a:xfrm>
        </p:spPr>
        <p:txBody>
          <a:bodyPr>
            <a:noAutofit/>
          </a:bodyPr>
          <a:lstStyle/>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Permiten </a:t>
            </a:r>
            <a:r>
              <a:rPr lang="es-ES" sz="3600" dirty="0"/>
              <a:t>la creación de aplicaciones escalables, flexibles y </a:t>
            </a:r>
            <a:r>
              <a:rPr lang="es-ES" sz="3600" dirty="0" err="1"/>
              <a:t>resilientes</a:t>
            </a:r>
            <a:r>
              <a:rPr lang="es-ES" sz="3600" dirty="0"/>
              <a:t>. </a:t>
            </a:r>
            <a:endParaRPr lang="es-ES" sz="3600" dirty="0" smtClean="0"/>
          </a:p>
          <a:p>
            <a:pPr algn="just">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Se </a:t>
            </a:r>
            <a:r>
              <a:rPr lang="es-ES" sz="3600" dirty="0"/>
              <a:t>centran en la distribución de componentes a través de múltiples nodos, lo que permite el procesamiento paralelo, la tolerancia a fallos y la mejora del rendimiento. </a:t>
            </a:r>
            <a:endParaRPr lang="es-ES" sz="3600" dirty="0" smtClean="0"/>
          </a:p>
          <a:p>
            <a:pPr marL="0" indent="0" algn="just">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Ejemplos </a:t>
            </a:r>
          </a:p>
          <a:p>
            <a:pPr marL="475488" lvl="2" indent="0" algn="just">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smtClean="0"/>
              <a:t> </a:t>
            </a:r>
            <a:r>
              <a:rPr lang="es-ES" sz="3000" dirty="0" err="1" smtClean="0"/>
              <a:t>Microservicios</a:t>
            </a:r>
            <a:r>
              <a:rPr lang="es-ES" sz="3000" dirty="0" smtClean="0"/>
              <a:t>                  </a:t>
            </a:r>
            <a:r>
              <a:rPr lang="es-ES" sz="3200" dirty="0" err="1"/>
              <a:t>Serverless</a:t>
            </a:r>
            <a:r>
              <a:rPr lang="es-ES" sz="3000" dirty="0" smtClean="0"/>
              <a:t>                 Contenedores</a:t>
            </a:r>
          </a:p>
          <a:p>
            <a:pPr marL="475488" lvl="2" indent="0" algn="just">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000" dirty="0" smtClean="0"/>
              <a:t>Basada </a:t>
            </a:r>
            <a:r>
              <a:rPr lang="es-ES" sz="3000" dirty="0"/>
              <a:t>en </a:t>
            </a:r>
            <a:r>
              <a:rPr lang="es-ES" sz="3000" dirty="0" smtClean="0"/>
              <a:t>Eventos           </a:t>
            </a:r>
            <a:r>
              <a:rPr lang="es-ES" sz="3200" dirty="0">
                <a:solidFill>
                  <a:srgbClr val="FF0000"/>
                </a:solidFill>
              </a:rPr>
              <a:t>Orientada a Servicios (SOA</a:t>
            </a:r>
            <a:r>
              <a:rPr lang="es-ES" sz="3200" dirty="0"/>
              <a:t>)</a:t>
            </a:r>
          </a:p>
          <a:p>
            <a:pPr marL="475488" lvl="2" indent="0" algn="just">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000" dirty="0"/>
          </a:p>
          <a:p>
            <a:pPr marL="0" indent="0" algn="just">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93653532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Arquitecturas Modernas y </a:t>
            </a:r>
            <a:r>
              <a:rPr lang="es-ES" dirty="0" smtClean="0"/>
              <a:t>Distribuidas: SOA</a:t>
            </a:r>
            <a:endParaRPr lang="es-ES" dirty="0"/>
          </a:p>
        </p:txBody>
      </p:sp>
      <p:sp>
        <p:nvSpPr>
          <p:cNvPr id="3" name="Marcador de contenido 2"/>
          <p:cNvSpPr>
            <a:spLocks noGrp="1"/>
          </p:cNvSpPr>
          <p:nvPr>
            <p:ph idx="1"/>
          </p:nvPr>
        </p:nvSpPr>
        <p:spPr>
          <a:xfrm>
            <a:off x="-1" y="1777978"/>
            <a:ext cx="11370365" cy="4543309"/>
          </a:xfrm>
        </p:spPr>
        <p:txBody>
          <a:bodyPr>
            <a:noAutofit/>
          </a:bodyPr>
          <a:lstStyle/>
          <a:p>
            <a:pPr algn="just">
              <a:buFont typeface="Wingdings" pitchFamily="2" charset="2"/>
              <a:buChar char="Ø"/>
            </a:pPr>
            <a:r>
              <a:rPr lang="es-ES" sz="3600" b="1" dirty="0" err="1"/>
              <a:t>S</a:t>
            </a:r>
            <a:r>
              <a:rPr lang="es-ES" sz="3600" dirty="0" err="1"/>
              <a:t>ervice</a:t>
            </a:r>
            <a:r>
              <a:rPr lang="es-ES" sz="3600" dirty="0"/>
              <a:t> </a:t>
            </a:r>
            <a:r>
              <a:rPr lang="es-ES" sz="3600" b="1" dirty="0" err="1"/>
              <a:t>O</a:t>
            </a:r>
            <a:r>
              <a:rPr lang="es-ES" sz="3600" dirty="0" err="1"/>
              <a:t>riented</a:t>
            </a:r>
            <a:r>
              <a:rPr lang="es-ES" sz="3600" dirty="0"/>
              <a:t> </a:t>
            </a:r>
            <a:r>
              <a:rPr lang="es-ES" sz="3600" b="1" dirty="0" err="1"/>
              <a:t>A</a:t>
            </a:r>
            <a:r>
              <a:rPr lang="es-ES" sz="3600" dirty="0" err="1"/>
              <a:t>rchitecture</a:t>
            </a:r>
            <a:r>
              <a:rPr lang="es-ES" sz="3600" dirty="0"/>
              <a:t>, es un modelo de arquitectura de software que propone  la utilización de servicios (frecuentemente Web, pero no necesariamente) para facilitar la interacción e integración entre diferentes sistemas propios o de terceros en beneficio del negocio e intereses de la </a:t>
            </a:r>
            <a:r>
              <a:rPr lang="es-ES" sz="3600" dirty="0" smtClean="0"/>
              <a:t>organización</a:t>
            </a:r>
            <a:r>
              <a:rPr lang="es-ES" sz="3600" dirty="0"/>
              <a:t>.</a:t>
            </a:r>
          </a:p>
          <a:p>
            <a:pPr marL="475488" lvl="2" indent="0" algn="just">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000" dirty="0"/>
          </a:p>
          <a:p>
            <a:pPr marL="0" indent="0" algn="just">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290622496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Arquitecturas Modernas y </a:t>
            </a:r>
            <a:r>
              <a:rPr lang="es-ES" dirty="0" smtClean="0"/>
              <a:t>Distribuidas: SOA</a:t>
            </a:r>
            <a:endParaRPr lang="es-ES" dirty="0"/>
          </a:p>
        </p:txBody>
      </p:sp>
      <p:sp>
        <p:nvSpPr>
          <p:cNvPr id="3" name="Marcador de contenido 2"/>
          <p:cNvSpPr>
            <a:spLocks noGrp="1"/>
          </p:cNvSpPr>
          <p:nvPr>
            <p:ph idx="1"/>
          </p:nvPr>
        </p:nvSpPr>
        <p:spPr>
          <a:xfrm>
            <a:off x="-1" y="1777978"/>
            <a:ext cx="11370365" cy="4543309"/>
          </a:xfrm>
        </p:spPr>
        <p:txBody>
          <a:bodyPr>
            <a:noAutofit/>
          </a:bodyPr>
          <a:lstStyle/>
          <a:p>
            <a:pPr algn="just">
              <a:buFont typeface="Wingdings" pitchFamily="2" charset="2"/>
              <a:buChar char="Ø"/>
            </a:pPr>
            <a:r>
              <a:rPr lang="es-ES" sz="3600" dirty="0"/>
              <a:t>La Arquitectura Orientada a Servicios (SOA, </a:t>
            </a:r>
            <a:r>
              <a:rPr lang="es-ES" sz="3600" dirty="0" err="1"/>
              <a:t>Service</a:t>
            </a:r>
            <a:r>
              <a:rPr lang="es-ES" sz="3600" dirty="0"/>
              <a:t> </a:t>
            </a:r>
            <a:r>
              <a:rPr lang="es-ES" sz="3600" dirty="0" err="1"/>
              <a:t>Oriented</a:t>
            </a:r>
            <a:r>
              <a:rPr lang="es-ES" sz="3600" dirty="0"/>
              <a:t> </a:t>
            </a:r>
            <a:r>
              <a:rPr lang="es-ES" sz="3600" dirty="0" err="1"/>
              <a:t>Architecture</a:t>
            </a:r>
            <a:r>
              <a:rPr lang="es-ES" sz="3600" dirty="0"/>
              <a:t>) supone una estrategia general de organización de los elementos de </a:t>
            </a:r>
            <a:r>
              <a:rPr lang="es-ES" sz="3600" dirty="0" smtClean="0"/>
              <a:t>IT (Tecnología de la Información), </a:t>
            </a:r>
            <a:r>
              <a:rPr lang="es-ES" sz="3600" dirty="0"/>
              <a:t>de forma que una colección abigarrada de sistemas distribuidos y aplicaciones complejas se pueda transformar en una red de recursos integrados, simplificada y sumamente flexible.</a:t>
            </a:r>
          </a:p>
          <a:p>
            <a:pPr marL="475488" lvl="2" indent="0" algn="just">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000" dirty="0"/>
          </a:p>
          <a:p>
            <a:pPr marL="0" indent="0" algn="just">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221497210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Arquitecturas Modernas y </a:t>
            </a:r>
            <a:r>
              <a:rPr lang="es-ES" dirty="0" smtClean="0"/>
              <a:t>Distribuidas: SOA</a:t>
            </a:r>
            <a:endParaRPr lang="es-ES"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
        <p:nvSpPr>
          <p:cNvPr id="4" name="3 Marcador de contenido"/>
          <p:cNvSpPr>
            <a:spLocks noGrp="1"/>
          </p:cNvSpPr>
          <p:nvPr>
            <p:ph idx="1"/>
          </p:nvPr>
        </p:nvSpPr>
        <p:spPr/>
        <p:txBody>
          <a:bodyPr/>
          <a:lstStyle/>
          <a:p>
            <a:endParaRPr lang="es-ES"/>
          </a:p>
        </p:txBody>
      </p:sp>
      <p:pic>
        <p:nvPicPr>
          <p:cNvPr id="6" name="Picture 2"/>
          <p:cNvPicPr>
            <a:picLocks noChangeAspect="1" noChangeArrowheads="1"/>
          </p:cNvPicPr>
          <p:nvPr/>
        </p:nvPicPr>
        <p:blipFill>
          <a:blip r:embed="rId3" cstate="print"/>
          <a:srcRect/>
          <a:stretch>
            <a:fillRect/>
          </a:stretch>
        </p:blipFill>
        <p:spPr bwMode="auto">
          <a:xfrm>
            <a:off x="152400" y="1749287"/>
            <a:ext cx="11893826" cy="4575313"/>
          </a:xfrm>
          <a:prstGeom prst="rect">
            <a:avLst/>
          </a:prstGeom>
          <a:noFill/>
          <a:ln w="9525">
            <a:noFill/>
            <a:miter lim="800000"/>
            <a:headEnd/>
            <a:tailEnd/>
          </a:ln>
          <a:effectLst/>
        </p:spPr>
      </p:pic>
    </p:spTree>
    <p:extLst>
      <p:ext uri="{BB962C8B-B14F-4D97-AF65-F5344CB8AC3E}">
        <p14:creationId xmlns:p14="http://schemas.microsoft.com/office/powerpoint/2010/main" val="262005629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77078" y="286603"/>
            <a:ext cx="10678602" cy="1450757"/>
          </a:xfrm>
        </p:spPr>
        <p:txBody>
          <a:bodyPr>
            <a:normAutofit/>
          </a:bodyPr>
          <a:lstStyle/>
          <a:p>
            <a:r>
              <a:rPr lang="es-ES" dirty="0"/>
              <a:t>Arquitecturas Modernas y </a:t>
            </a:r>
            <a:r>
              <a:rPr lang="es-ES" dirty="0" smtClean="0"/>
              <a:t>Distribuidas: SOA </a:t>
            </a:r>
            <a:r>
              <a:rPr lang="es-ES" b="1" dirty="0" smtClean="0"/>
              <a:t>Ventajas               y                Desventajas</a:t>
            </a:r>
            <a:endParaRPr lang="es-ES" dirty="0"/>
          </a:p>
        </p:txBody>
      </p:sp>
      <p:sp>
        <p:nvSpPr>
          <p:cNvPr id="3" name="Marcador de contenido 2"/>
          <p:cNvSpPr>
            <a:spLocks noGrp="1"/>
          </p:cNvSpPr>
          <p:nvPr>
            <p:ph idx="1"/>
          </p:nvPr>
        </p:nvSpPr>
        <p:spPr>
          <a:xfrm>
            <a:off x="0" y="1777978"/>
            <a:ext cx="5943601" cy="4543309"/>
          </a:xfrm>
        </p:spPr>
        <p:txBody>
          <a:bodyPr>
            <a:noAutofit/>
          </a:bodyPr>
          <a:lstStyle/>
          <a:p>
            <a:pPr>
              <a:buFont typeface="Wingdings" pitchFamily="2" charset="2"/>
              <a:buChar char="Ø"/>
            </a:pPr>
            <a:r>
              <a:rPr lang="es-ES" sz="3600" dirty="0" smtClean="0"/>
              <a:t>Reusabilidad: Los servicios pueden ser utilizados por múltiples aplicaciones.</a:t>
            </a:r>
          </a:p>
          <a:p>
            <a:pPr>
              <a:buFont typeface="Wingdings" pitchFamily="2" charset="2"/>
              <a:buChar char="Ø"/>
            </a:pPr>
            <a:r>
              <a:rPr lang="es-ES" sz="3600" dirty="0" smtClean="0"/>
              <a:t>Interoperabilidad: Facilita la integración con otros sistemas y tecnologías.</a:t>
            </a:r>
          </a:p>
          <a:p>
            <a:pPr>
              <a:buFont typeface="Wingdings" pitchFamily="2" charset="2"/>
              <a:buChar char="Ø"/>
            </a:pPr>
            <a:endParaRPr lang="es-ES" sz="3600" b="1"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
        <p:nvSpPr>
          <p:cNvPr id="6" name="Marcador de contenido 2"/>
          <p:cNvSpPr txBox="1">
            <a:spLocks/>
          </p:cNvSpPr>
          <p:nvPr/>
        </p:nvSpPr>
        <p:spPr>
          <a:xfrm>
            <a:off x="5943601" y="1912685"/>
            <a:ext cx="6248400" cy="4543309"/>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itchFamily="2" charset="2"/>
              <a:buChar char="Ø"/>
            </a:pPr>
            <a:r>
              <a:rPr lang="es-ES" sz="3600" dirty="0" smtClean="0"/>
              <a:t>Sobrecarga </a:t>
            </a:r>
            <a:r>
              <a:rPr lang="es-ES" sz="3600" dirty="0"/>
              <a:t>de Comunicación: La comunicación entre servicios puede ser costosa en términos de rendimiento</a:t>
            </a:r>
            <a:r>
              <a:rPr lang="es-ES" sz="3600" dirty="0" smtClean="0"/>
              <a:t>.</a:t>
            </a:r>
            <a:endParaRPr lang="es-ES" sz="3600" dirty="0"/>
          </a:p>
          <a:p>
            <a:pPr>
              <a:buFont typeface="Wingdings" pitchFamily="2" charset="2"/>
              <a:buChar char="Ø"/>
            </a:pPr>
            <a:r>
              <a:rPr lang="es-ES" sz="3600" dirty="0" smtClean="0"/>
              <a:t> </a:t>
            </a:r>
            <a:r>
              <a:rPr lang="es-ES" sz="3600" dirty="0"/>
              <a:t>Complejidad en la Gestión: La orquestación y gestión de servicios pueden volverse complicadas.</a:t>
            </a:r>
          </a:p>
        </p:txBody>
      </p:sp>
    </p:spTree>
    <p:extLst>
      <p:ext uri="{BB962C8B-B14F-4D97-AF65-F5344CB8AC3E}">
        <p14:creationId xmlns:p14="http://schemas.microsoft.com/office/powerpoint/2010/main" val="335411959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Arquitecturas Modernas y </a:t>
            </a:r>
            <a:r>
              <a:rPr lang="es-ES" dirty="0" smtClean="0"/>
              <a:t>Distribuidas: SOA </a:t>
            </a:r>
            <a:endParaRPr lang="es-ES" dirty="0"/>
          </a:p>
        </p:txBody>
      </p:sp>
      <p:sp>
        <p:nvSpPr>
          <p:cNvPr id="3" name="Marcador de contenido 2"/>
          <p:cNvSpPr>
            <a:spLocks noGrp="1"/>
          </p:cNvSpPr>
          <p:nvPr>
            <p:ph idx="1"/>
          </p:nvPr>
        </p:nvSpPr>
        <p:spPr>
          <a:xfrm>
            <a:off x="0" y="1777978"/>
            <a:ext cx="11529391" cy="4543309"/>
          </a:xfrm>
        </p:spPr>
        <p:txBody>
          <a:bodyPr>
            <a:noAutofit/>
          </a:bodyPr>
          <a:lstStyle/>
          <a:p>
            <a:pPr>
              <a:buFont typeface="Wingdings" pitchFamily="2" charset="2"/>
              <a:buChar char="Ø"/>
            </a:pPr>
            <a:r>
              <a:rPr lang="es-ES" sz="3600" b="1" dirty="0" smtClean="0"/>
              <a:t>Ejemplos </a:t>
            </a:r>
          </a:p>
          <a:p>
            <a:pPr>
              <a:buFont typeface="Wingdings" pitchFamily="2" charset="2"/>
              <a:buChar char="Ø"/>
            </a:pPr>
            <a:r>
              <a:rPr lang="es-ES" sz="3600" dirty="0"/>
              <a:t>Sistemas de Gestión Empresarial (ERP</a:t>
            </a:r>
            <a:r>
              <a:rPr lang="es-ES" sz="3600" dirty="0" smtClean="0"/>
              <a:t>):SAP</a:t>
            </a:r>
          </a:p>
          <a:p>
            <a:pPr>
              <a:buFont typeface="Wingdings" pitchFamily="2" charset="2"/>
              <a:buChar char="Ø"/>
            </a:pPr>
            <a:r>
              <a:rPr lang="es-ES" sz="3600" dirty="0"/>
              <a:t>Servicios en la </a:t>
            </a:r>
            <a:r>
              <a:rPr lang="es-ES" sz="3600" dirty="0" smtClean="0"/>
              <a:t>Nube: Amazon </a:t>
            </a:r>
            <a:r>
              <a:rPr lang="es-ES" sz="3600" dirty="0"/>
              <a:t>Web </a:t>
            </a:r>
            <a:r>
              <a:rPr lang="es-ES" sz="3600" dirty="0" err="1"/>
              <a:t>Services</a:t>
            </a:r>
            <a:r>
              <a:rPr lang="es-ES" sz="3600" dirty="0"/>
              <a:t> (</a:t>
            </a:r>
            <a:r>
              <a:rPr lang="es-ES" sz="3600" dirty="0" smtClean="0"/>
              <a:t>AWS)</a:t>
            </a:r>
          </a:p>
          <a:p>
            <a:pPr>
              <a:buFont typeface="Wingdings" pitchFamily="2" charset="2"/>
              <a:buChar char="Ø"/>
            </a:pPr>
            <a:r>
              <a:rPr lang="es-ES" sz="3600" dirty="0"/>
              <a:t>Aplicaciones de Comercio </a:t>
            </a:r>
            <a:r>
              <a:rPr lang="es-ES" sz="3600" dirty="0" smtClean="0"/>
              <a:t>Electrónico: eBay</a:t>
            </a:r>
          </a:p>
          <a:p>
            <a:pPr>
              <a:buFont typeface="Wingdings" pitchFamily="2" charset="2"/>
              <a:buChar char="Ø"/>
            </a:pPr>
            <a:r>
              <a:rPr lang="es-ES" sz="3600" dirty="0"/>
              <a:t>Plataformas de Redes </a:t>
            </a:r>
            <a:r>
              <a:rPr lang="es-ES" sz="3600" dirty="0" smtClean="0"/>
              <a:t>Sociales: Facebook</a:t>
            </a:r>
          </a:p>
          <a:p>
            <a:pPr>
              <a:buFont typeface="Wingdings" pitchFamily="2" charset="2"/>
              <a:buChar char="Ø"/>
            </a:pPr>
            <a:r>
              <a:rPr lang="es-ES" sz="3600" dirty="0"/>
              <a:t>Sistemas de Información Geográfica (GIS</a:t>
            </a:r>
            <a:r>
              <a:rPr lang="es-ES" sz="3600" dirty="0" smtClean="0"/>
              <a:t>):</a:t>
            </a:r>
            <a:r>
              <a:rPr lang="es-ES" sz="3600" dirty="0" err="1" smtClean="0"/>
              <a:t>ArcGis</a:t>
            </a:r>
            <a:endParaRPr lang="es-ES" sz="3600" dirty="0"/>
          </a:p>
          <a:p>
            <a:pPr>
              <a:buFont typeface="Wingdings" pitchFamily="2" charset="2"/>
              <a:buChar char="Ø"/>
            </a:pPr>
            <a:endParaRPr lang="es-ES" sz="3600" dirty="0"/>
          </a:p>
          <a:p>
            <a:pPr>
              <a:buFont typeface="Wingdings" pitchFamily="2" charset="2"/>
              <a:buChar char="Ø"/>
            </a:pPr>
            <a:endParaRPr lang="es-ES" sz="3600" dirty="0"/>
          </a:p>
          <a:p>
            <a:pPr>
              <a:buFont typeface="Wingdings" pitchFamily="2" charset="2"/>
              <a:buChar char="Ø"/>
            </a:pPr>
            <a:endParaRPr lang="es-ES" sz="3600" dirty="0"/>
          </a:p>
          <a:p>
            <a:pPr>
              <a:buFont typeface="Wingdings" pitchFamily="2" charset="2"/>
              <a:buChar char="Ø"/>
            </a:pPr>
            <a:endParaRPr lang="es-ES" sz="3600" b="1"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197419828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18661" y="286603"/>
            <a:ext cx="11807687" cy="1450757"/>
          </a:xfrm>
        </p:spPr>
        <p:txBody>
          <a:bodyPr>
            <a:normAutofit fontScale="90000"/>
          </a:bodyPr>
          <a:lstStyle/>
          <a:p>
            <a:r>
              <a:rPr lang="es-ES" dirty="0"/>
              <a:t>Arquitecturas Modernas y </a:t>
            </a:r>
            <a:r>
              <a:rPr lang="es-ES" dirty="0" smtClean="0"/>
              <a:t>Distribuidas</a:t>
            </a:r>
            <a:r>
              <a:rPr lang="es-ES" dirty="0"/>
              <a:t>: Arquitectura Compuesta (</a:t>
            </a:r>
            <a:r>
              <a:rPr lang="es-ES" dirty="0" err="1"/>
              <a:t>Composite</a:t>
            </a:r>
            <a:r>
              <a:rPr lang="es-ES" dirty="0"/>
              <a:t> </a:t>
            </a:r>
            <a:r>
              <a:rPr lang="es-ES" dirty="0" err="1"/>
              <a:t>Architecture</a:t>
            </a:r>
            <a:r>
              <a:rPr lang="es-ES" dirty="0"/>
              <a:t>)</a:t>
            </a:r>
          </a:p>
        </p:txBody>
      </p:sp>
      <p:sp>
        <p:nvSpPr>
          <p:cNvPr id="3" name="Marcador de contenido 2"/>
          <p:cNvSpPr>
            <a:spLocks noGrp="1"/>
          </p:cNvSpPr>
          <p:nvPr>
            <p:ph idx="1"/>
          </p:nvPr>
        </p:nvSpPr>
        <p:spPr>
          <a:xfrm>
            <a:off x="0" y="1777978"/>
            <a:ext cx="11529391" cy="4543309"/>
          </a:xfrm>
        </p:spPr>
        <p:txBody>
          <a:bodyPr>
            <a:noAutofit/>
          </a:bodyPr>
          <a:lstStyle/>
          <a:p>
            <a:pPr>
              <a:buFont typeface="Wingdings" pitchFamily="2" charset="2"/>
              <a:buChar char="Ø"/>
            </a:pPr>
            <a:r>
              <a:rPr lang="es-ES" sz="3600" dirty="0" smtClean="0"/>
              <a:t>Enfoque </a:t>
            </a:r>
            <a:r>
              <a:rPr lang="es-ES" sz="3600" dirty="0"/>
              <a:t>que integra múltiples patrones o estilos arquitectónicos dentro de un mismo sistema para abordar diferentes aspectos de su diseño y funcionamiento. </a:t>
            </a:r>
            <a:endParaRPr lang="es-ES" sz="3600" dirty="0" smtClean="0"/>
          </a:p>
          <a:p>
            <a:pPr>
              <a:buFont typeface="Wingdings" pitchFamily="2" charset="2"/>
              <a:buChar char="Ø"/>
            </a:pPr>
            <a:r>
              <a:rPr lang="es-ES" sz="3600" dirty="0" smtClean="0"/>
              <a:t>Este </a:t>
            </a:r>
            <a:r>
              <a:rPr lang="es-ES" sz="3600" dirty="0"/>
              <a:t>enfoque permite a los desarrolladores aprovechar las fortalezas de cada patrón, adaptándose mejor a los requisitos específicos del proyecto y a las características del dominio en el que se está trabajando.</a:t>
            </a:r>
          </a:p>
          <a:p>
            <a:pPr>
              <a:buFont typeface="Wingdings" pitchFamily="2" charset="2"/>
              <a:buChar char="Ø"/>
            </a:pPr>
            <a:endParaRPr lang="es-ES" sz="3600" dirty="0"/>
          </a:p>
          <a:p>
            <a:pPr>
              <a:buFont typeface="Wingdings" pitchFamily="2" charset="2"/>
              <a:buChar char="Ø"/>
            </a:pPr>
            <a:endParaRPr lang="es-ES" sz="3600" dirty="0"/>
          </a:p>
          <a:p>
            <a:pPr>
              <a:buFont typeface="Wingdings" pitchFamily="2" charset="2"/>
              <a:buChar char="Ø"/>
            </a:pPr>
            <a:endParaRPr lang="es-ES" sz="3600" b="1"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417320369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18661" y="286603"/>
            <a:ext cx="11807687" cy="1450757"/>
          </a:xfrm>
        </p:spPr>
        <p:txBody>
          <a:bodyPr>
            <a:normAutofit fontScale="90000"/>
          </a:bodyPr>
          <a:lstStyle/>
          <a:p>
            <a:r>
              <a:rPr lang="es-ES" dirty="0"/>
              <a:t>Arquitecturas Modernas y </a:t>
            </a:r>
            <a:r>
              <a:rPr lang="es-ES" dirty="0" smtClean="0"/>
              <a:t>Distribuidas</a:t>
            </a:r>
            <a:r>
              <a:rPr lang="es-ES" dirty="0"/>
              <a:t>: Arquitectura Compuesta (</a:t>
            </a:r>
            <a:r>
              <a:rPr lang="es-ES" dirty="0" err="1"/>
              <a:t>Composite</a:t>
            </a:r>
            <a:r>
              <a:rPr lang="es-ES" dirty="0"/>
              <a:t> </a:t>
            </a:r>
            <a:r>
              <a:rPr lang="es-ES" dirty="0" err="1"/>
              <a:t>Architecture</a:t>
            </a:r>
            <a:r>
              <a:rPr lang="es-ES" dirty="0"/>
              <a:t>)</a:t>
            </a:r>
          </a:p>
        </p:txBody>
      </p:sp>
      <p:sp>
        <p:nvSpPr>
          <p:cNvPr id="3" name="Marcador de contenido 2"/>
          <p:cNvSpPr>
            <a:spLocks noGrp="1"/>
          </p:cNvSpPr>
          <p:nvPr>
            <p:ph idx="1"/>
          </p:nvPr>
        </p:nvSpPr>
        <p:spPr>
          <a:xfrm>
            <a:off x="0" y="1777978"/>
            <a:ext cx="11529391" cy="4543309"/>
          </a:xfrm>
        </p:spPr>
        <p:txBody>
          <a:bodyPr>
            <a:noAutofit/>
          </a:bodyPr>
          <a:lstStyle/>
          <a:p>
            <a:pPr>
              <a:buFont typeface="Wingdings" pitchFamily="2" charset="2"/>
              <a:buChar char="Ø"/>
            </a:pPr>
            <a:r>
              <a:rPr lang="es-ES" sz="3600" dirty="0" smtClean="0"/>
              <a:t>Ejemplo </a:t>
            </a:r>
            <a:r>
              <a:rPr lang="es-ES" sz="3600" dirty="0"/>
              <a:t>de Implementación</a:t>
            </a:r>
          </a:p>
          <a:p>
            <a:pPr>
              <a:buFont typeface="Wingdings" pitchFamily="2" charset="2"/>
              <a:buChar char="Ø"/>
            </a:pPr>
            <a:r>
              <a:rPr lang="es-ES" sz="3600" dirty="0" smtClean="0"/>
              <a:t>Supongamos </a:t>
            </a:r>
            <a:r>
              <a:rPr lang="es-ES" sz="3600" dirty="0"/>
              <a:t>que estamos desarrollando una aplicación de comercio electrónico. Podríamos implementar </a:t>
            </a:r>
            <a:r>
              <a:rPr lang="es-ES" sz="3600" dirty="0" smtClean="0"/>
              <a:t>una arquitectura </a:t>
            </a:r>
            <a:r>
              <a:rPr lang="es-ES" sz="3600" dirty="0"/>
              <a:t>compuesta de la siguiente manera</a:t>
            </a:r>
            <a:r>
              <a:rPr lang="es-ES" sz="3600" dirty="0" smtClean="0"/>
              <a:t>:</a:t>
            </a: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53419873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18661" y="286603"/>
            <a:ext cx="11807687" cy="1450757"/>
          </a:xfrm>
        </p:spPr>
        <p:txBody>
          <a:bodyPr>
            <a:normAutofit fontScale="90000"/>
          </a:bodyPr>
          <a:lstStyle/>
          <a:p>
            <a:r>
              <a:rPr lang="es-ES" dirty="0"/>
              <a:t>Arquitecturas Modernas y </a:t>
            </a:r>
            <a:r>
              <a:rPr lang="es-ES" dirty="0" smtClean="0"/>
              <a:t>Distribuidas</a:t>
            </a:r>
            <a:r>
              <a:rPr lang="es-ES" dirty="0"/>
              <a:t>: Arquitectura Compuesta (</a:t>
            </a:r>
            <a:r>
              <a:rPr lang="es-ES" dirty="0" err="1"/>
              <a:t>Composite</a:t>
            </a:r>
            <a:r>
              <a:rPr lang="es-ES" dirty="0"/>
              <a:t> </a:t>
            </a:r>
            <a:r>
              <a:rPr lang="es-ES" dirty="0" err="1"/>
              <a:t>Architecture</a:t>
            </a:r>
            <a:r>
              <a:rPr lang="es-ES" dirty="0"/>
              <a:t>)</a:t>
            </a:r>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graphicFrame>
        <p:nvGraphicFramePr>
          <p:cNvPr id="7" name="6 Marcador de contenido"/>
          <p:cNvGraphicFramePr>
            <a:graphicFrameLocks noGrp="1"/>
          </p:cNvGraphicFramePr>
          <p:nvPr>
            <p:ph idx="1"/>
            <p:extLst>
              <p:ext uri="{D42A27DB-BD31-4B8C-83A1-F6EECF244321}">
                <p14:modId xmlns:p14="http://schemas.microsoft.com/office/powerpoint/2010/main" val="3539789621"/>
              </p:ext>
            </p:extLst>
          </p:nvPr>
        </p:nvGraphicFramePr>
        <p:xfrm>
          <a:off x="-397565" y="1826385"/>
          <a:ext cx="8885583" cy="45545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7 Diagrama"/>
          <p:cNvGraphicFramePr/>
          <p:nvPr>
            <p:extLst>
              <p:ext uri="{D42A27DB-BD31-4B8C-83A1-F6EECF244321}">
                <p14:modId xmlns:p14="http://schemas.microsoft.com/office/powerpoint/2010/main" val="1433298513"/>
              </p:ext>
            </p:extLst>
          </p:nvPr>
        </p:nvGraphicFramePr>
        <p:xfrm>
          <a:off x="8090452" y="1967949"/>
          <a:ext cx="3836504" cy="389613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87198054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18661" y="286603"/>
            <a:ext cx="11807687" cy="1450757"/>
          </a:xfrm>
        </p:spPr>
        <p:txBody>
          <a:bodyPr>
            <a:normAutofit/>
          </a:bodyPr>
          <a:lstStyle/>
          <a:p>
            <a:r>
              <a:rPr lang="es-ES" dirty="0"/>
              <a:t>Retos y Tendencias Actuales en Arquitecturas de Software</a:t>
            </a:r>
          </a:p>
        </p:txBody>
      </p:sp>
      <p:sp>
        <p:nvSpPr>
          <p:cNvPr id="3" name="Marcador de contenido 2"/>
          <p:cNvSpPr>
            <a:spLocks noGrp="1"/>
          </p:cNvSpPr>
          <p:nvPr>
            <p:ph idx="1"/>
          </p:nvPr>
        </p:nvSpPr>
        <p:spPr>
          <a:xfrm>
            <a:off x="0" y="1777978"/>
            <a:ext cx="11529391" cy="4543309"/>
          </a:xfrm>
        </p:spPr>
        <p:txBody>
          <a:bodyPr>
            <a:noAutofit/>
          </a:bodyPr>
          <a:lstStyle/>
          <a:p>
            <a:pPr>
              <a:buFont typeface="Wingdings" pitchFamily="2" charset="2"/>
              <a:buChar char="Ø"/>
            </a:pPr>
            <a:r>
              <a:rPr lang="es-ES" sz="3600" dirty="0"/>
              <a:t>Desafíos en arquitecturas distribuidas: Latencia, </a:t>
            </a:r>
            <a:r>
              <a:rPr lang="es-ES" sz="3600" dirty="0" smtClean="0"/>
              <a:t>Consistencia.</a:t>
            </a:r>
          </a:p>
          <a:p>
            <a:pPr lvl="2">
              <a:buFont typeface="Wingdings" pitchFamily="2" charset="2"/>
              <a:buChar char="Ø"/>
            </a:pPr>
            <a:r>
              <a:rPr lang="es-ES" sz="2800" dirty="0"/>
              <a:t>Latencia</a:t>
            </a:r>
            <a:r>
              <a:rPr lang="es-ES" sz="2800" dirty="0" smtClean="0"/>
              <a:t>: se </a:t>
            </a:r>
            <a:r>
              <a:rPr lang="es-ES" sz="2800" dirty="0"/>
              <a:t>refiere al tiempo que tarda una solicitud en viajar desde el cliente hasta el servidor y volver. </a:t>
            </a:r>
            <a:endParaRPr lang="es-ES" sz="2800" dirty="0" smtClean="0"/>
          </a:p>
          <a:p>
            <a:pPr lvl="2">
              <a:buFont typeface="Wingdings" pitchFamily="2" charset="2"/>
              <a:buChar char="Ø"/>
            </a:pPr>
            <a:r>
              <a:rPr lang="es-ES" sz="2800" dirty="0"/>
              <a:t> </a:t>
            </a:r>
            <a:r>
              <a:rPr lang="es-ES" sz="2800" dirty="0" smtClean="0"/>
              <a:t>Impacto</a:t>
            </a:r>
          </a:p>
          <a:p>
            <a:pPr lvl="4">
              <a:buFont typeface="Wingdings" pitchFamily="2" charset="2"/>
              <a:buChar char="ü"/>
            </a:pPr>
            <a:r>
              <a:rPr lang="es-ES" sz="2800" dirty="0"/>
              <a:t>Experiencia del </a:t>
            </a:r>
            <a:r>
              <a:rPr lang="es-ES" sz="2800" dirty="0" smtClean="0"/>
              <a:t>Usuario</a:t>
            </a:r>
          </a:p>
          <a:p>
            <a:pPr lvl="4">
              <a:buFont typeface="Wingdings" pitchFamily="2" charset="2"/>
              <a:buChar char="ü"/>
            </a:pPr>
            <a:r>
              <a:rPr lang="es-ES" sz="2800" dirty="0"/>
              <a:t>Rendimiento de la </a:t>
            </a:r>
            <a:r>
              <a:rPr lang="es-ES" sz="2800" dirty="0" smtClean="0"/>
              <a:t>Aplicación</a:t>
            </a:r>
          </a:p>
          <a:p>
            <a:pPr lvl="2">
              <a:buFont typeface="Wingdings" pitchFamily="2" charset="2"/>
              <a:buChar char="Ø"/>
            </a:pPr>
            <a:r>
              <a:rPr lang="es-ES" sz="2800" dirty="0" smtClean="0"/>
              <a:t>Soluciones</a:t>
            </a:r>
          </a:p>
          <a:p>
            <a:pPr lvl="4">
              <a:buFont typeface="Wingdings" pitchFamily="2" charset="2"/>
              <a:buChar char="ü"/>
            </a:pPr>
            <a:r>
              <a:rPr lang="es-ES" sz="2800" dirty="0"/>
              <a:t>Caché </a:t>
            </a:r>
            <a:r>
              <a:rPr lang="es-ES" sz="2800" dirty="0" smtClean="0"/>
              <a:t>Local   , </a:t>
            </a:r>
            <a:r>
              <a:rPr lang="es-ES" sz="2800" dirty="0"/>
              <a:t>Optimización de </a:t>
            </a:r>
            <a:r>
              <a:rPr lang="es-ES" sz="2800" dirty="0" smtClean="0"/>
              <a:t>Red , </a:t>
            </a:r>
            <a:r>
              <a:rPr lang="es-ES" sz="2800" dirty="0"/>
              <a:t>Arquitectura de </a:t>
            </a:r>
            <a:r>
              <a:rPr lang="es-ES" sz="2800" dirty="0" err="1"/>
              <a:t>Microservicios</a:t>
            </a:r>
            <a:endParaRPr lang="es-ES" sz="2800" dirty="0" smtClean="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302758231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18661" y="286603"/>
            <a:ext cx="11807687" cy="1450757"/>
          </a:xfrm>
        </p:spPr>
        <p:txBody>
          <a:bodyPr>
            <a:normAutofit/>
          </a:bodyPr>
          <a:lstStyle/>
          <a:p>
            <a:r>
              <a:rPr lang="es-ES" dirty="0"/>
              <a:t>Retos y Tendencias Actuales en Arquitecturas de Software</a:t>
            </a:r>
          </a:p>
        </p:txBody>
      </p:sp>
      <p:sp>
        <p:nvSpPr>
          <p:cNvPr id="3" name="Marcador de contenido 2"/>
          <p:cNvSpPr>
            <a:spLocks noGrp="1"/>
          </p:cNvSpPr>
          <p:nvPr>
            <p:ph idx="1"/>
          </p:nvPr>
        </p:nvSpPr>
        <p:spPr>
          <a:xfrm>
            <a:off x="0" y="1777978"/>
            <a:ext cx="11529391" cy="4543309"/>
          </a:xfrm>
        </p:spPr>
        <p:txBody>
          <a:bodyPr>
            <a:noAutofit/>
          </a:bodyPr>
          <a:lstStyle/>
          <a:p>
            <a:pPr>
              <a:buFont typeface="Wingdings" pitchFamily="2" charset="2"/>
              <a:buChar char="Ø"/>
            </a:pPr>
            <a:r>
              <a:rPr lang="es-ES" sz="3600" dirty="0"/>
              <a:t>Desafíos en arquitecturas distribuidas: Latencia, </a:t>
            </a:r>
            <a:r>
              <a:rPr lang="es-ES" sz="3600" dirty="0" smtClean="0"/>
              <a:t>Consistencia.</a:t>
            </a:r>
          </a:p>
          <a:p>
            <a:pPr lvl="2">
              <a:buFont typeface="Wingdings" pitchFamily="2" charset="2"/>
              <a:buChar char="Ø"/>
            </a:pPr>
            <a:r>
              <a:rPr lang="es-ES" sz="2800" dirty="0"/>
              <a:t>Consistencia</a:t>
            </a:r>
            <a:r>
              <a:rPr lang="es-ES" sz="2800" dirty="0" smtClean="0"/>
              <a:t>: se </a:t>
            </a:r>
            <a:r>
              <a:rPr lang="es-ES" sz="2800" dirty="0"/>
              <a:t>refiere a la necesidad de que todos los nodos en un sistema distribuido tengan una visión coherente de los datos</a:t>
            </a:r>
            <a:r>
              <a:rPr lang="es-ES" sz="2800" dirty="0" smtClean="0"/>
              <a:t>. </a:t>
            </a:r>
          </a:p>
          <a:p>
            <a:pPr lvl="2">
              <a:buFont typeface="Wingdings" pitchFamily="2" charset="2"/>
              <a:buChar char="Ø"/>
            </a:pPr>
            <a:r>
              <a:rPr lang="es-ES" sz="2800" dirty="0"/>
              <a:t> Desafíos</a:t>
            </a:r>
            <a:endParaRPr lang="es-ES" sz="2800" dirty="0" smtClean="0"/>
          </a:p>
          <a:p>
            <a:pPr lvl="4">
              <a:buFont typeface="Wingdings" pitchFamily="2" charset="2"/>
              <a:buChar char="ü"/>
            </a:pPr>
            <a:r>
              <a:rPr lang="es-ES" sz="2800" dirty="0"/>
              <a:t>Modelos de </a:t>
            </a:r>
            <a:r>
              <a:rPr lang="es-ES" sz="2800" dirty="0" smtClean="0"/>
              <a:t>Consistencia</a:t>
            </a:r>
          </a:p>
          <a:p>
            <a:pPr lvl="4">
              <a:buFont typeface="Wingdings" pitchFamily="2" charset="2"/>
              <a:buChar char="ü"/>
            </a:pPr>
            <a:r>
              <a:rPr lang="es-ES" sz="2800" dirty="0"/>
              <a:t>Particiones de </a:t>
            </a:r>
            <a:r>
              <a:rPr lang="es-ES" sz="2800" dirty="0" smtClean="0"/>
              <a:t>Red</a:t>
            </a:r>
          </a:p>
          <a:p>
            <a:pPr lvl="2">
              <a:buFont typeface="Wingdings" pitchFamily="2" charset="2"/>
              <a:buChar char="Ø"/>
            </a:pPr>
            <a:r>
              <a:rPr lang="es-ES" sz="2800" dirty="0" smtClean="0"/>
              <a:t>Soluciones</a:t>
            </a:r>
          </a:p>
          <a:p>
            <a:pPr lvl="4">
              <a:buFont typeface="Wingdings" pitchFamily="2" charset="2"/>
              <a:buChar char="ü"/>
            </a:pPr>
            <a:r>
              <a:rPr lang="es-ES" sz="2800" dirty="0"/>
              <a:t>Protocolos de Consenso</a:t>
            </a:r>
            <a:r>
              <a:rPr lang="es-ES" sz="2800" dirty="0" smtClean="0"/>
              <a:t>, </a:t>
            </a:r>
            <a:r>
              <a:rPr lang="es-ES" sz="2800" dirty="0"/>
              <a:t>Compensación de Transacciones</a:t>
            </a:r>
            <a:r>
              <a:rPr lang="es-ES" sz="2800" dirty="0" smtClean="0"/>
              <a:t>, </a:t>
            </a:r>
            <a:r>
              <a:rPr lang="es-ES" sz="2800" dirty="0"/>
              <a:t>Tolerancia a </a:t>
            </a:r>
            <a:r>
              <a:rPr lang="es-ES" sz="2800" dirty="0" smtClean="0"/>
              <a:t>Fallos</a:t>
            </a:r>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150577963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18661" y="286603"/>
            <a:ext cx="11807687" cy="1450757"/>
          </a:xfrm>
        </p:spPr>
        <p:txBody>
          <a:bodyPr>
            <a:normAutofit/>
          </a:bodyPr>
          <a:lstStyle/>
          <a:p>
            <a:r>
              <a:rPr lang="es-ES" dirty="0"/>
              <a:t>Retos y Tendencias Actuales en Arquitecturas de Software</a:t>
            </a:r>
          </a:p>
        </p:txBody>
      </p:sp>
      <p:sp>
        <p:nvSpPr>
          <p:cNvPr id="3" name="Marcador de contenido 2"/>
          <p:cNvSpPr>
            <a:spLocks noGrp="1"/>
          </p:cNvSpPr>
          <p:nvPr>
            <p:ph idx="1"/>
          </p:nvPr>
        </p:nvSpPr>
        <p:spPr>
          <a:xfrm>
            <a:off x="0" y="1777978"/>
            <a:ext cx="11529391" cy="4543309"/>
          </a:xfrm>
        </p:spPr>
        <p:txBody>
          <a:bodyPr>
            <a:noAutofit/>
          </a:bodyPr>
          <a:lstStyle/>
          <a:p>
            <a:pPr>
              <a:buFont typeface="Wingdings" pitchFamily="2" charset="2"/>
              <a:buChar char="Ø"/>
            </a:pPr>
            <a:r>
              <a:rPr lang="es-ES" sz="3600" dirty="0"/>
              <a:t>Arquitecturas basadas en </a:t>
            </a:r>
            <a:r>
              <a:rPr lang="es-ES" sz="3600" dirty="0" err="1"/>
              <a:t>Blockchain</a:t>
            </a:r>
            <a:r>
              <a:rPr lang="es-ES" sz="3600" dirty="0"/>
              <a:t>: </a:t>
            </a:r>
            <a:r>
              <a:rPr lang="es-ES" sz="3600" dirty="0" smtClean="0"/>
              <a:t>ofrecen </a:t>
            </a:r>
            <a:r>
              <a:rPr lang="es-ES" sz="3600" dirty="0"/>
              <a:t>un enfoque descentralizado y seguro para el almacenamiento y la transmisión de </a:t>
            </a:r>
            <a:r>
              <a:rPr lang="es-ES" sz="3600" dirty="0" smtClean="0"/>
              <a:t>datos, </a:t>
            </a:r>
            <a:r>
              <a:rPr lang="es-ES" sz="3600" dirty="0"/>
              <a:t>un enfoque innovador para resolver problemas relacionados con la confianza, la transparencia y la seguridad en diversas </a:t>
            </a:r>
            <a:r>
              <a:rPr lang="es-ES" sz="3600" dirty="0" smtClean="0"/>
              <a:t>aplicaciones.</a:t>
            </a:r>
          </a:p>
          <a:p>
            <a:pPr lvl="2">
              <a:buFont typeface="Wingdings" pitchFamily="2" charset="2"/>
              <a:buChar char="Ø"/>
            </a:pPr>
            <a:r>
              <a:rPr lang="es-ES" sz="3000" dirty="0"/>
              <a:t>Aplicaciones : </a:t>
            </a:r>
            <a:r>
              <a:rPr lang="es-ES" sz="3000" dirty="0" err="1" smtClean="0"/>
              <a:t>Criptomonedas</a:t>
            </a:r>
            <a:r>
              <a:rPr lang="es-ES" sz="3000" dirty="0"/>
              <a:t>, Cadenas de Suministro, Identidad Digital, Contratos Inteligentes, Votación Electrónica</a:t>
            </a:r>
            <a:endParaRPr lang="es-ES" sz="3000" dirty="0" smtClean="0"/>
          </a:p>
          <a:p>
            <a:pPr lvl="2">
              <a:buFont typeface="Wingdings" pitchFamily="2" charset="2"/>
              <a:buChar char="Ø"/>
            </a:pPr>
            <a:endParaRPr lang="es-ES" sz="30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274201841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18661" y="286603"/>
            <a:ext cx="11807687" cy="1450757"/>
          </a:xfrm>
        </p:spPr>
        <p:txBody>
          <a:bodyPr>
            <a:normAutofit/>
          </a:bodyPr>
          <a:lstStyle/>
          <a:p>
            <a:r>
              <a:rPr lang="es-ES" dirty="0"/>
              <a:t>Retos y Tendencias Actuales en Arquitecturas de Software</a:t>
            </a:r>
          </a:p>
        </p:txBody>
      </p:sp>
      <p:sp>
        <p:nvSpPr>
          <p:cNvPr id="3" name="Marcador de contenido 2"/>
          <p:cNvSpPr>
            <a:spLocks noGrp="1"/>
          </p:cNvSpPr>
          <p:nvPr>
            <p:ph idx="1"/>
          </p:nvPr>
        </p:nvSpPr>
        <p:spPr>
          <a:xfrm>
            <a:off x="0" y="1777978"/>
            <a:ext cx="11529391" cy="4543309"/>
          </a:xfrm>
        </p:spPr>
        <p:txBody>
          <a:bodyPr>
            <a:noAutofit/>
          </a:bodyPr>
          <a:lstStyle/>
          <a:p>
            <a:pPr>
              <a:buFont typeface="Wingdings" pitchFamily="2" charset="2"/>
              <a:buChar char="Ø"/>
            </a:pPr>
            <a:r>
              <a:rPr lang="es-ES" sz="3600" dirty="0"/>
              <a:t>Arquitecturas </a:t>
            </a:r>
            <a:r>
              <a:rPr lang="es-ES" sz="3600" dirty="0" err="1"/>
              <a:t>IoT</a:t>
            </a:r>
            <a:r>
              <a:rPr lang="es-ES" sz="3600" dirty="0"/>
              <a:t>: La Internet de las Cosas (</a:t>
            </a:r>
            <a:r>
              <a:rPr lang="es-ES" sz="3600" dirty="0" err="1"/>
              <a:t>IoT</a:t>
            </a:r>
            <a:r>
              <a:rPr lang="es-ES" sz="3600" dirty="0"/>
              <a:t>, por sus siglas en inglés) se refiere a la interconexión de dispositivos a través de Internet, permitiendo la recopilación y el intercambio de datos. La arquitectura </a:t>
            </a:r>
            <a:r>
              <a:rPr lang="es-ES" sz="3600" dirty="0" err="1"/>
              <a:t>IoT</a:t>
            </a:r>
            <a:r>
              <a:rPr lang="es-ES" sz="3600" dirty="0"/>
              <a:t> es fundamental para el diseño y la implementación de dispositivos inteligentes, ya que define cómo se comunican, procesan y gestionan los datos. </a:t>
            </a:r>
          </a:p>
          <a:p>
            <a:pPr lvl="2">
              <a:buFont typeface="Wingdings" pitchFamily="2" charset="2"/>
              <a:buChar char="Ø"/>
            </a:pPr>
            <a:r>
              <a:rPr lang="es-ES" sz="3000" dirty="0"/>
              <a:t>. Aplicaciones : Hogar Inteligente, Ciudades Inteligentes, Salud Conectada</a:t>
            </a:r>
          </a:p>
        </p:txBody>
      </p:sp>
      <p:sp>
        <p:nvSpPr>
          <p:cNvPr id="5" name="Marcador de pie de página 2"/>
          <p:cNvSpPr>
            <a:spLocks noGrp="1"/>
          </p:cNvSpPr>
          <p:nvPr>
            <p:ph type="ftr" sz="quarter" idx="11"/>
          </p:nvPr>
        </p:nvSpPr>
        <p:spPr>
          <a:xfrm>
            <a:off x="3686185" y="6459785"/>
            <a:ext cx="4822804" cy="365125"/>
          </a:xfrm>
        </p:spPr>
        <p:txBody>
          <a:bodyPr/>
          <a:lstStyle/>
          <a:p>
            <a:r>
              <a:rPr lang="es-ES" dirty="0" smtClean="0"/>
              <a:t>Arquitectura de Software</a:t>
            </a:r>
            <a:endParaRPr lang="es-ES" dirty="0"/>
          </a:p>
        </p:txBody>
      </p:sp>
    </p:spTree>
    <p:extLst>
      <p:ext uri="{BB962C8B-B14F-4D97-AF65-F5344CB8AC3E}">
        <p14:creationId xmlns:p14="http://schemas.microsoft.com/office/powerpoint/2010/main" val="274201841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idx="1"/>
          </p:nvPr>
        </p:nvSpPr>
        <p:spPr>
          <a:xfrm>
            <a:off x="377688" y="2077798"/>
            <a:ext cx="11648660" cy="4421187"/>
          </a:xfrm>
        </p:spPr>
        <p:txBody>
          <a:bodyPr>
            <a:normAutofit/>
          </a:bodyPr>
          <a:lstStyle/>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a:t>La arquitectura de software se puede definir como la estructura general de un sistema, que incluye sus componentes, sus relaciones y las reglas que rigen su interacción. Proporciona una visión de alto nivel del sistema y actúa como un plano para su desarrollo</a:t>
            </a:r>
            <a:r>
              <a:rPr lang="es-ES" sz="2800" dirty="0" smtClean="0"/>
              <a:t>.</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a:t>Estilos Arquitectónicos </a:t>
            </a:r>
            <a:r>
              <a:rPr lang="es-ES" sz="2800" dirty="0" smtClean="0"/>
              <a:t>Comunes: Tradicional  (N-</a:t>
            </a:r>
            <a:r>
              <a:rPr lang="es-ES" sz="2800" dirty="0" err="1" smtClean="0"/>
              <a:t>layer</a:t>
            </a:r>
            <a:r>
              <a:rPr lang="es-ES" sz="2800" dirty="0" smtClean="0"/>
              <a:t>, Cliente Servidor)y Modernos-</a:t>
            </a:r>
            <a:r>
              <a:rPr lang="es-ES" sz="2800" dirty="0" err="1" smtClean="0"/>
              <a:t>Dsitribuidos</a:t>
            </a:r>
            <a:r>
              <a:rPr lang="es-ES" sz="2800" dirty="0" smtClean="0"/>
              <a:t> (SOA, </a:t>
            </a:r>
            <a:r>
              <a:rPr lang="es-ES" sz="2800" dirty="0" err="1" smtClean="0"/>
              <a:t>Microservicios</a:t>
            </a:r>
            <a:r>
              <a:rPr lang="es-ES" sz="2800" dirty="0" smtClean="0"/>
              <a:t>)</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a:t>Principios de </a:t>
            </a:r>
            <a:r>
              <a:rPr lang="es-ES" sz="2800" dirty="0" smtClean="0"/>
              <a:t>Diseño: Modularidad</a:t>
            </a:r>
            <a:r>
              <a:rPr lang="es-ES" sz="2800" dirty="0"/>
              <a:t>, Abstracción, Reutilización y </a:t>
            </a:r>
            <a:r>
              <a:rPr lang="es-ES" sz="2800" dirty="0" smtClean="0"/>
              <a:t>Escalabilidad</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err="1" smtClean="0"/>
              <a:t>Desafios</a:t>
            </a:r>
            <a:r>
              <a:rPr lang="es-ES" sz="2800" dirty="0"/>
              <a:t>: Evolución del Software, Interoperabilidad y Seguridad</a:t>
            </a:r>
            <a:endParaRPr lang="es-ES" sz="2800" dirty="0" smtClean="0"/>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800" dirty="0" smtClean="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800" dirty="0" smtClean="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800" dirty="0">
              <a:cs typeface="Times New Roman" panose="02020603050405020304" pitchFamily="18" charset="0"/>
            </a:endParaRPr>
          </a:p>
          <a:p>
            <a:pPr marL="552450" indent="-552450">
              <a:buNone/>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600" dirty="0">
              <a:cs typeface="Times New Roman" panose="02020603050405020304" pitchFamily="18" charset="0"/>
            </a:endParaRPr>
          </a:p>
        </p:txBody>
      </p:sp>
      <p:sp>
        <p:nvSpPr>
          <p:cNvPr id="2" name="Título 1"/>
          <p:cNvSpPr>
            <a:spLocks noGrp="1"/>
          </p:cNvSpPr>
          <p:nvPr>
            <p:ph type="title"/>
          </p:nvPr>
        </p:nvSpPr>
        <p:spPr/>
        <p:txBody>
          <a:bodyPr/>
          <a:lstStyle/>
          <a:p>
            <a:r>
              <a:rPr lang="es-ES" dirty="0" smtClean="0"/>
              <a:t>Resumen:</a:t>
            </a:r>
            <a:endParaRPr lang="es-ES" dirty="0"/>
          </a:p>
        </p:txBody>
      </p:sp>
      <p:sp>
        <p:nvSpPr>
          <p:cNvPr id="3" name="Marcador de pie de página 2"/>
          <p:cNvSpPr>
            <a:spLocks noGrp="1"/>
          </p:cNvSpPr>
          <p:nvPr>
            <p:ph type="ftr" sz="quarter" idx="11"/>
          </p:nvPr>
        </p:nvSpPr>
        <p:spPr/>
        <p:txBody>
          <a:bodyPr/>
          <a:lstStyle/>
          <a:p>
            <a:r>
              <a:rPr lang="es-ES" dirty="0" smtClean="0"/>
              <a:t>Arquitectura de Software</a:t>
            </a:r>
            <a:endParaRPr lang="es-ES" dirty="0"/>
          </a:p>
        </p:txBody>
      </p:sp>
    </p:spTree>
    <p:extLst>
      <p:ext uri="{BB962C8B-B14F-4D97-AF65-F5344CB8AC3E}">
        <p14:creationId xmlns:p14="http://schemas.microsoft.com/office/powerpoint/2010/main" val="713464305"/>
      </p:ext>
    </p:extLst>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Retrospección">
  <a:themeElements>
    <a:clrScheme name="Retrospección">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ción">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xmlns="" name="Retrospect" id="{5F128B03-DCCA-4EEB-AB3B-CF2899314A46}" vid="{9CC26709-368C-4D72-9060-94E5B3FF3CD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13459</TotalTime>
  <Words>9809</Words>
  <Application>Microsoft Office PowerPoint</Application>
  <PresentationFormat>Personalizado</PresentationFormat>
  <Paragraphs>944</Paragraphs>
  <Slides>61</Slides>
  <Notes>61</Notes>
  <HiddenSlides>0</HiddenSlides>
  <MMClips>0</MMClips>
  <ScaleCrop>false</ScaleCrop>
  <HeadingPairs>
    <vt:vector size="4" baseType="variant">
      <vt:variant>
        <vt:lpstr>Tema</vt:lpstr>
      </vt:variant>
      <vt:variant>
        <vt:i4>1</vt:i4>
      </vt:variant>
      <vt:variant>
        <vt:lpstr>Títulos de diapositiva</vt:lpstr>
      </vt:variant>
      <vt:variant>
        <vt:i4>61</vt:i4>
      </vt:variant>
    </vt:vector>
  </HeadingPairs>
  <TitlesOfParts>
    <vt:vector size="62" baseType="lpstr">
      <vt:lpstr>Retrospección</vt:lpstr>
      <vt:lpstr>Arquitecturas de Software (A.S)</vt:lpstr>
      <vt:lpstr>Sumario:</vt:lpstr>
      <vt:lpstr>¿Qué podemos entender por Arquitectura de Software ? </vt:lpstr>
      <vt:lpstr>¿Qué podemos entender por Arquitectura de Software ? </vt:lpstr>
      <vt:lpstr>Entonces…¿Qué podría ser una definición formal de arquitectura ? </vt:lpstr>
      <vt:lpstr>¿Qué es un componente ? </vt:lpstr>
      <vt:lpstr>¿Qué es un componente ? </vt:lpstr>
      <vt:lpstr>¿Cuáles son los objetivos de las Arquitecturas de software (A.S)? </vt:lpstr>
      <vt:lpstr>¿Cómo medir la calidad de la A.S?</vt:lpstr>
      <vt:lpstr>¿Cómo medir la calidad de la arquitectura?</vt:lpstr>
      <vt:lpstr>¿Cómo medir la calidad de la arquitectura de software?</vt:lpstr>
      <vt:lpstr>¿Cuáles son los principios básicos ?</vt:lpstr>
      <vt:lpstr>¿Cuáles son las diferencias entre A.S y Diseño?</vt:lpstr>
      <vt:lpstr>¿Cuáles son las diferencias entre A.S y Diseño?</vt:lpstr>
      <vt:lpstr>¿Cuáles son los factores que inciden en la toma de decisión de una A.S?</vt:lpstr>
      <vt:lpstr>¿Cuáles son los estilos de las A.S?</vt:lpstr>
      <vt:lpstr>Arquitecturas Tradicionales: Monolítica</vt:lpstr>
      <vt:lpstr>Arquitecturas Tradicionales: Monolítica Ventajas                      Desventajas</vt:lpstr>
      <vt:lpstr>Arquitecturas Tradicionales: N-Capas</vt:lpstr>
      <vt:lpstr>Arquitecturas Tradicionales: N-Capas Ventajas                    Desventajas</vt:lpstr>
      <vt:lpstr>Arquitecturas Tradicionales: Cliente-Servidor </vt:lpstr>
      <vt:lpstr>Arquitecturas Tradicionales: Cliente-Servidor Ventajas</vt:lpstr>
      <vt:lpstr>Arquitecturas Tradicionales: Cliente-Servidor Desventajas</vt:lpstr>
      <vt:lpstr>Arquitecturas Tradicionales: Peer 2 Peer</vt:lpstr>
      <vt:lpstr>Arquitecturas Tradicionales: Peer 2 Peer</vt:lpstr>
      <vt:lpstr>Arquitecturas Tradicionales: Peer 2 Peer Ventajas</vt:lpstr>
      <vt:lpstr>Arquitecturas Tradicionales: Peer 2 Peer Ventajas</vt:lpstr>
      <vt:lpstr>Arquitecturas Tradicionales: Peer 2 Peer Desventajas</vt:lpstr>
      <vt:lpstr>Arquitecturas Tradicionales: Peer 2 Peer Desventajas</vt:lpstr>
      <vt:lpstr>Arquitecturas Tradicionales: Peer 2 Peer Desventajas</vt:lpstr>
      <vt:lpstr>Arquitecturas Tradicionales: Pipe &amp; Filter</vt:lpstr>
      <vt:lpstr>Arquitecturas Tradicionales: Pipe &amp; Filter Ventajas</vt:lpstr>
      <vt:lpstr>Arquitecturas Tradicionales: Pipe &amp; Filter Ventajas</vt:lpstr>
      <vt:lpstr>Arquitecturas Tradicionales: Pipe &amp; Filter Desventajas</vt:lpstr>
      <vt:lpstr>Arquitecturas Tradicionales: Pipe &amp; Filter Desventajas</vt:lpstr>
      <vt:lpstr>Arquitecturas Tradicionales: BlackBoard</vt:lpstr>
      <vt:lpstr>Arquitecturas Tradicionales: BlackBoard</vt:lpstr>
      <vt:lpstr>Arquitecturas Tradicionales: BlackBoard Ventajas        y               Desventajas</vt:lpstr>
      <vt:lpstr>Arquitecturas Tradicionales: BlackBoard Caso Estudio Servicio 311</vt:lpstr>
      <vt:lpstr>Arquitecturas Tradicionales: BlackBoard Caso Estudio Servicio 311</vt:lpstr>
      <vt:lpstr>Arquitecturas Tradicionales: BlackBoard Caso Estudio Servicio 311</vt:lpstr>
      <vt:lpstr>Arquitecturas Tradicionales: BlackBoard Caso Estudio Servicio 311</vt:lpstr>
      <vt:lpstr>Arquitecturas Tradicionales: BlackBoard Caso Estudio Servicio 311</vt:lpstr>
      <vt:lpstr>Arquitecturas Tradicionales: BlackBoard Caso Estudio Servicio 311</vt:lpstr>
      <vt:lpstr>Arquitecturas Tradicionales: BlackBoard Caso Estudio Servicio 311</vt:lpstr>
      <vt:lpstr>Arquitecturas Tradicionales: BlackBoard Caso Estudio Servicio 311</vt:lpstr>
      <vt:lpstr>Arquitecturas Tradicionales: BlackBoard Caso Estudio Servicio 311</vt:lpstr>
      <vt:lpstr>Arquitecturas Modernas y Distribuidas</vt:lpstr>
      <vt:lpstr>Arquitecturas Modernas y Distribuidas: SOA</vt:lpstr>
      <vt:lpstr>Arquitecturas Modernas y Distribuidas: SOA</vt:lpstr>
      <vt:lpstr>Arquitecturas Modernas y Distribuidas: SOA</vt:lpstr>
      <vt:lpstr>Arquitecturas Modernas y Distribuidas: SOA Ventajas               y                Desventajas</vt:lpstr>
      <vt:lpstr>Arquitecturas Modernas y Distribuidas: SOA </vt:lpstr>
      <vt:lpstr>Arquitecturas Modernas y Distribuidas: Arquitectura Compuesta (Composite Architecture)</vt:lpstr>
      <vt:lpstr>Arquitecturas Modernas y Distribuidas: Arquitectura Compuesta (Composite Architecture)</vt:lpstr>
      <vt:lpstr>Arquitecturas Modernas y Distribuidas: Arquitectura Compuesta (Composite Architecture)</vt:lpstr>
      <vt:lpstr>Retos y Tendencias Actuales en Arquitecturas de Software</vt:lpstr>
      <vt:lpstr>Retos y Tendencias Actuales en Arquitecturas de Software</vt:lpstr>
      <vt:lpstr>Retos y Tendencias Actuales en Arquitecturas de Software</vt:lpstr>
      <vt:lpstr>Retos y Tendencias Actuales en Arquitecturas de Software</vt:lpstr>
      <vt:lpstr>Resumen:</vt:lpstr>
    </vt:vector>
  </TitlesOfParts>
  <Company>Universidad de Málaga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Gestión de Proyectos Software</dc:title>
  <dc:creator>Aracelys</dc:creator>
  <cp:lastModifiedBy>Admin</cp:lastModifiedBy>
  <cp:revision>392</cp:revision>
  <dcterms:created xsi:type="dcterms:W3CDTF">2016-09-19T15:25:44Z</dcterms:created>
  <dcterms:modified xsi:type="dcterms:W3CDTF">2025-09-22T15:53:12Z</dcterms:modified>
</cp:coreProperties>
</file>