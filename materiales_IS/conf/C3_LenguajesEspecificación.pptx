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70" r:id="rId1"/>
  </p:sldMasterIdLst>
  <p:notesMasterIdLst>
    <p:notesMasterId r:id="rId69"/>
  </p:notesMasterIdLst>
  <p:handoutMasterIdLst>
    <p:handoutMasterId r:id="rId70"/>
  </p:handoutMasterIdLst>
  <p:sldIdLst>
    <p:sldId id="256" r:id="rId2"/>
    <p:sldId id="765" r:id="rId3"/>
    <p:sldId id="766" r:id="rId4"/>
    <p:sldId id="371" r:id="rId5"/>
    <p:sldId id="369" r:id="rId6"/>
    <p:sldId id="372" r:id="rId7"/>
    <p:sldId id="320" r:id="rId8"/>
    <p:sldId id="768" r:id="rId9"/>
    <p:sldId id="389" r:id="rId10"/>
    <p:sldId id="392" r:id="rId11"/>
    <p:sldId id="767" r:id="rId12"/>
    <p:sldId id="764" r:id="rId13"/>
    <p:sldId id="391" r:id="rId14"/>
    <p:sldId id="281" r:id="rId15"/>
    <p:sldId id="321" r:id="rId16"/>
    <p:sldId id="375" r:id="rId17"/>
    <p:sldId id="769" r:id="rId18"/>
    <p:sldId id="770" r:id="rId19"/>
    <p:sldId id="771" r:id="rId20"/>
    <p:sldId id="378" r:id="rId21"/>
    <p:sldId id="380" r:id="rId22"/>
    <p:sldId id="384" r:id="rId23"/>
    <p:sldId id="385" r:id="rId24"/>
    <p:sldId id="386" r:id="rId25"/>
    <p:sldId id="388" r:id="rId26"/>
    <p:sldId id="387" r:id="rId27"/>
    <p:sldId id="775" r:id="rId28"/>
    <p:sldId id="776" r:id="rId29"/>
    <p:sldId id="777" r:id="rId30"/>
    <p:sldId id="324" r:id="rId31"/>
    <p:sldId id="331" r:id="rId32"/>
    <p:sldId id="325" r:id="rId33"/>
    <p:sldId id="332" r:id="rId34"/>
    <p:sldId id="772" r:id="rId35"/>
    <p:sldId id="342" r:id="rId36"/>
    <p:sldId id="344" r:id="rId37"/>
    <p:sldId id="345" r:id="rId38"/>
    <p:sldId id="346" r:id="rId39"/>
    <p:sldId id="347" r:id="rId40"/>
    <p:sldId id="348" r:id="rId41"/>
    <p:sldId id="349" r:id="rId42"/>
    <p:sldId id="350" r:id="rId43"/>
    <p:sldId id="351" r:id="rId44"/>
    <p:sldId id="352" r:id="rId45"/>
    <p:sldId id="353" r:id="rId46"/>
    <p:sldId id="333" r:id="rId47"/>
    <p:sldId id="334" r:id="rId48"/>
    <p:sldId id="335" r:id="rId49"/>
    <p:sldId id="336" r:id="rId50"/>
    <p:sldId id="337" r:id="rId51"/>
    <p:sldId id="339" r:id="rId52"/>
    <p:sldId id="340" r:id="rId53"/>
    <p:sldId id="341" r:id="rId54"/>
    <p:sldId id="354" r:id="rId55"/>
    <p:sldId id="355" r:id="rId56"/>
    <p:sldId id="358" r:id="rId57"/>
    <p:sldId id="360" r:id="rId58"/>
    <p:sldId id="361" r:id="rId59"/>
    <p:sldId id="362" r:id="rId60"/>
    <p:sldId id="363" r:id="rId61"/>
    <p:sldId id="364" r:id="rId62"/>
    <p:sldId id="366" r:id="rId63"/>
    <p:sldId id="368" r:id="rId64"/>
    <p:sldId id="773" r:id="rId65"/>
    <p:sldId id="774" r:id="rId66"/>
    <p:sldId id="778" r:id="rId67"/>
    <p:sldId id="779" r:id="rId6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73198" autoAdjust="0"/>
  </p:normalViewPr>
  <p:slideViewPr>
    <p:cSldViewPr snapToGrid="0">
      <p:cViewPr varScale="1">
        <p:scale>
          <a:sx n="62" d="100"/>
          <a:sy n="62" d="100"/>
        </p:scale>
        <p:origin x="1618" y="58"/>
      </p:cViewPr>
      <p:guideLst>
        <p:guide orient="horz" pos="2160"/>
        <p:guide pos="3840"/>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E54A35-C587-4D9E-88EB-28625A5AAE59}" type="datetimeFigureOut">
              <a:rPr lang="es-ES" smtClean="0"/>
              <a:t>13/09/2025</a:t>
            </a:fld>
            <a:endParaRPr lang="es-ES"/>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0FB20A4-F458-406D-8DAC-3B8EE176367F}" type="slidenum">
              <a:rPr lang="es-ES" smtClean="0"/>
              <a:t>‹Nº›</a:t>
            </a:fld>
            <a:endParaRPr lang="es-ES"/>
          </a:p>
        </p:txBody>
      </p:sp>
    </p:spTree>
    <p:extLst>
      <p:ext uri="{BB962C8B-B14F-4D97-AF65-F5344CB8AC3E}">
        <p14:creationId xmlns:p14="http://schemas.microsoft.com/office/powerpoint/2010/main" val="282072254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B2E9DD-9C30-4075-A3B5-08E83A83D8F0}" type="datetimeFigureOut">
              <a:rPr lang="es-ES" smtClean="0"/>
              <a:t>13/09/2025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D236AF-7B77-41A3-9722-60AF9BD7B607}" type="slidenum">
              <a:rPr lang="es-ES" smtClean="0"/>
              <a:t>‹Nº›</a:t>
            </a:fld>
            <a:endParaRPr lang="es-ES"/>
          </a:p>
        </p:txBody>
      </p:sp>
    </p:spTree>
    <p:extLst>
      <p:ext uri="{BB962C8B-B14F-4D97-AF65-F5344CB8AC3E}">
        <p14:creationId xmlns:p14="http://schemas.microsoft.com/office/powerpoint/2010/main" val="265285922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3" Type="http://schemas.openxmlformats.org/officeDocument/2006/relationships/hyperlink" Target="https://es.wikipedia.org/wiki/IBM" TargetMode="External"/><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23CD581C-6390-42B7-8656-B03E040C1AE8}" type="slidenum">
              <a:rPr lang="es-ES_tradnl" sz="1200"/>
              <a:pPr/>
              <a:t>1</a:t>
            </a:fld>
            <a:endParaRPr lang="es-ES_tradnl" sz="120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p:spPr>
        <p:txBody>
          <a:bodyPr/>
          <a:lstStyle/>
          <a:p>
            <a:r>
              <a:rPr lang="es-ES" sz="1200" kern="1200" dirty="0">
                <a:solidFill>
                  <a:schemeClr val="tx1"/>
                </a:solidFill>
                <a:effectLst/>
                <a:latin typeface="Times New Roman" pitchFamily="18" charset="0"/>
                <a:ea typeface="+mn-ea"/>
                <a:cs typeface="+mn-cs"/>
              </a:rPr>
              <a:t>Recordatorio sobre Especificación de requerimientos.</a:t>
            </a:r>
          </a:p>
          <a:p>
            <a:r>
              <a:rPr lang="es-ES" sz="1200" kern="1200" dirty="0">
                <a:solidFill>
                  <a:schemeClr val="tx1"/>
                </a:solidFill>
                <a:effectLst/>
                <a:latin typeface="Times New Roman" pitchFamily="18" charset="0"/>
                <a:ea typeface="+mn-ea"/>
                <a:cs typeface="+mn-cs"/>
              </a:rPr>
              <a:t>¿Qué podemos entender por lenguajes de especificación ¿ cuáles son sus características, utilidad</a:t>
            </a:r>
            <a:r>
              <a:rPr lang="es-419" sz="1200" kern="1200" dirty="0">
                <a:solidFill>
                  <a:schemeClr val="tx1"/>
                </a:solidFill>
                <a:effectLst/>
                <a:latin typeface="Times New Roman" pitchFamily="18" charset="0"/>
                <a:ea typeface="+mn-ea"/>
                <a:cs typeface="+mn-cs"/>
              </a:rPr>
              <a:t>?</a:t>
            </a:r>
            <a:r>
              <a:rPr lang="es-ES" sz="1200" kern="1200" dirty="0">
                <a:solidFill>
                  <a:schemeClr val="tx1"/>
                </a:solidFill>
                <a:effectLst/>
                <a:latin typeface="Times New Roman" pitchFamily="18" charset="0"/>
                <a:ea typeface="+mn-ea"/>
                <a:cs typeface="+mn-cs"/>
              </a:rPr>
              <a:t> ¿ cómo se clasifican? ¿Cuáles son sus principales exponentes y en qué consisten? Son algunas de las interrogantes que contestaremos en esta conferencia</a:t>
            </a:r>
          </a:p>
          <a:p>
            <a:endParaRPr lang="es-ES_tradnl"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1" name="Rectangle 1"/>
          <p:cNvSpPr>
            <a:spLocks noGrp="1" noRot="1" noChangeAspect="1" noChangeArrowheads="1" noTextEdit="1"/>
          </p:cNvSpPr>
          <p:nvPr>
            <p:ph type="sldImg"/>
          </p:nvPr>
        </p:nvSpPr>
        <p:spPr>
          <a:xfrm>
            <a:off x="381000" y="685800"/>
            <a:ext cx="6096000" cy="3429000"/>
          </a:xfrm>
          <a:ln/>
        </p:spPr>
      </p:sp>
      <p:sp>
        <p:nvSpPr>
          <p:cNvPr id="109572" name="Text Box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cs typeface="Arial" panose="020B0604020202020204" pitchFamily="34" charset="0"/>
            </a:endParaRPr>
          </a:p>
        </p:txBody>
      </p:sp>
    </p:spTree>
    <p:extLst>
      <p:ext uri="{BB962C8B-B14F-4D97-AF65-F5344CB8AC3E}">
        <p14:creationId xmlns:p14="http://schemas.microsoft.com/office/powerpoint/2010/main" val="979760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0E44E-2C7A-8318-94FA-EC80491EFAE9}"/>
            </a:ext>
          </a:extLst>
        </p:cNvPr>
        <p:cNvGrpSpPr/>
        <p:nvPr/>
      </p:nvGrpSpPr>
      <p:grpSpPr>
        <a:xfrm>
          <a:off x="0" y="0"/>
          <a:ext cx="0" cy="0"/>
          <a:chOff x="0" y="0"/>
          <a:chExt cx="0" cy="0"/>
        </a:xfrm>
      </p:grpSpPr>
      <p:sp>
        <p:nvSpPr>
          <p:cNvPr id="2" name="1 Marcador de imagen de diapositiva">
            <a:extLst>
              <a:ext uri="{FF2B5EF4-FFF2-40B4-BE49-F238E27FC236}">
                <a16:creationId xmlns:a16="http://schemas.microsoft.com/office/drawing/2014/main" id="{28153D41-B08A-48A0-E91D-7717DCEF65A1}"/>
              </a:ext>
            </a:extLst>
          </p:cNvPr>
          <p:cNvSpPr>
            <a:spLocks noGrp="1" noRot="1" noChangeAspect="1"/>
          </p:cNvSpPr>
          <p:nvPr>
            <p:ph type="sldImg"/>
          </p:nvPr>
        </p:nvSpPr>
        <p:spPr/>
      </p:sp>
      <p:sp>
        <p:nvSpPr>
          <p:cNvPr id="3" name="2 Marcador de notas">
            <a:extLst>
              <a:ext uri="{FF2B5EF4-FFF2-40B4-BE49-F238E27FC236}">
                <a16:creationId xmlns:a16="http://schemas.microsoft.com/office/drawing/2014/main" id="{62739083-E755-4C2E-A424-F90E889CF8F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Times New Roman" pitchFamily="18" charset="0"/>
                <a:ea typeface="+mn-ea"/>
                <a:cs typeface="+mn-cs"/>
              </a:rPr>
              <a:t>Podemos ampliar diciendo que los lenguajes de especificación de requerimiento son un lenguaje formal o semi informal  cuya función es construir modelos de los sistemas que se desea elaborar. Ellos  no se encargan de implementar el código como los lenguajes de programación  sino de especificar, conceptualizar o incluso validar. a veces puede ser legible por un programa de computadora para asistir en el proceso de validación  </a:t>
            </a:r>
          </a:p>
          <a:p>
            <a:endParaRPr lang="es-ES" dirty="0"/>
          </a:p>
        </p:txBody>
      </p:sp>
      <p:sp>
        <p:nvSpPr>
          <p:cNvPr id="4" name="3 Marcador de número de diapositiva">
            <a:extLst>
              <a:ext uri="{FF2B5EF4-FFF2-40B4-BE49-F238E27FC236}">
                <a16:creationId xmlns:a16="http://schemas.microsoft.com/office/drawing/2014/main" id="{597EA32C-62D6-EDD4-0CC1-0F532EBB8B98}"/>
              </a:ext>
            </a:extLst>
          </p:cNvPr>
          <p:cNvSpPr>
            <a:spLocks noGrp="1"/>
          </p:cNvSpPr>
          <p:nvPr>
            <p:ph type="sldNum" sz="quarter" idx="10"/>
          </p:nvPr>
        </p:nvSpPr>
        <p:spPr/>
        <p:txBody>
          <a:bodyPr/>
          <a:lstStyle/>
          <a:p>
            <a:pPr>
              <a:defRPr/>
            </a:pPr>
            <a:fld id="{BC43A00C-7CDD-4C40-ACA5-554F5873B9B4}" type="slidenum">
              <a:rPr lang="es-ES_tradnl" smtClean="0"/>
              <a:pPr>
                <a:defRPr/>
              </a:pPr>
              <a:t>3</a:t>
            </a:fld>
            <a:endParaRPr lang="es-ES_tradnl"/>
          </a:p>
        </p:txBody>
      </p:sp>
    </p:spTree>
    <p:extLst>
      <p:ext uri="{BB962C8B-B14F-4D97-AF65-F5344CB8AC3E}">
        <p14:creationId xmlns:p14="http://schemas.microsoft.com/office/powerpoint/2010/main" val="16530015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Características de los Lenguajes de Especificación de Requerimientos:</a:t>
            </a:r>
          </a:p>
          <a:p>
            <a:endParaRPr lang="es-ES" sz="1200" kern="1200" dirty="0">
              <a:solidFill>
                <a:schemeClr val="tx1"/>
              </a:solidFill>
              <a:effectLst/>
              <a:latin typeface="Times New Roman" pitchFamily="18" charset="0"/>
              <a:ea typeface="+mn-ea"/>
              <a:cs typeface="+mn-cs"/>
            </a:endParaRPr>
          </a:p>
          <a:p>
            <a:r>
              <a:rPr lang="es-ES" sz="1200" kern="1200" dirty="0">
                <a:solidFill>
                  <a:schemeClr val="tx1"/>
                </a:solidFill>
                <a:effectLst/>
                <a:latin typeface="Times New Roman" pitchFamily="18" charset="0"/>
                <a:ea typeface="+mn-ea"/>
                <a:cs typeface="+mn-cs"/>
              </a:rPr>
              <a:t>1. Precisión: Permiten una representación exacta de los requerimientos, reduciendo la ambigüedad que a menudo se encuentra en el lenguaje natural.</a:t>
            </a:r>
          </a:p>
          <a:p>
            <a:r>
              <a:rPr lang="es-ES" sz="1200" kern="1200" dirty="0">
                <a:solidFill>
                  <a:schemeClr val="tx1"/>
                </a:solidFill>
                <a:effectLst/>
                <a:latin typeface="Times New Roman" pitchFamily="18" charset="0"/>
                <a:ea typeface="+mn-ea"/>
                <a:cs typeface="+mn-cs"/>
              </a:rPr>
              <a:t>2. Claridad: Ayudan a que todos los </a:t>
            </a:r>
            <a:r>
              <a:rPr lang="es-ES" sz="1200" kern="1200" dirty="0" err="1">
                <a:solidFill>
                  <a:schemeClr val="tx1"/>
                </a:solidFill>
                <a:effectLst/>
                <a:latin typeface="Times New Roman" pitchFamily="18" charset="0"/>
                <a:ea typeface="+mn-ea"/>
                <a:cs typeface="+mn-cs"/>
              </a:rPr>
              <a:t>stakeholders</a:t>
            </a:r>
            <a:r>
              <a:rPr lang="es-ES" sz="1200" kern="1200" dirty="0">
                <a:solidFill>
                  <a:schemeClr val="tx1"/>
                </a:solidFill>
                <a:effectLst/>
                <a:latin typeface="Times New Roman" pitchFamily="18" charset="0"/>
                <a:ea typeface="+mn-ea"/>
                <a:cs typeface="+mn-cs"/>
              </a:rPr>
              <a:t> (interesados) comprendan los requerimientos de manera uniforme.</a:t>
            </a:r>
          </a:p>
          <a:p>
            <a:r>
              <a:rPr lang="es-ES" sz="1200" kern="1200" dirty="0">
                <a:solidFill>
                  <a:schemeClr val="tx1"/>
                </a:solidFill>
                <a:effectLst/>
                <a:latin typeface="Times New Roman" pitchFamily="18" charset="0"/>
                <a:ea typeface="+mn-ea"/>
                <a:cs typeface="+mn-cs"/>
              </a:rPr>
              <a:t>3. Estructura: Proporcionan una forma organizada de documentar los requerimientos, lo que facilita su análisis y revisión.</a:t>
            </a:r>
          </a:p>
          <a:p>
            <a:r>
              <a:rPr lang="es-ES" sz="1200" kern="1200" dirty="0">
                <a:solidFill>
                  <a:schemeClr val="tx1"/>
                </a:solidFill>
                <a:effectLst/>
                <a:latin typeface="Times New Roman" pitchFamily="18" charset="0"/>
                <a:ea typeface="+mn-ea"/>
                <a:cs typeface="+mn-cs"/>
              </a:rPr>
              <a:t>4. Verificabilidad: Permiten la verificación y validación de los requerimientos, asegurando que el sistema desarrollado cumpla con las expectativas definidas.</a:t>
            </a:r>
          </a:p>
          <a:p>
            <a:r>
              <a:rPr lang="es-ES" sz="1200" kern="1200" dirty="0">
                <a:solidFill>
                  <a:schemeClr val="tx1"/>
                </a:solidFill>
                <a:effectLst/>
                <a:latin typeface="Times New Roman" pitchFamily="18" charset="0"/>
                <a:ea typeface="+mn-ea"/>
                <a:cs typeface="+mn-cs"/>
              </a:rPr>
              <a:t>5. Comunicación: Facilitan la comunicación entre diferentes partes interesadas, como desarrolladores, analistas, clientes y </a:t>
            </a:r>
            <a:r>
              <a:rPr lang="es-ES" sz="1200" kern="1200" dirty="0" err="1">
                <a:solidFill>
                  <a:schemeClr val="tx1"/>
                </a:solidFill>
                <a:effectLst/>
                <a:latin typeface="Times New Roman" pitchFamily="18" charset="0"/>
                <a:ea typeface="+mn-ea"/>
                <a:cs typeface="+mn-cs"/>
              </a:rPr>
              <a:t>testers</a:t>
            </a:r>
            <a:r>
              <a:rPr lang="es-ES" sz="1200" kern="1200" dirty="0">
                <a:solidFill>
                  <a:schemeClr val="tx1"/>
                </a:solidFill>
                <a:effectLst/>
                <a:latin typeface="Times New Roman" pitchFamily="18" charset="0"/>
                <a:ea typeface="+mn-ea"/>
                <a:cs typeface="+mn-cs"/>
              </a:rPr>
              <a:t>.</a:t>
            </a:r>
            <a:endParaRPr lang="es-ES" dirty="0"/>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4</a:t>
            </a:fld>
            <a:endParaRPr lang="es-ES_tradnl"/>
          </a:p>
        </p:txBody>
      </p:sp>
    </p:spTree>
    <p:extLst>
      <p:ext uri="{BB962C8B-B14F-4D97-AF65-F5344CB8AC3E}">
        <p14:creationId xmlns:p14="http://schemas.microsoft.com/office/powerpoint/2010/main" val="4006539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5</a:t>
            </a:fld>
            <a:endParaRPr lang="es-ES_tradnl"/>
          </a:p>
        </p:txBody>
      </p:sp>
    </p:spTree>
    <p:extLst>
      <p:ext uri="{BB962C8B-B14F-4D97-AF65-F5344CB8AC3E}">
        <p14:creationId xmlns:p14="http://schemas.microsoft.com/office/powerpoint/2010/main" val="39055482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1 Marcador de imagen de diapositiva"/>
          <p:cNvSpPr>
            <a:spLocks noGrp="1" noRot="1" noChangeAspect="1" noTextEdit="1"/>
          </p:cNvSpPr>
          <p:nvPr>
            <p:ph type="sldImg"/>
          </p:nvPr>
        </p:nvSpPr>
        <p:spPr>
          <a:ln/>
        </p:spPr>
      </p:sp>
      <p:sp>
        <p:nvSpPr>
          <p:cNvPr id="72707" name="2 Marcador de notas"/>
          <p:cNvSpPr>
            <a:spLocks noGrp="1"/>
          </p:cNvSpPr>
          <p:nvPr>
            <p:ph type="body" idx="1"/>
          </p:nvPr>
        </p:nvSpPr>
        <p:spPr>
          <a:noFill/>
        </p:spPr>
        <p:txBody>
          <a:bodyPr/>
          <a:lstStyle/>
          <a:p>
            <a:r>
              <a:rPr lang="es-ES" b="1" u="sng" dirty="0"/>
              <a:t>Clasificación de los Tipos de Especificaciones</a:t>
            </a:r>
            <a:endParaRPr lang="es-ES" dirty="0"/>
          </a:p>
          <a:p>
            <a:pPr marL="0" marR="0" indent="0" algn="l" defTabSz="914400" rtl="0" eaLnBrk="0" fontAlgn="base" latinLnBrk="0" hangingPunct="0">
              <a:lnSpc>
                <a:spcPct val="100000"/>
              </a:lnSpc>
              <a:spcBef>
                <a:spcPct val="30000"/>
              </a:spcBef>
              <a:spcAft>
                <a:spcPct val="0"/>
              </a:spcAft>
              <a:buClrTx/>
              <a:buSzTx/>
              <a:buFontTx/>
              <a:buNone/>
              <a:tabLst/>
              <a:defRPr/>
            </a:pPr>
            <a:r>
              <a:rPr lang="es-ES" dirty="0"/>
              <a:t>Se pueden clasificar muchos tipos diferentes de especificaciones de acuerdo con 2 criterios ortogonales:</a:t>
            </a:r>
            <a:endParaRPr lang="es-ES" b="1" u="sng" dirty="0"/>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s-ES" b="1" u="sng" dirty="0"/>
              <a:t>Formales o Informales</a:t>
            </a:r>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s-ES" b="1" u="sng" dirty="0"/>
              <a:t>Operacional o Descriptiva</a:t>
            </a:r>
          </a:p>
          <a:p>
            <a:pPr marL="0" marR="0" indent="0" algn="l" defTabSz="914400" rtl="0" eaLnBrk="0" fontAlgn="base" latinLnBrk="0" hangingPunct="0">
              <a:lnSpc>
                <a:spcPct val="100000"/>
              </a:lnSpc>
              <a:spcBef>
                <a:spcPct val="30000"/>
              </a:spcBef>
              <a:spcAft>
                <a:spcPct val="0"/>
              </a:spcAft>
              <a:buClrTx/>
              <a:buSzTx/>
              <a:buFontTx/>
              <a:buNone/>
              <a:tabLst/>
              <a:defRPr/>
            </a:pPr>
            <a:r>
              <a:rPr lang="en-US" b="0" u="none" dirty="0"/>
              <a:t>El </a:t>
            </a:r>
            <a:r>
              <a:rPr lang="en-US" b="0" u="none" dirty="0" err="1"/>
              <a:t>que</a:t>
            </a:r>
            <a:r>
              <a:rPr lang="en-US" b="0" u="none" dirty="0"/>
              <a:t> </a:t>
            </a:r>
            <a:r>
              <a:rPr lang="en-US" b="0" u="none" dirty="0" err="1"/>
              <a:t>sean</a:t>
            </a:r>
            <a:r>
              <a:rPr lang="en-US" b="0" u="none" dirty="0"/>
              <a:t> </a:t>
            </a:r>
            <a:r>
              <a:rPr lang="es-ES" b="0" u="none" dirty="0"/>
              <a:t> </a:t>
            </a:r>
            <a:r>
              <a:rPr lang="es-ES" dirty="0"/>
              <a:t>ortogonales esos criterios  significan que una especificación puede se formal\  operacional, formal\</a:t>
            </a:r>
            <a:r>
              <a:rPr lang="es-ES" dirty="0" err="1"/>
              <a:t>descripiva</a:t>
            </a:r>
            <a:r>
              <a:rPr lang="es-ES" dirty="0"/>
              <a:t> ,informal\  operacional, informal\</a:t>
            </a:r>
            <a:r>
              <a:rPr lang="es-ES" dirty="0" err="1"/>
              <a:t>descripiva</a:t>
            </a:r>
            <a:r>
              <a:rPr lang="es-ES" dirty="0"/>
              <a:t> </a:t>
            </a:r>
          </a:p>
          <a:p>
            <a:pPr marL="0" marR="0" indent="0" algn="l" defTabSz="914400" rtl="0" eaLnBrk="0" fontAlgn="base" latinLnBrk="0" hangingPunct="0">
              <a:lnSpc>
                <a:spcPct val="100000"/>
              </a:lnSpc>
              <a:spcBef>
                <a:spcPct val="30000"/>
              </a:spcBef>
              <a:spcAft>
                <a:spcPct val="0"/>
              </a:spcAft>
              <a:buClrTx/>
              <a:buSzTx/>
              <a:buFontTx/>
              <a:buNone/>
              <a:tabLst/>
              <a:defRPr/>
            </a:pPr>
            <a:endParaRPr lang="es-ES" dirty="0"/>
          </a:p>
          <a:p>
            <a:r>
              <a:rPr lang="es-ES" dirty="0"/>
              <a:t>  </a:t>
            </a:r>
            <a:br>
              <a:rPr lang="es-ES" dirty="0"/>
            </a:br>
            <a:r>
              <a:rPr lang="es-ES" b="1" u="sng" dirty="0"/>
              <a:t>1.- Formales o Informales</a:t>
            </a:r>
            <a:endParaRPr lang="es-ES" dirty="0"/>
          </a:p>
          <a:p>
            <a:r>
              <a:rPr lang="es-ES" i="1" dirty="0"/>
              <a:t>Informales</a:t>
            </a:r>
            <a:br>
              <a:rPr lang="es-ES" i="1" dirty="0"/>
            </a:br>
            <a:r>
              <a:rPr lang="es-ES" dirty="0"/>
              <a:t>Escritas en lenguaje natural. Pero pueden usar figuras, tablas y otras notaciones para ayudar a su entendimiento. También pueden ser estructuradas en forma estandarizada como el documento de </a:t>
            </a:r>
            <a:r>
              <a:rPr lang="es-ES" dirty="0" err="1"/>
              <a:t>Sommeville</a:t>
            </a:r>
            <a:r>
              <a:rPr lang="es-ES" dirty="0"/>
              <a:t> que vieron en la conferencia pasada.</a:t>
            </a:r>
          </a:p>
          <a:p>
            <a:r>
              <a:rPr lang="es-ES" i="1" dirty="0"/>
              <a:t>Formales </a:t>
            </a:r>
            <a:br>
              <a:rPr lang="es-ES" i="1" dirty="0"/>
            </a:br>
            <a:r>
              <a:rPr lang="es-ES" dirty="0"/>
              <a:t>Cuando la notación tiene sintaxis y sentido totalmente precisos se convierte en un formalismo. En estos casos hablamos de especificaciones formales.</a:t>
            </a:r>
          </a:p>
          <a:p>
            <a:r>
              <a:rPr lang="es-ES" dirty="0"/>
              <a:t>También es útil hablar de </a:t>
            </a:r>
            <a:r>
              <a:rPr lang="es-ES" i="1" dirty="0"/>
              <a:t>Especificaciones </a:t>
            </a:r>
            <a:r>
              <a:rPr lang="es-ES" i="1" dirty="0" err="1"/>
              <a:t>Semiformales</a:t>
            </a:r>
            <a:r>
              <a:rPr lang="es-ES" dirty="0"/>
              <a:t> ya que en la práctica usamos notaciones sin insistir en una semántica completamente precisa</a:t>
            </a:r>
          </a:p>
        </p:txBody>
      </p:sp>
      <p:sp>
        <p:nvSpPr>
          <p:cNvPr id="72708" name="3 Marcador de número de diapositiva"/>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7E568444-112E-471B-A989-1A90C08087CE}" type="slidenum">
              <a:rPr lang="es-ES_tradnl" sz="1200"/>
              <a:pPr/>
              <a:t>6</a:t>
            </a:fld>
            <a:endParaRPr lang="es-ES_tradnl"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1 Marcador de imagen de diapositiva"/>
          <p:cNvSpPr>
            <a:spLocks noGrp="1" noRot="1" noChangeAspect="1" noTextEdit="1"/>
          </p:cNvSpPr>
          <p:nvPr>
            <p:ph type="sldImg"/>
          </p:nvPr>
        </p:nvSpPr>
        <p:spPr>
          <a:ln/>
        </p:spPr>
      </p:sp>
      <p:sp>
        <p:nvSpPr>
          <p:cNvPr id="73731" name="2 Marcador de notas"/>
          <p:cNvSpPr>
            <a:spLocks noGrp="1"/>
          </p:cNvSpPr>
          <p:nvPr>
            <p:ph type="body" idx="1"/>
          </p:nvPr>
        </p:nvSpPr>
        <p:spPr>
          <a:noFill/>
        </p:spPr>
        <p:txBody>
          <a:bodyPr/>
          <a:lstStyle/>
          <a:p>
            <a:r>
              <a:rPr lang="es-ES" dirty="0"/>
              <a:t>Se refieren a técnicas y herramientas basadas en principios y postulados matemáticos que se utilizan para especificar, diseñar, validar y verificar sistemas software y hardware, entre otros. La especificación utilizada en los métodos formales está conformada por enunciados bien formados en una lógica matemática. En la fase de Ingeniería de Requisitos, especificar formalmente es importante y es una labor que requiere mayor cuidado, porque su función es garantizar que tanto el funcionamiento como el desempeño del programa sean correctos, bajo cualquier situación. Los principios de los métodos formales que se tienen en cuenta en la estructuración del modelo son: el cálculo proposicional, las tablas de decisión, la teoría de conjuntos, los lenguajes declarativos, y el diseño por contrato.</a:t>
            </a:r>
          </a:p>
          <a:p>
            <a:r>
              <a:rPr lang="es-ES" dirty="0"/>
              <a:t> Muchos de los problemas de complejidad que se presentan en la Ingeniería del Software, como los procesadores de múltiples núcleos, las máquinas virtuales múltiples, los requisitos de seguridad y los sistemas distribuidos globalmente, no se manejan adecuadamente mediante los métodos formales.</a:t>
            </a:r>
          </a:p>
        </p:txBody>
      </p:sp>
      <p:sp>
        <p:nvSpPr>
          <p:cNvPr id="73732" name="3 Marcador de número de diapositiva"/>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BB0B59D9-C14C-4328-B042-A04A5D385258}" type="slidenum">
              <a:rPr lang="es-ES_tradnl" sz="1200"/>
              <a:pPr/>
              <a:t>7</a:t>
            </a:fld>
            <a:endParaRPr lang="es-ES_tradnl"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8323F-2B6F-BF32-D48A-019AC63F017F}"/>
            </a:ext>
          </a:extLst>
        </p:cNvPr>
        <p:cNvGrpSpPr/>
        <p:nvPr/>
      </p:nvGrpSpPr>
      <p:grpSpPr>
        <a:xfrm>
          <a:off x="0" y="0"/>
          <a:ext cx="0" cy="0"/>
          <a:chOff x="0" y="0"/>
          <a:chExt cx="0" cy="0"/>
        </a:xfrm>
      </p:grpSpPr>
      <p:sp>
        <p:nvSpPr>
          <p:cNvPr id="73730" name="1 Marcador de imagen de diapositiva">
            <a:extLst>
              <a:ext uri="{FF2B5EF4-FFF2-40B4-BE49-F238E27FC236}">
                <a16:creationId xmlns:a16="http://schemas.microsoft.com/office/drawing/2014/main" id="{E47781FD-7548-4C2E-78CD-D4848A0A5339}"/>
              </a:ext>
            </a:extLst>
          </p:cNvPr>
          <p:cNvSpPr>
            <a:spLocks noGrp="1" noRot="1" noChangeAspect="1" noTextEdit="1"/>
          </p:cNvSpPr>
          <p:nvPr>
            <p:ph type="sldImg"/>
          </p:nvPr>
        </p:nvSpPr>
        <p:spPr>
          <a:ln/>
        </p:spPr>
      </p:sp>
      <p:sp>
        <p:nvSpPr>
          <p:cNvPr id="73731" name="2 Marcador de notas">
            <a:extLst>
              <a:ext uri="{FF2B5EF4-FFF2-40B4-BE49-F238E27FC236}">
                <a16:creationId xmlns:a16="http://schemas.microsoft.com/office/drawing/2014/main" id="{12DE68AE-3BF7-8EA2-1727-D77DC2B04CEF}"/>
              </a:ext>
            </a:extLst>
          </p:cNvPr>
          <p:cNvSpPr>
            <a:spLocks noGrp="1"/>
          </p:cNvSpPr>
          <p:nvPr>
            <p:ph type="body" idx="1"/>
          </p:nvPr>
        </p:nvSpPr>
        <p:spPr>
          <a:noFill/>
        </p:spPr>
        <p:txBody>
          <a:bodyPr/>
          <a:lstStyle/>
          <a:p>
            <a:endParaRPr lang="es-ES" dirty="0"/>
          </a:p>
        </p:txBody>
      </p:sp>
      <p:sp>
        <p:nvSpPr>
          <p:cNvPr id="73732" name="3 Marcador de número de diapositiva">
            <a:extLst>
              <a:ext uri="{FF2B5EF4-FFF2-40B4-BE49-F238E27FC236}">
                <a16:creationId xmlns:a16="http://schemas.microsoft.com/office/drawing/2014/main" id="{7011B7D4-4210-5B41-1312-52D9FBD8F857}"/>
              </a:ext>
            </a:extLst>
          </p:cNvPr>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BB0B59D9-C14C-4328-B042-A04A5D385258}" type="slidenum">
              <a:rPr lang="es-ES_tradnl" sz="1200"/>
              <a:pPr/>
              <a:t>8</a:t>
            </a:fld>
            <a:endParaRPr lang="es-ES_tradnl" sz="1200"/>
          </a:p>
        </p:txBody>
      </p:sp>
    </p:spTree>
    <p:extLst>
      <p:ext uri="{BB962C8B-B14F-4D97-AF65-F5344CB8AC3E}">
        <p14:creationId xmlns:p14="http://schemas.microsoft.com/office/powerpoint/2010/main" val="42926796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1 Marcador de imagen de diapositiva"/>
          <p:cNvSpPr>
            <a:spLocks noGrp="1" noRot="1" noChangeAspect="1" noTextEdit="1"/>
          </p:cNvSpPr>
          <p:nvPr>
            <p:ph type="sldImg"/>
          </p:nvPr>
        </p:nvSpPr>
        <p:spPr>
          <a:ln/>
        </p:spPr>
      </p:sp>
      <p:sp>
        <p:nvSpPr>
          <p:cNvPr id="72707" name="2 Marcador de notas"/>
          <p:cNvSpPr>
            <a:spLocks noGrp="1"/>
          </p:cNvSpPr>
          <p:nvPr>
            <p:ph type="body" idx="1"/>
          </p:nvPr>
        </p:nvSpPr>
        <p:spPr>
          <a:noFill/>
        </p:spPr>
        <p:txBody>
          <a:bodyPr/>
          <a:lstStyle/>
          <a:p>
            <a:r>
              <a:rPr lang="es-ES" b="1" u="sng" dirty="0"/>
              <a:t>2.- Operacional o Descriptiva</a:t>
            </a:r>
            <a:endParaRPr lang="es-ES" dirty="0"/>
          </a:p>
          <a:p>
            <a:r>
              <a:rPr lang="es-ES" i="1" dirty="0"/>
              <a:t>Operacional</a:t>
            </a:r>
            <a:endParaRPr lang="es-ES" dirty="0"/>
          </a:p>
          <a:p>
            <a:r>
              <a:rPr lang="es-ES" dirty="0"/>
              <a:t>Describe el propósito del sistema describiendo el comportamiento deseado.</a:t>
            </a:r>
            <a:br>
              <a:rPr lang="es-ES" dirty="0"/>
            </a:br>
            <a:r>
              <a:rPr lang="es-ES" dirty="0"/>
              <a:t>Usualmente proporciona un modelo del sistema.</a:t>
            </a:r>
            <a:br>
              <a:rPr lang="es-ES" dirty="0"/>
            </a:br>
            <a:r>
              <a:rPr lang="es-ES" i="1" dirty="0"/>
              <a:t>Descriptiva</a:t>
            </a:r>
            <a:endParaRPr lang="es-ES" dirty="0"/>
          </a:p>
          <a:p>
            <a:r>
              <a:rPr lang="es-ES" dirty="0"/>
              <a:t>En contraposición, ésta trata el estado de las propiedades deseadas del sistema en forma puramente declarativa.</a:t>
            </a:r>
            <a:br>
              <a:rPr lang="es-ES" dirty="0"/>
            </a:br>
            <a:endParaRPr lang="es-ES" dirty="0"/>
          </a:p>
          <a:p>
            <a:endParaRPr lang="es-ES" dirty="0"/>
          </a:p>
        </p:txBody>
      </p:sp>
      <p:sp>
        <p:nvSpPr>
          <p:cNvPr id="72708" name="3 Marcador de número de diapositiva"/>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7E568444-112E-471B-A989-1A90C08087CE}" type="slidenum">
              <a:rPr lang="es-ES_tradnl" sz="1200"/>
              <a:pPr/>
              <a:t>9</a:t>
            </a:fld>
            <a:endParaRPr lang="es-ES_tradnl"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Antes de pasar a ver los exponentes de los lenguajes de especificación vamos a hacer un resumen general  de lenguajes de especificación</a:t>
            </a:r>
          </a:p>
          <a:p>
            <a:r>
              <a:rPr lang="es-ES" sz="1200" kern="1200" dirty="0">
                <a:solidFill>
                  <a:schemeClr val="tx1"/>
                </a:solidFill>
                <a:effectLst/>
                <a:latin typeface="Times New Roman" pitchFamily="18" charset="0"/>
                <a:ea typeface="+mn-ea"/>
                <a:cs typeface="+mn-cs"/>
              </a:rPr>
              <a:t>El análisis de los requerimientos da como resultado la especificación de las características operativas</a:t>
            </a:r>
          </a:p>
          <a:p>
            <a:r>
              <a:rPr lang="es-ES" sz="1200" kern="1200" dirty="0">
                <a:solidFill>
                  <a:schemeClr val="tx1"/>
                </a:solidFill>
                <a:effectLst/>
                <a:latin typeface="Times New Roman" pitchFamily="18" charset="0"/>
                <a:ea typeface="+mn-ea"/>
                <a:cs typeface="+mn-cs"/>
              </a:rPr>
              <a:t>del software, indica la interfaz de éste y otros elementos del sistema, y establece las</a:t>
            </a:r>
          </a:p>
          <a:p>
            <a:r>
              <a:rPr lang="es-ES" sz="1200" kern="1200" dirty="0">
                <a:solidFill>
                  <a:schemeClr val="tx1"/>
                </a:solidFill>
                <a:effectLst/>
                <a:latin typeface="Times New Roman" pitchFamily="18" charset="0"/>
                <a:ea typeface="+mn-ea"/>
                <a:cs typeface="+mn-cs"/>
              </a:rPr>
              <a:t>restricciones que limitan al software. El análisis de los requerimientos permite al profesional (sin</a:t>
            </a:r>
          </a:p>
          <a:p>
            <a:r>
              <a:rPr lang="es-ES" sz="1200" kern="1200" dirty="0">
                <a:solidFill>
                  <a:schemeClr val="tx1"/>
                </a:solidFill>
                <a:effectLst/>
                <a:latin typeface="Times New Roman" pitchFamily="18" charset="0"/>
                <a:ea typeface="+mn-ea"/>
                <a:cs typeface="+mn-cs"/>
              </a:rPr>
              <a:t>importar si se llama </a:t>
            </a:r>
            <a:r>
              <a:rPr lang="es-ES" sz="1200" i="1" kern="1200" dirty="0">
                <a:solidFill>
                  <a:schemeClr val="tx1"/>
                </a:solidFill>
                <a:effectLst/>
                <a:latin typeface="Times New Roman" pitchFamily="18" charset="0"/>
                <a:ea typeface="+mn-ea"/>
                <a:cs typeface="+mn-cs"/>
              </a:rPr>
              <a:t>ingeniero de software</a:t>
            </a:r>
            <a:r>
              <a:rPr lang="es-ES" sz="1200" kern="1200" dirty="0">
                <a:solidFill>
                  <a:schemeClr val="tx1"/>
                </a:solidFill>
                <a:effectLst/>
                <a:latin typeface="Times New Roman" pitchFamily="18" charset="0"/>
                <a:ea typeface="+mn-ea"/>
                <a:cs typeface="+mn-cs"/>
              </a:rPr>
              <a:t>, </a:t>
            </a:r>
            <a:r>
              <a:rPr lang="es-ES" sz="1200" i="1" kern="1200" dirty="0">
                <a:solidFill>
                  <a:schemeClr val="tx1"/>
                </a:solidFill>
                <a:effectLst/>
                <a:latin typeface="Times New Roman" pitchFamily="18" charset="0"/>
                <a:ea typeface="+mn-ea"/>
                <a:cs typeface="+mn-cs"/>
              </a:rPr>
              <a:t>analista </a:t>
            </a:r>
            <a:r>
              <a:rPr lang="es-ES" sz="1200" kern="1200" dirty="0">
                <a:solidFill>
                  <a:schemeClr val="tx1"/>
                </a:solidFill>
                <a:effectLst/>
                <a:latin typeface="Times New Roman" pitchFamily="18" charset="0"/>
                <a:ea typeface="+mn-ea"/>
                <a:cs typeface="+mn-cs"/>
              </a:rPr>
              <a:t>o </a:t>
            </a:r>
            <a:r>
              <a:rPr lang="es-ES" sz="1200" i="1" kern="1200" dirty="0">
                <a:solidFill>
                  <a:schemeClr val="tx1"/>
                </a:solidFill>
                <a:effectLst/>
                <a:latin typeface="Times New Roman" pitchFamily="18" charset="0"/>
                <a:ea typeface="+mn-ea"/>
                <a:cs typeface="+mn-cs"/>
              </a:rPr>
              <a:t>modelista</a:t>
            </a:r>
            <a:r>
              <a:rPr lang="es-ES" sz="1200" kern="1200" dirty="0">
                <a:solidFill>
                  <a:schemeClr val="tx1"/>
                </a:solidFill>
                <a:effectLst/>
                <a:latin typeface="Times New Roman" pitchFamily="18" charset="0"/>
                <a:ea typeface="+mn-ea"/>
                <a:cs typeface="+mn-cs"/>
              </a:rPr>
              <a:t>) construir sobre los requerimientos</a:t>
            </a:r>
          </a:p>
          <a:p>
            <a:r>
              <a:rPr lang="es-ES" sz="1200" kern="1200" dirty="0">
                <a:solidFill>
                  <a:schemeClr val="tx1"/>
                </a:solidFill>
                <a:effectLst/>
                <a:latin typeface="Times New Roman" pitchFamily="18" charset="0"/>
                <a:ea typeface="+mn-ea"/>
                <a:cs typeface="+mn-cs"/>
              </a:rPr>
              <a:t>básicos establecidos durante las tareas de concepción, indagación y negociación, que son</a:t>
            </a:r>
          </a:p>
          <a:p>
            <a:r>
              <a:rPr lang="es-ES" sz="1200" kern="1200" dirty="0">
                <a:solidFill>
                  <a:schemeClr val="tx1"/>
                </a:solidFill>
                <a:effectLst/>
                <a:latin typeface="Times New Roman" pitchFamily="18" charset="0"/>
                <a:ea typeface="+mn-ea"/>
                <a:cs typeface="+mn-cs"/>
              </a:rPr>
              <a:t>parte de la ingeniería de los requerimientos .</a:t>
            </a:r>
          </a:p>
          <a:p>
            <a:r>
              <a:rPr lang="es-ES" sz="1200" kern="1200" dirty="0">
                <a:solidFill>
                  <a:schemeClr val="tx1"/>
                </a:solidFill>
                <a:effectLst/>
                <a:latin typeface="Times New Roman" pitchFamily="18" charset="0"/>
                <a:ea typeface="+mn-ea"/>
                <a:cs typeface="+mn-cs"/>
              </a:rPr>
              <a:t>La acción de modelar los requerimientos da como resultado uno o más de los siguientes tipos</a:t>
            </a:r>
          </a:p>
          <a:p>
            <a:r>
              <a:rPr lang="es-ES" sz="1200" kern="1200" dirty="0">
                <a:solidFill>
                  <a:schemeClr val="tx1"/>
                </a:solidFill>
                <a:effectLst/>
                <a:latin typeface="Times New Roman" pitchFamily="18" charset="0"/>
                <a:ea typeface="+mn-ea"/>
                <a:cs typeface="+mn-cs"/>
              </a:rPr>
              <a:t>de modelo:</a:t>
            </a:r>
          </a:p>
          <a:p>
            <a:r>
              <a:rPr lang="es-ES" sz="1200" kern="1200" dirty="0">
                <a:solidFill>
                  <a:schemeClr val="tx1"/>
                </a:solidFill>
                <a:effectLst/>
                <a:latin typeface="Times New Roman" pitchFamily="18" charset="0"/>
                <a:ea typeface="+mn-ea"/>
                <a:cs typeface="+mn-cs"/>
              </a:rPr>
              <a:t>• </a:t>
            </a:r>
            <a:r>
              <a:rPr lang="es-ES" sz="1200" i="1" kern="1200" dirty="0">
                <a:solidFill>
                  <a:schemeClr val="tx1"/>
                </a:solidFill>
                <a:effectLst/>
                <a:latin typeface="Times New Roman" pitchFamily="18" charset="0"/>
                <a:ea typeface="+mn-ea"/>
                <a:cs typeface="+mn-cs"/>
              </a:rPr>
              <a:t>Modelos basados en el escenario </a:t>
            </a:r>
            <a:r>
              <a:rPr lang="es-ES" sz="1200" kern="1200" dirty="0">
                <a:solidFill>
                  <a:schemeClr val="tx1"/>
                </a:solidFill>
                <a:effectLst/>
                <a:latin typeface="Times New Roman" pitchFamily="18" charset="0"/>
                <a:ea typeface="+mn-ea"/>
                <a:cs typeface="+mn-cs"/>
              </a:rPr>
              <a:t>de los requerimientos desde el punto de vista de</a:t>
            </a:r>
          </a:p>
          <a:p>
            <a:r>
              <a:rPr lang="es-ES" sz="1200" kern="1200" dirty="0">
                <a:solidFill>
                  <a:schemeClr val="tx1"/>
                </a:solidFill>
                <a:effectLst/>
                <a:latin typeface="Times New Roman" pitchFamily="18" charset="0"/>
                <a:ea typeface="+mn-ea"/>
                <a:cs typeface="+mn-cs"/>
              </a:rPr>
              <a:t>distintos “actores” del sistema.</a:t>
            </a:r>
          </a:p>
          <a:p>
            <a:r>
              <a:rPr lang="es-ES" sz="1200" kern="1200" dirty="0">
                <a:solidFill>
                  <a:schemeClr val="tx1"/>
                </a:solidFill>
                <a:effectLst/>
                <a:latin typeface="Times New Roman" pitchFamily="18" charset="0"/>
                <a:ea typeface="+mn-ea"/>
                <a:cs typeface="+mn-cs"/>
              </a:rPr>
              <a:t>• </a:t>
            </a:r>
            <a:r>
              <a:rPr lang="es-ES" sz="1200" i="1" kern="1200" dirty="0">
                <a:solidFill>
                  <a:schemeClr val="tx1"/>
                </a:solidFill>
                <a:effectLst/>
                <a:latin typeface="Times New Roman" pitchFamily="18" charset="0"/>
                <a:ea typeface="+mn-ea"/>
                <a:cs typeface="+mn-cs"/>
              </a:rPr>
              <a:t>Modelos de datos</a:t>
            </a:r>
            <a:r>
              <a:rPr lang="es-ES" sz="1200" kern="1200" dirty="0">
                <a:solidFill>
                  <a:schemeClr val="tx1"/>
                </a:solidFill>
                <a:effectLst/>
                <a:latin typeface="Times New Roman" pitchFamily="18" charset="0"/>
                <a:ea typeface="+mn-ea"/>
                <a:cs typeface="+mn-cs"/>
              </a:rPr>
              <a:t>, que ilustran el dominio de información del problema.</a:t>
            </a:r>
          </a:p>
          <a:p>
            <a:r>
              <a:rPr lang="es-ES" sz="1200" kern="1200" dirty="0">
                <a:solidFill>
                  <a:schemeClr val="tx1"/>
                </a:solidFill>
                <a:effectLst/>
                <a:latin typeface="Times New Roman" pitchFamily="18" charset="0"/>
                <a:ea typeface="+mn-ea"/>
                <a:cs typeface="+mn-cs"/>
              </a:rPr>
              <a:t>• </a:t>
            </a:r>
            <a:r>
              <a:rPr lang="es-ES" sz="1200" i="1" kern="1200" dirty="0">
                <a:solidFill>
                  <a:schemeClr val="tx1"/>
                </a:solidFill>
                <a:effectLst/>
                <a:latin typeface="Times New Roman" pitchFamily="18" charset="0"/>
                <a:ea typeface="+mn-ea"/>
                <a:cs typeface="+mn-cs"/>
              </a:rPr>
              <a:t>Modelos orientados a clases</a:t>
            </a:r>
            <a:r>
              <a:rPr lang="es-ES" sz="1200" kern="1200" dirty="0">
                <a:solidFill>
                  <a:schemeClr val="tx1"/>
                </a:solidFill>
                <a:effectLst/>
                <a:latin typeface="Times New Roman" pitchFamily="18" charset="0"/>
                <a:ea typeface="+mn-ea"/>
                <a:cs typeface="+mn-cs"/>
              </a:rPr>
              <a:t>, que representan clases orientadas a objetos (atributos y</a:t>
            </a:r>
          </a:p>
          <a:p>
            <a:r>
              <a:rPr lang="es-ES" sz="1200" kern="1200" dirty="0">
                <a:solidFill>
                  <a:schemeClr val="tx1"/>
                </a:solidFill>
                <a:effectLst/>
                <a:latin typeface="Times New Roman" pitchFamily="18" charset="0"/>
                <a:ea typeface="+mn-ea"/>
                <a:cs typeface="+mn-cs"/>
              </a:rPr>
              <a:t>operaciones) y la manera en la que las clases colaboran para cumplir con los requerimientos</a:t>
            </a:r>
          </a:p>
          <a:p>
            <a:r>
              <a:rPr lang="es-ES" sz="1200" kern="1200" dirty="0">
                <a:solidFill>
                  <a:schemeClr val="tx1"/>
                </a:solidFill>
                <a:effectLst/>
                <a:latin typeface="Times New Roman" pitchFamily="18" charset="0"/>
                <a:ea typeface="+mn-ea"/>
                <a:cs typeface="+mn-cs"/>
              </a:rPr>
              <a:t>del sistema.</a:t>
            </a:r>
          </a:p>
          <a:p>
            <a:r>
              <a:rPr lang="es-ES" sz="1200" kern="1200" dirty="0">
                <a:solidFill>
                  <a:schemeClr val="tx1"/>
                </a:solidFill>
                <a:effectLst/>
                <a:latin typeface="Times New Roman" pitchFamily="18" charset="0"/>
                <a:ea typeface="+mn-ea"/>
                <a:cs typeface="+mn-cs"/>
              </a:rPr>
              <a:t>• </a:t>
            </a:r>
            <a:r>
              <a:rPr lang="es-ES" sz="1200" i="1" kern="1200" dirty="0">
                <a:solidFill>
                  <a:schemeClr val="tx1"/>
                </a:solidFill>
                <a:effectLst/>
                <a:latin typeface="Times New Roman" pitchFamily="18" charset="0"/>
                <a:ea typeface="+mn-ea"/>
                <a:cs typeface="+mn-cs"/>
              </a:rPr>
              <a:t>Modelos orientados al flujo</a:t>
            </a:r>
            <a:r>
              <a:rPr lang="es-ES" sz="1200" kern="1200" dirty="0">
                <a:solidFill>
                  <a:schemeClr val="tx1"/>
                </a:solidFill>
                <a:effectLst/>
                <a:latin typeface="Times New Roman" pitchFamily="18" charset="0"/>
                <a:ea typeface="+mn-ea"/>
                <a:cs typeface="+mn-cs"/>
              </a:rPr>
              <a:t>, que representan los elementos funcionales del sistema y la</a:t>
            </a:r>
          </a:p>
          <a:p>
            <a:r>
              <a:rPr lang="es-ES" sz="1200" kern="1200" dirty="0">
                <a:solidFill>
                  <a:schemeClr val="tx1"/>
                </a:solidFill>
                <a:effectLst/>
                <a:latin typeface="Times New Roman" pitchFamily="18" charset="0"/>
                <a:ea typeface="+mn-ea"/>
                <a:cs typeface="+mn-cs"/>
              </a:rPr>
              <a:t>manera como transforman los datos a medida que se avanza a través del sistema.</a:t>
            </a:r>
          </a:p>
          <a:p>
            <a:r>
              <a:rPr lang="es-ES" sz="1200" kern="1200" dirty="0">
                <a:solidFill>
                  <a:schemeClr val="tx1"/>
                </a:solidFill>
                <a:effectLst/>
                <a:latin typeface="Times New Roman" pitchFamily="18" charset="0"/>
                <a:ea typeface="+mn-ea"/>
                <a:cs typeface="+mn-cs"/>
              </a:rPr>
              <a:t>• </a:t>
            </a:r>
            <a:r>
              <a:rPr lang="es-ES" sz="1200" i="1" kern="1200" dirty="0">
                <a:solidFill>
                  <a:schemeClr val="tx1"/>
                </a:solidFill>
                <a:effectLst/>
                <a:latin typeface="Times New Roman" pitchFamily="18" charset="0"/>
                <a:ea typeface="+mn-ea"/>
                <a:cs typeface="+mn-cs"/>
              </a:rPr>
              <a:t>Modelos de comportamiento</a:t>
            </a:r>
            <a:r>
              <a:rPr lang="es-ES" sz="1200" kern="1200" dirty="0">
                <a:solidFill>
                  <a:schemeClr val="tx1"/>
                </a:solidFill>
                <a:effectLst/>
                <a:latin typeface="Times New Roman" pitchFamily="18" charset="0"/>
                <a:ea typeface="+mn-ea"/>
                <a:cs typeface="+mn-cs"/>
              </a:rPr>
              <a:t>, que ilustran el modo en el que se comparte el software</a:t>
            </a:r>
          </a:p>
          <a:p>
            <a:r>
              <a:rPr lang="es-ES" sz="1200" kern="1200" dirty="0">
                <a:solidFill>
                  <a:schemeClr val="tx1"/>
                </a:solidFill>
                <a:effectLst/>
                <a:latin typeface="Times New Roman" pitchFamily="18" charset="0"/>
                <a:ea typeface="+mn-ea"/>
                <a:cs typeface="+mn-cs"/>
              </a:rPr>
              <a:t>como consecuencia de “eventos” externos.</a:t>
            </a:r>
          </a:p>
          <a:p>
            <a:r>
              <a:rPr lang="es-ES" sz="1200" kern="1200" dirty="0">
                <a:solidFill>
                  <a:schemeClr val="tx1"/>
                </a:solidFill>
                <a:effectLst/>
                <a:latin typeface="Times New Roman" pitchFamily="18" charset="0"/>
                <a:ea typeface="+mn-ea"/>
                <a:cs typeface="+mn-cs"/>
              </a:rPr>
              <a:t>Estos modelos dan al diseñador del software la información que se traduce en diseños de arquitectura,</a:t>
            </a:r>
          </a:p>
          <a:p>
            <a:r>
              <a:rPr lang="es-ES" sz="1200" kern="1200" dirty="0">
                <a:solidFill>
                  <a:schemeClr val="tx1"/>
                </a:solidFill>
                <a:effectLst/>
                <a:latin typeface="Times New Roman" pitchFamily="18" charset="0"/>
                <a:ea typeface="+mn-ea"/>
                <a:cs typeface="+mn-cs"/>
              </a:rPr>
              <a:t>interfaz y componentes. Por último, el modelo de requerimientos (y la especificación de</a:t>
            </a:r>
          </a:p>
          <a:p>
            <a:r>
              <a:rPr lang="es-ES" sz="1200" kern="1200" dirty="0">
                <a:solidFill>
                  <a:schemeClr val="tx1"/>
                </a:solidFill>
                <a:effectLst/>
                <a:latin typeface="Times New Roman" pitchFamily="18" charset="0"/>
                <a:ea typeface="+mn-ea"/>
                <a:cs typeface="+mn-cs"/>
              </a:rPr>
              <a:t>requerimientos de software) brinda al desarrollador y al cliente los medios para evaluar la calidad</a:t>
            </a:r>
          </a:p>
          <a:p>
            <a:r>
              <a:rPr lang="es-ES" sz="1200" kern="1200" dirty="0">
                <a:solidFill>
                  <a:schemeClr val="tx1"/>
                </a:solidFill>
                <a:effectLst/>
                <a:latin typeface="Times New Roman" pitchFamily="18" charset="0"/>
                <a:ea typeface="+mn-ea"/>
                <a:cs typeface="+mn-cs"/>
              </a:rPr>
              <a:t>una vez construido el software. </a:t>
            </a:r>
          </a:p>
          <a:p>
            <a:r>
              <a:rPr lang="es-ES" sz="1200" kern="1200" dirty="0">
                <a:solidFill>
                  <a:schemeClr val="tx1"/>
                </a:solidFill>
                <a:effectLst/>
                <a:latin typeface="Times New Roman" pitchFamily="18" charset="0"/>
                <a:ea typeface="+mn-ea"/>
                <a:cs typeface="+mn-cs"/>
              </a:rPr>
              <a:t>Ahora veremos algunos de los exponentes de los lenguajes de especificación</a:t>
            </a: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10</a:t>
            </a:fld>
            <a:endParaRPr lang="es-ES_tradnl"/>
          </a:p>
        </p:txBody>
      </p:sp>
    </p:spTree>
    <p:extLst>
      <p:ext uri="{BB962C8B-B14F-4D97-AF65-F5344CB8AC3E}">
        <p14:creationId xmlns:p14="http://schemas.microsoft.com/office/powerpoint/2010/main" val="37632410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5DAD9-A0E4-8995-3F4A-93B5B075C7C0}"/>
            </a:ext>
          </a:extLst>
        </p:cNvPr>
        <p:cNvGrpSpPr/>
        <p:nvPr/>
      </p:nvGrpSpPr>
      <p:grpSpPr>
        <a:xfrm>
          <a:off x="0" y="0"/>
          <a:ext cx="0" cy="0"/>
          <a:chOff x="0" y="0"/>
          <a:chExt cx="0" cy="0"/>
        </a:xfrm>
      </p:grpSpPr>
      <p:sp>
        <p:nvSpPr>
          <p:cNvPr id="73730" name="1 Marcador de imagen de diapositiva">
            <a:extLst>
              <a:ext uri="{FF2B5EF4-FFF2-40B4-BE49-F238E27FC236}">
                <a16:creationId xmlns:a16="http://schemas.microsoft.com/office/drawing/2014/main" id="{16E447A5-357D-9C41-E843-A803D0FB9F95}"/>
              </a:ext>
            </a:extLst>
          </p:cNvPr>
          <p:cNvSpPr>
            <a:spLocks noGrp="1" noRot="1" noChangeAspect="1" noTextEdit="1"/>
          </p:cNvSpPr>
          <p:nvPr>
            <p:ph type="sldImg"/>
          </p:nvPr>
        </p:nvSpPr>
        <p:spPr>
          <a:ln/>
        </p:spPr>
      </p:sp>
      <p:sp>
        <p:nvSpPr>
          <p:cNvPr id="73731" name="2 Marcador de notas">
            <a:extLst>
              <a:ext uri="{FF2B5EF4-FFF2-40B4-BE49-F238E27FC236}">
                <a16:creationId xmlns:a16="http://schemas.microsoft.com/office/drawing/2014/main" id="{5CB737CD-CE9D-4AF1-6633-50F2B2F66150}"/>
              </a:ext>
            </a:extLst>
          </p:cNvPr>
          <p:cNvSpPr>
            <a:spLocks noGrp="1"/>
          </p:cNvSpPr>
          <p:nvPr>
            <p:ph type="body" idx="1"/>
          </p:nvPr>
        </p:nvSpPr>
        <p:spPr>
          <a:noFill/>
        </p:spPr>
        <p:txBody>
          <a:bodyPr/>
          <a:lstStyle/>
          <a:p>
            <a:r>
              <a:rPr lang="es-ES" dirty="0"/>
              <a:t>El Diagrama de Flujo de Datos es uno de los primeros lenguajes en aparecer. </a:t>
            </a:r>
          </a:p>
          <a:p>
            <a:r>
              <a:rPr lang="es-ES" dirty="0"/>
              <a:t>Es   una descripción informal del sistema de la información.</a:t>
            </a:r>
          </a:p>
          <a:p>
            <a:r>
              <a:rPr lang="es-ES" dirty="0"/>
              <a:t>Los </a:t>
            </a:r>
            <a:r>
              <a:rPr lang="es-ES" dirty="0" err="1"/>
              <a:t>DFDs</a:t>
            </a:r>
            <a:r>
              <a:rPr lang="es-ES" dirty="0"/>
              <a:t> describen colecciones de datos del sistema que son manipulados por las funciones .</a:t>
            </a:r>
          </a:p>
          <a:p>
            <a:r>
              <a:rPr lang="es-ES" dirty="0"/>
              <a:t>Los datos se organizan en varias formas:</a:t>
            </a:r>
            <a:br>
              <a:rPr lang="es-ES" dirty="0"/>
            </a:br>
            <a:r>
              <a:rPr lang="es-ES" dirty="0"/>
              <a:t>- pueden estar en un repositorio de datos</a:t>
            </a:r>
            <a:br>
              <a:rPr lang="es-ES" dirty="0"/>
            </a:br>
            <a:r>
              <a:rPr lang="es-ES" dirty="0"/>
              <a:t>- pueden fluir en un flujo de datos </a:t>
            </a:r>
            <a:br>
              <a:rPr lang="es-ES" dirty="0"/>
            </a:br>
            <a:r>
              <a:rPr lang="es-ES" dirty="0"/>
              <a:t>- pueden ser transferidos desde o hacia el entorno exterior</a:t>
            </a:r>
          </a:p>
          <a:p>
            <a:pPr lvl="0"/>
            <a:r>
              <a:rPr lang="es-ES" sz="1200" kern="1200" dirty="0">
                <a:solidFill>
                  <a:schemeClr val="tx1"/>
                </a:solidFill>
                <a:effectLst/>
                <a:latin typeface="Times New Roman" pitchFamily="18" charset="0"/>
                <a:ea typeface="+mn-ea"/>
                <a:cs typeface="+mn-cs"/>
              </a:rPr>
              <a:t>Son fáciles de entender, sin semántica.  No se puede simular el sistema modelado, para probar si las especificaciones reflejan los requerimientos de los usuarios  como se aprecia en la figura 2.</a:t>
            </a:r>
          </a:p>
          <a:p>
            <a:pPr lvl="0"/>
            <a:r>
              <a:rPr lang="es-ES" sz="1200" kern="1200" dirty="0">
                <a:solidFill>
                  <a:schemeClr val="tx1"/>
                </a:solidFill>
                <a:effectLst/>
                <a:latin typeface="Times New Roman" pitchFamily="18" charset="0"/>
                <a:ea typeface="+mn-ea"/>
                <a:cs typeface="+mn-cs"/>
              </a:rPr>
              <a:t>No especifica sincronización entre módulos, ambiguos como se aprecia en la figura 1</a:t>
            </a:r>
          </a:p>
          <a:p>
            <a:endParaRPr lang="es-ES" dirty="0"/>
          </a:p>
          <a:p>
            <a:endParaRPr lang="es-ES" dirty="0"/>
          </a:p>
        </p:txBody>
      </p:sp>
      <p:sp>
        <p:nvSpPr>
          <p:cNvPr id="73732" name="3 Marcador de número de diapositiva">
            <a:extLst>
              <a:ext uri="{FF2B5EF4-FFF2-40B4-BE49-F238E27FC236}">
                <a16:creationId xmlns:a16="http://schemas.microsoft.com/office/drawing/2014/main" id="{0839B9AD-D71F-2A6A-8D5A-C4201015521D}"/>
              </a:ext>
            </a:extLst>
          </p:cNvPr>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BB0B59D9-C14C-4328-B042-A04A5D385258}" type="slidenum">
              <a:rPr lang="es-ES_tradnl" sz="1200"/>
              <a:pPr/>
              <a:t>11</a:t>
            </a:fld>
            <a:endParaRPr lang="es-ES_tradnl" sz="1200"/>
          </a:p>
        </p:txBody>
      </p:sp>
    </p:spTree>
    <p:extLst>
      <p:ext uri="{BB962C8B-B14F-4D97-AF65-F5344CB8AC3E}">
        <p14:creationId xmlns:p14="http://schemas.microsoft.com/office/powerpoint/2010/main" val="2859755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1 Marcador de imagen de diapositiva"/>
          <p:cNvSpPr>
            <a:spLocks noGrp="1" noRot="1" noChangeAspect="1" noTextEdit="1"/>
          </p:cNvSpPr>
          <p:nvPr>
            <p:ph type="sldImg"/>
          </p:nvPr>
        </p:nvSpPr>
        <p:spPr>
          <a:ln/>
        </p:spPr>
      </p:sp>
      <p:sp>
        <p:nvSpPr>
          <p:cNvPr id="75779" name="2 Marcador de notas"/>
          <p:cNvSpPr>
            <a:spLocks noGrp="1"/>
          </p:cNvSpPr>
          <p:nvPr>
            <p:ph type="body" idx="1"/>
          </p:nvPr>
        </p:nvSpPr>
        <p:spPr>
          <a:noFill/>
        </p:spPr>
        <p:txBody>
          <a:bodyPr/>
          <a:lstStyle/>
          <a:p>
            <a:r>
              <a:rPr lang="es-ES" dirty="0"/>
              <a:t>Su funcionamiento se basa en una función de transición, que recibe a partir de un estado inicial una cadena de caracteres pertenecientes al alfabeto (la entrada), y que va leyendo dicha cadena a medida que el autómata se desplaza de un estado a otro, para finalmente detenerse en un estado final o de aceptación, que representa la salida.</a:t>
            </a:r>
          </a:p>
          <a:p>
            <a:r>
              <a:rPr lang="en-US" dirty="0"/>
              <a:t>En </a:t>
            </a:r>
            <a:r>
              <a:rPr lang="en-US" dirty="0" err="1"/>
              <a:t>el</a:t>
            </a:r>
            <a:r>
              <a:rPr lang="en-US" dirty="0"/>
              <a:t> </a:t>
            </a:r>
            <a:r>
              <a:rPr lang="en-US" dirty="0" err="1"/>
              <a:t>ejemplo</a:t>
            </a:r>
            <a:r>
              <a:rPr lang="en-US" dirty="0"/>
              <a:t> se </a:t>
            </a:r>
            <a:r>
              <a:rPr lang="en-US" dirty="0" err="1"/>
              <a:t>ve</a:t>
            </a:r>
            <a:r>
              <a:rPr lang="en-US" dirty="0"/>
              <a:t> </a:t>
            </a:r>
            <a:r>
              <a:rPr lang="en-US" dirty="0" err="1"/>
              <a:t>como</a:t>
            </a:r>
            <a:r>
              <a:rPr lang="en-US" dirty="0"/>
              <a:t> q0 es </a:t>
            </a:r>
            <a:r>
              <a:rPr lang="en-US" dirty="0" err="1"/>
              <a:t>el</a:t>
            </a:r>
            <a:r>
              <a:rPr lang="en-US" dirty="0"/>
              <a:t> </a:t>
            </a:r>
            <a:r>
              <a:rPr lang="es-ES" noProof="0" dirty="0"/>
              <a:t>estado</a:t>
            </a:r>
            <a:r>
              <a:rPr lang="en-US" dirty="0"/>
              <a:t> </a:t>
            </a:r>
            <a:r>
              <a:rPr lang="en-US" dirty="0" err="1"/>
              <a:t>inicial</a:t>
            </a:r>
            <a:r>
              <a:rPr lang="en-US" dirty="0"/>
              <a:t>  final. </a:t>
            </a:r>
            <a:r>
              <a:rPr lang="en-US" dirty="0" err="1"/>
              <a:t>Siguiendo</a:t>
            </a:r>
            <a:r>
              <a:rPr lang="en-US" dirty="0"/>
              <a:t> </a:t>
            </a:r>
            <a:r>
              <a:rPr lang="en-US" dirty="0" err="1"/>
              <a:t>el</a:t>
            </a:r>
            <a:r>
              <a:rPr lang="en-US" dirty="0"/>
              <a:t> </a:t>
            </a:r>
            <a:r>
              <a:rPr lang="en-US" dirty="0" err="1"/>
              <a:t>flujo</a:t>
            </a:r>
            <a:r>
              <a:rPr lang="en-US" dirty="0"/>
              <a:t> de q0 se </a:t>
            </a:r>
            <a:r>
              <a:rPr lang="en-US" dirty="0" err="1"/>
              <a:t>pasa</a:t>
            </a:r>
            <a:r>
              <a:rPr lang="en-US" dirty="0"/>
              <a:t> a q1  de q1 se </a:t>
            </a:r>
            <a:r>
              <a:rPr lang="en-US" dirty="0" err="1"/>
              <a:t>puede</a:t>
            </a:r>
            <a:r>
              <a:rPr lang="en-US" dirty="0"/>
              <a:t> </a:t>
            </a:r>
            <a:r>
              <a:rPr lang="en-US" dirty="0" err="1"/>
              <a:t>ir</a:t>
            </a:r>
            <a:r>
              <a:rPr lang="en-US" dirty="0"/>
              <a:t>  q3 o q2  de q3 a q0  ese </a:t>
            </a:r>
            <a:r>
              <a:rPr lang="en-US" dirty="0" err="1"/>
              <a:t>ejemplo</a:t>
            </a:r>
            <a:r>
              <a:rPr lang="en-US" dirty="0"/>
              <a:t> es para </a:t>
            </a:r>
            <a:r>
              <a:rPr lang="en-US" dirty="0" err="1"/>
              <a:t>reconocer</a:t>
            </a:r>
            <a:r>
              <a:rPr lang="en-US" dirty="0"/>
              <a:t> palabras </a:t>
            </a:r>
            <a:r>
              <a:rPr lang="en-US" dirty="0" err="1"/>
              <a:t>abc</a:t>
            </a:r>
            <a:r>
              <a:rPr lang="en-US" dirty="0"/>
              <a:t>, </a:t>
            </a:r>
            <a:r>
              <a:rPr lang="en-US" dirty="0" err="1"/>
              <a:t>aabc</a:t>
            </a:r>
            <a:endParaRPr lang="es-ES" dirty="0"/>
          </a:p>
          <a:p>
            <a:r>
              <a:rPr lang="es-ES" dirty="0"/>
              <a:t>La finalidad de los autómatas finitos es la de reconocer lenguajes regulares, que corresponden a los lenguajes formales más simples según la Jerarquía de Chomsky.</a:t>
            </a:r>
          </a:p>
          <a:p>
            <a:endParaRPr lang="es-ES" dirty="0"/>
          </a:p>
        </p:txBody>
      </p:sp>
      <p:sp>
        <p:nvSpPr>
          <p:cNvPr id="75780" name="3 Marcador de número de diapositiva"/>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C139C79-1A45-4B10-B4F7-10FE992DEF80}" type="slidenum">
              <a:rPr lang="es-ES_tradnl" sz="1200"/>
              <a:pPr/>
              <a:t>12</a:t>
            </a:fld>
            <a:endParaRPr lang="es-ES_tradnl"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1 Marcador de imagen de diapositiva"/>
          <p:cNvSpPr>
            <a:spLocks noGrp="1" noRot="1" noChangeAspect="1" noTextEdit="1"/>
          </p:cNvSpPr>
          <p:nvPr>
            <p:ph type="sldImg"/>
          </p:nvPr>
        </p:nvSpPr>
        <p:spPr>
          <a:ln/>
        </p:spPr>
      </p:sp>
      <p:sp>
        <p:nvSpPr>
          <p:cNvPr id="77827" name="2 Marcador de notas"/>
          <p:cNvSpPr>
            <a:spLocks noGrp="1"/>
          </p:cNvSpPr>
          <p:nvPr>
            <p:ph type="body" idx="1"/>
          </p:nvPr>
        </p:nvSpPr>
        <p:spPr>
          <a:noFill/>
        </p:spPr>
        <p:txBody>
          <a:bodyPr/>
          <a:lstStyle/>
          <a:p>
            <a:r>
              <a:rPr lang="es-ES" sz="1200" kern="1200" dirty="0">
                <a:solidFill>
                  <a:schemeClr val="tx1"/>
                </a:solidFill>
                <a:effectLst/>
                <a:latin typeface="Times New Roman" pitchFamily="18" charset="0"/>
                <a:ea typeface="+mn-ea"/>
                <a:cs typeface="+mn-cs"/>
              </a:rPr>
              <a:t>Una Red de Petri es una representación matemática o gráfica de un sistema a eventos discretos en el cual se puede describir la topología de un sistema distribuido, paralelo o concurrente. La red de Petri esencial fue definida en la década de los años 1960 por Carl Adam Petri. Son una generalización de la teoría de autómatas que permite expresar un sistema a eventos concurrentes.</a:t>
            </a:r>
          </a:p>
        </p:txBody>
      </p:sp>
      <p:sp>
        <p:nvSpPr>
          <p:cNvPr id="77828" name="3 Marcador de número de diapositiva"/>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F82B87B3-85F1-47A2-B779-7D6A41286007}" type="slidenum">
              <a:rPr lang="es-ES_tradnl" sz="1200"/>
              <a:pPr/>
              <a:t>13</a:t>
            </a:fld>
            <a:endParaRPr lang="es-ES_tradnl"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Algunas situaciones que se pueden simular o detectar con las redes de </a:t>
            </a:r>
            <a:r>
              <a:rPr lang="es-ES" sz="1200" kern="1200" dirty="0" err="1">
                <a:solidFill>
                  <a:schemeClr val="tx1"/>
                </a:solidFill>
                <a:effectLst/>
                <a:latin typeface="Times New Roman" pitchFamily="18" charset="0"/>
                <a:ea typeface="+mn-ea"/>
                <a:cs typeface="+mn-cs"/>
              </a:rPr>
              <a:t>petris</a:t>
            </a:r>
            <a:r>
              <a:rPr lang="es-ES" sz="1200" kern="1200" dirty="0">
                <a:solidFill>
                  <a:schemeClr val="tx1"/>
                </a:solidFill>
                <a:effectLst/>
                <a:latin typeface="Times New Roman" pitchFamily="18" charset="0"/>
                <a:ea typeface="+mn-ea"/>
                <a:cs typeface="+mn-cs"/>
              </a:rPr>
              <a:t> son:</a:t>
            </a:r>
          </a:p>
          <a:p>
            <a:pPr lvl="0"/>
            <a:r>
              <a:rPr lang="es-ES" sz="1200" kern="1200" dirty="0">
                <a:solidFill>
                  <a:schemeClr val="tx1"/>
                </a:solidFill>
                <a:effectLst/>
                <a:latin typeface="Times New Roman" pitchFamily="18" charset="0"/>
                <a:ea typeface="+mn-ea"/>
                <a:cs typeface="+mn-cs"/>
              </a:rPr>
              <a:t>Concurrencia. cuando dos transiciones están habilitadas y el disparo de una no deshabilita a la otra ver t</a:t>
            </a:r>
            <a:r>
              <a:rPr lang="es-ES" sz="1200" kern="1200" baseline="-25000" dirty="0">
                <a:solidFill>
                  <a:schemeClr val="tx1"/>
                </a:solidFill>
                <a:effectLst/>
                <a:latin typeface="Times New Roman" pitchFamily="18" charset="0"/>
                <a:ea typeface="+mn-ea"/>
                <a:cs typeface="+mn-cs"/>
              </a:rPr>
              <a:t>1</a:t>
            </a:r>
            <a:r>
              <a:rPr lang="es-ES" sz="1200" kern="1200" dirty="0">
                <a:solidFill>
                  <a:schemeClr val="tx1"/>
                </a:solidFill>
                <a:effectLst/>
                <a:latin typeface="Times New Roman" pitchFamily="18" charset="0"/>
                <a:ea typeface="+mn-ea"/>
                <a:cs typeface="+mn-cs"/>
              </a:rPr>
              <a:t> y t</a:t>
            </a:r>
            <a:r>
              <a:rPr lang="es-ES" sz="1200" kern="1200" baseline="-25000" dirty="0">
                <a:solidFill>
                  <a:schemeClr val="tx1"/>
                </a:solidFill>
                <a:effectLst/>
                <a:latin typeface="Times New Roman" pitchFamily="18" charset="0"/>
                <a:ea typeface="+mn-ea"/>
                <a:cs typeface="+mn-cs"/>
              </a:rPr>
              <a:t>2</a:t>
            </a:r>
            <a:r>
              <a:rPr lang="es-ES" sz="1200" kern="1200" dirty="0">
                <a:solidFill>
                  <a:schemeClr val="tx1"/>
                </a:solidFill>
                <a:effectLst/>
                <a:latin typeface="Times New Roman" pitchFamily="18" charset="0"/>
                <a:ea typeface="+mn-ea"/>
                <a:cs typeface="+mn-cs"/>
              </a:rPr>
              <a:t> en (a)</a:t>
            </a:r>
          </a:p>
          <a:p>
            <a:pPr lvl="0"/>
            <a:r>
              <a:rPr lang="es-ES" sz="1200" kern="1200" dirty="0">
                <a:solidFill>
                  <a:schemeClr val="tx1"/>
                </a:solidFill>
                <a:effectLst/>
                <a:latin typeface="Times New Roman" pitchFamily="18" charset="0"/>
                <a:ea typeface="+mn-ea"/>
                <a:cs typeface="+mn-cs"/>
              </a:rPr>
              <a:t>Conflicto :cuando dos transiciones están habilitadas y el disparo de una deshabilita a la otra ver t</a:t>
            </a:r>
            <a:r>
              <a:rPr lang="es-ES" sz="1200" kern="1200" baseline="-25000" dirty="0">
                <a:solidFill>
                  <a:schemeClr val="tx1"/>
                </a:solidFill>
                <a:effectLst/>
                <a:latin typeface="Times New Roman" pitchFamily="18" charset="0"/>
                <a:ea typeface="+mn-ea"/>
                <a:cs typeface="+mn-cs"/>
              </a:rPr>
              <a:t>3 y</a:t>
            </a:r>
            <a:r>
              <a:rPr lang="es-ES" sz="1200" kern="1200" dirty="0">
                <a:solidFill>
                  <a:schemeClr val="tx1"/>
                </a:solidFill>
                <a:effectLst/>
                <a:latin typeface="Times New Roman" pitchFamily="18" charset="0"/>
                <a:ea typeface="+mn-ea"/>
                <a:cs typeface="+mn-cs"/>
              </a:rPr>
              <a:t> t</a:t>
            </a:r>
            <a:r>
              <a:rPr lang="es-ES" sz="1200" kern="1200" baseline="-25000" dirty="0">
                <a:solidFill>
                  <a:schemeClr val="tx1"/>
                </a:solidFill>
                <a:effectLst/>
                <a:latin typeface="Times New Roman" pitchFamily="18" charset="0"/>
                <a:ea typeface="+mn-ea"/>
                <a:cs typeface="+mn-cs"/>
              </a:rPr>
              <a:t>4</a:t>
            </a:r>
            <a:r>
              <a:rPr lang="es-ES" sz="1200" kern="1200" dirty="0">
                <a:solidFill>
                  <a:schemeClr val="tx1"/>
                </a:solidFill>
                <a:effectLst/>
                <a:latin typeface="Times New Roman" pitchFamily="18" charset="0"/>
                <a:ea typeface="+mn-ea"/>
                <a:cs typeface="+mn-cs"/>
              </a:rPr>
              <a:t> en (d) en este caso P</a:t>
            </a:r>
            <a:r>
              <a:rPr lang="es-ES" sz="1200" kern="1200" baseline="-25000" dirty="0">
                <a:solidFill>
                  <a:schemeClr val="tx1"/>
                </a:solidFill>
                <a:effectLst/>
                <a:latin typeface="Times New Roman" pitchFamily="18" charset="0"/>
                <a:ea typeface="+mn-ea"/>
                <a:cs typeface="+mn-cs"/>
              </a:rPr>
              <a:t>3</a:t>
            </a:r>
            <a:r>
              <a:rPr lang="es-ES" sz="1200" kern="1200" dirty="0">
                <a:solidFill>
                  <a:schemeClr val="tx1"/>
                </a:solidFill>
                <a:effectLst/>
                <a:latin typeface="Times New Roman" pitchFamily="18" charset="0"/>
                <a:ea typeface="+mn-ea"/>
                <a:cs typeface="+mn-cs"/>
              </a:rPr>
              <a:t> modela un recurso compartido entre dos procesos.  Puede ocurrir que un proceso no pueda nunca obtener un recurso: inanición (</a:t>
            </a:r>
            <a:r>
              <a:rPr lang="es-ES" sz="1200" i="1" kern="1200" dirty="0" err="1">
                <a:solidFill>
                  <a:schemeClr val="tx1"/>
                </a:solidFill>
                <a:effectLst/>
                <a:latin typeface="Times New Roman" pitchFamily="18" charset="0"/>
                <a:ea typeface="+mn-ea"/>
                <a:cs typeface="+mn-cs"/>
              </a:rPr>
              <a:t>starvation</a:t>
            </a:r>
            <a:r>
              <a:rPr lang="es-ES" sz="1200" i="1" kern="1200" dirty="0">
                <a:solidFill>
                  <a:schemeClr val="tx1"/>
                </a:solidFill>
                <a:effectLst/>
                <a:latin typeface="Times New Roman" pitchFamily="18" charset="0"/>
                <a:ea typeface="+mn-ea"/>
                <a:cs typeface="+mn-cs"/>
              </a:rPr>
              <a:t>)</a:t>
            </a:r>
            <a:endParaRPr lang="es-ES" sz="1200" kern="1200" dirty="0">
              <a:solidFill>
                <a:schemeClr val="tx1"/>
              </a:solidFill>
              <a:effectLst/>
              <a:latin typeface="Times New Roman" pitchFamily="18" charset="0"/>
              <a:ea typeface="+mn-ea"/>
              <a:cs typeface="+mn-cs"/>
            </a:endParaRP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14</a:t>
            </a:fld>
            <a:endParaRPr lang="es-ES_tradnl"/>
          </a:p>
        </p:txBody>
      </p:sp>
    </p:spTree>
    <p:extLst>
      <p:ext uri="{BB962C8B-B14F-4D97-AF65-F5344CB8AC3E}">
        <p14:creationId xmlns:p14="http://schemas.microsoft.com/office/powerpoint/2010/main" val="29820185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1 Marcador de imagen de diapositiva"/>
          <p:cNvSpPr>
            <a:spLocks noGrp="1" noRot="1" noChangeAspect="1" noTextEdit="1"/>
          </p:cNvSpPr>
          <p:nvPr>
            <p:ph type="sldImg"/>
          </p:nvPr>
        </p:nvSpPr>
        <p:spPr>
          <a:ln/>
        </p:spPr>
      </p:sp>
      <p:sp>
        <p:nvSpPr>
          <p:cNvPr id="78851" name="2 Marcador de notas"/>
          <p:cNvSpPr>
            <a:spLocks noGrp="1"/>
          </p:cNvSpPr>
          <p:nvPr>
            <p:ph type="body" idx="1"/>
          </p:nvPr>
        </p:nvSpPr>
        <p:spPr>
          <a:noFill/>
        </p:spPr>
        <p:txBody>
          <a:bodyPr/>
          <a:lstStyle/>
          <a:p>
            <a:r>
              <a:rPr lang="es-ES" dirty="0"/>
              <a:t>El Lenguaje Z es un lenguaje formal utilizado en Ingeniería del software para la especificación formal de un sistema de cómputo, como una fase previa al desarrollo del código de programa para el mismo en un lenguaje de programación. Fue desarrollado por Jean-Raymond </a:t>
            </a:r>
            <a:r>
              <a:rPr lang="es-ES" dirty="0" err="1"/>
              <a:t>Abrial</a:t>
            </a:r>
            <a:r>
              <a:rPr lang="es-ES" dirty="0"/>
              <a:t> mientras formaba parte del Grupo de investigación en Programación del Laboratorio de computación de la Universidad de Oxford.</a:t>
            </a:r>
          </a:p>
          <a:p>
            <a:r>
              <a:rPr lang="es-ES" sz="1200" kern="1200" dirty="0">
                <a:solidFill>
                  <a:schemeClr val="tx1"/>
                </a:solidFill>
                <a:effectLst/>
                <a:latin typeface="Times New Roman" pitchFamily="18" charset="0"/>
                <a:ea typeface="+mn-ea"/>
                <a:cs typeface="+mn-cs"/>
              </a:rPr>
              <a:t>Los esquemas sirven para :</a:t>
            </a:r>
          </a:p>
          <a:p>
            <a:pPr lvl="0"/>
            <a:r>
              <a:rPr lang="es-ES" sz="1200" kern="1200" dirty="0">
                <a:solidFill>
                  <a:schemeClr val="tx1"/>
                </a:solidFill>
                <a:effectLst/>
                <a:latin typeface="Times New Roman" pitchFamily="18" charset="0"/>
                <a:ea typeface="+mn-ea"/>
                <a:cs typeface="+mn-cs"/>
              </a:rPr>
              <a:t>Modelar los aspectos estáticos ( los estados que puede alcanzar un sistema o los invariantes que deben conservarse en todos los estados)</a:t>
            </a:r>
          </a:p>
          <a:p>
            <a:r>
              <a:rPr lang="es-ES" sz="1200" kern="1200" dirty="0">
                <a:solidFill>
                  <a:schemeClr val="tx1"/>
                </a:solidFill>
                <a:effectLst/>
                <a:latin typeface="Times New Roman" pitchFamily="18" charset="0"/>
                <a:ea typeface="+mn-ea"/>
                <a:cs typeface="+mn-cs"/>
              </a:rPr>
              <a:t> Modelar los aspectos dinámicos (las operaciones que pueden realizarse sobre el sistema, las relaciones entre las entradas y las salidas o la definición de cuándo y cómo se producen los cambios de estado). </a:t>
            </a:r>
          </a:p>
          <a:p>
            <a:endParaRPr lang="es-ES" dirty="0"/>
          </a:p>
          <a:p>
            <a:endParaRPr lang="es-ES" dirty="0"/>
          </a:p>
        </p:txBody>
      </p:sp>
      <p:sp>
        <p:nvSpPr>
          <p:cNvPr id="78852" name="3 Marcador de número de diapositiva"/>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C894BA37-0AE0-4AE4-8EF3-20DF7FF9492E}" type="slidenum">
              <a:rPr lang="es-ES_tradnl" sz="1200"/>
              <a:pPr/>
              <a:t>15</a:t>
            </a:fld>
            <a:endParaRPr lang="es-ES_tradnl"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1 Marcador de imagen de diapositiva"/>
          <p:cNvSpPr>
            <a:spLocks noGrp="1" noRot="1" noChangeAspect="1" noTextEdit="1"/>
          </p:cNvSpPr>
          <p:nvPr>
            <p:ph type="sldImg"/>
          </p:nvPr>
        </p:nvSpPr>
        <p:spPr>
          <a:ln/>
        </p:spPr>
      </p:sp>
      <p:sp>
        <p:nvSpPr>
          <p:cNvPr id="79875" name="2 Marcador de notas"/>
          <p:cNvSpPr>
            <a:spLocks noGrp="1"/>
          </p:cNvSpPr>
          <p:nvPr>
            <p:ph type="body" idx="1"/>
          </p:nvPr>
        </p:nvSpPr>
        <p:spPr>
          <a:noFill/>
        </p:spPr>
        <p:txBody>
          <a:bodyPr/>
          <a:lstStyle/>
          <a:p>
            <a:endParaRPr lang="es-ES" dirty="0"/>
          </a:p>
          <a:p>
            <a:pPr lvl="0"/>
            <a:r>
              <a:rPr lang="es-ES" sz="1200" kern="1200" dirty="0">
                <a:solidFill>
                  <a:schemeClr val="tx1"/>
                </a:solidFill>
                <a:effectLst/>
                <a:latin typeface="Times New Roman" pitchFamily="18" charset="0"/>
                <a:ea typeface="+mn-ea"/>
                <a:cs typeface="+mn-cs"/>
              </a:rPr>
              <a:t>Los esquemas se representan mediante cajas divididas en dos partes. En la superior se realiza la declaración del nombre de variables y sus tipos, mientras que la parte inferior expresa, de forma declarativa, la relación entre las variables que forman el esquema. </a:t>
            </a:r>
            <a:r>
              <a:rPr lang="es-ES" sz="1200" kern="1200" dirty="0" err="1">
                <a:solidFill>
                  <a:schemeClr val="tx1"/>
                </a:solidFill>
                <a:effectLst/>
                <a:latin typeface="Times New Roman" pitchFamily="18" charset="0"/>
                <a:ea typeface="+mn-ea"/>
                <a:cs typeface="+mn-cs"/>
              </a:rPr>
              <a:t>Aqui</a:t>
            </a:r>
            <a:r>
              <a:rPr lang="es-ES" sz="1200" kern="1200" dirty="0">
                <a:solidFill>
                  <a:schemeClr val="tx1"/>
                </a:solidFill>
                <a:effectLst/>
                <a:latin typeface="Times New Roman" pitchFamily="18" charset="0"/>
                <a:ea typeface="+mn-ea"/>
                <a:cs typeface="+mn-cs"/>
              </a:rPr>
              <a:t> podemos ver un ejemplo de esquema para el tipo abstracto cola </a:t>
            </a:r>
          </a:p>
          <a:p>
            <a:r>
              <a:rPr lang="en-US" dirty="0"/>
              <a:t>Podemos</a:t>
            </a:r>
            <a:r>
              <a:rPr lang="en-US" baseline="0" dirty="0"/>
              <a:t> </a:t>
            </a:r>
            <a:r>
              <a:rPr lang="en-US" baseline="0" dirty="0" err="1"/>
              <a:t>decir</a:t>
            </a:r>
            <a:r>
              <a:rPr lang="en-US" baseline="0" dirty="0"/>
              <a:t> que dos de las </a:t>
            </a:r>
            <a:r>
              <a:rPr lang="en-US" baseline="0" dirty="0" err="1"/>
              <a:t>ventajas</a:t>
            </a:r>
            <a:r>
              <a:rPr lang="en-US" baseline="0" dirty="0"/>
              <a:t> que </a:t>
            </a:r>
            <a:r>
              <a:rPr lang="en-US" baseline="0" dirty="0" err="1"/>
              <a:t>tiene</a:t>
            </a:r>
            <a:r>
              <a:rPr lang="en-US" baseline="0" dirty="0"/>
              <a:t> </a:t>
            </a:r>
            <a:r>
              <a:rPr lang="en-US" baseline="0" dirty="0" err="1"/>
              <a:t>el</a:t>
            </a:r>
            <a:r>
              <a:rPr lang="en-US" baseline="0" dirty="0"/>
              <a:t> </a:t>
            </a:r>
            <a:r>
              <a:rPr lang="en-US" baseline="0" dirty="0" err="1"/>
              <a:t>lenguaje</a:t>
            </a:r>
            <a:r>
              <a:rPr lang="en-US" baseline="0" dirty="0"/>
              <a:t> Z a </a:t>
            </a:r>
            <a:r>
              <a:rPr lang="en-US" baseline="0" dirty="0" err="1"/>
              <a:t>nuestro</a:t>
            </a:r>
            <a:r>
              <a:rPr lang="en-US" baseline="0" dirty="0"/>
              <a:t> </a:t>
            </a:r>
            <a:r>
              <a:rPr lang="en-US" baseline="0" dirty="0" err="1"/>
              <a:t>parecer</a:t>
            </a:r>
            <a:r>
              <a:rPr lang="en-US" baseline="0" dirty="0"/>
              <a:t>  son:</a:t>
            </a:r>
          </a:p>
          <a:p>
            <a:pPr lvl="0"/>
            <a:r>
              <a:rPr lang="es-ES" sz="1200" kern="1200" dirty="0">
                <a:solidFill>
                  <a:schemeClr val="tx1"/>
                </a:solidFill>
                <a:effectLst/>
                <a:latin typeface="Times New Roman" pitchFamily="18" charset="0"/>
                <a:ea typeface="+mn-ea"/>
                <a:cs typeface="+mn-cs"/>
              </a:rPr>
              <a:t>La notación Z es muy expresiva para modelar entidades estáticas y su comportamiento</a:t>
            </a:r>
          </a:p>
          <a:p>
            <a:pPr lvl="0"/>
            <a:r>
              <a:rPr lang="es-ES" sz="1200" kern="1200" dirty="0">
                <a:solidFill>
                  <a:schemeClr val="tx1"/>
                </a:solidFill>
                <a:effectLst/>
                <a:latin typeface="Times New Roman" pitchFamily="18" charset="0"/>
                <a:ea typeface="+mn-ea"/>
                <a:cs typeface="+mn-cs"/>
              </a:rPr>
              <a:t>ofrece una metodología para la derivación de implementaciones a partir de las especificaciones, mediante un proceso de refinamiento</a:t>
            </a:r>
          </a:p>
          <a:p>
            <a:pPr lvl="0"/>
            <a:endParaRPr lang="es-ES" sz="1200" kern="1200" dirty="0">
              <a:solidFill>
                <a:schemeClr val="tx1"/>
              </a:solidFill>
              <a:effectLst/>
              <a:latin typeface="Times New Roman" pitchFamily="18" charset="0"/>
              <a:ea typeface="+mn-ea"/>
              <a:cs typeface="+mn-cs"/>
            </a:endParaRPr>
          </a:p>
        </p:txBody>
      </p:sp>
      <p:sp>
        <p:nvSpPr>
          <p:cNvPr id="79876" name="3 Marcador de número de diapositiva"/>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C866353-432D-4B70-ABDD-98C17BF8D712}" type="slidenum">
              <a:rPr lang="es-ES_tradnl" sz="1200"/>
              <a:pPr/>
              <a:t>16</a:t>
            </a:fld>
            <a:endParaRPr lang="es-ES_tradnl"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B0BE2-03BA-C426-494C-8660DC892966}"/>
            </a:ext>
          </a:extLst>
        </p:cNvPr>
        <p:cNvGrpSpPr/>
        <p:nvPr/>
      </p:nvGrpSpPr>
      <p:grpSpPr>
        <a:xfrm>
          <a:off x="0" y="0"/>
          <a:ext cx="0" cy="0"/>
          <a:chOff x="0" y="0"/>
          <a:chExt cx="0" cy="0"/>
        </a:xfrm>
      </p:grpSpPr>
      <p:sp>
        <p:nvSpPr>
          <p:cNvPr id="79874" name="1 Marcador de imagen de diapositiva">
            <a:extLst>
              <a:ext uri="{FF2B5EF4-FFF2-40B4-BE49-F238E27FC236}">
                <a16:creationId xmlns:a16="http://schemas.microsoft.com/office/drawing/2014/main" id="{464CC2F4-DC70-492D-5E24-91B86AA8B060}"/>
              </a:ext>
            </a:extLst>
          </p:cNvPr>
          <p:cNvSpPr>
            <a:spLocks noGrp="1" noRot="1" noChangeAspect="1" noTextEdit="1"/>
          </p:cNvSpPr>
          <p:nvPr>
            <p:ph type="sldImg"/>
          </p:nvPr>
        </p:nvSpPr>
        <p:spPr>
          <a:ln/>
        </p:spPr>
      </p:sp>
      <p:sp>
        <p:nvSpPr>
          <p:cNvPr id="79875" name="2 Marcador de notas">
            <a:extLst>
              <a:ext uri="{FF2B5EF4-FFF2-40B4-BE49-F238E27FC236}">
                <a16:creationId xmlns:a16="http://schemas.microsoft.com/office/drawing/2014/main" id="{1DC9FC5C-F329-FF8E-618F-86DDF8EE25BF}"/>
              </a:ext>
            </a:extLst>
          </p:cNvPr>
          <p:cNvSpPr>
            <a:spLocks noGrp="1"/>
          </p:cNvSpPr>
          <p:nvPr>
            <p:ph type="body" idx="1"/>
          </p:nvPr>
        </p:nvSpPr>
        <p:spPr>
          <a:noFill/>
        </p:spPr>
        <p:txBody>
          <a:bodyPr/>
          <a:lstStyle/>
          <a:p>
            <a:endParaRPr lang="es-ES" dirty="0"/>
          </a:p>
          <a:p>
            <a:pPr lvl="0"/>
            <a:r>
              <a:rPr lang="es-ES" sz="1200" kern="1200" dirty="0">
                <a:solidFill>
                  <a:schemeClr val="tx1"/>
                </a:solidFill>
                <a:effectLst/>
                <a:latin typeface="Times New Roman" pitchFamily="18" charset="0"/>
                <a:ea typeface="+mn-ea"/>
                <a:cs typeface="+mn-cs"/>
              </a:rPr>
              <a:t>Estos métodos son utilizados en diferentes contextos, desde el desarrollo de software hasta sistemas embebidos y críticos. Su elección depende de las características del proyecto y los requisitos específicos.</a:t>
            </a:r>
          </a:p>
        </p:txBody>
      </p:sp>
      <p:sp>
        <p:nvSpPr>
          <p:cNvPr id="79876" name="3 Marcador de número de diapositiva">
            <a:extLst>
              <a:ext uri="{FF2B5EF4-FFF2-40B4-BE49-F238E27FC236}">
                <a16:creationId xmlns:a16="http://schemas.microsoft.com/office/drawing/2014/main" id="{86139346-FE8F-972D-B1D5-9CC3EBF00D60}"/>
              </a:ext>
            </a:extLst>
          </p:cNvPr>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C866353-432D-4B70-ABDD-98C17BF8D712}" type="slidenum">
              <a:rPr lang="es-ES_tradnl" sz="1200"/>
              <a:pPr/>
              <a:t>17</a:t>
            </a:fld>
            <a:endParaRPr lang="es-ES_tradnl" sz="1200"/>
          </a:p>
        </p:txBody>
      </p:sp>
    </p:spTree>
    <p:extLst>
      <p:ext uri="{BB962C8B-B14F-4D97-AF65-F5344CB8AC3E}">
        <p14:creationId xmlns:p14="http://schemas.microsoft.com/office/powerpoint/2010/main" val="28955746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BF302-F933-3779-1541-22D58DBEA544}"/>
            </a:ext>
          </a:extLst>
        </p:cNvPr>
        <p:cNvGrpSpPr/>
        <p:nvPr/>
      </p:nvGrpSpPr>
      <p:grpSpPr>
        <a:xfrm>
          <a:off x="0" y="0"/>
          <a:ext cx="0" cy="0"/>
          <a:chOff x="0" y="0"/>
          <a:chExt cx="0" cy="0"/>
        </a:xfrm>
      </p:grpSpPr>
      <p:sp>
        <p:nvSpPr>
          <p:cNvPr id="79874" name="1 Marcador de imagen de diapositiva">
            <a:extLst>
              <a:ext uri="{FF2B5EF4-FFF2-40B4-BE49-F238E27FC236}">
                <a16:creationId xmlns:a16="http://schemas.microsoft.com/office/drawing/2014/main" id="{DF7DDDE0-5B70-7604-C7DD-4C7E23263DEA}"/>
              </a:ext>
            </a:extLst>
          </p:cNvPr>
          <p:cNvSpPr>
            <a:spLocks noGrp="1" noRot="1" noChangeAspect="1" noTextEdit="1"/>
          </p:cNvSpPr>
          <p:nvPr>
            <p:ph type="sldImg"/>
          </p:nvPr>
        </p:nvSpPr>
        <p:spPr>
          <a:ln/>
        </p:spPr>
      </p:sp>
      <p:sp>
        <p:nvSpPr>
          <p:cNvPr id="79875" name="2 Marcador de notas">
            <a:extLst>
              <a:ext uri="{FF2B5EF4-FFF2-40B4-BE49-F238E27FC236}">
                <a16:creationId xmlns:a16="http://schemas.microsoft.com/office/drawing/2014/main" id="{E7353D94-8820-FEF2-1D39-34350D8D59B1}"/>
              </a:ext>
            </a:extLst>
          </p:cNvPr>
          <p:cNvSpPr>
            <a:spLocks noGrp="1"/>
          </p:cNvSpPr>
          <p:nvPr>
            <p:ph type="body" idx="1"/>
          </p:nvPr>
        </p:nvSpPr>
        <p:spPr>
          <a:noFill/>
        </p:spPr>
        <p:txBody>
          <a:bodyPr/>
          <a:lstStyle/>
          <a:p>
            <a:r>
              <a:rPr lang="es-ES" dirty="0"/>
              <a:t>Los métodos no formales de especificación de requerimientos son enfoques más flexibles y menos rigurosos que los métodos formales. Estos métodos suelen ser más accesibles y se utilizan comúnmente en la práctica del desarrollo de software, especialmente en entornos ágiles. </a:t>
            </a:r>
          </a:p>
          <a:p>
            <a:endParaRPr lang="es-ES" dirty="0"/>
          </a:p>
          <a:p>
            <a:pPr>
              <a:buFont typeface="Wingdings" panose="05000000000000000000" pitchFamily="2" charset="2"/>
              <a:buChar char="Ø"/>
            </a:pPr>
            <a:r>
              <a:rPr lang="es-ES" sz="1200" dirty="0"/>
              <a:t>1. Entrevistas: Conversaciones directas con los interesados (</a:t>
            </a:r>
            <a:r>
              <a:rPr lang="es-ES" sz="1200" dirty="0" err="1"/>
              <a:t>stakeholders</a:t>
            </a:r>
            <a:r>
              <a:rPr lang="es-ES" sz="1200" dirty="0"/>
              <a:t>) para recopilar requisitos. Permiten obtener información detallada y comprender mejor las necesidades y expectativas.</a:t>
            </a:r>
          </a:p>
          <a:p>
            <a:pPr>
              <a:buFont typeface="Wingdings" panose="05000000000000000000" pitchFamily="2" charset="2"/>
              <a:buChar char="Ø"/>
            </a:pPr>
            <a:endParaRPr lang="es-ES" sz="1200" dirty="0"/>
          </a:p>
          <a:p>
            <a:pPr>
              <a:buFont typeface="Wingdings" panose="05000000000000000000" pitchFamily="2" charset="2"/>
              <a:buChar char="Ø"/>
            </a:pPr>
            <a:r>
              <a:rPr lang="es-ES" sz="1200" dirty="0"/>
              <a:t>2. Cuestionarios y encuestas: Herramientas utilizadas para recopilar información de un grupo más amplio de interesados, permitiendo obtener datos cuantitativos y cualitativos sobre los requerimientos.</a:t>
            </a:r>
          </a:p>
          <a:p>
            <a:pPr>
              <a:buFont typeface="Wingdings" panose="05000000000000000000" pitchFamily="2" charset="2"/>
              <a:buChar char="Ø"/>
            </a:pPr>
            <a:endParaRPr lang="es-ES" sz="1200" dirty="0"/>
          </a:p>
          <a:p>
            <a:pPr>
              <a:buFont typeface="Wingdings" panose="05000000000000000000" pitchFamily="2" charset="2"/>
              <a:buChar char="Ø"/>
            </a:pPr>
            <a:r>
              <a:rPr lang="es-ES" sz="1200" dirty="0"/>
              <a:t>3. Talleres de requisitos: Sesiones colaborativas donde diferentes partes interesadas se reúnen para discutir y definir los requisitos del sistema. Fomentan la comunicación y el consenso.</a:t>
            </a:r>
          </a:p>
          <a:p>
            <a:pPr>
              <a:buFont typeface="Wingdings" panose="05000000000000000000" pitchFamily="2" charset="2"/>
              <a:buChar char="Ø"/>
            </a:pPr>
            <a:endParaRPr lang="es-ES" sz="1200" dirty="0"/>
          </a:p>
          <a:p>
            <a:pPr>
              <a:buFont typeface="Wingdings" panose="05000000000000000000" pitchFamily="2" charset="2"/>
              <a:buChar char="Ø"/>
            </a:pPr>
            <a:r>
              <a:rPr lang="es-ES" sz="1200" dirty="0"/>
              <a:t>4. Historias de usuario: En el contexto de metodologías ágiles como Scrum, las historias de usuario son descripciones breves y simples de una funcionalidad desde la perspectiva del usuario final. Se centran en el valor que se proporciona al usuario.</a:t>
            </a:r>
          </a:p>
          <a:p>
            <a:pPr>
              <a:buFont typeface="Wingdings" panose="05000000000000000000" pitchFamily="2" charset="2"/>
              <a:buChar char="Ø"/>
            </a:pPr>
            <a:endParaRPr lang="es-ES" sz="1200" dirty="0"/>
          </a:p>
          <a:p>
            <a:endParaRPr lang="es-ES" dirty="0"/>
          </a:p>
        </p:txBody>
      </p:sp>
      <p:sp>
        <p:nvSpPr>
          <p:cNvPr id="79876" name="3 Marcador de número de diapositiva">
            <a:extLst>
              <a:ext uri="{FF2B5EF4-FFF2-40B4-BE49-F238E27FC236}">
                <a16:creationId xmlns:a16="http://schemas.microsoft.com/office/drawing/2014/main" id="{760A1405-36A7-4E02-A685-25698B02C049}"/>
              </a:ext>
            </a:extLst>
          </p:cNvPr>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C866353-432D-4B70-ABDD-98C17BF8D712}" type="slidenum">
              <a:rPr lang="es-ES_tradnl" sz="1200"/>
              <a:pPr/>
              <a:t>18</a:t>
            </a:fld>
            <a:endParaRPr lang="es-ES_tradnl" sz="1200"/>
          </a:p>
        </p:txBody>
      </p:sp>
    </p:spTree>
    <p:extLst>
      <p:ext uri="{BB962C8B-B14F-4D97-AF65-F5344CB8AC3E}">
        <p14:creationId xmlns:p14="http://schemas.microsoft.com/office/powerpoint/2010/main" val="36430197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23D07-2D8B-DE7E-E369-D1546CC7C82A}"/>
            </a:ext>
          </a:extLst>
        </p:cNvPr>
        <p:cNvGrpSpPr/>
        <p:nvPr/>
      </p:nvGrpSpPr>
      <p:grpSpPr>
        <a:xfrm>
          <a:off x="0" y="0"/>
          <a:ext cx="0" cy="0"/>
          <a:chOff x="0" y="0"/>
          <a:chExt cx="0" cy="0"/>
        </a:xfrm>
      </p:grpSpPr>
      <p:sp>
        <p:nvSpPr>
          <p:cNvPr id="79874" name="1 Marcador de imagen de diapositiva">
            <a:extLst>
              <a:ext uri="{FF2B5EF4-FFF2-40B4-BE49-F238E27FC236}">
                <a16:creationId xmlns:a16="http://schemas.microsoft.com/office/drawing/2014/main" id="{010A8D02-B776-5583-3F70-F273100097B3}"/>
              </a:ext>
            </a:extLst>
          </p:cNvPr>
          <p:cNvSpPr>
            <a:spLocks noGrp="1" noRot="1" noChangeAspect="1" noTextEdit="1"/>
          </p:cNvSpPr>
          <p:nvPr>
            <p:ph type="sldImg"/>
          </p:nvPr>
        </p:nvSpPr>
        <p:spPr>
          <a:ln/>
        </p:spPr>
      </p:sp>
      <p:sp>
        <p:nvSpPr>
          <p:cNvPr id="79875" name="2 Marcador de notas">
            <a:extLst>
              <a:ext uri="{FF2B5EF4-FFF2-40B4-BE49-F238E27FC236}">
                <a16:creationId xmlns:a16="http://schemas.microsoft.com/office/drawing/2014/main" id="{C210A530-1E60-98D3-E761-5B3107416CD3}"/>
              </a:ext>
            </a:extLst>
          </p:cNvPr>
          <p:cNvSpPr>
            <a:spLocks noGrp="1"/>
          </p:cNvSpPr>
          <p:nvPr>
            <p:ph type="body" idx="1"/>
          </p:nvPr>
        </p:nvSpPr>
        <p:spPr>
          <a:noFill/>
        </p:spPr>
        <p:txBody>
          <a:bodyPr/>
          <a:lstStyle/>
          <a:p>
            <a:r>
              <a:rPr lang="es-ES" dirty="0"/>
              <a:t>5. Prototipos: Creación de modelos preliminares del sistema (ya sean de baja o alta fidelidad) que permiten a los interesados visualizar el producto final y proporcionar retroalimentación sobre los requisitos.</a:t>
            </a:r>
          </a:p>
          <a:p>
            <a:endParaRPr lang="es-ES" dirty="0"/>
          </a:p>
          <a:p>
            <a:r>
              <a:rPr lang="es-ES" dirty="0"/>
              <a:t>6. Modelado visual: Uso de diagramas (como diagramas de flujo, diagramas de casos de uso, etc.) para representar visualmente los procesos y requisitos del sistema, facilitando la comprensión y discusión.</a:t>
            </a:r>
          </a:p>
          <a:p>
            <a:endParaRPr lang="es-ES" dirty="0"/>
          </a:p>
          <a:p>
            <a:r>
              <a:rPr lang="es-ES" dirty="0"/>
              <a:t>7. Documentación narrativa: Descripciones textuales que detallan los requisitos sin seguir una estructura formal. Pueden incluir casos de uso, descripciones funcionales o especificaciones técnicas.</a:t>
            </a:r>
          </a:p>
          <a:p>
            <a:endParaRPr lang="es-ES" dirty="0"/>
          </a:p>
          <a:p>
            <a:r>
              <a:rPr lang="es-ES" dirty="0"/>
              <a:t>8. Análisis de documentos existentes: Revisión de documentación previa (como manuales, informes y especificaciones anteriores) para identificar requisitos relevantes y lecciones aprendidas.</a:t>
            </a:r>
          </a:p>
          <a:p>
            <a:endParaRPr lang="es-ES" dirty="0"/>
          </a:p>
          <a:p>
            <a:r>
              <a:rPr lang="es-ES" dirty="0"/>
              <a:t>9. Reuniones de revisión: Sesiones periódicas donde se revisan los requisitos existentes y se discuten cambios o adiciones necesarias, permitiendo una gestión continua de los requisitos.</a:t>
            </a:r>
          </a:p>
          <a:p>
            <a:endParaRPr lang="es-ES" dirty="0"/>
          </a:p>
          <a:p>
            <a:r>
              <a:rPr lang="es-ES" dirty="0"/>
              <a:t>10. </a:t>
            </a:r>
            <a:r>
              <a:rPr lang="es-ES" dirty="0" err="1"/>
              <a:t>Brainstorming</a:t>
            </a:r>
            <a:r>
              <a:rPr lang="es-ES" dirty="0"/>
              <a:t>: Sesiones creativas donde se generan ideas y posibles requisitos en un ambiente colaborativo, fomentando la participación activa de todos los interesados.</a:t>
            </a:r>
          </a:p>
        </p:txBody>
      </p:sp>
      <p:sp>
        <p:nvSpPr>
          <p:cNvPr id="79876" name="3 Marcador de número de diapositiva">
            <a:extLst>
              <a:ext uri="{FF2B5EF4-FFF2-40B4-BE49-F238E27FC236}">
                <a16:creationId xmlns:a16="http://schemas.microsoft.com/office/drawing/2014/main" id="{DA4C1361-DD82-5A07-026A-DEA8357298E6}"/>
              </a:ext>
            </a:extLst>
          </p:cNvPr>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C866353-432D-4B70-ABDD-98C17BF8D712}" type="slidenum">
              <a:rPr lang="es-ES_tradnl" sz="1200"/>
              <a:pPr/>
              <a:t>19</a:t>
            </a:fld>
            <a:endParaRPr lang="es-ES_tradnl" sz="1200"/>
          </a:p>
        </p:txBody>
      </p:sp>
    </p:spTree>
    <p:extLst>
      <p:ext uri="{BB962C8B-B14F-4D97-AF65-F5344CB8AC3E}">
        <p14:creationId xmlns:p14="http://schemas.microsoft.com/office/powerpoint/2010/main" val="31706303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1 Marcador de imagen de diapositiva"/>
          <p:cNvSpPr>
            <a:spLocks noGrp="1" noRot="1" noChangeAspect="1" noTextEdit="1"/>
          </p:cNvSpPr>
          <p:nvPr>
            <p:ph type="sldImg"/>
          </p:nvPr>
        </p:nvSpPr>
        <p:spPr>
          <a:ln/>
        </p:spPr>
      </p:sp>
      <p:sp>
        <p:nvSpPr>
          <p:cNvPr id="79875" name="2 Marcador de notas"/>
          <p:cNvSpPr>
            <a:spLocks noGrp="1"/>
          </p:cNvSpPr>
          <p:nvPr>
            <p:ph type="body" idx="1"/>
          </p:nvPr>
        </p:nvSpPr>
        <p:spPr>
          <a:noFill/>
        </p:spPr>
        <p:txBody>
          <a:bodyPr/>
          <a:lstStyle/>
          <a:p>
            <a:r>
              <a:rPr lang="es-ES" sz="1600" kern="1200" dirty="0">
                <a:solidFill>
                  <a:schemeClr val="tx1"/>
                </a:solidFill>
                <a:effectLst/>
                <a:latin typeface="Times New Roman" pitchFamily="18" charset="0"/>
                <a:ea typeface="+mn-ea"/>
                <a:cs typeface="+mn-cs"/>
              </a:rPr>
              <a:t>Este lenguaje de especificación debe emplearse en el modelado de las estructuras del proyecto y en la repartición de responsabilidades entre las estructuras, en la organización del proyecto después la documentación de las funcionalidades que este debe suplir y requerimientos que este</a:t>
            </a:r>
          </a:p>
          <a:p>
            <a:r>
              <a:rPr lang="es-ES" sz="1600" kern="1200" dirty="0">
                <a:solidFill>
                  <a:schemeClr val="tx1"/>
                </a:solidFill>
                <a:effectLst/>
                <a:latin typeface="Times New Roman" pitchFamily="18" charset="0"/>
                <a:ea typeface="+mn-ea"/>
                <a:cs typeface="+mn-cs"/>
              </a:rPr>
              <a:t>debe tener.</a:t>
            </a:r>
          </a:p>
          <a:p>
            <a:r>
              <a:rPr lang="es-ES" sz="1200" kern="1200" baseline="0" dirty="0">
                <a:solidFill>
                  <a:schemeClr val="tx1"/>
                </a:solidFill>
                <a:effectLst/>
                <a:latin typeface="Times New Roman" pitchFamily="18" charset="0"/>
                <a:ea typeface="+mn-ea"/>
                <a:cs typeface="+mn-cs"/>
              </a:rPr>
              <a:t>Ventajas:</a:t>
            </a:r>
          </a:p>
          <a:p>
            <a:r>
              <a:rPr lang="es-ES" sz="1200" kern="1200" baseline="0" dirty="0">
                <a:solidFill>
                  <a:schemeClr val="tx1"/>
                </a:solidFill>
                <a:effectLst/>
                <a:latin typeface="Times New Roman" pitchFamily="18" charset="0"/>
                <a:ea typeface="+mn-ea"/>
                <a:cs typeface="+mn-cs"/>
              </a:rPr>
              <a:t>Es un modelo fácil de construir y modificar. Permite ver las funcionalidades y módulos a implementar como objetos, facilitando su</a:t>
            </a:r>
          </a:p>
          <a:p>
            <a:r>
              <a:rPr lang="es-ES" sz="1200" kern="1200" baseline="0" dirty="0">
                <a:solidFill>
                  <a:schemeClr val="tx1"/>
                </a:solidFill>
                <a:effectLst/>
                <a:latin typeface="Times New Roman" pitchFamily="18" charset="0"/>
                <a:ea typeface="+mn-ea"/>
                <a:cs typeface="+mn-cs"/>
              </a:rPr>
              <a:t>organización y comprensión. Es conciso. Los esquemas ayudan a los integrantes del equipo a entenderse mutuamente, y a ponerse</a:t>
            </a:r>
          </a:p>
          <a:p>
            <a:r>
              <a:rPr lang="es-ES" sz="1200" kern="1200" baseline="0" dirty="0">
                <a:solidFill>
                  <a:schemeClr val="tx1"/>
                </a:solidFill>
                <a:effectLst/>
                <a:latin typeface="Times New Roman" pitchFamily="18" charset="0"/>
                <a:ea typeface="+mn-ea"/>
                <a:cs typeface="+mn-cs"/>
              </a:rPr>
              <a:t>de acuerdo respecto a la estructura del software y donde ubicar cada funcionalidad. Es una buena herramienta para la organización y repartición de roles entre los diferentes módulos del software. A medida que se construye el modelo pueden surgir nuevas ideas de estructuras a las cuales</a:t>
            </a:r>
          </a:p>
          <a:p>
            <a:r>
              <a:rPr lang="es-ES" sz="1200" kern="1200" baseline="0" dirty="0">
                <a:solidFill>
                  <a:schemeClr val="tx1"/>
                </a:solidFill>
                <a:effectLst/>
                <a:latin typeface="Times New Roman" pitchFamily="18" charset="0"/>
                <a:ea typeface="+mn-ea"/>
                <a:cs typeface="+mn-cs"/>
              </a:rPr>
              <a:t>delegar ciertas funcionalidades para lograr una mayor </a:t>
            </a:r>
            <a:r>
              <a:rPr lang="es-ES" sz="1200" kern="1200" baseline="0" dirty="0" err="1">
                <a:solidFill>
                  <a:schemeClr val="tx1"/>
                </a:solidFill>
                <a:effectLst/>
                <a:latin typeface="Times New Roman" pitchFamily="18" charset="0"/>
                <a:ea typeface="+mn-ea"/>
                <a:cs typeface="+mn-cs"/>
              </a:rPr>
              <a:t>eficiencia.Permite</a:t>
            </a:r>
            <a:r>
              <a:rPr lang="es-ES" sz="1200" kern="1200" baseline="0" dirty="0">
                <a:solidFill>
                  <a:schemeClr val="tx1"/>
                </a:solidFill>
                <a:effectLst/>
                <a:latin typeface="Times New Roman" pitchFamily="18" charset="0"/>
                <a:ea typeface="+mn-ea"/>
                <a:cs typeface="+mn-cs"/>
              </a:rPr>
              <a:t> detectar la sobrecarga de funcionalidades sobre un módulo del software, así como las funcionalidades con las cuales sería mejor colaborar o delegar completamente en otro. Permite analizar la correlación entre los diferentes módulos del software. Permite detectar las estructuras con funcionalidades redundantes.</a:t>
            </a:r>
          </a:p>
          <a:p>
            <a:endParaRPr lang="es-ES" sz="1200" kern="1200" baseline="0" dirty="0">
              <a:solidFill>
                <a:schemeClr val="tx1"/>
              </a:solidFill>
              <a:effectLst/>
              <a:latin typeface="Times New Roman" pitchFamily="18" charset="0"/>
              <a:ea typeface="+mn-ea"/>
              <a:cs typeface="+mn-cs"/>
            </a:endParaRPr>
          </a:p>
          <a:p>
            <a:r>
              <a:rPr lang="es-ES" sz="1200" kern="1200" baseline="0" dirty="0">
                <a:solidFill>
                  <a:schemeClr val="tx1"/>
                </a:solidFill>
                <a:effectLst/>
                <a:latin typeface="Times New Roman" pitchFamily="18" charset="0"/>
                <a:ea typeface="+mn-ea"/>
                <a:cs typeface="+mn-cs"/>
              </a:rPr>
              <a:t>Desventajas:</a:t>
            </a:r>
          </a:p>
          <a:p>
            <a:r>
              <a:rPr lang="es-ES" sz="1200" kern="1200" baseline="0" dirty="0">
                <a:solidFill>
                  <a:schemeClr val="tx1"/>
                </a:solidFill>
                <a:effectLst/>
                <a:latin typeface="Times New Roman" pitchFamily="18" charset="0"/>
                <a:ea typeface="+mn-ea"/>
                <a:cs typeface="+mn-cs"/>
              </a:rPr>
              <a:t>Aunque permite representar la correlación de estructuras, no explica como esta se lleva a cabo, lo que le da un poco de ambigüedad al modelo.</a:t>
            </a:r>
          </a:p>
          <a:p>
            <a:r>
              <a:rPr lang="es-ES" sz="1200" kern="1200" baseline="0" dirty="0">
                <a:solidFill>
                  <a:schemeClr val="tx1"/>
                </a:solidFill>
                <a:effectLst/>
                <a:latin typeface="Times New Roman" pitchFamily="18" charset="0"/>
                <a:ea typeface="+mn-ea"/>
                <a:cs typeface="+mn-cs"/>
              </a:rPr>
              <a:t>No es bueno para detectar problemas de requerimientos. Aunque es posible simular escenarios con el modelo, no es bueno para describir situaciones de la realidad y cómo el software reacciona a estas, no se puede representar este flujo de sucesos. No es bueno para representar el uso y compartición de recursos por las diferentes estructuras. Aunque permite asignar cómodamente las responsabilidades de cada estructura, no expresa de ningún modo como estas las suplen. En general da buena idea de "qué" se va a hacer y "con qué", pero no "como", necesitando</a:t>
            </a:r>
          </a:p>
          <a:p>
            <a:r>
              <a:rPr lang="es-ES" sz="1200" kern="1200" baseline="0" dirty="0">
                <a:solidFill>
                  <a:schemeClr val="tx1"/>
                </a:solidFill>
                <a:effectLst/>
                <a:latin typeface="Times New Roman" pitchFamily="18" charset="0"/>
                <a:ea typeface="+mn-ea"/>
                <a:cs typeface="+mn-cs"/>
              </a:rPr>
              <a:t>entonces de otro modelado adyacente para ello. No puede usarse como documentación final del proyecto, debido a su falta de información</a:t>
            </a:r>
          </a:p>
          <a:p>
            <a:r>
              <a:rPr lang="es-ES" sz="1200" kern="1200" baseline="0" dirty="0">
                <a:solidFill>
                  <a:schemeClr val="tx1"/>
                </a:solidFill>
                <a:effectLst/>
                <a:latin typeface="Times New Roman" pitchFamily="18" charset="0"/>
                <a:ea typeface="+mn-ea"/>
                <a:cs typeface="+mn-cs"/>
              </a:rPr>
              <a:t>(es demasiado conciso) y a su informalidad. Es bueno como modelo inicial, debido a su poder organizativo, pero no es tan útil para</a:t>
            </a:r>
          </a:p>
          <a:p>
            <a:r>
              <a:rPr lang="es-ES" sz="1200" kern="1200" baseline="0" dirty="0">
                <a:solidFill>
                  <a:schemeClr val="tx1"/>
                </a:solidFill>
                <a:effectLst/>
                <a:latin typeface="Times New Roman" pitchFamily="18" charset="0"/>
                <a:ea typeface="+mn-ea"/>
                <a:cs typeface="+mn-cs"/>
              </a:rPr>
              <a:t>detectar errores e inconsistencias en momentos más avanzados del proceso constructiv</a:t>
            </a:r>
            <a:r>
              <a:rPr lang="es-ES" sz="1600" kern="1200" dirty="0">
                <a:solidFill>
                  <a:schemeClr val="tx1"/>
                </a:solidFill>
                <a:effectLst/>
                <a:latin typeface="Times New Roman" pitchFamily="18" charset="0"/>
                <a:ea typeface="+mn-ea"/>
                <a:cs typeface="+mn-cs"/>
              </a:rPr>
              <a:t>o.</a:t>
            </a:r>
          </a:p>
          <a:p>
            <a:endParaRPr lang="es-ES" sz="1200" kern="1200" dirty="0">
              <a:solidFill>
                <a:schemeClr val="tx1"/>
              </a:solidFill>
              <a:effectLst/>
              <a:latin typeface="Times New Roman" pitchFamily="18" charset="0"/>
              <a:ea typeface="+mn-ea"/>
              <a:cs typeface="+mn-cs"/>
            </a:endParaRPr>
          </a:p>
        </p:txBody>
      </p:sp>
      <p:sp>
        <p:nvSpPr>
          <p:cNvPr id="79876" name="3 Marcador de número de diapositiva"/>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C866353-432D-4B70-ABDD-98C17BF8D712}" type="slidenum">
              <a:rPr lang="es-ES_tradnl" sz="1200"/>
              <a:pPr/>
              <a:t>20</a:t>
            </a:fld>
            <a:endParaRPr lang="es-ES_tradnl"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1 Marcador de imagen de diapositiva"/>
          <p:cNvSpPr>
            <a:spLocks noGrp="1" noRot="1" noChangeAspect="1" noTextEdit="1"/>
          </p:cNvSpPr>
          <p:nvPr>
            <p:ph type="sldImg"/>
          </p:nvPr>
        </p:nvSpPr>
        <p:spPr>
          <a:ln/>
        </p:spPr>
      </p:sp>
      <p:sp>
        <p:nvSpPr>
          <p:cNvPr id="79875" name="2 Marcador de notas"/>
          <p:cNvSpPr>
            <a:spLocks noGrp="1"/>
          </p:cNvSpPr>
          <p:nvPr>
            <p:ph type="body" idx="1"/>
          </p:nvPr>
        </p:nvSpPr>
        <p:spPr>
          <a:noFill/>
        </p:spPr>
        <p:txBody>
          <a:bodyPr/>
          <a:lstStyle/>
          <a:p>
            <a:endParaRPr lang="es-ES" sz="1600" kern="1200" dirty="0">
              <a:solidFill>
                <a:schemeClr val="tx1"/>
              </a:solidFill>
              <a:effectLst/>
              <a:latin typeface="Times New Roman" pitchFamily="18" charset="0"/>
              <a:ea typeface="+mn-ea"/>
              <a:cs typeface="+mn-cs"/>
            </a:endParaRPr>
          </a:p>
        </p:txBody>
      </p:sp>
      <p:sp>
        <p:nvSpPr>
          <p:cNvPr id="79876" name="3 Marcador de número de diapositiva"/>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C866353-432D-4B70-ABDD-98C17BF8D712}" type="slidenum">
              <a:rPr lang="es-ES_tradnl" sz="1200"/>
              <a:pPr/>
              <a:t>21</a:t>
            </a:fld>
            <a:endParaRPr lang="es-ES_tradnl"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1 Marcador de imagen de diapositiva"/>
          <p:cNvSpPr>
            <a:spLocks noGrp="1" noRot="1" noChangeAspect="1" noTextEdit="1"/>
          </p:cNvSpPr>
          <p:nvPr>
            <p:ph type="sldImg"/>
          </p:nvPr>
        </p:nvSpPr>
        <p:spPr>
          <a:ln/>
        </p:spPr>
      </p:sp>
      <p:sp>
        <p:nvSpPr>
          <p:cNvPr id="79875" name="2 Marcador de notas"/>
          <p:cNvSpPr>
            <a:spLocks noGrp="1"/>
          </p:cNvSpPr>
          <p:nvPr>
            <p:ph type="body" idx="1"/>
          </p:nvPr>
        </p:nvSpPr>
        <p:spPr>
          <a:noFill/>
        </p:spPr>
        <p:txBody>
          <a:bodyPr/>
          <a:lstStyle/>
          <a:p>
            <a:r>
              <a:rPr lang="en-US" dirty="0"/>
              <a:t>En la </a:t>
            </a:r>
            <a:r>
              <a:rPr lang="en-US" dirty="0" err="1"/>
              <a:t>actualidad</a:t>
            </a:r>
            <a:r>
              <a:rPr lang="en-US" dirty="0"/>
              <a:t> es </a:t>
            </a:r>
            <a:r>
              <a:rPr lang="en-US" dirty="0" err="1"/>
              <a:t>muy</a:t>
            </a:r>
            <a:r>
              <a:rPr lang="en-US" dirty="0"/>
              <a:t> </a:t>
            </a:r>
            <a:r>
              <a:rPr lang="en-US" dirty="0" err="1"/>
              <a:t>comun</a:t>
            </a:r>
            <a:r>
              <a:rPr lang="en-US" dirty="0"/>
              <a:t> </a:t>
            </a:r>
            <a:r>
              <a:rPr lang="en-US" dirty="0" err="1"/>
              <a:t>el</a:t>
            </a:r>
            <a:r>
              <a:rPr lang="en-US" dirty="0"/>
              <a:t> </a:t>
            </a:r>
            <a:r>
              <a:rPr lang="en-US" dirty="0" err="1"/>
              <a:t>uso</a:t>
            </a:r>
            <a:r>
              <a:rPr lang="en-US" dirty="0"/>
              <a:t> de storyboard en la </a:t>
            </a:r>
            <a:r>
              <a:rPr lang="en-US" dirty="0" err="1"/>
              <a:t>industria</a:t>
            </a:r>
            <a:r>
              <a:rPr lang="en-US" dirty="0"/>
              <a:t> de </a:t>
            </a:r>
            <a:r>
              <a:rPr lang="en-US" dirty="0" err="1"/>
              <a:t>desarrollo</a:t>
            </a:r>
            <a:r>
              <a:rPr lang="en-US" dirty="0"/>
              <a:t> de software para </a:t>
            </a:r>
            <a:r>
              <a:rPr lang="en-US" dirty="0" err="1"/>
              <a:t>el</a:t>
            </a:r>
            <a:r>
              <a:rPr lang="en-US" dirty="0"/>
              <a:t> </a:t>
            </a:r>
            <a:r>
              <a:rPr lang="en-US" dirty="0" err="1"/>
              <a:t>diseño</a:t>
            </a:r>
            <a:r>
              <a:rPr lang="en-US" dirty="0"/>
              <a:t> de </a:t>
            </a:r>
            <a:r>
              <a:rPr lang="en-US" dirty="0" err="1"/>
              <a:t>sistemas</a:t>
            </a:r>
            <a:r>
              <a:rPr lang="en-US" dirty="0"/>
              <a:t> </a:t>
            </a:r>
            <a:r>
              <a:rPr lang="en-US" dirty="0" err="1"/>
              <a:t>basados</a:t>
            </a:r>
            <a:r>
              <a:rPr lang="en-US" dirty="0"/>
              <a:t> en </a:t>
            </a:r>
            <a:r>
              <a:rPr lang="en-US" dirty="0" err="1"/>
              <a:t>procesos</a:t>
            </a:r>
            <a:r>
              <a:rPr lang="en-US" dirty="0"/>
              <a:t> de </a:t>
            </a:r>
            <a:r>
              <a:rPr lang="en-US" dirty="0" err="1"/>
              <a:t>interacción</a:t>
            </a:r>
            <a:r>
              <a:rPr lang="en-US" dirty="0"/>
              <a:t> con el </a:t>
            </a:r>
            <a:r>
              <a:rPr lang="en-US" dirty="0" err="1"/>
              <a:t>usuario</a:t>
            </a:r>
            <a:r>
              <a:rPr lang="en-US" dirty="0"/>
              <a:t> . La </a:t>
            </a:r>
            <a:r>
              <a:rPr lang="en-US" dirty="0" err="1"/>
              <a:t>mayoria</a:t>
            </a:r>
            <a:r>
              <a:rPr lang="en-US" baseline="0" dirty="0"/>
              <a:t> de software </a:t>
            </a:r>
            <a:r>
              <a:rPr lang="en-US" baseline="0" dirty="0" err="1"/>
              <a:t>modernos</a:t>
            </a:r>
            <a:r>
              <a:rPr lang="en-US" baseline="0" dirty="0"/>
              <a:t> </a:t>
            </a:r>
            <a:r>
              <a:rPr lang="en-US" baseline="0" dirty="0" err="1"/>
              <a:t>implican</a:t>
            </a:r>
            <a:r>
              <a:rPr lang="en-US" baseline="0" dirty="0"/>
              <a:t> el </a:t>
            </a:r>
            <a:r>
              <a:rPr lang="en-US" baseline="0" dirty="0" err="1"/>
              <a:t>trabajo</a:t>
            </a:r>
            <a:r>
              <a:rPr lang="en-US" baseline="0" dirty="0"/>
              <a:t> de </a:t>
            </a:r>
            <a:r>
              <a:rPr lang="en-US" baseline="0" dirty="0" err="1"/>
              <a:t>grupos</a:t>
            </a:r>
            <a:r>
              <a:rPr lang="en-US" baseline="0" dirty="0"/>
              <a:t> </a:t>
            </a:r>
            <a:r>
              <a:rPr lang="en-US" baseline="0" dirty="0" err="1"/>
              <a:t>multidisciplinario</a:t>
            </a:r>
            <a:r>
              <a:rPr lang="en-US" baseline="0" dirty="0"/>
              <a:t> : </a:t>
            </a:r>
            <a:r>
              <a:rPr lang="en-US" baseline="0" dirty="0" err="1"/>
              <a:t>usuarios</a:t>
            </a:r>
            <a:r>
              <a:rPr lang="en-US" baseline="0" dirty="0"/>
              <a:t> finales, </a:t>
            </a:r>
            <a:r>
              <a:rPr lang="en-US" baseline="0" dirty="0" err="1"/>
              <a:t>clientes</a:t>
            </a:r>
            <a:r>
              <a:rPr lang="en-US" baseline="0" dirty="0"/>
              <a:t>, </a:t>
            </a:r>
            <a:r>
              <a:rPr lang="en-US" baseline="0" dirty="0" err="1"/>
              <a:t>productores</a:t>
            </a:r>
            <a:r>
              <a:rPr lang="en-US" baseline="0" dirty="0"/>
              <a:t>, </a:t>
            </a:r>
            <a:r>
              <a:rPr lang="en-US" baseline="0" dirty="0" err="1"/>
              <a:t>disennadores</a:t>
            </a:r>
            <a:r>
              <a:rPr lang="en-US" baseline="0" dirty="0"/>
              <a:t>, </a:t>
            </a:r>
            <a:r>
              <a:rPr lang="en-US" baseline="0" dirty="0" err="1"/>
              <a:t>ingenieros</a:t>
            </a:r>
            <a:r>
              <a:rPr lang="en-US" baseline="0" dirty="0"/>
              <a:t>. La </a:t>
            </a:r>
            <a:r>
              <a:rPr lang="en-US" baseline="0" dirty="0" err="1"/>
              <a:t>perspectiva</a:t>
            </a:r>
            <a:r>
              <a:rPr lang="en-US" baseline="0" dirty="0"/>
              <a:t> de </a:t>
            </a:r>
            <a:r>
              <a:rPr lang="en-US" baseline="0" dirty="0" err="1"/>
              <a:t>cada</a:t>
            </a:r>
            <a:r>
              <a:rPr lang="en-US" baseline="0" dirty="0"/>
              <a:t> </a:t>
            </a:r>
            <a:r>
              <a:rPr lang="en-US" baseline="0" dirty="0" err="1"/>
              <a:t>uno</a:t>
            </a:r>
            <a:r>
              <a:rPr lang="en-US" baseline="0" dirty="0"/>
              <a:t> de los </a:t>
            </a:r>
            <a:r>
              <a:rPr lang="en-US" baseline="0" dirty="0" err="1"/>
              <a:t>miembros</a:t>
            </a:r>
            <a:r>
              <a:rPr lang="en-US" baseline="0" dirty="0"/>
              <a:t> </a:t>
            </a:r>
            <a:r>
              <a:rPr lang="en-US" baseline="0" dirty="0" err="1"/>
              <a:t>contituyen</a:t>
            </a:r>
            <a:r>
              <a:rPr lang="en-US" baseline="0" dirty="0"/>
              <a:t> los </a:t>
            </a:r>
            <a:r>
              <a:rPr lang="en-US" baseline="0" dirty="0" err="1"/>
              <a:t>requerimientos</a:t>
            </a:r>
            <a:r>
              <a:rPr lang="en-US" baseline="0" dirty="0"/>
              <a:t> del </a:t>
            </a:r>
            <a:r>
              <a:rPr lang="en-US" baseline="0" dirty="0" err="1"/>
              <a:t>sistema</a:t>
            </a:r>
            <a:r>
              <a:rPr lang="en-US" baseline="0" dirty="0"/>
              <a:t> a </a:t>
            </a:r>
            <a:r>
              <a:rPr lang="en-US" baseline="0" dirty="0" err="1"/>
              <a:t>construir</a:t>
            </a:r>
            <a:endParaRPr lang="en-US" baseline="0" dirty="0"/>
          </a:p>
          <a:p>
            <a:r>
              <a:rPr lang="en-US" baseline="0" dirty="0"/>
              <a:t>Storyboard es </a:t>
            </a:r>
            <a:r>
              <a:rPr lang="en-US" baseline="0" dirty="0" err="1"/>
              <a:t>una</a:t>
            </a:r>
            <a:r>
              <a:rPr lang="en-US" baseline="0" dirty="0"/>
              <a:t> </a:t>
            </a:r>
            <a:r>
              <a:rPr lang="en-US" baseline="0" dirty="0" err="1"/>
              <a:t>herramienta</a:t>
            </a:r>
            <a:r>
              <a:rPr lang="en-US" baseline="0" dirty="0"/>
              <a:t> clave y </a:t>
            </a:r>
            <a:r>
              <a:rPr lang="en-US" baseline="0" dirty="0" err="1"/>
              <a:t>eficiente</a:t>
            </a:r>
            <a:r>
              <a:rPr lang="en-US" baseline="0" dirty="0"/>
              <a:t> para </a:t>
            </a:r>
            <a:r>
              <a:rPr lang="en-US" baseline="0" dirty="0" err="1"/>
              <a:t>comunicar</a:t>
            </a:r>
            <a:r>
              <a:rPr lang="en-US" baseline="0" dirty="0"/>
              <a:t> los </a:t>
            </a:r>
            <a:r>
              <a:rPr lang="en-US" baseline="0" dirty="0" err="1"/>
              <a:t>resultados</a:t>
            </a:r>
            <a:r>
              <a:rPr lang="en-US" baseline="0" dirty="0"/>
              <a:t> del </a:t>
            </a:r>
            <a:r>
              <a:rPr lang="en-US" baseline="0" dirty="0" err="1"/>
              <a:t>análisis</a:t>
            </a:r>
            <a:r>
              <a:rPr lang="en-US" baseline="0" dirty="0"/>
              <a:t> de las </a:t>
            </a:r>
            <a:r>
              <a:rPr lang="en-US" baseline="0" dirty="0" err="1"/>
              <a:t>necesidades</a:t>
            </a:r>
            <a:r>
              <a:rPr lang="en-US" baseline="0" dirty="0"/>
              <a:t> de los </a:t>
            </a:r>
            <a:r>
              <a:rPr lang="en-US" baseline="0" dirty="0" err="1"/>
              <a:t>usuarios</a:t>
            </a:r>
            <a:r>
              <a:rPr lang="en-US" baseline="0" dirty="0"/>
              <a:t> al </a:t>
            </a:r>
            <a:r>
              <a:rPr lang="en-US" baseline="0" dirty="0" err="1"/>
              <a:t>grupo</a:t>
            </a:r>
            <a:r>
              <a:rPr lang="en-US" baseline="0" dirty="0"/>
              <a:t> </a:t>
            </a:r>
            <a:r>
              <a:rPr lang="en-US" baseline="0" dirty="0" err="1"/>
              <a:t>multidisciplinario</a:t>
            </a:r>
            <a:r>
              <a:rPr lang="en-US" baseline="0" dirty="0"/>
              <a:t> </a:t>
            </a:r>
            <a:r>
              <a:rPr lang="en-US" baseline="0" dirty="0" err="1"/>
              <a:t>encargado</a:t>
            </a:r>
            <a:r>
              <a:rPr lang="en-US" baseline="0" dirty="0"/>
              <a:t> del </a:t>
            </a:r>
            <a:r>
              <a:rPr lang="en-US" baseline="0" dirty="0" err="1"/>
              <a:t>desarrollo</a:t>
            </a:r>
            <a:r>
              <a:rPr lang="en-US" baseline="0" dirty="0"/>
              <a:t> del software . Los storyboard </a:t>
            </a:r>
            <a:r>
              <a:rPr lang="en-US" baseline="0" dirty="0" err="1"/>
              <a:t>contienen</a:t>
            </a:r>
            <a:r>
              <a:rPr lang="en-US" baseline="0" dirty="0"/>
              <a:t> en forma de </a:t>
            </a:r>
            <a:r>
              <a:rPr lang="en-US" baseline="0" dirty="0" err="1"/>
              <a:t>dibujos</a:t>
            </a:r>
            <a:r>
              <a:rPr lang="en-US" baseline="0" dirty="0"/>
              <a:t> </a:t>
            </a:r>
            <a:r>
              <a:rPr lang="en-US" baseline="0" dirty="0" err="1"/>
              <a:t>distintos</a:t>
            </a:r>
            <a:r>
              <a:rPr lang="en-US" baseline="0" dirty="0"/>
              <a:t> </a:t>
            </a:r>
            <a:r>
              <a:rPr lang="en-US" baseline="0" dirty="0" err="1"/>
              <a:t>tipo</a:t>
            </a:r>
            <a:r>
              <a:rPr lang="en-US" baseline="0" dirty="0"/>
              <a:t> de </a:t>
            </a:r>
            <a:r>
              <a:rPr lang="en-US" baseline="0" dirty="0" err="1"/>
              <a:t>información</a:t>
            </a:r>
            <a:r>
              <a:rPr lang="en-US" baseline="0" dirty="0"/>
              <a:t> </a:t>
            </a:r>
          </a:p>
          <a:p>
            <a:r>
              <a:rPr lang="en-US" baseline="0" dirty="0"/>
              <a:t>Una storyboard </a:t>
            </a:r>
            <a:r>
              <a:rPr lang="en-US" baseline="0" dirty="0" err="1"/>
              <a:t>representa</a:t>
            </a:r>
            <a:r>
              <a:rPr lang="en-US" baseline="0" dirty="0"/>
              <a:t> </a:t>
            </a:r>
            <a:r>
              <a:rPr lang="en-US" baseline="0" dirty="0" err="1"/>
              <a:t>gráficamente</a:t>
            </a:r>
            <a:r>
              <a:rPr lang="en-US" baseline="0" dirty="0"/>
              <a:t> </a:t>
            </a:r>
            <a:r>
              <a:rPr lang="en-US" baseline="0" dirty="0" err="1"/>
              <a:t>una</a:t>
            </a:r>
            <a:r>
              <a:rPr lang="en-US" baseline="0" dirty="0"/>
              <a:t> </a:t>
            </a:r>
            <a:r>
              <a:rPr lang="en-US" baseline="0" dirty="0" err="1"/>
              <a:t>serie</a:t>
            </a:r>
            <a:r>
              <a:rPr lang="en-US" baseline="0" dirty="0"/>
              <a:t> de </a:t>
            </a:r>
            <a:r>
              <a:rPr lang="en-US" baseline="0" dirty="0" err="1"/>
              <a:t>eventos</a:t>
            </a:r>
            <a:r>
              <a:rPr lang="en-US" baseline="0" dirty="0"/>
              <a:t> y </a:t>
            </a:r>
            <a:r>
              <a:rPr lang="en-US" baseline="0" dirty="0" err="1"/>
              <a:t>acciones</a:t>
            </a:r>
            <a:r>
              <a:rPr lang="en-US" baseline="0" dirty="0"/>
              <a:t> </a:t>
            </a:r>
            <a:r>
              <a:rPr lang="en-US" baseline="0" dirty="0" err="1"/>
              <a:t>realizados</a:t>
            </a:r>
            <a:r>
              <a:rPr lang="en-US" baseline="0" dirty="0"/>
              <a:t> </a:t>
            </a:r>
            <a:r>
              <a:rPr lang="en-US" baseline="0" dirty="0" err="1"/>
              <a:t>por</a:t>
            </a:r>
            <a:r>
              <a:rPr lang="en-US" baseline="0" dirty="0"/>
              <a:t> le </a:t>
            </a:r>
            <a:r>
              <a:rPr lang="en-US" baseline="0" dirty="0" err="1"/>
              <a:t>usuario</a:t>
            </a:r>
            <a:r>
              <a:rPr lang="en-US" baseline="0" dirty="0"/>
              <a:t> y el </a:t>
            </a:r>
            <a:r>
              <a:rPr lang="en-US" baseline="0" dirty="0" err="1"/>
              <a:t>sistema</a:t>
            </a:r>
            <a:r>
              <a:rPr lang="en-US" baseline="0" dirty="0"/>
              <a:t> para </a:t>
            </a:r>
            <a:r>
              <a:rPr lang="en-US" baseline="0" dirty="0" err="1"/>
              <a:t>lograr</a:t>
            </a:r>
            <a:r>
              <a:rPr lang="en-US" baseline="0" dirty="0"/>
              <a:t> </a:t>
            </a:r>
            <a:r>
              <a:rPr lang="en-US" baseline="0" dirty="0" err="1"/>
              <a:t>desarrollar</a:t>
            </a:r>
            <a:r>
              <a:rPr lang="en-US" baseline="0" dirty="0"/>
              <a:t> </a:t>
            </a:r>
            <a:r>
              <a:rPr lang="en-US" baseline="0" dirty="0" err="1"/>
              <a:t>una</a:t>
            </a:r>
            <a:r>
              <a:rPr lang="en-US" baseline="0" dirty="0"/>
              <a:t> </a:t>
            </a:r>
            <a:r>
              <a:rPr lang="en-US" baseline="0" dirty="0" err="1"/>
              <a:t>tarea</a:t>
            </a:r>
            <a:r>
              <a:rPr lang="en-US" baseline="0" dirty="0"/>
              <a:t> . Un </a:t>
            </a:r>
            <a:r>
              <a:rPr lang="en-US" baseline="0" dirty="0" err="1"/>
              <a:t>escenario</a:t>
            </a:r>
            <a:r>
              <a:rPr lang="en-US" baseline="0" dirty="0"/>
              <a:t> </a:t>
            </a:r>
            <a:r>
              <a:rPr lang="en-US" baseline="0" dirty="0" err="1"/>
              <a:t>representa</a:t>
            </a:r>
            <a:r>
              <a:rPr lang="en-US" baseline="0" dirty="0"/>
              <a:t> un </a:t>
            </a:r>
            <a:r>
              <a:rPr lang="en-US" baseline="0" dirty="0" err="1"/>
              <a:t>contexto</a:t>
            </a:r>
            <a:r>
              <a:rPr lang="en-US" baseline="0" dirty="0"/>
              <a:t> </a:t>
            </a:r>
            <a:r>
              <a:rPr lang="en-US" baseline="0" dirty="0" err="1"/>
              <a:t>específico</a:t>
            </a:r>
            <a:r>
              <a:rPr lang="en-US" baseline="0" dirty="0"/>
              <a:t> en el que </a:t>
            </a:r>
            <a:r>
              <a:rPr lang="en-US" baseline="0" dirty="0" err="1"/>
              <a:t>puede</a:t>
            </a:r>
            <a:r>
              <a:rPr lang="en-US" baseline="0" dirty="0"/>
              <a:t> ser </a:t>
            </a:r>
            <a:r>
              <a:rPr lang="en-US" baseline="0" dirty="0" err="1"/>
              <a:t>utilizada</a:t>
            </a:r>
            <a:r>
              <a:rPr lang="en-US" baseline="0" dirty="0"/>
              <a:t> la app. </a:t>
            </a:r>
            <a:r>
              <a:rPr lang="en-US" baseline="0" dirty="0" err="1"/>
              <a:t>Por</a:t>
            </a:r>
            <a:r>
              <a:rPr lang="en-US" baseline="0" dirty="0"/>
              <a:t> lo </a:t>
            </a:r>
            <a:r>
              <a:rPr lang="en-US" baseline="0" dirty="0" err="1"/>
              <a:t>tanto</a:t>
            </a:r>
            <a:r>
              <a:rPr lang="en-US" baseline="0" dirty="0"/>
              <a:t> , </a:t>
            </a:r>
            <a:r>
              <a:rPr lang="en-US" baseline="0" dirty="0" err="1"/>
              <a:t>es</a:t>
            </a:r>
            <a:r>
              <a:rPr lang="en-US" baseline="0" dirty="0"/>
              <a:t> </a:t>
            </a:r>
            <a:r>
              <a:rPr lang="en-US" baseline="0" dirty="0" err="1"/>
              <a:t>posible</a:t>
            </a:r>
            <a:r>
              <a:rPr lang="en-US" baseline="0" dirty="0"/>
              <a:t> </a:t>
            </a:r>
            <a:r>
              <a:rPr lang="en-US" baseline="0" dirty="0" err="1"/>
              <a:t>crear</a:t>
            </a:r>
            <a:r>
              <a:rPr lang="en-US" baseline="0" dirty="0"/>
              <a:t> storyboard a </a:t>
            </a:r>
            <a:r>
              <a:rPr lang="en-US" baseline="0" dirty="0" err="1"/>
              <a:t>partir</a:t>
            </a:r>
            <a:r>
              <a:rPr lang="en-US" baseline="0" dirty="0"/>
              <a:t> de un </a:t>
            </a:r>
            <a:r>
              <a:rPr lang="en-US" baseline="0" dirty="0" err="1"/>
              <a:t>escenario</a:t>
            </a:r>
            <a:r>
              <a:rPr lang="en-US" baseline="0" dirty="0"/>
              <a:t> </a:t>
            </a:r>
            <a:r>
              <a:rPr lang="en-US" baseline="0" dirty="0" err="1"/>
              <a:t>dividdo</a:t>
            </a:r>
            <a:r>
              <a:rPr lang="en-US" baseline="0" dirty="0"/>
              <a:t> en </a:t>
            </a:r>
            <a:r>
              <a:rPr lang="en-US" baseline="0" dirty="0" err="1"/>
              <a:t>varios</a:t>
            </a:r>
            <a:r>
              <a:rPr lang="en-US" baseline="0" dirty="0"/>
              <a:t> </a:t>
            </a:r>
            <a:r>
              <a:rPr lang="en-US" baseline="0" dirty="0" err="1"/>
              <a:t>pasos</a:t>
            </a:r>
            <a:r>
              <a:rPr lang="en-US" baseline="0" dirty="0"/>
              <a:t>, en </a:t>
            </a:r>
            <a:r>
              <a:rPr lang="en-US" baseline="0" dirty="0" err="1"/>
              <a:t>dependencia</a:t>
            </a:r>
            <a:r>
              <a:rPr lang="en-US" baseline="0" dirty="0"/>
              <a:t> de </a:t>
            </a:r>
            <a:r>
              <a:rPr lang="en-US" baseline="0" dirty="0" err="1"/>
              <a:t>las</a:t>
            </a:r>
            <a:r>
              <a:rPr lang="en-US" baseline="0" dirty="0"/>
              <a:t> </a:t>
            </a:r>
            <a:r>
              <a:rPr lang="en-US" baseline="0" dirty="0" err="1"/>
              <a:t>interacciones</a:t>
            </a:r>
            <a:r>
              <a:rPr lang="en-US" baseline="0" dirty="0"/>
              <a:t> y </a:t>
            </a:r>
            <a:r>
              <a:rPr lang="en-US" baseline="0" dirty="0" err="1"/>
              <a:t>crear</a:t>
            </a:r>
            <a:r>
              <a:rPr lang="en-US" baseline="0" dirty="0"/>
              <a:t> </a:t>
            </a:r>
            <a:r>
              <a:rPr lang="en-US" baseline="0" dirty="0" err="1"/>
              <a:t>una</a:t>
            </a:r>
            <a:r>
              <a:rPr lang="en-US" baseline="0" dirty="0"/>
              <a:t> </a:t>
            </a:r>
            <a:r>
              <a:rPr lang="en-US" baseline="0" dirty="0" err="1"/>
              <a:t>escena</a:t>
            </a:r>
            <a:r>
              <a:rPr lang="en-US" baseline="0" dirty="0"/>
              <a:t> </a:t>
            </a:r>
            <a:r>
              <a:rPr lang="en-US" baseline="0" dirty="0" err="1"/>
              <a:t>por</a:t>
            </a:r>
            <a:r>
              <a:rPr lang="en-US" baseline="0" dirty="0"/>
              <a:t> </a:t>
            </a:r>
            <a:r>
              <a:rPr lang="en-US" baseline="0" dirty="0" err="1"/>
              <a:t>cada</a:t>
            </a:r>
            <a:r>
              <a:rPr lang="en-US" baseline="0" dirty="0"/>
              <a:t> </a:t>
            </a:r>
            <a:r>
              <a:rPr lang="en-US" baseline="0" dirty="0" err="1"/>
              <a:t>uno</a:t>
            </a:r>
            <a:r>
              <a:rPr lang="en-US" baseline="0" dirty="0"/>
              <a:t> de </a:t>
            </a:r>
            <a:r>
              <a:rPr lang="en-US" baseline="0" dirty="0" err="1"/>
              <a:t>dichos</a:t>
            </a:r>
            <a:r>
              <a:rPr lang="en-US" baseline="0" dirty="0"/>
              <a:t> </a:t>
            </a:r>
            <a:r>
              <a:rPr lang="en-US" baseline="0" dirty="0" err="1"/>
              <a:t>pasos</a:t>
            </a:r>
            <a:r>
              <a:rPr lang="en-US" baseline="0" dirty="0"/>
              <a:t>. </a:t>
            </a:r>
            <a:r>
              <a:rPr lang="en-US" baseline="0" dirty="0" err="1"/>
              <a:t>Dichas</a:t>
            </a:r>
            <a:r>
              <a:rPr lang="en-US" baseline="0" dirty="0"/>
              <a:t> </a:t>
            </a:r>
            <a:r>
              <a:rPr lang="en-US" baseline="0" dirty="0" err="1"/>
              <a:t>escenas</a:t>
            </a:r>
            <a:r>
              <a:rPr lang="en-US" baseline="0" dirty="0"/>
              <a:t> </a:t>
            </a:r>
            <a:r>
              <a:rPr lang="en-US" baseline="0" dirty="0" err="1"/>
              <a:t>estan</a:t>
            </a:r>
            <a:r>
              <a:rPr lang="en-US" baseline="0" dirty="0"/>
              <a:t> </a:t>
            </a:r>
            <a:r>
              <a:rPr lang="en-US" baseline="0" dirty="0" err="1"/>
              <a:t>relacionadas</a:t>
            </a:r>
            <a:r>
              <a:rPr lang="en-US" baseline="0" dirty="0"/>
              <a:t> </a:t>
            </a:r>
            <a:r>
              <a:rPr lang="en-US" baseline="0" dirty="0" err="1"/>
              <a:t>unas</a:t>
            </a:r>
            <a:r>
              <a:rPr lang="en-US" baseline="0" dirty="0"/>
              <a:t> con </a:t>
            </a:r>
            <a:r>
              <a:rPr lang="en-US" baseline="0" dirty="0" err="1"/>
              <a:t>otras</a:t>
            </a:r>
            <a:r>
              <a:rPr lang="en-US" baseline="0" dirty="0"/>
              <a:t> y </a:t>
            </a:r>
            <a:r>
              <a:rPr lang="en-US" baseline="0" dirty="0" err="1"/>
              <a:t>reflejan</a:t>
            </a:r>
            <a:r>
              <a:rPr lang="en-US" baseline="0" dirty="0"/>
              <a:t> la </a:t>
            </a:r>
            <a:r>
              <a:rPr lang="en-US" baseline="0" dirty="0" err="1"/>
              <a:t>secuencia</a:t>
            </a:r>
            <a:r>
              <a:rPr lang="en-US" baseline="0" dirty="0"/>
              <a:t> de </a:t>
            </a:r>
            <a:r>
              <a:rPr lang="en-US" baseline="0" dirty="0" err="1"/>
              <a:t>acciones</a:t>
            </a:r>
            <a:r>
              <a:rPr lang="en-US" baseline="0" dirty="0"/>
              <a:t> en el </a:t>
            </a:r>
            <a:r>
              <a:rPr lang="en-US" baseline="0" dirty="0" err="1"/>
              <a:t>uso</a:t>
            </a:r>
            <a:r>
              <a:rPr lang="en-US" baseline="0" dirty="0"/>
              <a:t> de </a:t>
            </a:r>
            <a:r>
              <a:rPr lang="en-US" baseline="0" dirty="0" err="1"/>
              <a:t>una</a:t>
            </a:r>
            <a:r>
              <a:rPr lang="en-US" baseline="0" dirty="0"/>
              <a:t> </a:t>
            </a:r>
            <a:r>
              <a:rPr lang="en-US" baseline="0" dirty="0" err="1"/>
              <a:t>aplicacion</a:t>
            </a:r>
            <a:r>
              <a:rPr lang="en-US" baseline="0" dirty="0"/>
              <a:t> de </a:t>
            </a:r>
            <a:r>
              <a:rPr lang="en-US" baseline="0" dirty="0" err="1"/>
              <a:t>manera</a:t>
            </a:r>
            <a:r>
              <a:rPr lang="en-US" baseline="0" dirty="0"/>
              <a:t> </a:t>
            </a:r>
            <a:r>
              <a:rPr lang="en-US" baseline="0" dirty="0" err="1"/>
              <a:t>narrativa</a:t>
            </a:r>
            <a:endParaRPr lang="en-US" baseline="0" dirty="0"/>
          </a:p>
          <a:p>
            <a:r>
              <a:rPr lang="en-US" baseline="0" dirty="0"/>
              <a:t>El </a:t>
            </a:r>
            <a:r>
              <a:rPr lang="en-US" baseline="0" dirty="0" err="1"/>
              <a:t>propósito</a:t>
            </a:r>
            <a:r>
              <a:rPr lang="en-US" baseline="0" dirty="0"/>
              <a:t> de </a:t>
            </a:r>
            <a:r>
              <a:rPr lang="en-US" baseline="0" dirty="0" err="1"/>
              <a:t>este</a:t>
            </a:r>
            <a:r>
              <a:rPr lang="en-US" baseline="0" dirty="0"/>
              <a:t> </a:t>
            </a:r>
            <a:r>
              <a:rPr lang="en-US" baseline="0" dirty="0" err="1"/>
              <a:t>procedimiento</a:t>
            </a:r>
            <a:r>
              <a:rPr lang="en-US" baseline="0" dirty="0"/>
              <a:t> es </a:t>
            </a:r>
            <a:r>
              <a:rPr lang="en-US" baseline="0" dirty="0" err="1"/>
              <a:t>obtener</a:t>
            </a:r>
            <a:r>
              <a:rPr lang="en-US" baseline="0" dirty="0"/>
              <a:t> un storyboard que </a:t>
            </a:r>
            <a:r>
              <a:rPr lang="en-US" baseline="0" dirty="0" err="1"/>
              <a:t>pueda</a:t>
            </a:r>
            <a:r>
              <a:rPr lang="en-US" baseline="0" dirty="0"/>
              <a:t> ser </a:t>
            </a:r>
            <a:r>
              <a:rPr lang="en-US" baseline="0" dirty="0" err="1"/>
              <a:t>usada</a:t>
            </a:r>
            <a:r>
              <a:rPr lang="en-US" baseline="0" dirty="0"/>
              <a:t> en la </a:t>
            </a:r>
            <a:r>
              <a:rPr lang="en-US" baseline="0" dirty="0" err="1"/>
              <a:t>retroalimentación</a:t>
            </a:r>
            <a:r>
              <a:rPr lang="en-US" baseline="0" dirty="0"/>
              <a:t> con el </a:t>
            </a:r>
            <a:r>
              <a:rPr lang="en-US" baseline="0" dirty="0" err="1"/>
              <a:t>cliente</a:t>
            </a:r>
            <a:r>
              <a:rPr lang="en-US" baseline="0" dirty="0"/>
              <a:t> y los </a:t>
            </a:r>
            <a:r>
              <a:rPr lang="en-US" baseline="0" dirty="0" err="1"/>
              <a:t>usuarios</a:t>
            </a:r>
            <a:r>
              <a:rPr lang="en-US" baseline="0" dirty="0"/>
              <a:t> . </a:t>
            </a:r>
            <a:r>
              <a:rPr lang="en-US" baseline="0" dirty="0" err="1"/>
              <a:t>Ademas</a:t>
            </a:r>
            <a:r>
              <a:rPr lang="en-US" baseline="0" dirty="0"/>
              <a:t> </a:t>
            </a:r>
            <a:r>
              <a:rPr lang="en-US" baseline="0" dirty="0" err="1"/>
              <a:t>permite</a:t>
            </a:r>
            <a:r>
              <a:rPr lang="en-US" baseline="0" dirty="0"/>
              <a:t> </a:t>
            </a:r>
            <a:r>
              <a:rPr lang="en-US" baseline="0" dirty="0" err="1"/>
              <a:t>presentarlo</a:t>
            </a:r>
            <a:r>
              <a:rPr lang="en-US" baseline="0" dirty="0"/>
              <a:t> al </a:t>
            </a:r>
            <a:r>
              <a:rPr lang="en-US" baseline="0" dirty="0" err="1"/>
              <a:t>equipo</a:t>
            </a:r>
            <a:r>
              <a:rPr lang="en-US" baseline="0" dirty="0"/>
              <a:t> de </a:t>
            </a:r>
            <a:r>
              <a:rPr lang="en-US" baseline="0" dirty="0" err="1"/>
              <a:t>diseño</a:t>
            </a:r>
            <a:r>
              <a:rPr lang="en-US" baseline="0" dirty="0"/>
              <a:t> para que </a:t>
            </a:r>
            <a:r>
              <a:rPr lang="en-US" baseline="0" dirty="0" err="1"/>
              <a:t>evalúen</a:t>
            </a:r>
            <a:r>
              <a:rPr lang="en-US" baseline="0" dirty="0"/>
              <a:t> los </a:t>
            </a:r>
            <a:r>
              <a:rPr lang="en-US" baseline="0" dirty="0" err="1"/>
              <a:t>usos</a:t>
            </a:r>
            <a:r>
              <a:rPr lang="en-US" baseline="0" dirty="0"/>
              <a:t> del </a:t>
            </a:r>
            <a:r>
              <a:rPr lang="en-US" baseline="0" dirty="0" err="1"/>
              <a:t>producto</a:t>
            </a:r>
            <a:r>
              <a:rPr lang="en-US" baseline="0" dirty="0"/>
              <a:t> en </a:t>
            </a:r>
            <a:r>
              <a:rPr lang="en-US" baseline="0" dirty="0" err="1"/>
              <a:t>diversos</a:t>
            </a:r>
            <a:r>
              <a:rPr lang="en-US" baseline="0" dirty="0"/>
              <a:t> </a:t>
            </a:r>
            <a:r>
              <a:rPr lang="en-US" baseline="0" dirty="0" err="1"/>
              <a:t>contextos</a:t>
            </a:r>
            <a:r>
              <a:rPr lang="en-US" baseline="0" dirty="0"/>
              <a:t>. Una  </a:t>
            </a:r>
            <a:r>
              <a:rPr lang="en-US" baseline="0" dirty="0" err="1"/>
              <a:t>vez</a:t>
            </a:r>
            <a:r>
              <a:rPr lang="en-US" baseline="0" dirty="0"/>
              <a:t> </a:t>
            </a:r>
            <a:r>
              <a:rPr lang="en-US" baseline="0" dirty="0" err="1"/>
              <a:t>terminado</a:t>
            </a:r>
            <a:r>
              <a:rPr lang="en-US" baseline="0" dirty="0"/>
              <a:t> </a:t>
            </a:r>
            <a:r>
              <a:rPr lang="en-US" baseline="0" dirty="0" err="1"/>
              <a:t>este</a:t>
            </a:r>
            <a:r>
              <a:rPr lang="en-US" baseline="0" dirty="0"/>
              <a:t> </a:t>
            </a:r>
            <a:r>
              <a:rPr lang="en-US" baseline="0" dirty="0" err="1"/>
              <a:t>proceso</a:t>
            </a:r>
            <a:r>
              <a:rPr lang="en-US" baseline="0" dirty="0"/>
              <a:t> el </a:t>
            </a:r>
            <a:r>
              <a:rPr lang="en-US" baseline="0" dirty="0" err="1"/>
              <a:t>equipo</a:t>
            </a:r>
            <a:r>
              <a:rPr lang="en-US" baseline="0" dirty="0"/>
              <a:t> </a:t>
            </a:r>
            <a:r>
              <a:rPr lang="en-US" baseline="0" dirty="0" err="1"/>
              <a:t>técnico</a:t>
            </a:r>
            <a:r>
              <a:rPr lang="en-US" baseline="0" dirty="0"/>
              <a:t> </a:t>
            </a:r>
            <a:r>
              <a:rPr lang="en-US" baseline="0" dirty="0" err="1"/>
              <a:t>puede</a:t>
            </a:r>
            <a:r>
              <a:rPr lang="en-US" baseline="0" dirty="0"/>
              <a:t> </a:t>
            </a:r>
            <a:r>
              <a:rPr lang="en-US" baseline="0" dirty="0" err="1"/>
              <a:t>hacer</a:t>
            </a:r>
            <a:r>
              <a:rPr lang="en-US" baseline="0" dirty="0"/>
              <a:t> un </a:t>
            </a:r>
            <a:r>
              <a:rPr lang="en-US" baseline="0" dirty="0" err="1"/>
              <a:t>diseño</a:t>
            </a:r>
            <a:r>
              <a:rPr lang="en-US" baseline="0" dirty="0"/>
              <a:t> </a:t>
            </a:r>
            <a:r>
              <a:rPr lang="en-US" baseline="0" dirty="0" err="1"/>
              <a:t>preliminar</a:t>
            </a:r>
            <a:r>
              <a:rPr lang="en-US" baseline="0" dirty="0"/>
              <a:t> </a:t>
            </a:r>
            <a:r>
              <a:rPr lang="en-US" baseline="0" dirty="0" err="1"/>
              <a:t>basado</a:t>
            </a:r>
            <a:r>
              <a:rPr lang="en-US" baseline="0" dirty="0"/>
              <a:t> en las </a:t>
            </a:r>
            <a:r>
              <a:rPr lang="en-US" baseline="0" dirty="0" err="1"/>
              <a:t>interacciones</a:t>
            </a:r>
            <a:r>
              <a:rPr lang="en-US" baseline="0" dirty="0"/>
              <a:t> de los </a:t>
            </a:r>
            <a:r>
              <a:rPr lang="en-US" baseline="0" dirty="0" err="1"/>
              <a:t>usuarios</a:t>
            </a:r>
            <a:r>
              <a:rPr lang="en-US" baseline="0" dirty="0"/>
              <a:t> y </a:t>
            </a:r>
            <a:r>
              <a:rPr lang="en-US" baseline="0" dirty="0" err="1"/>
              <a:t>presentarlo</a:t>
            </a:r>
            <a:r>
              <a:rPr lang="en-US" baseline="0" dirty="0"/>
              <a:t> al resto del </a:t>
            </a:r>
            <a:r>
              <a:rPr lang="en-US" baseline="0" dirty="0" err="1"/>
              <a:t>equipo</a:t>
            </a:r>
            <a:r>
              <a:rPr lang="en-US" baseline="0" dirty="0"/>
              <a:t> para </a:t>
            </a:r>
            <a:r>
              <a:rPr lang="en-US" baseline="0" dirty="0" err="1"/>
              <a:t>evaluarlo</a:t>
            </a:r>
            <a:r>
              <a:rPr lang="en-US" baseline="0" dirty="0"/>
              <a:t>. En </a:t>
            </a:r>
            <a:r>
              <a:rPr lang="en-US" baseline="0" dirty="0" err="1"/>
              <a:t>dependencia</a:t>
            </a:r>
            <a:r>
              <a:rPr lang="en-US" baseline="0" dirty="0"/>
              <a:t> de los </a:t>
            </a:r>
            <a:r>
              <a:rPr lang="en-US" baseline="0" dirty="0" err="1"/>
              <a:t>criterios</a:t>
            </a:r>
            <a:r>
              <a:rPr lang="en-US" baseline="0" dirty="0"/>
              <a:t> </a:t>
            </a:r>
            <a:r>
              <a:rPr lang="en-US" baseline="0" dirty="0" err="1"/>
              <a:t>emitidos</a:t>
            </a:r>
            <a:r>
              <a:rPr lang="en-US" baseline="0" dirty="0"/>
              <a:t> , el </a:t>
            </a:r>
            <a:r>
              <a:rPr lang="en-US" baseline="0" dirty="0" err="1"/>
              <a:t>equipo</a:t>
            </a:r>
            <a:r>
              <a:rPr lang="en-US" baseline="0" dirty="0"/>
              <a:t> </a:t>
            </a:r>
            <a:r>
              <a:rPr lang="en-US" baseline="0" dirty="0" err="1"/>
              <a:t>puede</a:t>
            </a:r>
            <a:r>
              <a:rPr lang="en-US" baseline="0" dirty="0"/>
              <a:t> </a:t>
            </a:r>
            <a:r>
              <a:rPr lang="en-US" baseline="0" dirty="0" err="1"/>
              <a:t>construir</a:t>
            </a:r>
            <a:r>
              <a:rPr lang="en-US" baseline="0" dirty="0"/>
              <a:t> un </a:t>
            </a:r>
            <a:r>
              <a:rPr lang="en-US" baseline="0" dirty="0" err="1"/>
              <a:t>prototipo</a:t>
            </a:r>
            <a:r>
              <a:rPr lang="en-US" baseline="0" dirty="0"/>
              <a:t> de la </a:t>
            </a:r>
            <a:r>
              <a:rPr lang="en-US" baseline="0" dirty="0" err="1"/>
              <a:t>aplicación</a:t>
            </a:r>
            <a:r>
              <a:rPr lang="en-US" baseline="0" dirty="0"/>
              <a:t> </a:t>
            </a:r>
            <a:endParaRPr lang="es-ES" dirty="0"/>
          </a:p>
        </p:txBody>
      </p:sp>
      <p:sp>
        <p:nvSpPr>
          <p:cNvPr id="79876" name="3 Marcador de número de diapositiva"/>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C866353-432D-4B70-ABDD-98C17BF8D712}" type="slidenum">
              <a:rPr lang="es-ES_tradnl" sz="1200"/>
              <a:pPr/>
              <a:t>22</a:t>
            </a:fld>
            <a:endParaRPr lang="es-ES_tradnl"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1 Marcador de imagen de diapositiva"/>
          <p:cNvSpPr>
            <a:spLocks noGrp="1" noRot="1" noChangeAspect="1" noTextEdit="1"/>
          </p:cNvSpPr>
          <p:nvPr>
            <p:ph type="sldImg"/>
          </p:nvPr>
        </p:nvSpPr>
        <p:spPr>
          <a:ln/>
        </p:spPr>
      </p:sp>
      <p:sp>
        <p:nvSpPr>
          <p:cNvPr id="79875" name="2 Marcador de notas"/>
          <p:cNvSpPr>
            <a:spLocks noGrp="1"/>
          </p:cNvSpPr>
          <p:nvPr>
            <p:ph type="body" idx="1"/>
          </p:nvPr>
        </p:nvSpPr>
        <p:spPr>
          <a:noFill/>
        </p:spPr>
        <p:txBody>
          <a:bodyPr/>
          <a:lstStyle/>
          <a:p>
            <a:endParaRPr lang="es-ES" dirty="0"/>
          </a:p>
          <a:p>
            <a:pPr lvl="0"/>
            <a:r>
              <a:rPr lang="es-ES" sz="1200" kern="1200" dirty="0">
                <a:solidFill>
                  <a:schemeClr val="tx1"/>
                </a:solidFill>
                <a:effectLst/>
                <a:latin typeface="Times New Roman" pitchFamily="18" charset="0"/>
                <a:ea typeface="+mn-ea"/>
                <a:cs typeface="+mn-cs"/>
              </a:rPr>
              <a:t>Existen dos tipos de </a:t>
            </a:r>
            <a:r>
              <a:rPr lang="es-ES" sz="1200" kern="1200" dirty="0" err="1">
                <a:solidFill>
                  <a:schemeClr val="tx1"/>
                </a:solidFill>
                <a:effectLst/>
                <a:latin typeface="Times New Roman" pitchFamily="18" charset="0"/>
                <a:ea typeface="+mn-ea"/>
                <a:cs typeface="+mn-cs"/>
              </a:rPr>
              <a:t>storyboars</a:t>
            </a:r>
            <a:r>
              <a:rPr lang="es-ES" sz="1200" kern="1200" dirty="0">
                <a:solidFill>
                  <a:schemeClr val="tx1"/>
                </a:solidFill>
                <a:effectLst/>
                <a:latin typeface="Times New Roman" pitchFamily="18" charset="0"/>
                <a:ea typeface="+mn-ea"/>
                <a:cs typeface="+mn-cs"/>
              </a:rPr>
              <a:t> : los de tipo 1 y los de tipo 2. </a:t>
            </a:r>
          </a:p>
          <a:p>
            <a:pPr lvl="0"/>
            <a:r>
              <a:rPr lang="es-ES" sz="1200" kern="1200" dirty="0">
                <a:solidFill>
                  <a:schemeClr val="tx1"/>
                </a:solidFill>
                <a:effectLst/>
                <a:latin typeface="Times New Roman" pitchFamily="18" charset="0"/>
                <a:ea typeface="+mn-ea"/>
                <a:cs typeface="+mn-cs"/>
              </a:rPr>
              <a:t>Los de tipo 1 son comic, describe paso a paso los distintos momentos en los que se interactúa con el producto.</a:t>
            </a:r>
          </a:p>
          <a:p>
            <a:pPr lvl="0"/>
            <a:r>
              <a:rPr lang="es-ES" sz="1200" kern="1200" dirty="0">
                <a:solidFill>
                  <a:schemeClr val="tx1"/>
                </a:solidFill>
                <a:effectLst/>
                <a:latin typeface="Times New Roman" pitchFamily="18" charset="0"/>
                <a:ea typeface="+mn-ea"/>
                <a:cs typeface="+mn-cs"/>
              </a:rPr>
              <a:t>Usos potenciales:</a:t>
            </a:r>
            <a:endParaRPr lang="es-ES" sz="1600" kern="1200" dirty="0">
              <a:solidFill>
                <a:schemeClr val="tx1"/>
              </a:solidFill>
              <a:effectLst/>
              <a:latin typeface="Times New Roman" pitchFamily="18" charset="0"/>
              <a:ea typeface="+mn-ea"/>
              <a:cs typeface="+mn-cs"/>
            </a:endParaRPr>
          </a:p>
          <a:p>
            <a:pPr lvl="1"/>
            <a:r>
              <a:rPr lang="es-ES" sz="1200" kern="1200" dirty="0">
                <a:solidFill>
                  <a:schemeClr val="tx1"/>
                </a:solidFill>
                <a:effectLst/>
                <a:latin typeface="Times New Roman" pitchFamily="18" charset="0"/>
                <a:ea typeface="+mn-ea"/>
                <a:cs typeface="+mn-cs"/>
              </a:rPr>
              <a:t>Asegura que todo el equipo de desarrollo sepa de qué se está hablando, centra la atención.</a:t>
            </a:r>
            <a:endParaRPr lang="es-ES" sz="1600" kern="1200" dirty="0">
              <a:solidFill>
                <a:schemeClr val="tx1"/>
              </a:solidFill>
              <a:effectLst/>
              <a:latin typeface="Times New Roman" pitchFamily="18" charset="0"/>
              <a:ea typeface="+mn-ea"/>
              <a:cs typeface="+mn-cs"/>
            </a:endParaRPr>
          </a:p>
          <a:p>
            <a:pPr lvl="1"/>
            <a:r>
              <a:rPr lang="es-ES" sz="1200" kern="1200" dirty="0">
                <a:solidFill>
                  <a:schemeClr val="tx1"/>
                </a:solidFill>
                <a:effectLst/>
                <a:latin typeface="Times New Roman" pitchFamily="18" charset="0"/>
                <a:ea typeface="+mn-ea"/>
                <a:cs typeface="+mn-cs"/>
              </a:rPr>
              <a:t>Estimula el identificar posibles </a:t>
            </a:r>
            <a:r>
              <a:rPr lang="es-US" sz="1200" kern="1200" dirty="0">
                <a:solidFill>
                  <a:schemeClr val="tx1"/>
                </a:solidFill>
                <a:effectLst/>
                <a:latin typeface="Times New Roman" pitchFamily="18" charset="0"/>
                <a:ea typeface="+mn-ea"/>
                <a:cs typeface="+mn-cs"/>
              </a:rPr>
              <a:t>´</a:t>
            </a:r>
            <a:r>
              <a:rPr lang="es-ES" sz="1200" kern="1200" dirty="0">
                <a:solidFill>
                  <a:schemeClr val="tx1"/>
                </a:solidFill>
                <a:effectLst/>
                <a:latin typeface="Times New Roman" pitchFamily="18" charset="0"/>
                <a:ea typeface="+mn-ea"/>
                <a:cs typeface="+mn-cs"/>
              </a:rPr>
              <a:t> </a:t>
            </a:r>
            <a:r>
              <a:rPr lang="es-ES" sz="1200" kern="1200" dirty="0" err="1">
                <a:solidFill>
                  <a:schemeClr val="tx1"/>
                </a:solidFill>
                <a:effectLst/>
                <a:latin typeface="Times New Roman" pitchFamily="18" charset="0"/>
                <a:ea typeface="+mn-ea"/>
                <a:cs typeface="+mn-cs"/>
              </a:rPr>
              <a:t>features</a:t>
            </a:r>
            <a:r>
              <a:rPr lang="es-ES" sz="1200" kern="1200" dirty="0">
                <a:solidFill>
                  <a:schemeClr val="tx1"/>
                </a:solidFill>
                <a:effectLst/>
                <a:latin typeface="Times New Roman" pitchFamily="18" charset="0"/>
                <a:ea typeface="+mn-ea"/>
                <a:cs typeface="+mn-cs"/>
              </a:rPr>
              <a:t> </a:t>
            </a:r>
            <a:r>
              <a:rPr lang="es-US" sz="1200" kern="1200" dirty="0">
                <a:solidFill>
                  <a:schemeClr val="tx1"/>
                </a:solidFill>
                <a:effectLst/>
                <a:latin typeface="Times New Roman" pitchFamily="18" charset="0"/>
                <a:ea typeface="+mn-ea"/>
                <a:cs typeface="+mn-cs"/>
              </a:rPr>
              <a:t>´</a:t>
            </a:r>
            <a:r>
              <a:rPr lang="es-ES" sz="1200" kern="1200" dirty="0">
                <a:solidFill>
                  <a:schemeClr val="tx1"/>
                </a:solidFill>
                <a:effectLst/>
                <a:latin typeface="Times New Roman" pitchFamily="18" charset="0"/>
                <a:ea typeface="+mn-ea"/>
                <a:cs typeface="+mn-cs"/>
              </a:rPr>
              <a:t>que mejoran al producto.</a:t>
            </a:r>
          </a:p>
          <a:p>
            <a:pPr lvl="1"/>
            <a:r>
              <a:rPr lang="es-ES" sz="1200" kern="1200" dirty="0">
                <a:solidFill>
                  <a:schemeClr val="tx1"/>
                </a:solidFill>
                <a:effectLst/>
                <a:latin typeface="Times New Roman" pitchFamily="18" charset="0"/>
                <a:ea typeface="+mn-ea"/>
                <a:cs typeface="+mn-cs"/>
              </a:rPr>
              <a:t>Asegura la claridad del objeto de uso del producto.</a:t>
            </a:r>
          </a:p>
          <a:p>
            <a:pPr lvl="1"/>
            <a:r>
              <a:rPr lang="es-ES" sz="1200" kern="1200" dirty="0">
                <a:solidFill>
                  <a:schemeClr val="tx1"/>
                </a:solidFill>
                <a:effectLst/>
                <a:latin typeface="Times New Roman" pitchFamily="18" charset="0"/>
                <a:ea typeface="+mn-ea"/>
                <a:cs typeface="+mn-cs"/>
              </a:rPr>
              <a:t>Se puede usar en las demos de marketing.</a:t>
            </a:r>
          </a:p>
          <a:p>
            <a:pPr lvl="1"/>
            <a:endParaRPr lang="es-ES" sz="1600" kern="1200" dirty="0">
              <a:solidFill>
                <a:schemeClr val="tx1"/>
              </a:solidFill>
              <a:effectLst/>
              <a:latin typeface="Times New Roman" pitchFamily="18" charset="0"/>
              <a:ea typeface="+mn-ea"/>
              <a:cs typeface="+mn-cs"/>
            </a:endParaRPr>
          </a:p>
          <a:p>
            <a:pPr lvl="0"/>
            <a:endParaRPr lang="es-ES" sz="1200" kern="1200" dirty="0">
              <a:solidFill>
                <a:schemeClr val="tx1"/>
              </a:solidFill>
              <a:effectLst/>
              <a:latin typeface="Times New Roman" pitchFamily="18" charset="0"/>
              <a:ea typeface="+mn-ea"/>
              <a:cs typeface="+mn-cs"/>
            </a:endParaRPr>
          </a:p>
        </p:txBody>
      </p:sp>
      <p:sp>
        <p:nvSpPr>
          <p:cNvPr id="79876" name="3 Marcador de número de diapositiva"/>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C866353-432D-4B70-ABDD-98C17BF8D712}" type="slidenum">
              <a:rPr lang="es-ES_tradnl" sz="1200"/>
              <a:pPr/>
              <a:t>23</a:t>
            </a:fld>
            <a:endParaRPr lang="es-ES_tradnl"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1 Marcador de imagen de diapositiva"/>
          <p:cNvSpPr>
            <a:spLocks noGrp="1" noRot="1" noChangeAspect="1" noTextEdit="1"/>
          </p:cNvSpPr>
          <p:nvPr>
            <p:ph type="sldImg"/>
          </p:nvPr>
        </p:nvSpPr>
        <p:spPr>
          <a:ln/>
        </p:spPr>
      </p:sp>
      <p:sp>
        <p:nvSpPr>
          <p:cNvPr id="79875" name="2 Marcador de notas"/>
          <p:cNvSpPr>
            <a:spLocks noGrp="1"/>
          </p:cNvSpPr>
          <p:nvPr>
            <p:ph type="body" idx="1"/>
          </p:nvPr>
        </p:nvSpPr>
        <p:spPr>
          <a:noFill/>
        </p:spPr>
        <p:txBody>
          <a:bodyPr/>
          <a:lstStyle/>
          <a:p>
            <a:r>
              <a:rPr lang="es-ES" dirty="0"/>
              <a:t>Este </a:t>
            </a:r>
            <a:r>
              <a:rPr lang="es-ES" dirty="0" err="1"/>
              <a:t>guión</a:t>
            </a:r>
            <a:r>
              <a:rPr lang="es-ES" dirty="0"/>
              <a:t> gráfico de la aplicación </a:t>
            </a:r>
            <a:r>
              <a:rPr lang="es-ES" dirty="0" err="1"/>
              <a:t>Heartline</a:t>
            </a:r>
            <a:r>
              <a:rPr lang="es-ES" dirty="0"/>
              <a:t> es un gran ejemplo. Explica cómo se relacionan los personajes a través de escenas descriptivas y leyendas. También hay varios bocetos en primer plano que muestran más detalles del producto, lo que hace que la historia sea fácil de seguir.</a:t>
            </a:r>
          </a:p>
          <a:p>
            <a:r>
              <a:rPr lang="en-US" baseline="0" dirty="0"/>
              <a:t>Podemos </a:t>
            </a:r>
            <a:r>
              <a:rPr lang="en-US" baseline="0" dirty="0" err="1"/>
              <a:t>decir</a:t>
            </a:r>
            <a:r>
              <a:rPr lang="en-US" baseline="0" dirty="0"/>
              <a:t> que </a:t>
            </a:r>
            <a:r>
              <a:rPr lang="en-US" baseline="0" dirty="0" err="1"/>
              <a:t>esta</a:t>
            </a:r>
            <a:r>
              <a:rPr lang="en-US" baseline="0" dirty="0"/>
              <a:t> </a:t>
            </a:r>
            <a:r>
              <a:rPr lang="en-US" baseline="0" dirty="0" err="1"/>
              <a:t>tecnica</a:t>
            </a:r>
            <a:r>
              <a:rPr lang="en-US" baseline="0" dirty="0"/>
              <a:t> no </a:t>
            </a:r>
            <a:r>
              <a:rPr lang="en-US" baseline="0" dirty="0" err="1"/>
              <a:t>necesita</a:t>
            </a:r>
            <a:r>
              <a:rPr lang="en-US" baseline="0" dirty="0"/>
              <a:t> de </a:t>
            </a:r>
            <a:r>
              <a:rPr lang="en-US" baseline="0" dirty="0" err="1"/>
              <a:t>conocimientos</a:t>
            </a:r>
            <a:r>
              <a:rPr lang="en-US" baseline="0" dirty="0"/>
              <a:t> </a:t>
            </a:r>
            <a:r>
              <a:rPr lang="en-US" baseline="0" dirty="0" err="1"/>
              <a:t>especificos</a:t>
            </a:r>
            <a:r>
              <a:rPr lang="en-US" baseline="0" dirty="0"/>
              <a:t> de </a:t>
            </a:r>
            <a:r>
              <a:rPr lang="en-US" baseline="0" dirty="0" err="1"/>
              <a:t>una</a:t>
            </a:r>
            <a:r>
              <a:rPr lang="en-US" baseline="0" dirty="0"/>
              <a:t> </a:t>
            </a:r>
            <a:r>
              <a:rPr lang="en-US" baseline="0" dirty="0" err="1"/>
              <a:t>disciplina</a:t>
            </a:r>
            <a:r>
              <a:rPr lang="en-US" baseline="0" dirty="0"/>
              <a:t> , </a:t>
            </a:r>
            <a:r>
              <a:rPr lang="en-US" baseline="0" dirty="0" err="1"/>
              <a:t>sino</a:t>
            </a:r>
            <a:r>
              <a:rPr lang="en-US" baseline="0" dirty="0"/>
              <a:t> que </a:t>
            </a:r>
            <a:r>
              <a:rPr lang="en-US" baseline="0" dirty="0" err="1"/>
              <a:t>puede</a:t>
            </a:r>
            <a:r>
              <a:rPr lang="en-US" baseline="0" dirty="0"/>
              <a:t> ser </a:t>
            </a:r>
            <a:r>
              <a:rPr lang="en-US" baseline="0" dirty="0" err="1"/>
              <a:t>empleada</a:t>
            </a:r>
            <a:r>
              <a:rPr lang="en-US" baseline="0" dirty="0"/>
              <a:t> </a:t>
            </a:r>
            <a:r>
              <a:rPr lang="en-US" baseline="0" dirty="0" err="1"/>
              <a:t>por</a:t>
            </a:r>
            <a:r>
              <a:rPr lang="en-US" baseline="0" dirty="0"/>
              <a:t> </a:t>
            </a:r>
            <a:r>
              <a:rPr lang="en-US" baseline="0" dirty="0" err="1"/>
              <a:t>todos</a:t>
            </a:r>
            <a:r>
              <a:rPr lang="en-US" baseline="0" dirty="0"/>
              <a:t> los </a:t>
            </a:r>
            <a:r>
              <a:rPr lang="en-US" baseline="0" dirty="0" err="1"/>
              <a:t>miemnros</a:t>
            </a:r>
            <a:r>
              <a:rPr lang="en-US" baseline="0" dirty="0"/>
              <a:t> de un </a:t>
            </a:r>
            <a:r>
              <a:rPr lang="en-US" baseline="0" dirty="0" err="1"/>
              <a:t>equipo</a:t>
            </a:r>
            <a:r>
              <a:rPr lang="en-US" baseline="0" dirty="0"/>
              <a:t> de </a:t>
            </a:r>
            <a:r>
              <a:rPr lang="en-US" baseline="0" dirty="0" err="1"/>
              <a:t>desarrollo</a:t>
            </a:r>
            <a:r>
              <a:rPr lang="en-US" baseline="0" dirty="0"/>
              <a:t> en el </a:t>
            </a:r>
            <a:r>
              <a:rPr lang="en-US" baseline="0" dirty="0" err="1"/>
              <a:t>intercambio</a:t>
            </a:r>
            <a:r>
              <a:rPr lang="en-US" baseline="0" dirty="0"/>
              <a:t> y </a:t>
            </a:r>
            <a:r>
              <a:rPr lang="en-US" baseline="0" dirty="0" err="1"/>
              <a:t>colaboracion</a:t>
            </a:r>
            <a:endParaRPr lang="en-US" baseline="0" dirty="0"/>
          </a:p>
          <a:p>
            <a:r>
              <a:rPr lang="en-US" baseline="0" dirty="0" err="1"/>
              <a:t>Estudios</a:t>
            </a:r>
            <a:r>
              <a:rPr lang="en-US" baseline="0" dirty="0"/>
              <a:t> </a:t>
            </a:r>
            <a:r>
              <a:rPr lang="en-US" baseline="0" dirty="0" err="1"/>
              <a:t>recientes</a:t>
            </a:r>
            <a:r>
              <a:rPr lang="en-US" baseline="0" dirty="0"/>
              <a:t> </a:t>
            </a:r>
            <a:r>
              <a:rPr lang="en-US" baseline="0" dirty="0" err="1"/>
              <a:t>muestran</a:t>
            </a:r>
            <a:r>
              <a:rPr lang="en-US" baseline="0" dirty="0"/>
              <a:t> </a:t>
            </a:r>
            <a:r>
              <a:rPr lang="en-US" baseline="0" dirty="0" err="1"/>
              <a:t>que</a:t>
            </a:r>
            <a:r>
              <a:rPr lang="en-US" baseline="0" dirty="0"/>
              <a:t> la </a:t>
            </a:r>
            <a:r>
              <a:rPr lang="en-US" baseline="0" dirty="0" err="1"/>
              <a:t>combinacion</a:t>
            </a:r>
            <a:r>
              <a:rPr lang="en-US" baseline="0" dirty="0"/>
              <a:t> de </a:t>
            </a:r>
            <a:r>
              <a:rPr lang="en-US" baseline="0" dirty="0" err="1"/>
              <a:t>historias</a:t>
            </a:r>
            <a:r>
              <a:rPr lang="en-US" baseline="0" dirty="0"/>
              <a:t> y </a:t>
            </a:r>
            <a:r>
              <a:rPr lang="en-US" baseline="0" dirty="0" err="1"/>
              <a:t>dibujos</a:t>
            </a:r>
            <a:r>
              <a:rPr lang="en-US" baseline="0" dirty="0"/>
              <a:t> son </a:t>
            </a:r>
            <a:r>
              <a:rPr lang="en-US" baseline="0" dirty="0" err="1"/>
              <a:t>utiles</a:t>
            </a:r>
            <a:r>
              <a:rPr lang="en-US" baseline="0" dirty="0"/>
              <a:t> </a:t>
            </a:r>
            <a:r>
              <a:rPr lang="en-US" baseline="0" dirty="0" err="1"/>
              <a:t>para</a:t>
            </a:r>
            <a:r>
              <a:rPr lang="en-US" baseline="0" dirty="0"/>
              <a:t> </a:t>
            </a:r>
            <a:r>
              <a:rPr lang="en-US" baseline="0" dirty="0" err="1"/>
              <a:t>comprender</a:t>
            </a:r>
            <a:r>
              <a:rPr lang="en-US" baseline="0" dirty="0"/>
              <a:t> el </a:t>
            </a:r>
            <a:r>
              <a:rPr lang="en-US" baseline="0" dirty="0" err="1"/>
              <a:t>uso</a:t>
            </a:r>
            <a:r>
              <a:rPr lang="en-US" baseline="0" dirty="0"/>
              <a:t> de </a:t>
            </a:r>
            <a:r>
              <a:rPr lang="en-US" baseline="0" dirty="0" err="1"/>
              <a:t>una</a:t>
            </a:r>
            <a:r>
              <a:rPr lang="en-US" baseline="0" dirty="0"/>
              <a:t> </a:t>
            </a:r>
            <a:r>
              <a:rPr lang="en-US" baseline="0" dirty="0" err="1"/>
              <a:t>aplicacion</a:t>
            </a:r>
            <a:r>
              <a:rPr lang="en-US" baseline="0" dirty="0"/>
              <a:t> </a:t>
            </a:r>
            <a:r>
              <a:rPr lang="en-US" baseline="0" dirty="0" err="1"/>
              <a:t>futura</a:t>
            </a:r>
            <a:r>
              <a:rPr lang="en-US" baseline="0" dirty="0"/>
              <a:t>, </a:t>
            </a:r>
            <a:r>
              <a:rPr lang="en-US" baseline="0" dirty="0" err="1"/>
              <a:t>erroores</a:t>
            </a:r>
            <a:r>
              <a:rPr lang="en-US" baseline="0" dirty="0"/>
              <a:t> , </a:t>
            </a:r>
            <a:r>
              <a:rPr lang="en-US" baseline="0" dirty="0" err="1"/>
              <a:t>informacion</a:t>
            </a:r>
            <a:r>
              <a:rPr lang="en-US" baseline="0" dirty="0"/>
              <a:t> temporal y contextual. </a:t>
            </a:r>
            <a:r>
              <a:rPr lang="en-US" baseline="0" dirty="0" err="1"/>
              <a:t>Por</a:t>
            </a:r>
            <a:r>
              <a:rPr lang="en-US" baseline="0" dirty="0"/>
              <a:t> lo </a:t>
            </a:r>
            <a:r>
              <a:rPr lang="en-US" baseline="0" dirty="0" err="1"/>
              <a:t>tanto</a:t>
            </a:r>
            <a:r>
              <a:rPr lang="en-US" baseline="0" dirty="0"/>
              <a:t> los </a:t>
            </a:r>
            <a:r>
              <a:rPr lang="en-US" baseline="0" dirty="0" err="1"/>
              <a:t>escenarios</a:t>
            </a:r>
            <a:r>
              <a:rPr lang="en-US" baseline="0" dirty="0"/>
              <a:t> </a:t>
            </a:r>
            <a:r>
              <a:rPr lang="en-US" baseline="0" dirty="0" err="1"/>
              <a:t>que</a:t>
            </a:r>
            <a:r>
              <a:rPr lang="en-US" baseline="0" dirty="0"/>
              <a:t> </a:t>
            </a:r>
            <a:r>
              <a:rPr lang="en-US" baseline="0" dirty="0" err="1"/>
              <a:t>describen</a:t>
            </a:r>
            <a:r>
              <a:rPr lang="en-US" baseline="0" dirty="0"/>
              <a:t> el </a:t>
            </a:r>
            <a:r>
              <a:rPr lang="en-US" baseline="0" dirty="0" err="1"/>
              <a:t>uso</a:t>
            </a:r>
            <a:r>
              <a:rPr lang="en-US" baseline="0" dirty="0"/>
              <a:t> </a:t>
            </a:r>
            <a:r>
              <a:rPr lang="en-US" baseline="0" dirty="0" err="1"/>
              <a:t>que</a:t>
            </a:r>
            <a:r>
              <a:rPr lang="en-US" baseline="0" dirty="0"/>
              <a:t> se le </a:t>
            </a:r>
            <a:r>
              <a:rPr lang="en-US" baseline="0" dirty="0" err="1"/>
              <a:t>dara</a:t>
            </a:r>
            <a:r>
              <a:rPr lang="en-US" baseline="0" dirty="0"/>
              <a:t> a </a:t>
            </a:r>
            <a:r>
              <a:rPr lang="en-US" baseline="0" dirty="0" err="1"/>
              <a:t>una</a:t>
            </a:r>
            <a:r>
              <a:rPr lang="en-US" baseline="0" dirty="0"/>
              <a:t> </a:t>
            </a:r>
            <a:r>
              <a:rPr lang="en-US" baseline="0" dirty="0" err="1"/>
              <a:t>aplicacion</a:t>
            </a:r>
            <a:r>
              <a:rPr lang="en-US" baseline="0" dirty="0"/>
              <a:t> </a:t>
            </a:r>
            <a:r>
              <a:rPr lang="en-US" baseline="0" dirty="0" err="1"/>
              <a:t>es</a:t>
            </a:r>
            <a:r>
              <a:rPr lang="en-US" baseline="0" dirty="0"/>
              <a:t> </a:t>
            </a:r>
            <a:r>
              <a:rPr lang="en-US" baseline="0" dirty="0" err="1"/>
              <a:t>una</a:t>
            </a:r>
            <a:r>
              <a:rPr lang="en-US" baseline="0" dirty="0"/>
              <a:t> </a:t>
            </a:r>
            <a:r>
              <a:rPr lang="en-US" baseline="0" dirty="0" err="1"/>
              <a:t>historia</a:t>
            </a:r>
            <a:r>
              <a:rPr lang="en-US" baseline="0" dirty="0"/>
              <a:t> </a:t>
            </a:r>
            <a:r>
              <a:rPr lang="en-US" baseline="0" dirty="0" err="1"/>
              <a:t>narrativa</a:t>
            </a:r>
            <a:r>
              <a:rPr lang="en-US" baseline="0" dirty="0"/>
              <a:t> se </a:t>
            </a:r>
            <a:r>
              <a:rPr lang="en-US" baseline="0" dirty="0" err="1"/>
              <a:t>vuelven</a:t>
            </a:r>
            <a:r>
              <a:rPr lang="en-US" baseline="0" dirty="0"/>
              <a:t> mucho mas </a:t>
            </a:r>
            <a:r>
              <a:rPr lang="en-US" baseline="0" dirty="0" err="1"/>
              <a:t>poderosos</a:t>
            </a:r>
            <a:r>
              <a:rPr lang="en-US" baseline="0" dirty="0"/>
              <a:t> y </a:t>
            </a:r>
            <a:r>
              <a:rPr lang="en-US" baseline="0" dirty="0" err="1"/>
              <a:t>explicitos</a:t>
            </a:r>
            <a:r>
              <a:rPr lang="en-US" baseline="0" dirty="0"/>
              <a:t> </a:t>
            </a:r>
            <a:r>
              <a:rPr lang="en-US" baseline="0" dirty="0" err="1"/>
              <a:t>si</a:t>
            </a:r>
            <a:r>
              <a:rPr lang="en-US" baseline="0" dirty="0"/>
              <a:t> se </a:t>
            </a:r>
            <a:r>
              <a:rPr lang="en-US" baseline="0" dirty="0" err="1"/>
              <a:t>annade</a:t>
            </a:r>
            <a:r>
              <a:rPr lang="en-US" baseline="0" dirty="0"/>
              <a:t> </a:t>
            </a:r>
            <a:r>
              <a:rPr lang="en-US" baseline="0" dirty="0" err="1"/>
              <a:t>informacion</a:t>
            </a:r>
            <a:r>
              <a:rPr lang="en-US" baseline="0" dirty="0"/>
              <a:t> visual </a:t>
            </a:r>
            <a:r>
              <a:rPr lang="en-US" baseline="0" dirty="0" err="1"/>
              <a:t>como</a:t>
            </a:r>
            <a:r>
              <a:rPr lang="en-US" baseline="0" dirty="0"/>
              <a:t> </a:t>
            </a:r>
            <a:r>
              <a:rPr lang="en-US" baseline="0" dirty="0" err="1"/>
              <a:t>es</a:t>
            </a:r>
            <a:r>
              <a:rPr lang="en-US" baseline="0" dirty="0"/>
              <a:t> el </a:t>
            </a:r>
            <a:r>
              <a:rPr lang="en-US" baseline="0" dirty="0" err="1"/>
              <a:t>caso</a:t>
            </a:r>
            <a:r>
              <a:rPr lang="en-US" baseline="0" dirty="0"/>
              <a:t> del storyboarding </a:t>
            </a:r>
          </a:p>
          <a:p>
            <a:r>
              <a:rPr lang="en-US" baseline="0" dirty="0"/>
              <a:t>El </a:t>
            </a:r>
            <a:r>
              <a:rPr lang="en-US" baseline="0" dirty="0" err="1"/>
              <a:t>sotryboarding</a:t>
            </a:r>
            <a:r>
              <a:rPr lang="en-US" baseline="0" dirty="0"/>
              <a:t> , </a:t>
            </a:r>
            <a:r>
              <a:rPr lang="en-US" baseline="0" dirty="0" err="1"/>
              <a:t>especialmente</a:t>
            </a:r>
            <a:r>
              <a:rPr lang="en-US" baseline="0" dirty="0"/>
              <a:t> la </a:t>
            </a:r>
            <a:r>
              <a:rPr lang="en-US" baseline="0" dirty="0" err="1"/>
              <a:t>descripcion</a:t>
            </a:r>
            <a:r>
              <a:rPr lang="en-US" baseline="0" dirty="0"/>
              <a:t> del </a:t>
            </a:r>
            <a:r>
              <a:rPr lang="en-US" baseline="0" dirty="0" err="1"/>
              <a:t>contexto</a:t>
            </a:r>
            <a:r>
              <a:rPr lang="en-US" baseline="0" dirty="0"/>
              <a:t> , </a:t>
            </a:r>
            <a:r>
              <a:rPr lang="en-US" baseline="0" dirty="0" err="1"/>
              <a:t>es</a:t>
            </a:r>
            <a:r>
              <a:rPr lang="en-US" baseline="0" dirty="0"/>
              <a:t> </a:t>
            </a:r>
            <a:r>
              <a:rPr lang="en-US" baseline="0" dirty="0" err="1"/>
              <a:t>util</a:t>
            </a:r>
            <a:r>
              <a:rPr lang="en-US" baseline="0" dirty="0"/>
              <a:t> </a:t>
            </a:r>
            <a:r>
              <a:rPr lang="en-US" baseline="0" dirty="0" err="1"/>
              <a:t>para</a:t>
            </a:r>
            <a:r>
              <a:rPr lang="en-US" baseline="0" dirty="0"/>
              <a:t> el </a:t>
            </a:r>
            <a:r>
              <a:rPr lang="en-US" baseline="0" dirty="0" err="1"/>
              <a:t>disenno</a:t>
            </a:r>
            <a:r>
              <a:rPr lang="en-US" baseline="0" dirty="0"/>
              <a:t> de la </a:t>
            </a:r>
            <a:r>
              <a:rPr lang="en-US" baseline="0" dirty="0" err="1"/>
              <a:t>aplicacion</a:t>
            </a:r>
            <a:r>
              <a:rPr lang="en-US" baseline="0" dirty="0"/>
              <a:t> </a:t>
            </a:r>
            <a:r>
              <a:rPr lang="en-US" baseline="0" dirty="0" err="1"/>
              <a:t>pero</a:t>
            </a:r>
            <a:r>
              <a:rPr lang="en-US" baseline="0" dirty="0"/>
              <a:t> </a:t>
            </a:r>
            <a:r>
              <a:rPr lang="en-US" baseline="0" dirty="0" err="1"/>
              <a:t>carece</a:t>
            </a:r>
            <a:r>
              <a:rPr lang="en-US" baseline="0" dirty="0"/>
              <a:t> de </a:t>
            </a:r>
            <a:r>
              <a:rPr lang="en-US" baseline="0" dirty="0" err="1"/>
              <a:t>una</a:t>
            </a:r>
            <a:r>
              <a:rPr lang="en-US" baseline="0" dirty="0"/>
              <a:t> </a:t>
            </a:r>
            <a:r>
              <a:rPr lang="en-US" baseline="0" dirty="0" err="1"/>
              <a:t>buena</a:t>
            </a:r>
            <a:r>
              <a:rPr lang="en-US" baseline="0" dirty="0"/>
              <a:t> forma de </a:t>
            </a:r>
            <a:r>
              <a:rPr lang="en-US" baseline="0" dirty="0" err="1"/>
              <a:t>formalizar</a:t>
            </a:r>
            <a:r>
              <a:rPr lang="en-US" baseline="0" dirty="0"/>
              <a:t> la </a:t>
            </a:r>
            <a:r>
              <a:rPr lang="en-US" baseline="0" dirty="0" err="1"/>
              <a:t>informacion</a:t>
            </a:r>
            <a:r>
              <a:rPr lang="en-US" baseline="0" dirty="0"/>
              <a:t>.</a:t>
            </a:r>
            <a:endParaRPr lang="es-ES" dirty="0"/>
          </a:p>
        </p:txBody>
      </p:sp>
      <p:sp>
        <p:nvSpPr>
          <p:cNvPr id="79876" name="3 Marcador de número de diapositiva"/>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C866353-432D-4B70-ABDD-98C17BF8D712}" type="slidenum">
              <a:rPr lang="es-ES_tradnl" sz="1200"/>
              <a:pPr/>
              <a:t>24</a:t>
            </a:fld>
            <a:endParaRPr lang="es-ES_tradnl"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1 Marcador de imagen de diapositiva"/>
          <p:cNvSpPr>
            <a:spLocks noGrp="1" noRot="1" noChangeAspect="1" noTextEdit="1"/>
          </p:cNvSpPr>
          <p:nvPr>
            <p:ph type="sldImg"/>
          </p:nvPr>
        </p:nvSpPr>
        <p:spPr>
          <a:ln/>
        </p:spPr>
      </p:sp>
      <p:sp>
        <p:nvSpPr>
          <p:cNvPr id="79875" name="2 Marcador de notas"/>
          <p:cNvSpPr>
            <a:spLocks noGrp="1"/>
          </p:cNvSpPr>
          <p:nvPr>
            <p:ph type="body" idx="1"/>
          </p:nvPr>
        </p:nvSpPr>
        <p:spPr>
          <a:noFill/>
        </p:spPr>
        <p:txBody>
          <a:bodyPr/>
          <a:lstStyle/>
          <a:p>
            <a:endParaRPr lang="es-ES" dirty="0"/>
          </a:p>
          <a:p>
            <a:r>
              <a:rPr lang="es-ES" sz="1200" kern="1200" dirty="0">
                <a:solidFill>
                  <a:schemeClr val="tx1"/>
                </a:solidFill>
                <a:effectLst/>
                <a:latin typeface="Times New Roman" pitchFamily="18" charset="0"/>
                <a:ea typeface="+mn-ea"/>
                <a:cs typeface="+mn-cs"/>
              </a:rPr>
              <a:t>En el </a:t>
            </a:r>
            <a:r>
              <a:rPr lang="es-ES" sz="1200" kern="1200" dirty="0" err="1">
                <a:solidFill>
                  <a:schemeClr val="tx1"/>
                </a:solidFill>
                <a:effectLst/>
                <a:latin typeface="Times New Roman" pitchFamily="18" charset="0"/>
                <a:ea typeface="+mn-ea"/>
                <a:cs typeface="+mn-cs"/>
              </a:rPr>
              <a:t>Storyboard</a:t>
            </a:r>
            <a:r>
              <a:rPr lang="es-ES" sz="1200" kern="1200" dirty="0">
                <a:solidFill>
                  <a:schemeClr val="tx1"/>
                </a:solidFill>
                <a:effectLst/>
                <a:latin typeface="Times New Roman" pitchFamily="18" charset="0"/>
                <a:ea typeface="+mn-ea"/>
                <a:cs typeface="+mn-cs"/>
              </a:rPr>
              <a:t> tipo 2 se combinan los </a:t>
            </a:r>
            <a:r>
              <a:rPr lang="es-ES" sz="1200" kern="1200" dirty="0" err="1">
                <a:solidFill>
                  <a:schemeClr val="tx1"/>
                </a:solidFill>
                <a:effectLst/>
                <a:latin typeface="Times New Roman" pitchFamily="18" charset="0"/>
                <a:ea typeface="+mn-ea"/>
                <a:cs typeface="+mn-cs"/>
              </a:rPr>
              <a:t>mockups</a:t>
            </a:r>
            <a:r>
              <a:rPr lang="es-ES" sz="1200" kern="1200" dirty="0">
                <a:solidFill>
                  <a:schemeClr val="tx1"/>
                </a:solidFill>
                <a:effectLst/>
                <a:latin typeface="Times New Roman" pitchFamily="18" charset="0"/>
                <a:ea typeface="+mn-ea"/>
                <a:cs typeface="+mn-cs"/>
              </a:rPr>
              <a:t> del programa en cuestión con el flujo básico de los casos usos, para mostrar al usuario como interactuará con la interfaz del programa en su fase final. Este tipo de diseño ayuda al usuario a identificar cuales aspectos del programa son de su agrado y cuales no, debido a la visibilidad que tiene del producto, aunque este no esté todavía implementado, es decir el usuario gracias a este tipo de lenguaje tendrá una “maqueta” de la interfaz del programa final. En él fuimos mostrando todas las etapas por las cuales el usuario debe pasar desde la selección de la aplicación en un dispositivo móvil, hasta cada una de las opciones que la persona puede seleccionar dentro de la aplicación, explicando detalladamente la función de cada uno de los elementos que conforman la interfaz de esta. Este tipo de </a:t>
            </a:r>
            <a:r>
              <a:rPr lang="es-ES" sz="1200" kern="1200" dirty="0" err="1">
                <a:solidFill>
                  <a:schemeClr val="tx1"/>
                </a:solidFill>
                <a:effectLst/>
                <a:latin typeface="Times New Roman" pitchFamily="18" charset="0"/>
                <a:ea typeface="+mn-ea"/>
                <a:cs typeface="+mn-cs"/>
              </a:rPr>
              <a:t>Storyboard</a:t>
            </a:r>
            <a:r>
              <a:rPr lang="es-ES" sz="1200" kern="1200" dirty="0">
                <a:solidFill>
                  <a:schemeClr val="tx1"/>
                </a:solidFill>
                <a:effectLst/>
                <a:latin typeface="Times New Roman" pitchFamily="18" charset="0"/>
                <a:ea typeface="+mn-ea"/>
                <a:cs typeface="+mn-cs"/>
              </a:rPr>
              <a:t> ayuda a los desarrolladores a identificar los problemas visuales que puede tener el software y es muy importante a la hora de poder crear un manual para el usuario.</a:t>
            </a:r>
          </a:p>
        </p:txBody>
      </p:sp>
      <p:sp>
        <p:nvSpPr>
          <p:cNvPr id="79876" name="3 Marcador de número de diapositiva"/>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C866353-432D-4B70-ABDD-98C17BF8D712}" type="slidenum">
              <a:rPr lang="es-ES_tradnl" sz="1200"/>
              <a:pPr/>
              <a:t>25</a:t>
            </a:fld>
            <a:endParaRPr lang="es-ES_tradnl"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1 Marcador de imagen de diapositiva"/>
          <p:cNvSpPr>
            <a:spLocks noGrp="1" noRot="1" noChangeAspect="1" noTextEdit="1"/>
          </p:cNvSpPr>
          <p:nvPr>
            <p:ph type="sldImg"/>
          </p:nvPr>
        </p:nvSpPr>
        <p:spPr>
          <a:ln/>
        </p:spPr>
      </p:sp>
      <p:sp>
        <p:nvSpPr>
          <p:cNvPr id="79875" name="2 Marcador de notas"/>
          <p:cNvSpPr>
            <a:spLocks noGrp="1"/>
          </p:cNvSpPr>
          <p:nvPr>
            <p:ph type="body" idx="1"/>
          </p:nvPr>
        </p:nvSpPr>
        <p:spPr>
          <a:noFill/>
        </p:spPr>
        <p:txBody>
          <a:bodyPr/>
          <a:lstStyle/>
          <a:p>
            <a:endParaRPr lang="es-ES" dirty="0"/>
          </a:p>
          <a:p>
            <a:r>
              <a:rPr lang="es-ES" dirty="0"/>
              <a:t>El ejemplo del </a:t>
            </a:r>
            <a:r>
              <a:rPr lang="es-ES" dirty="0" err="1"/>
              <a:t>guión</a:t>
            </a:r>
            <a:r>
              <a:rPr lang="es-ES" dirty="0"/>
              <a:t> gráfico de la interfaz de usuario es un producto de pedido y entrega de alimentos en línea. Puedes saber esto siguiendo el orden de los paneles.</a:t>
            </a:r>
          </a:p>
          <a:p>
            <a:r>
              <a:rPr lang="es-ES" sz="1200" kern="1200" dirty="0">
                <a:solidFill>
                  <a:schemeClr val="tx1"/>
                </a:solidFill>
                <a:effectLst/>
                <a:latin typeface="Times New Roman" pitchFamily="18" charset="0"/>
                <a:ea typeface="+mn-ea"/>
                <a:cs typeface="+mn-cs"/>
              </a:rPr>
              <a:t>Una de las desventajas que tiene es que como es una “maqueta visual” los desarrolladores no podrán identificar problemas más detallados como las acciones que el usuario puede realizar o no al estar en contacto con el producto, o problemas a nivel de implementación del software. Además, que como queremos enseñarle al cliente todas las etapas de la aplicación tuvimos que crear las maquetas de cada una de estas, y como este software en particular tiene varios requerimientos fueron muchas maquetas, además, de la explicación de cada uno de los elementos que contiene la interfaz</a:t>
            </a:r>
          </a:p>
        </p:txBody>
      </p:sp>
      <p:sp>
        <p:nvSpPr>
          <p:cNvPr id="79876" name="3 Marcador de número de diapositiva"/>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C866353-432D-4B70-ABDD-98C17BF8D712}" type="slidenum">
              <a:rPr lang="es-ES_tradnl" sz="1200"/>
              <a:pPr/>
              <a:t>26</a:t>
            </a:fld>
            <a:endParaRPr lang="es-ES_tradnl" sz="12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254CA-58B8-C8F3-DDE5-DFF150694A6D}"/>
            </a:ext>
          </a:extLst>
        </p:cNvPr>
        <p:cNvGrpSpPr/>
        <p:nvPr/>
      </p:nvGrpSpPr>
      <p:grpSpPr>
        <a:xfrm>
          <a:off x="0" y="0"/>
          <a:ext cx="0" cy="0"/>
          <a:chOff x="0" y="0"/>
          <a:chExt cx="0" cy="0"/>
        </a:xfrm>
      </p:grpSpPr>
      <p:sp>
        <p:nvSpPr>
          <p:cNvPr id="79874" name="1 Marcador de imagen de diapositiva">
            <a:extLst>
              <a:ext uri="{FF2B5EF4-FFF2-40B4-BE49-F238E27FC236}">
                <a16:creationId xmlns:a16="http://schemas.microsoft.com/office/drawing/2014/main" id="{1AFB03DD-9777-EB90-0E09-38F65207942F}"/>
              </a:ext>
            </a:extLst>
          </p:cNvPr>
          <p:cNvSpPr>
            <a:spLocks noGrp="1" noRot="1" noChangeAspect="1" noTextEdit="1"/>
          </p:cNvSpPr>
          <p:nvPr>
            <p:ph type="sldImg"/>
          </p:nvPr>
        </p:nvSpPr>
        <p:spPr>
          <a:ln/>
        </p:spPr>
      </p:sp>
      <p:sp>
        <p:nvSpPr>
          <p:cNvPr id="79875" name="2 Marcador de notas">
            <a:extLst>
              <a:ext uri="{FF2B5EF4-FFF2-40B4-BE49-F238E27FC236}">
                <a16:creationId xmlns:a16="http://schemas.microsoft.com/office/drawing/2014/main" id="{1C3F0F26-98E5-B4F2-BE9C-6328A1A98AD3}"/>
              </a:ext>
            </a:extLst>
          </p:cNvPr>
          <p:cNvSpPr>
            <a:spLocks noGrp="1"/>
          </p:cNvSpPr>
          <p:nvPr>
            <p:ph type="body" idx="1"/>
          </p:nvPr>
        </p:nvSpPr>
        <p:spPr>
          <a:noFill/>
        </p:spPr>
        <p:txBody>
          <a:bodyPr/>
          <a:lstStyle/>
          <a:p>
            <a:endParaRPr lang="es-ES" dirty="0"/>
          </a:p>
          <a:p>
            <a:pPr lvl="0"/>
            <a:endParaRPr lang="es-ES" sz="1200" kern="1200" dirty="0">
              <a:solidFill>
                <a:schemeClr val="tx1"/>
              </a:solidFill>
              <a:effectLst/>
              <a:latin typeface="Times New Roman" pitchFamily="18" charset="0"/>
              <a:ea typeface="+mn-ea"/>
              <a:cs typeface="+mn-cs"/>
            </a:endParaRPr>
          </a:p>
        </p:txBody>
      </p:sp>
      <p:sp>
        <p:nvSpPr>
          <p:cNvPr id="79876" name="3 Marcador de número de diapositiva">
            <a:extLst>
              <a:ext uri="{FF2B5EF4-FFF2-40B4-BE49-F238E27FC236}">
                <a16:creationId xmlns:a16="http://schemas.microsoft.com/office/drawing/2014/main" id="{C2210EEB-FF1F-33AC-B050-8FC5DA5BD345}"/>
              </a:ext>
            </a:extLst>
          </p:cNvPr>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C866353-432D-4B70-ABDD-98C17BF8D712}" type="slidenum">
              <a:rPr lang="es-ES_tradnl" sz="1200"/>
              <a:pPr/>
              <a:t>27</a:t>
            </a:fld>
            <a:endParaRPr lang="es-ES_tradnl" sz="1200"/>
          </a:p>
        </p:txBody>
      </p:sp>
    </p:spTree>
    <p:extLst>
      <p:ext uri="{BB962C8B-B14F-4D97-AF65-F5344CB8AC3E}">
        <p14:creationId xmlns:p14="http://schemas.microsoft.com/office/powerpoint/2010/main" val="20946309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A3D96-54AE-323F-E95C-19095DD14CD9}"/>
            </a:ext>
          </a:extLst>
        </p:cNvPr>
        <p:cNvGrpSpPr/>
        <p:nvPr/>
      </p:nvGrpSpPr>
      <p:grpSpPr>
        <a:xfrm>
          <a:off x="0" y="0"/>
          <a:ext cx="0" cy="0"/>
          <a:chOff x="0" y="0"/>
          <a:chExt cx="0" cy="0"/>
        </a:xfrm>
      </p:grpSpPr>
      <p:sp>
        <p:nvSpPr>
          <p:cNvPr id="79874" name="1 Marcador de imagen de diapositiva">
            <a:extLst>
              <a:ext uri="{FF2B5EF4-FFF2-40B4-BE49-F238E27FC236}">
                <a16:creationId xmlns:a16="http://schemas.microsoft.com/office/drawing/2014/main" id="{7B67F4D0-295C-7018-A020-2D9ED89157B3}"/>
              </a:ext>
            </a:extLst>
          </p:cNvPr>
          <p:cNvSpPr>
            <a:spLocks noGrp="1" noRot="1" noChangeAspect="1" noTextEdit="1"/>
          </p:cNvSpPr>
          <p:nvPr>
            <p:ph type="sldImg"/>
          </p:nvPr>
        </p:nvSpPr>
        <p:spPr>
          <a:ln/>
        </p:spPr>
      </p:sp>
      <p:sp>
        <p:nvSpPr>
          <p:cNvPr id="79875" name="2 Marcador de notas">
            <a:extLst>
              <a:ext uri="{FF2B5EF4-FFF2-40B4-BE49-F238E27FC236}">
                <a16:creationId xmlns:a16="http://schemas.microsoft.com/office/drawing/2014/main" id="{05B1A16F-DE26-EBF9-57F2-FB156FCCC1AE}"/>
              </a:ext>
            </a:extLst>
          </p:cNvPr>
          <p:cNvSpPr>
            <a:spLocks noGrp="1"/>
          </p:cNvSpPr>
          <p:nvPr>
            <p:ph type="body" idx="1"/>
          </p:nvPr>
        </p:nvSpPr>
        <p:spPr>
          <a:noFill/>
        </p:spPr>
        <p:txBody>
          <a:bodyPr/>
          <a:lstStyle/>
          <a:p>
            <a:r>
              <a:rPr lang="es-ES" dirty="0" err="1"/>
              <a:t>Anlicemos</a:t>
            </a:r>
            <a:r>
              <a:rPr lang="es-ES" dirty="0"/>
              <a:t> en conjunto estos ejemplos y propongamos ideas para hacer las historias de usuarios más específicas.</a:t>
            </a:r>
          </a:p>
          <a:p>
            <a:pPr lvl="0"/>
            <a:endParaRPr lang="es-ES" sz="1200" kern="1200" dirty="0">
              <a:solidFill>
                <a:schemeClr val="tx1"/>
              </a:solidFill>
              <a:effectLst/>
              <a:latin typeface="Times New Roman" pitchFamily="18" charset="0"/>
              <a:ea typeface="+mn-ea"/>
              <a:cs typeface="+mn-cs"/>
            </a:endParaRPr>
          </a:p>
        </p:txBody>
      </p:sp>
      <p:sp>
        <p:nvSpPr>
          <p:cNvPr id="79876" name="3 Marcador de número de diapositiva">
            <a:extLst>
              <a:ext uri="{FF2B5EF4-FFF2-40B4-BE49-F238E27FC236}">
                <a16:creationId xmlns:a16="http://schemas.microsoft.com/office/drawing/2014/main" id="{3B121FA5-3B7C-3197-F796-05D8D6EF34DD}"/>
              </a:ext>
            </a:extLst>
          </p:cNvPr>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C866353-432D-4B70-ABDD-98C17BF8D712}" type="slidenum">
              <a:rPr lang="es-ES_tradnl" sz="1200"/>
              <a:pPr/>
              <a:t>28</a:t>
            </a:fld>
            <a:endParaRPr lang="es-ES_tradnl" sz="1200"/>
          </a:p>
        </p:txBody>
      </p:sp>
    </p:spTree>
    <p:extLst>
      <p:ext uri="{BB962C8B-B14F-4D97-AF65-F5344CB8AC3E}">
        <p14:creationId xmlns:p14="http://schemas.microsoft.com/office/powerpoint/2010/main" val="30255597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CADE9-6EDE-85D8-90F3-01AAFD90E139}"/>
            </a:ext>
          </a:extLst>
        </p:cNvPr>
        <p:cNvGrpSpPr/>
        <p:nvPr/>
      </p:nvGrpSpPr>
      <p:grpSpPr>
        <a:xfrm>
          <a:off x="0" y="0"/>
          <a:ext cx="0" cy="0"/>
          <a:chOff x="0" y="0"/>
          <a:chExt cx="0" cy="0"/>
        </a:xfrm>
      </p:grpSpPr>
      <p:sp>
        <p:nvSpPr>
          <p:cNvPr id="79874" name="1 Marcador de imagen de diapositiva">
            <a:extLst>
              <a:ext uri="{FF2B5EF4-FFF2-40B4-BE49-F238E27FC236}">
                <a16:creationId xmlns:a16="http://schemas.microsoft.com/office/drawing/2014/main" id="{68CD8DEC-26A9-DF0B-6606-0A1C2B69C416}"/>
              </a:ext>
            </a:extLst>
          </p:cNvPr>
          <p:cNvSpPr>
            <a:spLocks noGrp="1" noRot="1" noChangeAspect="1" noTextEdit="1"/>
          </p:cNvSpPr>
          <p:nvPr>
            <p:ph type="sldImg"/>
          </p:nvPr>
        </p:nvSpPr>
        <p:spPr>
          <a:ln/>
        </p:spPr>
      </p:sp>
      <p:sp>
        <p:nvSpPr>
          <p:cNvPr id="79875" name="2 Marcador de notas">
            <a:extLst>
              <a:ext uri="{FF2B5EF4-FFF2-40B4-BE49-F238E27FC236}">
                <a16:creationId xmlns:a16="http://schemas.microsoft.com/office/drawing/2014/main" id="{5DFF19B3-CD44-3CB9-99B3-283483267C60}"/>
              </a:ext>
            </a:extLst>
          </p:cNvPr>
          <p:cNvSpPr>
            <a:spLocks noGrp="1"/>
          </p:cNvSpPr>
          <p:nvPr>
            <p:ph type="body" idx="1"/>
          </p:nvPr>
        </p:nvSpPr>
        <p:spPr>
          <a:noFill/>
        </p:spPr>
        <p:txBody>
          <a:bodyPr/>
          <a:lstStyle/>
          <a:p>
            <a:endParaRPr lang="es-ES" dirty="0"/>
          </a:p>
          <a:p>
            <a:pPr lvl="0"/>
            <a:r>
              <a:rPr lang="es-ES" sz="1200" kern="1200" dirty="0">
                <a:solidFill>
                  <a:schemeClr val="tx1"/>
                </a:solidFill>
                <a:effectLst/>
                <a:latin typeface="Times New Roman" pitchFamily="18" charset="0"/>
                <a:ea typeface="+mn-ea"/>
                <a:cs typeface="+mn-cs"/>
              </a:rPr>
              <a:t>Se debe analizar cómo los mismos elementos que constituyen ventajas, pueden considerarse desventajas si no se establece un ritmo de trabajo adecuado aplicando técnicas de gestión de proyectos.</a:t>
            </a:r>
          </a:p>
          <a:p>
            <a:pPr lvl="0"/>
            <a:r>
              <a:rPr lang="es-ES" sz="1200" kern="1200" dirty="0">
                <a:solidFill>
                  <a:schemeClr val="tx1"/>
                </a:solidFill>
                <a:effectLst/>
                <a:latin typeface="Times New Roman" pitchFamily="18" charset="0"/>
                <a:ea typeface="+mn-ea"/>
                <a:cs typeface="+mn-cs"/>
              </a:rPr>
              <a:t>Enfoque en el Usuario: Ayudan a mantener el enfoque en las necesidades del usuario final.</a:t>
            </a:r>
          </a:p>
          <a:p>
            <a:pPr lvl="0"/>
            <a:r>
              <a:rPr lang="es-ES" sz="1200" kern="1200" dirty="0">
                <a:solidFill>
                  <a:schemeClr val="tx1"/>
                </a:solidFill>
                <a:effectLst/>
                <a:latin typeface="Times New Roman" pitchFamily="18" charset="0"/>
                <a:ea typeface="+mn-ea"/>
                <a:cs typeface="+mn-cs"/>
              </a:rPr>
              <a:t>• Simplicidad: Son fáciles de entender y comunicar.</a:t>
            </a:r>
          </a:p>
          <a:p>
            <a:pPr lvl="0"/>
            <a:r>
              <a:rPr lang="es-ES" sz="1200" kern="1200" dirty="0">
                <a:solidFill>
                  <a:schemeClr val="tx1"/>
                </a:solidFill>
                <a:effectLst/>
                <a:latin typeface="Times New Roman" pitchFamily="18" charset="0"/>
                <a:ea typeface="+mn-ea"/>
                <a:cs typeface="+mn-cs"/>
              </a:rPr>
              <a:t>• Facilitan la Prioridad: Permiten priorizar el trabajo según el valor que aportan al usuario.</a:t>
            </a:r>
          </a:p>
          <a:p>
            <a:pPr lvl="0"/>
            <a:r>
              <a:rPr lang="es-ES" sz="1200" kern="1200" dirty="0">
                <a:solidFill>
                  <a:schemeClr val="tx1"/>
                </a:solidFill>
                <a:effectLst/>
                <a:latin typeface="Times New Roman" pitchFamily="18" charset="0"/>
                <a:ea typeface="+mn-ea"/>
                <a:cs typeface="+mn-cs"/>
              </a:rPr>
              <a:t>• Base para la Conversación: Fomentan discusiones entre los miembros del equipo sobre cómo implementar la funcionalidad.</a:t>
            </a:r>
          </a:p>
          <a:p>
            <a:pPr lvl="0"/>
            <a:endParaRPr lang="es-ES" sz="1200" kern="1200" dirty="0">
              <a:solidFill>
                <a:schemeClr val="tx1"/>
              </a:solidFill>
              <a:effectLst/>
              <a:latin typeface="Times New Roman" pitchFamily="18" charset="0"/>
              <a:ea typeface="+mn-ea"/>
              <a:cs typeface="+mn-cs"/>
            </a:endParaRPr>
          </a:p>
          <a:p>
            <a:pPr lvl="0"/>
            <a:r>
              <a:rPr lang="es-ES" sz="1200" kern="1200" dirty="0">
                <a:solidFill>
                  <a:schemeClr val="tx1"/>
                </a:solidFill>
                <a:effectLst/>
                <a:latin typeface="Times New Roman" pitchFamily="18" charset="0"/>
                <a:ea typeface="+mn-ea"/>
                <a:cs typeface="+mn-cs"/>
              </a:rPr>
              <a:t>Aunque las historias de usuario son una herramienta valiosa en el desarrollo ágil de software, también presentan algunas desventajas y limitaciones. Aquí hay algunas de ellas:</a:t>
            </a:r>
          </a:p>
          <a:p>
            <a:pPr lvl="0"/>
            <a:endParaRPr lang="es-ES" sz="1200" kern="1200" dirty="0">
              <a:solidFill>
                <a:schemeClr val="tx1"/>
              </a:solidFill>
              <a:effectLst/>
              <a:latin typeface="Times New Roman" pitchFamily="18" charset="0"/>
              <a:ea typeface="+mn-ea"/>
              <a:cs typeface="+mn-cs"/>
            </a:endParaRPr>
          </a:p>
          <a:p>
            <a:pPr lvl="0"/>
            <a:r>
              <a:rPr lang="es-ES" sz="1200" kern="1200" dirty="0">
                <a:solidFill>
                  <a:schemeClr val="tx1"/>
                </a:solidFill>
                <a:effectLst/>
                <a:latin typeface="Times New Roman" pitchFamily="18" charset="0"/>
                <a:ea typeface="+mn-ea"/>
                <a:cs typeface="+mn-cs"/>
              </a:rPr>
              <a:t>1. Ambigüedad: Las historias de usuario pueden ser demasiado generales o vagas, lo que puede llevar a interpretaciones diferentes por parte del equipo de desarrollo. Esto puede resultar en malentendidos sobre lo que se necesita realmente.</a:t>
            </a:r>
          </a:p>
          <a:p>
            <a:pPr lvl="0"/>
            <a:endParaRPr lang="es-ES" sz="1200" kern="1200" dirty="0">
              <a:solidFill>
                <a:schemeClr val="tx1"/>
              </a:solidFill>
              <a:effectLst/>
              <a:latin typeface="Times New Roman" pitchFamily="18" charset="0"/>
              <a:ea typeface="+mn-ea"/>
              <a:cs typeface="+mn-cs"/>
            </a:endParaRPr>
          </a:p>
          <a:p>
            <a:pPr lvl="0"/>
            <a:r>
              <a:rPr lang="es-ES" sz="1200" kern="1200" dirty="0">
                <a:solidFill>
                  <a:schemeClr val="tx1"/>
                </a:solidFill>
                <a:effectLst/>
                <a:latin typeface="Times New Roman" pitchFamily="18" charset="0"/>
                <a:ea typeface="+mn-ea"/>
                <a:cs typeface="+mn-cs"/>
              </a:rPr>
              <a:t>2. Falta de Detalle: Al centrarse en el valor del usuario y ser breves, pueden carecer de detalles técnicos necesarios para la implementación. Esto puede requerir aclaraciones adicionales y discusiones que consumen tiempo.</a:t>
            </a:r>
          </a:p>
          <a:p>
            <a:pPr lvl="0"/>
            <a:endParaRPr lang="es-ES" sz="1200" kern="1200" dirty="0">
              <a:solidFill>
                <a:schemeClr val="tx1"/>
              </a:solidFill>
              <a:effectLst/>
              <a:latin typeface="Times New Roman" pitchFamily="18" charset="0"/>
              <a:ea typeface="+mn-ea"/>
              <a:cs typeface="+mn-cs"/>
            </a:endParaRPr>
          </a:p>
          <a:p>
            <a:pPr lvl="0"/>
            <a:r>
              <a:rPr lang="es-ES" sz="1200" kern="1200" dirty="0">
                <a:solidFill>
                  <a:schemeClr val="tx1"/>
                </a:solidFill>
                <a:effectLst/>
                <a:latin typeface="Times New Roman" pitchFamily="18" charset="0"/>
                <a:ea typeface="+mn-ea"/>
                <a:cs typeface="+mn-cs"/>
              </a:rPr>
              <a:t>3. Dificultad para Priorizar: A veces, puede ser complicado priorizar historias de usuario, especialmente si no se cuenta con criterios claros. Esto puede llevar a que se desarrollen funcionalidades menos importantes antes que otras más críticas.</a:t>
            </a:r>
          </a:p>
          <a:p>
            <a:pPr lvl="0"/>
            <a:endParaRPr lang="es-ES" sz="1200" kern="1200" dirty="0">
              <a:solidFill>
                <a:schemeClr val="tx1"/>
              </a:solidFill>
              <a:effectLst/>
              <a:latin typeface="Times New Roman" pitchFamily="18" charset="0"/>
              <a:ea typeface="+mn-ea"/>
              <a:cs typeface="+mn-cs"/>
            </a:endParaRPr>
          </a:p>
          <a:p>
            <a:pPr lvl="0"/>
            <a:r>
              <a:rPr lang="es-ES" sz="1200" kern="1200" dirty="0">
                <a:solidFill>
                  <a:schemeClr val="tx1"/>
                </a:solidFill>
                <a:effectLst/>
                <a:latin typeface="Times New Roman" pitchFamily="18" charset="0"/>
                <a:ea typeface="+mn-ea"/>
                <a:cs typeface="+mn-cs"/>
              </a:rPr>
              <a:t>4. Dependencias No Visibles: Las historias de usuario pueden no reflejar adecuadamente las dependencias entre diferentes funcionalidades, lo que puede resultar en problemas al momento de integrar partes del sistema.</a:t>
            </a:r>
          </a:p>
          <a:p>
            <a:pPr lvl="0"/>
            <a:endParaRPr lang="es-ES" sz="1200" kern="1200" dirty="0">
              <a:solidFill>
                <a:schemeClr val="tx1"/>
              </a:solidFill>
              <a:effectLst/>
              <a:latin typeface="Times New Roman" pitchFamily="18" charset="0"/>
              <a:ea typeface="+mn-ea"/>
              <a:cs typeface="+mn-cs"/>
            </a:endParaRPr>
          </a:p>
          <a:p>
            <a:pPr lvl="0"/>
            <a:r>
              <a:rPr lang="es-ES" sz="1200" kern="1200" dirty="0">
                <a:solidFill>
                  <a:schemeClr val="tx1"/>
                </a:solidFill>
                <a:effectLst/>
                <a:latin typeface="Times New Roman" pitchFamily="18" charset="0"/>
                <a:ea typeface="+mn-ea"/>
                <a:cs typeface="+mn-cs"/>
              </a:rPr>
              <a:t>5. Enfoque Demasiado en Funcionalidades: A veces, las historias de usuario pueden centrarse demasiado en las funcionalidades y no considerar aspectos como la arquitectura del sistema, el rendimiento o la seguridad.</a:t>
            </a:r>
          </a:p>
          <a:p>
            <a:pPr lvl="0"/>
            <a:endParaRPr lang="es-ES" sz="1200" kern="1200" dirty="0">
              <a:solidFill>
                <a:schemeClr val="tx1"/>
              </a:solidFill>
              <a:effectLst/>
              <a:latin typeface="Times New Roman" pitchFamily="18" charset="0"/>
              <a:ea typeface="+mn-ea"/>
              <a:cs typeface="+mn-cs"/>
            </a:endParaRPr>
          </a:p>
          <a:p>
            <a:pPr lvl="0"/>
            <a:r>
              <a:rPr lang="es-ES" sz="1200" kern="1200" dirty="0">
                <a:solidFill>
                  <a:schemeClr val="tx1"/>
                </a:solidFill>
                <a:effectLst/>
                <a:latin typeface="Times New Roman" pitchFamily="18" charset="0"/>
                <a:ea typeface="+mn-ea"/>
                <a:cs typeface="+mn-cs"/>
              </a:rPr>
              <a:t>6. Dificultad en Proyectos Complejos: En proyectos grandes o complejos, gestionar una gran cantidad de historias de usuario puede volverse complicado. La organización y la visibilidad de todas las historias pueden ser un reto.</a:t>
            </a:r>
          </a:p>
          <a:p>
            <a:pPr lvl="0"/>
            <a:endParaRPr lang="es-ES" sz="1200" kern="1200" dirty="0">
              <a:solidFill>
                <a:schemeClr val="tx1"/>
              </a:solidFill>
              <a:effectLst/>
              <a:latin typeface="Times New Roman" pitchFamily="18" charset="0"/>
              <a:ea typeface="+mn-ea"/>
              <a:cs typeface="+mn-cs"/>
            </a:endParaRPr>
          </a:p>
          <a:p>
            <a:pPr lvl="0"/>
            <a:r>
              <a:rPr lang="es-ES" sz="1200" kern="1200" dirty="0">
                <a:solidFill>
                  <a:schemeClr val="tx1"/>
                </a:solidFill>
                <a:effectLst/>
                <a:latin typeface="Times New Roman" pitchFamily="18" charset="0"/>
                <a:ea typeface="+mn-ea"/>
                <a:cs typeface="+mn-cs"/>
              </a:rPr>
              <a:t>7. Requieren Colaboración Activa: Para que las historias de usuario sean efectivas, es necesario que haya una colaboración continua entre los desarrolladores, los </a:t>
            </a:r>
            <a:r>
              <a:rPr lang="es-ES" sz="1200" kern="1200" dirty="0" err="1">
                <a:solidFill>
                  <a:schemeClr val="tx1"/>
                </a:solidFill>
                <a:effectLst/>
                <a:latin typeface="Times New Roman" pitchFamily="18" charset="0"/>
                <a:ea typeface="+mn-ea"/>
                <a:cs typeface="+mn-cs"/>
              </a:rPr>
              <a:t>stakeholders</a:t>
            </a:r>
            <a:r>
              <a:rPr lang="es-ES" sz="1200" kern="1200" dirty="0">
                <a:solidFill>
                  <a:schemeClr val="tx1"/>
                </a:solidFill>
                <a:effectLst/>
                <a:latin typeface="Times New Roman" pitchFamily="18" charset="0"/>
                <a:ea typeface="+mn-ea"/>
                <a:cs typeface="+mn-cs"/>
              </a:rPr>
              <a:t> y los usuarios. Si esta colaboración no se mantiene, las historias pueden volverse obsoletas o irrelevantes.</a:t>
            </a:r>
          </a:p>
          <a:p>
            <a:pPr lvl="0"/>
            <a:endParaRPr lang="es-ES" sz="1200" kern="1200" dirty="0">
              <a:solidFill>
                <a:schemeClr val="tx1"/>
              </a:solidFill>
              <a:effectLst/>
              <a:latin typeface="Times New Roman" pitchFamily="18" charset="0"/>
              <a:ea typeface="+mn-ea"/>
              <a:cs typeface="+mn-cs"/>
            </a:endParaRPr>
          </a:p>
          <a:p>
            <a:pPr lvl="0"/>
            <a:r>
              <a:rPr lang="es-ES" sz="1200" kern="1200" dirty="0">
                <a:solidFill>
                  <a:schemeClr val="tx1"/>
                </a:solidFill>
                <a:effectLst/>
                <a:latin typeface="Times New Roman" pitchFamily="18" charset="0"/>
                <a:ea typeface="+mn-ea"/>
                <a:cs typeface="+mn-cs"/>
              </a:rPr>
              <a:t>8. Cambio Constante: En entornos ágiles, los requisitos pueden cambiar con frecuencia. Si no se gestionan adecuadamente, las historias de usuario pueden volverse rápidamente irrelevantes o necesitar constantes actualizaciones.</a:t>
            </a:r>
          </a:p>
          <a:p>
            <a:pPr lvl="0"/>
            <a:endParaRPr lang="es-ES" sz="1200" kern="1200" dirty="0">
              <a:solidFill>
                <a:schemeClr val="tx1"/>
              </a:solidFill>
              <a:effectLst/>
              <a:latin typeface="Times New Roman" pitchFamily="18" charset="0"/>
              <a:ea typeface="+mn-ea"/>
              <a:cs typeface="+mn-cs"/>
            </a:endParaRPr>
          </a:p>
          <a:p>
            <a:pPr lvl="0"/>
            <a:r>
              <a:rPr lang="es-ES" sz="1200" kern="1200" dirty="0">
                <a:solidFill>
                  <a:schemeClr val="tx1"/>
                </a:solidFill>
                <a:effectLst/>
                <a:latin typeface="Times New Roman" pitchFamily="18" charset="0"/>
                <a:ea typeface="+mn-ea"/>
                <a:cs typeface="+mn-cs"/>
              </a:rPr>
              <a:t>9. Subestimación del Trabajo: Algunas historias pueden parecer simples a primera vista, pero al implementarlas, el equipo puede descubrir que requieren más trabajo del esperado, lo que puede afectar la planificación y los plazos.</a:t>
            </a:r>
          </a:p>
          <a:p>
            <a:pPr lvl="0"/>
            <a:endParaRPr lang="es-ES" sz="1200" kern="1200" dirty="0">
              <a:solidFill>
                <a:schemeClr val="tx1"/>
              </a:solidFill>
              <a:effectLst/>
              <a:latin typeface="Times New Roman" pitchFamily="18" charset="0"/>
              <a:ea typeface="+mn-ea"/>
              <a:cs typeface="+mn-cs"/>
            </a:endParaRPr>
          </a:p>
          <a:p>
            <a:pPr lvl="0"/>
            <a:r>
              <a:rPr lang="es-ES" sz="1200" kern="1200" dirty="0">
                <a:solidFill>
                  <a:schemeClr val="tx1"/>
                </a:solidFill>
                <a:effectLst/>
                <a:latin typeface="Times New Roman" pitchFamily="18" charset="0"/>
                <a:ea typeface="+mn-ea"/>
                <a:cs typeface="+mn-cs"/>
              </a:rPr>
              <a:t>10. Enfoque Limitado en el Usuario Final: Aunque están diseñadas para representar al usuario final, a veces pueden no capturar adecuadamente las necesidades o deseos de todos los grupos de interés involucrados.</a:t>
            </a:r>
          </a:p>
          <a:p>
            <a:pPr lvl="0"/>
            <a:endParaRPr lang="es-ES" sz="1200" kern="1200" dirty="0">
              <a:solidFill>
                <a:schemeClr val="tx1"/>
              </a:solidFill>
              <a:effectLst/>
              <a:latin typeface="Times New Roman" pitchFamily="18" charset="0"/>
              <a:ea typeface="+mn-ea"/>
              <a:cs typeface="+mn-cs"/>
            </a:endParaRPr>
          </a:p>
          <a:p>
            <a:pPr lvl="0"/>
            <a:r>
              <a:rPr lang="es-ES" sz="1200" kern="1200" dirty="0">
                <a:solidFill>
                  <a:schemeClr val="tx1"/>
                </a:solidFill>
                <a:effectLst/>
                <a:latin typeface="Times New Roman" pitchFamily="18" charset="0"/>
                <a:ea typeface="+mn-ea"/>
                <a:cs typeface="+mn-cs"/>
              </a:rPr>
              <a:t>A pesar de estas desventajas, muchas organizaciones encuentran que las historias de usuario son una herramienta útil y flexible para guiar el desarrollo ágil, siempre y cuando se utilicen con cuidado y se complementen con otras prácticas y técnicas de gestión de proyectos.</a:t>
            </a:r>
          </a:p>
        </p:txBody>
      </p:sp>
      <p:sp>
        <p:nvSpPr>
          <p:cNvPr id="79876" name="3 Marcador de número de diapositiva">
            <a:extLst>
              <a:ext uri="{FF2B5EF4-FFF2-40B4-BE49-F238E27FC236}">
                <a16:creationId xmlns:a16="http://schemas.microsoft.com/office/drawing/2014/main" id="{467FE86D-ECF5-A362-EBA4-CEBE8E201865}"/>
              </a:ext>
            </a:extLst>
          </p:cNvPr>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C866353-432D-4B70-ABDD-98C17BF8D712}" type="slidenum">
              <a:rPr lang="es-ES_tradnl" sz="1200"/>
              <a:pPr/>
              <a:t>29</a:t>
            </a:fld>
            <a:endParaRPr lang="es-ES_tradnl" sz="1200"/>
          </a:p>
        </p:txBody>
      </p:sp>
    </p:spTree>
    <p:extLst>
      <p:ext uri="{BB962C8B-B14F-4D97-AF65-F5344CB8AC3E}">
        <p14:creationId xmlns:p14="http://schemas.microsoft.com/office/powerpoint/2010/main" val="35064984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s-ES" sz="1200" kern="1200" dirty="0">
                <a:solidFill>
                  <a:schemeClr val="tx1"/>
                </a:solidFill>
                <a:effectLst/>
                <a:latin typeface="Times New Roman" pitchFamily="18" charset="0"/>
                <a:ea typeface="+mn-ea"/>
                <a:cs typeface="+mn-cs"/>
              </a:rPr>
              <a:t>Ahora pasaremos a hablar del muy nombrado UML pero primero vamos hacer un alto y dejar bien claro que un lenguaje de modelado no es una metodología o método . </a:t>
            </a:r>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30</a:t>
            </a:fld>
            <a:endParaRPr lang="es-ES_tradnl"/>
          </a:p>
        </p:txBody>
      </p:sp>
    </p:spTree>
    <p:extLst>
      <p:ext uri="{BB962C8B-B14F-4D97-AF65-F5344CB8AC3E}">
        <p14:creationId xmlns:p14="http://schemas.microsoft.com/office/powerpoint/2010/main" val="36282999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algn="l"/>
            <a:r>
              <a:rPr lang="es-ES" sz="1200" b="0" i="0" dirty="0">
                <a:solidFill>
                  <a:srgbClr val="000000"/>
                </a:solidFill>
                <a:effectLst/>
                <a:latin typeface="ff2"/>
              </a:rPr>
              <a:t>Aunque UML está pensado para modelar sistemas complejos con gran cantidad de software, el</a:t>
            </a:r>
          </a:p>
          <a:p>
            <a:pPr algn="l"/>
            <a:r>
              <a:rPr lang="es-ES" sz="1200" b="0" i="0" dirty="0">
                <a:solidFill>
                  <a:srgbClr val="000000"/>
                </a:solidFill>
                <a:effectLst/>
                <a:latin typeface="ff2"/>
              </a:rPr>
              <a:t>lenguaje es los suficientemente expresivo como para modelar sistemas que no son informáticos,</a:t>
            </a:r>
          </a:p>
          <a:p>
            <a:pPr algn="l"/>
            <a:r>
              <a:rPr lang="es-ES" sz="1200" b="0" i="0" dirty="0">
                <a:solidFill>
                  <a:srgbClr val="000000"/>
                </a:solidFill>
                <a:effectLst/>
                <a:latin typeface="ff2"/>
              </a:rPr>
              <a:t>como flujos de trabajo (</a:t>
            </a:r>
            <a:r>
              <a:rPr lang="es-ES" sz="1200" b="0" i="0" dirty="0" err="1">
                <a:solidFill>
                  <a:srgbClr val="000000"/>
                </a:solidFill>
                <a:effectLst/>
                <a:latin typeface="ff2"/>
              </a:rPr>
              <a:t>workflow</a:t>
            </a:r>
            <a:r>
              <a:rPr lang="es-ES" sz="1200" b="0" i="0" dirty="0">
                <a:solidFill>
                  <a:srgbClr val="000000"/>
                </a:solidFill>
                <a:effectLst/>
                <a:latin typeface="ff2"/>
              </a:rPr>
              <a:t> ) en una empresa, diseño de la estructura de una organización y</a:t>
            </a:r>
          </a:p>
          <a:p>
            <a:pPr algn="l"/>
            <a:r>
              <a:rPr lang="es-ES" sz="1200" b="0" i="0" dirty="0">
                <a:solidFill>
                  <a:srgbClr val="000000"/>
                </a:solidFill>
                <a:effectLst/>
                <a:latin typeface="ff2"/>
              </a:rPr>
              <a:t>por supuesto, en el diseño de hardware</a:t>
            </a: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31</a:t>
            </a:fld>
            <a:endParaRPr lang="es-ES_tradnl"/>
          </a:p>
        </p:txBody>
      </p:sp>
    </p:spTree>
    <p:extLst>
      <p:ext uri="{BB962C8B-B14F-4D97-AF65-F5344CB8AC3E}">
        <p14:creationId xmlns:p14="http://schemas.microsoft.com/office/powerpoint/2010/main" val="1665484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a:t>OMG® es un consorcio de estándares tecnológicos global, de membresía abierta y sin fines de lucro formado en 1989. Impulsado por proveedores, usuarios finales, instituciones académicas y agencias gubernamentales, OMG desarrolla estándares de integración para diversas tecnologías e industrias.</a:t>
            </a:r>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32</a:t>
            </a:fld>
            <a:endParaRPr lang="es-ES_tradnl"/>
          </a:p>
        </p:txBody>
      </p:sp>
    </p:spTree>
    <p:extLst>
      <p:ext uri="{BB962C8B-B14F-4D97-AF65-F5344CB8AC3E}">
        <p14:creationId xmlns:p14="http://schemas.microsoft.com/office/powerpoint/2010/main" val="6887232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El lenguaje de modelado define 14 tipos de diagramas que se dividen en dos categorías: diagramas de estructura y diagramas de comportamiento. </a:t>
            </a:r>
          </a:p>
          <a:p>
            <a:r>
              <a:rPr lang="es-ES" sz="1200" kern="1200" dirty="0">
                <a:solidFill>
                  <a:schemeClr val="tx1"/>
                </a:solidFill>
                <a:effectLst/>
                <a:latin typeface="Times New Roman" pitchFamily="18" charset="0"/>
                <a:ea typeface="+mn-ea"/>
                <a:cs typeface="+mn-cs"/>
              </a:rPr>
              <a:t> </a:t>
            </a:r>
          </a:p>
          <a:p>
            <a:r>
              <a:rPr lang="es-ES_tradnl" sz="1200" kern="1200" dirty="0">
                <a:solidFill>
                  <a:schemeClr val="tx1"/>
                </a:solidFill>
                <a:effectLst/>
                <a:latin typeface="Times New Roman" pitchFamily="18" charset="0"/>
                <a:ea typeface="+mn-ea"/>
                <a:cs typeface="+mn-cs"/>
              </a:rPr>
              <a:t>Estos diagramas están creados para cubrir las siguientes fases del Análisis y Diseño:</a:t>
            </a:r>
            <a:endParaRPr lang="es-ES" sz="1200" kern="1200" dirty="0">
              <a:solidFill>
                <a:schemeClr val="tx1"/>
              </a:solidFill>
              <a:effectLst/>
              <a:latin typeface="Times New Roman" pitchFamily="18" charset="0"/>
              <a:ea typeface="+mn-ea"/>
              <a:cs typeface="+mn-cs"/>
            </a:endParaRPr>
          </a:p>
          <a:p>
            <a:pPr lvl="0"/>
            <a:r>
              <a:rPr lang="es-ES_tradnl" sz="1200" kern="1200" dirty="0">
                <a:solidFill>
                  <a:schemeClr val="tx1"/>
                </a:solidFill>
                <a:effectLst/>
                <a:latin typeface="Times New Roman" pitchFamily="18" charset="0"/>
                <a:ea typeface="+mn-ea"/>
                <a:cs typeface="+mn-cs"/>
              </a:rPr>
              <a:t> Concepción</a:t>
            </a:r>
            <a:endParaRPr lang="es-ES" sz="1200" kern="1200" dirty="0">
              <a:solidFill>
                <a:schemeClr val="tx1"/>
              </a:solidFill>
              <a:effectLst/>
              <a:latin typeface="Times New Roman" pitchFamily="18" charset="0"/>
              <a:ea typeface="+mn-ea"/>
              <a:cs typeface="+mn-cs"/>
            </a:endParaRPr>
          </a:p>
          <a:p>
            <a:pPr lvl="0"/>
            <a:r>
              <a:rPr lang="es-ES_tradnl" sz="1200" kern="1200" dirty="0">
                <a:solidFill>
                  <a:schemeClr val="tx1"/>
                </a:solidFill>
                <a:effectLst/>
                <a:latin typeface="Times New Roman" pitchFamily="18" charset="0"/>
                <a:ea typeface="+mn-ea"/>
                <a:cs typeface="+mn-cs"/>
              </a:rPr>
              <a:t> Elaboración</a:t>
            </a:r>
            <a:endParaRPr lang="es-ES" sz="1200" kern="1200" dirty="0">
              <a:solidFill>
                <a:schemeClr val="tx1"/>
              </a:solidFill>
              <a:effectLst/>
              <a:latin typeface="Times New Roman" pitchFamily="18" charset="0"/>
              <a:ea typeface="+mn-ea"/>
              <a:cs typeface="+mn-cs"/>
            </a:endParaRPr>
          </a:p>
          <a:p>
            <a:pPr lvl="0"/>
            <a:r>
              <a:rPr lang="es-ES_tradnl" sz="1200" kern="1200" dirty="0">
                <a:solidFill>
                  <a:schemeClr val="tx1"/>
                </a:solidFill>
                <a:effectLst/>
                <a:latin typeface="Times New Roman" pitchFamily="18" charset="0"/>
                <a:ea typeface="+mn-ea"/>
                <a:cs typeface="+mn-cs"/>
              </a:rPr>
              <a:t> Construcción</a:t>
            </a:r>
            <a:endParaRPr lang="es-ES" sz="1200" kern="1200" dirty="0">
              <a:solidFill>
                <a:schemeClr val="tx1"/>
              </a:solidFill>
              <a:effectLst/>
              <a:latin typeface="Times New Roman" pitchFamily="18" charset="0"/>
              <a:ea typeface="+mn-ea"/>
              <a:cs typeface="+mn-cs"/>
            </a:endParaRPr>
          </a:p>
          <a:p>
            <a:pPr lvl="0"/>
            <a:r>
              <a:rPr lang="es-ES_tradnl" sz="1200" kern="1200" dirty="0">
                <a:solidFill>
                  <a:schemeClr val="tx1"/>
                </a:solidFill>
                <a:effectLst/>
                <a:latin typeface="Times New Roman" pitchFamily="18" charset="0"/>
                <a:ea typeface="+mn-ea"/>
                <a:cs typeface="+mn-cs"/>
              </a:rPr>
              <a:t> Transición</a:t>
            </a:r>
            <a:endParaRPr lang="es-ES" sz="1200" kern="1200" dirty="0">
              <a:solidFill>
                <a:schemeClr val="tx1"/>
              </a:solidFill>
              <a:effectLst/>
              <a:latin typeface="Times New Roman" pitchFamily="18" charset="0"/>
              <a:ea typeface="+mn-ea"/>
              <a:cs typeface="+mn-cs"/>
            </a:endParaRPr>
          </a:p>
          <a:p>
            <a:r>
              <a:rPr lang="es-ES" sz="1200" kern="1200" dirty="0">
                <a:solidFill>
                  <a:schemeClr val="tx1"/>
                </a:solidFill>
                <a:effectLst/>
                <a:latin typeface="Times New Roman" pitchFamily="18" charset="0"/>
                <a:ea typeface="+mn-ea"/>
                <a:cs typeface="+mn-cs"/>
              </a:rPr>
              <a:t>Esto está muy ligado con las metodologías pesadas pues cuando surge UML esta era metodología imperante con su mayor exponente RUP que empleaba como lenguaje de especificación y modelado UML </a:t>
            </a: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33</a:t>
            </a:fld>
            <a:endParaRPr lang="es-ES_tradnl"/>
          </a:p>
        </p:txBody>
      </p:sp>
    </p:spTree>
    <p:extLst>
      <p:ext uri="{BB962C8B-B14F-4D97-AF65-F5344CB8AC3E}">
        <p14:creationId xmlns:p14="http://schemas.microsoft.com/office/powerpoint/2010/main" val="20095894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E0E69-7670-AAE6-3EB7-B96016753A4C}"/>
            </a:ext>
          </a:extLst>
        </p:cNvPr>
        <p:cNvGrpSpPr/>
        <p:nvPr/>
      </p:nvGrpSpPr>
      <p:grpSpPr>
        <a:xfrm>
          <a:off x="0" y="0"/>
          <a:ext cx="0" cy="0"/>
          <a:chOff x="0" y="0"/>
          <a:chExt cx="0" cy="0"/>
        </a:xfrm>
      </p:grpSpPr>
      <p:sp>
        <p:nvSpPr>
          <p:cNvPr id="2" name="1 Marcador de imagen de diapositiva">
            <a:extLst>
              <a:ext uri="{FF2B5EF4-FFF2-40B4-BE49-F238E27FC236}">
                <a16:creationId xmlns:a16="http://schemas.microsoft.com/office/drawing/2014/main" id="{335F1C92-2D09-EFD9-8573-3D1FF96023EC}"/>
              </a:ext>
            </a:extLst>
          </p:cNvPr>
          <p:cNvSpPr>
            <a:spLocks noGrp="1" noRot="1" noChangeAspect="1"/>
          </p:cNvSpPr>
          <p:nvPr>
            <p:ph type="sldImg"/>
          </p:nvPr>
        </p:nvSpPr>
        <p:spPr/>
      </p:sp>
      <p:sp>
        <p:nvSpPr>
          <p:cNvPr id="3" name="2 Marcador de notas">
            <a:extLst>
              <a:ext uri="{FF2B5EF4-FFF2-40B4-BE49-F238E27FC236}">
                <a16:creationId xmlns:a16="http://schemas.microsoft.com/office/drawing/2014/main" id="{AF6BC04B-6793-6298-20C6-D7FF72977C94}"/>
              </a:ext>
            </a:extLst>
          </p:cNvPr>
          <p:cNvSpPr>
            <a:spLocks noGrp="1"/>
          </p:cNvSpPr>
          <p:nvPr>
            <p:ph type="body" idx="1"/>
          </p:nvPr>
        </p:nvSpPr>
        <p:spPr/>
        <p:txBody>
          <a:bodyPr/>
          <a:lstStyle/>
          <a:p>
            <a:r>
              <a:rPr lang="es-ES" b="0" i="0" dirty="0">
                <a:solidFill>
                  <a:srgbClr val="282C33"/>
                </a:solidFill>
                <a:effectLst/>
                <a:latin typeface="Graphik"/>
              </a:rPr>
              <a:t>Los diagramas UML estructurales, como su nombre lo indica, muestran cómo está estructurado el sistema, incluyendo las clases, objetos, paquetes, componentes, etc. del sistema y las relaciones entre esos elementos.</a:t>
            </a:r>
          </a:p>
          <a:p>
            <a:r>
              <a:rPr lang="es-ES" b="0" i="0" dirty="0">
                <a:solidFill>
                  <a:srgbClr val="282C33"/>
                </a:solidFill>
                <a:effectLst/>
                <a:latin typeface="Graphik"/>
              </a:rPr>
              <a:t>Los diagramas UML de comportamiento visualizan la forma en la que se comporta el sistema y cómo interactúa dentro de sí mismo así como con los usuarios, otros sistemas y otras entidades.</a:t>
            </a:r>
            <a:endParaRPr lang="es-ES" dirty="0"/>
          </a:p>
        </p:txBody>
      </p:sp>
      <p:sp>
        <p:nvSpPr>
          <p:cNvPr id="4" name="3 Marcador de número de diapositiva">
            <a:extLst>
              <a:ext uri="{FF2B5EF4-FFF2-40B4-BE49-F238E27FC236}">
                <a16:creationId xmlns:a16="http://schemas.microsoft.com/office/drawing/2014/main" id="{4185CD77-FF61-FBEB-3DC9-AC2FEC6B96E3}"/>
              </a:ext>
            </a:extLst>
          </p:cNvPr>
          <p:cNvSpPr>
            <a:spLocks noGrp="1"/>
          </p:cNvSpPr>
          <p:nvPr>
            <p:ph type="sldNum" sz="quarter" idx="10"/>
          </p:nvPr>
        </p:nvSpPr>
        <p:spPr/>
        <p:txBody>
          <a:bodyPr/>
          <a:lstStyle/>
          <a:p>
            <a:pPr>
              <a:defRPr/>
            </a:pPr>
            <a:fld id="{BC43A00C-7CDD-4C40-ACA5-554F5873B9B4}" type="slidenum">
              <a:rPr lang="es-ES_tradnl" smtClean="0"/>
              <a:pPr>
                <a:defRPr/>
              </a:pPr>
              <a:t>34</a:t>
            </a:fld>
            <a:endParaRPr lang="es-ES_tradnl"/>
          </a:p>
        </p:txBody>
      </p:sp>
    </p:spTree>
    <p:extLst>
      <p:ext uri="{BB962C8B-B14F-4D97-AF65-F5344CB8AC3E}">
        <p14:creationId xmlns:p14="http://schemas.microsoft.com/office/powerpoint/2010/main" val="30337234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Para modelar clases, incluidos sus atributos, operaciones, relaciones y asociaciones con otras clases UML proporciona un </a:t>
            </a:r>
            <a:r>
              <a:rPr lang="es-ES" sz="1200" i="1" kern="1200" dirty="0">
                <a:solidFill>
                  <a:schemeClr val="tx1"/>
                </a:solidFill>
                <a:effectLst/>
                <a:latin typeface="Times New Roman" pitchFamily="18" charset="0"/>
                <a:ea typeface="+mn-ea"/>
                <a:cs typeface="+mn-cs"/>
              </a:rPr>
              <a:t>diagrama de clase</a:t>
            </a:r>
            <a:r>
              <a:rPr lang="es-ES" sz="1200" kern="1200" dirty="0">
                <a:solidFill>
                  <a:schemeClr val="tx1"/>
                </a:solidFill>
                <a:effectLst/>
                <a:latin typeface="Times New Roman" pitchFamily="18" charset="0"/>
                <a:ea typeface="+mn-ea"/>
                <a:cs typeface="+mn-cs"/>
              </a:rPr>
              <a:t>, que aporta una visión estática o de estructura de un sistema, sin mostrar la naturaleza dinámica de las comunicaciones entre los objetos de las clases.</a:t>
            </a:r>
          </a:p>
          <a:p>
            <a:endParaRPr lang="es-ES" dirty="0"/>
          </a:p>
          <a:p>
            <a:r>
              <a:rPr lang="es-ES" sz="1200" kern="1200" dirty="0">
                <a:solidFill>
                  <a:schemeClr val="tx1"/>
                </a:solidFill>
                <a:effectLst/>
                <a:latin typeface="Times New Roman" pitchFamily="18" charset="0"/>
                <a:ea typeface="+mn-ea"/>
                <a:cs typeface="+mn-cs"/>
              </a:rPr>
              <a:t>Los elementos principales de un diagrama de clase son cajas, que son los íconos utilizados para representar clases e interfaces. Cada caja se divide en partes horizontales. La parte superior contiene el nombre de la clase. La sección media menciona sus atributos. Un </a:t>
            </a:r>
            <a:r>
              <a:rPr lang="es-ES" sz="1200" i="1" kern="1200" dirty="0">
                <a:solidFill>
                  <a:schemeClr val="tx1"/>
                </a:solidFill>
                <a:effectLst/>
                <a:latin typeface="Times New Roman" pitchFamily="18" charset="0"/>
                <a:ea typeface="+mn-ea"/>
                <a:cs typeface="+mn-cs"/>
              </a:rPr>
              <a:t>atributo </a:t>
            </a:r>
            <a:r>
              <a:rPr lang="es-ES" sz="1200" kern="1200" dirty="0">
                <a:solidFill>
                  <a:schemeClr val="tx1"/>
                </a:solidFill>
                <a:effectLst/>
                <a:latin typeface="Times New Roman" pitchFamily="18" charset="0"/>
                <a:ea typeface="+mn-ea"/>
                <a:cs typeface="+mn-cs"/>
              </a:rPr>
              <a:t>es algo que un objeto de dicha clase conoce o puede proporcionar todo el tiempo. Por lo general, los atributos se implementan como campos de la clase, pero no necesitan serlo. Podrían ser valores</a:t>
            </a:r>
          </a:p>
          <a:p>
            <a:r>
              <a:rPr lang="es-ES" sz="1200" kern="1200" dirty="0">
                <a:solidFill>
                  <a:schemeClr val="tx1"/>
                </a:solidFill>
                <a:effectLst/>
                <a:latin typeface="Times New Roman" pitchFamily="18" charset="0"/>
                <a:ea typeface="+mn-ea"/>
                <a:cs typeface="+mn-cs"/>
              </a:rPr>
              <a:t>que la clase puede calcular a partir de sus variables o valores instancia y que puede obtener de otros objetos de los cuales está compuesto. Por ejemplo, un objeto puede conocer siempre la hora actual y regresarla siempre que se le solicite. Por tanto, sería adecuado mencionar la hora actual como un atributo de dicha clase de objetos. Sin embargo, el objeto muy probablemente no tendría dicha hora almacenada en una de sus variables instancia, porque necesitaría actualizar de manera continua ese campo. En vez de ello, el objeto probablemente calcularía la hora actual (por ejemplo, a través de consulta con objetos de otras clases) en el momento en el que se le solicite la hora. La tercera sección del diagrama de clase contiene las operaciones o comportamientos</a:t>
            </a:r>
          </a:p>
          <a:p>
            <a:r>
              <a:rPr lang="es-ES" sz="1200" kern="1200" dirty="0">
                <a:solidFill>
                  <a:schemeClr val="tx1"/>
                </a:solidFill>
                <a:effectLst/>
                <a:latin typeface="Times New Roman" pitchFamily="18" charset="0"/>
                <a:ea typeface="+mn-ea"/>
                <a:cs typeface="+mn-cs"/>
              </a:rPr>
              <a:t>de la clase. Una </a:t>
            </a:r>
            <a:r>
              <a:rPr lang="es-ES" sz="1200" i="1" kern="1200" dirty="0">
                <a:solidFill>
                  <a:schemeClr val="tx1"/>
                </a:solidFill>
                <a:effectLst/>
                <a:latin typeface="Times New Roman" pitchFamily="18" charset="0"/>
                <a:ea typeface="+mn-ea"/>
                <a:cs typeface="+mn-cs"/>
              </a:rPr>
              <a:t>operación </a:t>
            </a:r>
            <a:r>
              <a:rPr lang="es-ES" sz="1200" kern="1200" dirty="0">
                <a:solidFill>
                  <a:schemeClr val="tx1"/>
                </a:solidFill>
                <a:effectLst/>
                <a:latin typeface="Times New Roman" pitchFamily="18" charset="0"/>
                <a:ea typeface="+mn-ea"/>
                <a:cs typeface="+mn-cs"/>
              </a:rPr>
              <a:t>es lo que pueden hacer los objetos de la clase. Por lo general, se implementa como un método de la clase.</a:t>
            </a:r>
          </a:p>
          <a:p>
            <a:r>
              <a:rPr lang="es-ES" sz="1200" kern="1200" dirty="0">
                <a:solidFill>
                  <a:schemeClr val="tx1"/>
                </a:solidFill>
                <a:effectLst/>
                <a:latin typeface="Times New Roman" pitchFamily="18" charset="0"/>
                <a:ea typeface="+mn-ea"/>
                <a:cs typeface="+mn-cs"/>
              </a:rPr>
              <a:t>Vale la pena mencionar que el ícono que representa una clase puede tener otras partes opcionales.</a:t>
            </a:r>
          </a:p>
          <a:p>
            <a:r>
              <a:rPr lang="es-ES" sz="1200" kern="1200" dirty="0">
                <a:solidFill>
                  <a:schemeClr val="tx1"/>
                </a:solidFill>
                <a:effectLst/>
                <a:latin typeface="Times New Roman" pitchFamily="18" charset="0"/>
                <a:ea typeface="+mn-ea"/>
                <a:cs typeface="+mn-cs"/>
              </a:rPr>
              <a:t>Por ejemplo, puede usarse una cuarta sección en el fondo de la caja de clase para mencionar las responsabilidades de la clase. Esta sección es particularmente útil cuando se realiza la transición de tarjetas CRC</a:t>
            </a: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35</a:t>
            </a:fld>
            <a:endParaRPr lang="es-ES_tradnl"/>
          </a:p>
        </p:txBody>
      </p:sp>
    </p:spTree>
    <p:extLst>
      <p:ext uri="{BB962C8B-B14F-4D97-AF65-F5344CB8AC3E}">
        <p14:creationId xmlns:p14="http://schemas.microsoft.com/office/powerpoint/2010/main" val="37891552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Cada atributo puede tener un nombre, un tipo y un nivel de visibilidad. El tipo y la visibilidad</a:t>
            </a:r>
          </a:p>
          <a:p>
            <a:r>
              <a:rPr lang="es-ES" sz="1200" kern="1200" dirty="0">
                <a:solidFill>
                  <a:schemeClr val="tx1"/>
                </a:solidFill>
                <a:effectLst/>
                <a:latin typeface="Times New Roman" pitchFamily="18" charset="0"/>
                <a:ea typeface="+mn-ea"/>
                <a:cs typeface="+mn-cs"/>
              </a:rPr>
              <a:t>son opcionales. El tipo sigue al nombre y se separa de él mediante dos puntos. La visibilidad se</a:t>
            </a:r>
          </a:p>
          <a:p>
            <a:r>
              <a:rPr lang="es-ES" sz="1200" kern="1200" dirty="0">
                <a:solidFill>
                  <a:schemeClr val="tx1"/>
                </a:solidFill>
                <a:effectLst/>
                <a:latin typeface="Times New Roman" pitchFamily="18" charset="0"/>
                <a:ea typeface="+mn-ea"/>
                <a:cs typeface="+mn-cs"/>
              </a:rPr>
              <a:t>indica mediante un –, #, ~ o + precedente, que indica, respectivamente, visibilidad </a:t>
            </a:r>
            <a:r>
              <a:rPr lang="es-ES" sz="1200" i="1" kern="1200" dirty="0">
                <a:solidFill>
                  <a:schemeClr val="tx1"/>
                </a:solidFill>
                <a:effectLst/>
                <a:latin typeface="Times New Roman" pitchFamily="18" charset="0"/>
                <a:ea typeface="+mn-ea"/>
                <a:cs typeface="+mn-cs"/>
              </a:rPr>
              <a:t>privada</a:t>
            </a:r>
            <a:r>
              <a:rPr lang="es-ES" sz="1200" kern="1200" dirty="0">
                <a:solidFill>
                  <a:schemeClr val="tx1"/>
                </a:solidFill>
                <a:effectLst/>
                <a:latin typeface="Times New Roman" pitchFamily="18" charset="0"/>
                <a:ea typeface="+mn-ea"/>
                <a:cs typeface="+mn-cs"/>
              </a:rPr>
              <a:t>, </a:t>
            </a:r>
            <a:r>
              <a:rPr lang="es-ES" sz="1200" i="1" kern="1200" dirty="0">
                <a:solidFill>
                  <a:schemeClr val="tx1"/>
                </a:solidFill>
                <a:effectLst/>
                <a:latin typeface="Times New Roman" pitchFamily="18" charset="0"/>
                <a:ea typeface="+mn-ea"/>
                <a:cs typeface="+mn-cs"/>
              </a:rPr>
              <a:t>protegida</a:t>
            </a:r>
            <a:r>
              <a:rPr lang="es-ES" sz="1200" kern="1200" dirty="0">
                <a:solidFill>
                  <a:schemeClr val="tx1"/>
                </a:solidFill>
                <a:effectLst/>
                <a:latin typeface="Times New Roman" pitchFamily="18" charset="0"/>
                <a:ea typeface="+mn-ea"/>
                <a:cs typeface="+mn-cs"/>
              </a:rPr>
              <a:t>,</a:t>
            </a:r>
          </a:p>
          <a:p>
            <a:r>
              <a:rPr lang="es-ES" sz="1200" i="1" kern="1200" dirty="0">
                <a:solidFill>
                  <a:schemeClr val="tx1"/>
                </a:solidFill>
                <a:effectLst/>
                <a:latin typeface="Times New Roman" pitchFamily="18" charset="0"/>
                <a:ea typeface="+mn-ea"/>
                <a:cs typeface="+mn-cs"/>
              </a:rPr>
              <a:t>paquete </a:t>
            </a:r>
            <a:r>
              <a:rPr lang="es-ES" sz="1200" kern="1200" dirty="0">
                <a:solidFill>
                  <a:schemeClr val="tx1"/>
                </a:solidFill>
                <a:effectLst/>
                <a:latin typeface="Times New Roman" pitchFamily="18" charset="0"/>
                <a:ea typeface="+mn-ea"/>
                <a:cs typeface="+mn-cs"/>
              </a:rPr>
              <a:t>o </a:t>
            </a:r>
            <a:r>
              <a:rPr lang="es-ES" sz="1200" i="1" kern="1200" dirty="0">
                <a:solidFill>
                  <a:schemeClr val="tx1"/>
                </a:solidFill>
                <a:effectLst/>
                <a:latin typeface="Times New Roman" pitchFamily="18" charset="0"/>
                <a:ea typeface="+mn-ea"/>
                <a:cs typeface="+mn-cs"/>
              </a:rPr>
              <a:t>pública</a:t>
            </a:r>
            <a:r>
              <a:rPr lang="es-ES" sz="1200" kern="1200" dirty="0">
                <a:solidFill>
                  <a:schemeClr val="tx1"/>
                </a:solidFill>
                <a:effectLst/>
                <a:latin typeface="Times New Roman" pitchFamily="18" charset="0"/>
                <a:ea typeface="+mn-ea"/>
                <a:cs typeface="+mn-cs"/>
              </a:rPr>
              <a:t>. También es posible especificar que un</a:t>
            </a:r>
          </a:p>
          <a:p>
            <a:r>
              <a:rPr lang="es-ES" sz="1200" kern="1200" dirty="0">
                <a:solidFill>
                  <a:schemeClr val="tx1"/>
                </a:solidFill>
                <a:effectLst/>
                <a:latin typeface="Times New Roman" pitchFamily="18" charset="0"/>
                <a:ea typeface="+mn-ea"/>
                <a:cs typeface="+mn-cs"/>
              </a:rPr>
              <a:t>atributo es estático o de clase, subrayándolo. Cada operación puede desplegarse con un nivel</a:t>
            </a:r>
          </a:p>
          <a:p>
            <a:r>
              <a:rPr lang="es-ES" sz="1200" kern="1200" dirty="0">
                <a:solidFill>
                  <a:schemeClr val="tx1"/>
                </a:solidFill>
                <a:effectLst/>
                <a:latin typeface="Times New Roman" pitchFamily="18" charset="0"/>
                <a:ea typeface="+mn-ea"/>
                <a:cs typeface="+mn-cs"/>
              </a:rPr>
              <a:t>de visibilidad, parámetros con nombres y tipos, y un tipo de retorno.</a:t>
            </a: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36</a:t>
            </a:fld>
            <a:endParaRPr lang="es-ES_tradnl"/>
          </a:p>
        </p:txBody>
      </p:sp>
    </p:spTree>
    <p:extLst>
      <p:ext uri="{BB962C8B-B14F-4D97-AF65-F5344CB8AC3E}">
        <p14:creationId xmlns:p14="http://schemas.microsoft.com/office/powerpoint/2010/main" val="28367931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s-ES" sz="1200" kern="1200" dirty="0">
                <a:solidFill>
                  <a:schemeClr val="tx1"/>
                </a:solidFill>
                <a:effectLst/>
                <a:latin typeface="Times New Roman" pitchFamily="18" charset="0"/>
                <a:ea typeface="+mn-ea"/>
                <a:cs typeface="+mn-cs"/>
              </a:rPr>
              <a:t>Aquí vemos como se puede ilustrar el problema de la matricula de un curso con diagrama de clases donde se identificaron las clases: catalogo de curso, expediente </a:t>
            </a:r>
            <a:r>
              <a:rPr lang="es-ES" sz="1200" kern="1200" dirty="0" err="1">
                <a:solidFill>
                  <a:schemeClr val="tx1"/>
                </a:solidFill>
                <a:effectLst/>
                <a:latin typeface="Times New Roman" pitchFamily="18" charset="0"/>
                <a:ea typeface="+mn-ea"/>
                <a:cs typeface="+mn-cs"/>
              </a:rPr>
              <a:t>est</a:t>
            </a:r>
            <a:r>
              <a:rPr lang="es-ES" sz="1200" kern="1200" dirty="0">
                <a:solidFill>
                  <a:schemeClr val="tx1"/>
                </a:solidFill>
                <a:effectLst/>
                <a:latin typeface="Times New Roman" pitchFamily="18" charset="0"/>
                <a:ea typeface="+mn-ea"/>
                <a:cs typeface="+mn-cs"/>
              </a:rPr>
              <a:t>, curso, estudiante, matricula ,</a:t>
            </a:r>
            <a:r>
              <a:rPr lang="es-ES" sz="1200" kern="1200" dirty="0" err="1">
                <a:solidFill>
                  <a:schemeClr val="tx1"/>
                </a:solidFill>
                <a:effectLst/>
                <a:latin typeface="Times New Roman" pitchFamily="18" charset="0"/>
                <a:ea typeface="+mn-ea"/>
                <a:cs typeface="+mn-cs"/>
              </a:rPr>
              <a:t>info</a:t>
            </a:r>
            <a:r>
              <a:rPr lang="es-ES" sz="1200" kern="1200" dirty="0">
                <a:solidFill>
                  <a:schemeClr val="tx1"/>
                </a:solidFill>
                <a:effectLst/>
                <a:latin typeface="Times New Roman" pitchFamily="18" charset="0"/>
                <a:ea typeface="+mn-ea"/>
                <a:cs typeface="+mn-cs"/>
              </a:rPr>
              <a:t> contable, profesor</a:t>
            </a: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37</a:t>
            </a:fld>
            <a:endParaRPr lang="es-ES_tradnl"/>
          </a:p>
        </p:txBody>
      </p:sp>
    </p:spTree>
    <p:extLst>
      <p:ext uri="{BB962C8B-B14F-4D97-AF65-F5344CB8AC3E}">
        <p14:creationId xmlns:p14="http://schemas.microsoft.com/office/powerpoint/2010/main" val="13647493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_tradnl" sz="1200" kern="1200" dirty="0">
                <a:solidFill>
                  <a:schemeClr val="tx1"/>
                </a:solidFill>
                <a:effectLst/>
                <a:latin typeface="Times New Roman" pitchFamily="18" charset="0"/>
                <a:ea typeface="+mn-ea"/>
                <a:cs typeface="+mn-cs"/>
              </a:rPr>
              <a:t>El sistema se compone de objetos que </a:t>
            </a:r>
            <a:r>
              <a:rPr lang="es-ES_tradnl" sz="1200" i="1" kern="1200" dirty="0">
                <a:solidFill>
                  <a:schemeClr val="tx1"/>
                </a:solidFill>
                <a:effectLst/>
                <a:latin typeface="Times New Roman" pitchFamily="18" charset="0"/>
                <a:ea typeface="+mn-ea"/>
                <a:cs typeface="+mn-cs"/>
              </a:rPr>
              <a:t>colaboran</a:t>
            </a:r>
            <a:r>
              <a:rPr lang="es-ES_tradnl" sz="1200" kern="1200" dirty="0">
                <a:solidFill>
                  <a:schemeClr val="tx1"/>
                </a:solidFill>
                <a:effectLst/>
                <a:latin typeface="Times New Roman" pitchFamily="18" charset="0"/>
                <a:ea typeface="+mn-ea"/>
                <a:cs typeface="+mn-cs"/>
              </a:rPr>
              <a:t> para realizar la funcionalidad solicitada en las especificaciones</a:t>
            </a:r>
            <a:endParaRPr lang="es-ES" sz="1200" kern="1200" dirty="0">
              <a:solidFill>
                <a:schemeClr val="tx1"/>
              </a:solidFill>
              <a:effectLst/>
              <a:latin typeface="Times New Roman" pitchFamily="18" charset="0"/>
              <a:ea typeface="+mn-ea"/>
              <a:cs typeface="+mn-cs"/>
            </a:endParaRPr>
          </a:p>
          <a:p>
            <a:r>
              <a:rPr lang="es-ES_tradnl" sz="1200" kern="1200" dirty="0">
                <a:solidFill>
                  <a:schemeClr val="tx1"/>
                </a:solidFill>
                <a:effectLst/>
                <a:latin typeface="Times New Roman" pitchFamily="18" charset="0"/>
                <a:ea typeface="+mn-ea"/>
                <a:cs typeface="+mn-cs"/>
              </a:rPr>
              <a:t>La colaboración se manifiesta como asociaciones o agregaciones, las cuales tendrán asociadas una multiplicidad</a:t>
            </a:r>
            <a:endParaRPr lang="es-ES" sz="1200" kern="1200" dirty="0">
              <a:solidFill>
                <a:schemeClr val="tx1"/>
              </a:solidFill>
              <a:effectLst/>
              <a:latin typeface="Times New Roman" pitchFamily="18" charset="0"/>
              <a:ea typeface="+mn-ea"/>
              <a:cs typeface="+mn-cs"/>
            </a:endParaRP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38</a:t>
            </a:fld>
            <a:endParaRPr lang="es-ES_tradnl"/>
          </a:p>
        </p:txBody>
      </p:sp>
    </p:spTree>
    <p:extLst>
      <p:ext uri="{BB962C8B-B14F-4D97-AF65-F5344CB8AC3E}">
        <p14:creationId xmlns:p14="http://schemas.microsoft.com/office/powerpoint/2010/main" val="4338420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Una clase que sea una subclase de otra clase se conecta con ella mediante una flecha con una línea sólida y</a:t>
            </a:r>
          </a:p>
          <a:p>
            <a:r>
              <a:rPr lang="es-ES" sz="1200" kern="1200" dirty="0">
                <a:solidFill>
                  <a:schemeClr val="tx1"/>
                </a:solidFill>
                <a:effectLst/>
                <a:latin typeface="Times New Roman" pitchFamily="18" charset="0"/>
                <a:ea typeface="+mn-ea"/>
                <a:cs typeface="+mn-cs"/>
              </a:rPr>
              <a:t>con una punta triangular hueca. La flecha apunta de la subclase a la superclase. En UML, tal</a:t>
            </a:r>
          </a:p>
          <a:p>
            <a:r>
              <a:rPr lang="es-ES" sz="1200" kern="1200" dirty="0">
                <a:solidFill>
                  <a:schemeClr val="tx1"/>
                </a:solidFill>
                <a:effectLst/>
                <a:latin typeface="Times New Roman" pitchFamily="18" charset="0"/>
                <a:ea typeface="+mn-ea"/>
                <a:cs typeface="+mn-cs"/>
              </a:rPr>
              <a:t>relación se llama </a:t>
            </a:r>
            <a:r>
              <a:rPr lang="es-ES" sz="1200" i="1" kern="1200" dirty="0">
                <a:solidFill>
                  <a:schemeClr val="tx1"/>
                </a:solidFill>
                <a:effectLst/>
                <a:latin typeface="Times New Roman" pitchFamily="18" charset="0"/>
                <a:ea typeface="+mn-ea"/>
                <a:cs typeface="+mn-cs"/>
              </a:rPr>
              <a:t>generalización</a:t>
            </a:r>
            <a:r>
              <a:rPr lang="es-ES" sz="1200" kern="1200" dirty="0">
                <a:solidFill>
                  <a:schemeClr val="tx1"/>
                </a:solidFill>
                <a:effectLst/>
                <a:latin typeface="Times New Roman" pitchFamily="18" charset="0"/>
                <a:ea typeface="+mn-ea"/>
                <a:cs typeface="+mn-cs"/>
              </a:rPr>
              <a:t>. Una flecha con una línea punteada indica implementación de una interfaz. En UML, tal</a:t>
            </a:r>
          </a:p>
          <a:p>
            <a:r>
              <a:rPr lang="es-ES" sz="1200" kern="1200" dirty="0">
                <a:solidFill>
                  <a:schemeClr val="tx1"/>
                </a:solidFill>
                <a:effectLst/>
                <a:latin typeface="Times New Roman" pitchFamily="18" charset="0"/>
                <a:ea typeface="+mn-ea"/>
                <a:cs typeface="+mn-cs"/>
              </a:rPr>
              <a:t>relación se llama </a:t>
            </a:r>
            <a:r>
              <a:rPr lang="es-ES" sz="1200" i="1" kern="1200" dirty="0">
                <a:solidFill>
                  <a:schemeClr val="tx1"/>
                </a:solidFill>
                <a:effectLst/>
                <a:latin typeface="Times New Roman" pitchFamily="18" charset="0"/>
                <a:ea typeface="+mn-ea"/>
                <a:cs typeface="+mn-cs"/>
              </a:rPr>
              <a:t>realización</a:t>
            </a:r>
            <a:r>
              <a:rPr lang="es-ES" sz="1200" kern="1200" dirty="0">
                <a:solidFill>
                  <a:schemeClr val="tx1"/>
                </a:solidFill>
                <a:effectLst/>
                <a:latin typeface="Times New Roman" pitchFamily="18" charset="0"/>
                <a:ea typeface="+mn-ea"/>
                <a:cs typeface="+mn-cs"/>
              </a:rPr>
              <a:t>.</a:t>
            </a: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39</a:t>
            </a:fld>
            <a:endParaRPr lang="es-ES_tradnl"/>
          </a:p>
        </p:txBody>
      </p:sp>
    </p:spTree>
    <p:extLst>
      <p:ext uri="{BB962C8B-B14F-4D97-AF65-F5344CB8AC3E}">
        <p14:creationId xmlns:p14="http://schemas.microsoft.com/office/powerpoint/2010/main" val="7119314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Una </a:t>
            </a:r>
            <a:r>
              <a:rPr lang="es-ES" sz="1200" i="1" kern="1200" dirty="0">
                <a:solidFill>
                  <a:schemeClr val="tx1"/>
                </a:solidFill>
                <a:effectLst/>
                <a:latin typeface="Times New Roman" pitchFamily="18" charset="0"/>
                <a:ea typeface="+mn-ea"/>
                <a:cs typeface="+mn-cs"/>
              </a:rPr>
              <a:t>asociación </a:t>
            </a:r>
            <a:r>
              <a:rPr lang="es-ES" sz="1200" kern="1200" dirty="0">
                <a:solidFill>
                  <a:schemeClr val="tx1"/>
                </a:solidFill>
                <a:effectLst/>
                <a:latin typeface="Times New Roman" pitchFamily="18" charset="0"/>
                <a:ea typeface="+mn-ea"/>
                <a:cs typeface="+mn-cs"/>
              </a:rPr>
              <a:t>entre dos clases significa que existe una relación estructural entre ellas. Las</a:t>
            </a:r>
          </a:p>
          <a:p>
            <a:r>
              <a:rPr lang="es-ES" sz="1200" kern="1200" dirty="0">
                <a:solidFill>
                  <a:schemeClr val="tx1"/>
                </a:solidFill>
                <a:effectLst/>
                <a:latin typeface="Times New Roman" pitchFamily="18" charset="0"/>
                <a:ea typeface="+mn-ea"/>
                <a:cs typeface="+mn-cs"/>
              </a:rPr>
              <a:t>asociaciones se representan mediante líneas sólidas. Una asociación tiene muchas partes opcionales.</a:t>
            </a:r>
          </a:p>
          <a:p>
            <a:r>
              <a:rPr lang="es-ES" sz="1200" kern="1200" dirty="0">
                <a:solidFill>
                  <a:schemeClr val="tx1"/>
                </a:solidFill>
                <a:effectLst/>
                <a:latin typeface="Times New Roman" pitchFamily="18" charset="0"/>
                <a:ea typeface="+mn-ea"/>
                <a:cs typeface="+mn-cs"/>
              </a:rPr>
              <a:t>Puede etiquetarse, así como cada una de sus terminaciones, para indicar el papel de</a:t>
            </a:r>
          </a:p>
          <a:p>
            <a:r>
              <a:rPr lang="es-ES" sz="1200" kern="1200" dirty="0">
                <a:solidFill>
                  <a:schemeClr val="tx1"/>
                </a:solidFill>
                <a:effectLst/>
                <a:latin typeface="Times New Roman" pitchFamily="18" charset="0"/>
                <a:ea typeface="+mn-ea"/>
                <a:cs typeface="+mn-cs"/>
              </a:rPr>
              <a:t>cada clase en la asociación.</a:t>
            </a:r>
          </a:p>
          <a:p>
            <a:r>
              <a:rPr lang="es-ES" sz="1200" kern="1200" dirty="0">
                <a:solidFill>
                  <a:schemeClr val="tx1"/>
                </a:solidFill>
                <a:effectLst/>
                <a:latin typeface="Times New Roman" pitchFamily="18" charset="0"/>
                <a:ea typeface="+mn-ea"/>
                <a:cs typeface="+mn-cs"/>
              </a:rPr>
              <a:t>Las flechas en cualquiera o en ambos lados de una línea de asociación indican navegabilidad. Además, cada extremo</a:t>
            </a:r>
          </a:p>
          <a:p>
            <a:r>
              <a:rPr lang="es-ES" sz="1200" kern="1200" dirty="0">
                <a:solidFill>
                  <a:schemeClr val="tx1"/>
                </a:solidFill>
                <a:effectLst/>
                <a:latin typeface="Times New Roman" pitchFamily="18" charset="0"/>
                <a:ea typeface="+mn-ea"/>
                <a:cs typeface="+mn-cs"/>
              </a:rPr>
              <a:t>de la línea de asociación puede tener un valor de multiplicidad desplegado.</a:t>
            </a:r>
          </a:p>
          <a:p>
            <a:r>
              <a:rPr lang="es-ES" sz="1200" kern="1200" dirty="0">
                <a:solidFill>
                  <a:schemeClr val="tx1"/>
                </a:solidFill>
                <a:effectLst/>
                <a:latin typeface="Times New Roman" pitchFamily="18" charset="0"/>
                <a:ea typeface="+mn-ea"/>
                <a:cs typeface="+mn-cs"/>
              </a:rPr>
              <a:t>Una asociación con una flecha en un extremo indica navegabilidad en un sentido. La flecha</a:t>
            </a:r>
          </a:p>
          <a:p>
            <a:r>
              <a:rPr lang="es-ES" sz="1200" kern="1200" dirty="0">
                <a:solidFill>
                  <a:schemeClr val="tx1"/>
                </a:solidFill>
                <a:effectLst/>
                <a:latin typeface="Times New Roman" pitchFamily="18" charset="0"/>
                <a:ea typeface="+mn-ea"/>
                <a:cs typeface="+mn-cs"/>
              </a:rPr>
              <a:t>significa que, desde una clase, es posible acceder con facilidad a la segunda clase asociada hacia</a:t>
            </a:r>
          </a:p>
          <a:p>
            <a:r>
              <a:rPr lang="es-ES" sz="1200" kern="1200" dirty="0">
                <a:solidFill>
                  <a:schemeClr val="tx1"/>
                </a:solidFill>
                <a:effectLst/>
                <a:latin typeface="Times New Roman" pitchFamily="18" charset="0"/>
                <a:ea typeface="+mn-ea"/>
                <a:cs typeface="+mn-cs"/>
              </a:rPr>
              <a:t>la que apunta la asociación; sin embargo, desde la segunda clase, no necesariamente puede</a:t>
            </a:r>
          </a:p>
          <a:p>
            <a:r>
              <a:rPr lang="es-ES" sz="1200" kern="1200" dirty="0">
                <a:solidFill>
                  <a:schemeClr val="tx1"/>
                </a:solidFill>
                <a:effectLst/>
                <a:latin typeface="Times New Roman" pitchFamily="18" charset="0"/>
                <a:ea typeface="+mn-ea"/>
                <a:cs typeface="+mn-cs"/>
              </a:rPr>
              <a:t>accederse con facilidad a la primera clase. Otra forma de pensar en esto es que la primera clase</a:t>
            </a:r>
          </a:p>
          <a:p>
            <a:r>
              <a:rPr lang="es-ES" sz="1200" kern="1200" dirty="0">
                <a:solidFill>
                  <a:schemeClr val="tx1"/>
                </a:solidFill>
                <a:effectLst/>
                <a:latin typeface="Times New Roman" pitchFamily="18" charset="0"/>
                <a:ea typeface="+mn-ea"/>
                <a:cs typeface="+mn-cs"/>
              </a:rPr>
              <a:t>está al tanto de la segunda, pero el segundo objeto de clase no necesariamente está directamente</a:t>
            </a:r>
          </a:p>
          <a:p>
            <a:r>
              <a:rPr lang="es-ES" sz="1200" kern="1200" dirty="0">
                <a:solidFill>
                  <a:schemeClr val="tx1"/>
                </a:solidFill>
                <a:effectLst/>
                <a:latin typeface="Times New Roman" pitchFamily="18" charset="0"/>
                <a:ea typeface="+mn-ea"/>
                <a:cs typeface="+mn-cs"/>
              </a:rPr>
              <a:t>al tanto de la primera clase. Una asociación sin flechas por lo general indica una asociación</a:t>
            </a:r>
          </a:p>
          <a:p>
            <a:r>
              <a:rPr lang="es-ES" sz="1200" kern="1200" dirty="0">
                <a:solidFill>
                  <a:schemeClr val="tx1"/>
                </a:solidFill>
                <a:effectLst/>
                <a:latin typeface="Times New Roman" pitchFamily="18" charset="0"/>
                <a:ea typeface="+mn-ea"/>
                <a:cs typeface="+mn-cs"/>
              </a:rPr>
              <a:t>de dos vías</a:t>
            </a: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40</a:t>
            </a:fld>
            <a:endParaRPr lang="es-ES_tradnl"/>
          </a:p>
        </p:txBody>
      </p:sp>
    </p:spTree>
    <p:extLst>
      <p:ext uri="{BB962C8B-B14F-4D97-AF65-F5344CB8AC3E}">
        <p14:creationId xmlns:p14="http://schemas.microsoft.com/office/powerpoint/2010/main" val="32837692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Una </a:t>
            </a:r>
            <a:r>
              <a:rPr lang="es-ES" sz="1200" i="1" kern="1200" dirty="0">
                <a:solidFill>
                  <a:schemeClr val="tx1"/>
                </a:solidFill>
                <a:effectLst/>
                <a:latin typeface="Times New Roman" pitchFamily="18" charset="0"/>
                <a:ea typeface="+mn-ea"/>
                <a:cs typeface="+mn-cs"/>
              </a:rPr>
              <a:t>agregación </a:t>
            </a:r>
            <a:r>
              <a:rPr lang="es-ES" sz="1200" kern="1200" dirty="0">
                <a:solidFill>
                  <a:schemeClr val="tx1"/>
                </a:solidFill>
                <a:effectLst/>
                <a:latin typeface="Times New Roman" pitchFamily="18" charset="0"/>
                <a:ea typeface="+mn-ea"/>
                <a:cs typeface="+mn-cs"/>
              </a:rPr>
              <a:t>es un tipo especial de asociación que se indica mediante un diamante hueco</a:t>
            </a:r>
          </a:p>
          <a:p>
            <a:r>
              <a:rPr lang="es-ES" sz="1200" kern="1200" dirty="0">
                <a:solidFill>
                  <a:schemeClr val="tx1"/>
                </a:solidFill>
                <a:effectLst/>
                <a:latin typeface="Times New Roman" pitchFamily="18" charset="0"/>
                <a:ea typeface="+mn-ea"/>
                <a:cs typeface="+mn-cs"/>
              </a:rPr>
              <a:t>en un extremo del ícono. Ello indica una relación “entero/parte”, en la que la clase a la que</a:t>
            </a:r>
          </a:p>
          <a:p>
            <a:r>
              <a:rPr lang="es-ES" sz="1200" kern="1200" dirty="0">
                <a:solidFill>
                  <a:schemeClr val="tx1"/>
                </a:solidFill>
                <a:effectLst/>
                <a:latin typeface="Times New Roman" pitchFamily="18" charset="0"/>
                <a:ea typeface="+mn-ea"/>
                <a:cs typeface="+mn-cs"/>
              </a:rPr>
              <a:t>apunta la flecha se considera como una “parte” de la clase en el extremo diamante de la asociación.</a:t>
            </a:r>
          </a:p>
          <a:p>
            <a:r>
              <a:rPr lang="es-ES" sz="1200" kern="1200" dirty="0">
                <a:solidFill>
                  <a:schemeClr val="tx1"/>
                </a:solidFill>
                <a:effectLst/>
                <a:latin typeface="Times New Roman" pitchFamily="18" charset="0"/>
                <a:ea typeface="+mn-ea"/>
                <a:cs typeface="+mn-cs"/>
              </a:rPr>
              <a:t>Una </a:t>
            </a:r>
            <a:r>
              <a:rPr lang="es-ES" sz="1200" i="1" kern="1200" dirty="0">
                <a:solidFill>
                  <a:schemeClr val="tx1"/>
                </a:solidFill>
                <a:effectLst/>
                <a:latin typeface="Times New Roman" pitchFamily="18" charset="0"/>
                <a:ea typeface="+mn-ea"/>
                <a:cs typeface="+mn-cs"/>
              </a:rPr>
              <a:t>composición </a:t>
            </a:r>
            <a:r>
              <a:rPr lang="es-ES" sz="1200" kern="1200" dirty="0">
                <a:solidFill>
                  <a:schemeClr val="tx1"/>
                </a:solidFill>
                <a:effectLst/>
                <a:latin typeface="Times New Roman" pitchFamily="18" charset="0"/>
                <a:ea typeface="+mn-ea"/>
                <a:cs typeface="+mn-cs"/>
              </a:rPr>
              <a:t>es una agregación que indica fuerte propiedad de las partes. En una</a:t>
            </a:r>
          </a:p>
          <a:p>
            <a:r>
              <a:rPr lang="es-ES" sz="1200" kern="1200" dirty="0">
                <a:solidFill>
                  <a:schemeClr val="tx1"/>
                </a:solidFill>
                <a:effectLst/>
                <a:latin typeface="Times New Roman" pitchFamily="18" charset="0"/>
                <a:ea typeface="+mn-ea"/>
                <a:cs typeface="+mn-cs"/>
              </a:rPr>
              <a:t>composición, las partes viven y mueren con el propietario porque no tienen papel en el sistema</a:t>
            </a:r>
          </a:p>
          <a:p>
            <a:r>
              <a:rPr lang="es-ES" sz="1200" kern="1200" dirty="0">
                <a:solidFill>
                  <a:schemeClr val="tx1"/>
                </a:solidFill>
                <a:effectLst/>
                <a:latin typeface="Times New Roman" pitchFamily="18" charset="0"/>
                <a:ea typeface="+mn-ea"/>
                <a:cs typeface="+mn-cs"/>
              </a:rPr>
              <a:t>de software independiente del propietario.</a:t>
            </a:r>
          </a:p>
          <a:p>
            <a:r>
              <a:rPr lang="es-ES" sz="1200" kern="1200" dirty="0">
                <a:solidFill>
                  <a:schemeClr val="tx1"/>
                </a:solidFill>
                <a:effectLst/>
                <a:latin typeface="Times New Roman" pitchFamily="18" charset="0"/>
                <a:ea typeface="+mn-ea"/>
                <a:cs typeface="+mn-cs"/>
              </a:rPr>
              <a:t>Una </a:t>
            </a:r>
            <a:r>
              <a:rPr lang="es-ES" sz="1200" b="1" kern="1200" dirty="0">
                <a:solidFill>
                  <a:schemeClr val="tx1"/>
                </a:solidFill>
                <a:effectLst/>
                <a:latin typeface="Times New Roman" pitchFamily="18" charset="0"/>
                <a:ea typeface="+mn-ea"/>
                <a:cs typeface="+mn-cs"/>
              </a:rPr>
              <a:t>Universidad </a:t>
            </a:r>
            <a:r>
              <a:rPr lang="es-ES" sz="1200" kern="1200" dirty="0">
                <a:solidFill>
                  <a:schemeClr val="tx1"/>
                </a:solidFill>
                <a:effectLst/>
                <a:latin typeface="Times New Roman" pitchFamily="18" charset="0"/>
                <a:ea typeface="+mn-ea"/>
                <a:cs typeface="+mn-cs"/>
              </a:rPr>
              <a:t>tiene una agregación de objetos </a:t>
            </a:r>
            <a:r>
              <a:rPr lang="es-ES" sz="1200" b="1" kern="1200" dirty="0">
                <a:solidFill>
                  <a:schemeClr val="tx1"/>
                </a:solidFill>
                <a:effectLst/>
                <a:latin typeface="Times New Roman" pitchFamily="18" charset="0"/>
                <a:ea typeface="+mn-ea"/>
                <a:cs typeface="+mn-cs"/>
              </a:rPr>
              <a:t>Edificio</a:t>
            </a:r>
            <a:r>
              <a:rPr lang="es-ES" sz="1200" kern="1200" dirty="0">
                <a:solidFill>
                  <a:schemeClr val="tx1"/>
                </a:solidFill>
                <a:effectLst/>
                <a:latin typeface="Times New Roman" pitchFamily="18" charset="0"/>
                <a:ea typeface="+mn-ea"/>
                <a:cs typeface="+mn-cs"/>
              </a:rPr>
              <a:t>, que representan los edificios que</a:t>
            </a:r>
          </a:p>
          <a:p>
            <a:r>
              <a:rPr lang="es-ES" sz="1200" kern="1200" dirty="0">
                <a:solidFill>
                  <a:schemeClr val="tx1"/>
                </a:solidFill>
                <a:effectLst/>
                <a:latin typeface="Times New Roman" pitchFamily="18" charset="0"/>
                <a:ea typeface="+mn-ea"/>
                <a:cs typeface="+mn-cs"/>
              </a:rPr>
              <a:t>constituyen el campus. La universidad también tiene una colección de cursos. Si la universidad</a:t>
            </a:r>
          </a:p>
          <a:p>
            <a:r>
              <a:rPr lang="es-ES" sz="1200" kern="1200" dirty="0">
                <a:solidFill>
                  <a:schemeClr val="tx1"/>
                </a:solidFill>
                <a:effectLst/>
                <a:latin typeface="Times New Roman" pitchFamily="18" charset="0"/>
                <a:ea typeface="+mn-ea"/>
                <a:cs typeface="+mn-cs"/>
              </a:rPr>
              <a:t>quebrara, los edificios todavía existirían (si se supone que la universidad no se destruye físicamente)</a:t>
            </a:r>
          </a:p>
          <a:p>
            <a:r>
              <a:rPr lang="es-ES" sz="1200" kern="1200" dirty="0">
                <a:solidFill>
                  <a:schemeClr val="tx1"/>
                </a:solidFill>
                <a:effectLst/>
                <a:latin typeface="Times New Roman" pitchFamily="18" charset="0"/>
                <a:ea typeface="+mn-ea"/>
                <a:cs typeface="+mn-cs"/>
              </a:rPr>
              <a:t>y podría usar otras cosas, pero un objeto </a:t>
            </a:r>
            <a:r>
              <a:rPr lang="es-ES" sz="1200" b="1" kern="1200" dirty="0">
                <a:solidFill>
                  <a:schemeClr val="tx1"/>
                </a:solidFill>
                <a:effectLst/>
                <a:latin typeface="Times New Roman" pitchFamily="18" charset="0"/>
                <a:ea typeface="+mn-ea"/>
                <a:cs typeface="+mn-cs"/>
              </a:rPr>
              <a:t>Curso </a:t>
            </a:r>
            <a:r>
              <a:rPr lang="es-ES" sz="1200" kern="1200" dirty="0">
                <a:solidFill>
                  <a:schemeClr val="tx1"/>
                </a:solidFill>
                <a:effectLst/>
                <a:latin typeface="Times New Roman" pitchFamily="18" charset="0"/>
                <a:ea typeface="+mn-ea"/>
                <a:cs typeface="+mn-cs"/>
              </a:rPr>
              <a:t>no tiene uso fuera de la universidad en</a:t>
            </a:r>
          </a:p>
          <a:p>
            <a:r>
              <a:rPr lang="es-ES" sz="1200" kern="1200" dirty="0">
                <a:solidFill>
                  <a:schemeClr val="tx1"/>
                </a:solidFill>
                <a:effectLst/>
                <a:latin typeface="Times New Roman" pitchFamily="18" charset="0"/>
                <a:ea typeface="+mn-ea"/>
                <a:cs typeface="+mn-cs"/>
              </a:rPr>
              <a:t>la cual se ofrece. Si la universidad deja de existir como una entidad empresarial, el objeto </a:t>
            </a:r>
            <a:r>
              <a:rPr lang="es-ES" sz="1200" b="1" kern="1200" dirty="0">
                <a:solidFill>
                  <a:schemeClr val="tx1"/>
                </a:solidFill>
                <a:effectLst/>
                <a:latin typeface="Times New Roman" pitchFamily="18" charset="0"/>
                <a:ea typeface="+mn-ea"/>
                <a:cs typeface="+mn-cs"/>
              </a:rPr>
              <a:t>Curso</a:t>
            </a:r>
            <a:endParaRPr lang="es-ES" sz="1200" kern="1200" dirty="0">
              <a:solidFill>
                <a:schemeClr val="tx1"/>
              </a:solidFill>
              <a:effectLst/>
              <a:latin typeface="Times New Roman" pitchFamily="18" charset="0"/>
              <a:ea typeface="+mn-ea"/>
              <a:cs typeface="+mn-cs"/>
            </a:endParaRPr>
          </a:p>
          <a:p>
            <a:r>
              <a:rPr lang="es-ES" sz="1200" kern="1200" dirty="0">
                <a:solidFill>
                  <a:schemeClr val="tx1"/>
                </a:solidFill>
                <a:effectLst/>
                <a:latin typeface="Times New Roman" pitchFamily="18" charset="0"/>
                <a:ea typeface="+mn-ea"/>
                <a:cs typeface="+mn-cs"/>
              </a:rPr>
              <a:t>ya no sería útil y, por tanto, también dejaría de existir.</a:t>
            </a: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41</a:t>
            </a:fld>
            <a:endParaRPr lang="es-ES_tradnl"/>
          </a:p>
        </p:txBody>
      </p:sp>
    </p:spTree>
    <p:extLst>
      <p:ext uri="{BB962C8B-B14F-4D97-AF65-F5344CB8AC3E}">
        <p14:creationId xmlns:p14="http://schemas.microsoft.com/office/powerpoint/2010/main" val="9131287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Una asociación también puede conectar una clase consigo misma, mediante un bucle. Tal asociación indica la conexión</a:t>
            </a:r>
          </a:p>
          <a:p>
            <a:r>
              <a:rPr lang="es-ES" sz="1200" kern="1200" dirty="0">
                <a:solidFill>
                  <a:schemeClr val="tx1"/>
                </a:solidFill>
                <a:effectLst/>
                <a:latin typeface="Times New Roman" pitchFamily="18" charset="0"/>
                <a:ea typeface="+mn-ea"/>
                <a:cs typeface="+mn-cs"/>
              </a:rPr>
              <a:t>de un objeto de la clase con otros objetos de la misma clase.</a:t>
            </a: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42</a:t>
            </a:fld>
            <a:endParaRPr lang="es-ES_tradnl"/>
          </a:p>
        </p:txBody>
      </p:sp>
    </p:spTree>
    <p:extLst>
      <p:ext uri="{BB962C8B-B14F-4D97-AF65-F5344CB8AC3E}">
        <p14:creationId xmlns:p14="http://schemas.microsoft.com/office/powerpoint/2010/main" val="35359616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La </a:t>
            </a:r>
            <a:r>
              <a:rPr lang="es-ES" sz="1200" i="1" kern="1200" dirty="0">
                <a:solidFill>
                  <a:schemeClr val="tx1"/>
                </a:solidFill>
                <a:effectLst/>
                <a:latin typeface="Times New Roman" pitchFamily="18" charset="0"/>
                <a:ea typeface="+mn-ea"/>
                <a:cs typeface="+mn-cs"/>
              </a:rPr>
              <a:t>multiplicidad </a:t>
            </a:r>
            <a:r>
              <a:rPr lang="es-ES" sz="1200" kern="1200" dirty="0">
                <a:solidFill>
                  <a:schemeClr val="tx1"/>
                </a:solidFill>
                <a:effectLst/>
                <a:latin typeface="Times New Roman" pitchFamily="18" charset="0"/>
                <a:ea typeface="+mn-ea"/>
                <a:cs typeface="+mn-cs"/>
              </a:rPr>
              <a:t>de un extremo de una asociación significa el número de objetos de dicha</a:t>
            </a:r>
          </a:p>
          <a:p>
            <a:r>
              <a:rPr lang="es-ES" sz="1200" kern="1200" dirty="0">
                <a:solidFill>
                  <a:schemeClr val="tx1"/>
                </a:solidFill>
                <a:effectLst/>
                <a:latin typeface="Times New Roman" pitchFamily="18" charset="0"/>
                <a:ea typeface="+mn-ea"/>
                <a:cs typeface="+mn-cs"/>
              </a:rPr>
              <a:t>clase que se asocia con la otra clase. Una multiplicidad se especifica mediante un entero no</a:t>
            </a:r>
          </a:p>
          <a:p>
            <a:r>
              <a:rPr lang="es-ES" sz="1200" kern="1200" dirty="0">
                <a:solidFill>
                  <a:schemeClr val="tx1"/>
                </a:solidFill>
                <a:effectLst/>
                <a:latin typeface="Times New Roman" pitchFamily="18" charset="0"/>
                <a:ea typeface="+mn-ea"/>
                <a:cs typeface="+mn-cs"/>
              </a:rPr>
              <a:t>negativo o mediante un rango de enteros. Una multiplicidad especificada por “0..1” significa que</a:t>
            </a:r>
          </a:p>
          <a:p>
            <a:r>
              <a:rPr lang="es-ES" sz="1200" kern="1200" dirty="0">
                <a:solidFill>
                  <a:schemeClr val="tx1"/>
                </a:solidFill>
                <a:effectLst/>
                <a:latin typeface="Times New Roman" pitchFamily="18" charset="0"/>
                <a:ea typeface="+mn-ea"/>
                <a:cs typeface="+mn-cs"/>
              </a:rPr>
              <a:t>existen 0 o 1 objetos en dicho extremo de la asociación</a:t>
            </a:r>
          </a:p>
          <a:p>
            <a:r>
              <a:rPr lang="es-ES" sz="1200" kern="1200" dirty="0">
                <a:solidFill>
                  <a:schemeClr val="tx1"/>
                </a:solidFill>
                <a:effectLst/>
                <a:latin typeface="Times New Roman" pitchFamily="18" charset="0"/>
                <a:ea typeface="+mn-ea"/>
                <a:cs typeface="+mn-cs"/>
              </a:rPr>
              <a:t>Si un extremo de una asociación tiene multiplicidad mayor que 1, entonces los objetos de la</a:t>
            </a:r>
          </a:p>
          <a:p>
            <a:r>
              <a:rPr lang="es-ES" sz="1200" kern="1200" dirty="0">
                <a:solidFill>
                  <a:schemeClr val="tx1"/>
                </a:solidFill>
                <a:effectLst/>
                <a:latin typeface="Times New Roman" pitchFamily="18" charset="0"/>
                <a:ea typeface="+mn-ea"/>
                <a:cs typeface="+mn-cs"/>
              </a:rPr>
              <a:t>clase a la que se refiere en dicho extremo de la asociación probablemente se almacenan en una</a:t>
            </a:r>
          </a:p>
          <a:p>
            <a:r>
              <a:rPr lang="es-ES" sz="1200" kern="1200" dirty="0">
                <a:solidFill>
                  <a:schemeClr val="tx1"/>
                </a:solidFill>
                <a:effectLst/>
                <a:latin typeface="Times New Roman" pitchFamily="18" charset="0"/>
                <a:ea typeface="+mn-ea"/>
                <a:cs typeface="+mn-cs"/>
              </a:rPr>
              <a:t>colección, como un conjunto o lista ordenada. También podría incluirse dicha clase colección</a:t>
            </a:r>
          </a:p>
          <a:p>
            <a:r>
              <a:rPr lang="es-ES" sz="1200" kern="1200" dirty="0">
                <a:solidFill>
                  <a:schemeClr val="tx1"/>
                </a:solidFill>
                <a:effectLst/>
                <a:latin typeface="Times New Roman" pitchFamily="18" charset="0"/>
                <a:ea typeface="+mn-ea"/>
                <a:cs typeface="+mn-cs"/>
              </a:rPr>
              <a:t>en sí misma en el diagrama UML, pero tal clase por lo general queda fuera y se supone, de manera</a:t>
            </a:r>
          </a:p>
          <a:p>
            <a:r>
              <a:rPr lang="es-ES" sz="1200" kern="1200" dirty="0">
                <a:solidFill>
                  <a:schemeClr val="tx1"/>
                </a:solidFill>
                <a:effectLst/>
                <a:latin typeface="Times New Roman" pitchFamily="18" charset="0"/>
                <a:ea typeface="+mn-ea"/>
                <a:cs typeface="+mn-cs"/>
              </a:rPr>
              <a:t>implícita, que está ahí debido a la multiplicidad de la asociación.</a:t>
            </a: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43</a:t>
            </a:fld>
            <a:endParaRPr lang="es-ES_tradnl"/>
          </a:p>
        </p:txBody>
      </p:sp>
    </p:spTree>
    <p:extLst>
      <p:ext uri="{BB962C8B-B14F-4D97-AF65-F5344CB8AC3E}">
        <p14:creationId xmlns:p14="http://schemas.microsoft.com/office/powerpoint/2010/main" val="20236346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Este atributo es empleado para la relación de </a:t>
            </a:r>
            <a:r>
              <a:rPr lang="es-ES" sz="1200" kern="1200" dirty="0" err="1">
                <a:solidFill>
                  <a:schemeClr val="tx1"/>
                </a:solidFill>
                <a:effectLst/>
                <a:latin typeface="Times New Roman" pitchFamily="18" charset="0"/>
                <a:ea typeface="+mn-ea"/>
                <a:cs typeface="+mn-cs"/>
              </a:rPr>
              <a:t>exite</a:t>
            </a:r>
            <a:r>
              <a:rPr lang="es-ES" sz="1200" kern="1200" dirty="0">
                <a:solidFill>
                  <a:schemeClr val="tx1"/>
                </a:solidFill>
                <a:effectLst/>
                <a:latin typeface="Times New Roman" pitchFamily="18" charset="0"/>
                <a:ea typeface="+mn-ea"/>
                <a:cs typeface="+mn-cs"/>
              </a:rPr>
              <a:t> uno y solo uno por ejemplo :</a:t>
            </a:r>
          </a:p>
          <a:p>
            <a:r>
              <a:rPr lang="es-ES_tradnl" sz="1200" kern="1200" dirty="0">
                <a:solidFill>
                  <a:schemeClr val="tx1"/>
                </a:solidFill>
                <a:effectLst/>
                <a:latin typeface="Times New Roman" pitchFamily="18" charset="0"/>
                <a:ea typeface="+mn-ea"/>
                <a:cs typeface="+mn-cs"/>
              </a:rPr>
              <a:t>Dado un Departamento y un número de expediente existe uno y solo un profesor asociado al Departamento</a:t>
            </a:r>
            <a:endParaRPr lang="es-ES" sz="1200" kern="1200" dirty="0">
              <a:solidFill>
                <a:schemeClr val="tx1"/>
              </a:solidFill>
              <a:effectLst/>
              <a:latin typeface="Times New Roman" pitchFamily="18" charset="0"/>
              <a:ea typeface="+mn-ea"/>
              <a:cs typeface="+mn-cs"/>
            </a:endParaRP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44</a:t>
            </a:fld>
            <a:endParaRPr lang="es-ES_tradnl"/>
          </a:p>
        </p:txBody>
      </p:sp>
    </p:spTree>
    <p:extLst>
      <p:ext uri="{BB962C8B-B14F-4D97-AF65-F5344CB8AC3E}">
        <p14:creationId xmlns:p14="http://schemas.microsoft.com/office/powerpoint/2010/main" val="182770468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s-ES" sz="1200" kern="1200" dirty="0">
                <a:solidFill>
                  <a:schemeClr val="tx1"/>
                </a:solidFill>
                <a:effectLst/>
                <a:latin typeface="Times New Roman" pitchFamily="18" charset="0"/>
                <a:ea typeface="+mn-ea"/>
                <a:cs typeface="+mn-cs"/>
              </a:rPr>
              <a:t>Aquí vemos actualizado el diagrama de clase ya con sus relaciones por ejemplo un estudiante solo puede tener un expediente y un expediente solo puede ser de un estudiante. Hay una relación reflexiva con curso porque un curso puede tener cursos precedentes </a:t>
            </a: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45</a:t>
            </a:fld>
            <a:endParaRPr lang="es-ES_tradnl"/>
          </a:p>
        </p:txBody>
      </p:sp>
    </p:spTree>
    <p:extLst>
      <p:ext uri="{BB962C8B-B14F-4D97-AF65-F5344CB8AC3E}">
        <p14:creationId xmlns:p14="http://schemas.microsoft.com/office/powerpoint/2010/main" val="4352847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Los diagramas de caso de uso ayudan a determinar la funcionalidad y características del software desde la perspectiva del usuario. el diagrama de casos de uso muestra el comportamiento que se</a:t>
            </a:r>
          </a:p>
          <a:p>
            <a:r>
              <a:rPr lang="es-ES" sz="1200" kern="1200" dirty="0">
                <a:solidFill>
                  <a:schemeClr val="tx1"/>
                </a:solidFill>
                <a:effectLst/>
                <a:latin typeface="Times New Roman" pitchFamily="18" charset="0"/>
                <a:ea typeface="+mn-ea"/>
                <a:cs typeface="+mn-cs"/>
              </a:rPr>
              <a:t>esperará de un sistema más adelante. Este modelo no sólo es adecuado para sistemas de software, sino también, por ejemplo, para procesos esperados en las relaciones comerciales.</a:t>
            </a: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46</a:t>
            </a:fld>
            <a:endParaRPr lang="es-ES_tradnl"/>
          </a:p>
        </p:txBody>
      </p:sp>
    </p:spTree>
    <p:extLst>
      <p:ext uri="{BB962C8B-B14F-4D97-AF65-F5344CB8AC3E}">
        <p14:creationId xmlns:p14="http://schemas.microsoft.com/office/powerpoint/2010/main" val="19124336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Los componentes de este diagrama son los actores y los casos de usos </a:t>
            </a:r>
          </a:p>
          <a:p>
            <a:r>
              <a:rPr lang="es-ES" sz="1200" kern="1200" dirty="0">
                <a:solidFill>
                  <a:schemeClr val="tx1"/>
                </a:solidFill>
                <a:effectLst/>
                <a:latin typeface="Times New Roman" pitchFamily="18" charset="0"/>
                <a:ea typeface="+mn-ea"/>
                <a:cs typeface="+mn-cs"/>
              </a:rPr>
              <a:t>Los actores son  </a:t>
            </a:r>
            <a:r>
              <a:rPr lang="es-ES_tradnl" sz="1200" kern="1200" dirty="0">
                <a:solidFill>
                  <a:schemeClr val="tx1"/>
                </a:solidFill>
                <a:effectLst/>
                <a:latin typeface="Times New Roman" pitchFamily="18" charset="0"/>
                <a:ea typeface="+mn-ea"/>
                <a:cs typeface="+mn-cs"/>
              </a:rPr>
              <a:t>cualquiera (usuario) o cualquier cosa (sistema externo - hardware) que intercambia información con el sistema</a:t>
            </a:r>
            <a:endParaRPr lang="es-ES" sz="1200" kern="1200" dirty="0">
              <a:solidFill>
                <a:schemeClr val="tx1"/>
              </a:solidFill>
              <a:effectLst/>
              <a:latin typeface="Times New Roman" pitchFamily="18" charset="0"/>
              <a:ea typeface="+mn-ea"/>
              <a:cs typeface="+mn-cs"/>
            </a:endParaRPr>
          </a:p>
          <a:p>
            <a:r>
              <a:rPr lang="es-ES" sz="1200" kern="1200" dirty="0">
                <a:solidFill>
                  <a:schemeClr val="tx1"/>
                </a:solidFill>
                <a:effectLst/>
                <a:latin typeface="Times New Roman" pitchFamily="18" charset="0"/>
                <a:ea typeface="+mn-ea"/>
                <a:cs typeface="+mn-cs"/>
              </a:rPr>
              <a:t>Un </a:t>
            </a:r>
            <a:r>
              <a:rPr lang="es-ES" sz="1200" i="1" kern="1200" dirty="0">
                <a:solidFill>
                  <a:schemeClr val="tx1"/>
                </a:solidFill>
                <a:effectLst/>
                <a:latin typeface="Times New Roman" pitchFamily="18" charset="0"/>
                <a:ea typeface="+mn-ea"/>
                <a:cs typeface="+mn-cs"/>
              </a:rPr>
              <a:t>caso de uso </a:t>
            </a:r>
            <a:r>
              <a:rPr lang="es-ES" sz="1200" kern="1200" dirty="0">
                <a:solidFill>
                  <a:schemeClr val="tx1"/>
                </a:solidFill>
                <a:effectLst/>
                <a:latin typeface="Times New Roman" pitchFamily="18" charset="0"/>
                <a:ea typeface="+mn-ea"/>
                <a:cs typeface="+mn-cs"/>
              </a:rPr>
              <a:t>describe la manera en la que un usuario interactúa con el sistema, definiendo los pasos requeridos para lograr una meta específica</a:t>
            </a:r>
          </a:p>
          <a:p>
            <a:r>
              <a:rPr lang="es-ES" sz="1200" kern="1200" dirty="0">
                <a:solidFill>
                  <a:schemeClr val="tx1"/>
                </a:solidFill>
                <a:effectLst/>
                <a:latin typeface="Times New Roman" pitchFamily="18" charset="0"/>
                <a:ea typeface="+mn-ea"/>
                <a:cs typeface="+mn-cs"/>
              </a:rPr>
              <a:t> </a:t>
            </a:r>
          </a:p>
          <a:p>
            <a:r>
              <a:rPr lang="es-ES" sz="1200" kern="1200" dirty="0">
                <a:solidFill>
                  <a:schemeClr val="tx1"/>
                </a:solidFill>
                <a:effectLst/>
                <a:latin typeface="Times New Roman" pitchFamily="18" charset="0"/>
                <a:ea typeface="+mn-ea"/>
                <a:cs typeface="+mn-cs"/>
              </a:rPr>
              <a:t>El diagrama del caso de uso se representa en UML con un rectángulo con la etiqueta use case. El</a:t>
            </a:r>
          </a:p>
          <a:p>
            <a:r>
              <a:rPr lang="es-ES" sz="1200" kern="1200" dirty="0">
                <a:solidFill>
                  <a:schemeClr val="tx1"/>
                </a:solidFill>
                <a:effectLst/>
                <a:latin typeface="Times New Roman" pitchFamily="18" charset="0"/>
                <a:ea typeface="+mn-ea"/>
                <a:cs typeface="+mn-cs"/>
              </a:rPr>
              <a:t>remitente es el actor (esto se representa como una figura de palo, incluso si se trata de un sistema).</a:t>
            </a:r>
          </a:p>
          <a:p>
            <a:r>
              <a:rPr lang="es-ES" sz="1200" kern="1200" dirty="0">
                <a:solidFill>
                  <a:schemeClr val="tx1"/>
                </a:solidFill>
                <a:effectLst/>
                <a:latin typeface="Times New Roman" pitchFamily="18" charset="0"/>
                <a:ea typeface="+mn-ea"/>
                <a:cs typeface="+mn-cs"/>
              </a:rPr>
              <a:t>El actor está conectado por una relación de dependencia (representada como un guion) con el caso</a:t>
            </a:r>
          </a:p>
          <a:p>
            <a:r>
              <a:rPr lang="es-ES" sz="1200" kern="1200" dirty="0">
                <a:solidFill>
                  <a:schemeClr val="tx1"/>
                </a:solidFill>
                <a:effectLst/>
                <a:latin typeface="Times New Roman" pitchFamily="18" charset="0"/>
                <a:ea typeface="+mn-ea"/>
                <a:cs typeface="+mn-cs"/>
              </a:rPr>
              <a:t>de uso (elipse con etiqueta) dentro de un sistema (rectángulo con etiqueta ((sistema)) y nombre del</a:t>
            </a:r>
          </a:p>
          <a:p>
            <a:r>
              <a:rPr lang="es-ES" sz="1200" kern="1200" dirty="0">
                <a:solidFill>
                  <a:schemeClr val="tx1"/>
                </a:solidFill>
                <a:effectLst/>
                <a:latin typeface="Times New Roman" pitchFamily="18" charset="0"/>
                <a:ea typeface="+mn-ea"/>
                <a:cs typeface="+mn-cs"/>
              </a:rPr>
              <a:t>sistema).</a:t>
            </a: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47</a:t>
            </a:fld>
            <a:endParaRPr lang="es-ES_tradnl"/>
          </a:p>
        </p:txBody>
      </p:sp>
    </p:spTree>
    <p:extLst>
      <p:ext uri="{BB962C8B-B14F-4D97-AF65-F5344CB8AC3E}">
        <p14:creationId xmlns:p14="http://schemas.microsoft.com/office/powerpoint/2010/main" val="23667471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Como se puede apreciar existen relaciones entre los actores y los casos de uso y entre los casos de uso como pueden ser la relación de uses o </a:t>
            </a:r>
            <a:r>
              <a:rPr lang="es-ES" sz="1200" kern="1200" dirty="0" err="1">
                <a:solidFill>
                  <a:schemeClr val="tx1"/>
                </a:solidFill>
                <a:effectLst/>
                <a:latin typeface="Times New Roman" pitchFamily="18" charset="0"/>
                <a:ea typeface="+mn-ea"/>
                <a:cs typeface="+mn-cs"/>
              </a:rPr>
              <a:t>extends</a:t>
            </a:r>
            <a:endParaRPr lang="es-ES" sz="1200" kern="1200" dirty="0">
              <a:solidFill>
                <a:schemeClr val="tx1"/>
              </a:solidFill>
              <a:effectLst/>
              <a:latin typeface="Times New Roman" pitchFamily="18" charset="0"/>
              <a:ea typeface="+mn-ea"/>
              <a:cs typeface="+mn-cs"/>
            </a:endParaRPr>
          </a:p>
          <a:p>
            <a:r>
              <a:rPr lang="es-ES" sz="1200" kern="1200" dirty="0">
                <a:solidFill>
                  <a:schemeClr val="tx1"/>
                </a:solidFill>
                <a:effectLst/>
                <a:latin typeface="Times New Roman" pitchFamily="18" charset="0"/>
                <a:ea typeface="+mn-ea"/>
                <a:cs typeface="+mn-cs"/>
              </a:rPr>
              <a:t>Ahora bien si tenemos el siguiente problema de la matrícula de un curso con las </a:t>
            </a:r>
            <a:r>
              <a:rPr lang="es-ES" sz="1200" kern="1200" dirty="0" err="1">
                <a:solidFill>
                  <a:schemeClr val="tx1"/>
                </a:solidFill>
                <a:effectLst/>
                <a:latin typeface="Times New Roman" pitchFamily="18" charset="0"/>
                <a:ea typeface="+mn-ea"/>
                <a:cs typeface="+mn-cs"/>
              </a:rPr>
              <a:t>sgtes</a:t>
            </a:r>
            <a:r>
              <a:rPr lang="es-ES" sz="1200" kern="1200" dirty="0">
                <a:solidFill>
                  <a:schemeClr val="tx1"/>
                </a:solidFill>
                <a:effectLst/>
                <a:latin typeface="Times New Roman" pitchFamily="18" charset="0"/>
                <a:ea typeface="+mn-ea"/>
                <a:cs typeface="+mn-cs"/>
              </a:rPr>
              <a:t> especificaciones:</a:t>
            </a:r>
          </a:p>
          <a:p>
            <a:r>
              <a:rPr lang="es-ES" sz="1200" kern="1200" dirty="0">
                <a:solidFill>
                  <a:schemeClr val="tx1"/>
                </a:solidFill>
                <a:effectLst/>
                <a:latin typeface="Times New Roman" pitchFamily="18" charset="0"/>
                <a:ea typeface="+mn-ea"/>
                <a:cs typeface="+mn-cs"/>
              </a:rPr>
              <a:t> </a:t>
            </a:r>
          </a:p>
          <a:p>
            <a:r>
              <a:rPr lang="es-ES_tradnl" sz="1200" kern="1200" dirty="0">
                <a:solidFill>
                  <a:schemeClr val="tx1"/>
                </a:solidFill>
                <a:effectLst/>
                <a:latin typeface="Times New Roman" pitchFamily="18" charset="0"/>
                <a:ea typeface="+mn-ea"/>
                <a:cs typeface="+mn-cs"/>
              </a:rPr>
              <a:t>Al inicio de cada semestre la secretaria deberá:</a:t>
            </a:r>
            <a:endParaRPr lang="es-ES" sz="1200" kern="1200" dirty="0">
              <a:solidFill>
                <a:schemeClr val="tx1"/>
              </a:solidFill>
              <a:effectLst/>
              <a:latin typeface="Times New Roman" pitchFamily="18" charset="0"/>
              <a:ea typeface="+mn-ea"/>
              <a:cs typeface="+mn-cs"/>
            </a:endParaRPr>
          </a:p>
          <a:p>
            <a:r>
              <a:rPr lang="es-ES_tradnl" sz="1200" kern="1200" dirty="0">
                <a:solidFill>
                  <a:schemeClr val="tx1"/>
                </a:solidFill>
                <a:effectLst/>
                <a:latin typeface="Times New Roman" pitchFamily="18" charset="0"/>
                <a:ea typeface="+mn-ea"/>
                <a:cs typeface="+mn-cs"/>
              </a:rPr>
              <a:t>facilitar lista de cursos a matricular en </a:t>
            </a:r>
            <a:r>
              <a:rPr lang="es-ES_tradnl" sz="1200" kern="1200" dirty="0" err="1">
                <a:solidFill>
                  <a:schemeClr val="tx1"/>
                </a:solidFill>
                <a:effectLst/>
                <a:latin typeface="Times New Roman" pitchFamily="18" charset="0"/>
                <a:ea typeface="+mn-ea"/>
                <a:cs typeface="+mn-cs"/>
              </a:rPr>
              <a:t>linea</a:t>
            </a:r>
            <a:endParaRPr lang="es-ES" sz="1200" kern="1200" dirty="0">
              <a:solidFill>
                <a:schemeClr val="tx1"/>
              </a:solidFill>
              <a:effectLst/>
              <a:latin typeface="Times New Roman" pitchFamily="18" charset="0"/>
              <a:ea typeface="+mn-ea"/>
              <a:cs typeface="+mn-cs"/>
            </a:endParaRPr>
          </a:p>
          <a:p>
            <a:r>
              <a:rPr lang="es-ES_tradnl" sz="1200" kern="1200" dirty="0">
                <a:solidFill>
                  <a:schemeClr val="tx1"/>
                </a:solidFill>
                <a:effectLst/>
                <a:latin typeface="Times New Roman" pitchFamily="18" charset="0"/>
                <a:ea typeface="+mn-ea"/>
                <a:cs typeface="+mn-cs"/>
              </a:rPr>
              <a:t>brindara toda la información relacionada con  el curso: profesor, departamento, horario, precedencias</a:t>
            </a:r>
            <a:endParaRPr lang="es-ES" sz="1200" kern="1200" dirty="0">
              <a:solidFill>
                <a:schemeClr val="tx1"/>
              </a:solidFill>
              <a:effectLst/>
              <a:latin typeface="Times New Roman" pitchFamily="18" charset="0"/>
              <a:ea typeface="+mn-ea"/>
              <a:cs typeface="+mn-cs"/>
            </a:endParaRPr>
          </a:p>
          <a:p>
            <a:r>
              <a:rPr lang="es-ES_tradnl" sz="1200" kern="1200" dirty="0">
                <a:solidFill>
                  <a:schemeClr val="tx1"/>
                </a:solidFill>
                <a:effectLst/>
                <a:latin typeface="Times New Roman" pitchFamily="18" charset="0"/>
                <a:ea typeface="+mn-ea"/>
                <a:cs typeface="+mn-cs"/>
              </a:rPr>
              <a:t> El sistema </a:t>
            </a:r>
            <a:r>
              <a:rPr lang="es-ES_tradnl" sz="1200" kern="1200" dirty="0" err="1">
                <a:solidFill>
                  <a:schemeClr val="tx1"/>
                </a:solidFill>
                <a:effectLst/>
                <a:latin typeface="Times New Roman" pitchFamily="18" charset="0"/>
                <a:ea typeface="+mn-ea"/>
                <a:cs typeface="+mn-cs"/>
              </a:rPr>
              <a:t>permitira</a:t>
            </a:r>
            <a:r>
              <a:rPr lang="es-ES_tradnl" sz="1200" kern="1200" dirty="0">
                <a:solidFill>
                  <a:schemeClr val="tx1"/>
                </a:solidFill>
                <a:effectLst/>
                <a:latin typeface="Times New Roman" pitchFamily="18" charset="0"/>
                <a:ea typeface="+mn-ea"/>
                <a:cs typeface="+mn-cs"/>
              </a:rPr>
              <a:t> seleccionar cuatro cursos y dos alternativas. Restricciones: no mas de 10 estudiantes ni menos de 3 por curso</a:t>
            </a:r>
            <a:endParaRPr lang="es-ES" sz="1200" kern="1200" dirty="0">
              <a:solidFill>
                <a:schemeClr val="tx1"/>
              </a:solidFill>
              <a:effectLst/>
              <a:latin typeface="Times New Roman" pitchFamily="18" charset="0"/>
              <a:ea typeface="+mn-ea"/>
              <a:cs typeface="+mn-cs"/>
            </a:endParaRPr>
          </a:p>
          <a:p>
            <a:r>
              <a:rPr lang="es-ES_tradnl" sz="1200" kern="1200" dirty="0">
                <a:solidFill>
                  <a:schemeClr val="tx1"/>
                </a:solidFill>
                <a:effectLst/>
                <a:latin typeface="Times New Roman" pitchFamily="18" charset="0"/>
                <a:ea typeface="+mn-ea"/>
                <a:cs typeface="+mn-cs"/>
              </a:rPr>
              <a:t>El profesor </a:t>
            </a:r>
            <a:r>
              <a:rPr lang="es-ES_tradnl" sz="1200" kern="1200" dirty="0" err="1">
                <a:solidFill>
                  <a:schemeClr val="tx1"/>
                </a:solidFill>
                <a:effectLst/>
                <a:latin typeface="Times New Roman" pitchFamily="18" charset="0"/>
                <a:ea typeface="+mn-ea"/>
                <a:cs typeface="+mn-cs"/>
              </a:rPr>
              <a:t>tendra</a:t>
            </a:r>
            <a:r>
              <a:rPr lang="es-ES_tradnl" sz="1200" kern="1200" dirty="0">
                <a:solidFill>
                  <a:schemeClr val="tx1"/>
                </a:solidFill>
                <a:effectLst/>
                <a:latin typeface="Times New Roman" pitchFamily="18" charset="0"/>
                <a:ea typeface="+mn-ea"/>
                <a:cs typeface="+mn-cs"/>
              </a:rPr>
              <a:t> acceso al sistema, particularmente a sus cursos, donde </a:t>
            </a:r>
            <a:r>
              <a:rPr lang="es-ES_tradnl" sz="1200" kern="1200" dirty="0" err="1">
                <a:solidFill>
                  <a:schemeClr val="tx1"/>
                </a:solidFill>
                <a:effectLst/>
                <a:latin typeface="Times New Roman" pitchFamily="18" charset="0"/>
                <a:ea typeface="+mn-ea"/>
                <a:cs typeface="+mn-cs"/>
              </a:rPr>
              <a:t>podra</a:t>
            </a:r>
            <a:r>
              <a:rPr lang="es-ES_tradnl" sz="1200" kern="1200" dirty="0">
                <a:solidFill>
                  <a:schemeClr val="tx1"/>
                </a:solidFill>
                <a:effectLst/>
                <a:latin typeface="Times New Roman" pitchFamily="18" charset="0"/>
                <a:ea typeface="+mn-ea"/>
                <a:cs typeface="+mn-cs"/>
              </a:rPr>
              <a:t> ver a los estudiantes matriculados</a:t>
            </a:r>
            <a:endParaRPr lang="es-ES" sz="1200" kern="1200" dirty="0">
              <a:solidFill>
                <a:schemeClr val="tx1"/>
              </a:solidFill>
              <a:effectLst/>
              <a:latin typeface="Times New Roman" pitchFamily="18" charset="0"/>
              <a:ea typeface="+mn-ea"/>
              <a:cs typeface="+mn-cs"/>
            </a:endParaRPr>
          </a:p>
          <a:p>
            <a:r>
              <a:rPr lang="es-ES_tradnl" sz="1200" kern="1200" dirty="0">
                <a:solidFill>
                  <a:schemeClr val="tx1"/>
                </a:solidFill>
                <a:effectLst/>
                <a:latin typeface="Times New Roman" pitchFamily="18" charset="0"/>
                <a:ea typeface="+mn-ea"/>
                <a:cs typeface="+mn-cs"/>
              </a:rPr>
              <a:t>La matricula dura tres </a:t>
            </a:r>
            <a:r>
              <a:rPr lang="es-ES_tradnl" sz="1200" kern="1200" dirty="0" err="1">
                <a:solidFill>
                  <a:schemeClr val="tx1"/>
                </a:solidFill>
                <a:effectLst/>
                <a:latin typeface="Times New Roman" pitchFamily="18" charset="0"/>
                <a:ea typeface="+mn-ea"/>
                <a:cs typeface="+mn-cs"/>
              </a:rPr>
              <a:t>dias</a:t>
            </a:r>
            <a:r>
              <a:rPr lang="es-ES_tradnl" sz="1200" kern="1200" dirty="0">
                <a:solidFill>
                  <a:schemeClr val="tx1"/>
                </a:solidFill>
                <a:effectLst/>
                <a:latin typeface="Times New Roman" pitchFamily="18" charset="0"/>
                <a:ea typeface="+mn-ea"/>
                <a:cs typeface="+mn-cs"/>
              </a:rPr>
              <a:t>, el primer </a:t>
            </a:r>
            <a:r>
              <a:rPr lang="es-ES_tradnl" sz="1200" kern="1200" dirty="0" err="1">
                <a:solidFill>
                  <a:schemeClr val="tx1"/>
                </a:solidFill>
                <a:effectLst/>
                <a:latin typeface="Times New Roman" pitchFamily="18" charset="0"/>
                <a:ea typeface="+mn-ea"/>
                <a:cs typeface="+mn-cs"/>
              </a:rPr>
              <a:t>dia</a:t>
            </a:r>
            <a:r>
              <a:rPr lang="es-ES_tradnl" sz="1200" kern="1200" dirty="0">
                <a:solidFill>
                  <a:schemeClr val="tx1"/>
                </a:solidFill>
                <a:effectLst/>
                <a:latin typeface="Times New Roman" pitchFamily="18" charset="0"/>
                <a:ea typeface="+mn-ea"/>
                <a:cs typeface="+mn-cs"/>
              </a:rPr>
              <a:t> para estudiantes de la </a:t>
            </a:r>
            <a:r>
              <a:rPr lang="es-ES_tradnl" sz="1200" kern="1200" dirty="0" err="1">
                <a:solidFill>
                  <a:schemeClr val="tx1"/>
                </a:solidFill>
                <a:effectLst/>
                <a:latin typeface="Times New Roman" pitchFamily="18" charset="0"/>
                <a:ea typeface="+mn-ea"/>
                <a:cs typeface="+mn-cs"/>
              </a:rPr>
              <a:t>Maestria</a:t>
            </a:r>
            <a:r>
              <a:rPr lang="es-ES_tradnl" sz="1200" kern="1200" dirty="0">
                <a:solidFill>
                  <a:schemeClr val="tx1"/>
                </a:solidFill>
                <a:effectLst/>
                <a:latin typeface="Times New Roman" pitchFamily="18" charset="0"/>
                <a:ea typeface="+mn-ea"/>
                <a:cs typeface="+mn-cs"/>
              </a:rPr>
              <a:t>, el segundo para el resto y el tercero para la </a:t>
            </a:r>
            <a:r>
              <a:rPr lang="es-ES_tradnl" sz="1200" kern="1200" dirty="0" err="1">
                <a:solidFill>
                  <a:schemeClr val="tx1"/>
                </a:solidFill>
                <a:effectLst/>
                <a:latin typeface="Times New Roman" pitchFamily="18" charset="0"/>
                <a:ea typeface="+mn-ea"/>
                <a:cs typeface="+mn-cs"/>
              </a:rPr>
              <a:t>solucion</a:t>
            </a:r>
            <a:r>
              <a:rPr lang="es-ES_tradnl" sz="1200" kern="1200" dirty="0">
                <a:solidFill>
                  <a:schemeClr val="tx1"/>
                </a:solidFill>
                <a:effectLst/>
                <a:latin typeface="Times New Roman" pitchFamily="18" charset="0"/>
                <a:ea typeface="+mn-ea"/>
                <a:cs typeface="+mn-cs"/>
              </a:rPr>
              <a:t> de conflictos</a:t>
            </a:r>
            <a:endParaRPr lang="es-ES" sz="1200" kern="1200" dirty="0">
              <a:solidFill>
                <a:schemeClr val="tx1"/>
              </a:solidFill>
              <a:effectLst/>
              <a:latin typeface="Times New Roman" pitchFamily="18" charset="0"/>
              <a:ea typeface="+mn-ea"/>
              <a:cs typeface="+mn-cs"/>
            </a:endParaRPr>
          </a:p>
          <a:p>
            <a:r>
              <a:rPr lang="es-ES_tradnl" sz="1200" kern="1200" dirty="0">
                <a:solidFill>
                  <a:schemeClr val="tx1"/>
                </a:solidFill>
                <a:effectLst/>
                <a:latin typeface="Times New Roman" pitchFamily="18" charset="0"/>
                <a:ea typeface="+mn-ea"/>
                <a:cs typeface="+mn-cs"/>
              </a:rPr>
              <a:t>Al terminar la matricula se </a:t>
            </a:r>
            <a:r>
              <a:rPr lang="es-ES_tradnl" sz="1200" kern="1200" dirty="0" err="1">
                <a:solidFill>
                  <a:schemeClr val="tx1"/>
                </a:solidFill>
                <a:effectLst/>
                <a:latin typeface="Times New Roman" pitchFamily="18" charset="0"/>
                <a:ea typeface="+mn-ea"/>
                <a:cs typeface="+mn-cs"/>
              </a:rPr>
              <a:t>envia</a:t>
            </a:r>
            <a:r>
              <a:rPr lang="es-ES_tradnl" sz="1200" kern="1200" dirty="0">
                <a:solidFill>
                  <a:schemeClr val="tx1"/>
                </a:solidFill>
                <a:effectLst/>
                <a:latin typeface="Times New Roman" pitchFamily="18" charset="0"/>
                <a:ea typeface="+mn-ea"/>
                <a:cs typeface="+mn-cs"/>
              </a:rPr>
              <a:t> la </a:t>
            </a:r>
            <a:r>
              <a:rPr lang="es-ES_tradnl" sz="1200" kern="1200" dirty="0" err="1">
                <a:solidFill>
                  <a:schemeClr val="tx1"/>
                </a:solidFill>
                <a:effectLst/>
                <a:latin typeface="Times New Roman" pitchFamily="18" charset="0"/>
                <a:ea typeface="+mn-ea"/>
                <a:cs typeface="+mn-cs"/>
              </a:rPr>
              <a:t>informacion</a:t>
            </a:r>
            <a:r>
              <a:rPr lang="es-ES_tradnl" sz="1200" kern="1200" dirty="0">
                <a:solidFill>
                  <a:schemeClr val="tx1"/>
                </a:solidFill>
                <a:effectLst/>
                <a:latin typeface="Times New Roman" pitchFamily="18" charset="0"/>
                <a:ea typeface="+mn-ea"/>
                <a:cs typeface="+mn-cs"/>
              </a:rPr>
              <a:t> al </a:t>
            </a:r>
            <a:r>
              <a:rPr lang="es-ES_tradnl" sz="1200" kern="1200" dirty="0" err="1">
                <a:solidFill>
                  <a:schemeClr val="tx1"/>
                </a:solidFill>
                <a:effectLst/>
                <a:latin typeface="Times New Roman" pitchFamily="18" charset="0"/>
                <a:ea typeface="+mn-ea"/>
                <a:cs typeface="+mn-cs"/>
              </a:rPr>
              <a:t>Dpto</a:t>
            </a:r>
            <a:r>
              <a:rPr lang="es-ES_tradnl" sz="1200" kern="1200" dirty="0">
                <a:solidFill>
                  <a:schemeClr val="tx1"/>
                </a:solidFill>
                <a:effectLst/>
                <a:latin typeface="Times New Roman" pitchFamily="18" charset="0"/>
                <a:ea typeface="+mn-ea"/>
                <a:cs typeface="+mn-cs"/>
              </a:rPr>
              <a:t> de Contabilidad para el cobro a quien proceda</a:t>
            </a:r>
            <a:endParaRPr lang="es-ES" sz="1200" kern="1200" dirty="0">
              <a:solidFill>
                <a:schemeClr val="tx1"/>
              </a:solidFill>
              <a:effectLst/>
              <a:latin typeface="Times New Roman" pitchFamily="18" charset="0"/>
              <a:ea typeface="+mn-ea"/>
              <a:cs typeface="+mn-cs"/>
            </a:endParaRPr>
          </a:p>
          <a:p>
            <a:r>
              <a:rPr lang="es-ES_tradnl" sz="1200" kern="1200" dirty="0">
                <a:solidFill>
                  <a:schemeClr val="tx1"/>
                </a:solidFill>
                <a:effectLst/>
                <a:latin typeface="Times New Roman" pitchFamily="18" charset="0"/>
                <a:ea typeface="+mn-ea"/>
                <a:cs typeface="+mn-cs"/>
              </a:rPr>
              <a:t>Durante el semestre los estudiantes </a:t>
            </a:r>
            <a:r>
              <a:rPr lang="es-ES_tradnl" sz="1200" kern="1200" dirty="0" err="1">
                <a:solidFill>
                  <a:schemeClr val="tx1"/>
                </a:solidFill>
                <a:effectLst/>
                <a:latin typeface="Times New Roman" pitchFamily="18" charset="0"/>
                <a:ea typeface="+mn-ea"/>
                <a:cs typeface="+mn-cs"/>
              </a:rPr>
              <a:t>tendran</a:t>
            </a:r>
            <a:r>
              <a:rPr lang="es-ES_tradnl" sz="1200" kern="1200" dirty="0">
                <a:solidFill>
                  <a:schemeClr val="tx1"/>
                </a:solidFill>
                <a:effectLst/>
                <a:latin typeface="Times New Roman" pitchFamily="18" charset="0"/>
                <a:ea typeface="+mn-ea"/>
                <a:cs typeface="+mn-cs"/>
              </a:rPr>
              <a:t> acceso a la </a:t>
            </a:r>
            <a:r>
              <a:rPr lang="es-ES_tradnl" sz="1200" kern="1200" dirty="0" err="1">
                <a:solidFill>
                  <a:schemeClr val="tx1"/>
                </a:solidFill>
                <a:effectLst/>
                <a:latin typeface="Times New Roman" pitchFamily="18" charset="0"/>
                <a:ea typeface="+mn-ea"/>
                <a:cs typeface="+mn-cs"/>
              </a:rPr>
              <a:t>informacion</a:t>
            </a:r>
            <a:r>
              <a:rPr lang="es-ES_tradnl" sz="1200" kern="1200" dirty="0">
                <a:solidFill>
                  <a:schemeClr val="tx1"/>
                </a:solidFill>
                <a:effectLst/>
                <a:latin typeface="Times New Roman" pitchFamily="18" charset="0"/>
                <a:ea typeface="+mn-ea"/>
                <a:cs typeface="+mn-cs"/>
              </a:rPr>
              <a:t> sobre los cursos (materiales, horarios, </a:t>
            </a:r>
            <a:r>
              <a:rPr lang="es-ES_tradnl" sz="1200" kern="1200" dirty="0" err="1">
                <a:solidFill>
                  <a:schemeClr val="tx1"/>
                </a:solidFill>
                <a:effectLst/>
                <a:latin typeface="Times New Roman" pitchFamily="18" charset="0"/>
                <a:ea typeface="+mn-ea"/>
                <a:cs typeface="+mn-cs"/>
              </a:rPr>
              <a:t>etc</a:t>
            </a:r>
            <a:r>
              <a:rPr lang="es-ES_tradnl" sz="1200" kern="1200" dirty="0">
                <a:solidFill>
                  <a:schemeClr val="tx1"/>
                </a:solidFill>
                <a:effectLst/>
                <a:latin typeface="Times New Roman" pitchFamily="18" charset="0"/>
                <a:ea typeface="+mn-ea"/>
                <a:cs typeface="+mn-cs"/>
              </a:rPr>
              <a:t>)</a:t>
            </a:r>
            <a:endParaRPr lang="es-ES" sz="1200" kern="1200" dirty="0">
              <a:solidFill>
                <a:schemeClr val="tx1"/>
              </a:solidFill>
              <a:effectLst/>
              <a:latin typeface="Times New Roman" pitchFamily="18" charset="0"/>
              <a:ea typeface="+mn-ea"/>
              <a:cs typeface="+mn-cs"/>
            </a:endParaRPr>
          </a:p>
          <a:p>
            <a:r>
              <a:rPr lang="es-ES" sz="1200" kern="1200" dirty="0">
                <a:solidFill>
                  <a:schemeClr val="tx1"/>
                </a:solidFill>
                <a:effectLst/>
                <a:latin typeface="Times New Roman" pitchFamily="18" charset="0"/>
                <a:ea typeface="+mn-ea"/>
                <a:cs typeface="+mn-cs"/>
              </a:rPr>
              <a:t>¿Como se podría modelar este problema con un diagrama de casos de usos ¿</a:t>
            </a: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48</a:t>
            </a:fld>
            <a:endParaRPr lang="es-ES_tradnl"/>
          </a:p>
        </p:txBody>
      </p:sp>
    </p:spTree>
    <p:extLst>
      <p:ext uri="{BB962C8B-B14F-4D97-AF65-F5344CB8AC3E}">
        <p14:creationId xmlns:p14="http://schemas.microsoft.com/office/powerpoint/2010/main" val="147222766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1 Marcador de imagen de diapositiva"/>
          <p:cNvSpPr>
            <a:spLocks noGrp="1" noRot="1" noChangeAspect="1" noTextEdit="1"/>
          </p:cNvSpPr>
          <p:nvPr>
            <p:ph type="sldImg"/>
          </p:nvPr>
        </p:nvSpPr>
        <p:spPr>
          <a:ln/>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Aquí vemos una posible solución donde definimos nuestros actores que son profesor, contabilidad, secretaria, estudiante</a:t>
            </a:r>
          </a:p>
          <a:p>
            <a:r>
              <a:rPr lang="es-ES" sz="1200" kern="1200" dirty="0">
                <a:solidFill>
                  <a:schemeClr val="tx1"/>
                </a:solidFill>
                <a:effectLst/>
                <a:latin typeface="Times New Roman" pitchFamily="18" charset="0"/>
                <a:ea typeface="+mn-ea"/>
                <a:cs typeface="+mn-cs"/>
              </a:rPr>
              <a:t>Los casos de uso son :Matricular curso, Cambio de horario, Solicitud de catalogo, Gestion de cursos ,Gestion de ,estudiantes ,Gestion de profesores, Cambios en el curso, solicitud escrita, selección de curso. Teniendo ya los actores y casos de usos solo queda establecer las relaciones</a:t>
            </a:r>
          </a:p>
          <a:p>
            <a:pPr marL="7938" indent="-7938">
              <a:lnSpc>
                <a:spcPct val="90000"/>
              </a:lnSpc>
              <a:buFont typeface="Wingdings" pitchFamily="2" charset="2"/>
              <a:buNone/>
              <a:defRPr/>
            </a:pPr>
            <a:endParaRPr lang="es-ES" dirty="0"/>
          </a:p>
        </p:txBody>
      </p:sp>
      <p:sp>
        <p:nvSpPr>
          <p:cNvPr id="81924" name="3 Marcador de número de diapositiva"/>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DC7CBCA-6E71-4732-911A-DE6CB69EA662}" type="slidenum">
              <a:rPr lang="es-ES_tradnl" sz="1200"/>
              <a:pPr/>
              <a:t>49</a:t>
            </a:fld>
            <a:endParaRPr lang="es-ES_tradnl" sz="120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s-ES_tradnl" sz="1200" kern="1200" dirty="0">
                <a:solidFill>
                  <a:schemeClr val="tx1"/>
                </a:solidFill>
                <a:effectLst/>
                <a:latin typeface="Times New Roman" pitchFamily="18" charset="0"/>
                <a:ea typeface="+mn-ea"/>
                <a:cs typeface="+mn-cs"/>
              </a:rPr>
              <a:t>Un escenario es una instancia de un Use Case, que describe una cadena de situaciones cercanas a la realidad a la que se enfrentara el sistema y como debe reaccionar </a:t>
            </a:r>
            <a:r>
              <a:rPr lang="es-ES_tradnl" sz="1200" kern="1200" dirty="0" err="1">
                <a:solidFill>
                  <a:schemeClr val="tx1"/>
                </a:solidFill>
                <a:effectLst/>
                <a:latin typeface="Times New Roman" pitchFamily="18" charset="0"/>
                <a:ea typeface="+mn-ea"/>
                <a:cs typeface="+mn-cs"/>
              </a:rPr>
              <a:t>este.Se</a:t>
            </a:r>
            <a:r>
              <a:rPr lang="es-ES_tradnl" sz="1200" kern="1200" dirty="0">
                <a:solidFill>
                  <a:schemeClr val="tx1"/>
                </a:solidFill>
                <a:effectLst/>
                <a:latin typeface="Times New Roman" pitchFamily="18" charset="0"/>
                <a:ea typeface="+mn-ea"/>
                <a:cs typeface="+mn-cs"/>
              </a:rPr>
              <a:t> describen generalmente en lenguaje natural</a:t>
            </a:r>
            <a:endParaRPr lang="es-ES" sz="1200" kern="1200" dirty="0">
              <a:solidFill>
                <a:schemeClr val="tx1"/>
              </a:solidFill>
              <a:effectLst/>
              <a:latin typeface="Times New Roman" pitchFamily="18" charset="0"/>
              <a:ea typeface="+mn-ea"/>
              <a:cs typeface="+mn-cs"/>
            </a:endParaRP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50</a:t>
            </a:fld>
            <a:endParaRPr lang="es-ES_tradnl"/>
          </a:p>
        </p:txBody>
      </p:sp>
    </p:spTree>
    <p:extLst>
      <p:ext uri="{BB962C8B-B14F-4D97-AF65-F5344CB8AC3E}">
        <p14:creationId xmlns:p14="http://schemas.microsoft.com/office/powerpoint/2010/main" val="294168013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Un </a:t>
            </a:r>
            <a:r>
              <a:rPr lang="es-ES" sz="1200" i="1" kern="1200" dirty="0">
                <a:solidFill>
                  <a:schemeClr val="tx1"/>
                </a:solidFill>
                <a:effectLst/>
                <a:latin typeface="Times New Roman" pitchFamily="18" charset="0"/>
                <a:ea typeface="+mn-ea"/>
                <a:cs typeface="+mn-cs"/>
              </a:rPr>
              <a:t>diagrama de actividad </a:t>
            </a:r>
            <a:r>
              <a:rPr lang="es-ES" sz="1200" kern="1200" dirty="0">
                <a:solidFill>
                  <a:schemeClr val="tx1"/>
                </a:solidFill>
                <a:effectLst/>
                <a:latin typeface="Times New Roman" pitchFamily="18" charset="0"/>
                <a:ea typeface="+mn-ea"/>
                <a:cs typeface="+mn-cs"/>
              </a:rPr>
              <a:t>UML muestra el comportamiento dinámico de un sistema o de parte de</a:t>
            </a:r>
          </a:p>
          <a:p>
            <a:r>
              <a:rPr lang="es-ES" sz="1200" kern="1200" dirty="0">
                <a:solidFill>
                  <a:schemeClr val="tx1"/>
                </a:solidFill>
                <a:effectLst/>
                <a:latin typeface="Times New Roman" pitchFamily="18" charset="0"/>
                <a:ea typeface="+mn-ea"/>
                <a:cs typeface="+mn-cs"/>
              </a:rPr>
              <a:t>un sistema a través del flujo de control entre acciones que realiza el sistema. Es similar a un</a:t>
            </a:r>
          </a:p>
          <a:p>
            <a:r>
              <a:rPr lang="es-ES" sz="1200" kern="1200" dirty="0">
                <a:solidFill>
                  <a:schemeClr val="tx1"/>
                </a:solidFill>
                <a:effectLst/>
                <a:latin typeface="Times New Roman" pitchFamily="18" charset="0"/>
                <a:ea typeface="+mn-ea"/>
                <a:cs typeface="+mn-cs"/>
              </a:rPr>
              <a:t>diagrama de flujo, excepto porque un diagrama de actividad puede mostrar flujos concurrentes</a:t>
            </a: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51</a:t>
            </a:fld>
            <a:endParaRPr lang="es-ES_tradnl"/>
          </a:p>
        </p:txBody>
      </p:sp>
    </p:spTree>
    <p:extLst>
      <p:ext uri="{BB962C8B-B14F-4D97-AF65-F5344CB8AC3E}">
        <p14:creationId xmlns:p14="http://schemas.microsoft.com/office/powerpoint/2010/main" val="191242182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El componente principal de un diagrama de actividad es un nodo </a:t>
            </a:r>
            <a:r>
              <a:rPr lang="es-ES" sz="1200" i="1" kern="1200" dirty="0">
                <a:solidFill>
                  <a:schemeClr val="tx1"/>
                </a:solidFill>
                <a:effectLst/>
                <a:latin typeface="Times New Roman" pitchFamily="18" charset="0"/>
                <a:ea typeface="+mn-ea"/>
                <a:cs typeface="+mn-cs"/>
              </a:rPr>
              <a:t>acción</a:t>
            </a:r>
            <a:r>
              <a:rPr lang="es-ES" sz="1200" kern="1200" dirty="0">
                <a:solidFill>
                  <a:schemeClr val="tx1"/>
                </a:solidFill>
                <a:effectLst/>
                <a:latin typeface="Times New Roman" pitchFamily="18" charset="0"/>
                <a:ea typeface="+mn-ea"/>
                <a:cs typeface="+mn-cs"/>
              </a:rPr>
              <a:t>, representado mediante</a:t>
            </a:r>
          </a:p>
          <a:p>
            <a:r>
              <a:rPr lang="es-ES" sz="1200" kern="1200" dirty="0">
                <a:solidFill>
                  <a:schemeClr val="tx1"/>
                </a:solidFill>
                <a:effectLst/>
                <a:latin typeface="Times New Roman" pitchFamily="18" charset="0"/>
                <a:ea typeface="+mn-ea"/>
                <a:cs typeface="+mn-cs"/>
              </a:rPr>
              <a:t>un rectángulo redondeado, que corresponde a una tarea realizada por el sistema de</a:t>
            </a:r>
          </a:p>
          <a:p>
            <a:r>
              <a:rPr lang="es-ES" sz="1200" kern="1200" dirty="0">
                <a:solidFill>
                  <a:schemeClr val="tx1"/>
                </a:solidFill>
                <a:effectLst/>
                <a:latin typeface="Times New Roman" pitchFamily="18" charset="0"/>
                <a:ea typeface="+mn-ea"/>
                <a:cs typeface="+mn-cs"/>
              </a:rPr>
              <a:t>software. Las flechas desde un nodo acción hasta otro indican el flujo de control; es decir, una</a:t>
            </a:r>
          </a:p>
          <a:p>
            <a:r>
              <a:rPr lang="es-ES" sz="1200" kern="1200" dirty="0">
                <a:solidFill>
                  <a:schemeClr val="tx1"/>
                </a:solidFill>
                <a:effectLst/>
                <a:latin typeface="Times New Roman" pitchFamily="18" charset="0"/>
                <a:ea typeface="+mn-ea"/>
                <a:cs typeface="+mn-cs"/>
              </a:rPr>
              <a:t>flecha entre dos nodos acción significa que, después de completar la primera acción, comienza</a:t>
            </a:r>
          </a:p>
          <a:p>
            <a:r>
              <a:rPr lang="es-ES" sz="1200" kern="1200" dirty="0">
                <a:solidFill>
                  <a:schemeClr val="tx1"/>
                </a:solidFill>
                <a:effectLst/>
                <a:latin typeface="Times New Roman" pitchFamily="18" charset="0"/>
                <a:ea typeface="+mn-ea"/>
                <a:cs typeface="+mn-cs"/>
              </a:rPr>
              <a:t>la segunda acción. Un punto negro sólido forma el </a:t>
            </a:r>
            <a:r>
              <a:rPr lang="es-ES" sz="1200" i="1" kern="1200" dirty="0">
                <a:solidFill>
                  <a:schemeClr val="tx1"/>
                </a:solidFill>
                <a:effectLst/>
                <a:latin typeface="Times New Roman" pitchFamily="18" charset="0"/>
                <a:ea typeface="+mn-ea"/>
                <a:cs typeface="+mn-cs"/>
              </a:rPr>
              <a:t>nodo inicial </a:t>
            </a:r>
            <a:r>
              <a:rPr lang="es-ES" sz="1200" kern="1200" dirty="0">
                <a:solidFill>
                  <a:schemeClr val="tx1"/>
                </a:solidFill>
                <a:effectLst/>
                <a:latin typeface="Times New Roman" pitchFamily="18" charset="0"/>
                <a:ea typeface="+mn-ea"/>
                <a:cs typeface="+mn-cs"/>
              </a:rPr>
              <a:t>que indica el punto de inicio de la</a:t>
            </a:r>
          </a:p>
          <a:p>
            <a:r>
              <a:rPr lang="es-ES" sz="1200" kern="1200" dirty="0">
                <a:solidFill>
                  <a:schemeClr val="tx1"/>
                </a:solidFill>
                <a:effectLst/>
                <a:latin typeface="Times New Roman" pitchFamily="18" charset="0"/>
                <a:ea typeface="+mn-ea"/>
                <a:cs typeface="+mn-cs"/>
              </a:rPr>
              <a:t>actividad. Un punto negro rodeado por un círculo negro es el </a:t>
            </a:r>
            <a:r>
              <a:rPr lang="es-ES" sz="1200" i="1" kern="1200" dirty="0">
                <a:solidFill>
                  <a:schemeClr val="tx1"/>
                </a:solidFill>
                <a:effectLst/>
                <a:latin typeface="Times New Roman" pitchFamily="18" charset="0"/>
                <a:ea typeface="+mn-ea"/>
                <a:cs typeface="+mn-cs"/>
              </a:rPr>
              <a:t>nodo final </a:t>
            </a:r>
            <a:r>
              <a:rPr lang="es-ES" sz="1200" kern="1200" dirty="0">
                <a:solidFill>
                  <a:schemeClr val="tx1"/>
                </a:solidFill>
                <a:effectLst/>
                <a:latin typeface="Times New Roman" pitchFamily="18" charset="0"/>
                <a:ea typeface="+mn-ea"/>
                <a:cs typeface="+mn-cs"/>
              </a:rPr>
              <a:t>que indica el fin de</a:t>
            </a:r>
          </a:p>
          <a:p>
            <a:r>
              <a:rPr lang="es-ES" sz="1200" kern="1200" dirty="0">
                <a:solidFill>
                  <a:schemeClr val="tx1"/>
                </a:solidFill>
                <a:effectLst/>
                <a:latin typeface="Times New Roman" pitchFamily="18" charset="0"/>
                <a:ea typeface="+mn-ea"/>
                <a:cs typeface="+mn-cs"/>
              </a:rPr>
              <a:t>la actividad.</a:t>
            </a:r>
          </a:p>
          <a:p>
            <a:r>
              <a:rPr lang="es-ES" sz="1200" kern="1200" dirty="0">
                <a:solidFill>
                  <a:schemeClr val="tx1"/>
                </a:solidFill>
                <a:effectLst/>
                <a:latin typeface="Times New Roman" pitchFamily="18" charset="0"/>
                <a:ea typeface="+mn-ea"/>
                <a:cs typeface="+mn-cs"/>
              </a:rPr>
              <a:t>Un </a:t>
            </a:r>
            <a:r>
              <a:rPr lang="es-ES" sz="1200" i="1" kern="1200" dirty="0">
                <a:solidFill>
                  <a:schemeClr val="tx1"/>
                </a:solidFill>
                <a:effectLst/>
                <a:latin typeface="Times New Roman" pitchFamily="18" charset="0"/>
                <a:ea typeface="+mn-ea"/>
                <a:cs typeface="+mn-cs"/>
              </a:rPr>
              <a:t>tenedor </a:t>
            </a:r>
            <a:r>
              <a:rPr lang="es-ES" sz="1200" kern="1200" dirty="0">
                <a:solidFill>
                  <a:schemeClr val="tx1"/>
                </a:solidFill>
                <a:effectLst/>
                <a:latin typeface="Times New Roman" pitchFamily="18" charset="0"/>
                <a:ea typeface="+mn-ea"/>
                <a:cs typeface="+mn-cs"/>
              </a:rPr>
              <a:t>(</a:t>
            </a:r>
            <a:r>
              <a:rPr lang="es-ES" sz="1200" i="1" kern="1200" dirty="0" err="1">
                <a:solidFill>
                  <a:schemeClr val="tx1"/>
                </a:solidFill>
                <a:effectLst/>
                <a:latin typeface="Times New Roman" pitchFamily="18" charset="0"/>
                <a:ea typeface="+mn-ea"/>
                <a:cs typeface="+mn-cs"/>
              </a:rPr>
              <a:t>fork</a:t>
            </a:r>
            <a:r>
              <a:rPr lang="es-ES" sz="1200" kern="1200" dirty="0">
                <a:solidFill>
                  <a:schemeClr val="tx1"/>
                </a:solidFill>
                <a:effectLst/>
                <a:latin typeface="Times New Roman" pitchFamily="18" charset="0"/>
                <a:ea typeface="+mn-ea"/>
                <a:cs typeface="+mn-cs"/>
              </a:rPr>
              <a:t>) representa la separación de actividades en dos o más actividades concurrentes.</a:t>
            </a:r>
          </a:p>
          <a:p>
            <a:r>
              <a:rPr lang="es-ES" sz="1200" kern="1200" dirty="0">
                <a:solidFill>
                  <a:schemeClr val="tx1"/>
                </a:solidFill>
                <a:effectLst/>
                <a:latin typeface="Times New Roman" pitchFamily="18" charset="0"/>
                <a:ea typeface="+mn-ea"/>
                <a:cs typeface="+mn-cs"/>
              </a:rPr>
              <a:t>Se dibuja como una barra negra horizontal con una flecha apuntando hacia ella y dos</a:t>
            </a:r>
          </a:p>
          <a:p>
            <a:r>
              <a:rPr lang="es-ES" sz="1200" kern="1200" dirty="0">
                <a:solidFill>
                  <a:schemeClr val="tx1"/>
                </a:solidFill>
                <a:effectLst/>
                <a:latin typeface="Times New Roman" pitchFamily="18" charset="0"/>
                <a:ea typeface="+mn-ea"/>
                <a:cs typeface="+mn-cs"/>
              </a:rPr>
              <a:t>o más flechas apuntando en sentido opuesto. Cada flecha continua representa un flujo de control</a:t>
            </a:r>
          </a:p>
          <a:p>
            <a:r>
              <a:rPr lang="es-ES" sz="1200" kern="1200" dirty="0">
                <a:solidFill>
                  <a:schemeClr val="tx1"/>
                </a:solidFill>
                <a:effectLst/>
                <a:latin typeface="Times New Roman" pitchFamily="18" charset="0"/>
                <a:ea typeface="+mn-ea"/>
                <a:cs typeface="+mn-cs"/>
              </a:rPr>
              <a:t>que puede ejecutarse de manera concurrente con los flujos correspondientes a las otras</a:t>
            </a:r>
          </a:p>
          <a:p>
            <a:r>
              <a:rPr lang="es-ES" sz="1200" kern="1200" dirty="0">
                <a:solidFill>
                  <a:schemeClr val="tx1"/>
                </a:solidFill>
                <a:effectLst/>
                <a:latin typeface="Times New Roman" pitchFamily="18" charset="0"/>
                <a:ea typeface="+mn-ea"/>
                <a:cs typeface="+mn-cs"/>
              </a:rPr>
              <a:t>flechas continuas. Dichas actividades concurrentes pueden realizarse en una computadora,</a:t>
            </a:r>
          </a:p>
          <a:p>
            <a:r>
              <a:rPr lang="es-ES" sz="1200" kern="1200" dirty="0">
                <a:solidFill>
                  <a:schemeClr val="tx1"/>
                </a:solidFill>
                <a:effectLst/>
                <a:latin typeface="Times New Roman" pitchFamily="18" charset="0"/>
                <a:ea typeface="+mn-ea"/>
                <a:cs typeface="+mn-cs"/>
              </a:rPr>
              <a:t>usando diferentes hebras o incluso diferentes computadoras.</a:t>
            </a:r>
          </a:p>
          <a:p>
            <a:r>
              <a:rPr lang="es-ES" sz="1200" kern="1200" dirty="0">
                <a:solidFill>
                  <a:schemeClr val="tx1"/>
                </a:solidFill>
                <a:effectLst/>
                <a:latin typeface="Times New Roman" pitchFamily="18" charset="0"/>
                <a:ea typeface="+mn-ea"/>
                <a:cs typeface="+mn-cs"/>
              </a:rPr>
              <a:t>Un nodo de </a:t>
            </a:r>
            <a:r>
              <a:rPr lang="es-ES" sz="1200" i="1" kern="1200" dirty="0">
                <a:solidFill>
                  <a:schemeClr val="tx1"/>
                </a:solidFill>
                <a:effectLst/>
                <a:latin typeface="Times New Roman" pitchFamily="18" charset="0"/>
                <a:ea typeface="+mn-ea"/>
                <a:cs typeface="+mn-cs"/>
              </a:rPr>
              <a:t>decisión </a:t>
            </a:r>
            <a:r>
              <a:rPr lang="es-ES" sz="1200" kern="1200" dirty="0">
                <a:solidFill>
                  <a:schemeClr val="tx1"/>
                </a:solidFill>
                <a:effectLst/>
                <a:latin typeface="Times New Roman" pitchFamily="18" charset="0"/>
                <a:ea typeface="+mn-ea"/>
                <a:cs typeface="+mn-cs"/>
              </a:rPr>
              <a:t>corresponde a una rama en el flujo de control con base en una condición.</a:t>
            </a: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52</a:t>
            </a:fld>
            <a:endParaRPr lang="es-ES_tradnl"/>
          </a:p>
        </p:txBody>
      </p:sp>
    </p:spTree>
    <p:extLst>
      <p:ext uri="{BB962C8B-B14F-4D97-AF65-F5344CB8AC3E}">
        <p14:creationId xmlns:p14="http://schemas.microsoft.com/office/powerpoint/2010/main" val="352852124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s-ES" sz="1200" kern="1200" dirty="0">
                <a:solidFill>
                  <a:schemeClr val="tx1"/>
                </a:solidFill>
                <a:effectLst/>
                <a:latin typeface="Times New Roman" pitchFamily="18" charset="0"/>
                <a:ea typeface="+mn-ea"/>
                <a:cs typeface="+mn-cs"/>
              </a:rPr>
              <a:t>Aquí vemos un ejemplo de cómo se modela el problema de la matrícula en un curso con el diagrama de actividades donde el proceso se inicia con la recepción de la solicitud . simultáneamente se verifica al estudiante y si hay disponibilidad del curso(esto se hace por cada curso). Si falla la verificación del estudiante y disponibilidad del curso se cancela la solicitud sino hay éxito se matricula y se actualiza el curso adicionándole un nuevo estudiante .</a:t>
            </a: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53</a:t>
            </a:fld>
            <a:endParaRPr lang="es-ES_tradnl"/>
          </a:p>
        </p:txBody>
      </p:sp>
    </p:spTree>
    <p:extLst>
      <p:ext uri="{BB962C8B-B14F-4D97-AF65-F5344CB8AC3E}">
        <p14:creationId xmlns:p14="http://schemas.microsoft.com/office/powerpoint/2010/main" val="54023451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_tradnl" sz="1200" kern="1200" dirty="0">
                <a:solidFill>
                  <a:schemeClr val="tx1"/>
                </a:solidFill>
                <a:effectLst/>
                <a:latin typeface="Times New Roman" pitchFamily="18" charset="0"/>
                <a:ea typeface="+mn-ea"/>
                <a:cs typeface="+mn-cs"/>
              </a:rPr>
              <a:t>Son diagramas que describen el comportamiento dinámico del sistema. Hay dos tipos:</a:t>
            </a:r>
            <a:endParaRPr lang="es-ES" sz="1200" kern="1200" dirty="0">
              <a:solidFill>
                <a:schemeClr val="tx1"/>
              </a:solidFill>
              <a:effectLst/>
              <a:latin typeface="Times New Roman" pitchFamily="18" charset="0"/>
              <a:ea typeface="+mn-ea"/>
              <a:cs typeface="+mn-cs"/>
            </a:endParaRPr>
          </a:p>
          <a:p>
            <a:r>
              <a:rPr lang="es-ES_tradnl" sz="1200" kern="1200" dirty="0">
                <a:solidFill>
                  <a:schemeClr val="tx1"/>
                </a:solidFill>
                <a:effectLst/>
                <a:latin typeface="Times New Roman" pitchFamily="18" charset="0"/>
                <a:ea typeface="+mn-ea"/>
                <a:cs typeface="+mn-cs"/>
              </a:rPr>
              <a:t>– Diagramas de Secuencia</a:t>
            </a:r>
            <a:endParaRPr lang="es-ES" sz="1200" kern="1200" dirty="0">
              <a:solidFill>
                <a:schemeClr val="tx1"/>
              </a:solidFill>
              <a:effectLst/>
              <a:latin typeface="Times New Roman" pitchFamily="18" charset="0"/>
              <a:ea typeface="+mn-ea"/>
              <a:cs typeface="+mn-cs"/>
            </a:endParaRPr>
          </a:p>
          <a:p>
            <a:r>
              <a:rPr lang="es-ES_tradnl" sz="1200" kern="1200" dirty="0">
                <a:solidFill>
                  <a:schemeClr val="tx1"/>
                </a:solidFill>
                <a:effectLst/>
                <a:latin typeface="Times New Roman" pitchFamily="18" charset="0"/>
                <a:ea typeface="+mn-ea"/>
                <a:cs typeface="+mn-cs"/>
              </a:rPr>
              <a:t>– Diagramas de Colaboración </a:t>
            </a:r>
            <a:endParaRPr lang="es-ES" sz="1200" kern="1200" dirty="0">
              <a:solidFill>
                <a:schemeClr val="tx1"/>
              </a:solidFill>
              <a:effectLst/>
              <a:latin typeface="Times New Roman" pitchFamily="18" charset="0"/>
              <a:ea typeface="+mn-ea"/>
              <a:cs typeface="+mn-cs"/>
            </a:endParaRPr>
          </a:p>
          <a:p>
            <a:r>
              <a:rPr lang="es-ES_tradnl" sz="1200" kern="1200" dirty="0">
                <a:solidFill>
                  <a:schemeClr val="tx1"/>
                </a:solidFill>
                <a:effectLst/>
                <a:latin typeface="Times New Roman" pitchFamily="18" charset="0"/>
                <a:ea typeface="+mn-ea"/>
                <a:cs typeface="+mn-cs"/>
              </a:rPr>
              <a:t>Están compuestos fundamentalmente por:</a:t>
            </a:r>
            <a:endParaRPr lang="es-ES" sz="1200" kern="1200" dirty="0">
              <a:solidFill>
                <a:schemeClr val="tx1"/>
              </a:solidFill>
              <a:effectLst/>
              <a:latin typeface="Times New Roman" pitchFamily="18" charset="0"/>
              <a:ea typeface="+mn-ea"/>
              <a:cs typeface="+mn-cs"/>
            </a:endParaRPr>
          </a:p>
          <a:p>
            <a:r>
              <a:rPr lang="es-ES_tradnl" sz="1200" kern="1200" dirty="0">
                <a:solidFill>
                  <a:schemeClr val="tx1"/>
                </a:solidFill>
                <a:effectLst/>
                <a:latin typeface="Times New Roman" pitchFamily="18" charset="0"/>
                <a:ea typeface="+mn-ea"/>
                <a:cs typeface="+mn-cs"/>
              </a:rPr>
              <a:t>– Objetos</a:t>
            </a:r>
            <a:endParaRPr lang="es-ES" sz="1200" kern="1200" dirty="0">
              <a:solidFill>
                <a:schemeClr val="tx1"/>
              </a:solidFill>
              <a:effectLst/>
              <a:latin typeface="Times New Roman" pitchFamily="18" charset="0"/>
              <a:ea typeface="+mn-ea"/>
              <a:cs typeface="+mn-cs"/>
            </a:endParaRPr>
          </a:p>
          <a:p>
            <a:r>
              <a:rPr lang="es-ES_tradnl" sz="1200" kern="1200" dirty="0">
                <a:solidFill>
                  <a:schemeClr val="tx1"/>
                </a:solidFill>
                <a:effectLst/>
                <a:latin typeface="Times New Roman" pitchFamily="18" charset="0"/>
                <a:ea typeface="+mn-ea"/>
                <a:cs typeface="+mn-cs"/>
              </a:rPr>
              <a:t>– Intercambio de mensajes</a:t>
            </a:r>
            <a:endParaRPr lang="es-ES" sz="1200" kern="1200" dirty="0">
              <a:solidFill>
                <a:schemeClr val="tx1"/>
              </a:solidFill>
              <a:effectLst/>
              <a:latin typeface="Times New Roman" pitchFamily="18" charset="0"/>
              <a:ea typeface="+mn-ea"/>
              <a:cs typeface="+mn-cs"/>
            </a:endParaRPr>
          </a:p>
          <a:p>
            <a:r>
              <a:rPr lang="es-ES_tradnl" sz="1200" kern="1200" dirty="0">
                <a:solidFill>
                  <a:schemeClr val="tx1"/>
                </a:solidFill>
                <a:effectLst/>
                <a:latin typeface="Times New Roman" pitchFamily="18" charset="0"/>
                <a:ea typeface="+mn-ea"/>
                <a:cs typeface="+mn-cs"/>
              </a:rPr>
              <a:t>– Orden o secuencia de invocación de los mensajes</a:t>
            </a:r>
            <a:endParaRPr lang="es-ES" sz="1200" kern="1200" dirty="0">
              <a:solidFill>
                <a:schemeClr val="tx1"/>
              </a:solidFill>
              <a:effectLst/>
              <a:latin typeface="Times New Roman" pitchFamily="18" charset="0"/>
              <a:ea typeface="+mn-ea"/>
              <a:cs typeface="+mn-cs"/>
            </a:endParaRP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54</a:t>
            </a:fld>
            <a:endParaRPr lang="es-ES_tradnl"/>
          </a:p>
        </p:txBody>
      </p:sp>
    </p:spTree>
    <p:extLst>
      <p:ext uri="{BB962C8B-B14F-4D97-AF65-F5344CB8AC3E}">
        <p14:creationId xmlns:p14="http://schemas.microsoft.com/office/powerpoint/2010/main" val="278408334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un </a:t>
            </a:r>
            <a:r>
              <a:rPr lang="es-ES" sz="1200" i="1" kern="1200" dirty="0">
                <a:solidFill>
                  <a:schemeClr val="tx1"/>
                </a:solidFill>
                <a:effectLst/>
                <a:latin typeface="Times New Roman" pitchFamily="18" charset="0"/>
                <a:ea typeface="+mn-ea"/>
                <a:cs typeface="+mn-cs"/>
              </a:rPr>
              <a:t>diagrama de secuencia </a:t>
            </a:r>
            <a:r>
              <a:rPr lang="es-ES" sz="1200" kern="1200" dirty="0">
                <a:solidFill>
                  <a:schemeClr val="tx1"/>
                </a:solidFill>
                <a:effectLst/>
                <a:latin typeface="Times New Roman" pitchFamily="18" charset="0"/>
                <a:ea typeface="+mn-ea"/>
                <a:cs typeface="+mn-cs"/>
              </a:rPr>
              <a:t>se usa para mostrar las comunicaciones dinámicas entre objetos durante la ejecución de una tarea. Este tipo de diagrama muestra el orden temporal en el que los mensajes se envían entre los objetos para</a:t>
            </a:r>
          </a:p>
          <a:p>
            <a:r>
              <a:rPr lang="es-ES" sz="1200" kern="1200" dirty="0">
                <a:solidFill>
                  <a:schemeClr val="tx1"/>
                </a:solidFill>
                <a:effectLst/>
                <a:latin typeface="Times New Roman" pitchFamily="18" charset="0"/>
                <a:ea typeface="+mn-ea"/>
                <a:cs typeface="+mn-cs"/>
              </a:rPr>
              <a:t>lograr dicha tarea. Puede usarse un diagrama de secuencia para mostrar las interacciones en un</a:t>
            </a:r>
          </a:p>
          <a:p>
            <a:r>
              <a:rPr lang="es-ES" sz="1200" kern="1200" dirty="0">
                <a:solidFill>
                  <a:schemeClr val="tx1"/>
                </a:solidFill>
                <a:effectLst/>
                <a:latin typeface="Times New Roman" pitchFamily="18" charset="0"/>
                <a:ea typeface="+mn-ea"/>
                <a:cs typeface="+mn-cs"/>
              </a:rPr>
              <a:t>caso de uso o en un escenario de un sistema de software.</a:t>
            </a:r>
          </a:p>
          <a:p>
            <a:r>
              <a:rPr lang="es-ES" sz="1200" kern="1200" dirty="0">
                <a:solidFill>
                  <a:schemeClr val="tx1"/>
                </a:solidFill>
                <a:effectLst/>
                <a:latin typeface="Times New Roman" pitchFamily="18" charset="0"/>
                <a:ea typeface="+mn-ea"/>
                <a:cs typeface="+mn-cs"/>
              </a:rPr>
              <a:t>un diagrama de secuencia incluye secuencias cronológicas, pero no incluye relaciones de objetos. Este ultimo muestra la secuencia explícita de mensajes y resulta más adecuado cuando lo importante es visualizar el orden temporal de los mensajes. En dicho tipo de diagrama, lo ocurrido antes y después de que pase el periodo de tiempo de la interacción no queda representado.</a:t>
            </a:r>
          </a:p>
          <a:p>
            <a:r>
              <a:rPr lang="es-ES" sz="1200" kern="1200" dirty="0">
                <a:solidFill>
                  <a:schemeClr val="tx1"/>
                </a:solidFill>
                <a:effectLst/>
                <a:latin typeface="Times New Roman" pitchFamily="18" charset="0"/>
                <a:ea typeface="+mn-ea"/>
                <a:cs typeface="+mn-cs"/>
              </a:rPr>
              <a:t>Aunque los mensajes mostrados pueden tener condiciones y precondiciones, estas no son visibles directamente en el diagrama.</a:t>
            </a:r>
          </a:p>
          <a:p>
            <a:r>
              <a:rPr lang="es-ES" sz="1200" kern="1200" dirty="0">
                <a:solidFill>
                  <a:schemeClr val="tx1"/>
                </a:solidFill>
                <a:effectLst/>
                <a:latin typeface="Times New Roman" pitchFamily="18" charset="0"/>
                <a:ea typeface="+mn-ea"/>
                <a:cs typeface="+mn-cs"/>
              </a:rPr>
              <a:t>Al estar basados en la interacción siguiendo un flujo temporal, los diagramas de secuencia muestran</a:t>
            </a:r>
          </a:p>
          <a:p>
            <a:r>
              <a:rPr lang="es-ES" sz="1200" kern="1200" dirty="0">
                <a:solidFill>
                  <a:schemeClr val="tx1"/>
                </a:solidFill>
                <a:effectLst/>
                <a:latin typeface="Times New Roman" pitchFamily="18" charset="0"/>
                <a:ea typeface="+mn-ea"/>
                <a:cs typeface="+mn-cs"/>
              </a:rPr>
              <a:t>una "foto" del sistema, describiendo las interacciones que ocurren en esa parte del mismo en un momento determinado, por lo cual no se recomienda su uso para la representación completa del proceso, tarea para la que son más convenientes otros diagramas como el de casos de uso y el de actividad</a:t>
            </a: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55</a:t>
            </a:fld>
            <a:endParaRPr lang="es-ES_tradnl"/>
          </a:p>
        </p:txBody>
      </p:sp>
    </p:spTree>
    <p:extLst>
      <p:ext uri="{BB962C8B-B14F-4D97-AF65-F5344CB8AC3E}">
        <p14:creationId xmlns:p14="http://schemas.microsoft.com/office/powerpoint/2010/main" val="398361543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El </a:t>
            </a:r>
            <a:r>
              <a:rPr lang="es-ES" sz="1200" i="1" kern="1200" dirty="0">
                <a:solidFill>
                  <a:schemeClr val="tx1"/>
                </a:solidFill>
                <a:effectLst/>
                <a:latin typeface="Times New Roman" pitchFamily="18" charset="0"/>
                <a:ea typeface="+mn-ea"/>
                <a:cs typeface="+mn-cs"/>
              </a:rPr>
              <a:t>diagrama de comunicación </a:t>
            </a:r>
            <a:r>
              <a:rPr lang="es-ES" sz="1200" kern="1200" dirty="0">
                <a:solidFill>
                  <a:schemeClr val="tx1"/>
                </a:solidFill>
                <a:effectLst/>
                <a:latin typeface="Times New Roman" pitchFamily="18" charset="0"/>
                <a:ea typeface="+mn-ea"/>
                <a:cs typeface="+mn-cs"/>
              </a:rPr>
              <a:t>UML (llamado “diagrama de colaboración” en UML 1.X) proporciona</a:t>
            </a:r>
          </a:p>
          <a:p>
            <a:r>
              <a:rPr lang="es-ES" sz="1200" kern="1200" dirty="0">
                <a:solidFill>
                  <a:schemeClr val="tx1"/>
                </a:solidFill>
                <a:effectLst/>
                <a:latin typeface="Times New Roman" pitchFamily="18" charset="0"/>
                <a:ea typeface="+mn-ea"/>
                <a:cs typeface="+mn-cs"/>
              </a:rPr>
              <a:t>otro indicio del orden temporal de las comunicaciones, pero enfatiza las relaciones entre</a:t>
            </a:r>
          </a:p>
          <a:p>
            <a:r>
              <a:rPr lang="es-ES" sz="1200" kern="1200" dirty="0">
                <a:solidFill>
                  <a:schemeClr val="tx1"/>
                </a:solidFill>
                <a:effectLst/>
                <a:latin typeface="Times New Roman" pitchFamily="18" charset="0"/>
                <a:ea typeface="+mn-ea"/>
                <a:cs typeface="+mn-cs"/>
              </a:rPr>
              <a:t>los objetos y clases en lugar del orden temporal</a:t>
            </a:r>
          </a:p>
          <a:p>
            <a:r>
              <a:rPr lang="es-ES" sz="1200" kern="1200" dirty="0">
                <a:solidFill>
                  <a:schemeClr val="tx1"/>
                </a:solidFill>
                <a:effectLst/>
                <a:latin typeface="Times New Roman" pitchFamily="18" charset="0"/>
                <a:ea typeface="+mn-ea"/>
                <a:cs typeface="+mn-cs"/>
              </a:rPr>
              <a:t>En un diagrama de comunicación, los objetos interactuantes se representan mediante rectángulos.</a:t>
            </a:r>
          </a:p>
          <a:p>
            <a:r>
              <a:rPr lang="es-ES" sz="1200" kern="1200" dirty="0">
                <a:solidFill>
                  <a:schemeClr val="tx1"/>
                </a:solidFill>
                <a:effectLst/>
                <a:latin typeface="Times New Roman" pitchFamily="18" charset="0"/>
                <a:ea typeface="+mn-ea"/>
                <a:cs typeface="+mn-cs"/>
              </a:rPr>
              <a:t>Las asociaciones entre objetos lo hacen mediante líneas que conectan los rectángulos.</a:t>
            </a:r>
          </a:p>
          <a:p>
            <a:r>
              <a:rPr lang="es-ES" sz="1200" kern="1200" dirty="0">
                <a:solidFill>
                  <a:schemeClr val="tx1"/>
                </a:solidFill>
                <a:effectLst/>
                <a:latin typeface="Times New Roman" pitchFamily="18" charset="0"/>
                <a:ea typeface="+mn-ea"/>
                <a:cs typeface="+mn-cs"/>
              </a:rPr>
              <a:t>Por lo general, en el diagrama existe una flecha entrante hacia un objeto que comienza la secuencia</a:t>
            </a:r>
          </a:p>
          <a:p>
            <a:r>
              <a:rPr lang="es-ES" sz="1200" kern="1200" dirty="0">
                <a:solidFill>
                  <a:schemeClr val="tx1"/>
                </a:solidFill>
                <a:effectLst/>
                <a:latin typeface="Times New Roman" pitchFamily="18" charset="0"/>
                <a:ea typeface="+mn-ea"/>
                <a:cs typeface="+mn-cs"/>
              </a:rPr>
              <a:t>de pase de mensaje. Esa flecha se etiqueta con un número y un nombre de mensaje. Si</a:t>
            </a:r>
          </a:p>
          <a:p>
            <a:r>
              <a:rPr lang="es-ES" sz="1200" kern="1200" dirty="0">
                <a:solidFill>
                  <a:schemeClr val="tx1"/>
                </a:solidFill>
                <a:effectLst/>
                <a:latin typeface="Times New Roman" pitchFamily="18" charset="0"/>
                <a:ea typeface="+mn-ea"/>
                <a:cs typeface="+mn-cs"/>
              </a:rPr>
              <a:t>el mensaje entrante se etiqueta con el número 1 y si hace que el objeto receptor invoque otros</a:t>
            </a:r>
          </a:p>
          <a:p>
            <a:r>
              <a:rPr lang="es-ES" sz="1200" kern="1200" dirty="0">
                <a:solidFill>
                  <a:schemeClr val="tx1"/>
                </a:solidFill>
                <a:effectLst/>
                <a:latin typeface="Times New Roman" pitchFamily="18" charset="0"/>
                <a:ea typeface="+mn-ea"/>
                <a:cs typeface="+mn-cs"/>
              </a:rPr>
              <a:t>mensajes en otros objetos, entonces los mencionados mensajes se representan mediante flechas</a:t>
            </a:r>
          </a:p>
          <a:p>
            <a:r>
              <a:rPr lang="es-ES" sz="1200" kern="1200" dirty="0">
                <a:solidFill>
                  <a:schemeClr val="tx1"/>
                </a:solidFill>
                <a:effectLst/>
                <a:latin typeface="Times New Roman" pitchFamily="18" charset="0"/>
                <a:ea typeface="+mn-ea"/>
                <a:cs typeface="+mn-cs"/>
              </a:rPr>
              <a:t>desde el emisor hacia el receptor a lo largo de una línea de asociación y reciben números</a:t>
            </a:r>
          </a:p>
          <a:p>
            <a:r>
              <a:rPr lang="es-ES" sz="1200" kern="1200" dirty="0">
                <a:solidFill>
                  <a:schemeClr val="tx1"/>
                </a:solidFill>
                <a:effectLst/>
                <a:latin typeface="Times New Roman" pitchFamily="18" charset="0"/>
                <a:ea typeface="+mn-ea"/>
                <a:cs typeface="+mn-cs"/>
              </a:rPr>
              <a:t>1.1, 1.2, etc., en el orden en el que se llaman. Si tales mensajes a su vez invocan otros mensajes,</a:t>
            </a:r>
          </a:p>
          <a:p>
            <a:r>
              <a:rPr lang="es-ES" sz="1200" kern="1200" dirty="0">
                <a:solidFill>
                  <a:schemeClr val="tx1"/>
                </a:solidFill>
                <a:effectLst/>
                <a:latin typeface="Times New Roman" pitchFamily="18" charset="0"/>
                <a:ea typeface="+mn-ea"/>
                <a:cs typeface="+mn-cs"/>
              </a:rPr>
              <a:t>se agrega otro punto decimal y otro número al número que etiqueta dichos mensajes para indicar</a:t>
            </a:r>
          </a:p>
          <a:p>
            <a:r>
              <a:rPr lang="es-ES" sz="1200" kern="1200" dirty="0">
                <a:solidFill>
                  <a:schemeClr val="tx1"/>
                </a:solidFill>
                <a:effectLst/>
                <a:latin typeface="Times New Roman" pitchFamily="18" charset="0"/>
                <a:ea typeface="+mn-ea"/>
                <a:cs typeface="+mn-cs"/>
              </a:rPr>
              <a:t>un anidado posterior del pase de mensaje..</a:t>
            </a:r>
          </a:p>
          <a:p>
            <a:r>
              <a:rPr lang="es-ES" sz="1200" kern="1200" dirty="0">
                <a:solidFill>
                  <a:schemeClr val="tx1"/>
                </a:solidFill>
                <a:effectLst/>
                <a:latin typeface="Times New Roman" pitchFamily="18" charset="0"/>
                <a:ea typeface="+mn-ea"/>
                <a:cs typeface="+mn-cs"/>
              </a:rPr>
              <a:t>Si uno está interesado en mostrar las relaciones entre los objetos, además de los mensajes</a:t>
            </a:r>
          </a:p>
          <a:p>
            <a:r>
              <a:rPr lang="es-ES" sz="1200" kern="1200" dirty="0">
                <a:solidFill>
                  <a:schemeClr val="tx1"/>
                </a:solidFill>
                <a:effectLst/>
                <a:latin typeface="Times New Roman" pitchFamily="18" charset="0"/>
                <a:ea typeface="+mn-ea"/>
                <a:cs typeface="+mn-cs"/>
              </a:rPr>
              <a:t>que se envíen entre ellos, probablemente el diagrama de comunicación es una mejor opción</a:t>
            </a:r>
          </a:p>
          <a:p>
            <a:r>
              <a:rPr lang="es-ES" sz="1200" kern="1200" dirty="0">
                <a:solidFill>
                  <a:schemeClr val="tx1"/>
                </a:solidFill>
                <a:effectLst/>
                <a:latin typeface="Times New Roman" pitchFamily="18" charset="0"/>
                <a:ea typeface="+mn-ea"/>
                <a:cs typeface="+mn-cs"/>
              </a:rPr>
              <a:t>que el diagrama de secuencia. Si está más interesado en el orden temporal del paso de</a:t>
            </a:r>
          </a:p>
          <a:p>
            <a:r>
              <a:rPr lang="es-ES" sz="1200" kern="1200" dirty="0">
                <a:solidFill>
                  <a:schemeClr val="tx1"/>
                </a:solidFill>
                <a:effectLst/>
                <a:latin typeface="Times New Roman" pitchFamily="18" charset="0"/>
                <a:ea typeface="+mn-ea"/>
                <a:cs typeface="+mn-cs"/>
              </a:rPr>
              <a:t>mensajes, entonces un diagrama de secuencia probablemente es mejor.</a:t>
            </a: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56</a:t>
            </a:fld>
            <a:endParaRPr lang="es-ES_tradnl"/>
          </a:p>
        </p:txBody>
      </p:sp>
    </p:spTree>
    <p:extLst>
      <p:ext uri="{BB962C8B-B14F-4D97-AF65-F5344CB8AC3E}">
        <p14:creationId xmlns:p14="http://schemas.microsoft.com/office/powerpoint/2010/main" val="17750874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El diagrama de máquina de estados o, más comúnmente llamado, el diagrama de estados es un</a:t>
            </a:r>
          </a:p>
          <a:p>
            <a:r>
              <a:rPr lang="es-ES" sz="1200" kern="1200" dirty="0">
                <a:solidFill>
                  <a:schemeClr val="tx1"/>
                </a:solidFill>
                <a:effectLst/>
                <a:latin typeface="Times New Roman" pitchFamily="18" charset="0"/>
                <a:ea typeface="+mn-ea"/>
                <a:cs typeface="+mn-cs"/>
              </a:rPr>
              <a:t>diagrama de comportamiento usado para especificar el comportamiento de una parte del</a:t>
            </a:r>
          </a:p>
          <a:p>
            <a:r>
              <a:rPr lang="es-ES" sz="1200" kern="1200" dirty="0">
                <a:solidFill>
                  <a:schemeClr val="tx1"/>
                </a:solidFill>
                <a:effectLst/>
                <a:latin typeface="Times New Roman" pitchFamily="18" charset="0"/>
                <a:ea typeface="+mn-ea"/>
                <a:cs typeface="+mn-cs"/>
              </a:rPr>
              <a:t>sistema diseñado a través de transiciones de estados finitos. Es utilizado para mostrar los estados</a:t>
            </a:r>
          </a:p>
          <a:p>
            <a:r>
              <a:rPr lang="es-ES" sz="1200" kern="1200" dirty="0">
                <a:solidFill>
                  <a:schemeClr val="tx1"/>
                </a:solidFill>
                <a:effectLst/>
                <a:latin typeface="Times New Roman" pitchFamily="18" charset="0"/>
                <a:ea typeface="+mn-ea"/>
                <a:cs typeface="+mn-cs"/>
              </a:rPr>
              <a:t>por los que pasa un componente de un sistema de información.</a:t>
            </a:r>
          </a:p>
          <a:p>
            <a:r>
              <a:rPr lang="es-ES" sz="1200" kern="1200" dirty="0">
                <a:solidFill>
                  <a:schemeClr val="tx1"/>
                </a:solidFill>
                <a:effectLst/>
                <a:latin typeface="Times New Roman" pitchFamily="18" charset="0"/>
                <a:ea typeface="+mn-ea"/>
                <a:cs typeface="+mn-cs"/>
              </a:rPr>
              <a:t>El comportamiento se modela utilizando una serie de nodos que representan estados y que están</a:t>
            </a:r>
          </a:p>
          <a:p>
            <a:r>
              <a:rPr lang="es-ES" sz="1200" kern="1200" dirty="0">
                <a:solidFill>
                  <a:schemeClr val="tx1"/>
                </a:solidFill>
                <a:effectLst/>
                <a:latin typeface="Times New Roman" pitchFamily="18" charset="0"/>
                <a:ea typeface="+mn-ea"/>
                <a:cs typeface="+mn-cs"/>
              </a:rPr>
              <a:t>conectados a través de las llamadas transiciones. Estas transiciones se activan a través de</a:t>
            </a:r>
          </a:p>
          <a:p>
            <a:r>
              <a:rPr lang="es-ES" sz="1200" kern="1200" dirty="0">
                <a:solidFill>
                  <a:schemeClr val="tx1"/>
                </a:solidFill>
                <a:effectLst/>
                <a:latin typeface="Times New Roman" pitchFamily="18" charset="0"/>
                <a:ea typeface="+mn-ea"/>
                <a:cs typeface="+mn-cs"/>
              </a:rPr>
              <a:t>eventos.</a:t>
            </a:r>
          </a:p>
          <a:p>
            <a:r>
              <a:rPr lang="es-ES" sz="1200" kern="1200" dirty="0">
                <a:solidFill>
                  <a:schemeClr val="tx1"/>
                </a:solidFill>
                <a:effectLst/>
                <a:latin typeface="Times New Roman" pitchFamily="18" charset="0"/>
                <a:ea typeface="+mn-ea"/>
                <a:cs typeface="+mn-cs"/>
              </a:rPr>
              <a:t>Son ideales para representar esquemas de uso interactivo.</a:t>
            </a:r>
          </a:p>
          <a:p>
            <a:r>
              <a:rPr lang="es-ES" sz="1200" kern="1200" dirty="0">
                <a:solidFill>
                  <a:schemeClr val="tx1"/>
                </a:solidFill>
                <a:effectLst/>
                <a:latin typeface="Times New Roman" pitchFamily="18" charset="0"/>
                <a:ea typeface="+mn-ea"/>
                <a:cs typeface="+mn-cs"/>
              </a:rPr>
              <a:t>Permite que el analista se centre en las necesidades del usuario el cual hará uso del sistema</a:t>
            </a:r>
          </a:p>
          <a:p>
            <a:r>
              <a:rPr lang="es-ES" sz="1200" kern="1200" dirty="0">
                <a:solidFill>
                  <a:schemeClr val="tx1"/>
                </a:solidFill>
                <a:effectLst/>
                <a:latin typeface="Times New Roman" pitchFamily="18" charset="0"/>
                <a:ea typeface="+mn-ea"/>
                <a:cs typeface="+mn-cs"/>
              </a:rPr>
              <a:t>ya que describe el actuar de las funcionalidades.</a:t>
            </a:r>
          </a:p>
          <a:p>
            <a:r>
              <a:rPr lang="es-ES" sz="1200" kern="1200" dirty="0">
                <a:solidFill>
                  <a:schemeClr val="tx1"/>
                </a:solidFill>
                <a:effectLst/>
                <a:latin typeface="Times New Roman" pitchFamily="18" charset="0"/>
                <a:ea typeface="+mn-ea"/>
                <a:cs typeface="+mn-cs"/>
              </a:rPr>
              <a:t>El analista puede concluir cuales son los casos de uso o funcionalidades que le aportan</a:t>
            </a:r>
          </a:p>
          <a:p>
            <a:r>
              <a:rPr lang="es-ES" sz="1200" kern="1200" dirty="0">
                <a:solidFill>
                  <a:schemeClr val="tx1"/>
                </a:solidFill>
                <a:effectLst/>
                <a:latin typeface="Times New Roman" pitchFamily="18" charset="0"/>
                <a:ea typeface="+mn-ea"/>
                <a:cs typeface="+mn-cs"/>
              </a:rPr>
              <a:t>mayor valor al sistema y así priorizar ciertos requerimientos.</a:t>
            </a: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57</a:t>
            </a:fld>
            <a:endParaRPr lang="es-ES_tradnl"/>
          </a:p>
        </p:txBody>
      </p:sp>
    </p:spTree>
    <p:extLst>
      <p:ext uri="{BB962C8B-B14F-4D97-AF65-F5344CB8AC3E}">
        <p14:creationId xmlns:p14="http://schemas.microsoft.com/office/powerpoint/2010/main" val="64179010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Un diagrama de estado muestra los estados mediante rectángulos redondeados, cada uno de los cuales tiene</a:t>
            </a:r>
          </a:p>
          <a:p>
            <a:r>
              <a:rPr lang="es-ES" sz="1200" kern="1200" dirty="0">
                <a:solidFill>
                  <a:schemeClr val="tx1"/>
                </a:solidFill>
                <a:effectLst/>
                <a:latin typeface="Times New Roman" pitchFamily="18" charset="0"/>
                <a:ea typeface="+mn-ea"/>
                <a:cs typeface="+mn-cs"/>
              </a:rPr>
              <a:t>un nombre en su mitad superior. También existe un círculo llamado “</a:t>
            </a:r>
            <a:r>
              <a:rPr lang="es-ES" sz="1200" kern="1200" dirty="0" err="1">
                <a:solidFill>
                  <a:schemeClr val="tx1"/>
                </a:solidFill>
                <a:effectLst/>
                <a:latin typeface="Times New Roman" pitchFamily="18" charset="0"/>
                <a:ea typeface="+mn-ea"/>
                <a:cs typeface="+mn-cs"/>
              </a:rPr>
              <a:t>pseudoestado</a:t>
            </a:r>
            <a:r>
              <a:rPr lang="es-ES" sz="1200" kern="1200" dirty="0">
                <a:solidFill>
                  <a:schemeClr val="tx1"/>
                </a:solidFill>
                <a:effectLst/>
                <a:latin typeface="Times New Roman" pitchFamily="18" charset="0"/>
                <a:ea typeface="+mn-ea"/>
                <a:cs typeface="+mn-cs"/>
              </a:rPr>
              <a:t> inicial”, que</a:t>
            </a:r>
          </a:p>
          <a:p>
            <a:r>
              <a:rPr lang="es-ES" sz="1200" kern="1200" dirty="0">
                <a:solidFill>
                  <a:schemeClr val="tx1"/>
                </a:solidFill>
                <a:effectLst/>
                <a:latin typeface="Times New Roman" pitchFamily="18" charset="0"/>
                <a:ea typeface="+mn-ea"/>
                <a:cs typeface="+mn-cs"/>
              </a:rPr>
              <a:t>en realidad no es un estado y en vez de ello sólo apunta al estado inicial.</a:t>
            </a:r>
          </a:p>
          <a:p>
            <a:r>
              <a:rPr lang="es-ES" sz="1200" kern="1200" dirty="0">
                <a:solidFill>
                  <a:schemeClr val="tx1"/>
                </a:solidFill>
                <a:effectLst/>
                <a:latin typeface="Times New Roman" pitchFamily="18" charset="0"/>
                <a:ea typeface="+mn-ea"/>
                <a:cs typeface="+mn-cs"/>
              </a:rPr>
              <a:t>Las flechas de un estado a otro estado indican transiciones o cambios en el estado del objeto. Cada transición se etiqueta con un evento disparador, una diagonal (/) y una actividad. Todas las partes de las etiquetas de transición son opcionales en los diagramas de estado. Si el objeto está en un estado y el evento disparador ocurre para una</a:t>
            </a:r>
          </a:p>
          <a:p>
            <a:r>
              <a:rPr lang="es-ES" sz="1200" kern="1200" dirty="0">
                <a:solidFill>
                  <a:schemeClr val="tx1"/>
                </a:solidFill>
                <a:effectLst/>
                <a:latin typeface="Times New Roman" pitchFamily="18" charset="0"/>
                <a:ea typeface="+mn-ea"/>
                <a:cs typeface="+mn-cs"/>
              </a:rPr>
              <a:t>de sus transiciones, entonces se realiza dicha actividad de transición y el objeto toma un nuevo</a:t>
            </a:r>
          </a:p>
          <a:p>
            <a:r>
              <a:rPr lang="es-ES" sz="1200" kern="1200" dirty="0">
                <a:solidFill>
                  <a:schemeClr val="tx1"/>
                </a:solidFill>
                <a:effectLst/>
                <a:latin typeface="Times New Roman" pitchFamily="18" charset="0"/>
                <a:ea typeface="+mn-ea"/>
                <a:cs typeface="+mn-cs"/>
              </a:rPr>
              <a:t>estado, indicado por la transición</a:t>
            </a:r>
          </a:p>
          <a:p>
            <a:r>
              <a:rPr lang="es-ES" sz="1200" kern="1200" dirty="0">
                <a:solidFill>
                  <a:schemeClr val="tx1"/>
                </a:solidFill>
                <a:effectLst/>
                <a:latin typeface="Times New Roman" pitchFamily="18" charset="0"/>
                <a:ea typeface="+mn-ea"/>
                <a:cs typeface="+mn-cs"/>
              </a:rPr>
              <a:t>Un objeto puede transitar a un estado final, lo que se indica mediante un círculo negro con</a:t>
            </a:r>
          </a:p>
          <a:p>
            <a:r>
              <a:rPr lang="es-ES" sz="1200" kern="1200" dirty="0">
                <a:solidFill>
                  <a:schemeClr val="tx1"/>
                </a:solidFill>
                <a:effectLst/>
                <a:latin typeface="Times New Roman" pitchFamily="18" charset="0"/>
                <a:ea typeface="+mn-ea"/>
                <a:cs typeface="+mn-cs"/>
              </a:rPr>
              <a:t>un círculo blanco alrededor de él, lo que indica que ya no hay más transiciones</a:t>
            </a: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58</a:t>
            </a:fld>
            <a:endParaRPr lang="es-ES_tradnl"/>
          </a:p>
        </p:txBody>
      </p:sp>
    </p:spTree>
    <p:extLst>
      <p:ext uri="{BB962C8B-B14F-4D97-AF65-F5344CB8AC3E}">
        <p14:creationId xmlns:p14="http://schemas.microsoft.com/office/powerpoint/2010/main" val="164016861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_tradnl" sz="1200" kern="1200" dirty="0">
                <a:solidFill>
                  <a:schemeClr val="tx1"/>
                </a:solidFill>
                <a:effectLst/>
                <a:latin typeface="Times New Roman" pitchFamily="18" charset="0"/>
                <a:ea typeface="+mn-ea"/>
                <a:cs typeface="+mn-cs"/>
              </a:rPr>
              <a:t>Proyectar el diagrama de estado para la Selección de Curso</a:t>
            </a:r>
            <a:endParaRPr lang="es-ES" sz="1200" kern="1200" dirty="0">
              <a:solidFill>
                <a:schemeClr val="tx1"/>
              </a:solidFill>
              <a:effectLst/>
              <a:latin typeface="Times New Roman" pitchFamily="18" charset="0"/>
              <a:ea typeface="+mn-ea"/>
              <a:cs typeface="+mn-cs"/>
            </a:endParaRPr>
          </a:p>
          <a:p>
            <a:r>
              <a:rPr lang="es-ES_tradnl" sz="1200" kern="1200" dirty="0">
                <a:solidFill>
                  <a:schemeClr val="tx1"/>
                </a:solidFill>
                <a:effectLst/>
                <a:latin typeface="Times New Roman" pitchFamily="18" charset="0"/>
                <a:ea typeface="+mn-ea"/>
                <a:cs typeface="+mn-cs"/>
              </a:rPr>
              <a:t>“El sistema </a:t>
            </a:r>
            <a:r>
              <a:rPr lang="es-ES_tradnl" sz="1200" kern="1200" dirty="0" err="1">
                <a:solidFill>
                  <a:schemeClr val="tx1"/>
                </a:solidFill>
                <a:effectLst/>
                <a:latin typeface="Times New Roman" pitchFamily="18" charset="0"/>
                <a:ea typeface="+mn-ea"/>
                <a:cs typeface="+mn-cs"/>
              </a:rPr>
              <a:t>debera</a:t>
            </a:r>
            <a:r>
              <a:rPr lang="es-ES_tradnl" sz="1200" kern="1200" dirty="0">
                <a:solidFill>
                  <a:schemeClr val="tx1"/>
                </a:solidFill>
                <a:effectLst/>
                <a:latin typeface="Times New Roman" pitchFamily="18" charset="0"/>
                <a:ea typeface="+mn-ea"/>
                <a:cs typeface="+mn-cs"/>
              </a:rPr>
              <a:t> </a:t>
            </a:r>
            <a:r>
              <a:rPr lang="es-ES_tradnl" sz="1200" kern="1200" dirty="0" err="1">
                <a:solidFill>
                  <a:schemeClr val="tx1"/>
                </a:solidFill>
                <a:effectLst/>
                <a:latin typeface="Times New Roman" pitchFamily="18" charset="0"/>
                <a:ea typeface="+mn-ea"/>
                <a:cs typeface="+mn-cs"/>
              </a:rPr>
              <a:t>perimitir</a:t>
            </a:r>
            <a:r>
              <a:rPr lang="es-ES_tradnl" sz="1200" kern="1200" dirty="0">
                <a:solidFill>
                  <a:schemeClr val="tx1"/>
                </a:solidFill>
                <a:effectLst/>
                <a:latin typeface="Times New Roman" pitchFamily="18" charset="0"/>
                <a:ea typeface="+mn-ea"/>
                <a:cs typeface="+mn-cs"/>
              </a:rPr>
              <a:t> al estudiante seleccionar cuatro cursos entre los disponibles. Adicionalmente indicara dos alternativas</a:t>
            </a:r>
            <a:endParaRPr lang="es-ES" sz="1200" kern="1200" dirty="0">
              <a:solidFill>
                <a:schemeClr val="tx1"/>
              </a:solidFill>
              <a:effectLst/>
              <a:latin typeface="Times New Roman" pitchFamily="18" charset="0"/>
              <a:ea typeface="+mn-ea"/>
              <a:cs typeface="+mn-cs"/>
            </a:endParaRP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59</a:t>
            </a:fld>
            <a:endParaRPr lang="es-ES_tradnl"/>
          </a:p>
        </p:txBody>
      </p:sp>
    </p:spTree>
    <p:extLst>
      <p:ext uri="{BB962C8B-B14F-4D97-AF65-F5344CB8AC3E}">
        <p14:creationId xmlns:p14="http://schemas.microsoft.com/office/powerpoint/2010/main" val="56229994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s-ES" sz="1200" kern="1200" dirty="0">
                <a:solidFill>
                  <a:schemeClr val="tx1"/>
                </a:solidFill>
                <a:effectLst/>
                <a:latin typeface="Times New Roman" pitchFamily="18" charset="0"/>
                <a:ea typeface="+mn-ea"/>
                <a:cs typeface="+mn-cs"/>
              </a:rPr>
              <a:t>Aquí vemos una posible solución </a:t>
            </a: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60</a:t>
            </a:fld>
            <a:endParaRPr lang="es-ES_tradnl"/>
          </a:p>
        </p:txBody>
      </p:sp>
    </p:spTree>
    <p:extLst>
      <p:ext uri="{BB962C8B-B14F-4D97-AF65-F5344CB8AC3E}">
        <p14:creationId xmlns:p14="http://schemas.microsoft.com/office/powerpoint/2010/main" val="121362842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lvl="0"/>
            <a:r>
              <a:rPr lang="es-ES_tradnl" sz="1200" kern="1200" dirty="0">
                <a:solidFill>
                  <a:schemeClr val="tx1"/>
                </a:solidFill>
                <a:effectLst/>
                <a:latin typeface="Times New Roman" pitchFamily="18" charset="0"/>
                <a:ea typeface="+mn-ea"/>
                <a:cs typeface="+mn-cs"/>
              </a:rPr>
              <a:t>Adecuados para la descripción de la arquitectura del software</a:t>
            </a:r>
            <a:endParaRPr lang="es-ES" sz="1200" kern="1200" dirty="0">
              <a:solidFill>
                <a:schemeClr val="tx1"/>
              </a:solidFill>
              <a:effectLst/>
              <a:latin typeface="Times New Roman" pitchFamily="18" charset="0"/>
              <a:ea typeface="+mn-ea"/>
              <a:cs typeface="+mn-cs"/>
            </a:endParaRPr>
          </a:p>
          <a:p>
            <a:pPr lvl="0"/>
            <a:r>
              <a:rPr lang="es-ES_tradnl" sz="1200" kern="1200" dirty="0">
                <a:solidFill>
                  <a:schemeClr val="tx1"/>
                </a:solidFill>
                <a:effectLst/>
                <a:latin typeface="Times New Roman" pitchFamily="18" charset="0"/>
                <a:ea typeface="+mn-ea"/>
                <a:cs typeface="+mn-cs"/>
              </a:rPr>
              <a:t>Tiene utilidad inmediata en la organización del trabajo y a mas largo plazo en la implementación</a:t>
            </a:r>
          </a:p>
          <a:p>
            <a:pPr lvl="0"/>
            <a:endParaRPr lang="es-ES_tradnl" sz="1200" kern="1200" dirty="0">
              <a:solidFill>
                <a:schemeClr val="tx1"/>
              </a:solidFill>
              <a:effectLst/>
              <a:latin typeface="Times New Roman" pitchFamily="18" charset="0"/>
              <a:ea typeface="+mn-ea"/>
              <a:cs typeface="+mn-cs"/>
            </a:endParaRPr>
          </a:p>
          <a:p>
            <a:pPr lvl="0"/>
            <a:r>
              <a:rPr lang="es-ES_tradnl" sz="1200" kern="1200" dirty="0">
                <a:solidFill>
                  <a:schemeClr val="tx1"/>
                </a:solidFill>
                <a:effectLst/>
                <a:latin typeface="Times New Roman" pitchFamily="18" charset="0"/>
                <a:ea typeface="+mn-ea"/>
                <a:cs typeface="+mn-cs"/>
              </a:rPr>
              <a:t>Colección de componentes y los subsistemas de implementación que las contienen</a:t>
            </a:r>
            <a:endParaRPr lang="es-ES" sz="1200" kern="1200" dirty="0">
              <a:solidFill>
                <a:schemeClr val="tx1"/>
              </a:solidFill>
              <a:effectLst/>
              <a:latin typeface="Times New Roman" pitchFamily="18" charset="0"/>
              <a:ea typeface="+mn-ea"/>
              <a:cs typeface="+mn-cs"/>
            </a:endParaRPr>
          </a:p>
          <a:p>
            <a:pPr lvl="0"/>
            <a:r>
              <a:rPr lang="es-ES_tradnl" sz="1200" kern="1200" dirty="0">
                <a:solidFill>
                  <a:schemeClr val="tx1"/>
                </a:solidFill>
                <a:effectLst/>
                <a:latin typeface="Times New Roman" pitchFamily="18" charset="0"/>
                <a:ea typeface="+mn-ea"/>
                <a:cs typeface="+mn-cs"/>
              </a:rPr>
              <a:t> Describen como están organizados y sus dependencias</a:t>
            </a:r>
            <a:endParaRPr lang="es-ES" sz="1200" kern="1200" dirty="0">
              <a:solidFill>
                <a:schemeClr val="tx1"/>
              </a:solidFill>
              <a:effectLst/>
              <a:latin typeface="Times New Roman" pitchFamily="18" charset="0"/>
              <a:ea typeface="+mn-ea"/>
              <a:cs typeface="+mn-cs"/>
            </a:endParaRPr>
          </a:p>
          <a:p>
            <a:pPr lvl="0"/>
            <a:r>
              <a:rPr lang="es-ES_tradnl" sz="1200" kern="1200" dirty="0">
                <a:solidFill>
                  <a:schemeClr val="tx1"/>
                </a:solidFill>
                <a:effectLst/>
                <a:latin typeface="Times New Roman" pitchFamily="18" charset="0"/>
                <a:ea typeface="+mn-ea"/>
                <a:cs typeface="+mn-cs"/>
              </a:rPr>
              <a:t> Expresan el comportamiento de las componentes definiéndoles interfaces</a:t>
            </a:r>
            <a:endParaRPr lang="es-ES" sz="1200" kern="1200" dirty="0">
              <a:solidFill>
                <a:schemeClr val="tx1"/>
              </a:solidFill>
              <a:effectLst/>
              <a:latin typeface="Times New Roman" pitchFamily="18" charset="0"/>
              <a:ea typeface="+mn-ea"/>
              <a:cs typeface="+mn-cs"/>
            </a:endParaRPr>
          </a:p>
          <a:p>
            <a:pPr lvl="0"/>
            <a:endParaRPr lang="es-ES" sz="1200" kern="1200" dirty="0">
              <a:solidFill>
                <a:schemeClr val="tx1"/>
              </a:solidFill>
              <a:effectLst/>
              <a:latin typeface="Times New Roman" pitchFamily="18" charset="0"/>
              <a:ea typeface="+mn-ea"/>
              <a:cs typeface="+mn-cs"/>
            </a:endParaRP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61</a:t>
            </a:fld>
            <a:endParaRPr lang="es-ES_tradnl"/>
          </a:p>
        </p:txBody>
      </p:sp>
    </p:spTree>
    <p:extLst>
      <p:ext uri="{BB962C8B-B14F-4D97-AF65-F5344CB8AC3E}">
        <p14:creationId xmlns:p14="http://schemas.microsoft.com/office/powerpoint/2010/main" val="216453625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Los elementos que componen este diagrama son </a:t>
            </a:r>
          </a:p>
          <a:p>
            <a:pPr lvl="0"/>
            <a:r>
              <a:rPr lang="es-ES_tradnl" sz="1200" kern="1200" dirty="0" err="1">
                <a:solidFill>
                  <a:schemeClr val="tx1"/>
                </a:solidFill>
                <a:effectLst/>
                <a:latin typeface="Times New Roman" pitchFamily="18" charset="0"/>
                <a:ea typeface="+mn-ea"/>
                <a:cs typeface="+mn-cs"/>
              </a:rPr>
              <a:t>Packages</a:t>
            </a:r>
            <a:r>
              <a:rPr lang="es-ES_tradnl" sz="1200" kern="1200" dirty="0">
                <a:solidFill>
                  <a:schemeClr val="tx1"/>
                </a:solidFill>
                <a:effectLst/>
                <a:latin typeface="Times New Roman" pitchFamily="18" charset="0"/>
                <a:ea typeface="+mn-ea"/>
                <a:cs typeface="+mn-cs"/>
              </a:rPr>
              <a:t>: son </a:t>
            </a:r>
            <a:r>
              <a:rPr lang="es-ES_tradnl" sz="1200" kern="1200" dirty="0" err="1">
                <a:solidFill>
                  <a:schemeClr val="tx1"/>
                </a:solidFill>
                <a:effectLst/>
                <a:latin typeface="Times New Roman" pitchFamily="18" charset="0"/>
                <a:ea typeface="+mn-ea"/>
                <a:cs typeface="+mn-cs"/>
              </a:rPr>
              <a:t>clusters</a:t>
            </a:r>
            <a:r>
              <a:rPr lang="es-ES_tradnl" sz="1200" kern="1200" dirty="0">
                <a:solidFill>
                  <a:schemeClr val="tx1"/>
                </a:solidFill>
                <a:effectLst/>
                <a:latin typeface="Times New Roman" pitchFamily="18" charset="0"/>
                <a:ea typeface="+mn-ea"/>
                <a:cs typeface="+mn-cs"/>
              </a:rPr>
              <a:t> de componentes lógicamente relacionadas</a:t>
            </a:r>
            <a:endParaRPr lang="es-ES" sz="1200" kern="1200" dirty="0">
              <a:solidFill>
                <a:schemeClr val="tx1"/>
              </a:solidFill>
              <a:effectLst/>
              <a:latin typeface="Times New Roman" pitchFamily="18" charset="0"/>
              <a:ea typeface="+mn-ea"/>
              <a:cs typeface="+mn-cs"/>
            </a:endParaRPr>
          </a:p>
          <a:p>
            <a:pPr lvl="0"/>
            <a:r>
              <a:rPr lang="es-ES_tradnl" sz="1200" kern="1200" dirty="0">
                <a:solidFill>
                  <a:schemeClr val="tx1"/>
                </a:solidFill>
                <a:effectLst/>
                <a:latin typeface="Times New Roman" pitchFamily="18" charset="0"/>
                <a:ea typeface="+mn-ea"/>
                <a:cs typeface="+mn-cs"/>
              </a:rPr>
              <a:t> Componentes: Modulo de software con interfaces bien definidas</a:t>
            </a:r>
            <a:endParaRPr lang="es-ES" sz="1200" kern="1200" dirty="0">
              <a:solidFill>
                <a:schemeClr val="tx1"/>
              </a:solidFill>
              <a:effectLst/>
              <a:latin typeface="Times New Roman" pitchFamily="18" charset="0"/>
              <a:ea typeface="+mn-ea"/>
              <a:cs typeface="+mn-cs"/>
            </a:endParaRPr>
          </a:p>
          <a:p>
            <a:pPr lvl="0"/>
            <a:r>
              <a:rPr lang="es-ES_tradnl" sz="1200" kern="1200" dirty="0">
                <a:solidFill>
                  <a:schemeClr val="tx1"/>
                </a:solidFill>
                <a:effectLst/>
                <a:latin typeface="Times New Roman" pitchFamily="18" charset="0"/>
                <a:ea typeface="+mn-ea"/>
                <a:cs typeface="+mn-cs"/>
              </a:rPr>
              <a:t>Relaciones: Si es entre dos componentes es una dependencia de compilación  si es entre una componente y la interfaz de otra es una relación de cliente-de</a:t>
            </a:r>
            <a:endParaRPr lang="es-ES" sz="1200" kern="1200" dirty="0">
              <a:solidFill>
                <a:schemeClr val="tx1"/>
              </a:solidFill>
              <a:effectLst/>
              <a:latin typeface="Times New Roman" pitchFamily="18" charset="0"/>
              <a:ea typeface="+mn-ea"/>
              <a:cs typeface="+mn-cs"/>
            </a:endParaRP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62</a:t>
            </a:fld>
            <a:endParaRPr lang="es-ES_tradnl"/>
          </a:p>
        </p:txBody>
      </p:sp>
    </p:spTree>
    <p:extLst>
      <p:ext uri="{BB962C8B-B14F-4D97-AF65-F5344CB8AC3E}">
        <p14:creationId xmlns:p14="http://schemas.microsoft.com/office/powerpoint/2010/main" val="350447173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sz="1200" kern="1200" dirty="0">
                <a:solidFill>
                  <a:schemeClr val="tx1"/>
                </a:solidFill>
                <a:effectLst/>
                <a:latin typeface="Times New Roman" pitchFamily="18" charset="0"/>
                <a:ea typeface="+mn-ea"/>
                <a:cs typeface="+mn-cs"/>
              </a:rPr>
              <a:t>Y por último tenemos el diagrama de </a:t>
            </a:r>
            <a:r>
              <a:rPr lang="es-ES" sz="1200" kern="1200" dirty="0" err="1">
                <a:solidFill>
                  <a:schemeClr val="tx1"/>
                </a:solidFill>
                <a:effectLst/>
                <a:latin typeface="Times New Roman" pitchFamily="18" charset="0"/>
                <a:ea typeface="+mn-ea"/>
                <a:cs typeface="+mn-cs"/>
              </a:rPr>
              <a:t>deplyment</a:t>
            </a:r>
            <a:r>
              <a:rPr lang="es-ES" sz="1200" kern="1200" dirty="0">
                <a:solidFill>
                  <a:schemeClr val="tx1"/>
                </a:solidFill>
                <a:effectLst/>
                <a:latin typeface="Times New Roman" pitchFamily="18" charset="0"/>
                <a:ea typeface="+mn-ea"/>
                <a:cs typeface="+mn-cs"/>
              </a:rPr>
              <a:t> que contiene a :</a:t>
            </a:r>
          </a:p>
          <a:p>
            <a:pPr lvl="0"/>
            <a:r>
              <a:rPr lang="es-ES_tradnl" sz="1200" kern="1200" dirty="0">
                <a:solidFill>
                  <a:schemeClr val="tx1"/>
                </a:solidFill>
                <a:effectLst/>
                <a:latin typeface="Times New Roman" pitchFamily="18" charset="0"/>
                <a:ea typeface="+mn-ea"/>
                <a:cs typeface="+mn-cs"/>
              </a:rPr>
              <a:t>Procesadores: Componente de hardware que ejecuta programas</a:t>
            </a:r>
            <a:endParaRPr lang="es-ES" sz="1200" kern="1200" dirty="0">
              <a:solidFill>
                <a:schemeClr val="tx1"/>
              </a:solidFill>
              <a:effectLst/>
              <a:latin typeface="Times New Roman" pitchFamily="18" charset="0"/>
              <a:ea typeface="+mn-ea"/>
              <a:cs typeface="+mn-cs"/>
            </a:endParaRPr>
          </a:p>
          <a:p>
            <a:pPr lvl="0"/>
            <a:r>
              <a:rPr lang="es-ES_tradnl" sz="1200" kern="1200" dirty="0">
                <a:solidFill>
                  <a:schemeClr val="tx1"/>
                </a:solidFill>
                <a:effectLst/>
                <a:latin typeface="Times New Roman" pitchFamily="18" charset="0"/>
                <a:ea typeface="+mn-ea"/>
                <a:cs typeface="+mn-cs"/>
              </a:rPr>
              <a:t> </a:t>
            </a:r>
            <a:r>
              <a:rPr lang="es-ES_tradnl" sz="1200" kern="1200" dirty="0" err="1">
                <a:solidFill>
                  <a:schemeClr val="tx1"/>
                </a:solidFill>
                <a:effectLst/>
                <a:latin typeface="Times New Roman" pitchFamily="18" charset="0"/>
                <a:ea typeface="+mn-ea"/>
                <a:cs typeface="+mn-cs"/>
              </a:rPr>
              <a:t>Devices</a:t>
            </a:r>
            <a:r>
              <a:rPr lang="es-ES_tradnl" sz="1200" kern="1200" dirty="0">
                <a:solidFill>
                  <a:schemeClr val="tx1"/>
                </a:solidFill>
                <a:effectLst/>
                <a:latin typeface="Times New Roman" pitchFamily="18" charset="0"/>
                <a:ea typeface="+mn-ea"/>
                <a:cs typeface="+mn-cs"/>
              </a:rPr>
              <a:t>: Componente de hardware que no ejecuta programas (modem, </a:t>
            </a:r>
            <a:r>
              <a:rPr lang="es-ES_tradnl" sz="1200" kern="1200" dirty="0" err="1">
                <a:solidFill>
                  <a:schemeClr val="tx1"/>
                </a:solidFill>
                <a:effectLst/>
                <a:latin typeface="Times New Roman" pitchFamily="18" charset="0"/>
                <a:ea typeface="+mn-ea"/>
                <a:cs typeface="+mn-cs"/>
              </a:rPr>
              <a:t>harddisk</a:t>
            </a:r>
            <a:r>
              <a:rPr lang="es-ES_tradnl" sz="1200" kern="1200" dirty="0">
                <a:solidFill>
                  <a:schemeClr val="tx1"/>
                </a:solidFill>
                <a:effectLst/>
                <a:latin typeface="Times New Roman" pitchFamily="18" charset="0"/>
                <a:ea typeface="+mn-ea"/>
                <a:cs typeface="+mn-cs"/>
              </a:rPr>
              <a:t>)</a:t>
            </a:r>
            <a:endParaRPr lang="es-ES" sz="1200" kern="1200" dirty="0">
              <a:solidFill>
                <a:schemeClr val="tx1"/>
              </a:solidFill>
              <a:effectLst/>
              <a:latin typeface="Times New Roman" pitchFamily="18" charset="0"/>
              <a:ea typeface="+mn-ea"/>
              <a:cs typeface="+mn-cs"/>
            </a:endParaRPr>
          </a:p>
          <a:p>
            <a:pPr lvl="0"/>
            <a:r>
              <a:rPr lang="es-ES_tradnl" sz="1200" kern="1200" dirty="0">
                <a:solidFill>
                  <a:schemeClr val="tx1"/>
                </a:solidFill>
                <a:effectLst/>
                <a:latin typeface="Times New Roman" pitchFamily="18" charset="0"/>
                <a:ea typeface="+mn-ea"/>
                <a:cs typeface="+mn-cs"/>
              </a:rPr>
              <a:t> Conexiones</a:t>
            </a:r>
            <a:endParaRPr lang="es-ES" sz="1200" kern="1200" dirty="0">
              <a:solidFill>
                <a:schemeClr val="tx1"/>
              </a:solidFill>
              <a:effectLst/>
              <a:latin typeface="Times New Roman" pitchFamily="18" charset="0"/>
              <a:ea typeface="+mn-ea"/>
              <a:cs typeface="+mn-cs"/>
            </a:endParaRPr>
          </a:p>
          <a:p>
            <a:endParaRPr lang="es-ES" dirty="0"/>
          </a:p>
        </p:txBody>
      </p:sp>
      <p:sp>
        <p:nvSpPr>
          <p:cNvPr id="4" name="3 Marcador de número de diapositiva"/>
          <p:cNvSpPr>
            <a:spLocks noGrp="1"/>
          </p:cNvSpPr>
          <p:nvPr>
            <p:ph type="sldNum" sz="quarter" idx="10"/>
          </p:nvPr>
        </p:nvSpPr>
        <p:spPr/>
        <p:txBody>
          <a:bodyPr/>
          <a:lstStyle/>
          <a:p>
            <a:pPr>
              <a:defRPr/>
            </a:pPr>
            <a:fld id="{BC43A00C-7CDD-4C40-ACA5-554F5873B9B4}" type="slidenum">
              <a:rPr lang="es-ES_tradnl" smtClean="0"/>
              <a:pPr>
                <a:defRPr/>
              </a:pPr>
              <a:t>63</a:t>
            </a:fld>
            <a:endParaRPr lang="es-ES_tradnl"/>
          </a:p>
        </p:txBody>
      </p:sp>
    </p:spTree>
    <p:extLst>
      <p:ext uri="{BB962C8B-B14F-4D97-AF65-F5344CB8AC3E}">
        <p14:creationId xmlns:p14="http://schemas.microsoft.com/office/powerpoint/2010/main" val="424113301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5B402-667B-90E6-A4C9-90AA2E3542A9}"/>
            </a:ext>
          </a:extLst>
        </p:cNvPr>
        <p:cNvGrpSpPr/>
        <p:nvPr/>
      </p:nvGrpSpPr>
      <p:grpSpPr>
        <a:xfrm>
          <a:off x="0" y="0"/>
          <a:ext cx="0" cy="0"/>
          <a:chOff x="0" y="0"/>
          <a:chExt cx="0" cy="0"/>
        </a:xfrm>
      </p:grpSpPr>
      <p:sp>
        <p:nvSpPr>
          <p:cNvPr id="2" name="1 Marcador de imagen de diapositiva">
            <a:extLst>
              <a:ext uri="{FF2B5EF4-FFF2-40B4-BE49-F238E27FC236}">
                <a16:creationId xmlns:a16="http://schemas.microsoft.com/office/drawing/2014/main" id="{4E7DF2A5-0006-0966-665B-31CD4971016D}"/>
              </a:ext>
            </a:extLst>
          </p:cNvPr>
          <p:cNvSpPr>
            <a:spLocks noGrp="1" noRot="1" noChangeAspect="1"/>
          </p:cNvSpPr>
          <p:nvPr>
            <p:ph type="sldImg"/>
          </p:nvPr>
        </p:nvSpPr>
        <p:spPr/>
      </p:sp>
      <p:sp>
        <p:nvSpPr>
          <p:cNvPr id="3" name="2 Marcador de notas">
            <a:extLst>
              <a:ext uri="{FF2B5EF4-FFF2-40B4-BE49-F238E27FC236}">
                <a16:creationId xmlns:a16="http://schemas.microsoft.com/office/drawing/2014/main" id="{5DFFF260-BDAE-C280-2010-381724025620}"/>
              </a:ext>
            </a:extLst>
          </p:cNvPr>
          <p:cNvSpPr>
            <a:spLocks noGrp="1"/>
          </p:cNvSpPr>
          <p:nvPr>
            <p:ph type="body" idx="1"/>
          </p:nvPr>
        </p:nvSpPr>
        <p:spPr/>
        <p:txBody>
          <a:bodyPr/>
          <a:lstStyle/>
          <a:p>
            <a:endParaRPr lang="es-ES" dirty="0"/>
          </a:p>
        </p:txBody>
      </p:sp>
      <p:sp>
        <p:nvSpPr>
          <p:cNvPr id="4" name="3 Marcador de número de diapositiva">
            <a:extLst>
              <a:ext uri="{FF2B5EF4-FFF2-40B4-BE49-F238E27FC236}">
                <a16:creationId xmlns:a16="http://schemas.microsoft.com/office/drawing/2014/main" id="{CBD89C07-35D4-02C0-2EB4-B26CBF1D6953}"/>
              </a:ext>
            </a:extLst>
          </p:cNvPr>
          <p:cNvSpPr>
            <a:spLocks noGrp="1"/>
          </p:cNvSpPr>
          <p:nvPr>
            <p:ph type="sldNum" sz="quarter" idx="10"/>
          </p:nvPr>
        </p:nvSpPr>
        <p:spPr/>
        <p:txBody>
          <a:bodyPr/>
          <a:lstStyle/>
          <a:p>
            <a:pPr>
              <a:defRPr/>
            </a:pPr>
            <a:fld id="{BC43A00C-7CDD-4C40-ACA5-554F5873B9B4}" type="slidenum">
              <a:rPr lang="es-ES_tradnl" smtClean="0"/>
              <a:pPr>
                <a:defRPr/>
              </a:pPr>
              <a:t>64</a:t>
            </a:fld>
            <a:endParaRPr lang="es-ES_tradnl"/>
          </a:p>
        </p:txBody>
      </p:sp>
    </p:spTree>
    <p:extLst>
      <p:ext uri="{BB962C8B-B14F-4D97-AF65-F5344CB8AC3E}">
        <p14:creationId xmlns:p14="http://schemas.microsoft.com/office/powerpoint/2010/main" val="134481395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dirty="0"/>
              <a:t>OCL fue inicialmente desarrollado por </a:t>
            </a:r>
            <a:r>
              <a:rPr lang="es-ES" sz="1200" dirty="0">
                <a:hlinkClick r:id="rId3" tooltip="IBM">
                  <a:extLst>
                    <a:ext uri="{A12FA001-AC4F-418D-AE19-62706E023703}">
                      <ahyp:hlinkClr xmlns:ahyp="http://schemas.microsoft.com/office/drawing/2018/hyperlinkcolor" val="tx"/>
                    </a:ext>
                  </a:extLst>
                </a:hlinkClick>
              </a:rPr>
              <a:t>IBM</a:t>
            </a:r>
            <a:r>
              <a:rPr lang="es-ES" sz="1200" dirty="0"/>
              <a:t>. Este lenguaje no causa efectos laterales, de manera que la verificación de una condición, que se presupone una operación instantánea, nunca altera los objetos del modelo. Su papel principal es el de completar los diferentes artefactos de la notación UML con requerimientos formalmente expresados.</a:t>
            </a:r>
          </a:p>
          <a:p>
            <a:endParaRPr lang="en-US" dirty="0"/>
          </a:p>
        </p:txBody>
      </p:sp>
    </p:spTree>
    <p:extLst>
      <p:ext uri="{BB962C8B-B14F-4D97-AF65-F5344CB8AC3E}">
        <p14:creationId xmlns:p14="http://schemas.microsoft.com/office/powerpoint/2010/main" val="132211205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CE600-A9CA-6DAF-9DBD-D77CD804E5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7A29805-FC0D-7BFA-B401-5ADBA84F6E3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AD13170-9CE2-BBFC-943C-9303D6EB230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dirty="0"/>
              <a:t>El uso de lenguajes de especificación de requerimientos es fundamental en el desarrollo de software, ya que proporciona un marco claro y estructurado para capturar, comunicar y validar las necesidades del cliente. Estos lenguajes permiten a los equipos de desarrollo traducir las expectativas del cliente en especificaciones precisas y verificables, lo que reduce la ambigüedad y mejora la calidad del producto final.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dirty="0"/>
              <a:t>Además, al utilizar lenguajes de especificación, se facilita la colaboración entre diferentes partes interesadas, desde analistas hasta desarrolladores y </a:t>
            </a:r>
            <a:r>
              <a:rPr lang="es-ES" sz="1200" dirty="0" err="1"/>
              <a:t>testers</a:t>
            </a:r>
            <a:r>
              <a:rPr lang="es-ES" sz="1200" dirty="0"/>
              <a:t>, asegurando que todos tengan una comprensión común de lo que se debe construir. Esto no solo ayuda a identificar posibles problemas en las etapas tempranas del desarrollo, sino que también minimiza el riesgo de cambios costosos y retrasos en el futuro.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dirty="0"/>
              <a:t>En resumen, los lenguajes de especificación de requerimientos son herramientas esenciales que contribuyen a la eficiencia, la claridad y el éxito en proyectos de software, permitiendo la entrega de soluciones que realmente satisfacen las necesidades del usuario. Su implementación adecuada puede ser un factor decisivo en la calidad y la efectividad de los procesos de desarrollo ágil y tradicional.</a:t>
            </a:r>
            <a:endParaRPr lang="en-US" dirty="0"/>
          </a:p>
        </p:txBody>
      </p:sp>
    </p:spTree>
    <p:extLst>
      <p:ext uri="{BB962C8B-B14F-4D97-AF65-F5344CB8AC3E}">
        <p14:creationId xmlns:p14="http://schemas.microsoft.com/office/powerpoint/2010/main" val="197998764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A43B3-C9E4-4412-73A2-4236C0B167B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27FDCCA-8795-843D-9582-CA1EA30D9CE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9E43B90-02F2-D1B9-0B7F-C17B64D5FD2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dirty="0" err="1"/>
              <a:t>Considerarar</a:t>
            </a:r>
            <a:r>
              <a:rPr lang="es-419" dirty="0"/>
              <a: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s-419" dirty="0"/>
              <a:t>Características del proyecto</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s-419" dirty="0"/>
              <a:t>Características del equipo de desarrollo</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s-419" dirty="0"/>
              <a:t>Características de </a:t>
            </a:r>
            <a:r>
              <a:rPr lang="es-419"/>
              <a:t>los involucrados</a:t>
            </a:r>
            <a:endParaRPr lang="en-US" dirty="0"/>
          </a:p>
        </p:txBody>
      </p:sp>
    </p:spTree>
    <p:extLst>
      <p:ext uri="{BB962C8B-B14F-4D97-AF65-F5344CB8AC3E}">
        <p14:creationId xmlns:p14="http://schemas.microsoft.com/office/powerpoint/2010/main" val="3046382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309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871953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6141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r>
              <a:rPr lang="es-ES"/>
              <a:t>MSc. Aracelys García Armenteros</a:t>
            </a:r>
          </a:p>
        </p:txBody>
      </p:sp>
      <p:sp>
        <p:nvSpPr>
          <p:cNvPr id="6" name="Footer Placeholder 5"/>
          <p:cNvSpPr>
            <a:spLocks noGrp="1"/>
          </p:cNvSpPr>
          <p:nvPr>
            <p:ph type="ftr" sz="quarter" idx="11"/>
          </p:nvPr>
        </p:nvSpPr>
        <p:spPr/>
        <p:txBody>
          <a:bodyPr/>
          <a:lstStyle/>
          <a:p>
            <a:r>
              <a:rPr lang="es-ES"/>
              <a:t>Gestión de Proyectos. Planificación y estimación.</a:t>
            </a:r>
          </a:p>
        </p:txBody>
      </p:sp>
      <p:sp>
        <p:nvSpPr>
          <p:cNvPr id="7" name="Slide Number Placeholder 6"/>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290220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1097280" y="2582335"/>
            <a:ext cx="4937760" cy="32867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6217920" y="2582334"/>
            <a:ext cx="4937760" cy="32867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r>
              <a:rPr lang="es-ES"/>
              <a:t>MSc. Aracelys García Armenteros</a:t>
            </a:r>
          </a:p>
        </p:txBody>
      </p:sp>
      <p:sp>
        <p:nvSpPr>
          <p:cNvPr id="8" name="Footer Placeholder 7"/>
          <p:cNvSpPr>
            <a:spLocks noGrp="1"/>
          </p:cNvSpPr>
          <p:nvPr>
            <p:ph type="ftr" sz="quarter" idx="11"/>
          </p:nvPr>
        </p:nvSpPr>
        <p:spPr/>
        <p:txBody>
          <a:bodyPr/>
          <a:lstStyle/>
          <a:p>
            <a:r>
              <a:rPr lang="es-ES"/>
              <a:t>Gestión de Proyectos. Planificación y estimación.</a:t>
            </a:r>
          </a:p>
        </p:txBody>
      </p:sp>
      <p:sp>
        <p:nvSpPr>
          <p:cNvPr id="9" name="Slide Number Placeholder 8"/>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2404808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r>
              <a:rPr lang="es-ES"/>
              <a:t>MSc. Aracelys García Armenteros</a:t>
            </a:r>
          </a:p>
        </p:txBody>
      </p:sp>
      <p:sp>
        <p:nvSpPr>
          <p:cNvPr id="4" name="Footer Placeholder 3"/>
          <p:cNvSpPr>
            <a:spLocks noGrp="1"/>
          </p:cNvSpPr>
          <p:nvPr>
            <p:ph type="ftr" sz="quarter" idx="11"/>
          </p:nvPr>
        </p:nvSpPr>
        <p:spPr/>
        <p:txBody>
          <a:bodyPr/>
          <a:lstStyle/>
          <a:p>
            <a:r>
              <a:rPr lang="es-ES"/>
              <a:t>Gestión de Proyectos. Planificación y estimación.</a:t>
            </a:r>
          </a:p>
        </p:txBody>
      </p:sp>
      <p:sp>
        <p:nvSpPr>
          <p:cNvPr id="5" name="Slide Number Placeholder 4"/>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882151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r>
              <a:rPr lang="es-ES"/>
              <a:t>MSc. Aracelys García Armenteros</a:t>
            </a:r>
          </a:p>
        </p:txBody>
      </p:sp>
      <p:sp>
        <p:nvSpPr>
          <p:cNvPr id="8" name="Footer Placeholder 7"/>
          <p:cNvSpPr>
            <a:spLocks noGrp="1"/>
          </p:cNvSpPr>
          <p:nvPr>
            <p:ph type="ftr" sz="quarter" idx="11"/>
          </p:nvPr>
        </p:nvSpPr>
        <p:spPr/>
        <p:txBody>
          <a:bodyPr/>
          <a:lstStyle>
            <a:lvl1pPr>
              <a:defRPr>
                <a:solidFill>
                  <a:srgbClr val="FFFFFF"/>
                </a:solidFill>
              </a:defRPr>
            </a:lvl1pPr>
          </a:lstStyle>
          <a:p>
            <a:r>
              <a:rPr lang="es-ES"/>
              <a:t>Gestión de Proyectos. Planificación y estimación.</a:t>
            </a:r>
          </a:p>
        </p:txBody>
      </p:sp>
      <p:sp>
        <p:nvSpPr>
          <p:cNvPr id="9" name="Slide Number Placeholder 8"/>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979413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s-ES"/>
              <a:t>MSc. Aracelys García Armenteros</a:t>
            </a: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s-ES"/>
              <a:t>Gestión de Proyectos. Planificación y estimación.</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C4EE0E4-9C8A-4542-A491-318C3530755B}" type="slidenum">
              <a:rPr lang="es-ES" smtClean="0"/>
              <a:t>‹Nº›</a:t>
            </a:fld>
            <a:endParaRPr lang="es-ES"/>
          </a:p>
        </p:txBody>
      </p:sp>
    </p:spTree>
    <p:extLst>
      <p:ext uri="{BB962C8B-B14F-4D97-AF65-F5344CB8AC3E}">
        <p14:creationId xmlns:p14="http://schemas.microsoft.com/office/powerpoint/2010/main" val="2346865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r>
              <a:rPr lang="es-ES"/>
              <a:t>MSc. Aracelys García Armenteros</a:t>
            </a:r>
          </a:p>
        </p:txBody>
      </p:sp>
      <p:sp>
        <p:nvSpPr>
          <p:cNvPr id="6" name="Footer Placeholder 5"/>
          <p:cNvSpPr>
            <a:spLocks noGrp="1"/>
          </p:cNvSpPr>
          <p:nvPr>
            <p:ph type="ftr" sz="quarter" idx="11"/>
          </p:nvPr>
        </p:nvSpPr>
        <p:spPr/>
        <p:txBody>
          <a:bodyPr/>
          <a:lstStyle/>
          <a:p>
            <a:r>
              <a:rPr lang="es-ES"/>
              <a:t>Gestión de Proyectos. Planificación y estimación.</a:t>
            </a:r>
          </a:p>
        </p:txBody>
      </p:sp>
      <p:sp>
        <p:nvSpPr>
          <p:cNvPr id="7" name="Slide Number Placeholder 6"/>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3765602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3737871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1136500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r>
              <a:rPr lang="es-ES"/>
              <a:t>MSc. Aracelys García Armenteros</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s-ES"/>
              <a:t>Gestión de Proyectos. Planificación y estimación.</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C4EE0E4-9C8A-4542-A491-318C3530755B}" type="slidenum">
              <a:rPr lang="es-ES" smtClean="0"/>
              <a:t>‹Nº›</a:t>
            </a:fld>
            <a:endParaRPr lang="es-E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3470030"/>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Lst>
  <p:hf sldNum="0"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1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hyperlink" Target="https://miro.medium.com/max/1400/1*No9D6azPgPhAjmaMyhWyLg.jpeg"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slide" Target="slide51.xml"/><Relationship Id="rId3" Type="http://schemas.openxmlformats.org/officeDocument/2006/relationships/slide" Target="slide35.xml"/><Relationship Id="rId7" Type="http://schemas.openxmlformats.org/officeDocument/2006/relationships/slide" Target="slide54.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slide" Target="slide46.xml"/><Relationship Id="rId5" Type="http://schemas.openxmlformats.org/officeDocument/2006/relationships/slide" Target="slide63.xml"/><Relationship Id="rId4" Type="http://schemas.openxmlformats.org/officeDocument/2006/relationships/slide" Target="slide61.xml"/><Relationship Id="rId9" Type="http://schemas.openxmlformats.org/officeDocument/2006/relationships/slide" Target="slide5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13.wmf"/></Relationships>
</file>

<file path=ppt/slides/_rels/slide62.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slide" Target="slide3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2209800" y="1558884"/>
            <a:ext cx="7772400" cy="2286000"/>
          </a:xfrm>
        </p:spPr>
        <p:txBody>
          <a:bodyPr>
            <a:normAutofit/>
          </a:bodyPr>
          <a:lstStyle/>
          <a:p>
            <a:pPr algn="ctr"/>
            <a:r>
              <a:rPr lang="es-ES" sz="4300" dirty="0">
                <a:solidFill>
                  <a:schemeClr val="tx1">
                    <a:lumMod val="75000"/>
                    <a:lumOff val="25000"/>
                  </a:schemeClr>
                </a:solidFill>
              </a:rPr>
              <a:t>Lenguajes</a:t>
            </a:r>
            <a:r>
              <a:rPr lang="en-US" sz="4300" dirty="0">
                <a:solidFill>
                  <a:schemeClr val="tx1">
                    <a:lumMod val="75000"/>
                    <a:lumOff val="25000"/>
                  </a:schemeClr>
                </a:solidFill>
              </a:rPr>
              <a:t> de </a:t>
            </a:r>
            <a:r>
              <a:rPr lang="es-ES" sz="4300" dirty="0">
                <a:solidFill>
                  <a:schemeClr val="tx1">
                    <a:lumMod val="75000"/>
                    <a:lumOff val="25000"/>
                  </a:schemeClr>
                </a:solidFill>
              </a:rPr>
              <a:t>especificación</a:t>
            </a:r>
            <a:r>
              <a:rPr lang="en-US" sz="4300" dirty="0">
                <a:solidFill>
                  <a:schemeClr val="tx1">
                    <a:lumMod val="75000"/>
                    <a:lumOff val="25000"/>
                  </a:schemeClr>
                </a:solidFill>
              </a:rPr>
              <a:t> de </a:t>
            </a:r>
            <a:r>
              <a:rPr lang="es-ES" sz="4300" dirty="0">
                <a:solidFill>
                  <a:schemeClr val="tx1">
                    <a:lumMod val="75000"/>
                    <a:lumOff val="25000"/>
                  </a:schemeClr>
                </a:solidFill>
              </a:rPr>
              <a:t>requerimientos</a:t>
            </a:r>
          </a:p>
        </p:txBody>
      </p:sp>
      <p:sp>
        <p:nvSpPr>
          <p:cNvPr id="2" name="CuadroTexto 1">
            <a:extLst>
              <a:ext uri="{FF2B5EF4-FFF2-40B4-BE49-F238E27FC236}">
                <a16:creationId xmlns:a16="http://schemas.microsoft.com/office/drawing/2014/main" id="{63F0FE6B-037A-11D8-3BDB-C950D17CB2DD}"/>
              </a:ext>
            </a:extLst>
          </p:cNvPr>
          <p:cNvSpPr txBox="1"/>
          <p:nvPr/>
        </p:nvSpPr>
        <p:spPr>
          <a:xfrm>
            <a:off x="4604510" y="4601224"/>
            <a:ext cx="2963375" cy="461665"/>
          </a:xfrm>
          <a:prstGeom prst="rect">
            <a:avLst/>
          </a:prstGeom>
          <a:noFill/>
        </p:spPr>
        <p:txBody>
          <a:bodyPr wrap="none" rtlCol="0">
            <a:spAutoFit/>
          </a:bodyPr>
          <a:lstStyle/>
          <a:p>
            <a:pPr algn="ctr"/>
            <a:r>
              <a:rPr lang="es-ES" sz="2400" dirty="0">
                <a:latin typeface="+mj-lt"/>
              </a:rPr>
              <a:t>Ingeniería de Software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idx="1"/>
          </p:nvPr>
        </p:nvSpPr>
        <p:spPr>
          <a:xfrm>
            <a:off x="1275229" y="2077798"/>
            <a:ext cx="9372600" cy="4421187"/>
          </a:xfrm>
        </p:spPr>
        <p:txBody>
          <a:bodyPr>
            <a:normAutofit/>
          </a:bodyPr>
          <a:lstStyle/>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800" dirty="0"/>
              <a:t>Lenguajes de especificación de requerimientos </a:t>
            </a:r>
          </a:p>
          <a:p>
            <a:pPr marL="845058" lvl="1" indent="-552450">
              <a:buFont typeface="Wingdings" panose="05000000000000000000" pitchFamily="2" charset="2"/>
              <a:buChar char="Ø"/>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600" dirty="0">
                <a:cs typeface="Times New Roman" panose="02020603050405020304" pitchFamily="18" charset="0"/>
              </a:rPr>
              <a:t>Concepto</a:t>
            </a:r>
          </a:p>
          <a:p>
            <a:pPr marL="845058" lvl="1" indent="-552450">
              <a:buFont typeface="Wingdings" panose="05000000000000000000" pitchFamily="2" charset="2"/>
              <a:buChar char="Ø"/>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600" dirty="0">
                <a:cs typeface="Times New Roman" panose="02020603050405020304" pitchFamily="18" charset="0"/>
              </a:rPr>
              <a:t>Características</a:t>
            </a:r>
          </a:p>
          <a:p>
            <a:pPr marL="845058" lvl="1" indent="-552450">
              <a:buFont typeface="Wingdings" panose="05000000000000000000" pitchFamily="2" charset="2"/>
              <a:buChar char="Ø"/>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600" dirty="0">
                <a:cs typeface="Times New Roman" panose="02020603050405020304" pitchFamily="18" charset="0"/>
              </a:rPr>
              <a:t>Clasificación</a:t>
            </a:r>
          </a:p>
          <a:p>
            <a:pPr marL="845058" lvl="1" indent="-552450">
              <a:buFont typeface="Wingdings" panose="05000000000000000000" pitchFamily="2" charset="2"/>
              <a:buChar char="Ø"/>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600" dirty="0">
                <a:cs typeface="Times New Roman" panose="02020603050405020304" pitchFamily="18" charset="0"/>
              </a:rPr>
              <a:t>Exponentes</a:t>
            </a:r>
            <a:endParaRPr lang="es-419" sz="2600" dirty="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419" sz="2800" dirty="0">
                <a:cs typeface="Times New Roman" panose="02020603050405020304" pitchFamily="18" charset="0"/>
              </a:rPr>
              <a:t>Lenguaje Unificado de Modelado (UML)</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419" sz="2800" dirty="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800" dirty="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800" dirty="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800" dirty="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sz="2800" dirty="0">
              <a:cs typeface="Times New Roman" panose="02020603050405020304" pitchFamily="18" charset="0"/>
            </a:endParaRPr>
          </a:p>
          <a:p>
            <a:pPr marL="552450" indent="-552450">
              <a:buNone/>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sz="2600" dirty="0">
              <a:cs typeface="Times New Roman" panose="02020603050405020304" pitchFamily="18" charset="0"/>
            </a:endParaRPr>
          </a:p>
        </p:txBody>
      </p:sp>
      <p:sp>
        <p:nvSpPr>
          <p:cNvPr id="2" name="Título 1"/>
          <p:cNvSpPr>
            <a:spLocks noGrp="1"/>
          </p:cNvSpPr>
          <p:nvPr>
            <p:ph type="title"/>
          </p:nvPr>
        </p:nvSpPr>
        <p:spPr/>
        <p:txBody>
          <a:bodyPr/>
          <a:lstStyle/>
          <a:p>
            <a:r>
              <a:rPr lang="es-ES" dirty="0"/>
              <a:t>Sumario:</a:t>
            </a:r>
          </a:p>
        </p:txBody>
      </p:sp>
      <p:sp>
        <p:nvSpPr>
          <p:cNvPr id="3" name="Marcador de pie de página 2"/>
          <p:cNvSpPr>
            <a:spLocks noGrp="1"/>
          </p:cNvSpPr>
          <p:nvPr>
            <p:ph type="ftr" sz="quarter" idx="11"/>
          </p:nvPr>
        </p:nvSpPr>
        <p:spPr/>
        <p:txBody>
          <a:bodyPr/>
          <a:lstStyle/>
          <a:p>
            <a:r>
              <a:rPr lang="es-ES_tradnl" dirty="0"/>
              <a:t>Introducción  a la IS</a:t>
            </a:r>
            <a:endParaRPr lang="es-ES" dirty="0"/>
          </a:p>
        </p:txBody>
      </p:sp>
    </p:spTree>
    <p:extLst>
      <p:ext uri="{BB962C8B-B14F-4D97-AF65-F5344CB8AC3E}">
        <p14:creationId xmlns:p14="http://schemas.microsoft.com/office/powerpoint/2010/main" val="1838918191"/>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additive="repl">
                                        <p:cTn id="6" dur="1" fill="hold">
                                          <p:stCondLst>
                                            <p:cond delay="0"/>
                                          </p:stCondLst>
                                        </p:cTn>
                                        <p:tgtEl>
                                          <p:spTgt spid="5122">
                                            <p:txEl>
                                              <p:pRg st="0" end="0"/>
                                            </p:txEl>
                                          </p:spTgt>
                                        </p:tgtEl>
                                        <p:attrNameLst>
                                          <p:attrName>style.visibility</p:attrName>
                                        </p:attrNameLst>
                                      </p:cBhvr>
                                      <p:to>
                                        <p:strVal val="visible"/>
                                      </p:to>
                                    </p:set>
                                    <p:animEffect transition="in" filter="wipe(up)">
                                      <p:cBhvr additive="repl">
                                        <p:cTn id="7" dur="500"/>
                                        <p:tgtEl>
                                          <p:spTgt spid="5122">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additive="repl">
                                        <p:cTn id="10" dur="1" fill="hold">
                                          <p:stCondLst>
                                            <p:cond delay="0"/>
                                          </p:stCondLst>
                                        </p:cTn>
                                        <p:tgtEl>
                                          <p:spTgt spid="5122">
                                            <p:txEl>
                                              <p:pRg st="1" end="1"/>
                                            </p:txEl>
                                          </p:spTgt>
                                        </p:tgtEl>
                                        <p:attrNameLst>
                                          <p:attrName>style.visibility</p:attrName>
                                        </p:attrNameLst>
                                      </p:cBhvr>
                                      <p:to>
                                        <p:strVal val="visible"/>
                                      </p:to>
                                    </p:set>
                                    <p:animEffect transition="in" filter="wipe(up)">
                                      <p:cBhvr additive="repl">
                                        <p:cTn id="11" dur="500"/>
                                        <p:tgtEl>
                                          <p:spTgt spid="5122">
                                            <p:txEl>
                                              <p:pRg st="1" end="1"/>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additive="repl">
                                        <p:cTn id="14" dur="1" fill="hold">
                                          <p:stCondLst>
                                            <p:cond delay="0"/>
                                          </p:stCondLst>
                                        </p:cTn>
                                        <p:tgtEl>
                                          <p:spTgt spid="5122">
                                            <p:txEl>
                                              <p:pRg st="2" end="2"/>
                                            </p:txEl>
                                          </p:spTgt>
                                        </p:tgtEl>
                                        <p:attrNameLst>
                                          <p:attrName>style.visibility</p:attrName>
                                        </p:attrNameLst>
                                      </p:cBhvr>
                                      <p:to>
                                        <p:strVal val="visible"/>
                                      </p:to>
                                    </p:set>
                                    <p:animEffect transition="in" filter="wipe(up)">
                                      <p:cBhvr additive="repl">
                                        <p:cTn id="15" dur="500"/>
                                        <p:tgtEl>
                                          <p:spTgt spid="5122">
                                            <p:txEl>
                                              <p:pRg st="2" end="2"/>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additive="repl">
                                        <p:cTn id="18" dur="1" fill="hold">
                                          <p:stCondLst>
                                            <p:cond delay="0"/>
                                          </p:stCondLst>
                                        </p:cTn>
                                        <p:tgtEl>
                                          <p:spTgt spid="5122">
                                            <p:txEl>
                                              <p:pRg st="3" end="3"/>
                                            </p:txEl>
                                          </p:spTgt>
                                        </p:tgtEl>
                                        <p:attrNameLst>
                                          <p:attrName>style.visibility</p:attrName>
                                        </p:attrNameLst>
                                      </p:cBhvr>
                                      <p:to>
                                        <p:strVal val="visible"/>
                                      </p:to>
                                    </p:set>
                                    <p:animEffect transition="in" filter="wipe(up)">
                                      <p:cBhvr additive="repl">
                                        <p:cTn id="19" dur="500"/>
                                        <p:tgtEl>
                                          <p:spTgt spid="5122">
                                            <p:txEl>
                                              <p:pRg st="3" end="3"/>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additive="repl">
                                        <p:cTn id="22" dur="1" fill="hold">
                                          <p:stCondLst>
                                            <p:cond delay="0"/>
                                          </p:stCondLst>
                                        </p:cTn>
                                        <p:tgtEl>
                                          <p:spTgt spid="5122">
                                            <p:txEl>
                                              <p:pRg st="4" end="4"/>
                                            </p:txEl>
                                          </p:spTgt>
                                        </p:tgtEl>
                                        <p:attrNameLst>
                                          <p:attrName>style.visibility</p:attrName>
                                        </p:attrNameLst>
                                      </p:cBhvr>
                                      <p:to>
                                        <p:strVal val="visible"/>
                                      </p:to>
                                    </p:set>
                                    <p:animEffect transition="in" filter="wipe(up)">
                                      <p:cBhvr additive="repl">
                                        <p:cTn id="23" dur="500"/>
                                        <p:tgtEl>
                                          <p:spTgt spid="5122">
                                            <p:txEl>
                                              <p:pRg st="4" end="4"/>
                                            </p:txEl>
                                          </p:spTgt>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additive="repl">
                                        <p:cTn id="26" dur="1" fill="hold">
                                          <p:stCondLst>
                                            <p:cond delay="0"/>
                                          </p:stCondLst>
                                        </p:cTn>
                                        <p:tgtEl>
                                          <p:spTgt spid="5122">
                                            <p:txEl>
                                              <p:pRg st="5" end="5"/>
                                            </p:txEl>
                                          </p:spTgt>
                                        </p:tgtEl>
                                        <p:attrNameLst>
                                          <p:attrName>style.visibility</p:attrName>
                                        </p:attrNameLst>
                                      </p:cBhvr>
                                      <p:to>
                                        <p:strVal val="visible"/>
                                      </p:to>
                                    </p:set>
                                    <p:animEffect transition="in" filter="wipe(up)">
                                      <p:cBhvr additive="repl">
                                        <p:cTn id="27" dur="500"/>
                                        <p:tgtEl>
                                          <p:spTgt spid="512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1A10D-F46B-9A13-E56E-B7EABEE83261}"/>
            </a:ext>
          </a:extLst>
        </p:cNvPr>
        <p:cNvGrpSpPr/>
        <p:nvPr/>
      </p:nvGrpSpPr>
      <p:grpSpPr>
        <a:xfrm>
          <a:off x="0" y="0"/>
          <a:ext cx="0" cy="0"/>
          <a:chOff x="0" y="0"/>
          <a:chExt cx="0" cy="0"/>
        </a:xfrm>
      </p:grpSpPr>
      <p:sp>
        <p:nvSpPr>
          <p:cNvPr id="27651" name="Rectangle 2">
            <a:extLst>
              <a:ext uri="{FF2B5EF4-FFF2-40B4-BE49-F238E27FC236}">
                <a16:creationId xmlns:a16="http://schemas.microsoft.com/office/drawing/2014/main" id="{C3E7E9F3-701B-4003-57FF-874941ABEA7C}"/>
              </a:ext>
            </a:extLst>
          </p:cNvPr>
          <p:cNvSpPr>
            <a:spLocks noGrp="1" noChangeArrowheads="1"/>
          </p:cNvSpPr>
          <p:nvPr>
            <p:ph type="title"/>
          </p:nvPr>
        </p:nvSpPr>
        <p:spPr>
          <a:xfrm>
            <a:off x="497711" y="286603"/>
            <a:ext cx="11574684" cy="1450757"/>
          </a:xfrm>
        </p:spPr>
        <p:txBody>
          <a:bodyPr>
            <a:normAutofit/>
          </a:bodyPr>
          <a:lstStyle/>
          <a:p>
            <a:r>
              <a:rPr lang="es-ES" dirty="0"/>
              <a:t>Lenguaje de especificación de requerimientos</a:t>
            </a:r>
            <a:endParaRPr lang="es-ES_tradnl" dirty="0"/>
          </a:p>
        </p:txBody>
      </p:sp>
      <p:sp>
        <p:nvSpPr>
          <p:cNvPr id="27652" name="Rectangle 3">
            <a:extLst>
              <a:ext uri="{FF2B5EF4-FFF2-40B4-BE49-F238E27FC236}">
                <a16:creationId xmlns:a16="http://schemas.microsoft.com/office/drawing/2014/main" id="{B4C8E3C1-DB92-1B2C-ED06-59F705D53F2E}"/>
              </a:ext>
            </a:extLst>
          </p:cNvPr>
          <p:cNvSpPr>
            <a:spLocks noGrp="1" noChangeArrowheads="1"/>
          </p:cNvSpPr>
          <p:nvPr>
            <p:ph idx="1"/>
          </p:nvPr>
        </p:nvSpPr>
        <p:spPr>
          <a:xfrm>
            <a:off x="1676400" y="2497241"/>
            <a:ext cx="8763000" cy="4343400"/>
          </a:xfrm>
        </p:spPr>
        <p:txBody>
          <a:bodyPr>
            <a:normAutofit/>
          </a:bodyPr>
          <a:lstStyle/>
          <a:p>
            <a:pPr marL="0" indent="0">
              <a:buNone/>
            </a:pPr>
            <a:r>
              <a:rPr lang="es-ES" sz="2600" dirty="0">
                <a:solidFill>
                  <a:schemeClr val="tx1"/>
                </a:solidFill>
              </a:rPr>
              <a:t>Conjunto de notaciones y reglas que se utilizan para describir los requerimientos de un sistema de manera clara y precisa.</a:t>
            </a:r>
          </a:p>
          <a:p>
            <a:pPr marL="0" indent="0">
              <a:buNone/>
            </a:pPr>
            <a:endParaRPr lang="es-ES" sz="2600" dirty="0">
              <a:solidFill>
                <a:schemeClr val="tx1"/>
              </a:solidFill>
            </a:endParaRPr>
          </a:p>
          <a:p>
            <a:pPr marL="0" indent="0" algn="r">
              <a:buNone/>
            </a:pPr>
            <a:r>
              <a:rPr lang="es-ES" i="1" dirty="0">
                <a:solidFill>
                  <a:schemeClr val="tx1"/>
                </a:solidFill>
              </a:rPr>
              <a:t>Software </a:t>
            </a:r>
            <a:r>
              <a:rPr lang="es-ES" i="1" dirty="0" err="1">
                <a:solidFill>
                  <a:schemeClr val="tx1"/>
                </a:solidFill>
              </a:rPr>
              <a:t>Engineering</a:t>
            </a:r>
            <a:r>
              <a:rPr lang="es-ES" i="1" dirty="0">
                <a:solidFill>
                  <a:schemeClr val="tx1"/>
                </a:solidFill>
              </a:rPr>
              <a:t>. Ian Sommerville</a:t>
            </a:r>
          </a:p>
        </p:txBody>
      </p:sp>
      <p:sp>
        <p:nvSpPr>
          <p:cNvPr id="27650" name="4 Marcador de número de diapositiva">
            <a:extLst>
              <a:ext uri="{FF2B5EF4-FFF2-40B4-BE49-F238E27FC236}">
                <a16:creationId xmlns:a16="http://schemas.microsoft.com/office/drawing/2014/main" id="{7118923F-812A-AA8A-5B65-CD20A21BC32E}"/>
              </a:ext>
            </a:extLst>
          </p:cNvPr>
          <p:cNvSpPr>
            <a:spLocks noGrp="1"/>
          </p:cNvSpPr>
          <p:nvPr>
            <p:ph type="sldNum" sz="quarter" idx="12"/>
          </p:nvPr>
        </p:nvSpPr>
        <p:spPr>
          <a:xfrm>
            <a:off x="4648200" y="6248400"/>
            <a:ext cx="2895600" cy="457200"/>
          </a:xfrm>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fld id="{CCC9DA74-4144-488D-9D9B-14FDEDC4D561}" type="slidenum">
              <a:rPr lang="es-ES_tradnl" sz="1400"/>
              <a:pPr algn="ctr"/>
              <a:t>3</a:t>
            </a:fld>
            <a:endParaRPr lang="es-ES_tradnl" sz="1400" dirty="0"/>
          </a:p>
        </p:txBody>
      </p:sp>
    </p:spTree>
    <p:extLst>
      <p:ext uri="{BB962C8B-B14F-4D97-AF65-F5344CB8AC3E}">
        <p14:creationId xmlns:p14="http://schemas.microsoft.com/office/powerpoint/2010/main" val="4056104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normAutofit/>
          </a:bodyPr>
          <a:lstStyle/>
          <a:p>
            <a:r>
              <a:rPr lang="es-ES" dirty="0"/>
              <a:t>Características</a:t>
            </a:r>
            <a:endParaRPr lang="es-ES_tradnl" dirty="0"/>
          </a:p>
        </p:txBody>
      </p:sp>
      <p:sp>
        <p:nvSpPr>
          <p:cNvPr id="27652" name="Rectangle 3"/>
          <p:cNvSpPr>
            <a:spLocks noGrp="1" noChangeArrowheads="1"/>
          </p:cNvSpPr>
          <p:nvPr>
            <p:ph idx="1"/>
          </p:nvPr>
        </p:nvSpPr>
        <p:spPr>
          <a:xfrm>
            <a:off x="1215342" y="1905000"/>
            <a:ext cx="9826905" cy="4343400"/>
          </a:xfrm>
        </p:spPr>
        <p:txBody>
          <a:bodyPr>
            <a:normAutofit fontScale="92500" lnSpcReduction="20000"/>
          </a:bodyPr>
          <a:lstStyle/>
          <a:p>
            <a:pPr>
              <a:buFont typeface="Wingdings" panose="05000000000000000000" pitchFamily="2" charset="2"/>
              <a:buChar char="Ø"/>
            </a:pPr>
            <a:r>
              <a:rPr lang="es-ES" sz="2800" dirty="0">
                <a:solidFill>
                  <a:schemeClr val="tx1"/>
                </a:solidFill>
              </a:rPr>
              <a:t>Precisión: representación exacta de los requerimientos</a:t>
            </a:r>
          </a:p>
          <a:p>
            <a:pPr>
              <a:buFont typeface="Wingdings" panose="05000000000000000000" pitchFamily="2" charset="2"/>
              <a:buChar char="Ø"/>
            </a:pPr>
            <a:endParaRPr lang="es-ES" sz="1700" dirty="0">
              <a:solidFill>
                <a:schemeClr val="tx1"/>
              </a:solidFill>
            </a:endParaRPr>
          </a:p>
          <a:p>
            <a:pPr>
              <a:buFont typeface="Wingdings" panose="05000000000000000000" pitchFamily="2" charset="2"/>
              <a:buChar char="Ø"/>
            </a:pPr>
            <a:r>
              <a:rPr lang="es-ES" sz="2800" dirty="0">
                <a:solidFill>
                  <a:schemeClr val="tx1"/>
                </a:solidFill>
              </a:rPr>
              <a:t>Claridad: comprensión de manera uniforme de los </a:t>
            </a:r>
            <a:r>
              <a:rPr lang="es-ES" sz="2800" i="1" dirty="0" err="1">
                <a:solidFill>
                  <a:schemeClr val="tx1"/>
                </a:solidFill>
              </a:rPr>
              <a:t>steakholders</a:t>
            </a:r>
            <a:r>
              <a:rPr lang="es-ES" sz="2800" i="1" dirty="0">
                <a:solidFill>
                  <a:schemeClr val="tx1"/>
                </a:solidFill>
              </a:rPr>
              <a:t> (involucrados o interesados)</a:t>
            </a:r>
          </a:p>
          <a:p>
            <a:pPr>
              <a:buFont typeface="Wingdings" panose="05000000000000000000" pitchFamily="2" charset="2"/>
              <a:buChar char="Ø"/>
            </a:pPr>
            <a:r>
              <a:rPr lang="es-ES" sz="1700" dirty="0">
                <a:solidFill>
                  <a:schemeClr val="tx1"/>
                </a:solidFill>
              </a:rPr>
              <a:t> </a:t>
            </a:r>
          </a:p>
          <a:p>
            <a:pPr>
              <a:buFont typeface="Wingdings" panose="05000000000000000000" pitchFamily="2" charset="2"/>
              <a:buChar char="Ø"/>
            </a:pPr>
            <a:r>
              <a:rPr lang="es-ES" sz="2800" dirty="0">
                <a:solidFill>
                  <a:schemeClr val="tx1"/>
                </a:solidFill>
              </a:rPr>
              <a:t>Estructura: forma organizada </a:t>
            </a:r>
          </a:p>
          <a:p>
            <a:pPr>
              <a:buFont typeface="Wingdings" panose="05000000000000000000" pitchFamily="2" charset="2"/>
              <a:buChar char="Ø"/>
            </a:pPr>
            <a:endParaRPr lang="es-ES" sz="1700" dirty="0">
              <a:solidFill>
                <a:schemeClr val="tx1"/>
              </a:solidFill>
            </a:endParaRPr>
          </a:p>
          <a:p>
            <a:pPr>
              <a:buFont typeface="Wingdings" panose="05000000000000000000" pitchFamily="2" charset="2"/>
              <a:buChar char="Ø"/>
            </a:pPr>
            <a:r>
              <a:rPr lang="es-ES" sz="2800" dirty="0">
                <a:solidFill>
                  <a:schemeClr val="tx1"/>
                </a:solidFill>
              </a:rPr>
              <a:t>Verificabilidad: el sistema desarrollado cumpla con las expectativas definidas</a:t>
            </a:r>
          </a:p>
          <a:p>
            <a:pPr>
              <a:buFont typeface="Wingdings" panose="05000000000000000000" pitchFamily="2" charset="2"/>
              <a:buChar char="Ø"/>
            </a:pPr>
            <a:endParaRPr lang="es-ES" sz="1700" dirty="0">
              <a:solidFill>
                <a:schemeClr val="tx1"/>
              </a:solidFill>
            </a:endParaRPr>
          </a:p>
          <a:p>
            <a:pPr>
              <a:buFont typeface="Wingdings" panose="05000000000000000000" pitchFamily="2" charset="2"/>
              <a:buChar char="Ø"/>
            </a:pPr>
            <a:r>
              <a:rPr lang="es-ES" sz="2800" dirty="0">
                <a:solidFill>
                  <a:schemeClr val="tx1"/>
                </a:solidFill>
              </a:rPr>
              <a:t>Facilita la comunicación</a:t>
            </a:r>
          </a:p>
          <a:p>
            <a:pPr>
              <a:buFont typeface="Wingdings" pitchFamily="2" charset="2"/>
              <a:buChar char="v"/>
            </a:pPr>
            <a:endParaRPr lang="es-ES_tradnl" sz="2600" dirty="0">
              <a:solidFill>
                <a:schemeClr val="tx1"/>
              </a:solidFill>
            </a:endParaRPr>
          </a:p>
        </p:txBody>
      </p:sp>
      <p:sp>
        <p:nvSpPr>
          <p:cNvPr id="27650" name="4 Marcador de número de diapositiva"/>
          <p:cNvSpPr>
            <a:spLocks noGrp="1"/>
          </p:cNvSpPr>
          <p:nvPr>
            <p:ph type="sldNum" sz="quarter" idx="12"/>
          </p:nvPr>
        </p:nvSpPr>
        <p:spPr>
          <a:xfrm>
            <a:off x="4648200" y="6248400"/>
            <a:ext cx="2895600" cy="457200"/>
          </a:xfrm>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fld id="{CCC9DA74-4144-488D-9D9B-14FDEDC4D561}" type="slidenum">
              <a:rPr lang="es-ES_tradnl" sz="1400"/>
              <a:pPr algn="ctr"/>
              <a:t>4</a:t>
            </a:fld>
            <a:endParaRPr lang="es-ES_tradnl" sz="1400" dirty="0"/>
          </a:p>
        </p:txBody>
      </p:sp>
    </p:spTree>
    <p:extLst>
      <p:ext uri="{BB962C8B-B14F-4D97-AF65-F5344CB8AC3E}">
        <p14:creationId xmlns:p14="http://schemas.microsoft.com/office/powerpoint/2010/main" val="3164255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r>
              <a:rPr lang="es-ES_tradnl" dirty="0"/>
              <a:t>Utilidad</a:t>
            </a:r>
          </a:p>
        </p:txBody>
      </p:sp>
      <p:sp>
        <p:nvSpPr>
          <p:cNvPr id="27652" name="Rectangle 3"/>
          <p:cNvSpPr>
            <a:spLocks noGrp="1" noChangeArrowheads="1"/>
          </p:cNvSpPr>
          <p:nvPr>
            <p:ph idx="1"/>
          </p:nvPr>
        </p:nvSpPr>
        <p:spPr>
          <a:xfrm>
            <a:off x="1192192" y="1752600"/>
            <a:ext cx="9963488" cy="5105400"/>
          </a:xfrm>
        </p:spPr>
        <p:txBody>
          <a:bodyPr>
            <a:noAutofit/>
          </a:bodyPr>
          <a:lstStyle/>
          <a:p>
            <a:pPr marL="0" indent="0" algn="just">
              <a:buNone/>
            </a:pPr>
            <a:r>
              <a:rPr lang="es-ES" sz="2400" dirty="0">
                <a:solidFill>
                  <a:schemeClr val="tx1"/>
                </a:solidFill>
              </a:rPr>
              <a:t>Una especificación puede usarse para varias tareas, tales como:</a:t>
            </a:r>
          </a:p>
          <a:p>
            <a:pPr marL="0" indent="0" algn="just">
              <a:buNone/>
            </a:pPr>
            <a:endParaRPr lang="es-ES" sz="1000" dirty="0">
              <a:solidFill>
                <a:schemeClr val="tx1"/>
              </a:solidFill>
            </a:endParaRPr>
          </a:p>
          <a:p>
            <a:pPr algn="just">
              <a:buFont typeface="Wingdings" panose="05000000000000000000" pitchFamily="2" charset="2"/>
              <a:buChar char="Ø"/>
            </a:pPr>
            <a:r>
              <a:rPr lang="es-ES" sz="2400" dirty="0">
                <a:solidFill>
                  <a:schemeClr val="tx1"/>
                </a:solidFill>
              </a:rPr>
              <a:t>Descubrir inconsistencias (por ejemplo, requerimientos contradictorios) o falta de detalles en las funcionalidades requeridas del sistema a construir;</a:t>
            </a:r>
          </a:p>
          <a:p>
            <a:pPr algn="just">
              <a:buFont typeface="Wingdings" panose="05000000000000000000" pitchFamily="2" charset="2"/>
              <a:buChar char="Ø"/>
            </a:pPr>
            <a:endParaRPr lang="es-ES" sz="1000" dirty="0">
              <a:solidFill>
                <a:schemeClr val="tx1"/>
              </a:solidFill>
            </a:endParaRPr>
          </a:p>
          <a:p>
            <a:pPr algn="just">
              <a:buFont typeface="Wingdings" panose="05000000000000000000" pitchFamily="2" charset="2"/>
              <a:buChar char="Ø"/>
            </a:pPr>
            <a:r>
              <a:rPr lang="es-ES" sz="2400" dirty="0">
                <a:solidFill>
                  <a:schemeClr val="tx1"/>
                </a:solidFill>
              </a:rPr>
              <a:t>Análisis de propiedades del sistema a construir antes de comenzar con su construcción;</a:t>
            </a:r>
          </a:p>
          <a:p>
            <a:pPr algn="just">
              <a:buFont typeface="Wingdings" panose="05000000000000000000" pitchFamily="2" charset="2"/>
              <a:buChar char="Ø"/>
            </a:pPr>
            <a:endParaRPr lang="es-ES" sz="1000" dirty="0">
              <a:solidFill>
                <a:schemeClr val="tx1"/>
              </a:solidFill>
            </a:endParaRPr>
          </a:p>
          <a:p>
            <a:pPr algn="just">
              <a:buFont typeface="Wingdings" panose="05000000000000000000" pitchFamily="2" charset="2"/>
              <a:buChar char="Ø"/>
            </a:pPr>
            <a:r>
              <a:rPr lang="es-ES" sz="2400" dirty="0">
                <a:solidFill>
                  <a:schemeClr val="tx1"/>
                </a:solidFill>
              </a:rPr>
              <a:t>Verificación del sistema construido con respecto a su especificación;</a:t>
            </a:r>
          </a:p>
          <a:p>
            <a:pPr algn="just">
              <a:buFont typeface="Wingdings" panose="05000000000000000000" pitchFamily="2" charset="2"/>
              <a:buChar char="Ø"/>
            </a:pPr>
            <a:endParaRPr lang="es-ES" sz="1000" dirty="0">
              <a:solidFill>
                <a:schemeClr val="tx1"/>
              </a:solidFill>
            </a:endParaRPr>
          </a:p>
          <a:p>
            <a:pPr algn="just">
              <a:buFont typeface="Wingdings" panose="05000000000000000000" pitchFamily="2" charset="2"/>
              <a:buChar char="Ø"/>
            </a:pPr>
            <a:r>
              <a:rPr lang="es-ES" sz="2400" dirty="0">
                <a:solidFill>
                  <a:schemeClr val="tx1"/>
                </a:solidFill>
              </a:rPr>
              <a:t>Construcción rigurosa de implementaciones a partir de especificaciones.</a:t>
            </a:r>
            <a:endParaRPr lang="es-ES_tradnl" sz="2400" dirty="0">
              <a:solidFill>
                <a:schemeClr val="tx1"/>
              </a:solidFill>
            </a:endParaRPr>
          </a:p>
          <a:p>
            <a:pPr marL="0" indent="0">
              <a:buNone/>
            </a:pPr>
            <a:endParaRPr lang="es-ES_tradnl" sz="2400" dirty="0">
              <a:solidFill>
                <a:schemeClr val="tx1"/>
              </a:solidFill>
            </a:endParaRPr>
          </a:p>
        </p:txBody>
      </p:sp>
      <p:sp>
        <p:nvSpPr>
          <p:cNvPr id="27650" name="4 Marcador de número de diapositiva"/>
          <p:cNvSpPr>
            <a:spLocks noGrp="1"/>
          </p:cNvSpPr>
          <p:nvPr>
            <p:ph type="sldNum" sz="quarter" idx="12"/>
          </p:nvPr>
        </p:nvSpPr>
        <p:spPr>
          <a:xfrm>
            <a:off x="4648200" y="6248400"/>
            <a:ext cx="2895600" cy="457200"/>
          </a:xfrm>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fld id="{CCC9DA74-4144-488D-9D9B-14FDEDC4D561}" type="slidenum">
              <a:rPr lang="es-ES_tradnl" sz="1400"/>
              <a:pPr algn="ctr"/>
              <a:t>5</a:t>
            </a:fld>
            <a:endParaRPr lang="es-ES_tradnl" sz="1400" dirty="0"/>
          </a:p>
        </p:txBody>
      </p:sp>
    </p:spTree>
    <p:extLst>
      <p:ext uri="{BB962C8B-B14F-4D97-AF65-F5344CB8AC3E}">
        <p14:creationId xmlns:p14="http://schemas.microsoft.com/office/powerpoint/2010/main" val="2157673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Rectangle 2"/>
          <p:cNvSpPr>
            <a:spLocks noGrp="1" noChangeArrowheads="1"/>
          </p:cNvSpPr>
          <p:nvPr>
            <p:ph type="title"/>
          </p:nvPr>
        </p:nvSpPr>
        <p:spPr>
          <a:xfrm>
            <a:off x="1221129" y="349169"/>
            <a:ext cx="7772400" cy="1371600"/>
          </a:xfrm>
        </p:spPr>
        <p:txBody>
          <a:bodyPr>
            <a:normAutofit/>
          </a:bodyPr>
          <a:lstStyle/>
          <a:p>
            <a:r>
              <a:rPr lang="es-ES" dirty="0"/>
              <a:t>Clasificación (1)</a:t>
            </a:r>
          </a:p>
        </p:txBody>
      </p:sp>
      <p:sp>
        <p:nvSpPr>
          <p:cNvPr id="4099" name="Rectangle 2"/>
          <p:cNvSpPr>
            <a:spLocks noGrp="1" noChangeArrowheads="1"/>
          </p:cNvSpPr>
          <p:nvPr>
            <p:ph idx="1"/>
          </p:nvPr>
        </p:nvSpPr>
        <p:spPr>
          <a:xfrm>
            <a:off x="1242113" y="1846162"/>
            <a:ext cx="9970370" cy="4613623"/>
          </a:xfrm>
        </p:spPr>
        <p:txBody>
          <a:bodyPr>
            <a:noAutofit/>
          </a:bodyPr>
          <a:lstStyle/>
          <a:p>
            <a:r>
              <a:rPr lang="es-ES" sz="2400" b="1" u="sng" dirty="0"/>
              <a:t>1.- Formales o Informales</a:t>
            </a:r>
          </a:p>
          <a:p>
            <a:endParaRPr lang="es-ES" sz="1000" dirty="0"/>
          </a:p>
          <a:p>
            <a:pPr marL="400050" lvl="1" indent="0">
              <a:buNone/>
            </a:pPr>
            <a:r>
              <a:rPr lang="es-ES" sz="2400" b="1" i="1" dirty="0"/>
              <a:t>Informales</a:t>
            </a:r>
            <a:br>
              <a:rPr lang="es-ES" sz="2400" i="1" dirty="0"/>
            </a:br>
            <a:r>
              <a:rPr lang="es-ES" sz="2400" dirty="0"/>
              <a:t>Escritas en lenguaje natural. Pero pueden usar figuras, tablas y otras notaciones para ayudar a su entendimiento. También pueden ser estructuradas en forma estandarizada.</a:t>
            </a:r>
          </a:p>
          <a:p>
            <a:pPr marL="400050" lvl="1" indent="0">
              <a:buNone/>
            </a:pPr>
            <a:endParaRPr lang="es-ES" sz="1000" i="1" dirty="0"/>
          </a:p>
          <a:p>
            <a:pPr marL="400050" lvl="1" indent="0">
              <a:buNone/>
            </a:pPr>
            <a:r>
              <a:rPr lang="es-ES" sz="2400" b="1" i="1" dirty="0"/>
              <a:t>Formales </a:t>
            </a:r>
            <a:br>
              <a:rPr lang="es-ES" sz="2400" i="1" dirty="0"/>
            </a:br>
            <a:r>
              <a:rPr lang="es-ES" sz="2400" dirty="0"/>
              <a:t>Cuando la notación tiene sintaxis y sentido totalmente precisos se convierte en un formalismo. En estos casos hablamos de especificaciones formales.</a:t>
            </a:r>
          </a:p>
          <a:p>
            <a:pPr marL="0" indent="0" algn="just">
              <a:buNone/>
            </a:pPr>
            <a:r>
              <a:rPr lang="es-ES" sz="2400" dirty="0"/>
              <a:t>También es útil hablar de </a:t>
            </a:r>
            <a:r>
              <a:rPr lang="es-ES" sz="2400" b="1" dirty="0">
                <a:solidFill>
                  <a:srgbClr val="FF0000"/>
                </a:solidFill>
              </a:rPr>
              <a:t>Especificaciones Semiformales </a:t>
            </a:r>
            <a:r>
              <a:rPr lang="es-ES" sz="2400" dirty="0"/>
              <a:t>ya que en la práctica usamos notaciones sin insistir en una semántica completamente precisa</a:t>
            </a:r>
          </a:p>
          <a:p>
            <a:pPr marL="0" indent="0">
              <a:buNone/>
            </a:pPr>
            <a:br>
              <a:rPr lang="es-ES" sz="2400" dirty="0"/>
            </a:br>
            <a:endParaRPr lang="es-ES" sz="2400" dirty="0"/>
          </a:p>
          <a:p>
            <a:pPr marL="0" indent="0">
              <a:buNone/>
            </a:pPr>
            <a:endParaRPr lang="es-ES" sz="2400" dirty="0">
              <a:solidFill>
                <a:schemeClr val="tx1"/>
              </a:solidFill>
            </a:endParaRPr>
          </a:p>
        </p:txBody>
      </p:sp>
      <p:sp>
        <p:nvSpPr>
          <p:cNvPr id="4098" name="5 Marcador de número de diapositiva"/>
          <p:cNvSpPr>
            <a:spLocks noGrp="1"/>
          </p:cNvSpPr>
          <p:nvPr>
            <p:ph type="sldNum" sz="quarter" idx="12"/>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AD29EBC0-559B-4C92-AA4F-46987FAC9FEC}" type="slidenum">
              <a:rPr lang="en-US" sz="1400"/>
              <a:pPr/>
              <a:t>6</a:t>
            </a:fld>
            <a:endParaRPr lang="en-US" sz="1400"/>
          </a:p>
        </p:txBody>
      </p:sp>
    </p:spTree>
    <p:extLst>
      <p:ext uri="{BB962C8B-B14F-4D97-AF65-F5344CB8AC3E}">
        <p14:creationId xmlns:p14="http://schemas.microsoft.com/office/powerpoint/2010/main" val="1305941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1214378" y="383382"/>
            <a:ext cx="7772400" cy="1371600"/>
          </a:xfrm>
        </p:spPr>
        <p:txBody>
          <a:bodyPr>
            <a:normAutofit/>
          </a:bodyPr>
          <a:lstStyle/>
          <a:p>
            <a:r>
              <a:rPr lang="es-ES" dirty="0"/>
              <a:t>Métodos formales</a:t>
            </a:r>
            <a:endParaRPr lang="en-US" dirty="0"/>
          </a:p>
        </p:txBody>
      </p:sp>
      <p:sp>
        <p:nvSpPr>
          <p:cNvPr id="5122" name="5 Marcador de número de diapositiva"/>
          <p:cNvSpPr>
            <a:spLocks noGrp="1"/>
          </p:cNvSpPr>
          <p:nvPr>
            <p:ph type="sldNum" sz="quarter" idx="12"/>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39CBDB3F-F7AC-47EE-BB16-77DA564EE0C6}" type="slidenum">
              <a:rPr lang="en-US" sz="1400"/>
              <a:pPr/>
              <a:t>7</a:t>
            </a:fld>
            <a:endParaRPr lang="en-US" sz="1400"/>
          </a:p>
        </p:txBody>
      </p:sp>
      <p:sp>
        <p:nvSpPr>
          <p:cNvPr id="5124" name="Rectangle 4"/>
          <p:cNvSpPr>
            <a:spLocks noChangeArrowheads="1"/>
          </p:cNvSpPr>
          <p:nvPr/>
        </p:nvSpPr>
        <p:spPr bwMode="auto">
          <a:xfrm>
            <a:off x="4138613" y="2976563"/>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ES"/>
          </a:p>
        </p:txBody>
      </p:sp>
      <p:sp>
        <p:nvSpPr>
          <p:cNvPr id="5125" name="2 Rectángulo"/>
          <p:cNvSpPr>
            <a:spLocks noChangeArrowheads="1"/>
          </p:cNvSpPr>
          <p:nvPr/>
        </p:nvSpPr>
        <p:spPr bwMode="auto">
          <a:xfrm>
            <a:off x="1214377" y="1939724"/>
            <a:ext cx="999810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s-ES" sz="2600" dirty="0"/>
              <a:t>Los métodos formales en la Ingeniería del Software son </a:t>
            </a:r>
            <a:r>
              <a:rPr lang="es-ES" sz="2600" b="1" dirty="0">
                <a:solidFill>
                  <a:srgbClr val="FF0000"/>
                </a:solidFill>
              </a:rPr>
              <a:t>técnicas matemáticamente rigurosas</a:t>
            </a:r>
            <a:r>
              <a:rPr lang="es-ES" sz="2600" dirty="0"/>
              <a:t> que se utilizan para describir las propiedades del sistema, y proporcionan marcos de referencia para especificarlo, desarrollarlo y verificarlo de forma sistemática.</a:t>
            </a:r>
          </a:p>
          <a:p>
            <a:endParaRPr lang="es-ES" sz="2600" dirty="0"/>
          </a:p>
          <a:p>
            <a:pPr algn="r"/>
            <a:r>
              <a:rPr lang="es-ES" sz="2000" i="1" dirty="0"/>
              <a:t>Métodos Formales, Ingeniería de Requisitos y Pruebas del Software, Edgar Serna</a:t>
            </a:r>
          </a:p>
          <a:p>
            <a:endParaRPr lang="es-E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1397D-7EEF-23E6-4E8D-FE57735CC867}"/>
            </a:ext>
          </a:extLst>
        </p:cNvPr>
        <p:cNvGrpSpPr/>
        <p:nvPr/>
      </p:nvGrpSpPr>
      <p:grpSpPr>
        <a:xfrm>
          <a:off x="0" y="0"/>
          <a:ext cx="0" cy="0"/>
          <a:chOff x="0" y="0"/>
          <a:chExt cx="0" cy="0"/>
        </a:xfrm>
      </p:grpSpPr>
      <p:sp>
        <p:nvSpPr>
          <p:cNvPr id="5123" name="Rectangle 2">
            <a:extLst>
              <a:ext uri="{FF2B5EF4-FFF2-40B4-BE49-F238E27FC236}">
                <a16:creationId xmlns:a16="http://schemas.microsoft.com/office/drawing/2014/main" id="{342B1440-3729-2647-E682-41C8083B182A}"/>
              </a:ext>
            </a:extLst>
          </p:cNvPr>
          <p:cNvSpPr>
            <a:spLocks noGrp="1" noChangeArrowheads="1"/>
          </p:cNvSpPr>
          <p:nvPr>
            <p:ph type="title"/>
          </p:nvPr>
        </p:nvSpPr>
        <p:spPr>
          <a:xfrm>
            <a:off x="1191228" y="351771"/>
            <a:ext cx="7772400" cy="1371600"/>
          </a:xfrm>
        </p:spPr>
        <p:txBody>
          <a:bodyPr>
            <a:normAutofit/>
          </a:bodyPr>
          <a:lstStyle/>
          <a:p>
            <a:r>
              <a:rPr lang="es-ES" dirty="0"/>
              <a:t>Métodos informales</a:t>
            </a:r>
            <a:endParaRPr lang="en-US" dirty="0"/>
          </a:p>
        </p:txBody>
      </p:sp>
      <p:sp>
        <p:nvSpPr>
          <p:cNvPr id="5122" name="5 Marcador de número de diapositiva">
            <a:extLst>
              <a:ext uri="{FF2B5EF4-FFF2-40B4-BE49-F238E27FC236}">
                <a16:creationId xmlns:a16="http://schemas.microsoft.com/office/drawing/2014/main" id="{DC863169-9ADE-FFA7-382B-023431810076}"/>
              </a:ext>
            </a:extLst>
          </p:cNvPr>
          <p:cNvSpPr>
            <a:spLocks noGrp="1"/>
          </p:cNvSpPr>
          <p:nvPr>
            <p:ph type="sldNum" sz="quarter" idx="12"/>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39CBDB3F-F7AC-47EE-BB16-77DA564EE0C6}" type="slidenum">
              <a:rPr lang="en-US" sz="1400"/>
              <a:pPr/>
              <a:t>8</a:t>
            </a:fld>
            <a:endParaRPr lang="en-US" sz="1400"/>
          </a:p>
        </p:txBody>
      </p:sp>
      <p:sp>
        <p:nvSpPr>
          <p:cNvPr id="5124" name="Rectangle 4">
            <a:extLst>
              <a:ext uri="{FF2B5EF4-FFF2-40B4-BE49-F238E27FC236}">
                <a16:creationId xmlns:a16="http://schemas.microsoft.com/office/drawing/2014/main" id="{D5EF6437-389E-5320-D990-CA9804EA9714}"/>
              </a:ext>
            </a:extLst>
          </p:cNvPr>
          <p:cNvSpPr>
            <a:spLocks noChangeArrowheads="1"/>
          </p:cNvSpPr>
          <p:nvPr/>
        </p:nvSpPr>
        <p:spPr bwMode="auto">
          <a:xfrm>
            <a:off x="4138613" y="2976563"/>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ES"/>
          </a:p>
        </p:txBody>
      </p:sp>
      <p:sp>
        <p:nvSpPr>
          <p:cNvPr id="5125" name="2 Rectángulo">
            <a:extLst>
              <a:ext uri="{FF2B5EF4-FFF2-40B4-BE49-F238E27FC236}">
                <a16:creationId xmlns:a16="http://schemas.microsoft.com/office/drawing/2014/main" id="{62F4BBE1-5A23-1E53-B147-B87CF8E28188}"/>
              </a:ext>
            </a:extLst>
          </p:cNvPr>
          <p:cNvSpPr>
            <a:spLocks noChangeArrowheads="1"/>
          </p:cNvSpPr>
          <p:nvPr/>
        </p:nvSpPr>
        <p:spPr bwMode="auto">
          <a:xfrm>
            <a:off x="1191227" y="2007066"/>
            <a:ext cx="10021255" cy="3231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1440" indent="-91440">
              <a:lnSpc>
                <a:spcPct val="80000"/>
              </a:lnSpc>
              <a:spcBef>
                <a:spcPts val="1200"/>
              </a:spcBef>
              <a:spcAft>
                <a:spcPts val="200"/>
              </a:spcAft>
              <a:buClr>
                <a:schemeClr val="accent1"/>
              </a:buClr>
              <a:buSzPct val="100000"/>
              <a:buFont typeface="Wingdings" panose="05000000000000000000" pitchFamily="2" charset="2"/>
              <a:buChar char="Ø"/>
            </a:pPr>
            <a:r>
              <a:rPr lang="es-ES" sz="2600" dirty="0"/>
              <a:t>Enfoques más flexibles y menos rigurosos que los métodos formales. </a:t>
            </a:r>
          </a:p>
          <a:p>
            <a:pPr>
              <a:lnSpc>
                <a:spcPct val="80000"/>
              </a:lnSpc>
              <a:spcBef>
                <a:spcPts val="1200"/>
              </a:spcBef>
              <a:spcAft>
                <a:spcPts val="200"/>
              </a:spcAft>
              <a:buClr>
                <a:schemeClr val="accent1"/>
              </a:buClr>
              <a:buSzPct val="100000"/>
            </a:pPr>
            <a:endParaRPr lang="es-ES" sz="2000" dirty="0"/>
          </a:p>
          <a:p>
            <a:pPr marL="91440" indent="-91440">
              <a:lnSpc>
                <a:spcPct val="80000"/>
              </a:lnSpc>
              <a:spcBef>
                <a:spcPts val="1200"/>
              </a:spcBef>
              <a:spcAft>
                <a:spcPts val="200"/>
              </a:spcAft>
              <a:buClr>
                <a:schemeClr val="accent1"/>
              </a:buClr>
              <a:buSzPct val="100000"/>
              <a:buFont typeface="Wingdings" panose="05000000000000000000" pitchFamily="2" charset="2"/>
              <a:buChar char="Ø"/>
            </a:pPr>
            <a:r>
              <a:rPr lang="es-ES" sz="2600" dirty="0"/>
              <a:t>Más accesibles y se utilizan comúnmente en la práctica del desarrollo de software, especialmente en entornos ágiles.</a:t>
            </a:r>
          </a:p>
          <a:p>
            <a:pPr marL="91440" indent="-91440">
              <a:lnSpc>
                <a:spcPct val="80000"/>
              </a:lnSpc>
              <a:spcBef>
                <a:spcPts val="1200"/>
              </a:spcBef>
              <a:spcAft>
                <a:spcPts val="200"/>
              </a:spcAft>
              <a:buClr>
                <a:schemeClr val="accent1"/>
              </a:buClr>
              <a:buSzPct val="100000"/>
              <a:buFont typeface="Wingdings" panose="05000000000000000000" pitchFamily="2" charset="2"/>
              <a:buChar char="Ø"/>
            </a:pPr>
            <a:endParaRPr lang="es-ES" sz="2000" dirty="0"/>
          </a:p>
          <a:p>
            <a:pPr marL="91440" indent="-91440">
              <a:lnSpc>
                <a:spcPct val="80000"/>
              </a:lnSpc>
              <a:spcBef>
                <a:spcPts val="1200"/>
              </a:spcBef>
              <a:spcAft>
                <a:spcPts val="200"/>
              </a:spcAft>
              <a:buClr>
                <a:schemeClr val="accent1"/>
              </a:buClr>
              <a:buSzPct val="100000"/>
              <a:buFont typeface="Wingdings" panose="05000000000000000000" pitchFamily="2" charset="2"/>
              <a:buChar char="Ø"/>
            </a:pPr>
            <a:r>
              <a:rPr lang="es-ES" sz="2600" dirty="0"/>
              <a:t>Complementarios a los métodos formales y pueden ser utilizados en conjunto para obtener una comprensión más completa de los requerimientos del sistema. </a:t>
            </a:r>
          </a:p>
        </p:txBody>
      </p:sp>
    </p:spTree>
    <p:extLst>
      <p:ext uri="{BB962C8B-B14F-4D97-AF65-F5344CB8AC3E}">
        <p14:creationId xmlns:p14="http://schemas.microsoft.com/office/powerpoint/2010/main" val="457248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Rectangle 2"/>
          <p:cNvSpPr>
            <a:spLocks noGrp="1" noChangeArrowheads="1"/>
          </p:cNvSpPr>
          <p:nvPr>
            <p:ph type="title"/>
          </p:nvPr>
        </p:nvSpPr>
        <p:spPr>
          <a:xfrm>
            <a:off x="1210962" y="325394"/>
            <a:ext cx="7772400" cy="1371600"/>
          </a:xfrm>
        </p:spPr>
        <p:txBody>
          <a:bodyPr>
            <a:normAutofit/>
          </a:bodyPr>
          <a:lstStyle/>
          <a:p>
            <a:r>
              <a:rPr lang="es-ES" dirty="0"/>
              <a:t>Clasificación (2)</a:t>
            </a:r>
          </a:p>
        </p:txBody>
      </p:sp>
      <p:sp>
        <p:nvSpPr>
          <p:cNvPr id="4099" name="Rectangle 2"/>
          <p:cNvSpPr>
            <a:spLocks noGrp="1" noChangeArrowheads="1"/>
          </p:cNvSpPr>
          <p:nvPr>
            <p:ph idx="1"/>
          </p:nvPr>
        </p:nvSpPr>
        <p:spPr>
          <a:xfrm>
            <a:off x="1493134" y="1791182"/>
            <a:ext cx="9815332" cy="5486400"/>
          </a:xfrm>
        </p:spPr>
        <p:txBody>
          <a:bodyPr>
            <a:noAutofit/>
          </a:bodyPr>
          <a:lstStyle/>
          <a:p>
            <a:r>
              <a:rPr lang="es-ES" b="1" u="sng" dirty="0"/>
              <a:t>2.- Operacional o Descriptiva</a:t>
            </a:r>
            <a:endParaRPr lang="es-ES" dirty="0"/>
          </a:p>
          <a:p>
            <a:pPr marL="400050" lvl="1" indent="0">
              <a:buNone/>
            </a:pPr>
            <a:r>
              <a:rPr lang="es-ES" sz="2000" b="1" i="1" dirty="0"/>
              <a:t>Operacional</a:t>
            </a:r>
          </a:p>
          <a:p>
            <a:pPr marL="400050" lvl="1" indent="0">
              <a:buNone/>
            </a:pPr>
            <a:endParaRPr lang="es-ES" sz="2000" dirty="0"/>
          </a:p>
          <a:p>
            <a:pPr marL="400050" lvl="1" indent="0">
              <a:buNone/>
            </a:pPr>
            <a:r>
              <a:rPr lang="es-ES" sz="2000" dirty="0"/>
              <a:t>Describe el propósito del sistema describiendo el comportamiento deseado.</a:t>
            </a:r>
            <a:br>
              <a:rPr lang="es-ES" sz="2000" dirty="0"/>
            </a:br>
            <a:r>
              <a:rPr lang="es-ES" sz="2000" dirty="0"/>
              <a:t>Usualmente proporciona un modelo del sistema.</a:t>
            </a:r>
          </a:p>
          <a:p>
            <a:pPr marL="400050" lvl="1" indent="0">
              <a:buNone/>
            </a:pPr>
            <a:br>
              <a:rPr lang="es-ES" sz="2000" dirty="0"/>
            </a:br>
            <a:r>
              <a:rPr lang="es-ES" sz="2000" b="1" i="1" dirty="0"/>
              <a:t>Descriptiva</a:t>
            </a:r>
          </a:p>
          <a:p>
            <a:pPr marL="400050" lvl="1" indent="0">
              <a:buNone/>
            </a:pPr>
            <a:endParaRPr lang="es-ES" sz="2000" dirty="0"/>
          </a:p>
          <a:p>
            <a:pPr marL="400050" lvl="1" indent="0">
              <a:buNone/>
            </a:pPr>
            <a:r>
              <a:rPr lang="es-ES" sz="2000" dirty="0"/>
              <a:t>En contraposición, ésta trata el estado de las propiedades deseadas del sistema en forma puramente declarativa.</a:t>
            </a:r>
            <a:br>
              <a:rPr lang="es-ES" sz="2000" dirty="0"/>
            </a:br>
            <a:endParaRPr lang="es-ES" sz="2000" dirty="0"/>
          </a:p>
          <a:p>
            <a:pPr marL="0" indent="0">
              <a:buNone/>
            </a:pPr>
            <a:endParaRPr lang="es-ES" dirty="0">
              <a:solidFill>
                <a:schemeClr val="tx1"/>
              </a:solidFill>
            </a:endParaRPr>
          </a:p>
        </p:txBody>
      </p:sp>
      <p:sp>
        <p:nvSpPr>
          <p:cNvPr id="4098" name="5 Marcador de número de diapositiva"/>
          <p:cNvSpPr>
            <a:spLocks noGrp="1"/>
          </p:cNvSpPr>
          <p:nvPr>
            <p:ph type="sldNum" sz="quarter" idx="12"/>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AD29EBC0-559B-4C92-AA4F-46987FAC9FEC}" type="slidenum">
              <a:rPr lang="en-US" sz="1400"/>
              <a:pPr/>
              <a:t>9</a:t>
            </a:fld>
            <a:endParaRPr lang="en-US" sz="1400"/>
          </a:p>
        </p:txBody>
      </p:sp>
    </p:spTree>
    <p:extLst>
      <p:ext uri="{BB962C8B-B14F-4D97-AF65-F5344CB8AC3E}">
        <p14:creationId xmlns:p14="http://schemas.microsoft.com/office/powerpoint/2010/main" val="1535374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67948" y="2209800"/>
            <a:ext cx="8686800" cy="2590800"/>
          </a:xfrm>
        </p:spPr>
        <p:txBody>
          <a:bodyPr>
            <a:normAutofit/>
          </a:bodyPr>
          <a:lstStyle/>
          <a:p>
            <a:pPr algn="ctr"/>
            <a:r>
              <a:rPr lang="es-ES" dirty="0"/>
              <a:t>Lenguajes  de especificación:</a:t>
            </a:r>
            <a:br>
              <a:rPr lang="es-ES" dirty="0"/>
            </a:br>
            <a:r>
              <a:rPr lang="es-ES" dirty="0"/>
              <a:t>Exponentes</a:t>
            </a:r>
          </a:p>
        </p:txBody>
      </p:sp>
      <p:sp>
        <p:nvSpPr>
          <p:cNvPr id="5" name="4 Marcador de número de diapositiva"/>
          <p:cNvSpPr>
            <a:spLocks noGrp="1"/>
          </p:cNvSpPr>
          <p:nvPr>
            <p:ph type="sldNum" sz="quarter" idx="12"/>
          </p:nvPr>
        </p:nvSpPr>
        <p:spPr/>
        <p:txBody>
          <a:bodyPr/>
          <a:lstStyle/>
          <a:p>
            <a:pPr>
              <a:defRPr/>
            </a:pPr>
            <a:fld id="{6922B71D-AC11-4252-925D-6C29FA77B28B}" type="slidenum">
              <a:rPr lang="en-US" smtClean="0"/>
              <a:pPr>
                <a:defRPr/>
              </a:pPr>
              <a:t>10</a:t>
            </a:fld>
            <a:endParaRPr lang="en-US"/>
          </a:p>
        </p:txBody>
      </p:sp>
    </p:spTree>
    <p:extLst>
      <p:ext uri="{BB962C8B-B14F-4D97-AF65-F5344CB8AC3E}">
        <p14:creationId xmlns:p14="http://schemas.microsoft.com/office/powerpoint/2010/main" val="3858698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E9D6D-F6B9-2141-7191-C1C81157F581}"/>
            </a:ext>
          </a:extLst>
        </p:cNvPr>
        <p:cNvGrpSpPr/>
        <p:nvPr/>
      </p:nvGrpSpPr>
      <p:grpSpPr>
        <a:xfrm>
          <a:off x="0" y="0"/>
          <a:ext cx="0" cy="0"/>
          <a:chOff x="0" y="0"/>
          <a:chExt cx="0" cy="0"/>
        </a:xfrm>
      </p:grpSpPr>
      <p:sp>
        <p:nvSpPr>
          <p:cNvPr id="5123" name="Rectangle 2">
            <a:extLst>
              <a:ext uri="{FF2B5EF4-FFF2-40B4-BE49-F238E27FC236}">
                <a16:creationId xmlns:a16="http://schemas.microsoft.com/office/drawing/2014/main" id="{DA2726D4-C00B-FEB5-85C2-D2C5F72DC2A7}"/>
              </a:ext>
            </a:extLst>
          </p:cNvPr>
          <p:cNvSpPr>
            <a:spLocks noGrp="1" noChangeArrowheads="1"/>
          </p:cNvSpPr>
          <p:nvPr>
            <p:ph type="title"/>
          </p:nvPr>
        </p:nvSpPr>
        <p:spPr>
          <a:xfrm>
            <a:off x="1226917" y="383382"/>
            <a:ext cx="8801582" cy="1371600"/>
          </a:xfrm>
        </p:spPr>
        <p:txBody>
          <a:bodyPr>
            <a:normAutofit/>
          </a:bodyPr>
          <a:lstStyle/>
          <a:p>
            <a:r>
              <a:rPr lang="es-ES" dirty="0"/>
              <a:t>Diagrama de Flujo de Datos (DFD)</a:t>
            </a:r>
            <a:endParaRPr lang="en-US" dirty="0"/>
          </a:p>
        </p:txBody>
      </p:sp>
      <p:sp>
        <p:nvSpPr>
          <p:cNvPr id="5122" name="5 Marcador de número de diapositiva">
            <a:extLst>
              <a:ext uri="{FF2B5EF4-FFF2-40B4-BE49-F238E27FC236}">
                <a16:creationId xmlns:a16="http://schemas.microsoft.com/office/drawing/2014/main" id="{AC6878BE-28D5-C15F-6BA2-E2FA81F7763E}"/>
              </a:ext>
            </a:extLst>
          </p:cNvPr>
          <p:cNvSpPr>
            <a:spLocks noGrp="1"/>
          </p:cNvSpPr>
          <p:nvPr>
            <p:ph type="sldNum" sz="quarter" idx="12"/>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39CBDB3F-F7AC-47EE-BB16-77DA564EE0C6}" type="slidenum">
              <a:rPr lang="en-US" sz="1400"/>
              <a:pPr/>
              <a:t>11</a:t>
            </a:fld>
            <a:endParaRPr lang="en-US" sz="1400"/>
          </a:p>
        </p:txBody>
      </p:sp>
      <p:sp>
        <p:nvSpPr>
          <p:cNvPr id="5124" name="Rectangle 4">
            <a:extLst>
              <a:ext uri="{FF2B5EF4-FFF2-40B4-BE49-F238E27FC236}">
                <a16:creationId xmlns:a16="http://schemas.microsoft.com/office/drawing/2014/main" id="{CE937C5F-435A-CD27-FF48-84AB7E326756}"/>
              </a:ext>
            </a:extLst>
          </p:cNvPr>
          <p:cNvSpPr>
            <a:spLocks noChangeArrowheads="1"/>
          </p:cNvSpPr>
          <p:nvPr/>
        </p:nvSpPr>
        <p:spPr bwMode="auto">
          <a:xfrm>
            <a:off x="4138613" y="2976563"/>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ES"/>
          </a:p>
        </p:txBody>
      </p:sp>
      <p:sp>
        <p:nvSpPr>
          <p:cNvPr id="5125" name="2 Rectángulo">
            <a:extLst>
              <a:ext uri="{FF2B5EF4-FFF2-40B4-BE49-F238E27FC236}">
                <a16:creationId xmlns:a16="http://schemas.microsoft.com/office/drawing/2014/main" id="{5CD376B4-8201-9178-63E5-CB91BE6F64BB}"/>
              </a:ext>
            </a:extLst>
          </p:cNvPr>
          <p:cNvSpPr>
            <a:spLocks noChangeArrowheads="1"/>
          </p:cNvSpPr>
          <p:nvPr/>
        </p:nvSpPr>
        <p:spPr bwMode="auto">
          <a:xfrm>
            <a:off x="1285875" y="1905000"/>
            <a:ext cx="9144000"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s-ES" sz="2600" dirty="0"/>
              <a:t>Describen colecciones de datos del sistema que son manipulados por las funciones.</a:t>
            </a:r>
          </a:p>
          <a:p>
            <a:endParaRPr lang="es-ES" sz="2600" dirty="0"/>
          </a:p>
        </p:txBody>
      </p:sp>
      <p:graphicFrame>
        <p:nvGraphicFramePr>
          <p:cNvPr id="2" name="Object 4">
            <a:extLst>
              <a:ext uri="{FF2B5EF4-FFF2-40B4-BE49-F238E27FC236}">
                <a16:creationId xmlns:a16="http://schemas.microsoft.com/office/drawing/2014/main" id="{FEDECE07-4C59-26D9-1E51-B0CF35BADC06}"/>
              </a:ext>
            </a:extLst>
          </p:cNvPr>
          <p:cNvGraphicFramePr>
            <a:graphicFrameLocks noChangeAspect="1"/>
          </p:cNvGraphicFramePr>
          <p:nvPr>
            <p:extLst>
              <p:ext uri="{D42A27DB-BD31-4B8C-83A1-F6EECF244321}">
                <p14:modId xmlns:p14="http://schemas.microsoft.com/office/powerpoint/2010/main" val="3545086129"/>
              </p:ext>
            </p:extLst>
          </p:nvPr>
        </p:nvGraphicFramePr>
        <p:xfrm>
          <a:off x="7714759" y="2770187"/>
          <a:ext cx="2971800" cy="2003425"/>
        </p:xfrm>
        <a:graphic>
          <a:graphicData uri="http://schemas.openxmlformats.org/presentationml/2006/ole">
            <mc:AlternateContent xmlns:mc="http://schemas.openxmlformats.org/markup-compatibility/2006">
              <mc:Choice xmlns:v="urn:schemas-microsoft-com:vml" Requires="v">
                <p:oleObj name="Documento" r:id="rId3" imgW="2353056" imgH="1562100" progId="Word.Document.8">
                  <p:embed/>
                </p:oleObj>
              </mc:Choice>
              <mc:Fallback>
                <p:oleObj name="Documento" r:id="rId3" imgW="2353056" imgH="1562100" progId="Word.Document.8">
                  <p:embed/>
                  <p:pic>
                    <p:nvPicPr>
                      <p:cNvPr id="717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4759" y="2770187"/>
                        <a:ext cx="2971800" cy="200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Text Box 5">
            <a:extLst>
              <a:ext uri="{FF2B5EF4-FFF2-40B4-BE49-F238E27FC236}">
                <a16:creationId xmlns:a16="http://schemas.microsoft.com/office/drawing/2014/main" id="{A4C1252B-55CB-2300-EAD8-78BAF7EBE876}"/>
              </a:ext>
            </a:extLst>
          </p:cNvPr>
          <p:cNvSpPr txBox="1">
            <a:spLocks noChangeArrowheads="1"/>
          </p:cNvSpPr>
          <p:nvPr/>
        </p:nvSpPr>
        <p:spPr bwMode="auto">
          <a:xfrm>
            <a:off x="6623223" y="4473575"/>
            <a:ext cx="331648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285750" indent="-28575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indent="0"/>
            <a:r>
              <a:rPr lang="en-US" sz="1800" dirty="0" err="1">
                <a:latin typeface="Tahoma" pitchFamily="34" charset="0"/>
              </a:rPr>
              <a:t>Figura</a:t>
            </a:r>
            <a:r>
              <a:rPr lang="en-US" sz="1800" dirty="0">
                <a:latin typeface="Tahoma" pitchFamily="34" charset="0"/>
              </a:rPr>
              <a:t> 2</a:t>
            </a:r>
            <a:endParaRPr lang="es-ES" sz="1800" dirty="0">
              <a:latin typeface="Tahoma" pitchFamily="34" charset="0"/>
            </a:endParaRPr>
          </a:p>
          <a:p>
            <a:pPr>
              <a:buFontTx/>
              <a:buChar char="•"/>
            </a:pPr>
            <a:r>
              <a:rPr lang="es-ES" sz="1800" dirty="0">
                <a:latin typeface="Tahoma" pitchFamily="34" charset="0"/>
              </a:rPr>
              <a:t>Son necesarias A, B y C?</a:t>
            </a:r>
          </a:p>
          <a:p>
            <a:pPr>
              <a:buFontTx/>
              <a:buChar char="•"/>
            </a:pPr>
            <a:r>
              <a:rPr lang="es-ES" sz="1800" dirty="0">
                <a:latin typeface="Tahoma" pitchFamily="34" charset="0"/>
              </a:rPr>
              <a:t>Se producen siempre E y F?</a:t>
            </a:r>
          </a:p>
        </p:txBody>
      </p:sp>
      <p:graphicFrame>
        <p:nvGraphicFramePr>
          <p:cNvPr id="4" name="Object 6">
            <a:extLst>
              <a:ext uri="{FF2B5EF4-FFF2-40B4-BE49-F238E27FC236}">
                <a16:creationId xmlns:a16="http://schemas.microsoft.com/office/drawing/2014/main" id="{65127B4E-6FDC-2C86-90C9-D5D8B6A0515B}"/>
              </a:ext>
            </a:extLst>
          </p:cNvPr>
          <p:cNvGraphicFramePr>
            <a:graphicFrameLocks noChangeAspect="1"/>
          </p:cNvGraphicFramePr>
          <p:nvPr>
            <p:extLst>
              <p:ext uri="{D42A27DB-BD31-4B8C-83A1-F6EECF244321}">
                <p14:modId xmlns:p14="http://schemas.microsoft.com/office/powerpoint/2010/main" val="3336490544"/>
              </p:ext>
            </p:extLst>
          </p:nvPr>
        </p:nvGraphicFramePr>
        <p:xfrm>
          <a:off x="1898822" y="3086100"/>
          <a:ext cx="2936383" cy="685800"/>
        </p:xfrm>
        <a:graphic>
          <a:graphicData uri="http://schemas.openxmlformats.org/presentationml/2006/ole">
            <mc:AlternateContent xmlns:mc="http://schemas.openxmlformats.org/markup-compatibility/2006">
              <mc:Choice xmlns:v="urn:schemas-microsoft-com:vml" Requires="v">
                <p:oleObj name="Documento" r:id="rId5" imgW="1629156" imgH="381000" progId="Word.Document.8">
                  <p:embed/>
                </p:oleObj>
              </mc:Choice>
              <mc:Fallback>
                <p:oleObj name="Documento" r:id="rId5" imgW="1629156" imgH="381000" progId="Word.Document.8">
                  <p:embed/>
                  <p:pic>
                    <p:nvPicPr>
                      <p:cNvPr id="7175"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98822" y="3086100"/>
                        <a:ext cx="2936383" cy="685800"/>
                      </a:xfrm>
                      <a:prstGeom prst="rect">
                        <a:avLst/>
                      </a:prstGeom>
                      <a:noFill/>
                      <a:ln>
                        <a:noFill/>
                      </a:ln>
                      <a:effectLst/>
                    </p:spPr>
                  </p:pic>
                </p:oleObj>
              </mc:Fallback>
            </mc:AlternateContent>
          </a:graphicData>
        </a:graphic>
      </p:graphicFrame>
      <p:sp>
        <p:nvSpPr>
          <p:cNvPr id="5" name="Text Box 7">
            <a:extLst>
              <a:ext uri="{FF2B5EF4-FFF2-40B4-BE49-F238E27FC236}">
                <a16:creationId xmlns:a16="http://schemas.microsoft.com/office/drawing/2014/main" id="{AC2F0FD5-15A9-C8BC-44AB-2ADD874DAE63}"/>
              </a:ext>
            </a:extLst>
          </p:cNvPr>
          <p:cNvSpPr txBox="1">
            <a:spLocks noChangeArrowheads="1"/>
          </p:cNvSpPr>
          <p:nvPr/>
        </p:nvSpPr>
        <p:spPr bwMode="auto">
          <a:xfrm>
            <a:off x="1590157" y="3976422"/>
            <a:ext cx="40386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dirty="0" err="1">
                <a:latin typeface="Tahoma" pitchFamily="34" charset="0"/>
              </a:rPr>
              <a:t>Figura</a:t>
            </a:r>
            <a:r>
              <a:rPr lang="en-US" sz="1800" dirty="0">
                <a:latin typeface="Tahoma" pitchFamily="34" charset="0"/>
              </a:rPr>
              <a:t> 1</a:t>
            </a:r>
            <a:endParaRPr lang="es-ES" sz="1800" dirty="0">
              <a:latin typeface="Tahoma" pitchFamily="34" charset="0"/>
            </a:endParaRPr>
          </a:p>
          <a:p>
            <a:r>
              <a:rPr lang="es-ES" sz="1800" dirty="0">
                <a:latin typeface="Tahoma" pitchFamily="34" charset="0"/>
              </a:rPr>
              <a:t>Posible interpretaciones:</a:t>
            </a:r>
          </a:p>
          <a:p>
            <a:r>
              <a:rPr lang="es-ES" sz="1800" dirty="0">
                <a:latin typeface="Tahoma" pitchFamily="34" charset="0"/>
              </a:rPr>
              <a:t>(a)	A produce y espera hasta que  B consuma</a:t>
            </a:r>
          </a:p>
          <a:p>
            <a:r>
              <a:rPr lang="es-ES" sz="1800" dirty="0">
                <a:latin typeface="Tahoma" pitchFamily="34" charset="0"/>
              </a:rPr>
              <a:t>(b)	B utiliza (lee) los datos de A sin consumirlos</a:t>
            </a:r>
          </a:p>
        </p:txBody>
      </p:sp>
    </p:spTree>
    <p:extLst>
      <p:ext uri="{BB962C8B-B14F-4D97-AF65-F5344CB8AC3E}">
        <p14:creationId xmlns:p14="http://schemas.microsoft.com/office/powerpoint/2010/main" val="2806726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1224023" y="587265"/>
            <a:ext cx="7772400" cy="1143000"/>
          </a:xfrm>
        </p:spPr>
        <p:txBody>
          <a:bodyPr>
            <a:normAutofit fontScale="90000"/>
          </a:bodyPr>
          <a:lstStyle/>
          <a:p>
            <a:r>
              <a:rPr lang="es-ES" dirty="0"/>
              <a:t>Máquinas de Estados Finitos </a:t>
            </a:r>
            <a:r>
              <a:rPr lang="en-US" dirty="0"/>
              <a:t>(MEF)</a:t>
            </a:r>
            <a:endParaRPr lang="it-IT" dirty="0"/>
          </a:p>
        </p:txBody>
      </p:sp>
      <p:sp>
        <p:nvSpPr>
          <p:cNvPr id="8196" name="Rectangle 3"/>
          <p:cNvSpPr>
            <a:spLocks noGrp="1" noChangeArrowheads="1"/>
          </p:cNvSpPr>
          <p:nvPr>
            <p:ph idx="1"/>
          </p:nvPr>
        </p:nvSpPr>
        <p:spPr>
          <a:xfrm>
            <a:off x="1316979" y="1927335"/>
            <a:ext cx="9239491" cy="4343400"/>
          </a:xfrm>
        </p:spPr>
        <p:txBody>
          <a:bodyPr>
            <a:normAutofit/>
          </a:bodyPr>
          <a:lstStyle/>
          <a:p>
            <a:r>
              <a:rPr lang="es-ES" sz="2600" dirty="0"/>
              <a:t>Modelo computacional que realiza cómputos en forma automática sobre una entrada para producir una salida.</a:t>
            </a:r>
          </a:p>
          <a:p>
            <a:endParaRPr lang="es-ES" sz="2600" dirty="0"/>
          </a:p>
          <a:p>
            <a:endParaRPr lang="en-US" sz="2600" dirty="0"/>
          </a:p>
          <a:p>
            <a:endParaRPr lang="es-ES" sz="2600" dirty="0"/>
          </a:p>
          <a:p>
            <a:pPr>
              <a:buFontTx/>
              <a:buNone/>
            </a:pPr>
            <a:endParaRPr lang="it-IT" sz="2600" dirty="0"/>
          </a:p>
        </p:txBody>
      </p:sp>
      <p:sp>
        <p:nvSpPr>
          <p:cNvPr id="8194" name="5 Marcador de número de diapositiva"/>
          <p:cNvSpPr>
            <a:spLocks noGrp="1"/>
          </p:cNvSpPr>
          <p:nvPr>
            <p:ph type="sldNum" sz="quarter" idx="12"/>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292D1F6B-6A2F-4DDD-9802-D5274C2E290F}" type="slidenum">
              <a:rPr lang="en-US" sz="1400"/>
              <a:pPr/>
              <a:t>12</a:t>
            </a:fld>
            <a:endParaRPr lang="en-US" sz="1400"/>
          </a:p>
        </p:txBody>
      </p:sp>
      <p:sp>
        <p:nvSpPr>
          <p:cNvPr id="8198" name="Rectangle 5"/>
          <p:cNvSpPr>
            <a:spLocks noChangeArrowheads="1"/>
          </p:cNvSpPr>
          <p:nvPr/>
        </p:nvSpPr>
        <p:spPr bwMode="auto">
          <a:xfrm>
            <a:off x="4838700" y="2386013"/>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ES"/>
          </a:p>
        </p:txBody>
      </p:sp>
      <p:pic>
        <p:nvPicPr>
          <p:cNvPr id="2" name="Picture 6">
            <a:extLst>
              <a:ext uri="{FF2B5EF4-FFF2-40B4-BE49-F238E27FC236}">
                <a16:creationId xmlns:a16="http://schemas.microsoft.com/office/drawing/2014/main" id="{A4AB54E3-53EB-EE01-D450-B904D44AA2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5530" y="3244915"/>
            <a:ext cx="4230624" cy="2650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1 Rectángulo">
            <a:extLst>
              <a:ext uri="{FF2B5EF4-FFF2-40B4-BE49-F238E27FC236}">
                <a16:creationId xmlns:a16="http://schemas.microsoft.com/office/drawing/2014/main" id="{CB006771-4491-E265-C9BE-8284EAC20D2F}"/>
              </a:ext>
            </a:extLst>
          </p:cNvPr>
          <p:cNvSpPr/>
          <p:nvPr/>
        </p:nvSpPr>
        <p:spPr>
          <a:xfrm>
            <a:off x="6239210" y="3733428"/>
            <a:ext cx="4572000" cy="1200329"/>
          </a:xfrm>
          <a:prstGeom prst="rect">
            <a:avLst/>
          </a:prstGeom>
        </p:spPr>
        <p:txBody>
          <a:bodyPr>
            <a:spAutoFit/>
          </a:bodyPr>
          <a:lstStyle/>
          <a:p>
            <a:r>
              <a:rPr lang="es-ES" dirty="0">
                <a:solidFill>
                  <a:schemeClr val="tx2"/>
                </a:solidFill>
              </a:rPr>
              <a:t>La finalidad de los autómatas finitos es la de reconocer lenguajes regulares, que corresponden a los lenguajes formales más simples</a:t>
            </a:r>
          </a:p>
        </p:txBody>
      </p:sp>
    </p:spTree>
    <p:extLst>
      <p:ext uri="{BB962C8B-B14F-4D97-AF65-F5344CB8AC3E}">
        <p14:creationId xmlns:p14="http://schemas.microsoft.com/office/powerpoint/2010/main" val="1306236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1209555" y="567795"/>
            <a:ext cx="7772400" cy="1143000"/>
          </a:xfrm>
        </p:spPr>
        <p:txBody>
          <a:bodyPr/>
          <a:lstStyle/>
          <a:p>
            <a:r>
              <a:rPr lang="es-ES" dirty="0"/>
              <a:t>Redes</a:t>
            </a:r>
            <a:r>
              <a:rPr lang="en-US" dirty="0"/>
              <a:t> de Petri</a:t>
            </a:r>
          </a:p>
        </p:txBody>
      </p:sp>
      <p:sp>
        <p:nvSpPr>
          <p:cNvPr id="12290" name="5 Marcador de número de diapositiva"/>
          <p:cNvSpPr>
            <a:spLocks noGrp="1"/>
          </p:cNvSpPr>
          <p:nvPr>
            <p:ph type="sldNum" sz="quarter" idx="12"/>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4B0602A0-7646-4F5D-B73C-E095510F7D12}" type="slidenum">
              <a:rPr lang="en-US" sz="1400"/>
              <a:pPr/>
              <a:t>13</a:t>
            </a:fld>
            <a:endParaRPr lang="en-US" sz="1400"/>
          </a:p>
        </p:txBody>
      </p:sp>
      <p:sp>
        <p:nvSpPr>
          <p:cNvPr id="2" name="1 Marcador de contenido"/>
          <p:cNvSpPr>
            <a:spLocks noGrp="1"/>
          </p:cNvSpPr>
          <p:nvPr>
            <p:ph idx="1"/>
          </p:nvPr>
        </p:nvSpPr>
        <p:spPr/>
        <p:txBody>
          <a:bodyPr>
            <a:normAutofit/>
          </a:bodyPr>
          <a:lstStyle/>
          <a:p>
            <a:pPr>
              <a:buFont typeface="Wingdings" panose="05000000000000000000" pitchFamily="2" charset="2"/>
              <a:buChar char="Ø"/>
            </a:pPr>
            <a:r>
              <a:rPr lang="es-ES" sz="2800" dirty="0"/>
              <a:t>Representación matemática o gráfica de un sistema a eventos discretos en el cual se puede describir la topología de un sistema distribuido, paralelo o concurrente</a:t>
            </a:r>
          </a:p>
          <a:p>
            <a:pPr>
              <a:buFont typeface="Wingdings" panose="05000000000000000000" pitchFamily="2" charset="2"/>
              <a:buChar char="Ø"/>
            </a:pPr>
            <a:endParaRPr lang="es-ES" dirty="0"/>
          </a:p>
          <a:p>
            <a:pPr>
              <a:buFont typeface="Wingdings" panose="05000000000000000000" pitchFamily="2" charset="2"/>
              <a:buChar char="Ø"/>
            </a:pPr>
            <a:r>
              <a:rPr lang="es-ES" sz="2800" dirty="0"/>
              <a:t>Definida en la década de los años 1960 por Carl Adam Petri</a:t>
            </a:r>
          </a:p>
          <a:p>
            <a:pPr>
              <a:buFont typeface="Wingdings" panose="05000000000000000000" pitchFamily="2" charset="2"/>
              <a:buChar char="Ø"/>
            </a:pPr>
            <a:endParaRPr lang="es-ES" dirty="0"/>
          </a:p>
          <a:p>
            <a:pPr>
              <a:buFont typeface="Wingdings" panose="05000000000000000000" pitchFamily="2" charset="2"/>
              <a:buChar char="Ø"/>
            </a:pPr>
            <a:r>
              <a:rPr lang="es-ES" sz="2800" dirty="0"/>
              <a:t>Generalización de la teoría de autómatas que permite expresar un sistema a eventos concurrentes</a:t>
            </a:r>
          </a:p>
          <a:p>
            <a:endParaRPr lang="es-ES" sz="2800" dirty="0"/>
          </a:p>
        </p:txBody>
      </p:sp>
    </p:spTree>
    <p:extLst>
      <p:ext uri="{BB962C8B-B14F-4D97-AF65-F5344CB8AC3E}">
        <p14:creationId xmlns:p14="http://schemas.microsoft.com/office/powerpoint/2010/main" val="1940471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1272251" y="629855"/>
            <a:ext cx="7772400" cy="1143000"/>
          </a:xfrm>
        </p:spPr>
        <p:txBody>
          <a:bodyPr/>
          <a:lstStyle/>
          <a:p>
            <a:r>
              <a:rPr lang="es-ES" dirty="0"/>
              <a:t>Situaciones comunes </a:t>
            </a:r>
          </a:p>
        </p:txBody>
      </p:sp>
      <p:sp>
        <p:nvSpPr>
          <p:cNvPr id="15364" name="Rectangle 3"/>
          <p:cNvSpPr>
            <a:spLocks noGrp="1" noChangeArrowheads="1"/>
          </p:cNvSpPr>
          <p:nvPr>
            <p:ph idx="1"/>
          </p:nvPr>
        </p:nvSpPr>
        <p:spPr>
          <a:xfrm>
            <a:off x="66769" y="1772855"/>
            <a:ext cx="6727570" cy="5562600"/>
          </a:xfrm>
        </p:spPr>
        <p:txBody>
          <a:bodyPr>
            <a:normAutofit/>
          </a:bodyPr>
          <a:lstStyle/>
          <a:p>
            <a:pPr>
              <a:lnSpc>
                <a:spcPct val="90000"/>
              </a:lnSpc>
            </a:pPr>
            <a:r>
              <a:rPr lang="es-ES" sz="2800" dirty="0">
                <a:solidFill>
                  <a:schemeClr val="tx1"/>
                </a:solidFill>
              </a:rPr>
              <a:t>Concurrencia</a:t>
            </a:r>
          </a:p>
          <a:p>
            <a:pPr lvl="1">
              <a:lnSpc>
                <a:spcPct val="90000"/>
              </a:lnSpc>
            </a:pPr>
            <a:r>
              <a:rPr lang="es-ES" sz="2400" dirty="0">
                <a:solidFill>
                  <a:schemeClr val="tx1"/>
                </a:solidFill>
              </a:rPr>
              <a:t>cuando dos transiciones están habilitadas y el disparo de una no deshabilita a la otra</a:t>
            </a:r>
          </a:p>
          <a:p>
            <a:pPr lvl="2">
              <a:lnSpc>
                <a:spcPct val="90000"/>
              </a:lnSpc>
            </a:pPr>
            <a:r>
              <a:rPr lang="es-ES" sz="2000" dirty="0">
                <a:solidFill>
                  <a:schemeClr val="tx1"/>
                </a:solidFill>
              </a:rPr>
              <a:t>ver t</a:t>
            </a:r>
            <a:r>
              <a:rPr lang="es-ES" sz="2000" baseline="-25000" dirty="0">
                <a:solidFill>
                  <a:schemeClr val="tx1"/>
                </a:solidFill>
              </a:rPr>
              <a:t>1</a:t>
            </a:r>
            <a:r>
              <a:rPr lang="es-ES" sz="2000" dirty="0">
                <a:solidFill>
                  <a:schemeClr val="tx1"/>
                </a:solidFill>
              </a:rPr>
              <a:t> y t</a:t>
            </a:r>
            <a:r>
              <a:rPr lang="es-ES" sz="2000" baseline="-25000" dirty="0">
                <a:solidFill>
                  <a:schemeClr val="tx1"/>
                </a:solidFill>
              </a:rPr>
              <a:t>2</a:t>
            </a:r>
            <a:r>
              <a:rPr lang="es-ES" sz="2000" dirty="0">
                <a:solidFill>
                  <a:schemeClr val="tx1"/>
                </a:solidFill>
              </a:rPr>
              <a:t> en (a)</a:t>
            </a:r>
          </a:p>
          <a:p>
            <a:pPr>
              <a:lnSpc>
                <a:spcPct val="90000"/>
              </a:lnSpc>
            </a:pPr>
            <a:r>
              <a:rPr lang="es-ES" sz="2800" dirty="0">
                <a:solidFill>
                  <a:schemeClr val="tx1"/>
                </a:solidFill>
              </a:rPr>
              <a:t>Conflicto</a:t>
            </a:r>
          </a:p>
          <a:p>
            <a:pPr lvl="1">
              <a:lnSpc>
                <a:spcPct val="90000"/>
              </a:lnSpc>
            </a:pPr>
            <a:r>
              <a:rPr lang="es-ES" sz="2400" dirty="0">
                <a:solidFill>
                  <a:schemeClr val="tx1"/>
                </a:solidFill>
              </a:rPr>
              <a:t>cuando dos transiciones están habilitadas y el disparo de una deshabilita a la otra</a:t>
            </a:r>
          </a:p>
          <a:p>
            <a:pPr lvl="2">
              <a:lnSpc>
                <a:spcPct val="90000"/>
              </a:lnSpc>
            </a:pPr>
            <a:r>
              <a:rPr lang="es-ES" sz="2000" dirty="0">
                <a:solidFill>
                  <a:schemeClr val="tx1"/>
                </a:solidFill>
              </a:rPr>
              <a:t>ver t</a:t>
            </a:r>
            <a:r>
              <a:rPr lang="es-ES" sz="2000" baseline="-25000" dirty="0">
                <a:solidFill>
                  <a:schemeClr val="tx1"/>
                </a:solidFill>
              </a:rPr>
              <a:t>3 y</a:t>
            </a:r>
            <a:r>
              <a:rPr lang="es-ES" sz="2000" dirty="0">
                <a:solidFill>
                  <a:schemeClr val="tx1"/>
                </a:solidFill>
              </a:rPr>
              <a:t> t</a:t>
            </a:r>
            <a:r>
              <a:rPr lang="es-ES" sz="2000" baseline="-25000" dirty="0">
                <a:solidFill>
                  <a:schemeClr val="tx1"/>
                </a:solidFill>
              </a:rPr>
              <a:t>4</a:t>
            </a:r>
            <a:r>
              <a:rPr lang="es-ES" sz="2000" dirty="0">
                <a:solidFill>
                  <a:schemeClr val="tx1"/>
                </a:solidFill>
              </a:rPr>
              <a:t> en (d)</a:t>
            </a:r>
          </a:p>
          <a:p>
            <a:pPr lvl="2">
              <a:lnSpc>
                <a:spcPct val="90000"/>
              </a:lnSpc>
            </a:pPr>
            <a:r>
              <a:rPr lang="es-ES" sz="2000" dirty="0">
                <a:solidFill>
                  <a:schemeClr val="tx1"/>
                </a:solidFill>
              </a:rPr>
              <a:t>en este caso P</a:t>
            </a:r>
            <a:r>
              <a:rPr lang="es-ES" sz="2000" baseline="-25000" dirty="0">
                <a:solidFill>
                  <a:schemeClr val="tx1"/>
                </a:solidFill>
              </a:rPr>
              <a:t>3</a:t>
            </a:r>
            <a:r>
              <a:rPr lang="es-ES" sz="2000" dirty="0">
                <a:solidFill>
                  <a:schemeClr val="tx1"/>
                </a:solidFill>
              </a:rPr>
              <a:t> modela un recurso compartido entre dos procesos</a:t>
            </a:r>
          </a:p>
          <a:p>
            <a:pPr lvl="1">
              <a:lnSpc>
                <a:spcPct val="90000"/>
              </a:lnSpc>
            </a:pPr>
            <a:r>
              <a:rPr lang="es-ES" sz="2400" dirty="0">
                <a:solidFill>
                  <a:schemeClr val="tx1"/>
                </a:solidFill>
              </a:rPr>
              <a:t>puede ocurrir que un proceso no pueda nunca obtener un recurso</a:t>
            </a:r>
            <a:r>
              <a:rPr lang="en-US" sz="2400" dirty="0">
                <a:solidFill>
                  <a:schemeClr val="tx1"/>
                </a:solidFill>
              </a:rPr>
              <a:t>: </a:t>
            </a:r>
            <a:r>
              <a:rPr lang="es-ES" sz="2400" dirty="0">
                <a:solidFill>
                  <a:schemeClr val="tx1"/>
                </a:solidFill>
              </a:rPr>
              <a:t>inanición</a:t>
            </a:r>
            <a:r>
              <a:rPr lang="en-US" sz="2400" dirty="0">
                <a:solidFill>
                  <a:schemeClr val="tx1"/>
                </a:solidFill>
              </a:rPr>
              <a:t> (</a:t>
            </a:r>
            <a:r>
              <a:rPr lang="en-US" sz="2400" i="1" dirty="0">
                <a:solidFill>
                  <a:schemeClr val="tx1"/>
                </a:solidFill>
              </a:rPr>
              <a:t>starvation</a:t>
            </a:r>
            <a:r>
              <a:rPr lang="en-US" sz="2400" dirty="0">
                <a:solidFill>
                  <a:schemeClr val="tx1"/>
                </a:solidFill>
              </a:rPr>
              <a:t>)</a:t>
            </a:r>
            <a:endParaRPr lang="it-IT" sz="2400" dirty="0">
              <a:solidFill>
                <a:schemeClr val="tx1"/>
              </a:solidFill>
            </a:endParaRPr>
          </a:p>
        </p:txBody>
      </p:sp>
      <p:sp>
        <p:nvSpPr>
          <p:cNvPr id="15362" name="5 Marcador de número de diapositiva"/>
          <p:cNvSpPr>
            <a:spLocks noGrp="1"/>
          </p:cNvSpPr>
          <p:nvPr>
            <p:ph type="sldNum" sz="quarter" idx="12"/>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36FE929E-EC7E-47D7-AE36-91A8C3463041}" type="slidenum">
              <a:rPr lang="en-US" sz="1400"/>
              <a:pPr/>
              <a:t>14</a:t>
            </a:fld>
            <a:endParaRPr lang="en-US" sz="1400"/>
          </a:p>
        </p:txBody>
      </p:sp>
      <p:graphicFrame>
        <p:nvGraphicFramePr>
          <p:cNvPr id="2" name="1 Objeto"/>
          <p:cNvGraphicFramePr>
            <a:graphicFrameLocks noChangeAspect="1"/>
          </p:cNvGraphicFramePr>
          <p:nvPr>
            <p:extLst>
              <p:ext uri="{D42A27DB-BD31-4B8C-83A1-F6EECF244321}">
                <p14:modId xmlns:p14="http://schemas.microsoft.com/office/powerpoint/2010/main" val="3703309205"/>
              </p:ext>
            </p:extLst>
          </p:nvPr>
        </p:nvGraphicFramePr>
        <p:xfrm>
          <a:off x="7116500" y="1490909"/>
          <a:ext cx="4840147" cy="5151438"/>
        </p:xfrm>
        <a:graphic>
          <a:graphicData uri="http://schemas.openxmlformats.org/presentationml/2006/ole">
            <mc:AlternateContent xmlns:mc="http://schemas.openxmlformats.org/markup-compatibility/2006">
              <mc:Choice xmlns:v="urn:schemas-microsoft-com:vml" Requires="v">
                <p:oleObj name="Documento" r:id="rId3" imgW="5593080" imgH="6096000" progId="Word.Document.8">
                  <p:embed/>
                </p:oleObj>
              </mc:Choice>
              <mc:Fallback>
                <p:oleObj name="Documento" r:id="rId3" imgW="5593080" imgH="6096000" progId="Word.Document.8">
                  <p:embed/>
                  <p:pic>
                    <p:nvPicPr>
                      <p:cNvPr id="2" name="1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16500" y="1490909"/>
                        <a:ext cx="4840147" cy="5151438"/>
                      </a:xfrm>
                      <a:prstGeom prst="rect">
                        <a:avLst/>
                      </a:prstGeom>
                      <a:noFill/>
                      <a:ln>
                        <a:noFill/>
                      </a:ln>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191228" y="574876"/>
            <a:ext cx="6553200" cy="1143000"/>
          </a:xfrm>
        </p:spPr>
        <p:txBody>
          <a:bodyPr/>
          <a:lstStyle/>
          <a:p>
            <a:r>
              <a:rPr lang="es-ES_tradnl" dirty="0"/>
              <a:t>El lenguaje </a:t>
            </a:r>
            <a:r>
              <a:rPr lang="en-US" dirty="0"/>
              <a:t>Z</a:t>
            </a:r>
          </a:p>
        </p:txBody>
      </p:sp>
      <p:sp>
        <p:nvSpPr>
          <p:cNvPr id="25603" name="Rectangle 3"/>
          <p:cNvSpPr>
            <a:spLocks noGrp="1" noChangeArrowheads="1"/>
          </p:cNvSpPr>
          <p:nvPr>
            <p:ph idx="1"/>
          </p:nvPr>
        </p:nvSpPr>
        <p:spPr>
          <a:xfrm>
            <a:off x="1191228" y="1870275"/>
            <a:ext cx="8458200" cy="4114800"/>
          </a:xfrm>
        </p:spPr>
        <p:txBody>
          <a:bodyPr>
            <a:normAutofit/>
          </a:bodyPr>
          <a:lstStyle/>
          <a:p>
            <a:pPr>
              <a:buFontTx/>
              <a:buNone/>
            </a:pPr>
            <a:endParaRPr lang="es-ES" dirty="0"/>
          </a:p>
          <a:p>
            <a:pPr>
              <a:buFont typeface="Wingdings" panose="05000000000000000000" pitchFamily="2" charset="2"/>
              <a:buChar char="Ø"/>
            </a:pPr>
            <a:r>
              <a:rPr lang="es-ES" sz="2600" dirty="0"/>
              <a:t>Lenguaje formal</a:t>
            </a:r>
          </a:p>
          <a:p>
            <a:pPr>
              <a:buFont typeface="Wingdings" panose="05000000000000000000" pitchFamily="2" charset="2"/>
              <a:buChar char="Ø"/>
            </a:pPr>
            <a:r>
              <a:rPr lang="en-US" sz="2600" dirty="0" err="1"/>
              <a:t>Lenguaje</a:t>
            </a:r>
            <a:r>
              <a:rPr lang="en-US" sz="2600" dirty="0"/>
              <a:t> de </a:t>
            </a:r>
            <a:r>
              <a:rPr lang="es-ES" sz="2600" dirty="0"/>
              <a:t>Programación </a:t>
            </a:r>
          </a:p>
          <a:p>
            <a:pPr>
              <a:buFont typeface="Wingdings" panose="05000000000000000000" pitchFamily="2" charset="2"/>
              <a:buChar char="Ø"/>
            </a:pPr>
            <a:r>
              <a:rPr lang="es-ES" sz="2600" dirty="0"/>
              <a:t>Desarrollado por el </a:t>
            </a:r>
            <a:r>
              <a:rPr lang="es-ES" sz="2600" dirty="0" err="1"/>
              <a:t>Programming</a:t>
            </a:r>
            <a:r>
              <a:rPr lang="es-ES" sz="2600" dirty="0"/>
              <a:t> </a:t>
            </a:r>
            <a:r>
              <a:rPr lang="es-ES" sz="2600" dirty="0" err="1"/>
              <a:t>Research</a:t>
            </a:r>
            <a:r>
              <a:rPr lang="es-ES" sz="2600" dirty="0"/>
              <a:t> </a:t>
            </a:r>
            <a:r>
              <a:rPr lang="es-ES" sz="2600" dirty="0" err="1"/>
              <a:t>Group</a:t>
            </a:r>
            <a:r>
              <a:rPr lang="es-ES" sz="2600" dirty="0"/>
              <a:t>, Oxford </a:t>
            </a:r>
            <a:r>
              <a:rPr lang="es-ES" sz="2600" dirty="0" err="1"/>
              <a:t>University</a:t>
            </a:r>
            <a:r>
              <a:rPr lang="es-ES" sz="2600" dirty="0"/>
              <a:t> (UK)</a:t>
            </a:r>
          </a:p>
          <a:p>
            <a:pPr>
              <a:buFont typeface="Wingdings" panose="05000000000000000000" pitchFamily="2" charset="2"/>
              <a:buChar char="Ø"/>
            </a:pPr>
            <a:r>
              <a:rPr lang="es-ES" sz="2600" dirty="0"/>
              <a:t>Utilizado en aplicaciones industriales</a:t>
            </a:r>
          </a:p>
          <a:p>
            <a:pPr>
              <a:buFont typeface="Wingdings" panose="05000000000000000000" pitchFamily="2" charset="2"/>
              <a:buChar char="Ø"/>
            </a:pPr>
            <a:r>
              <a:rPr lang="es-ES" sz="2600" dirty="0"/>
              <a:t>Existen muchas extensiones (</a:t>
            </a:r>
            <a:r>
              <a:rPr lang="es-ES" sz="2600" dirty="0" err="1"/>
              <a:t>Object</a:t>
            </a:r>
            <a:r>
              <a:rPr lang="es-ES" sz="2600" dirty="0"/>
              <a:t> Z, real-time Z, …)</a:t>
            </a:r>
          </a:p>
        </p:txBody>
      </p:sp>
      <p:pic>
        <p:nvPicPr>
          <p:cNvPr id="2560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03006" y="27972"/>
            <a:ext cx="1272787" cy="1523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a:xfrm>
            <a:off x="1273215" y="2006279"/>
            <a:ext cx="9932043" cy="3733800"/>
          </a:xfrm>
        </p:spPr>
        <p:txBody>
          <a:bodyPr>
            <a:normAutofit/>
          </a:bodyPr>
          <a:lstStyle/>
          <a:p>
            <a:r>
              <a:rPr lang="es-ES" sz="2800" dirty="0"/>
              <a:t>Los esquemas se representan mediante cajas divididas en dos partes. En la superior se realiza la declaración del nombre de variables y sus tipos, mientras que la parte inferior expresa, de forma declarativa, la relación entre las variables que forman el esquema.</a:t>
            </a:r>
            <a:endParaRPr lang="es-ES_tradnl" sz="2800" dirty="0"/>
          </a:p>
        </p:txBody>
      </p:sp>
      <p:pic>
        <p:nvPicPr>
          <p:cNvPr id="2" name="1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6469" y="3993265"/>
            <a:ext cx="11325531" cy="2346705"/>
          </a:xfrm>
          <a:prstGeom prst="rect">
            <a:avLst/>
          </a:prstGeom>
        </p:spPr>
      </p:pic>
      <p:sp>
        <p:nvSpPr>
          <p:cNvPr id="5" name="Rectangle 2">
            <a:extLst>
              <a:ext uri="{FF2B5EF4-FFF2-40B4-BE49-F238E27FC236}">
                <a16:creationId xmlns:a16="http://schemas.microsoft.com/office/drawing/2014/main" id="{CD66F6E1-8261-B150-0CD7-3A4B29DB5C5A}"/>
              </a:ext>
            </a:extLst>
          </p:cNvPr>
          <p:cNvSpPr>
            <a:spLocks noGrp="1" noChangeArrowheads="1"/>
          </p:cNvSpPr>
          <p:nvPr>
            <p:ph type="title"/>
          </p:nvPr>
        </p:nvSpPr>
        <p:spPr>
          <a:xfrm>
            <a:off x="1273215" y="914400"/>
            <a:ext cx="7772400" cy="838200"/>
          </a:xfrm>
        </p:spPr>
        <p:txBody>
          <a:bodyPr/>
          <a:lstStyle/>
          <a:p>
            <a:r>
              <a:rPr lang="es-ES_tradnl" dirty="0"/>
              <a:t>El lenguaje Z:Esquemas </a:t>
            </a:r>
            <a:r>
              <a:rPr lang="es-ES_tradnl" sz="2000" dirty="0"/>
              <a:t>cont.</a:t>
            </a:r>
          </a:p>
        </p:txBody>
      </p:sp>
    </p:spTree>
    <p:extLst>
      <p:ext uri="{BB962C8B-B14F-4D97-AF65-F5344CB8AC3E}">
        <p14:creationId xmlns:p14="http://schemas.microsoft.com/office/powerpoint/2010/main" val="2771538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B5C8F-3540-CD58-EAE3-E112FBC2DA5F}"/>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A2258FF4-4BBF-9DAC-3EC0-AAA85AB7BDCD}"/>
              </a:ext>
            </a:extLst>
          </p:cNvPr>
          <p:cNvSpPr>
            <a:spLocks noGrp="1" noChangeArrowheads="1"/>
          </p:cNvSpPr>
          <p:nvPr>
            <p:ph type="title"/>
          </p:nvPr>
        </p:nvSpPr>
        <p:spPr>
          <a:xfrm>
            <a:off x="1251994" y="914400"/>
            <a:ext cx="9848127" cy="838200"/>
          </a:xfrm>
        </p:spPr>
        <p:txBody>
          <a:bodyPr>
            <a:normAutofit/>
          </a:bodyPr>
          <a:lstStyle/>
          <a:p>
            <a:r>
              <a:rPr lang="es-ES_tradnl" dirty="0"/>
              <a:t>Otros exponentes de métodos formales</a:t>
            </a:r>
          </a:p>
        </p:txBody>
      </p:sp>
      <p:sp>
        <p:nvSpPr>
          <p:cNvPr id="26627" name="Rectangle 3">
            <a:extLst>
              <a:ext uri="{FF2B5EF4-FFF2-40B4-BE49-F238E27FC236}">
                <a16:creationId xmlns:a16="http://schemas.microsoft.com/office/drawing/2014/main" id="{437A5382-AAF2-ABA4-8529-8C9A2957B08D}"/>
              </a:ext>
            </a:extLst>
          </p:cNvPr>
          <p:cNvSpPr>
            <a:spLocks noGrp="1" noChangeArrowheads="1"/>
          </p:cNvSpPr>
          <p:nvPr>
            <p:ph idx="1"/>
          </p:nvPr>
        </p:nvSpPr>
        <p:spPr>
          <a:xfrm>
            <a:off x="1251995" y="1891500"/>
            <a:ext cx="10079620" cy="5105400"/>
          </a:xfrm>
        </p:spPr>
        <p:txBody>
          <a:bodyPr>
            <a:normAutofit fontScale="62500" lnSpcReduction="20000"/>
          </a:bodyPr>
          <a:lstStyle/>
          <a:p>
            <a:pPr>
              <a:buFont typeface="Wingdings" panose="05000000000000000000" pitchFamily="2" charset="2"/>
              <a:buChar char="Ø"/>
            </a:pPr>
            <a:r>
              <a:rPr lang="es-ES" sz="3600" b="1" i="1" dirty="0"/>
              <a:t>B-</a:t>
            </a:r>
            <a:r>
              <a:rPr lang="es-ES" sz="3600" b="1" i="1" dirty="0" err="1"/>
              <a:t>Method</a:t>
            </a:r>
            <a:r>
              <a:rPr lang="es-ES" sz="3600" dirty="0"/>
              <a:t>: Un método que combina la especificación formal con la refinación y la verificación. Se utiliza para desarrollar software de alta seguridad y sistemas críticos.</a:t>
            </a:r>
          </a:p>
          <a:p>
            <a:pPr>
              <a:buFont typeface="Wingdings" panose="05000000000000000000" pitchFamily="2" charset="2"/>
              <a:buChar char="Ø"/>
            </a:pPr>
            <a:endParaRPr lang="es-ES" sz="1800" dirty="0"/>
          </a:p>
          <a:p>
            <a:pPr>
              <a:buFont typeface="Wingdings" panose="05000000000000000000" pitchFamily="2" charset="2"/>
              <a:buChar char="Ø"/>
            </a:pPr>
            <a:r>
              <a:rPr lang="es-ES" sz="3600" dirty="0"/>
              <a:t> </a:t>
            </a:r>
            <a:r>
              <a:rPr lang="es-ES" sz="3600" b="1" i="1" dirty="0" err="1"/>
              <a:t>Event</a:t>
            </a:r>
            <a:r>
              <a:rPr lang="es-ES" sz="3600" b="1" i="1" dirty="0"/>
              <a:t>-B</a:t>
            </a:r>
            <a:r>
              <a:rPr lang="es-ES" sz="3600" dirty="0"/>
              <a:t>: Un método de modelado y desarrollo basado en eventos que se centra en la verificación y refinamiento de sistemas a través de máquinas de estados.</a:t>
            </a:r>
          </a:p>
          <a:p>
            <a:pPr>
              <a:buFont typeface="Wingdings" panose="05000000000000000000" pitchFamily="2" charset="2"/>
              <a:buChar char="Ø"/>
            </a:pPr>
            <a:endParaRPr lang="es-ES" sz="1600" dirty="0"/>
          </a:p>
          <a:p>
            <a:pPr>
              <a:buFont typeface="Wingdings" panose="05000000000000000000" pitchFamily="2" charset="2"/>
              <a:buChar char="Ø"/>
            </a:pPr>
            <a:r>
              <a:rPr lang="es-ES" sz="3600" dirty="0"/>
              <a:t> </a:t>
            </a:r>
            <a:r>
              <a:rPr lang="es-ES" sz="3600" b="1" i="1" dirty="0"/>
              <a:t>VDM</a:t>
            </a:r>
            <a:r>
              <a:rPr lang="es-ES" sz="3600" dirty="0"/>
              <a:t> (</a:t>
            </a:r>
            <a:r>
              <a:rPr lang="es-ES" sz="3600" dirty="0" err="1"/>
              <a:t>Vienna</a:t>
            </a:r>
            <a:r>
              <a:rPr lang="es-ES" sz="3600" dirty="0"/>
              <a:t> </a:t>
            </a:r>
            <a:r>
              <a:rPr lang="es-ES" sz="3600" dirty="0" err="1"/>
              <a:t>Development</a:t>
            </a:r>
            <a:r>
              <a:rPr lang="es-ES" sz="3600" dirty="0"/>
              <a:t> </a:t>
            </a:r>
            <a:r>
              <a:rPr lang="es-ES" sz="3600" dirty="0" err="1"/>
              <a:t>Method</a:t>
            </a:r>
            <a:r>
              <a:rPr lang="es-ES" sz="3600" dirty="0"/>
              <a:t>): Un enfoque formal que utiliza modelos matemáticos para especificar y desarrollar sistemas de software.</a:t>
            </a:r>
          </a:p>
          <a:p>
            <a:pPr>
              <a:buFont typeface="Wingdings" panose="05000000000000000000" pitchFamily="2" charset="2"/>
              <a:buChar char="Ø"/>
            </a:pPr>
            <a:endParaRPr lang="es-ES" sz="1600" dirty="0"/>
          </a:p>
          <a:p>
            <a:pPr>
              <a:buFont typeface="Wingdings" panose="05000000000000000000" pitchFamily="2" charset="2"/>
              <a:buChar char="Ø"/>
            </a:pPr>
            <a:r>
              <a:rPr lang="es-ES" sz="3600" b="1" i="1" dirty="0" err="1"/>
              <a:t>Alloy</a:t>
            </a:r>
            <a:r>
              <a:rPr lang="es-ES" sz="3600" dirty="0"/>
              <a:t>: Un lenguaje de modelado basado en lógica que permite crear modelos de sistemas y verificar propiedades a través de análisis automático.</a:t>
            </a:r>
          </a:p>
          <a:p>
            <a:pPr>
              <a:buFont typeface="Wingdings" panose="05000000000000000000" pitchFamily="2" charset="2"/>
              <a:buChar char="Ø"/>
            </a:pPr>
            <a:endParaRPr lang="es-ES" sz="1600" dirty="0"/>
          </a:p>
          <a:p>
            <a:pPr>
              <a:buFont typeface="Wingdings" panose="05000000000000000000" pitchFamily="2" charset="2"/>
              <a:buChar char="Ø"/>
            </a:pPr>
            <a:r>
              <a:rPr lang="es-ES" sz="3600" b="1" i="1" dirty="0"/>
              <a:t>CSP</a:t>
            </a:r>
            <a:r>
              <a:rPr lang="es-ES" sz="3600" dirty="0"/>
              <a:t> (</a:t>
            </a:r>
            <a:r>
              <a:rPr lang="es-ES" sz="3600" dirty="0" err="1"/>
              <a:t>Communicating</a:t>
            </a:r>
            <a:r>
              <a:rPr lang="es-ES" sz="3600" dirty="0"/>
              <a:t> </a:t>
            </a:r>
            <a:r>
              <a:rPr lang="es-ES" sz="3600" dirty="0" err="1"/>
              <a:t>Sequential</a:t>
            </a:r>
            <a:r>
              <a:rPr lang="es-ES" sz="3600" dirty="0"/>
              <a:t> </a:t>
            </a:r>
            <a:r>
              <a:rPr lang="es-ES" sz="3600" dirty="0" err="1"/>
              <a:t>Processes</a:t>
            </a:r>
            <a:r>
              <a:rPr lang="es-ES" sz="3600" dirty="0"/>
              <a:t>): Un modelo formal para describir sistemas concurrentes que se centra en la comunicación entre procesos.</a:t>
            </a:r>
            <a:endParaRPr lang="es-ES_tradnl" sz="3600" dirty="0"/>
          </a:p>
        </p:txBody>
      </p:sp>
    </p:spTree>
    <p:extLst>
      <p:ext uri="{BB962C8B-B14F-4D97-AF65-F5344CB8AC3E}">
        <p14:creationId xmlns:p14="http://schemas.microsoft.com/office/powerpoint/2010/main" val="829589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D8C29-7665-2765-D954-81B4E2F490CA}"/>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9324642B-E61D-E230-9593-B64B198531E0}"/>
              </a:ext>
            </a:extLst>
          </p:cNvPr>
          <p:cNvSpPr>
            <a:spLocks noGrp="1" noChangeArrowheads="1"/>
          </p:cNvSpPr>
          <p:nvPr>
            <p:ph type="title"/>
          </p:nvPr>
        </p:nvSpPr>
        <p:spPr>
          <a:xfrm>
            <a:off x="1263569" y="914400"/>
            <a:ext cx="7772400" cy="838200"/>
          </a:xfrm>
        </p:spPr>
        <p:txBody>
          <a:bodyPr>
            <a:normAutofit fontScale="90000"/>
          </a:bodyPr>
          <a:lstStyle/>
          <a:p>
            <a:r>
              <a:rPr lang="es-ES_tradnl" dirty="0"/>
              <a:t>Exponentes de métodos informales</a:t>
            </a:r>
          </a:p>
        </p:txBody>
      </p:sp>
      <p:sp>
        <p:nvSpPr>
          <p:cNvPr id="26627" name="Rectangle 3">
            <a:extLst>
              <a:ext uri="{FF2B5EF4-FFF2-40B4-BE49-F238E27FC236}">
                <a16:creationId xmlns:a16="http://schemas.microsoft.com/office/drawing/2014/main" id="{3F26383B-AA41-D356-7817-38F054C06E96}"/>
              </a:ext>
            </a:extLst>
          </p:cNvPr>
          <p:cNvSpPr>
            <a:spLocks noGrp="1" noChangeArrowheads="1"/>
          </p:cNvSpPr>
          <p:nvPr>
            <p:ph idx="1"/>
          </p:nvPr>
        </p:nvSpPr>
        <p:spPr>
          <a:xfrm>
            <a:off x="1263569" y="1752600"/>
            <a:ext cx="10380563" cy="5105400"/>
          </a:xfrm>
        </p:spPr>
        <p:txBody>
          <a:bodyPr>
            <a:noAutofit/>
          </a:bodyPr>
          <a:lstStyle/>
          <a:p>
            <a:pPr>
              <a:buFont typeface="Wingdings" panose="05000000000000000000" pitchFamily="2" charset="2"/>
              <a:buChar char="Ø"/>
            </a:pPr>
            <a:r>
              <a:rPr lang="es-ES" sz="2600" dirty="0"/>
              <a:t> </a:t>
            </a:r>
            <a:r>
              <a:rPr lang="es-ES" sz="2600" b="1" dirty="0"/>
              <a:t>Entrevistas:</a:t>
            </a:r>
            <a:r>
              <a:rPr lang="es-ES" sz="2600" dirty="0"/>
              <a:t> Conversaciones directas con los interesados</a:t>
            </a:r>
          </a:p>
          <a:p>
            <a:pPr>
              <a:buFont typeface="Wingdings" panose="05000000000000000000" pitchFamily="2" charset="2"/>
              <a:buChar char="Ø"/>
            </a:pPr>
            <a:endParaRPr lang="es-ES" sz="1000" dirty="0"/>
          </a:p>
          <a:p>
            <a:pPr>
              <a:buFont typeface="Wingdings" panose="05000000000000000000" pitchFamily="2" charset="2"/>
              <a:buChar char="Ø"/>
            </a:pPr>
            <a:r>
              <a:rPr lang="es-ES" sz="2600" b="1" dirty="0"/>
              <a:t>Cuestionarios y encuestas</a:t>
            </a:r>
            <a:r>
              <a:rPr lang="es-ES" sz="2600" dirty="0"/>
              <a:t>: Permiten obtener datos cuantitativos y cualitativos sobre los requerimientos.</a:t>
            </a:r>
          </a:p>
          <a:p>
            <a:pPr>
              <a:buFont typeface="Wingdings" panose="05000000000000000000" pitchFamily="2" charset="2"/>
              <a:buChar char="Ø"/>
            </a:pPr>
            <a:endParaRPr lang="es-ES" sz="1000" dirty="0"/>
          </a:p>
          <a:p>
            <a:pPr>
              <a:buFont typeface="Wingdings" panose="05000000000000000000" pitchFamily="2" charset="2"/>
              <a:buChar char="Ø"/>
            </a:pPr>
            <a:r>
              <a:rPr lang="es-ES" sz="2600" b="1" dirty="0"/>
              <a:t>Talleres de requisitos</a:t>
            </a:r>
            <a:r>
              <a:rPr lang="es-ES" sz="2600" dirty="0"/>
              <a:t>: Sesiones colaborativas que fomentan la comunicación y el consenso.</a:t>
            </a:r>
          </a:p>
          <a:p>
            <a:pPr>
              <a:buFont typeface="Wingdings" panose="05000000000000000000" pitchFamily="2" charset="2"/>
              <a:buChar char="Ø"/>
            </a:pPr>
            <a:endParaRPr lang="es-ES" sz="1000" dirty="0"/>
          </a:p>
          <a:p>
            <a:pPr>
              <a:buFont typeface="Wingdings" panose="05000000000000000000" pitchFamily="2" charset="2"/>
              <a:buChar char="Ø"/>
            </a:pPr>
            <a:r>
              <a:rPr lang="es-ES" sz="2600" b="1" dirty="0"/>
              <a:t>Historias de usuario</a:t>
            </a:r>
            <a:r>
              <a:rPr lang="es-ES" sz="2600" dirty="0"/>
              <a:t>: En el contexto de metodologías ágiles como Scrum, las historias de usuario son descripciones breves y simples de una funcionalidad desde la perspectiva del usuario final. Se centran en el valor que se proporciona al usuario.</a:t>
            </a:r>
          </a:p>
          <a:p>
            <a:pPr>
              <a:buFont typeface="Wingdings" panose="05000000000000000000" pitchFamily="2" charset="2"/>
              <a:buChar char="Ø"/>
            </a:pPr>
            <a:endParaRPr lang="es-ES" sz="2600" dirty="0"/>
          </a:p>
          <a:p>
            <a:pPr>
              <a:buFont typeface="Wingdings" panose="05000000000000000000" pitchFamily="2" charset="2"/>
              <a:buChar char="Ø"/>
            </a:pPr>
            <a:r>
              <a:rPr lang="es-ES" sz="2600" dirty="0"/>
              <a:t>5. Prototipos: Creación de modelos preliminares del sistema (ya sean de baja o alta fidelidad) que permiten a los interesados visualizar el producto final y proporcionar retroalimentación sobre los requisitos.</a:t>
            </a:r>
          </a:p>
          <a:p>
            <a:pPr>
              <a:buFont typeface="Wingdings" panose="05000000000000000000" pitchFamily="2" charset="2"/>
              <a:buChar char="Ø"/>
            </a:pPr>
            <a:endParaRPr lang="es-ES" sz="2600" dirty="0"/>
          </a:p>
          <a:p>
            <a:pPr>
              <a:buFont typeface="Wingdings" panose="05000000000000000000" pitchFamily="2" charset="2"/>
              <a:buChar char="Ø"/>
            </a:pPr>
            <a:r>
              <a:rPr lang="es-ES" sz="2600" dirty="0"/>
              <a:t>6. Modelado visual: Uso de diagramas (como diagramas de flujo, diagramas de casos de uso, etc.) para representar visualmente los procesos y requisitos del sistema, facilitando la comprensión y discusión.</a:t>
            </a:r>
          </a:p>
          <a:p>
            <a:pPr>
              <a:buFont typeface="Wingdings" panose="05000000000000000000" pitchFamily="2" charset="2"/>
              <a:buChar char="Ø"/>
            </a:pPr>
            <a:endParaRPr lang="es-ES" sz="2600" dirty="0"/>
          </a:p>
          <a:p>
            <a:pPr>
              <a:buFont typeface="Wingdings" panose="05000000000000000000" pitchFamily="2" charset="2"/>
              <a:buChar char="Ø"/>
            </a:pPr>
            <a:r>
              <a:rPr lang="es-ES" sz="2600" dirty="0"/>
              <a:t>7. Documentación narrativa: Descripciones textuales que detallan los requisitos sin seguir una estructura formal. Pueden incluir casos de uso, descripciones funcionales o especificaciones técnicas.</a:t>
            </a:r>
          </a:p>
          <a:p>
            <a:pPr>
              <a:buFont typeface="Wingdings" panose="05000000000000000000" pitchFamily="2" charset="2"/>
              <a:buChar char="Ø"/>
            </a:pPr>
            <a:endParaRPr lang="es-ES" sz="2600" dirty="0"/>
          </a:p>
          <a:p>
            <a:pPr>
              <a:buFont typeface="Wingdings" panose="05000000000000000000" pitchFamily="2" charset="2"/>
              <a:buChar char="Ø"/>
            </a:pPr>
            <a:r>
              <a:rPr lang="es-ES" sz="2600" dirty="0"/>
              <a:t>8. Análisis de documentos existentes: Revisión de documentación previa (como manuales, informes y especificaciones anteriores) para identificar requisitos relevantes y lecciones aprendidas.</a:t>
            </a:r>
          </a:p>
          <a:p>
            <a:pPr>
              <a:buFont typeface="Wingdings" panose="05000000000000000000" pitchFamily="2" charset="2"/>
              <a:buChar char="Ø"/>
            </a:pPr>
            <a:endParaRPr lang="es-ES" sz="2600" dirty="0"/>
          </a:p>
          <a:p>
            <a:pPr>
              <a:buFont typeface="Wingdings" panose="05000000000000000000" pitchFamily="2" charset="2"/>
              <a:buChar char="Ø"/>
            </a:pPr>
            <a:r>
              <a:rPr lang="es-ES" sz="2600" dirty="0"/>
              <a:t>9. Reuniones de revisión: Sesiones periódicas donde se revisan los requisitos existentes y se discuten cambios o adiciones necesarias, permitiendo una gestión continua de los requisitos.</a:t>
            </a:r>
          </a:p>
          <a:p>
            <a:pPr>
              <a:buFont typeface="Wingdings" panose="05000000000000000000" pitchFamily="2" charset="2"/>
              <a:buChar char="Ø"/>
            </a:pPr>
            <a:endParaRPr lang="es-ES" sz="2600" dirty="0"/>
          </a:p>
          <a:p>
            <a:pPr>
              <a:buFont typeface="Wingdings" panose="05000000000000000000" pitchFamily="2" charset="2"/>
              <a:buChar char="Ø"/>
            </a:pPr>
            <a:r>
              <a:rPr lang="es-ES" sz="2600" dirty="0"/>
              <a:t>10. </a:t>
            </a:r>
            <a:r>
              <a:rPr lang="es-ES" sz="2600" dirty="0" err="1"/>
              <a:t>Brainstorming</a:t>
            </a:r>
            <a:r>
              <a:rPr lang="es-ES" sz="2600" dirty="0"/>
              <a:t>: Sesiones creativas donde se generan ideas y posibles requisitos en un ambiente colaborativo, fomentando la participación activa de todos los interesados.</a:t>
            </a:r>
          </a:p>
        </p:txBody>
      </p:sp>
    </p:spTree>
    <p:extLst>
      <p:ext uri="{BB962C8B-B14F-4D97-AF65-F5344CB8AC3E}">
        <p14:creationId xmlns:p14="http://schemas.microsoft.com/office/powerpoint/2010/main" val="3831235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C13E2-AFDB-5A2B-B759-8EA03AFF2E64}"/>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46204924-462A-D228-D555-126D83DA7B97}"/>
              </a:ext>
            </a:extLst>
          </p:cNvPr>
          <p:cNvSpPr>
            <a:spLocks noGrp="1" noChangeArrowheads="1"/>
          </p:cNvSpPr>
          <p:nvPr>
            <p:ph type="title"/>
          </p:nvPr>
        </p:nvSpPr>
        <p:spPr>
          <a:xfrm>
            <a:off x="1263569" y="914400"/>
            <a:ext cx="8875854" cy="838200"/>
          </a:xfrm>
        </p:spPr>
        <p:txBody>
          <a:bodyPr>
            <a:normAutofit fontScale="90000"/>
          </a:bodyPr>
          <a:lstStyle/>
          <a:p>
            <a:r>
              <a:rPr lang="es-ES_tradnl" dirty="0"/>
              <a:t>Exponentes de métodos informales </a:t>
            </a:r>
            <a:r>
              <a:rPr lang="es-ES_tradnl" sz="2200" dirty="0"/>
              <a:t>cont.</a:t>
            </a:r>
          </a:p>
        </p:txBody>
      </p:sp>
      <p:sp>
        <p:nvSpPr>
          <p:cNvPr id="26627" name="Rectangle 3">
            <a:extLst>
              <a:ext uri="{FF2B5EF4-FFF2-40B4-BE49-F238E27FC236}">
                <a16:creationId xmlns:a16="http://schemas.microsoft.com/office/drawing/2014/main" id="{70D91877-540C-1925-D608-99346714F4D3}"/>
              </a:ext>
            </a:extLst>
          </p:cNvPr>
          <p:cNvSpPr>
            <a:spLocks noGrp="1" noChangeArrowheads="1"/>
          </p:cNvSpPr>
          <p:nvPr>
            <p:ph idx="1"/>
          </p:nvPr>
        </p:nvSpPr>
        <p:spPr>
          <a:xfrm>
            <a:off x="1263569" y="1752600"/>
            <a:ext cx="9963873" cy="5105400"/>
          </a:xfrm>
        </p:spPr>
        <p:txBody>
          <a:bodyPr>
            <a:noAutofit/>
          </a:bodyPr>
          <a:lstStyle/>
          <a:p>
            <a:pPr>
              <a:buFont typeface="Wingdings" panose="05000000000000000000" pitchFamily="2" charset="2"/>
              <a:buChar char="Ø"/>
            </a:pPr>
            <a:r>
              <a:rPr lang="es-ES" sz="2600" b="1" dirty="0"/>
              <a:t>Prototipos</a:t>
            </a:r>
            <a:r>
              <a:rPr lang="es-ES" sz="2600" dirty="0"/>
              <a:t>: Creación de modelos preliminares del sistema</a:t>
            </a:r>
          </a:p>
          <a:p>
            <a:pPr>
              <a:buFont typeface="Wingdings" panose="05000000000000000000" pitchFamily="2" charset="2"/>
              <a:buChar char="Ø"/>
            </a:pPr>
            <a:endParaRPr lang="es-ES" sz="1000" dirty="0"/>
          </a:p>
          <a:p>
            <a:pPr>
              <a:buFont typeface="Wingdings" panose="05000000000000000000" pitchFamily="2" charset="2"/>
              <a:buChar char="Ø"/>
            </a:pPr>
            <a:r>
              <a:rPr lang="es-ES" sz="2600" b="1" dirty="0"/>
              <a:t>Modelado visual</a:t>
            </a:r>
            <a:r>
              <a:rPr lang="es-ES" sz="2600" dirty="0"/>
              <a:t>: Uso de diagramas </a:t>
            </a:r>
          </a:p>
          <a:p>
            <a:pPr>
              <a:buFont typeface="Wingdings" panose="05000000000000000000" pitchFamily="2" charset="2"/>
              <a:buChar char="Ø"/>
            </a:pPr>
            <a:endParaRPr lang="es-ES" sz="1000" dirty="0"/>
          </a:p>
          <a:p>
            <a:pPr>
              <a:buFont typeface="Wingdings" panose="05000000000000000000" pitchFamily="2" charset="2"/>
              <a:buChar char="Ø"/>
            </a:pPr>
            <a:r>
              <a:rPr lang="es-ES" sz="2600" b="1" dirty="0"/>
              <a:t>Documentación narrativa</a:t>
            </a:r>
            <a:r>
              <a:rPr lang="es-ES" sz="2600" dirty="0"/>
              <a:t>: Descripciones textuales que detallan los requisitos sin seguir una estructura formal</a:t>
            </a:r>
          </a:p>
          <a:p>
            <a:pPr>
              <a:buFont typeface="Wingdings" panose="05000000000000000000" pitchFamily="2" charset="2"/>
              <a:buChar char="Ø"/>
            </a:pPr>
            <a:endParaRPr lang="es-ES" sz="1000" dirty="0"/>
          </a:p>
          <a:p>
            <a:pPr>
              <a:buFont typeface="Wingdings" panose="05000000000000000000" pitchFamily="2" charset="2"/>
              <a:buChar char="Ø"/>
            </a:pPr>
            <a:r>
              <a:rPr lang="es-ES" sz="2600" b="1" dirty="0"/>
              <a:t>Análisis de documentos existentes</a:t>
            </a:r>
          </a:p>
          <a:p>
            <a:pPr>
              <a:buFont typeface="Wingdings" panose="05000000000000000000" pitchFamily="2" charset="2"/>
              <a:buChar char="Ø"/>
            </a:pPr>
            <a:r>
              <a:rPr lang="es-ES" sz="2600" b="1" dirty="0"/>
              <a:t>Reuniones de revisión</a:t>
            </a:r>
          </a:p>
          <a:p>
            <a:pPr>
              <a:buFont typeface="Wingdings" panose="05000000000000000000" pitchFamily="2" charset="2"/>
              <a:buChar char="Ø"/>
            </a:pPr>
            <a:r>
              <a:rPr lang="es-ES" sz="2600" b="1" i="1" dirty="0" err="1"/>
              <a:t>Brainstorming</a:t>
            </a:r>
            <a:r>
              <a:rPr lang="es-ES" sz="2600" i="1" dirty="0"/>
              <a:t> </a:t>
            </a:r>
            <a:r>
              <a:rPr lang="es-ES" sz="2600" dirty="0"/>
              <a:t>(Tormenta de ideas)</a:t>
            </a:r>
          </a:p>
        </p:txBody>
      </p:sp>
    </p:spTree>
    <p:extLst>
      <p:ext uri="{BB962C8B-B14F-4D97-AF65-F5344CB8AC3E}">
        <p14:creationId xmlns:p14="http://schemas.microsoft.com/office/powerpoint/2010/main" val="28091902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115993" y="876782"/>
            <a:ext cx="7772400" cy="838200"/>
          </a:xfrm>
        </p:spPr>
        <p:txBody>
          <a:bodyPr>
            <a:normAutofit/>
          </a:bodyPr>
          <a:lstStyle/>
          <a:p>
            <a:r>
              <a:rPr lang="es-ES" dirty="0"/>
              <a:t>Tarjetas CRC</a:t>
            </a:r>
            <a:endParaRPr lang="es-ES_tradnl" dirty="0"/>
          </a:p>
        </p:txBody>
      </p:sp>
      <p:sp>
        <p:nvSpPr>
          <p:cNvPr id="26627" name="Rectangle 3"/>
          <p:cNvSpPr>
            <a:spLocks noGrp="1" noChangeArrowheads="1"/>
          </p:cNvSpPr>
          <p:nvPr>
            <p:ph idx="1"/>
          </p:nvPr>
        </p:nvSpPr>
        <p:spPr>
          <a:xfrm>
            <a:off x="1295400" y="1821083"/>
            <a:ext cx="5302170" cy="5410200"/>
          </a:xfrm>
        </p:spPr>
        <p:txBody>
          <a:bodyPr>
            <a:normAutofit/>
          </a:bodyPr>
          <a:lstStyle/>
          <a:p>
            <a:r>
              <a:rPr lang="es-ES" dirty="0"/>
              <a:t>Las </a:t>
            </a:r>
            <a:r>
              <a:rPr lang="es-ES" b="1" dirty="0"/>
              <a:t>tarjetas CRC</a:t>
            </a:r>
            <a:r>
              <a:rPr lang="es-ES" dirty="0"/>
              <a:t> (Clase-Responsabilidad-Colaboración) son una herramienta de ‘lluvia de ideas’ usada como metodología para el diseño de software orientado a objetos, creada por Kent Beck y Ward </a:t>
            </a:r>
            <a:r>
              <a:rPr lang="es-ES" dirty="0" err="1"/>
              <a:t>Cunningham</a:t>
            </a:r>
            <a:r>
              <a:rPr lang="es-ES" dirty="0"/>
              <a:t>. </a:t>
            </a:r>
          </a:p>
          <a:p>
            <a:r>
              <a:rPr lang="es-ES" dirty="0"/>
              <a:t>La técnica consiste en dibujar una tarjeta por cada clase u objeto, y dividirla en tres zonas: </a:t>
            </a:r>
          </a:p>
          <a:p>
            <a:pPr marL="857250" lvl="1" indent="-457200">
              <a:buFont typeface="+mj-lt"/>
              <a:buAutoNum type="arabicPeriod"/>
            </a:pPr>
            <a:r>
              <a:rPr lang="es-ES" sz="1600" dirty="0"/>
              <a:t>En la parte superior, el nombre de la </a:t>
            </a:r>
            <a:r>
              <a:rPr lang="es-ES" sz="1600" b="1" dirty="0"/>
              <a:t>clase</a:t>
            </a:r>
            <a:r>
              <a:rPr lang="es-ES" sz="1600" dirty="0"/>
              <a:t>.</a:t>
            </a:r>
          </a:p>
          <a:p>
            <a:pPr marL="857250" lvl="1" indent="-457200">
              <a:buFont typeface="+mj-lt"/>
              <a:buAutoNum type="arabicPeriod"/>
            </a:pPr>
            <a:r>
              <a:rPr lang="es-ES" sz="1600" dirty="0"/>
              <a:t>Debajo, en la parte izquierda, las </a:t>
            </a:r>
            <a:r>
              <a:rPr lang="es-ES" sz="1600" b="1" dirty="0"/>
              <a:t>responsabilidades</a:t>
            </a:r>
            <a:r>
              <a:rPr lang="es-ES" sz="1600" dirty="0"/>
              <a:t> de dicha clase. Son sus objetivos, a alto nivel.</a:t>
            </a:r>
          </a:p>
          <a:p>
            <a:pPr marL="857250" lvl="1" indent="-457200">
              <a:buFont typeface="+mj-lt"/>
              <a:buAutoNum type="arabicPeriod"/>
            </a:pPr>
            <a:r>
              <a:rPr lang="es-ES" sz="1600" dirty="0"/>
              <a:t>A la derecha de las responsabilidades, los </a:t>
            </a:r>
            <a:r>
              <a:rPr lang="es-ES" sz="1600" b="1" dirty="0"/>
              <a:t>colaboradores</a:t>
            </a:r>
            <a:r>
              <a:rPr lang="es-ES" sz="1600" dirty="0"/>
              <a:t>, que son otras clases que ayudan a conseguir cumplir a esta con sus responsabilidades.</a:t>
            </a:r>
          </a:p>
          <a:p>
            <a:endParaRPr lang="es-ES" dirty="0"/>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1207" y="876781"/>
            <a:ext cx="4509304" cy="5260855"/>
          </a:xfrm>
          <a:prstGeom prst="rect">
            <a:avLst/>
          </a:prstGeom>
        </p:spPr>
      </p:pic>
    </p:spTree>
    <p:extLst>
      <p:ext uri="{BB962C8B-B14F-4D97-AF65-F5344CB8AC3E}">
        <p14:creationId xmlns:p14="http://schemas.microsoft.com/office/powerpoint/2010/main" val="805537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159476" y="1797908"/>
            <a:ext cx="7772400" cy="838200"/>
          </a:xfrm>
        </p:spPr>
        <p:txBody>
          <a:bodyPr>
            <a:normAutofit/>
          </a:bodyPr>
          <a:lstStyle/>
          <a:p>
            <a:r>
              <a:rPr lang="es-ES" dirty="0"/>
              <a:t>Tarjetas CRC: Simulación </a:t>
            </a:r>
            <a:endParaRPr lang="es-ES_tradnl" dirty="0"/>
          </a:p>
        </p:txBody>
      </p:sp>
      <p:pic>
        <p:nvPicPr>
          <p:cNvPr id="5" name="Marcador de contenido 4">
            <a:extLst>
              <a:ext uri="{FF2B5EF4-FFF2-40B4-BE49-F238E27FC236}">
                <a16:creationId xmlns:a16="http://schemas.microsoft.com/office/drawing/2014/main" id="{A3A756A1-6B36-6438-EC7D-6D702D210D22}"/>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1547" t="12970" r="3955" b="3561"/>
          <a:stretch/>
        </p:blipFill>
        <p:spPr>
          <a:xfrm>
            <a:off x="7266546" y="-18535"/>
            <a:ext cx="4925454" cy="6876535"/>
          </a:xfrm>
        </p:spPr>
      </p:pic>
    </p:spTree>
    <p:extLst>
      <p:ext uri="{BB962C8B-B14F-4D97-AF65-F5344CB8AC3E}">
        <p14:creationId xmlns:p14="http://schemas.microsoft.com/office/powerpoint/2010/main" val="2529159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221259" y="883508"/>
            <a:ext cx="7772400" cy="838200"/>
          </a:xfrm>
        </p:spPr>
        <p:txBody>
          <a:bodyPr>
            <a:normAutofit/>
          </a:bodyPr>
          <a:lstStyle/>
          <a:p>
            <a:r>
              <a:rPr lang="es-ES" b="1" i="1" dirty="0">
                <a:effectLst/>
              </a:rPr>
              <a:t>Storyboards </a:t>
            </a:r>
            <a:r>
              <a:rPr lang="es-ES" b="1" dirty="0">
                <a:effectLst/>
              </a:rPr>
              <a:t>(Guiones gráficos)</a:t>
            </a:r>
          </a:p>
        </p:txBody>
      </p:sp>
      <p:sp>
        <p:nvSpPr>
          <p:cNvPr id="2" name="1 Marcador de contenido"/>
          <p:cNvSpPr>
            <a:spLocks noGrp="1"/>
          </p:cNvSpPr>
          <p:nvPr>
            <p:ph idx="1"/>
          </p:nvPr>
        </p:nvSpPr>
        <p:spPr/>
        <p:txBody>
          <a:bodyPr>
            <a:normAutofit/>
          </a:bodyPr>
          <a:lstStyle/>
          <a:p>
            <a:pPr>
              <a:buFont typeface="Wingdings" panose="05000000000000000000" pitchFamily="2" charset="2"/>
              <a:buChar char="Ø"/>
            </a:pPr>
            <a:r>
              <a:rPr lang="es-ES" sz="2800" dirty="0"/>
              <a:t>Son representaciones visuales de una interacción con el producto software</a:t>
            </a:r>
          </a:p>
          <a:p>
            <a:pPr>
              <a:buFont typeface="Wingdings" panose="05000000000000000000" pitchFamily="2" charset="2"/>
              <a:buChar char="Ø"/>
            </a:pPr>
            <a:endParaRPr lang="es-ES" sz="2800" dirty="0"/>
          </a:p>
          <a:p>
            <a:pPr>
              <a:buFont typeface="Wingdings" panose="05000000000000000000" pitchFamily="2" charset="2"/>
              <a:buChar char="Ø"/>
            </a:pPr>
            <a:r>
              <a:rPr lang="es-ES" sz="2800" dirty="0"/>
              <a:t>Existen dos tipos de </a:t>
            </a:r>
            <a:r>
              <a:rPr lang="es-ES" sz="2800" dirty="0" err="1"/>
              <a:t>storyboards</a:t>
            </a:r>
            <a:r>
              <a:rPr lang="es-ES" sz="2800" dirty="0"/>
              <a:t> ambos sirven de ayuda para discutir e indagar requerimientos entre los clientes y entre el equipo de desarrollo para comprender qué se pretende crear.</a:t>
            </a:r>
          </a:p>
        </p:txBody>
      </p:sp>
    </p:spTree>
    <p:extLst>
      <p:ext uri="{BB962C8B-B14F-4D97-AF65-F5344CB8AC3E}">
        <p14:creationId xmlns:p14="http://schemas.microsoft.com/office/powerpoint/2010/main" val="29680916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221260" y="871151"/>
            <a:ext cx="7772400" cy="838200"/>
          </a:xfrm>
        </p:spPr>
        <p:txBody>
          <a:bodyPr>
            <a:normAutofit/>
          </a:bodyPr>
          <a:lstStyle/>
          <a:p>
            <a:r>
              <a:rPr lang="es-ES" b="1" i="1" dirty="0">
                <a:effectLst/>
              </a:rPr>
              <a:t>Storyboard:</a:t>
            </a:r>
            <a:r>
              <a:rPr lang="es-ES" b="1" dirty="0">
                <a:effectLst/>
              </a:rPr>
              <a:t> tipo 1</a:t>
            </a:r>
          </a:p>
        </p:txBody>
      </p:sp>
      <p:sp>
        <p:nvSpPr>
          <p:cNvPr id="2" name="1 Marcador de contenido"/>
          <p:cNvSpPr>
            <a:spLocks noGrp="1"/>
          </p:cNvSpPr>
          <p:nvPr>
            <p:ph idx="1"/>
          </p:nvPr>
        </p:nvSpPr>
        <p:spPr/>
        <p:txBody>
          <a:bodyPr>
            <a:normAutofit lnSpcReduction="10000"/>
          </a:bodyPr>
          <a:lstStyle/>
          <a:p>
            <a:r>
              <a:rPr lang="es-ES" sz="2600" dirty="0"/>
              <a:t>Tipo </a:t>
            </a:r>
            <a:r>
              <a:rPr lang="es-ES" sz="2600" i="1" dirty="0"/>
              <a:t>comic</a:t>
            </a:r>
            <a:r>
              <a:rPr lang="es-ES" sz="2600" dirty="0"/>
              <a:t>, describe paso a paso los distintos momentos en los que se interactúa con el producto.</a:t>
            </a:r>
          </a:p>
          <a:p>
            <a:endParaRPr lang="es-ES" sz="2600" dirty="0"/>
          </a:p>
          <a:p>
            <a:r>
              <a:rPr lang="es-ES" sz="2600" dirty="0"/>
              <a:t>Usos potenciales:</a:t>
            </a:r>
          </a:p>
          <a:p>
            <a:pPr lvl="1"/>
            <a:r>
              <a:rPr lang="es-ES" sz="2600" dirty="0"/>
              <a:t>Asegura que todo el equipo de desarrollo sepa de qué se está hablando, centra la atención.</a:t>
            </a:r>
          </a:p>
          <a:p>
            <a:pPr lvl="1"/>
            <a:r>
              <a:rPr lang="es-ES" sz="2600" dirty="0"/>
              <a:t>Estimula el identificar posibles </a:t>
            </a:r>
            <a:r>
              <a:rPr lang="es-ES" sz="2600" b="1" i="1" dirty="0" err="1"/>
              <a:t>features</a:t>
            </a:r>
            <a:r>
              <a:rPr lang="es-ES" sz="2600" b="1" i="1" dirty="0"/>
              <a:t> </a:t>
            </a:r>
            <a:r>
              <a:rPr lang="es-ES" sz="2600" dirty="0"/>
              <a:t>(características) que mejoran al producto.</a:t>
            </a:r>
          </a:p>
          <a:p>
            <a:pPr lvl="1"/>
            <a:r>
              <a:rPr lang="es-ES" sz="2600" dirty="0"/>
              <a:t>Asegura la claridad del objeto de uso del producto.</a:t>
            </a:r>
          </a:p>
          <a:p>
            <a:pPr lvl="1"/>
            <a:r>
              <a:rPr lang="es-ES" sz="2600" dirty="0"/>
              <a:t>Se puede usar en las demos de marketing.</a:t>
            </a:r>
          </a:p>
          <a:p>
            <a:endParaRPr lang="es-ES" dirty="0"/>
          </a:p>
        </p:txBody>
      </p:sp>
    </p:spTree>
    <p:extLst>
      <p:ext uri="{BB962C8B-B14F-4D97-AF65-F5344CB8AC3E}">
        <p14:creationId xmlns:p14="http://schemas.microsoft.com/office/powerpoint/2010/main" val="26470318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0" y="2857500"/>
            <a:ext cx="7772400" cy="838200"/>
          </a:xfrm>
        </p:spPr>
        <p:txBody>
          <a:bodyPr>
            <a:noAutofit/>
          </a:bodyPr>
          <a:lstStyle/>
          <a:p>
            <a:r>
              <a:rPr lang="es-ES" sz="3000" b="1" dirty="0">
                <a:effectLst/>
              </a:rPr>
              <a:t>Storyboard:</a:t>
            </a:r>
            <a:br>
              <a:rPr lang="es-ES" sz="3000" b="1" dirty="0">
                <a:effectLst/>
              </a:rPr>
            </a:br>
            <a:r>
              <a:rPr lang="es-ES" sz="3000" b="1" dirty="0">
                <a:effectLst/>
              </a:rPr>
              <a:t> tipo 1</a:t>
            </a:r>
            <a:br>
              <a:rPr lang="es-ES" sz="3000" b="1" dirty="0"/>
            </a:br>
            <a:endParaRPr lang="es-ES" sz="3000" b="1" dirty="0">
              <a:effectLst/>
            </a:endParaRPr>
          </a:p>
        </p:txBody>
      </p:sp>
      <p:pic>
        <p:nvPicPr>
          <p:cNvPr id="7" name="Marcador de contenido 6">
            <a:extLst>
              <a:ext uri="{FF2B5EF4-FFF2-40B4-BE49-F238E27FC236}">
                <a16:creationId xmlns:a16="http://schemas.microsoft.com/office/drawing/2014/main" id="{5FEDFBF6-7D8C-BCFA-8111-BDC953E5221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29948" y="0"/>
            <a:ext cx="10548551" cy="6828975"/>
          </a:xfrm>
        </p:spPr>
      </p:pic>
      <p:sp>
        <p:nvSpPr>
          <p:cNvPr id="5" name="AutoShape 2">
            <a:extLst>
              <a:ext uri="{FF2B5EF4-FFF2-40B4-BE49-F238E27FC236}">
                <a16:creationId xmlns:a16="http://schemas.microsoft.com/office/drawing/2014/main" id="{E01403BA-0C08-04D5-4037-9E9EB9B858B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CuadroTexto 8">
            <a:extLst>
              <a:ext uri="{FF2B5EF4-FFF2-40B4-BE49-F238E27FC236}">
                <a16:creationId xmlns:a16="http://schemas.microsoft.com/office/drawing/2014/main" id="{D666A4D6-C515-0F34-7838-7CAB81AF72F4}"/>
              </a:ext>
            </a:extLst>
          </p:cNvPr>
          <p:cNvSpPr txBox="1"/>
          <p:nvPr/>
        </p:nvSpPr>
        <p:spPr>
          <a:xfrm>
            <a:off x="0" y="5166495"/>
            <a:ext cx="2506491" cy="923330"/>
          </a:xfrm>
          <a:prstGeom prst="rect">
            <a:avLst/>
          </a:prstGeom>
          <a:noFill/>
        </p:spPr>
        <p:txBody>
          <a:bodyPr wrap="square">
            <a:spAutoFit/>
          </a:bodyPr>
          <a:lstStyle/>
          <a:p>
            <a:r>
              <a:rPr lang="en-US" b="0" i="0" dirty="0">
                <a:solidFill>
                  <a:srgbClr val="626A70"/>
                </a:solidFill>
                <a:effectLst/>
                <a:latin typeface="TradeGothic"/>
              </a:rPr>
              <a:t>Fuente: Chelsea Hostetter, Austin Center for Design on </a:t>
            </a:r>
            <a:r>
              <a:rPr lang="en-US" b="1" i="0" u="none" strike="noStrike" dirty="0">
                <a:effectLst/>
                <a:latin typeface="TradeGothic"/>
                <a:hlinkClick r:id="rId4"/>
              </a:rPr>
              <a:t>Miro</a:t>
            </a:r>
            <a:endParaRPr lang="en-US" dirty="0"/>
          </a:p>
        </p:txBody>
      </p:sp>
    </p:spTree>
    <p:extLst>
      <p:ext uri="{BB962C8B-B14F-4D97-AF65-F5344CB8AC3E}">
        <p14:creationId xmlns:p14="http://schemas.microsoft.com/office/powerpoint/2010/main" val="33093904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149178" y="908222"/>
            <a:ext cx="7772400" cy="838200"/>
          </a:xfrm>
        </p:spPr>
        <p:txBody>
          <a:bodyPr>
            <a:normAutofit/>
          </a:bodyPr>
          <a:lstStyle/>
          <a:p>
            <a:r>
              <a:rPr lang="es-ES" b="1" dirty="0">
                <a:effectLst/>
              </a:rPr>
              <a:t>Storyboard: tipo 2</a:t>
            </a:r>
          </a:p>
        </p:txBody>
      </p:sp>
      <p:sp>
        <p:nvSpPr>
          <p:cNvPr id="2" name="1 Marcador de contenido"/>
          <p:cNvSpPr>
            <a:spLocks noGrp="1"/>
          </p:cNvSpPr>
          <p:nvPr>
            <p:ph idx="1"/>
          </p:nvPr>
        </p:nvSpPr>
        <p:spPr>
          <a:xfrm>
            <a:off x="1149177" y="1746422"/>
            <a:ext cx="9749481" cy="5029200"/>
          </a:xfrm>
        </p:spPr>
        <p:txBody>
          <a:bodyPr>
            <a:normAutofit/>
          </a:bodyPr>
          <a:lstStyle/>
          <a:p>
            <a:r>
              <a:rPr lang="es-ES" sz="2800" dirty="0"/>
              <a:t>Muestra cómo el usuario final interactúa con la interfaz de usuario del producto en detalle.</a:t>
            </a:r>
          </a:p>
          <a:p>
            <a:endParaRPr lang="es-ES" sz="2800" dirty="0"/>
          </a:p>
          <a:p>
            <a:r>
              <a:rPr lang="es-ES" sz="2800" dirty="0"/>
              <a:t>Usos potenciales:</a:t>
            </a:r>
          </a:p>
          <a:p>
            <a:pPr lvl="1"/>
            <a:r>
              <a:rPr lang="es-ES" sz="2800" dirty="0"/>
              <a:t>Ayuda al equipo de desarrollo a diseñar los requerimientos.</a:t>
            </a:r>
          </a:p>
          <a:p>
            <a:pPr lvl="1"/>
            <a:r>
              <a:rPr lang="es-ES" sz="2800" dirty="0"/>
              <a:t>Ayuda a identificar qué podría complicarse en exceso.</a:t>
            </a:r>
          </a:p>
          <a:p>
            <a:pPr lvl="1"/>
            <a:r>
              <a:rPr lang="es-ES" sz="2800" dirty="0"/>
              <a:t>Asegura al equipo de desarrollo estar atentos a las funcionalidades y el sentir del producto.</a:t>
            </a:r>
          </a:p>
          <a:p>
            <a:pPr lvl="1"/>
            <a:r>
              <a:rPr lang="es-ES" sz="2800" dirty="0"/>
              <a:t>Sirve de ayuda a la hora de crear los manuales de usuario.</a:t>
            </a:r>
          </a:p>
          <a:p>
            <a:endParaRPr lang="es-US" dirty="0"/>
          </a:p>
        </p:txBody>
      </p:sp>
    </p:spTree>
    <p:extLst>
      <p:ext uri="{BB962C8B-B14F-4D97-AF65-F5344CB8AC3E}">
        <p14:creationId xmlns:p14="http://schemas.microsoft.com/office/powerpoint/2010/main" val="36531470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97708" y="2205682"/>
            <a:ext cx="7772400" cy="838200"/>
          </a:xfrm>
        </p:spPr>
        <p:txBody>
          <a:bodyPr>
            <a:normAutofit fontScale="90000"/>
          </a:bodyPr>
          <a:lstStyle/>
          <a:p>
            <a:r>
              <a:rPr lang="es-ES" sz="3000" b="1" dirty="0">
                <a:effectLst/>
              </a:rPr>
              <a:t>Storyboard</a:t>
            </a:r>
            <a:br>
              <a:rPr lang="es-ES" sz="3000" b="1" dirty="0">
                <a:effectLst/>
              </a:rPr>
            </a:br>
            <a:r>
              <a:rPr lang="es-ES" sz="3000" b="1" dirty="0">
                <a:effectLst/>
              </a:rPr>
              <a:t> tipo 2</a:t>
            </a:r>
          </a:p>
        </p:txBody>
      </p:sp>
      <p:pic>
        <p:nvPicPr>
          <p:cNvPr id="6" name="Marcador de contenido 5">
            <a:extLst>
              <a:ext uri="{FF2B5EF4-FFF2-40B4-BE49-F238E27FC236}">
                <a16:creationId xmlns:a16="http://schemas.microsoft.com/office/drawing/2014/main" id="{CA928A0E-874A-EB3D-D872-63F0E59D871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87285" y="0"/>
            <a:ext cx="9704716" cy="6858000"/>
          </a:xfrm>
        </p:spPr>
      </p:pic>
    </p:spTree>
    <p:extLst>
      <p:ext uri="{BB962C8B-B14F-4D97-AF65-F5344CB8AC3E}">
        <p14:creationId xmlns:p14="http://schemas.microsoft.com/office/powerpoint/2010/main" val="1961742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EDB6E-AE15-B289-B994-485E6BE833B9}"/>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D47BD8D3-BE5A-45FA-4296-678F820A58FC}"/>
              </a:ext>
            </a:extLst>
          </p:cNvPr>
          <p:cNvSpPr>
            <a:spLocks noGrp="1" noChangeArrowheads="1"/>
          </p:cNvSpPr>
          <p:nvPr>
            <p:ph type="title"/>
          </p:nvPr>
        </p:nvSpPr>
        <p:spPr>
          <a:xfrm>
            <a:off x="1221260" y="871151"/>
            <a:ext cx="7772400" cy="838200"/>
          </a:xfrm>
        </p:spPr>
        <p:txBody>
          <a:bodyPr>
            <a:normAutofit/>
          </a:bodyPr>
          <a:lstStyle/>
          <a:p>
            <a:r>
              <a:rPr lang="es-ES" b="1" dirty="0">
                <a:effectLst/>
              </a:rPr>
              <a:t>Historias de Usuarios</a:t>
            </a:r>
          </a:p>
        </p:txBody>
      </p:sp>
      <p:sp>
        <p:nvSpPr>
          <p:cNvPr id="2" name="1 Marcador de contenido">
            <a:extLst>
              <a:ext uri="{FF2B5EF4-FFF2-40B4-BE49-F238E27FC236}">
                <a16:creationId xmlns:a16="http://schemas.microsoft.com/office/drawing/2014/main" id="{431D99D0-869F-AE94-5AB4-C87CCF08FCB2}"/>
              </a:ext>
            </a:extLst>
          </p:cNvPr>
          <p:cNvSpPr>
            <a:spLocks noGrp="1"/>
          </p:cNvSpPr>
          <p:nvPr>
            <p:ph idx="1"/>
          </p:nvPr>
        </p:nvSpPr>
        <p:spPr>
          <a:xfrm>
            <a:off x="1097279" y="1845733"/>
            <a:ext cx="10419217" cy="4382071"/>
          </a:xfrm>
        </p:spPr>
        <p:txBody>
          <a:bodyPr>
            <a:normAutofit lnSpcReduction="10000"/>
          </a:bodyPr>
          <a:lstStyle/>
          <a:p>
            <a:pPr>
              <a:buFont typeface="Wingdings" panose="05000000000000000000" pitchFamily="2" charset="2"/>
              <a:buChar char="Ø"/>
            </a:pPr>
            <a:r>
              <a:rPr lang="es-ES" sz="2600" dirty="0"/>
              <a:t>Técnica utilizada en el desarrollo ágil para capturar requisitos desde la perspectiva del </a:t>
            </a:r>
            <a:r>
              <a:rPr lang="es-ES" sz="2600" b="1" dirty="0">
                <a:solidFill>
                  <a:srgbClr val="FF0000"/>
                </a:solidFill>
              </a:rPr>
              <a:t>usuario final</a:t>
            </a:r>
            <a:r>
              <a:rPr lang="es-ES" sz="2600" dirty="0"/>
              <a:t>. </a:t>
            </a:r>
          </a:p>
          <a:p>
            <a:pPr>
              <a:buFont typeface="Wingdings" panose="05000000000000000000" pitchFamily="2" charset="2"/>
              <a:buChar char="Ø"/>
            </a:pPr>
            <a:r>
              <a:rPr lang="es-ES" sz="2600" dirty="0"/>
              <a:t>Se redactan de manera sencilla y se centran en el valor que el usuario espera obtener del sistema</a:t>
            </a:r>
          </a:p>
          <a:p>
            <a:pPr algn="l" fontAlgn="auto">
              <a:lnSpc>
                <a:spcPts val="1800"/>
              </a:lnSpc>
              <a:buFont typeface="Wingdings" panose="05000000000000000000" pitchFamily="2" charset="2"/>
              <a:buChar char="Ø"/>
            </a:pPr>
            <a:r>
              <a:rPr lang="es-ES" sz="2400" dirty="0">
                <a:solidFill>
                  <a:srgbClr val="2A2B2C"/>
                </a:solidFill>
                <a:latin typeface="TWK Lausanne"/>
              </a:rPr>
              <a:t>P</a:t>
            </a:r>
            <a:r>
              <a:rPr lang="es-ES" sz="2400" b="0" i="0" dirty="0">
                <a:solidFill>
                  <a:srgbClr val="2A2B2C"/>
                </a:solidFill>
                <a:effectLst/>
                <a:latin typeface="TWK Lausanne"/>
              </a:rPr>
              <a:t>asos a seguir para redactar una historia de usuario:</a:t>
            </a:r>
          </a:p>
          <a:p>
            <a:pPr algn="l" fontAlgn="auto">
              <a:lnSpc>
                <a:spcPts val="1800"/>
              </a:lnSpc>
              <a:buFont typeface="Wingdings" panose="05000000000000000000" pitchFamily="2" charset="2"/>
              <a:buChar char="Ø"/>
            </a:pPr>
            <a:endParaRPr lang="es-ES" sz="2400" b="0" i="0" dirty="0">
              <a:solidFill>
                <a:srgbClr val="2A2B2C"/>
              </a:solidFill>
              <a:effectLst/>
              <a:latin typeface="TWK Lausanne"/>
            </a:endParaRPr>
          </a:p>
          <a:p>
            <a:pPr marL="658368" lvl="1" indent="-457200">
              <a:lnSpc>
                <a:spcPts val="1800"/>
              </a:lnSpc>
              <a:spcAft>
                <a:spcPts val="600"/>
              </a:spcAft>
              <a:buFont typeface="+mj-lt"/>
              <a:buAutoNum type="arabicPeriod"/>
            </a:pPr>
            <a:r>
              <a:rPr lang="es-ES" sz="2400" b="1" i="0" dirty="0">
                <a:solidFill>
                  <a:srgbClr val="646F79"/>
                </a:solidFill>
                <a:effectLst/>
                <a:latin typeface="inherit"/>
              </a:rPr>
              <a:t>Perfil/Tipo de Usuario</a:t>
            </a:r>
            <a:r>
              <a:rPr lang="es-ES" sz="2400" b="0" i="0" dirty="0">
                <a:solidFill>
                  <a:srgbClr val="646F79"/>
                </a:solidFill>
                <a:effectLst/>
                <a:latin typeface="inherit"/>
              </a:rPr>
              <a:t>: </a:t>
            </a:r>
            <a:r>
              <a:rPr lang="es-ES" sz="2400" b="0" i="0" dirty="0">
                <a:solidFill>
                  <a:srgbClr val="646F79"/>
                </a:solidFill>
                <a:effectLst/>
                <a:latin typeface="TWK Lausanne"/>
              </a:rPr>
              <a:t>el rol del usuario final</a:t>
            </a:r>
          </a:p>
          <a:p>
            <a:pPr marL="658368" lvl="1" indent="-457200">
              <a:lnSpc>
                <a:spcPts val="1800"/>
              </a:lnSpc>
              <a:spcAft>
                <a:spcPts val="600"/>
              </a:spcAft>
              <a:buFont typeface="+mj-lt"/>
              <a:buAutoNum type="arabicPeriod"/>
            </a:pPr>
            <a:r>
              <a:rPr lang="es-ES" sz="2400" b="1" i="0" dirty="0">
                <a:solidFill>
                  <a:srgbClr val="646F79"/>
                </a:solidFill>
                <a:effectLst/>
                <a:latin typeface="inherit"/>
              </a:rPr>
              <a:t>Necesidad/Acción</a:t>
            </a:r>
            <a:r>
              <a:rPr lang="es-ES" sz="2400" b="0" i="0" dirty="0">
                <a:solidFill>
                  <a:srgbClr val="646F79"/>
                </a:solidFill>
                <a:effectLst/>
                <a:latin typeface="inherit"/>
              </a:rPr>
              <a:t>: </a:t>
            </a:r>
            <a:r>
              <a:rPr lang="es-ES" sz="2400" b="0" i="0" dirty="0">
                <a:solidFill>
                  <a:srgbClr val="646F79"/>
                </a:solidFill>
                <a:effectLst/>
                <a:latin typeface="TWK Lausanne"/>
              </a:rPr>
              <a:t>el objetivo que tiene la función de software para el usuario final</a:t>
            </a:r>
          </a:p>
          <a:p>
            <a:pPr marL="658368" lvl="1" indent="-457200">
              <a:lnSpc>
                <a:spcPts val="1800"/>
              </a:lnSpc>
              <a:spcAft>
                <a:spcPts val="600"/>
              </a:spcAft>
              <a:buFont typeface="+mj-lt"/>
              <a:buAutoNum type="arabicPeriod"/>
            </a:pPr>
            <a:r>
              <a:rPr lang="es-ES" sz="2400" b="1" i="0" dirty="0">
                <a:solidFill>
                  <a:srgbClr val="646F79"/>
                </a:solidFill>
                <a:effectLst/>
                <a:latin typeface="inherit"/>
              </a:rPr>
              <a:t>Propósito/Beneficio</a:t>
            </a:r>
            <a:r>
              <a:rPr lang="es-ES" sz="2400" b="0" i="0" dirty="0">
                <a:solidFill>
                  <a:srgbClr val="646F79"/>
                </a:solidFill>
                <a:effectLst/>
                <a:latin typeface="inherit"/>
              </a:rPr>
              <a:t>: </a:t>
            </a:r>
            <a:r>
              <a:rPr lang="es-ES" sz="2400" b="0" i="0" dirty="0">
                <a:solidFill>
                  <a:srgbClr val="646F79"/>
                </a:solidFill>
                <a:effectLst/>
                <a:latin typeface="TWK Lausanne"/>
              </a:rPr>
              <a:t>el objetivo de la experiencia del usuario final con la función de software</a:t>
            </a:r>
          </a:p>
          <a:p>
            <a:r>
              <a:rPr lang="es-ES" sz="2600" dirty="0"/>
              <a:t>.</a:t>
            </a:r>
            <a:endParaRPr lang="es-ES" dirty="0"/>
          </a:p>
        </p:txBody>
      </p:sp>
    </p:spTree>
    <p:extLst>
      <p:ext uri="{BB962C8B-B14F-4D97-AF65-F5344CB8AC3E}">
        <p14:creationId xmlns:p14="http://schemas.microsoft.com/office/powerpoint/2010/main" val="17128468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48EE3-502D-BBC9-CF04-9B5C1B70240A}"/>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C04D5DDB-0341-1647-FA77-522B8911C82A}"/>
              </a:ext>
            </a:extLst>
          </p:cNvPr>
          <p:cNvSpPr>
            <a:spLocks noGrp="1" noChangeArrowheads="1"/>
          </p:cNvSpPr>
          <p:nvPr>
            <p:ph type="title"/>
          </p:nvPr>
        </p:nvSpPr>
        <p:spPr>
          <a:xfrm>
            <a:off x="1221260" y="871151"/>
            <a:ext cx="7772400" cy="838200"/>
          </a:xfrm>
        </p:spPr>
        <p:txBody>
          <a:bodyPr>
            <a:normAutofit/>
          </a:bodyPr>
          <a:lstStyle/>
          <a:p>
            <a:r>
              <a:rPr lang="es-ES" b="1" dirty="0">
                <a:effectLst/>
              </a:rPr>
              <a:t>Historias de Usuarios. Ejemplos</a:t>
            </a:r>
          </a:p>
        </p:txBody>
      </p:sp>
      <p:sp>
        <p:nvSpPr>
          <p:cNvPr id="5" name="Rectángulo: esquinas redondeadas 4">
            <a:extLst>
              <a:ext uri="{FF2B5EF4-FFF2-40B4-BE49-F238E27FC236}">
                <a16:creationId xmlns:a16="http://schemas.microsoft.com/office/drawing/2014/main" id="{C16AC2DA-C940-2053-4CC7-82D72012075D}"/>
              </a:ext>
            </a:extLst>
          </p:cNvPr>
          <p:cNvSpPr/>
          <p:nvPr/>
        </p:nvSpPr>
        <p:spPr>
          <a:xfrm>
            <a:off x="197708" y="1830859"/>
            <a:ext cx="8056606" cy="1598141"/>
          </a:xfrm>
          <a:prstGeom prst="roundRect">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dirty="0">
                <a:solidFill>
                  <a:schemeClr val="tx1"/>
                </a:solidFill>
              </a:rPr>
              <a:t>Historia de Usuario para una Aplicación de Comercio Electrónico:</a:t>
            </a:r>
          </a:p>
          <a:p>
            <a:r>
              <a:rPr lang="es-ES" sz="2200" dirty="0">
                <a:solidFill>
                  <a:schemeClr val="tx1"/>
                </a:solidFill>
              </a:rPr>
              <a:t>   • Como un cliente,</a:t>
            </a:r>
          </a:p>
          <a:p>
            <a:r>
              <a:rPr lang="es-ES" sz="2200" dirty="0">
                <a:solidFill>
                  <a:schemeClr val="tx1"/>
                </a:solidFill>
              </a:rPr>
              <a:t>   • Quiero poder filtrar productos por categoría,</a:t>
            </a:r>
          </a:p>
          <a:p>
            <a:r>
              <a:rPr lang="es-ES" sz="2200" dirty="0">
                <a:solidFill>
                  <a:schemeClr val="tx1"/>
                </a:solidFill>
              </a:rPr>
              <a:t>   • Para encontrar más fácilmente lo que estoy buscando.</a:t>
            </a:r>
            <a:endParaRPr lang="en-US" sz="2200" dirty="0">
              <a:solidFill>
                <a:schemeClr val="tx1"/>
              </a:solidFill>
            </a:endParaRPr>
          </a:p>
        </p:txBody>
      </p:sp>
      <p:sp>
        <p:nvSpPr>
          <p:cNvPr id="8" name="Rectángulo: esquinas redondeadas 7">
            <a:extLst>
              <a:ext uri="{FF2B5EF4-FFF2-40B4-BE49-F238E27FC236}">
                <a16:creationId xmlns:a16="http://schemas.microsoft.com/office/drawing/2014/main" id="{C3518F76-EBC8-C376-913F-FCC0B45DC700}"/>
              </a:ext>
            </a:extLst>
          </p:cNvPr>
          <p:cNvSpPr/>
          <p:nvPr/>
        </p:nvSpPr>
        <p:spPr>
          <a:xfrm>
            <a:off x="1579606" y="3550508"/>
            <a:ext cx="8985421" cy="1727887"/>
          </a:xfrm>
          <a:prstGeom prst="roundRect">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2200" dirty="0">
                <a:solidFill>
                  <a:schemeClr val="tx1"/>
                </a:solidFill>
              </a:rPr>
              <a:t>Historia de Usuario para un Sistema de Gestión de Proyectos:</a:t>
            </a:r>
          </a:p>
          <a:p>
            <a:r>
              <a:rPr lang="es-ES" sz="2200" dirty="0">
                <a:solidFill>
                  <a:schemeClr val="tx1"/>
                </a:solidFill>
              </a:rPr>
              <a:t>   • Como un gerente de proyecto,</a:t>
            </a:r>
          </a:p>
          <a:p>
            <a:r>
              <a:rPr lang="es-ES" sz="2200" dirty="0">
                <a:solidFill>
                  <a:schemeClr val="tx1"/>
                </a:solidFill>
              </a:rPr>
              <a:t>   • Quiero recibir notificaciones cuando un plazo se acerque,</a:t>
            </a:r>
          </a:p>
          <a:p>
            <a:r>
              <a:rPr lang="es-ES" sz="2200" dirty="0">
                <a:solidFill>
                  <a:schemeClr val="tx1"/>
                </a:solidFill>
              </a:rPr>
              <a:t>   • Para asegurarme de que mi equipo cumpla con los tiempos establecidos.</a:t>
            </a:r>
            <a:endParaRPr lang="en-US" sz="2200" dirty="0">
              <a:solidFill>
                <a:schemeClr val="tx1"/>
              </a:solidFill>
            </a:endParaRPr>
          </a:p>
        </p:txBody>
      </p:sp>
      <p:sp>
        <p:nvSpPr>
          <p:cNvPr id="9" name="Rectángulo: esquinas redondeadas 8">
            <a:extLst>
              <a:ext uri="{FF2B5EF4-FFF2-40B4-BE49-F238E27FC236}">
                <a16:creationId xmlns:a16="http://schemas.microsoft.com/office/drawing/2014/main" id="{B4832FD3-F367-8E5A-4D5C-6BD4DA9B4679}"/>
              </a:ext>
            </a:extLst>
          </p:cNvPr>
          <p:cNvSpPr/>
          <p:nvPr/>
        </p:nvSpPr>
        <p:spPr>
          <a:xfrm>
            <a:off x="3410463" y="5399903"/>
            <a:ext cx="8575590" cy="1381898"/>
          </a:xfrm>
          <a:prstGeom prst="roundRect">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2200" dirty="0">
                <a:solidFill>
                  <a:schemeClr val="tx1"/>
                </a:solidFill>
              </a:rPr>
              <a:t>Historia de Usuario para una Plataforma Educativa:</a:t>
            </a:r>
          </a:p>
          <a:p>
            <a:r>
              <a:rPr lang="es-ES" sz="2200" dirty="0">
                <a:solidFill>
                  <a:schemeClr val="tx1"/>
                </a:solidFill>
              </a:rPr>
              <a:t>   • Como un estudiante,</a:t>
            </a:r>
          </a:p>
          <a:p>
            <a:r>
              <a:rPr lang="es-ES" sz="2200" dirty="0">
                <a:solidFill>
                  <a:schemeClr val="tx1"/>
                </a:solidFill>
              </a:rPr>
              <a:t>   • Quiero acceder a mis materiales de curso en cualquier momento,</a:t>
            </a:r>
          </a:p>
          <a:p>
            <a:r>
              <a:rPr lang="es-ES" sz="2200" dirty="0">
                <a:solidFill>
                  <a:schemeClr val="tx1"/>
                </a:solidFill>
              </a:rPr>
              <a:t>   • Para estudiar de forma independiente.</a:t>
            </a:r>
          </a:p>
        </p:txBody>
      </p:sp>
    </p:spTree>
    <p:extLst>
      <p:ext uri="{BB962C8B-B14F-4D97-AF65-F5344CB8AC3E}">
        <p14:creationId xmlns:p14="http://schemas.microsoft.com/office/powerpoint/2010/main" val="20019807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4FE34-150A-2A30-40E6-DB42AEA16DA2}"/>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D85183F3-9B5E-1FCB-CEE1-A096406D3423}"/>
              </a:ext>
            </a:extLst>
          </p:cNvPr>
          <p:cNvSpPr>
            <a:spLocks noGrp="1" noChangeArrowheads="1"/>
          </p:cNvSpPr>
          <p:nvPr>
            <p:ph type="title"/>
          </p:nvPr>
        </p:nvSpPr>
        <p:spPr>
          <a:xfrm>
            <a:off x="1221259" y="871151"/>
            <a:ext cx="10419217" cy="838200"/>
          </a:xfrm>
        </p:spPr>
        <p:txBody>
          <a:bodyPr>
            <a:normAutofit/>
          </a:bodyPr>
          <a:lstStyle/>
          <a:p>
            <a:r>
              <a:rPr lang="es-ES" b="1" dirty="0">
                <a:effectLst/>
              </a:rPr>
              <a:t>Historias de Usuarios. Ventajas/Desventajas</a:t>
            </a:r>
          </a:p>
        </p:txBody>
      </p:sp>
      <p:sp>
        <p:nvSpPr>
          <p:cNvPr id="2" name="1 Marcador de contenido">
            <a:extLst>
              <a:ext uri="{FF2B5EF4-FFF2-40B4-BE49-F238E27FC236}">
                <a16:creationId xmlns:a16="http://schemas.microsoft.com/office/drawing/2014/main" id="{5CAF7E86-6201-9D56-80C9-AB0D3EF9C26B}"/>
              </a:ext>
            </a:extLst>
          </p:cNvPr>
          <p:cNvSpPr>
            <a:spLocks noGrp="1"/>
          </p:cNvSpPr>
          <p:nvPr>
            <p:ph idx="1"/>
          </p:nvPr>
        </p:nvSpPr>
        <p:spPr>
          <a:xfrm>
            <a:off x="850555" y="2026508"/>
            <a:ext cx="4425779" cy="4263081"/>
          </a:xfrm>
        </p:spPr>
        <p:txBody>
          <a:bodyPr>
            <a:normAutofit/>
          </a:bodyPr>
          <a:lstStyle/>
          <a:p>
            <a:pPr marL="0" indent="0">
              <a:buNone/>
            </a:pPr>
            <a:r>
              <a:rPr lang="es-ES" sz="2600" b="1" dirty="0"/>
              <a:t>Ventajas:</a:t>
            </a:r>
          </a:p>
          <a:p>
            <a:pPr>
              <a:buFont typeface="Wingdings" panose="05000000000000000000" pitchFamily="2" charset="2"/>
              <a:buChar char="Ø"/>
            </a:pPr>
            <a:r>
              <a:rPr lang="es-ES" sz="2600" dirty="0"/>
              <a:t>Enfoque en el Usuario</a:t>
            </a:r>
          </a:p>
          <a:p>
            <a:pPr>
              <a:buFont typeface="Wingdings" panose="05000000000000000000" pitchFamily="2" charset="2"/>
              <a:buChar char="Ø"/>
            </a:pPr>
            <a:r>
              <a:rPr lang="es-ES" sz="2600" dirty="0"/>
              <a:t>Simplicidad</a:t>
            </a:r>
          </a:p>
          <a:p>
            <a:pPr>
              <a:buFont typeface="Wingdings" panose="05000000000000000000" pitchFamily="2" charset="2"/>
              <a:buChar char="Ø"/>
            </a:pPr>
            <a:r>
              <a:rPr lang="es-ES" sz="2600" dirty="0"/>
              <a:t>Facilitan la Prioridad</a:t>
            </a:r>
          </a:p>
          <a:p>
            <a:pPr>
              <a:buFont typeface="Wingdings" panose="05000000000000000000" pitchFamily="2" charset="2"/>
              <a:buChar char="Ø"/>
            </a:pPr>
            <a:r>
              <a:rPr lang="es-ES" sz="2600" dirty="0"/>
              <a:t>Base para la Conversación</a:t>
            </a:r>
          </a:p>
          <a:p>
            <a:pPr>
              <a:buFont typeface="Wingdings" panose="05000000000000000000" pitchFamily="2" charset="2"/>
              <a:buChar char="Ø"/>
            </a:pPr>
            <a:r>
              <a:rPr lang="es-ES" sz="2600" dirty="0"/>
              <a:t>Documentación Ligera</a:t>
            </a:r>
          </a:p>
          <a:p>
            <a:pPr>
              <a:buFont typeface="Wingdings" panose="05000000000000000000" pitchFamily="2" charset="2"/>
              <a:buChar char="Ø"/>
            </a:pPr>
            <a:r>
              <a:rPr lang="es-ES" sz="2600" dirty="0"/>
              <a:t>Facilitan las pruebas de aceptación</a:t>
            </a:r>
            <a:endParaRPr lang="es-ES" dirty="0"/>
          </a:p>
        </p:txBody>
      </p:sp>
      <p:sp>
        <p:nvSpPr>
          <p:cNvPr id="4" name="CuadroTexto 3">
            <a:extLst>
              <a:ext uri="{FF2B5EF4-FFF2-40B4-BE49-F238E27FC236}">
                <a16:creationId xmlns:a16="http://schemas.microsoft.com/office/drawing/2014/main" id="{7EB6A1DF-4332-7194-FB41-607000240418}"/>
              </a:ext>
            </a:extLst>
          </p:cNvPr>
          <p:cNvSpPr txBox="1"/>
          <p:nvPr/>
        </p:nvSpPr>
        <p:spPr>
          <a:xfrm>
            <a:off x="5535827" y="2026508"/>
            <a:ext cx="6277644" cy="3510705"/>
          </a:xfrm>
          <a:prstGeom prst="rect">
            <a:avLst/>
          </a:prstGeom>
          <a:noFill/>
        </p:spPr>
        <p:txBody>
          <a:bodyPr wrap="square">
            <a:spAutoFit/>
          </a:bodyPr>
          <a:lstStyle/>
          <a:p>
            <a:pPr>
              <a:lnSpc>
                <a:spcPct val="90000"/>
              </a:lnSpc>
              <a:spcBef>
                <a:spcPts val="1200"/>
              </a:spcBef>
              <a:spcAft>
                <a:spcPts val="200"/>
              </a:spcAft>
              <a:buClr>
                <a:schemeClr val="accent1"/>
              </a:buClr>
              <a:buSzPct val="100000"/>
            </a:pPr>
            <a:r>
              <a:rPr lang="en-US" sz="2600" b="1" dirty="0" err="1">
                <a:solidFill>
                  <a:schemeClr val="tx1">
                    <a:lumMod val="75000"/>
                    <a:lumOff val="25000"/>
                  </a:schemeClr>
                </a:solidFill>
              </a:rPr>
              <a:t>Desventajas</a:t>
            </a:r>
            <a:r>
              <a:rPr lang="en-US" sz="2600" b="1" dirty="0">
                <a:solidFill>
                  <a:schemeClr val="tx1">
                    <a:lumMod val="75000"/>
                    <a:lumOff val="25000"/>
                  </a:schemeClr>
                </a:solidFill>
              </a:rPr>
              <a:t>:</a:t>
            </a:r>
          </a:p>
          <a:p>
            <a:pPr marL="91440" indent="-91440">
              <a:lnSpc>
                <a:spcPct val="90000"/>
              </a:lnSpc>
              <a:spcBef>
                <a:spcPts val="1200"/>
              </a:spcBef>
              <a:spcAft>
                <a:spcPts val="200"/>
              </a:spcAft>
              <a:buClr>
                <a:schemeClr val="accent1"/>
              </a:buClr>
              <a:buSzPct val="100000"/>
              <a:buFont typeface="Wingdings" panose="05000000000000000000" pitchFamily="2" charset="2"/>
              <a:buChar char="Ø"/>
            </a:pPr>
            <a:r>
              <a:rPr lang="en-US" sz="2600" dirty="0" err="1">
                <a:solidFill>
                  <a:schemeClr val="tx1">
                    <a:lumMod val="75000"/>
                    <a:lumOff val="25000"/>
                  </a:schemeClr>
                </a:solidFill>
              </a:rPr>
              <a:t>Ambigüedad</a:t>
            </a:r>
            <a:r>
              <a:rPr lang="en-US" sz="2600" dirty="0">
                <a:solidFill>
                  <a:schemeClr val="tx1">
                    <a:lumMod val="75000"/>
                    <a:lumOff val="25000"/>
                  </a:schemeClr>
                </a:solidFill>
              </a:rPr>
              <a:t> / Falta de </a:t>
            </a:r>
            <a:r>
              <a:rPr lang="en-US" sz="2600" dirty="0" err="1">
                <a:solidFill>
                  <a:schemeClr val="tx1">
                    <a:lumMod val="75000"/>
                    <a:lumOff val="25000"/>
                  </a:schemeClr>
                </a:solidFill>
              </a:rPr>
              <a:t>Detalle</a:t>
            </a:r>
            <a:endParaRPr lang="en-US" sz="2600" dirty="0">
              <a:solidFill>
                <a:schemeClr val="tx1">
                  <a:lumMod val="75000"/>
                  <a:lumOff val="25000"/>
                </a:schemeClr>
              </a:solidFill>
            </a:endParaRPr>
          </a:p>
          <a:p>
            <a:pPr marL="91440" indent="-91440">
              <a:lnSpc>
                <a:spcPct val="90000"/>
              </a:lnSpc>
              <a:spcBef>
                <a:spcPts val="1200"/>
              </a:spcBef>
              <a:spcAft>
                <a:spcPts val="200"/>
              </a:spcAft>
              <a:buClr>
                <a:schemeClr val="accent1"/>
              </a:buClr>
              <a:buSzPct val="100000"/>
              <a:buFont typeface="Wingdings" panose="05000000000000000000" pitchFamily="2" charset="2"/>
              <a:buChar char="Ø"/>
            </a:pPr>
            <a:r>
              <a:rPr lang="en-US" sz="2600" dirty="0" err="1">
                <a:solidFill>
                  <a:schemeClr val="tx1">
                    <a:lumMod val="75000"/>
                    <a:lumOff val="25000"/>
                  </a:schemeClr>
                </a:solidFill>
              </a:rPr>
              <a:t>Dependencias</a:t>
            </a:r>
            <a:r>
              <a:rPr lang="en-US" sz="2600" dirty="0">
                <a:solidFill>
                  <a:schemeClr val="tx1">
                    <a:lumMod val="75000"/>
                    <a:lumOff val="25000"/>
                  </a:schemeClr>
                </a:solidFill>
              </a:rPr>
              <a:t> No </a:t>
            </a:r>
            <a:r>
              <a:rPr lang="en-US" sz="2600" dirty="0" err="1">
                <a:solidFill>
                  <a:schemeClr val="tx1">
                    <a:lumMod val="75000"/>
                    <a:lumOff val="25000"/>
                  </a:schemeClr>
                </a:solidFill>
              </a:rPr>
              <a:t>Visibles</a:t>
            </a:r>
            <a:endParaRPr lang="en-US" sz="2600" dirty="0">
              <a:solidFill>
                <a:schemeClr val="tx1">
                  <a:lumMod val="75000"/>
                  <a:lumOff val="25000"/>
                </a:schemeClr>
              </a:solidFill>
            </a:endParaRPr>
          </a:p>
          <a:p>
            <a:pPr marL="91440" indent="-91440">
              <a:lnSpc>
                <a:spcPct val="90000"/>
              </a:lnSpc>
              <a:spcBef>
                <a:spcPts val="1200"/>
              </a:spcBef>
              <a:spcAft>
                <a:spcPts val="200"/>
              </a:spcAft>
              <a:buClr>
                <a:schemeClr val="accent1"/>
              </a:buClr>
              <a:buSzPct val="100000"/>
              <a:buFont typeface="Wingdings" panose="05000000000000000000" pitchFamily="2" charset="2"/>
              <a:buChar char="Ø"/>
            </a:pPr>
            <a:r>
              <a:rPr lang="en-US" sz="2600" dirty="0" err="1">
                <a:solidFill>
                  <a:schemeClr val="tx1">
                    <a:lumMod val="75000"/>
                    <a:lumOff val="25000"/>
                  </a:schemeClr>
                </a:solidFill>
              </a:rPr>
              <a:t>Enfoque</a:t>
            </a:r>
            <a:r>
              <a:rPr lang="en-US" sz="2600" dirty="0">
                <a:solidFill>
                  <a:schemeClr val="tx1">
                    <a:lumMod val="75000"/>
                    <a:lumOff val="25000"/>
                  </a:schemeClr>
                </a:solidFill>
              </a:rPr>
              <a:t> </a:t>
            </a:r>
            <a:r>
              <a:rPr lang="en-US" sz="2600" dirty="0" err="1">
                <a:solidFill>
                  <a:schemeClr val="tx1">
                    <a:lumMod val="75000"/>
                    <a:lumOff val="25000"/>
                  </a:schemeClr>
                </a:solidFill>
              </a:rPr>
              <a:t>Demasiado</a:t>
            </a:r>
            <a:r>
              <a:rPr lang="en-US" sz="2600" dirty="0">
                <a:solidFill>
                  <a:schemeClr val="tx1">
                    <a:lumMod val="75000"/>
                    <a:lumOff val="25000"/>
                  </a:schemeClr>
                </a:solidFill>
              </a:rPr>
              <a:t> </a:t>
            </a:r>
            <a:r>
              <a:rPr lang="en-US" sz="2600" dirty="0" err="1">
                <a:solidFill>
                  <a:schemeClr val="tx1">
                    <a:lumMod val="75000"/>
                    <a:lumOff val="25000"/>
                  </a:schemeClr>
                </a:solidFill>
              </a:rPr>
              <a:t>en</a:t>
            </a:r>
            <a:r>
              <a:rPr lang="en-US" sz="2600" dirty="0">
                <a:solidFill>
                  <a:schemeClr val="tx1">
                    <a:lumMod val="75000"/>
                    <a:lumOff val="25000"/>
                  </a:schemeClr>
                </a:solidFill>
              </a:rPr>
              <a:t> </a:t>
            </a:r>
            <a:r>
              <a:rPr lang="en-US" sz="2600" dirty="0" err="1">
                <a:solidFill>
                  <a:schemeClr val="tx1">
                    <a:lumMod val="75000"/>
                    <a:lumOff val="25000"/>
                  </a:schemeClr>
                </a:solidFill>
              </a:rPr>
              <a:t>Funcionalidades</a:t>
            </a:r>
            <a:endParaRPr lang="en-US" sz="2600" dirty="0">
              <a:solidFill>
                <a:schemeClr val="tx1">
                  <a:lumMod val="75000"/>
                  <a:lumOff val="25000"/>
                </a:schemeClr>
              </a:solidFill>
            </a:endParaRPr>
          </a:p>
          <a:p>
            <a:pPr marL="91440" indent="-91440">
              <a:lnSpc>
                <a:spcPct val="90000"/>
              </a:lnSpc>
              <a:spcBef>
                <a:spcPts val="1200"/>
              </a:spcBef>
              <a:spcAft>
                <a:spcPts val="200"/>
              </a:spcAft>
              <a:buClr>
                <a:schemeClr val="accent1"/>
              </a:buClr>
              <a:buSzPct val="100000"/>
              <a:buFont typeface="Wingdings" panose="05000000000000000000" pitchFamily="2" charset="2"/>
              <a:buChar char="Ø"/>
            </a:pPr>
            <a:r>
              <a:rPr lang="en-US" sz="2600" dirty="0" err="1">
                <a:solidFill>
                  <a:schemeClr val="tx1">
                    <a:lumMod val="75000"/>
                    <a:lumOff val="25000"/>
                  </a:schemeClr>
                </a:solidFill>
              </a:rPr>
              <a:t>Dificultad</a:t>
            </a:r>
            <a:r>
              <a:rPr lang="en-US" sz="2600" dirty="0">
                <a:solidFill>
                  <a:schemeClr val="tx1">
                    <a:lumMod val="75000"/>
                    <a:lumOff val="25000"/>
                  </a:schemeClr>
                </a:solidFill>
              </a:rPr>
              <a:t> </a:t>
            </a:r>
            <a:r>
              <a:rPr lang="en-US" sz="2600" dirty="0" err="1">
                <a:solidFill>
                  <a:schemeClr val="tx1">
                    <a:lumMod val="75000"/>
                    <a:lumOff val="25000"/>
                  </a:schemeClr>
                </a:solidFill>
              </a:rPr>
              <a:t>en</a:t>
            </a:r>
            <a:r>
              <a:rPr lang="en-US" sz="2600" dirty="0">
                <a:solidFill>
                  <a:schemeClr val="tx1">
                    <a:lumMod val="75000"/>
                    <a:lumOff val="25000"/>
                  </a:schemeClr>
                </a:solidFill>
              </a:rPr>
              <a:t> </a:t>
            </a:r>
            <a:r>
              <a:rPr lang="en-US" sz="2600" dirty="0" err="1">
                <a:solidFill>
                  <a:schemeClr val="tx1">
                    <a:lumMod val="75000"/>
                    <a:lumOff val="25000"/>
                  </a:schemeClr>
                </a:solidFill>
              </a:rPr>
              <a:t>Proyectos</a:t>
            </a:r>
            <a:r>
              <a:rPr lang="en-US" sz="2600" dirty="0">
                <a:solidFill>
                  <a:schemeClr val="tx1">
                    <a:lumMod val="75000"/>
                    <a:lumOff val="25000"/>
                  </a:schemeClr>
                </a:solidFill>
              </a:rPr>
              <a:t> </a:t>
            </a:r>
            <a:r>
              <a:rPr lang="en-US" sz="2600" dirty="0" err="1">
                <a:solidFill>
                  <a:schemeClr val="tx1">
                    <a:lumMod val="75000"/>
                    <a:lumOff val="25000"/>
                  </a:schemeClr>
                </a:solidFill>
              </a:rPr>
              <a:t>Complejos</a:t>
            </a:r>
            <a:endParaRPr lang="en-US" sz="2600" dirty="0">
              <a:solidFill>
                <a:schemeClr val="tx1">
                  <a:lumMod val="75000"/>
                  <a:lumOff val="25000"/>
                </a:schemeClr>
              </a:solidFill>
            </a:endParaRPr>
          </a:p>
          <a:p>
            <a:pPr marL="91440" indent="-91440">
              <a:lnSpc>
                <a:spcPct val="90000"/>
              </a:lnSpc>
              <a:spcBef>
                <a:spcPts val="1200"/>
              </a:spcBef>
              <a:spcAft>
                <a:spcPts val="200"/>
              </a:spcAft>
              <a:buClr>
                <a:schemeClr val="accent1"/>
              </a:buClr>
              <a:buSzPct val="100000"/>
              <a:buFont typeface="Wingdings" panose="05000000000000000000" pitchFamily="2" charset="2"/>
              <a:buChar char="Ø"/>
            </a:pPr>
            <a:r>
              <a:rPr lang="en-US" sz="2600" dirty="0" err="1">
                <a:solidFill>
                  <a:schemeClr val="tx1">
                    <a:lumMod val="75000"/>
                    <a:lumOff val="25000"/>
                  </a:schemeClr>
                </a:solidFill>
              </a:rPr>
              <a:t>Requieren</a:t>
            </a:r>
            <a:r>
              <a:rPr lang="en-US" sz="2600" dirty="0">
                <a:solidFill>
                  <a:schemeClr val="tx1">
                    <a:lumMod val="75000"/>
                    <a:lumOff val="25000"/>
                  </a:schemeClr>
                </a:solidFill>
              </a:rPr>
              <a:t> </a:t>
            </a:r>
            <a:r>
              <a:rPr lang="en-US" sz="2600" dirty="0" err="1">
                <a:solidFill>
                  <a:schemeClr val="tx1">
                    <a:lumMod val="75000"/>
                    <a:lumOff val="25000"/>
                  </a:schemeClr>
                </a:solidFill>
              </a:rPr>
              <a:t>Colaboración</a:t>
            </a:r>
            <a:r>
              <a:rPr lang="en-US" sz="2600" dirty="0">
                <a:solidFill>
                  <a:schemeClr val="tx1">
                    <a:lumMod val="75000"/>
                    <a:lumOff val="25000"/>
                  </a:schemeClr>
                </a:solidFill>
              </a:rPr>
              <a:t> </a:t>
            </a:r>
            <a:r>
              <a:rPr lang="en-US" sz="2600" dirty="0" err="1">
                <a:solidFill>
                  <a:schemeClr val="tx1">
                    <a:lumMod val="75000"/>
                    <a:lumOff val="25000"/>
                  </a:schemeClr>
                </a:solidFill>
              </a:rPr>
              <a:t>Activa</a:t>
            </a:r>
            <a:r>
              <a:rPr lang="en-US" sz="2600" dirty="0">
                <a:solidFill>
                  <a:schemeClr val="tx1">
                    <a:lumMod val="75000"/>
                    <a:lumOff val="25000"/>
                  </a:schemeClr>
                </a:solidFill>
              </a:rPr>
              <a:t> / Cambio </a:t>
            </a:r>
            <a:r>
              <a:rPr lang="en-US" sz="2600" dirty="0" err="1">
                <a:solidFill>
                  <a:schemeClr val="tx1">
                    <a:lumMod val="75000"/>
                    <a:lumOff val="25000"/>
                  </a:schemeClr>
                </a:solidFill>
              </a:rPr>
              <a:t>Constante</a:t>
            </a:r>
            <a:r>
              <a:rPr lang="en-US" sz="2600" dirty="0">
                <a:solidFill>
                  <a:schemeClr val="tx1">
                    <a:lumMod val="75000"/>
                    <a:lumOff val="25000"/>
                  </a:schemeClr>
                </a:solidFill>
              </a:rPr>
              <a:t> </a:t>
            </a:r>
            <a:r>
              <a:rPr lang="en-US" sz="2600" dirty="0" err="1">
                <a:solidFill>
                  <a:schemeClr val="tx1">
                    <a:lumMod val="75000"/>
                    <a:lumOff val="25000"/>
                  </a:schemeClr>
                </a:solidFill>
              </a:rPr>
              <a:t>Subestimación</a:t>
            </a:r>
            <a:r>
              <a:rPr lang="en-US" sz="2600" dirty="0">
                <a:solidFill>
                  <a:schemeClr val="tx1">
                    <a:lumMod val="75000"/>
                    <a:lumOff val="25000"/>
                  </a:schemeClr>
                </a:solidFill>
              </a:rPr>
              <a:t> del </a:t>
            </a:r>
            <a:r>
              <a:rPr lang="en-US" sz="2600" dirty="0" err="1">
                <a:solidFill>
                  <a:schemeClr val="tx1">
                    <a:lumMod val="75000"/>
                    <a:lumOff val="25000"/>
                  </a:schemeClr>
                </a:solidFill>
              </a:rPr>
              <a:t>Trabajo</a:t>
            </a:r>
            <a:endParaRPr lang="en-US" sz="2600" dirty="0">
              <a:solidFill>
                <a:schemeClr val="tx1">
                  <a:lumMod val="75000"/>
                  <a:lumOff val="25000"/>
                </a:schemeClr>
              </a:solidFill>
            </a:endParaRPr>
          </a:p>
        </p:txBody>
      </p:sp>
    </p:spTree>
    <p:extLst>
      <p:ext uri="{BB962C8B-B14F-4D97-AF65-F5344CB8AC3E}">
        <p14:creationId xmlns:p14="http://schemas.microsoft.com/office/powerpoint/2010/main" val="1917013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s-ES_tradnl" dirty="0"/>
              <a:t>Lenguaje Unificado de Modelado </a:t>
            </a:r>
          </a:p>
        </p:txBody>
      </p:sp>
      <p:graphicFrame>
        <p:nvGraphicFramePr>
          <p:cNvPr id="28676" name="Object 8"/>
          <p:cNvGraphicFramePr>
            <a:graphicFrameLocks noChangeAspect="1"/>
          </p:cNvGraphicFramePr>
          <p:nvPr>
            <p:extLst>
              <p:ext uri="{D42A27DB-BD31-4B8C-83A1-F6EECF244321}">
                <p14:modId xmlns:p14="http://schemas.microsoft.com/office/powerpoint/2010/main" val="1556269268"/>
              </p:ext>
            </p:extLst>
          </p:nvPr>
        </p:nvGraphicFramePr>
        <p:xfrm>
          <a:off x="2030414" y="3582436"/>
          <a:ext cx="1019175" cy="1698625"/>
        </p:xfrm>
        <a:graphic>
          <a:graphicData uri="http://schemas.openxmlformats.org/presentationml/2006/ole">
            <mc:AlternateContent xmlns:mc="http://schemas.openxmlformats.org/markup-compatibility/2006">
              <mc:Choice xmlns:v="urn:schemas-microsoft-com:vml" Requires="v">
                <p:oleObj name="Imagen" r:id="rId3" imgW="2033588" imgH="3390900" progId="MS_ClipArt_Gallery.2">
                  <p:embed/>
                </p:oleObj>
              </mc:Choice>
              <mc:Fallback>
                <p:oleObj name="Imagen" r:id="rId3" imgW="2033588" imgH="3390900" progId="MS_ClipArt_Gallery.2">
                  <p:embed/>
                  <p:pic>
                    <p:nvPicPr>
                      <p:cNvPr id="28676"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0414" y="3582436"/>
                        <a:ext cx="1019175" cy="169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 name="Group 3"/>
          <p:cNvGrpSpPr>
            <a:grpSpLocks/>
          </p:cNvGrpSpPr>
          <p:nvPr/>
        </p:nvGrpSpPr>
        <p:grpSpPr bwMode="auto">
          <a:xfrm>
            <a:off x="3200400" y="3558622"/>
            <a:ext cx="6705600" cy="2057400"/>
            <a:chOff x="888" y="2124"/>
            <a:chExt cx="4224" cy="1296"/>
          </a:xfrm>
          <a:solidFill>
            <a:schemeClr val="accent2">
              <a:lumMod val="75000"/>
            </a:schemeClr>
          </a:solidFill>
        </p:grpSpPr>
        <p:sp>
          <p:nvSpPr>
            <p:cNvPr id="10" name="WordArt 4"/>
            <p:cNvSpPr>
              <a:spLocks noChangeArrowheads="1" noChangeShapeType="1" noTextEdit="1"/>
            </p:cNvSpPr>
            <p:nvPr/>
          </p:nvSpPr>
          <p:spPr bwMode="auto">
            <a:xfrm>
              <a:off x="1416" y="2124"/>
              <a:ext cx="3120" cy="1296"/>
            </a:xfrm>
            <a:prstGeom prst="rect">
              <a:avLst/>
            </a:prstGeom>
            <a:grpFill/>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s-ES" sz="3600" kern="10" dirty="0">
                  <a:solidFill>
                    <a:schemeClr val="bg1"/>
                  </a:solidFill>
                  <a:effectLst>
                    <a:outerShdw dist="45791" dir="2021404" algn="ctr" rotWithShape="0">
                      <a:srgbClr val="C0C0C0"/>
                    </a:outerShdw>
                  </a:effectLst>
                  <a:latin typeface="Times New Roman"/>
                  <a:cs typeface="Times New Roman"/>
                </a:rPr>
                <a:t>Lenguaje de modelado</a:t>
              </a:r>
            </a:p>
            <a:p>
              <a:pPr algn="ctr"/>
              <a:endParaRPr lang="es-ES" sz="3600" kern="10" dirty="0">
                <a:solidFill>
                  <a:schemeClr val="bg1"/>
                </a:solidFill>
                <a:effectLst>
                  <a:outerShdw dist="45791" dir="2021404" algn="ctr" rotWithShape="0">
                    <a:srgbClr val="C0C0C0"/>
                  </a:outerShdw>
                </a:effectLst>
                <a:latin typeface="Times New Roman"/>
                <a:cs typeface="Times New Roman"/>
              </a:endParaRPr>
            </a:p>
            <a:p>
              <a:pPr algn="ctr"/>
              <a:r>
                <a:rPr lang="es-ES" sz="3600" kern="10" dirty="0">
                  <a:solidFill>
                    <a:schemeClr val="bg1"/>
                  </a:solidFill>
                  <a:effectLst>
                    <a:outerShdw dist="45791" dir="2021404" algn="ctr" rotWithShape="0">
                      <a:srgbClr val="C0C0C0"/>
                    </a:outerShdw>
                  </a:effectLst>
                  <a:latin typeface="Times New Roman"/>
                  <a:cs typeface="Times New Roman"/>
                </a:rPr>
                <a:t>Metodología (o método)</a:t>
              </a:r>
            </a:p>
          </p:txBody>
        </p:sp>
        <p:sp>
          <p:nvSpPr>
            <p:cNvPr id="11" name="WordArt 5"/>
            <p:cNvSpPr>
              <a:spLocks noChangeArrowheads="1" noChangeShapeType="1" noTextEdit="1"/>
            </p:cNvSpPr>
            <p:nvPr/>
          </p:nvSpPr>
          <p:spPr bwMode="auto">
            <a:xfrm>
              <a:off x="2856" y="2604"/>
              <a:ext cx="162" cy="354"/>
            </a:xfrm>
            <a:prstGeom prst="rect">
              <a:avLst/>
            </a:prstGeom>
            <a:grpFill/>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s-ES" sz="3600" kern="10">
                  <a:solidFill>
                    <a:schemeClr val="bg1"/>
                  </a:solidFill>
                  <a:effectLst>
                    <a:outerShdw dist="45791" dir="2021404" algn="ctr" rotWithShape="0">
                      <a:srgbClr val="C0C0C0"/>
                    </a:outerShdw>
                  </a:effectLst>
                  <a:latin typeface="Symbol"/>
                </a:rPr>
                <a:t>¹</a:t>
              </a:r>
            </a:p>
          </p:txBody>
        </p:sp>
        <p:sp>
          <p:nvSpPr>
            <p:cNvPr id="12" name="WordArt 6"/>
            <p:cNvSpPr>
              <a:spLocks noChangeArrowheads="1" noChangeShapeType="1" noTextEdit="1"/>
            </p:cNvSpPr>
            <p:nvPr/>
          </p:nvSpPr>
          <p:spPr bwMode="auto">
            <a:xfrm>
              <a:off x="888" y="2124"/>
              <a:ext cx="192" cy="1248"/>
            </a:xfrm>
            <a:prstGeom prst="rect">
              <a:avLst/>
            </a:prstGeom>
            <a:grpFill/>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s-ES" sz="3600" kern="10" dirty="0">
                  <a:solidFill>
                    <a:schemeClr val="bg1"/>
                  </a:solidFill>
                  <a:effectLst>
                    <a:outerShdw dist="45791" dir="2021404" algn="ctr" rotWithShape="0">
                      <a:srgbClr val="C0C0C0"/>
                    </a:outerShdw>
                  </a:effectLst>
                  <a:latin typeface="Times New Roman"/>
                  <a:cs typeface="Times New Roman"/>
                </a:rPr>
                <a:t>¡</a:t>
              </a:r>
            </a:p>
          </p:txBody>
        </p:sp>
        <p:sp>
          <p:nvSpPr>
            <p:cNvPr id="13" name="WordArt 7"/>
            <p:cNvSpPr>
              <a:spLocks noChangeArrowheads="1" noChangeShapeType="1" noTextEdit="1"/>
            </p:cNvSpPr>
            <p:nvPr/>
          </p:nvSpPr>
          <p:spPr bwMode="auto">
            <a:xfrm flipV="1">
              <a:off x="4920" y="2124"/>
              <a:ext cx="192" cy="1248"/>
            </a:xfrm>
            <a:prstGeom prst="rect">
              <a:avLst/>
            </a:prstGeom>
            <a:grpFill/>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s-ES" sz="3600" kern="10" dirty="0">
                  <a:solidFill>
                    <a:schemeClr val="bg1"/>
                  </a:solidFill>
                  <a:effectLst>
                    <a:outerShdw dist="45791" dir="2021404" algn="ctr" rotWithShape="0">
                      <a:srgbClr val="C0C0C0"/>
                    </a:outerShdw>
                  </a:effectLst>
                  <a:latin typeface="Times New Roman"/>
                  <a:cs typeface="Times New Roman"/>
                </a:rPr>
                <a:t>¡</a:t>
              </a:r>
            </a:p>
          </p:txBody>
        </p:sp>
      </p:grpSp>
      <p:sp>
        <p:nvSpPr>
          <p:cNvPr id="3" name="Rectangle 2">
            <a:extLst>
              <a:ext uri="{FF2B5EF4-FFF2-40B4-BE49-F238E27FC236}">
                <a16:creationId xmlns:a16="http://schemas.microsoft.com/office/drawing/2014/main" id="{9971C5A6-0765-0945-71D6-4457EAEFDFA6}"/>
              </a:ext>
            </a:extLst>
          </p:cNvPr>
          <p:cNvSpPr txBox="1">
            <a:spLocks noChangeArrowheads="1"/>
          </p:cNvSpPr>
          <p:nvPr/>
        </p:nvSpPr>
        <p:spPr>
          <a:xfrm>
            <a:off x="1187897" y="1737360"/>
            <a:ext cx="10058400" cy="101819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dirty="0"/>
              <a:t>Unified Modeling Language (UML</a:t>
            </a:r>
            <a:r>
              <a:rPr lang="es-ES_tradnl" dirty="0"/>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Grp="1" noChangeArrowheads="1"/>
          </p:cNvSpPr>
          <p:nvPr>
            <p:ph idx="1"/>
          </p:nvPr>
        </p:nvSpPr>
        <p:spPr>
          <a:xfrm>
            <a:off x="1287463" y="1809751"/>
            <a:ext cx="10327887" cy="4495800"/>
          </a:xfrm>
        </p:spPr>
        <p:txBody>
          <a:bodyPr>
            <a:noAutofit/>
          </a:bodyPr>
          <a:lstStyle/>
          <a:p>
            <a:pPr algn="l">
              <a:buFont typeface="Wingdings" panose="05000000000000000000" pitchFamily="2" charset="2"/>
              <a:buChar char="Ø"/>
            </a:pPr>
            <a:r>
              <a:rPr lang="es-ES" sz="2600" b="0" i="0" dirty="0">
                <a:solidFill>
                  <a:srgbClr val="000000"/>
                </a:solidFill>
                <a:effectLst/>
                <a:latin typeface="ff2"/>
              </a:rPr>
              <a:t>Lenguaje de modelado visual que proporciona un vocabulario y unas reglas para permitir una comunicación. </a:t>
            </a:r>
          </a:p>
          <a:p>
            <a:pPr algn="l">
              <a:buFont typeface="Wingdings" panose="05000000000000000000" pitchFamily="2" charset="2"/>
              <a:buChar char="Ø"/>
            </a:pPr>
            <a:r>
              <a:rPr lang="es-ES" sz="2600" dirty="0">
                <a:solidFill>
                  <a:srgbClr val="000000"/>
                </a:solidFill>
                <a:latin typeface="ff2"/>
              </a:rPr>
              <a:t>S</a:t>
            </a:r>
            <a:r>
              <a:rPr lang="es-ES" sz="2600" b="0" i="0" dirty="0">
                <a:solidFill>
                  <a:srgbClr val="000000"/>
                </a:solidFill>
                <a:effectLst/>
                <a:latin typeface="ff2"/>
              </a:rPr>
              <a:t>e centra en la representación gráfica de un sistema.</a:t>
            </a:r>
          </a:p>
          <a:p>
            <a:pPr algn="l">
              <a:buFont typeface="Wingdings" panose="05000000000000000000" pitchFamily="2" charset="2"/>
              <a:buChar char="Ø"/>
            </a:pPr>
            <a:r>
              <a:rPr lang="es-ES" sz="2600" b="0" i="0" dirty="0">
                <a:solidFill>
                  <a:srgbClr val="000000"/>
                </a:solidFill>
                <a:effectLst/>
                <a:latin typeface="ff3"/>
              </a:rPr>
              <a:t>Sus funciones son:</a:t>
            </a:r>
          </a:p>
          <a:p>
            <a:pPr lvl="1">
              <a:buFont typeface="Wingdings" panose="05000000000000000000" pitchFamily="2" charset="2"/>
              <a:buChar char="Ø"/>
            </a:pPr>
            <a:r>
              <a:rPr lang="es-ES" sz="2400" b="0" i="0" dirty="0">
                <a:solidFill>
                  <a:srgbClr val="000000"/>
                </a:solidFill>
                <a:effectLst/>
                <a:latin typeface="ff2"/>
              </a:rPr>
              <a:t>Visualizar: permite expresar de una forma gráfica un sistema </a:t>
            </a:r>
          </a:p>
          <a:p>
            <a:pPr lvl="1">
              <a:buFont typeface="Wingdings" panose="05000000000000000000" pitchFamily="2" charset="2"/>
              <a:buChar char="Ø"/>
            </a:pPr>
            <a:r>
              <a:rPr lang="es-ES" sz="2600" b="0" i="0" dirty="0">
                <a:solidFill>
                  <a:srgbClr val="000000"/>
                </a:solidFill>
                <a:effectLst/>
                <a:latin typeface="ff2"/>
              </a:rPr>
              <a:t>Especificar: permite especificar las características de un sistema antes de su construcción.</a:t>
            </a:r>
          </a:p>
          <a:p>
            <a:pPr lvl="1">
              <a:buFont typeface="Wingdings" panose="05000000000000000000" pitchFamily="2" charset="2"/>
              <a:buChar char="Ø"/>
            </a:pPr>
            <a:r>
              <a:rPr lang="es-ES" sz="2600" b="0" i="0" dirty="0">
                <a:solidFill>
                  <a:srgbClr val="000000"/>
                </a:solidFill>
                <a:effectLst/>
                <a:latin typeface="ff2"/>
              </a:rPr>
              <a:t>Construir: a partir de los modelos especificados permite construir los sistemas diseñados.</a:t>
            </a:r>
          </a:p>
          <a:p>
            <a:pPr lvl="1">
              <a:buFont typeface="Wingdings" panose="05000000000000000000" pitchFamily="2" charset="2"/>
              <a:buChar char="Ø"/>
            </a:pPr>
            <a:r>
              <a:rPr lang="es-ES" sz="2600" b="0" i="0" dirty="0">
                <a:solidFill>
                  <a:srgbClr val="000000"/>
                </a:solidFill>
                <a:effectLst/>
                <a:latin typeface="ff2"/>
              </a:rPr>
              <a:t>Documentar: Los diagramas sirven como documentación del sistema para su futura revisión.</a:t>
            </a:r>
          </a:p>
          <a:p>
            <a:pPr marL="0" indent="0">
              <a:buNone/>
            </a:pPr>
            <a:endParaRPr lang="es-ES_tradnl" sz="2600" dirty="0">
              <a:solidFill>
                <a:schemeClr val="tx1"/>
              </a:solidFill>
            </a:endParaRPr>
          </a:p>
        </p:txBody>
      </p:sp>
      <p:sp>
        <p:nvSpPr>
          <p:cNvPr id="2" name="Rectangle 2">
            <a:extLst>
              <a:ext uri="{FF2B5EF4-FFF2-40B4-BE49-F238E27FC236}">
                <a16:creationId xmlns:a16="http://schemas.microsoft.com/office/drawing/2014/main" id="{F9521691-6514-2761-1FB4-46647277429C}"/>
              </a:ext>
            </a:extLst>
          </p:cNvPr>
          <p:cNvSpPr>
            <a:spLocks noGrp="1" noChangeArrowheads="1"/>
          </p:cNvSpPr>
          <p:nvPr>
            <p:ph type="title"/>
          </p:nvPr>
        </p:nvSpPr>
        <p:spPr>
          <a:xfrm>
            <a:off x="1097280" y="286603"/>
            <a:ext cx="10058400" cy="1450757"/>
          </a:xfrm>
        </p:spPr>
        <p:txBody>
          <a:bodyPr/>
          <a:lstStyle/>
          <a:p>
            <a:r>
              <a:rPr lang="es-ES_tradnl" dirty="0">
                <a:solidFill>
                  <a:schemeClr val="tx1"/>
                </a:solidFill>
              </a:rPr>
              <a:t>¿</a:t>
            </a:r>
            <a:r>
              <a:rPr lang="es-ES_tradnl" dirty="0"/>
              <a:t>Qué es UML?</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s-ES_tradnl" dirty="0"/>
              <a:t>UML. Evolución</a:t>
            </a:r>
          </a:p>
        </p:txBody>
      </p:sp>
      <p:sp>
        <p:nvSpPr>
          <p:cNvPr id="29699" name="Rectangle 3"/>
          <p:cNvSpPr>
            <a:spLocks noGrp="1" noChangeArrowheads="1"/>
          </p:cNvSpPr>
          <p:nvPr>
            <p:ph idx="1"/>
          </p:nvPr>
        </p:nvSpPr>
        <p:spPr/>
        <p:txBody>
          <a:bodyPr>
            <a:noAutofit/>
          </a:bodyPr>
          <a:lstStyle/>
          <a:p>
            <a:pPr>
              <a:buFont typeface="Wingdings" panose="05000000000000000000" pitchFamily="2" charset="2"/>
              <a:buChar char="Ø"/>
            </a:pPr>
            <a:r>
              <a:rPr lang="es-ES" sz="2600" dirty="0">
                <a:solidFill>
                  <a:schemeClr val="tx1"/>
                </a:solidFill>
              </a:rPr>
              <a:t> Creación en la década de 1990 por Grady Booch, Ivar Jacobson y James Rumbaugh.</a:t>
            </a:r>
          </a:p>
          <a:p>
            <a:pPr marL="0" indent="0">
              <a:buNone/>
            </a:pPr>
            <a:endParaRPr lang="es-ES" sz="1000" dirty="0">
              <a:solidFill>
                <a:schemeClr val="tx1"/>
              </a:solidFill>
            </a:endParaRPr>
          </a:p>
          <a:p>
            <a:pPr>
              <a:buFont typeface="Wingdings" panose="05000000000000000000" pitchFamily="2" charset="2"/>
              <a:buChar char="Ø"/>
            </a:pPr>
            <a:r>
              <a:rPr lang="es-ES" sz="2600" dirty="0">
                <a:solidFill>
                  <a:schemeClr val="tx1"/>
                </a:solidFill>
              </a:rPr>
              <a:t>  Publicación de la primera versión oficial en 1997 por la </a:t>
            </a:r>
            <a:r>
              <a:rPr lang="es-ES" sz="2600" dirty="0" err="1">
                <a:solidFill>
                  <a:schemeClr val="tx1"/>
                </a:solidFill>
              </a:rPr>
              <a:t>Object</a:t>
            </a:r>
            <a:r>
              <a:rPr lang="es-ES" sz="2600" dirty="0">
                <a:solidFill>
                  <a:schemeClr val="tx1"/>
                </a:solidFill>
              </a:rPr>
              <a:t> Management </a:t>
            </a:r>
            <a:r>
              <a:rPr lang="es-ES" sz="2600" dirty="0" err="1">
                <a:solidFill>
                  <a:schemeClr val="tx1"/>
                </a:solidFill>
              </a:rPr>
              <a:t>Group</a:t>
            </a:r>
            <a:r>
              <a:rPr lang="es-ES" sz="2600" dirty="0">
                <a:solidFill>
                  <a:schemeClr val="tx1"/>
                </a:solidFill>
              </a:rPr>
              <a:t> (OMG).</a:t>
            </a:r>
          </a:p>
          <a:p>
            <a:pPr>
              <a:buFont typeface="Wingdings" panose="05000000000000000000" pitchFamily="2" charset="2"/>
              <a:buChar char="Ø"/>
            </a:pPr>
            <a:endParaRPr lang="es-ES" sz="1000" dirty="0">
              <a:solidFill>
                <a:schemeClr val="tx1"/>
              </a:solidFill>
            </a:endParaRPr>
          </a:p>
          <a:p>
            <a:pPr>
              <a:buFont typeface="Wingdings" panose="05000000000000000000" pitchFamily="2" charset="2"/>
              <a:buChar char="Ø"/>
            </a:pPr>
            <a:r>
              <a:rPr lang="es-ES" sz="2600" dirty="0">
                <a:solidFill>
                  <a:schemeClr val="tx1"/>
                </a:solidFill>
              </a:rPr>
              <a:t>Versiones Clave:</a:t>
            </a:r>
          </a:p>
          <a:p>
            <a:pPr lvl="1">
              <a:buFont typeface="Wingdings" panose="05000000000000000000" pitchFamily="2" charset="2"/>
              <a:buChar char="Ø"/>
            </a:pPr>
            <a:r>
              <a:rPr lang="es-ES" sz="2400" dirty="0">
                <a:solidFill>
                  <a:schemeClr val="tx1"/>
                </a:solidFill>
              </a:rPr>
              <a:t>UML 1.x (1997-2005)</a:t>
            </a:r>
          </a:p>
          <a:p>
            <a:pPr lvl="1">
              <a:buFont typeface="Wingdings" panose="05000000000000000000" pitchFamily="2" charset="2"/>
              <a:buChar char="Ø"/>
            </a:pPr>
            <a:r>
              <a:rPr lang="es-ES" sz="2600" dirty="0">
                <a:solidFill>
                  <a:schemeClr val="tx1"/>
                </a:solidFill>
              </a:rPr>
              <a:t> UML 2.0 (2005) - Introducción de cambios significativos en la notación y semántica.</a:t>
            </a:r>
            <a:endParaRPr lang="es-ES_tradnl" sz="2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idx="1"/>
          </p:nvPr>
        </p:nvSpPr>
        <p:spPr/>
        <p:txBody>
          <a:bodyPr>
            <a:normAutofit/>
          </a:bodyPr>
          <a:lstStyle/>
          <a:p>
            <a:pPr marL="0" indent="1588">
              <a:buNone/>
            </a:pPr>
            <a:r>
              <a:rPr lang="es-ES_tradnl" sz="2600" dirty="0"/>
              <a:t>Brinda grupos de diagramas para cubrir las siguientes fases del Análisis y Diseño:</a:t>
            </a:r>
          </a:p>
          <a:p>
            <a:pPr>
              <a:buFont typeface="Wingdings" panose="05000000000000000000" pitchFamily="2" charset="2"/>
              <a:buChar char="Ø"/>
            </a:pPr>
            <a:r>
              <a:rPr lang="es-ES_tradnl" sz="2600" dirty="0"/>
              <a:t> Concepción</a:t>
            </a:r>
          </a:p>
          <a:p>
            <a:pPr>
              <a:buFont typeface="Wingdings" panose="05000000000000000000" pitchFamily="2" charset="2"/>
              <a:buChar char="Ø"/>
            </a:pPr>
            <a:r>
              <a:rPr lang="es-ES_tradnl" sz="2600" dirty="0"/>
              <a:t> Elaboración</a:t>
            </a:r>
          </a:p>
          <a:p>
            <a:pPr>
              <a:buFont typeface="Wingdings" panose="05000000000000000000" pitchFamily="2" charset="2"/>
              <a:buChar char="Ø"/>
            </a:pPr>
            <a:r>
              <a:rPr lang="es-ES_tradnl" sz="2600" dirty="0"/>
              <a:t>Construcción</a:t>
            </a:r>
          </a:p>
          <a:p>
            <a:pPr>
              <a:buFont typeface="Wingdings" panose="05000000000000000000" pitchFamily="2" charset="2"/>
              <a:buChar char="Ø"/>
            </a:pPr>
            <a:r>
              <a:rPr lang="es-ES_tradnl" sz="2600" dirty="0"/>
              <a:t>Transición</a:t>
            </a:r>
          </a:p>
        </p:txBody>
      </p:sp>
      <p:sp>
        <p:nvSpPr>
          <p:cNvPr id="4" name="Rectangle 2">
            <a:extLst>
              <a:ext uri="{FF2B5EF4-FFF2-40B4-BE49-F238E27FC236}">
                <a16:creationId xmlns:a16="http://schemas.microsoft.com/office/drawing/2014/main" id="{061EB1A6-BD2A-FCDD-EA9A-55EC72406683}"/>
              </a:ext>
            </a:extLst>
          </p:cNvPr>
          <p:cNvSpPr>
            <a:spLocks noGrp="1" noChangeArrowheads="1"/>
          </p:cNvSpPr>
          <p:nvPr>
            <p:ph type="title"/>
          </p:nvPr>
        </p:nvSpPr>
        <p:spPr>
          <a:xfrm>
            <a:off x="1097280" y="286603"/>
            <a:ext cx="10058400" cy="1450757"/>
          </a:xfrm>
        </p:spPr>
        <p:txBody>
          <a:bodyPr/>
          <a:lstStyle/>
          <a:p>
            <a:r>
              <a:rPr lang="es-ES_tradnl" dirty="0"/>
              <a:t>UML. Etapas de desarrollo</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A3BD2-01B0-963D-216B-69750269C721}"/>
            </a:ext>
          </a:extLst>
        </p:cNvPr>
        <p:cNvGrpSpPr/>
        <p:nvPr/>
      </p:nvGrpSpPr>
      <p:grpSpPr>
        <a:xfrm>
          <a:off x="0" y="0"/>
          <a:ext cx="0" cy="0"/>
          <a:chOff x="0" y="0"/>
          <a:chExt cx="0" cy="0"/>
        </a:xfrm>
      </p:grpSpPr>
      <p:sp>
        <p:nvSpPr>
          <p:cNvPr id="36867" name="Rectangle 3">
            <a:extLst>
              <a:ext uri="{FF2B5EF4-FFF2-40B4-BE49-F238E27FC236}">
                <a16:creationId xmlns:a16="http://schemas.microsoft.com/office/drawing/2014/main" id="{9845C354-9EDE-40A0-0B92-FDD32DDA24FE}"/>
              </a:ext>
            </a:extLst>
          </p:cNvPr>
          <p:cNvSpPr>
            <a:spLocks noGrp="1" noChangeArrowheads="1"/>
          </p:cNvSpPr>
          <p:nvPr>
            <p:ph idx="1"/>
          </p:nvPr>
        </p:nvSpPr>
        <p:spPr>
          <a:xfrm>
            <a:off x="1270274" y="1862667"/>
            <a:ext cx="4160933" cy="4266283"/>
          </a:xfrm>
        </p:spPr>
        <p:txBody>
          <a:bodyPr>
            <a:normAutofit lnSpcReduction="10000"/>
          </a:bodyPr>
          <a:lstStyle/>
          <a:p>
            <a:pPr marL="0" indent="1588" algn="ctr">
              <a:buNone/>
            </a:pPr>
            <a:r>
              <a:rPr lang="es-ES_tradnl" sz="2600" b="1" dirty="0"/>
              <a:t>Diagramas de estructura</a:t>
            </a:r>
          </a:p>
          <a:p>
            <a:pPr marL="0" indent="1588">
              <a:buNone/>
            </a:pPr>
            <a:endParaRPr lang="es-ES_tradnl" sz="1000" dirty="0"/>
          </a:p>
          <a:p>
            <a:pPr>
              <a:buFont typeface="Wingdings" panose="05000000000000000000" pitchFamily="2" charset="2"/>
              <a:buChar char="Ø"/>
            </a:pPr>
            <a:r>
              <a:rPr lang="es-ES_tradnl" sz="2600" dirty="0"/>
              <a:t> </a:t>
            </a:r>
            <a:r>
              <a:rPr lang="es-ES_tradnl" sz="2600" dirty="0">
                <a:hlinkClick r:id="rId3" action="ppaction://hlinksldjump"/>
              </a:rPr>
              <a:t>Diagrama de Clases</a:t>
            </a:r>
            <a:endParaRPr lang="es-ES_tradnl" sz="2600" dirty="0"/>
          </a:p>
          <a:p>
            <a:pPr>
              <a:buFont typeface="Wingdings" panose="05000000000000000000" pitchFamily="2" charset="2"/>
              <a:buChar char="Ø"/>
            </a:pPr>
            <a:r>
              <a:rPr lang="es-ES_tradnl" sz="2600" dirty="0"/>
              <a:t> </a:t>
            </a:r>
            <a:r>
              <a:rPr lang="es-ES_tradnl" sz="2600" dirty="0">
                <a:hlinkClick r:id="rId4" action="ppaction://hlinksldjump"/>
              </a:rPr>
              <a:t>Diagrama de Componentes</a:t>
            </a:r>
            <a:endParaRPr lang="es-ES_tradnl" sz="2600" dirty="0"/>
          </a:p>
          <a:p>
            <a:pPr>
              <a:buFont typeface="Wingdings" panose="05000000000000000000" pitchFamily="2" charset="2"/>
              <a:buChar char="Ø"/>
            </a:pPr>
            <a:r>
              <a:rPr lang="es-ES_tradnl" sz="2600" dirty="0"/>
              <a:t> Diagrama de Objetos</a:t>
            </a:r>
          </a:p>
          <a:p>
            <a:pPr>
              <a:buFont typeface="Wingdings" panose="05000000000000000000" pitchFamily="2" charset="2"/>
              <a:buChar char="Ø"/>
            </a:pPr>
            <a:r>
              <a:rPr lang="es-ES_tradnl" sz="2600" dirty="0"/>
              <a:t> Diagrama de Estructura Compuesta</a:t>
            </a:r>
          </a:p>
          <a:p>
            <a:pPr>
              <a:buFont typeface="Wingdings" panose="05000000000000000000" pitchFamily="2" charset="2"/>
              <a:buChar char="Ø"/>
            </a:pPr>
            <a:r>
              <a:rPr lang="es-ES_tradnl" sz="2600" dirty="0"/>
              <a:t>Diagrama de paquetes</a:t>
            </a:r>
          </a:p>
          <a:p>
            <a:pPr>
              <a:buFont typeface="Wingdings" panose="05000000000000000000" pitchFamily="2" charset="2"/>
              <a:buChar char="Ø"/>
            </a:pPr>
            <a:r>
              <a:rPr lang="es-ES_tradnl" sz="2600" dirty="0">
                <a:hlinkClick r:id="rId5" action="ppaction://hlinksldjump"/>
              </a:rPr>
              <a:t>Diagrama de despliegue</a:t>
            </a:r>
            <a:endParaRPr lang="es-ES_tradnl" sz="2600" dirty="0"/>
          </a:p>
        </p:txBody>
      </p:sp>
      <p:sp>
        <p:nvSpPr>
          <p:cNvPr id="4" name="Rectangle 2">
            <a:extLst>
              <a:ext uri="{FF2B5EF4-FFF2-40B4-BE49-F238E27FC236}">
                <a16:creationId xmlns:a16="http://schemas.microsoft.com/office/drawing/2014/main" id="{940A3A8D-7EA8-1751-D3F3-4BAAC5DA76FA}"/>
              </a:ext>
            </a:extLst>
          </p:cNvPr>
          <p:cNvSpPr>
            <a:spLocks noGrp="1" noChangeArrowheads="1"/>
          </p:cNvSpPr>
          <p:nvPr>
            <p:ph type="title"/>
          </p:nvPr>
        </p:nvSpPr>
        <p:spPr>
          <a:xfrm>
            <a:off x="1097280" y="286603"/>
            <a:ext cx="10058400" cy="1450757"/>
          </a:xfrm>
        </p:spPr>
        <p:txBody>
          <a:bodyPr/>
          <a:lstStyle/>
          <a:p>
            <a:r>
              <a:rPr lang="es-ES_tradnl" dirty="0"/>
              <a:t>UML. Principales diagramas</a:t>
            </a:r>
          </a:p>
        </p:txBody>
      </p:sp>
      <p:sp>
        <p:nvSpPr>
          <p:cNvPr id="2" name="Rectangle 3">
            <a:extLst>
              <a:ext uri="{FF2B5EF4-FFF2-40B4-BE49-F238E27FC236}">
                <a16:creationId xmlns:a16="http://schemas.microsoft.com/office/drawing/2014/main" id="{5CFF26EE-E468-C0D3-04D6-980CA673790E}"/>
              </a:ext>
            </a:extLst>
          </p:cNvPr>
          <p:cNvSpPr txBox="1">
            <a:spLocks noChangeArrowheads="1"/>
          </p:cNvSpPr>
          <p:nvPr/>
        </p:nvSpPr>
        <p:spPr>
          <a:xfrm>
            <a:off x="6760794" y="1862668"/>
            <a:ext cx="4903984"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1588" algn="ctr">
              <a:buFont typeface="Calibri" panose="020F0502020204030204" pitchFamily="34" charset="0"/>
              <a:buNone/>
            </a:pPr>
            <a:r>
              <a:rPr lang="es-ES_tradnl" sz="2600" b="1" dirty="0"/>
              <a:t>Diagramas de comportamiento</a:t>
            </a:r>
          </a:p>
          <a:p>
            <a:pPr marL="0" indent="1588" algn="ctr">
              <a:buFont typeface="Calibri" panose="020F0502020204030204" pitchFamily="34" charset="0"/>
              <a:buNone/>
            </a:pPr>
            <a:endParaRPr lang="es-ES_tradnl" sz="1000" b="1" dirty="0"/>
          </a:p>
          <a:p>
            <a:pPr>
              <a:buFont typeface="Wingdings" panose="05000000000000000000" pitchFamily="2" charset="2"/>
              <a:buChar char="Ø"/>
            </a:pPr>
            <a:r>
              <a:rPr lang="es-ES_tradnl" sz="2600" dirty="0"/>
              <a:t> </a:t>
            </a:r>
            <a:r>
              <a:rPr lang="es-ES_tradnl" sz="2600" dirty="0">
                <a:hlinkClick r:id="rId6" action="ppaction://hlinksldjump"/>
              </a:rPr>
              <a:t>Diagrama de Casos de Uso</a:t>
            </a:r>
            <a:endParaRPr lang="es-ES_tradnl" sz="2600" dirty="0"/>
          </a:p>
          <a:p>
            <a:pPr>
              <a:buFont typeface="Wingdings" panose="05000000000000000000" pitchFamily="2" charset="2"/>
              <a:buChar char="Ø"/>
            </a:pPr>
            <a:r>
              <a:rPr lang="es-ES_tradnl" sz="2600" dirty="0">
                <a:hlinkClick r:id="rId7" action="ppaction://hlinksldjump"/>
              </a:rPr>
              <a:t>Diagramas de Interacción </a:t>
            </a:r>
            <a:endParaRPr lang="es-ES_tradnl" sz="2600" dirty="0"/>
          </a:p>
          <a:p>
            <a:pPr lvl="1">
              <a:buFont typeface="Courier New" panose="02070309020205020404" pitchFamily="49" charset="0"/>
              <a:buChar char="o"/>
            </a:pPr>
            <a:r>
              <a:rPr lang="es-ES_tradnl" sz="2400" dirty="0"/>
              <a:t>Diagrama de Secuencia</a:t>
            </a:r>
          </a:p>
          <a:p>
            <a:pPr lvl="1">
              <a:buFont typeface="Courier New" panose="02070309020205020404" pitchFamily="49" charset="0"/>
              <a:buChar char="o"/>
            </a:pPr>
            <a:r>
              <a:rPr lang="es-ES_tradnl" sz="2600" dirty="0"/>
              <a:t>Diagrama de Colaboración</a:t>
            </a:r>
          </a:p>
          <a:p>
            <a:pPr>
              <a:buFont typeface="Wingdings" panose="05000000000000000000" pitchFamily="2" charset="2"/>
              <a:buChar char="Ø"/>
            </a:pPr>
            <a:r>
              <a:rPr lang="es-ES_tradnl" sz="2600" dirty="0"/>
              <a:t> </a:t>
            </a:r>
            <a:r>
              <a:rPr lang="es-ES_tradnl" sz="2600" dirty="0">
                <a:hlinkClick r:id="rId8" action="ppaction://hlinksldjump"/>
              </a:rPr>
              <a:t>Diagrama de Actividad</a:t>
            </a:r>
            <a:endParaRPr lang="es-ES_tradnl" sz="2600" dirty="0"/>
          </a:p>
          <a:p>
            <a:pPr>
              <a:buFont typeface="Wingdings" panose="05000000000000000000" pitchFamily="2" charset="2"/>
              <a:buChar char="Ø"/>
            </a:pPr>
            <a:r>
              <a:rPr lang="es-ES_tradnl" sz="2600" dirty="0">
                <a:hlinkClick r:id="rId9" action="ppaction://hlinksldjump"/>
              </a:rPr>
              <a:t>Diagrama de Estados</a:t>
            </a:r>
            <a:endParaRPr lang="es-ES_tradnl" sz="2600" dirty="0"/>
          </a:p>
        </p:txBody>
      </p:sp>
    </p:spTree>
    <p:extLst>
      <p:ext uri="{BB962C8B-B14F-4D97-AF65-F5344CB8AC3E}">
        <p14:creationId xmlns:p14="http://schemas.microsoft.com/office/powerpoint/2010/main" val="29926970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159476" y="611659"/>
            <a:ext cx="7772400" cy="1143000"/>
          </a:xfrm>
        </p:spPr>
        <p:txBody>
          <a:bodyPr/>
          <a:lstStyle/>
          <a:p>
            <a:r>
              <a:rPr lang="es-ES_tradnl" dirty="0"/>
              <a:t>Diagramas de Clase</a:t>
            </a:r>
          </a:p>
        </p:txBody>
      </p:sp>
      <p:sp>
        <p:nvSpPr>
          <p:cNvPr id="46083" name="Rectangle 3"/>
          <p:cNvSpPr>
            <a:spLocks noGrp="1" noChangeArrowheads="1"/>
          </p:cNvSpPr>
          <p:nvPr>
            <p:ph idx="1"/>
          </p:nvPr>
        </p:nvSpPr>
        <p:spPr>
          <a:xfrm>
            <a:off x="1266568" y="1865871"/>
            <a:ext cx="8229600" cy="4114800"/>
          </a:xfrm>
        </p:spPr>
        <p:txBody>
          <a:bodyPr>
            <a:normAutofit/>
          </a:bodyPr>
          <a:lstStyle/>
          <a:p>
            <a:pPr>
              <a:buFont typeface="Wingdings" pitchFamily="2" charset="2"/>
              <a:buNone/>
            </a:pPr>
            <a:r>
              <a:rPr lang="es-ES_tradnl" sz="2400" dirty="0"/>
              <a:t>Ofrecen una visión estática del sistema:</a:t>
            </a:r>
          </a:p>
          <a:p>
            <a:pPr>
              <a:buFont typeface="Wingdings" pitchFamily="2" charset="2"/>
              <a:buNone/>
            </a:pPr>
            <a:r>
              <a:rPr lang="es-ES_tradnl" sz="2400" dirty="0"/>
              <a:t>		Clase: nombre, atributos y métodos</a:t>
            </a:r>
          </a:p>
          <a:p>
            <a:pPr>
              <a:buFont typeface="Wingdings" pitchFamily="2" charset="2"/>
              <a:buNone/>
            </a:pPr>
            <a:r>
              <a:rPr lang="es-ES_tradnl" sz="2400" dirty="0"/>
              <a:t>Relaciones entre clases</a:t>
            </a:r>
          </a:p>
          <a:p>
            <a:pPr marL="384048" lvl="2" indent="0">
              <a:buNone/>
            </a:pPr>
            <a:r>
              <a:rPr lang="es-ES_tradnl" sz="2400" dirty="0"/>
              <a:t>asociación (uso)</a:t>
            </a:r>
          </a:p>
          <a:p>
            <a:pPr marL="384048" lvl="2" indent="0">
              <a:buNone/>
            </a:pPr>
            <a:r>
              <a:rPr lang="es-ES_tradnl" sz="2400" dirty="0"/>
              <a:t>generalización (herencia)</a:t>
            </a:r>
          </a:p>
          <a:p>
            <a:pPr marL="384048" lvl="2" indent="0">
              <a:buNone/>
            </a:pPr>
            <a:r>
              <a:rPr lang="es-ES_tradnl" sz="2400" dirty="0"/>
              <a:t>agregación (parte de)</a:t>
            </a:r>
          </a:p>
        </p:txBody>
      </p:sp>
      <p:grpSp>
        <p:nvGrpSpPr>
          <p:cNvPr id="47109" name="Group 3"/>
          <p:cNvGrpSpPr>
            <a:grpSpLocks/>
          </p:cNvGrpSpPr>
          <p:nvPr/>
        </p:nvGrpSpPr>
        <p:grpSpPr bwMode="auto">
          <a:xfrm>
            <a:off x="6839465" y="1981200"/>
            <a:ext cx="2514600" cy="2895600"/>
            <a:chOff x="624" y="1440"/>
            <a:chExt cx="1584" cy="1824"/>
          </a:xfrm>
        </p:grpSpPr>
        <p:sp>
          <p:nvSpPr>
            <p:cNvPr id="47116" name="Rectangle 4"/>
            <p:cNvSpPr>
              <a:spLocks noChangeArrowheads="1"/>
            </p:cNvSpPr>
            <p:nvPr/>
          </p:nvSpPr>
          <p:spPr bwMode="auto">
            <a:xfrm>
              <a:off x="624" y="1440"/>
              <a:ext cx="1584" cy="182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7117" name="Line 5"/>
            <p:cNvSpPr>
              <a:spLocks noChangeShapeType="1"/>
            </p:cNvSpPr>
            <p:nvPr/>
          </p:nvSpPr>
          <p:spPr bwMode="auto">
            <a:xfrm>
              <a:off x="624" y="1728"/>
              <a:ext cx="15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7118" name="Line 6"/>
            <p:cNvSpPr>
              <a:spLocks noChangeShapeType="1"/>
            </p:cNvSpPr>
            <p:nvPr/>
          </p:nvSpPr>
          <p:spPr bwMode="auto">
            <a:xfrm>
              <a:off x="624" y="2592"/>
              <a:ext cx="15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sp>
        <p:nvSpPr>
          <p:cNvPr id="47110" name="Line 7"/>
          <p:cNvSpPr>
            <a:spLocks noChangeShapeType="1"/>
          </p:cNvSpPr>
          <p:nvPr/>
        </p:nvSpPr>
        <p:spPr bwMode="auto">
          <a:xfrm flipH="1">
            <a:off x="9430265" y="2209800"/>
            <a:ext cx="990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7111" name="Line 8"/>
          <p:cNvSpPr>
            <a:spLocks noChangeShapeType="1"/>
          </p:cNvSpPr>
          <p:nvPr/>
        </p:nvSpPr>
        <p:spPr bwMode="auto">
          <a:xfrm flipH="1">
            <a:off x="9430265" y="3200400"/>
            <a:ext cx="990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7112" name="Line 9"/>
          <p:cNvSpPr>
            <a:spLocks noChangeShapeType="1"/>
          </p:cNvSpPr>
          <p:nvPr/>
        </p:nvSpPr>
        <p:spPr bwMode="auto">
          <a:xfrm flipH="1">
            <a:off x="9430265" y="4343400"/>
            <a:ext cx="990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7113" name="Text Box 10"/>
          <p:cNvSpPr txBox="1">
            <a:spLocks noChangeArrowheads="1"/>
          </p:cNvSpPr>
          <p:nvPr/>
        </p:nvSpPr>
        <p:spPr bwMode="auto">
          <a:xfrm>
            <a:off x="10497065" y="1981200"/>
            <a:ext cx="2209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Nombre</a:t>
            </a:r>
          </a:p>
        </p:txBody>
      </p:sp>
      <p:sp>
        <p:nvSpPr>
          <p:cNvPr id="47114" name="Text Box 11"/>
          <p:cNvSpPr txBox="1">
            <a:spLocks noChangeArrowheads="1"/>
          </p:cNvSpPr>
          <p:nvPr/>
        </p:nvSpPr>
        <p:spPr bwMode="auto">
          <a:xfrm>
            <a:off x="10420865" y="3048000"/>
            <a:ext cx="236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Atributos</a:t>
            </a:r>
          </a:p>
        </p:txBody>
      </p:sp>
      <p:sp>
        <p:nvSpPr>
          <p:cNvPr id="47115" name="Text Box 12"/>
          <p:cNvSpPr txBox="1">
            <a:spLocks noChangeArrowheads="1"/>
          </p:cNvSpPr>
          <p:nvPr/>
        </p:nvSpPr>
        <p:spPr bwMode="auto">
          <a:xfrm>
            <a:off x="10497065" y="4191000"/>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Metodos</a:t>
            </a:r>
          </a:p>
        </p:txBody>
      </p:sp>
    </p:spTree>
    <p:extLst>
      <p:ext uri="{BB962C8B-B14F-4D97-AF65-F5344CB8AC3E}">
        <p14:creationId xmlns:p14="http://schemas.microsoft.com/office/powerpoint/2010/main" val="34571640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184189" y="984422"/>
            <a:ext cx="7772400" cy="762000"/>
          </a:xfrm>
        </p:spPr>
        <p:txBody>
          <a:bodyPr/>
          <a:lstStyle/>
          <a:p>
            <a:r>
              <a:rPr lang="es-ES_tradnl" dirty="0"/>
              <a:t>Atributos</a:t>
            </a:r>
          </a:p>
        </p:txBody>
      </p:sp>
      <p:sp>
        <p:nvSpPr>
          <p:cNvPr id="48131" name="Rectangle 3"/>
          <p:cNvSpPr>
            <a:spLocks noGrp="1" noChangeArrowheads="1"/>
          </p:cNvSpPr>
          <p:nvPr>
            <p:ph idx="1"/>
          </p:nvPr>
        </p:nvSpPr>
        <p:spPr>
          <a:xfrm>
            <a:off x="1276865" y="1923535"/>
            <a:ext cx="8305800" cy="5029200"/>
          </a:xfrm>
        </p:spPr>
        <p:txBody>
          <a:bodyPr/>
          <a:lstStyle/>
          <a:p>
            <a:pPr marL="7938" indent="-7938">
              <a:buNone/>
            </a:pPr>
            <a:r>
              <a:rPr lang="es-ES_tradnl" dirty="0"/>
              <a:t>La </a:t>
            </a:r>
            <a:r>
              <a:rPr lang="es-ES_tradnl" dirty="0" err="1"/>
              <a:t>especificacion</a:t>
            </a:r>
            <a:r>
              <a:rPr lang="es-ES_tradnl" dirty="0"/>
              <a:t> de atributos es:</a:t>
            </a:r>
          </a:p>
          <a:p>
            <a:pPr marL="7938" indent="-7938">
              <a:buNone/>
            </a:pPr>
            <a:endParaRPr lang="es-ES_tradnl" dirty="0"/>
          </a:p>
          <a:p>
            <a:pPr marL="7938" indent="-7938">
              <a:buNone/>
            </a:pPr>
            <a:r>
              <a:rPr lang="es-ES_tradnl" dirty="0"/>
              <a:t>&lt;visibilidad&gt; &lt;nombre&gt; &lt;tipo&gt; [= &lt;valor&gt;]</a:t>
            </a:r>
          </a:p>
          <a:p>
            <a:pPr marL="7938" indent="-7938">
              <a:buNone/>
            </a:pPr>
            <a:endParaRPr lang="es-ES_tradnl" dirty="0"/>
          </a:p>
          <a:p>
            <a:pPr marL="7938" indent="-7938">
              <a:buNone/>
            </a:pPr>
            <a:r>
              <a:rPr lang="es-ES_tradnl" dirty="0"/>
              <a:t>&lt;visibilidad&gt; ::=  + | - | #</a:t>
            </a:r>
          </a:p>
          <a:p>
            <a:pPr marL="7938" indent="-7938">
              <a:buNone/>
            </a:pPr>
            <a:r>
              <a:rPr lang="es-ES_tradnl" dirty="0"/>
              <a:t>		</a:t>
            </a:r>
            <a:r>
              <a:rPr lang="es-ES_tradnl" dirty="0" err="1"/>
              <a:t>public</a:t>
            </a:r>
            <a:r>
              <a:rPr lang="es-ES_tradnl" dirty="0"/>
              <a:t>, </a:t>
            </a:r>
            <a:r>
              <a:rPr lang="es-ES_tradnl" dirty="0" err="1"/>
              <a:t>private</a:t>
            </a:r>
            <a:r>
              <a:rPr lang="es-ES_tradnl" dirty="0"/>
              <a:t> y </a:t>
            </a:r>
            <a:r>
              <a:rPr lang="es-ES_tradnl" dirty="0" err="1"/>
              <a:t>protected</a:t>
            </a:r>
            <a:r>
              <a:rPr lang="es-ES_tradnl" dirty="0"/>
              <a:t> respectivamente</a:t>
            </a:r>
          </a:p>
        </p:txBody>
      </p:sp>
    </p:spTree>
    <p:extLst>
      <p:ext uri="{BB962C8B-B14F-4D97-AF65-F5344CB8AC3E}">
        <p14:creationId xmlns:p14="http://schemas.microsoft.com/office/powerpoint/2010/main" val="19948472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1219200" y="1029732"/>
            <a:ext cx="7772400" cy="685800"/>
          </a:xfrm>
        </p:spPr>
        <p:txBody>
          <a:bodyPr>
            <a:normAutofit fontScale="90000"/>
          </a:bodyPr>
          <a:lstStyle/>
          <a:p>
            <a:r>
              <a:rPr lang="es-ES_tradnl" dirty="0"/>
              <a:t>Ejemplo</a:t>
            </a:r>
          </a:p>
        </p:txBody>
      </p:sp>
      <p:sp>
        <p:nvSpPr>
          <p:cNvPr id="49155" name="Text Box 3"/>
          <p:cNvSpPr txBox="1">
            <a:spLocks noChangeArrowheads="1"/>
          </p:cNvSpPr>
          <p:nvPr/>
        </p:nvSpPr>
        <p:spPr bwMode="auto">
          <a:xfrm>
            <a:off x="1828800" y="1715532"/>
            <a:ext cx="807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dirty="0"/>
              <a:t>En el ejemplo anterior un posible conjunto de clases seria:</a:t>
            </a:r>
          </a:p>
        </p:txBody>
      </p:sp>
      <p:grpSp>
        <p:nvGrpSpPr>
          <p:cNvPr id="49156" name="Group 4"/>
          <p:cNvGrpSpPr>
            <a:grpSpLocks/>
          </p:cNvGrpSpPr>
          <p:nvPr/>
        </p:nvGrpSpPr>
        <p:grpSpPr bwMode="auto">
          <a:xfrm>
            <a:off x="2884488" y="2553732"/>
            <a:ext cx="1992312" cy="914400"/>
            <a:chOff x="857" y="1344"/>
            <a:chExt cx="1255" cy="576"/>
          </a:xfrm>
        </p:grpSpPr>
        <p:sp>
          <p:nvSpPr>
            <p:cNvPr id="49188" name="Rectangle 5"/>
            <p:cNvSpPr>
              <a:spLocks noChangeArrowheads="1"/>
            </p:cNvSpPr>
            <p:nvPr/>
          </p:nvSpPr>
          <p:spPr bwMode="auto">
            <a:xfrm>
              <a:off x="864" y="1344"/>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9189" name="Line 6"/>
            <p:cNvSpPr>
              <a:spLocks noChangeShapeType="1"/>
            </p:cNvSpPr>
            <p:nvPr/>
          </p:nvSpPr>
          <p:spPr bwMode="auto">
            <a:xfrm>
              <a:off x="857" y="1776"/>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9190" name="Line 7"/>
            <p:cNvSpPr>
              <a:spLocks noChangeShapeType="1"/>
            </p:cNvSpPr>
            <p:nvPr/>
          </p:nvSpPr>
          <p:spPr bwMode="auto">
            <a:xfrm>
              <a:off x="864" y="1872"/>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9191" name="Text Box 8"/>
            <p:cNvSpPr txBox="1">
              <a:spLocks noChangeArrowheads="1"/>
            </p:cNvSpPr>
            <p:nvPr/>
          </p:nvSpPr>
          <p:spPr bwMode="auto">
            <a:xfrm>
              <a:off x="864" y="1440"/>
              <a:ext cx="12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sz="2000"/>
                <a:t>Catalogo Cursos</a:t>
              </a:r>
              <a:endParaRPr lang="es-ES_tradnl"/>
            </a:p>
          </p:txBody>
        </p:sp>
      </p:grpSp>
      <p:sp>
        <p:nvSpPr>
          <p:cNvPr id="49157" name="Text Box 9"/>
          <p:cNvSpPr txBox="1">
            <a:spLocks noChangeArrowheads="1"/>
          </p:cNvSpPr>
          <p:nvPr/>
        </p:nvSpPr>
        <p:spPr bwMode="auto">
          <a:xfrm>
            <a:off x="7467600" y="2706132"/>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s-ES"/>
          </a:p>
        </p:txBody>
      </p:sp>
      <p:grpSp>
        <p:nvGrpSpPr>
          <p:cNvPr id="49158" name="Group 10"/>
          <p:cNvGrpSpPr>
            <a:grpSpLocks/>
          </p:cNvGrpSpPr>
          <p:nvPr/>
        </p:nvGrpSpPr>
        <p:grpSpPr bwMode="auto">
          <a:xfrm>
            <a:off x="3733800" y="3925332"/>
            <a:ext cx="1981200" cy="914400"/>
            <a:chOff x="1488" y="2208"/>
            <a:chExt cx="1248" cy="576"/>
          </a:xfrm>
        </p:grpSpPr>
        <p:sp>
          <p:nvSpPr>
            <p:cNvPr id="49184" name="Rectangle 11"/>
            <p:cNvSpPr>
              <a:spLocks noChangeArrowheads="1"/>
            </p:cNvSpPr>
            <p:nvPr/>
          </p:nvSpPr>
          <p:spPr bwMode="auto">
            <a:xfrm>
              <a:off x="1488" y="2208"/>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9185" name="Line 12"/>
            <p:cNvSpPr>
              <a:spLocks noChangeShapeType="1"/>
            </p:cNvSpPr>
            <p:nvPr/>
          </p:nvSpPr>
          <p:spPr bwMode="auto">
            <a:xfrm>
              <a:off x="1488" y="2592"/>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9186" name="Line 13"/>
            <p:cNvSpPr>
              <a:spLocks noChangeShapeType="1"/>
            </p:cNvSpPr>
            <p:nvPr/>
          </p:nvSpPr>
          <p:spPr bwMode="auto">
            <a:xfrm>
              <a:off x="1488" y="2688"/>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9187" name="Text Box 14"/>
            <p:cNvSpPr txBox="1">
              <a:spLocks noChangeArrowheads="1"/>
            </p:cNvSpPr>
            <p:nvPr/>
          </p:nvSpPr>
          <p:spPr bwMode="auto">
            <a:xfrm>
              <a:off x="1488" y="2256"/>
              <a:ext cx="12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Curso</a:t>
              </a:r>
            </a:p>
          </p:txBody>
        </p:sp>
      </p:grpSp>
      <p:grpSp>
        <p:nvGrpSpPr>
          <p:cNvPr id="49159" name="Group 15"/>
          <p:cNvGrpSpPr>
            <a:grpSpLocks/>
          </p:cNvGrpSpPr>
          <p:nvPr/>
        </p:nvGrpSpPr>
        <p:grpSpPr bwMode="auto">
          <a:xfrm>
            <a:off x="7010400" y="3925332"/>
            <a:ext cx="1981200" cy="914400"/>
            <a:chOff x="3209" y="2216"/>
            <a:chExt cx="1248" cy="576"/>
          </a:xfrm>
        </p:grpSpPr>
        <p:sp>
          <p:nvSpPr>
            <p:cNvPr id="49180" name="Rectangle 16"/>
            <p:cNvSpPr>
              <a:spLocks noChangeArrowheads="1"/>
            </p:cNvSpPr>
            <p:nvPr/>
          </p:nvSpPr>
          <p:spPr bwMode="auto">
            <a:xfrm>
              <a:off x="3209" y="2216"/>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9181" name="Line 17"/>
            <p:cNvSpPr>
              <a:spLocks noChangeShapeType="1"/>
            </p:cNvSpPr>
            <p:nvPr/>
          </p:nvSpPr>
          <p:spPr bwMode="auto">
            <a:xfrm>
              <a:off x="3209" y="2600"/>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9182" name="Line 18"/>
            <p:cNvSpPr>
              <a:spLocks noChangeShapeType="1"/>
            </p:cNvSpPr>
            <p:nvPr/>
          </p:nvSpPr>
          <p:spPr bwMode="auto">
            <a:xfrm>
              <a:off x="3209" y="2696"/>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9183" name="Text Box 19"/>
            <p:cNvSpPr txBox="1">
              <a:spLocks noChangeArrowheads="1"/>
            </p:cNvSpPr>
            <p:nvPr/>
          </p:nvSpPr>
          <p:spPr bwMode="auto">
            <a:xfrm>
              <a:off x="3257" y="2264"/>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Estudiante</a:t>
              </a:r>
            </a:p>
          </p:txBody>
        </p:sp>
      </p:grpSp>
      <p:grpSp>
        <p:nvGrpSpPr>
          <p:cNvPr id="49160" name="Group 20"/>
          <p:cNvGrpSpPr>
            <a:grpSpLocks/>
          </p:cNvGrpSpPr>
          <p:nvPr/>
        </p:nvGrpSpPr>
        <p:grpSpPr bwMode="auto">
          <a:xfrm>
            <a:off x="2133600" y="5449332"/>
            <a:ext cx="1981200" cy="914400"/>
            <a:chOff x="384" y="3168"/>
            <a:chExt cx="1248" cy="576"/>
          </a:xfrm>
        </p:grpSpPr>
        <p:sp>
          <p:nvSpPr>
            <p:cNvPr id="49176" name="Rectangle 21"/>
            <p:cNvSpPr>
              <a:spLocks noChangeArrowheads="1"/>
            </p:cNvSpPr>
            <p:nvPr/>
          </p:nvSpPr>
          <p:spPr bwMode="auto">
            <a:xfrm>
              <a:off x="384" y="3168"/>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9177" name="Line 22"/>
            <p:cNvSpPr>
              <a:spLocks noChangeShapeType="1"/>
            </p:cNvSpPr>
            <p:nvPr/>
          </p:nvSpPr>
          <p:spPr bwMode="auto">
            <a:xfrm>
              <a:off x="384" y="3552"/>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9178" name="Line 23"/>
            <p:cNvSpPr>
              <a:spLocks noChangeShapeType="1"/>
            </p:cNvSpPr>
            <p:nvPr/>
          </p:nvSpPr>
          <p:spPr bwMode="auto">
            <a:xfrm>
              <a:off x="384" y="3648"/>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9179" name="Text Box 24"/>
            <p:cNvSpPr txBox="1">
              <a:spLocks noChangeArrowheads="1"/>
            </p:cNvSpPr>
            <p:nvPr/>
          </p:nvSpPr>
          <p:spPr bwMode="auto">
            <a:xfrm>
              <a:off x="384" y="3216"/>
              <a:ext cx="12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Matricula</a:t>
              </a:r>
            </a:p>
          </p:txBody>
        </p:sp>
      </p:grpSp>
      <p:grpSp>
        <p:nvGrpSpPr>
          <p:cNvPr id="49161" name="Group 25"/>
          <p:cNvGrpSpPr>
            <a:grpSpLocks/>
          </p:cNvGrpSpPr>
          <p:nvPr/>
        </p:nvGrpSpPr>
        <p:grpSpPr bwMode="auto">
          <a:xfrm>
            <a:off x="5105400" y="5373132"/>
            <a:ext cx="1981200" cy="914400"/>
            <a:chOff x="2256" y="3120"/>
            <a:chExt cx="1248" cy="576"/>
          </a:xfrm>
        </p:grpSpPr>
        <p:sp>
          <p:nvSpPr>
            <p:cNvPr id="49172" name="Rectangle 26"/>
            <p:cNvSpPr>
              <a:spLocks noChangeArrowheads="1"/>
            </p:cNvSpPr>
            <p:nvPr/>
          </p:nvSpPr>
          <p:spPr bwMode="auto">
            <a:xfrm>
              <a:off x="2256" y="3120"/>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9173" name="Line 27"/>
            <p:cNvSpPr>
              <a:spLocks noChangeShapeType="1"/>
            </p:cNvSpPr>
            <p:nvPr/>
          </p:nvSpPr>
          <p:spPr bwMode="auto">
            <a:xfrm>
              <a:off x="2256" y="3552"/>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9174" name="Line 28"/>
            <p:cNvSpPr>
              <a:spLocks noChangeShapeType="1"/>
            </p:cNvSpPr>
            <p:nvPr/>
          </p:nvSpPr>
          <p:spPr bwMode="auto">
            <a:xfrm>
              <a:off x="2256" y="3648"/>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9175" name="Text Box 29"/>
            <p:cNvSpPr txBox="1">
              <a:spLocks noChangeArrowheads="1"/>
            </p:cNvSpPr>
            <p:nvPr/>
          </p:nvSpPr>
          <p:spPr bwMode="auto">
            <a:xfrm>
              <a:off x="2256" y="3168"/>
              <a:ext cx="12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Info contable</a:t>
              </a:r>
            </a:p>
          </p:txBody>
        </p:sp>
      </p:grpSp>
      <p:grpSp>
        <p:nvGrpSpPr>
          <p:cNvPr id="49162" name="Group 30"/>
          <p:cNvGrpSpPr>
            <a:grpSpLocks/>
          </p:cNvGrpSpPr>
          <p:nvPr/>
        </p:nvGrpSpPr>
        <p:grpSpPr bwMode="auto">
          <a:xfrm>
            <a:off x="8077200" y="5373132"/>
            <a:ext cx="1981200" cy="914400"/>
            <a:chOff x="4128" y="3120"/>
            <a:chExt cx="1248" cy="576"/>
          </a:xfrm>
        </p:grpSpPr>
        <p:sp>
          <p:nvSpPr>
            <p:cNvPr id="49168" name="Rectangle 31"/>
            <p:cNvSpPr>
              <a:spLocks noChangeArrowheads="1"/>
            </p:cNvSpPr>
            <p:nvPr/>
          </p:nvSpPr>
          <p:spPr bwMode="auto">
            <a:xfrm>
              <a:off x="4128" y="3120"/>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9169" name="Line 32"/>
            <p:cNvSpPr>
              <a:spLocks noChangeShapeType="1"/>
            </p:cNvSpPr>
            <p:nvPr/>
          </p:nvSpPr>
          <p:spPr bwMode="auto">
            <a:xfrm>
              <a:off x="4128" y="3552"/>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9170" name="Line 33"/>
            <p:cNvSpPr>
              <a:spLocks noChangeShapeType="1"/>
            </p:cNvSpPr>
            <p:nvPr/>
          </p:nvSpPr>
          <p:spPr bwMode="auto">
            <a:xfrm>
              <a:off x="4128" y="3648"/>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9171" name="Text Box 34"/>
            <p:cNvSpPr txBox="1">
              <a:spLocks noChangeArrowheads="1"/>
            </p:cNvSpPr>
            <p:nvPr/>
          </p:nvSpPr>
          <p:spPr bwMode="auto">
            <a:xfrm>
              <a:off x="4176" y="3168"/>
              <a:ext cx="11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Profesor</a:t>
              </a:r>
            </a:p>
          </p:txBody>
        </p:sp>
      </p:grpSp>
      <p:grpSp>
        <p:nvGrpSpPr>
          <p:cNvPr id="49163" name="Group 35"/>
          <p:cNvGrpSpPr>
            <a:grpSpLocks/>
          </p:cNvGrpSpPr>
          <p:nvPr/>
        </p:nvGrpSpPr>
        <p:grpSpPr bwMode="auto">
          <a:xfrm>
            <a:off x="7391401" y="2477532"/>
            <a:ext cx="1992313" cy="914400"/>
            <a:chOff x="3449" y="1344"/>
            <a:chExt cx="1255" cy="576"/>
          </a:xfrm>
        </p:grpSpPr>
        <p:sp>
          <p:nvSpPr>
            <p:cNvPr id="49164" name="Rectangle 36"/>
            <p:cNvSpPr>
              <a:spLocks noChangeArrowheads="1"/>
            </p:cNvSpPr>
            <p:nvPr/>
          </p:nvSpPr>
          <p:spPr bwMode="auto">
            <a:xfrm>
              <a:off x="3456" y="1344"/>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9165" name="Line 37"/>
            <p:cNvSpPr>
              <a:spLocks noChangeShapeType="1"/>
            </p:cNvSpPr>
            <p:nvPr/>
          </p:nvSpPr>
          <p:spPr bwMode="auto">
            <a:xfrm>
              <a:off x="3449" y="1776"/>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9166" name="Line 38"/>
            <p:cNvSpPr>
              <a:spLocks noChangeShapeType="1"/>
            </p:cNvSpPr>
            <p:nvPr/>
          </p:nvSpPr>
          <p:spPr bwMode="auto">
            <a:xfrm>
              <a:off x="3456" y="1872"/>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9167" name="Text Box 39"/>
            <p:cNvSpPr txBox="1">
              <a:spLocks noChangeArrowheads="1"/>
            </p:cNvSpPr>
            <p:nvPr/>
          </p:nvSpPr>
          <p:spPr bwMode="auto">
            <a:xfrm>
              <a:off x="3456" y="1440"/>
              <a:ext cx="12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sz="2000"/>
                <a:t>Expediente Est.</a:t>
              </a:r>
              <a:endParaRPr lang="es-ES_tradnl"/>
            </a:p>
          </p:txBody>
        </p:sp>
      </p:grpSp>
    </p:spTree>
    <p:extLst>
      <p:ext uri="{BB962C8B-B14F-4D97-AF65-F5344CB8AC3E}">
        <p14:creationId xmlns:p14="http://schemas.microsoft.com/office/powerpoint/2010/main" val="58456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248032" y="1192427"/>
            <a:ext cx="7772400" cy="609600"/>
          </a:xfrm>
        </p:spPr>
        <p:txBody>
          <a:bodyPr>
            <a:normAutofit fontScale="90000"/>
          </a:bodyPr>
          <a:lstStyle/>
          <a:p>
            <a:r>
              <a:rPr lang="es-ES_tradnl" dirty="0"/>
              <a:t>Relaciones</a:t>
            </a:r>
          </a:p>
        </p:txBody>
      </p:sp>
      <p:sp>
        <p:nvSpPr>
          <p:cNvPr id="50179" name="Rectangle 3"/>
          <p:cNvSpPr>
            <a:spLocks noGrp="1" noChangeArrowheads="1"/>
          </p:cNvSpPr>
          <p:nvPr>
            <p:ph idx="1"/>
          </p:nvPr>
        </p:nvSpPr>
        <p:spPr>
          <a:xfrm>
            <a:off x="1451919" y="1802027"/>
            <a:ext cx="7772400" cy="4114800"/>
          </a:xfrm>
        </p:spPr>
        <p:txBody>
          <a:bodyPr>
            <a:normAutofit/>
          </a:bodyPr>
          <a:lstStyle/>
          <a:p>
            <a:pPr marL="7938" indent="-7938" algn="ctr">
              <a:buNone/>
            </a:pPr>
            <a:r>
              <a:rPr lang="es-ES_tradnl" sz="2800" dirty="0"/>
              <a:t>El sistema se compone de objetos que </a:t>
            </a:r>
            <a:r>
              <a:rPr lang="es-ES_tradnl" sz="2800" i="1" dirty="0"/>
              <a:t>colaboran</a:t>
            </a:r>
            <a:r>
              <a:rPr lang="es-ES_tradnl" sz="2800" dirty="0"/>
              <a:t> para realizar la funcionalidad solicitada en las especificaciones</a:t>
            </a:r>
          </a:p>
          <a:p>
            <a:pPr marL="7938" indent="-7938">
              <a:buNone/>
            </a:pPr>
            <a:endParaRPr lang="es-ES_tradnl" sz="2800" dirty="0"/>
          </a:p>
          <a:p>
            <a:pPr marL="7938" indent="-7938" algn="ctr">
              <a:buNone/>
            </a:pPr>
            <a:r>
              <a:rPr lang="es-ES_tradnl" sz="2800" dirty="0"/>
              <a:t>La colaboración se manifiesta como asociaciones o agregaciones, las cuales tendrán asociadas una multiplicidad</a:t>
            </a:r>
          </a:p>
        </p:txBody>
      </p:sp>
    </p:spTree>
    <p:extLst>
      <p:ext uri="{BB962C8B-B14F-4D97-AF65-F5344CB8AC3E}">
        <p14:creationId xmlns:p14="http://schemas.microsoft.com/office/powerpoint/2010/main" val="14829551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206843" y="1097692"/>
            <a:ext cx="7772400" cy="685800"/>
          </a:xfrm>
        </p:spPr>
        <p:txBody>
          <a:bodyPr>
            <a:normAutofit fontScale="90000"/>
          </a:bodyPr>
          <a:lstStyle/>
          <a:p>
            <a:r>
              <a:rPr lang="es-ES_tradnl" dirty="0">
                <a:solidFill>
                  <a:schemeClr val="tx1"/>
                </a:solidFill>
              </a:rPr>
              <a:t>Relaciones </a:t>
            </a:r>
            <a:r>
              <a:rPr lang="es-ES_tradnl" sz="2200" dirty="0">
                <a:solidFill>
                  <a:schemeClr val="tx1"/>
                </a:solidFill>
              </a:rPr>
              <a:t>(cont.)</a:t>
            </a:r>
          </a:p>
        </p:txBody>
      </p:sp>
      <p:sp>
        <p:nvSpPr>
          <p:cNvPr id="51203" name="Rectangle 3"/>
          <p:cNvSpPr>
            <a:spLocks noGrp="1" noChangeArrowheads="1"/>
          </p:cNvSpPr>
          <p:nvPr>
            <p:ph idx="1"/>
          </p:nvPr>
        </p:nvSpPr>
        <p:spPr>
          <a:xfrm>
            <a:off x="1866900" y="1783492"/>
            <a:ext cx="8305800" cy="4572000"/>
          </a:xfrm>
        </p:spPr>
        <p:txBody>
          <a:bodyPr>
            <a:normAutofit/>
          </a:bodyPr>
          <a:lstStyle/>
          <a:p>
            <a:pPr marL="7938" indent="-7938" algn="ctr">
              <a:buNone/>
            </a:pPr>
            <a:r>
              <a:rPr lang="es-ES_tradnl" sz="3600" dirty="0"/>
              <a:t>Un análisis estructural de las clases puede indicar la conveniencia de utilizar relación de herencia cuando se encuentre comportamiento común</a:t>
            </a:r>
          </a:p>
          <a:p>
            <a:pPr marL="7938" indent="-7938" algn="ctr">
              <a:buNone/>
            </a:pPr>
            <a:endParaRPr lang="es-ES_tradnl" sz="3600" dirty="0"/>
          </a:p>
          <a:p>
            <a:pPr marL="7938" indent="-7938">
              <a:buNone/>
            </a:pPr>
            <a:r>
              <a:rPr lang="es-ES_tradnl" sz="3600" dirty="0"/>
              <a:t>Soporta la redefinición y la inclusión de nuevos atributos</a:t>
            </a:r>
          </a:p>
        </p:txBody>
      </p:sp>
    </p:spTree>
    <p:extLst>
      <p:ext uri="{BB962C8B-B14F-4D97-AF65-F5344CB8AC3E}">
        <p14:creationId xmlns:p14="http://schemas.microsoft.com/office/powerpoint/2010/main" val="40652111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a:xfrm>
            <a:off x="1233616" y="731735"/>
            <a:ext cx="7772400" cy="990600"/>
          </a:xfrm>
        </p:spPr>
        <p:txBody>
          <a:bodyPr/>
          <a:lstStyle/>
          <a:p>
            <a:r>
              <a:rPr lang="es-ES_tradnl" dirty="0"/>
              <a:t>Relación de asociación</a:t>
            </a:r>
          </a:p>
        </p:txBody>
      </p:sp>
      <p:sp>
        <p:nvSpPr>
          <p:cNvPr id="52228" name="Rectangle 3"/>
          <p:cNvSpPr>
            <a:spLocks noGrp="1" noChangeArrowheads="1"/>
          </p:cNvSpPr>
          <p:nvPr>
            <p:ph idx="1"/>
          </p:nvPr>
        </p:nvSpPr>
        <p:spPr>
          <a:xfrm>
            <a:off x="1485900" y="1798535"/>
            <a:ext cx="8305800" cy="1295400"/>
          </a:xfrm>
        </p:spPr>
        <p:txBody>
          <a:bodyPr/>
          <a:lstStyle/>
          <a:p>
            <a:pPr marL="7938" indent="-7938">
              <a:buNone/>
            </a:pPr>
            <a:r>
              <a:rPr lang="es-ES_tradnl" dirty="0"/>
              <a:t>Indica una relación entre clases</a:t>
            </a:r>
          </a:p>
          <a:p>
            <a:pPr marL="7938" indent="-7938">
              <a:buNone/>
            </a:pPr>
            <a:r>
              <a:rPr lang="es-ES_tradnl" dirty="0"/>
              <a:t>Ejemplo:</a:t>
            </a:r>
          </a:p>
        </p:txBody>
      </p:sp>
      <p:sp>
        <p:nvSpPr>
          <p:cNvPr id="52226" name="4 Marcador de número de diapositiva"/>
          <p:cNvSpPr>
            <a:spLocks noGrp="1"/>
          </p:cNvSpPr>
          <p:nvPr>
            <p:ph type="sldNum" sz="quarter" idx="12"/>
          </p:nvPr>
        </p:nvSpPr>
        <p:spPr>
          <a:xfrm>
            <a:off x="4648200" y="6248400"/>
            <a:ext cx="2895600" cy="457200"/>
          </a:xfrm>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fld id="{D5B8571B-470F-4D3C-B005-6B1404A2F283}" type="slidenum">
              <a:rPr lang="es-ES_tradnl" sz="1400"/>
              <a:pPr algn="ctr"/>
              <a:t>40</a:t>
            </a:fld>
            <a:endParaRPr lang="es-ES_tradnl" sz="1400"/>
          </a:p>
        </p:txBody>
      </p:sp>
      <p:sp>
        <p:nvSpPr>
          <p:cNvPr id="52229" name="Line 4"/>
          <p:cNvSpPr>
            <a:spLocks noChangeShapeType="1"/>
          </p:cNvSpPr>
          <p:nvPr/>
        </p:nvSpPr>
        <p:spPr bwMode="auto">
          <a:xfrm>
            <a:off x="4572000" y="3564927"/>
            <a:ext cx="2133600"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nvGrpSpPr>
          <p:cNvPr id="52230" name="Group 5"/>
          <p:cNvGrpSpPr>
            <a:grpSpLocks/>
          </p:cNvGrpSpPr>
          <p:nvPr/>
        </p:nvGrpSpPr>
        <p:grpSpPr bwMode="auto">
          <a:xfrm>
            <a:off x="2590800" y="3107727"/>
            <a:ext cx="1981200" cy="914400"/>
            <a:chOff x="3209" y="2216"/>
            <a:chExt cx="1248" cy="576"/>
          </a:xfrm>
        </p:grpSpPr>
        <p:sp>
          <p:nvSpPr>
            <p:cNvPr id="52251" name="Rectangle 6"/>
            <p:cNvSpPr>
              <a:spLocks noChangeArrowheads="1"/>
            </p:cNvSpPr>
            <p:nvPr/>
          </p:nvSpPr>
          <p:spPr bwMode="auto">
            <a:xfrm>
              <a:off x="3209" y="2216"/>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2252" name="Line 7"/>
            <p:cNvSpPr>
              <a:spLocks noChangeShapeType="1"/>
            </p:cNvSpPr>
            <p:nvPr/>
          </p:nvSpPr>
          <p:spPr bwMode="auto">
            <a:xfrm>
              <a:off x="3209" y="2600"/>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2253" name="Line 8"/>
            <p:cNvSpPr>
              <a:spLocks noChangeShapeType="1"/>
            </p:cNvSpPr>
            <p:nvPr/>
          </p:nvSpPr>
          <p:spPr bwMode="auto">
            <a:xfrm>
              <a:off x="3209" y="2696"/>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2254" name="Text Box 9"/>
            <p:cNvSpPr txBox="1">
              <a:spLocks noChangeArrowheads="1"/>
            </p:cNvSpPr>
            <p:nvPr/>
          </p:nvSpPr>
          <p:spPr bwMode="auto">
            <a:xfrm>
              <a:off x="3257" y="2264"/>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Estudiante</a:t>
              </a:r>
            </a:p>
          </p:txBody>
        </p:sp>
      </p:grpSp>
      <p:grpSp>
        <p:nvGrpSpPr>
          <p:cNvPr id="52231" name="Group 10"/>
          <p:cNvGrpSpPr>
            <a:grpSpLocks/>
          </p:cNvGrpSpPr>
          <p:nvPr/>
        </p:nvGrpSpPr>
        <p:grpSpPr bwMode="auto">
          <a:xfrm>
            <a:off x="6705601" y="3096615"/>
            <a:ext cx="1992313" cy="914400"/>
            <a:chOff x="3449" y="1344"/>
            <a:chExt cx="1255" cy="576"/>
          </a:xfrm>
        </p:grpSpPr>
        <p:sp>
          <p:nvSpPr>
            <p:cNvPr id="52247" name="Rectangle 11"/>
            <p:cNvSpPr>
              <a:spLocks noChangeArrowheads="1"/>
            </p:cNvSpPr>
            <p:nvPr/>
          </p:nvSpPr>
          <p:spPr bwMode="auto">
            <a:xfrm>
              <a:off x="3456" y="1344"/>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2248" name="Line 12"/>
            <p:cNvSpPr>
              <a:spLocks noChangeShapeType="1"/>
            </p:cNvSpPr>
            <p:nvPr/>
          </p:nvSpPr>
          <p:spPr bwMode="auto">
            <a:xfrm>
              <a:off x="3449" y="1776"/>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2249" name="Line 13"/>
            <p:cNvSpPr>
              <a:spLocks noChangeShapeType="1"/>
            </p:cNvSpPr>
            <p:nvPr/>
          </p:nvSpPr>
          <p:spPr bwMode="auto">
            <a:xfrm>
              <a:off x="3456" y="1872"/>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2250" name="Text Box 14"/>
            <p:cNvSpPr txBox="1">
              <a:spLocks noChangeArrowheads="1"/>
            </p:cNvSpPr>
            <p:nvPr/>
          </p:nvSpPr>
          <p:spPr bwMode="auto">
            <a:xfrm>
              <a:off x="3456" y="1440"/>
              <a:ext cx="12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sz="2000"/>
                <a:t>Expediente Est.</a:t>
              </a:r>
              <a:endParaRPr lang="es-ES_tradnl"/>
            </a:p>
          </p:txBody>
        </p:sp>
      </p:grpSp>
      <p:sp>
        <p:nvSpPr>
          <p:cNvPr id="52232" name="Text Box 15"/>
          <p:cNvSpPr txBox="1">
            <a:spLocks noChangeArrowheads="1"/>
          </p:cNvSpPr>
          <p:nvPr/>
        </p:nvSpPr>
        <p:spPr bwMode="auto">
          <a:xfrm>
            <a:off x="4724400" y="3183927"/>
            <a:ext cx="182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Pertenece a</a:t>
            </a:r>
          </a:p>
        </p:txBody>
      </p:sp>
      <p:sp>
        <p:nvSpPr>
          <p:cNvPr id="52233" name="Text Box 16"/>
          <p:cNvSpPr txBox="1">
            <a:spLocks noChangeArrowheads="1"/>
          </p:cNvSpPr>
          <p:nvPr/>
        </p:nvSpPr>
        <p:spPr bwMode="auto">
          <a:xfrm>
            <a:off x="2133600" y="4479327"/>
            <a:ext cx="205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Multiplicidad: </a:t>
            </a:r>
          </a:p>
        </p:txBody>
      </p:sp>
      <p:grpSp>
        <p:nvGrpSpPr>
          <p:cNvPr id="52234" name="Group 17"/>
          <p:cNvGrpSpPr>
            <a:grpSpLocks/>
          </p:cNvGrpSpPr>
          <p:nvPr/>
        </p:nvGrpSpPr>
        <p:grpSpPr bwMode="auto">
          <a:xfrm>
            <a:off x="2147888" y="5019077"/>
            <a:ext cx="1981200" cy="914400"/>
            <a:chOff x="3209" y="2216"/>
            <a:chExt cx="1248" cy="576"/>
          </a:xfrm>
        </p:grpSpPr>
        <p:sp>
          <p:nvSpPr>
            <p:cNvPr id="52243" name="Rectangle 18"/>
            <p:cNvSpPr>
              <a:spLocks noChangeArrowheads="1"/>
            </p:cNvSpPr>
            <p:nvPr/>
          </p:nvSpPr>
          <p:spPr bwMode="auto">
            <a:xfrm>
              <a:off x="3209" y="2216"/>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2244" name="Line 19"/>
            <p:cNvSpPr>
              <a:spLocks noChangeShapeType="1"/>
            </p:cNvSpPr>
            <p:nvPr/>
          </p:nvSpPr>
          <p:spPr bwMode="auto">
            <a:xfrm>
              <a:off x="3209" y="2600"/>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2245" name="Line 20"/>
            <p:cNvSpPr>
              <a:spLocks noChangeShapeType="1"/>
            </p:cNvSpPr>
            <p:nvPr/>
          </p:nvSpPr>
          <p:spPr bwMode="auto">
            <a:xfrm>
              <a:off x="3209" y="2696"/>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2246" name="Text Box 21"/>
            <p:cNvSpPr txBox="1">
              <a:spLocks noChangeArrowheads="1"/>
            </p:cNvSpPr>
            <p:nvPr/>
          </p:nvSpPr>
          <p:spPr bwMode="auto">
            <a:xfrm>
              <a:off x="3257" y="2264"/>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Estudiante</a:t>
              </a:r>
            </a:p>
          </p:txBody>
        </p:sp>
      </p:grpSp>
      <p:grpSp>
        <p:nvGrpSpPr>
          <p:cNvPr id="52235" name="Group 22"/>
          <p:cNvGrpSpPr>
            <a:grpSpLocks/>
          </p:cNvGrpSpPr>
          <p:nvPr/>
        </p:nvGrpSpPr>
        <p:grpSpPr bwMode="auto">
          <a:xfrm>
            <a:off x="7310438" y="5012727"/>
            <a:ext cx="1981200" cy="914400"/>
            <a:chOff x="1488" y="2208"/>
            <a:chExt cx="1248" cy="576"/>
          </a:xfrm>
        </p:grpSpPr>
        <p:sp>
          <p:nvSpPr>
            <p:cNvPr id="52239" name="Rectangle 23"/>
            <p:cNvSpPr>
              <a:spLocks noChangeArrowheads="1"/>
            </p:cNvSpPr>
            <p:nvPr/>
          </p:nvSpPr>
          <p:spPr bwMode="auto">
            <a:xfrm>
              <a:off x="1488" y="2208"/>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2240" name="Line 24"/>
            <p:cNvSpPr>
              <a:spLocks noChangeShapeType="1"/>
            </p:cNvSpPr>
            <p:nvPr/>
          </p:nvSpPr>
          <p:spPr bwMode="auto">
            <a:xfrm>
              <a:off x="1488" y="2592"/>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2241" name="Line 25"/>
            <p:cNvSpPr>
              <a:spLocks noChangeShapeType="1"/>
            </p:cNvSpPr>
            <p:nvPr/>
          </p:nvSpPr>
          <p:spPr bwMode="auto">
            <a:xfrm>
              <a:off x="1488" y="2688"/>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2242" name="Text Box 26"/>
            <p:cNvSpPr txBox="1">
              <a:spLocks noChangeArrowheads="1"/>
            </p:cNvSpPr>
            <p:nvPr/>
          </p:nvSpPr>
          <p:spPr bwMode="auto">
            <a:xfrm>
              <a:off x="1488" y="2256"/>
              <a:ext cx="12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Curso</a:t>
              </a:r>
            </a:p>
          </p:txBody>
        </p:sp>
      </p:grpSp>
      <p:sp>
        <p:nvSpPr>
          <p:cNvPr id="52236" name="Line 27"/>
          <p:cNvSpPr>
            <a:spLocks noChangeShapeType="1"/>
          </p:cNvSpPr>
          <p:nvPr/>
        </p:nvSpPr>
        <p:spPr bwMode="auto">
          <a:xfrm>
            <a:off x="4198938" y="5469927"/>
            <a:ext cx="31162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2237" name="Text Box 28"/>
          <p:cNvSpPr txBox="1">
            <a:spLocks noChangeArrowheads="1"/>
          </p:cNvSpPr>
          <p:nvPr/>
        </p:nvSpPr>
        <p:spPr bwMode="auto">
          <a:xfrm>
            <a:off x="4275138" y="5611215"/>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3..10</a:t>
            </a:r>
          </a:p>
        </p:txBody>
      </p:sp>
      <p:sp>
        <p:nvSpPr>
          <p:cNvPr id="52238" name="Text Box 29"/>
          <p:cNvSpPr txBox="1">
            <a:spLocks noChangeArrowheads="1"/>
          </p:cNvSpPr>
          <p:nvPr/>
        </p:nvSpPr>
        <p:spPr bwMode="auto">
          <a:xfrm>
            <a:off x="6477000" y="5622327"/>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0..*</a:t>
            </a:r>
          </a:p>
        </p:txBody>
      </p:sp>
    </p:spTree>
    <p:extLst>
      <p:ext uri="{BB962C8B-B14F-4D97-AF65-F5344CB8AC3E}">
        <p14:creationId xmlns:p14="http://schemas.microsoft.com/office/powerpoint/2010/main" val="9972063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a:xfrm>
            <a:off x="1233616" y="958679"/>
            <a:ext cx="7772400" cy="762000"/>
          </a:xfrm>
        </p:spPr>
        <p:txBody>
          <a:bodyPr/>
          <a:lstStyle/>
          <a:p>
            <a:r>
              <a:rPr lang="es-ES_tradnl" dirty="0"/>
              <a:t>Agregación</a:t>
            </a:r>
          </a:p>
        </p:txBody>
      </p:sp>
      <p:sp>
        <p:nvSpPr>
          <p:cNvPr id="53252" name="Rectangle 3"/>
          <p:cNvSpPr>
            <a:spLocks noGrp="1" noChangeArrowheads="1"/>
          </p:cNvSpPr>
          <p:nvPr>
            <p:ph idx="1"/>
          </p:nvPr>
        </p:nvSpPr>
        <p:spPr>
          <a:xfrm>
            <a:off x="1886465" y="1949279"/>
            <a:ext cx="7772400" cy="1676400"/>
          </a:xfrm>
        </p:spPr>
        <p:txBody>
          <a:bodyPr/>
          <a:lstStyle/>
          <a:p>
            <a:pPr marL="7938" indent="-7938" algn="ctr">
              <a:buNone/>
            </a:pPr>
            <a:r>
              <a:rPr lang="es-ES_tradnl" sz="2800" dirty="0"/>
              <a:t>La agregación es una forma particular de asociación, que denota que una parte es componente de la otra (parte-de)</a:t>
            </a:r>
          </a:p>
        </p:txBody>
      </p:sp>
      <p:sp>
        <p:nvSpPr>
          <p:cNvPr id="53250" name="4 Marcador de número de diapositiva"/>
          <p:cNvSpPr>
            <a:spLocks noGrp="1"/>
          </p:cNvSpPr>
          <p:nvPr>
            <p:ph type="sldNum" sz="quarter" idx="12"/>
          </p:nvPr>
        </p:nvSpPr>
        <p:spPr>
          <a:xfrm>
            <a:off x="4648200" y="6248400"/>
            <a:ext cx="2895600" cy="457200"/>
          </a:xfrm>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fld id="{DEA7631B-6155-4A4D-9186-3E800E397D78}" type="slidenum">
              <a:rPr lang="es-ES_tradnl" sz="1400"/>
              <a:pPr algn="ctr"/>
              <a:t>41</a:t>
            </a:fld>
            <a:endParaRPr lang="es-ES_tradnl" sz="1400"/>
          </a:p>
        </p:txBody>
      </p:sp>
      <p:grpSp>
        <p:nvGrpSpPr>
          <p:cNvPr id="53253" name="Group 4"/>
          <p:cNvGrpSpPr>
            <a:grpSpLocks/>
          </p:cNvGrpSpPr>
          <p:nvPr/>
        </p:nvGrpSpPr>
        <p:grpSpPr bwMode="auto">
          <a:xfrm>
            <a:off x="2362200" y="3733800"/>
            <a:ext cx="1981200" cy="914400"/>
            <a:chOff x="1488" y="2208"/>
            <a:chExt cx="1248" cy="576"/>
          </a:xfrm>
        </p:grpSpPr>
        <p:sp>
          <p:nvSpPr>
            <p:cNvPr id="53263" name="Rectangle 5"/>
            <p:cNvSpPr>
              <a:spLocks noChangeArrowheads="1"/>
            </p:cNvSpPr>
            <p:nvPr/>
          </p:nvSpPr>
          <p:spPr bwMode="auto">
            <a:xfrm>
              <a:off x="1488" y="2208"/>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3264" name="Line 6"/>
            <p:cNvSpPr>
              <a:spLocks noChangeShapeType="1"/>
            </p:cNvSpPr>
            <p:nvPr/>
          </p:nvSpPr>
          <p:spPr bwMode="auto">
            <a:xfrm>
              <a:off x="1488" y="2592"/>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3265" name="Line 7"/>
            <p:cNvSpPr>
              <a:spLocks noChangeShapeType="1"/>
            </p:cNvSpPr>
            <p:nvPr/>
          </p:nvSpPr>
          <p:spPr bwMode="auto">
            <a:xfrm>
              <a:off x="1488" y="2688"/>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3266" name="Text Box 8"/>
            <p:cNvSpPr txBox="1">
              <a:spLocks noChangeArrowheads="1"/>
            </p:cNvSpPr>
            <p:nvPr/>
          </p:nvSpPr>
          <p:spPr bwMode="auto">
            <a:xfrm>
              <a:off x="1488" y="2256"/>
              <a:ext cx="12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Curso</a:t>
              </a:r>
            </a:p>
          </p:txBody>
        </p:sp>
      </p:grpSp>
      <p:grpSp>
        <p:nvGrpSpPr>
          <p:cNvPr id="53254" name="Group 9"/>
          <p:cNvGrpSpPr>
            <a:grpSpLocks/>
          </p:cNvGrpSpPr>
          <p:nvPr/>
        </p:nvGrpSpPr>
        <p:grpSpPr bwMode="auto">
          <a:xfrm>
            <a:off x="7497763" y="3733800"/>
            <a:ext cx="1981200" cy="914400"/>
            <a:chOff x="3504" y="2544"/>
            <a:chExt cx="1248" cy="576"/>
          </a:xfrm>
        </p:grpSpPr>
        <p:sp>
          <p:nvSpPr>
            <p:cNvPr id="53259" name="Rectangle 10"/>
            <p:cNvSpPr>
              <a:spLocks noChangeArrowheads="1"/>
            </p:cNvSpPr>
            <p:nvPr/>
          </p:nvSpPr>
          <p:spPr bwMode="auto">
            <a:xfrm>
              <a:off x="3504" y="2544"/>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3260" name="Line 11"/>
            <p:cNvSpPr>
              <a:spLocks noChangeShapeType="1"/>
            </p:cNvSpPr>
            <p:nvPr/>
          </p:nvSpPr>
          <p:spPr bwMode="auto">
            <a:xfrm>
              <a:off x="3504" y="2928"/>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3261" name="Line 12"/>
            <p:cNvSpPr>
              <a:spLocks noChangeShapeType="1"/>
            </p:cNvSpPr>
            <p:nvPr/>
          </p:nvSpPr>
          <p:spPr bwMode="auto">
            <a:xfrm>
              <a:off x="3504" y="3024"/>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3262" name="Text Box 13"/>
            <p:cNvSpPr txBox="1">
              <a:spLocks noChangeArrowheads="1"/>
            </p:cNvSpPr>
            <p:nvPr/>
          </p:nvSpPr>
          <p:spPr bwMode="auto">
            <a:xfrm>
              <a:off x="3504" y="2592"/>
              <a:ext cx="12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Curriculum</a:t>
              </a:r>
            </a:p>
          </p:txBody>
        </p:sp>
      </p:grpSp>
      <p:sp>
        <p:nvSpPr>
          <p:cNvPr id="53255" name="Line 14"/>
          <p:cNvSpPr>
            <a:spLocks noChangeShapeType="1"/>
          </p:cNvSpPr>
          <p:nvPr/>
        </p:nvSpPr>
        <p:spPr bwMode="auto">
          <a:xfrm>
            <a:off x="4343400" y="4191000"/>
            <a:ext cx="2514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3256" name="AutoShape 15"/>
          <p:cNvSpPr>
            <a:spLocks noChangeArrowheads="1"/>
          </p:cNvSpPr>
          <p:nvPr/>
        </p:nvSpPr>
        <p:spPr bwMode="auto">
          <a:xfrm>
            <a:off x="6858000" y="3962400"/>
            <a:ext cx="609600" cy="457200"/>
          </a:xfrm>
          <a:prstGeom prst="diamond">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3257" name="Text Box 16"/>
          <p:cNvSpPr txBox="1">
            <a:spLocks noChangeArrowheads="1"/>
          </p:cNvSpPr>
          <p:nvPr/>
        </p:nvSpPr>
        <p:spPr bwMode="auto">
          <a:xfrm>
            <a:off x="4419600" y="4419600"/>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1..*</a:t>
            </a:r>
          </a:p>
        </p:txBody>
      </p:sp>
      <p:sp>
        <p:nvSpPr>
          <p:cNvPr id="53258" name="Text Box 17"/>
          <p:cNvSpPr txBox="1">
            <a:spLocks noChangeArrowheads="1"/>
          </p:cNvSpPr>
          <p:nvPr/>
        </p:nvSpPr>
        <p:spPr bwMode="auto">
          <a:xfrm>
            <a:off x="6553200" y="44958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1..1</a:t>
            </a:r>
          </a:p>
        </p:txBody>
      </p:sp>
    </p:spTree>
    <p:extLst>
      <p:ext uri="{BB962C8B-B14F-4D97-AF65-F5344CB8AC3E}">
        <p14:creationId xmlns:p14="http://schemas.microsoft.com/office/powerpoint/2010/main" val="37103997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2"/>
          <p:cNvSpPr>
            <a:spLocks noGrp="1" noChangeArrowheads="1"/>
          </p:cNvSpPr>
          <p:nvPr>
            <p:ph type="title"/>
          </p:nvPr>
        </p:nvSpPr>
        <p:spPr>
          <a:xfrm>
            <a:off x="1208903" y="982662"/>
            <a:ext cx="7772400" cy="762000"/>
          </a:xfrm>
        </p:spPr>
        <p:txBody>
          <a:bodyPr/>
          <a:lstStyle/>
          <a:p>
            <a:r>
              <a:rPr lang="es-ES_tradnl" dirty="0"/>
              <a:t>Agregación reflexiva</a:t>
            </a:r>
          </a:p>
        </p:txBody>
      </p:sp>
      <p:sp>
        <p:nvSpPr>
          <p:cNvPr id="54277" name="Rectangle 3"/>
          <p:cNvSpPr>
            <a:spLocks noGrp="1" noChangeArrowheads="1"/>
          </p:cNvSpPr>
          <p:nvPr>
            <p:ph idx="1"/>
          </p:nvPr>
        </p:nvSpPr>
        <p:spPr>
          <a:xfrm>
            <a:off x="1866900" y="1897062"/>
            <a:ext cx="7772400" cy="685800"/>
          </a:xfrm>
        </p:spPr>
        <p:txBody>
          <a:bodyPr/>
          <a:lstStyle/>
          <a:p>
            <a:pPr marL="7938" indent="-7938" algn="ctr">
              <a:buNone/>
            </a:pPr>
            <a:r>
              <a:rPr lang="es-ES_tradnl" dirty="0"/>
              <a:t>Relación de una clase consigo misma</a:t>
            </a:r>
          </a:p>
        </p:txBody>
      </p:sp>
      <p:sp>
        <p:nvSpPr>
          <p:cNvPr id="54275" name="4 Marcador de número de diapositiva"/>
          <p:cNvSpPr>
            <a:spLocks noGrp="1"/>
          </p:cNvSpPr>
          <p:nvPr>
            <p:ph type="sldNum" sz="quarter" idx="12"/>
          </p:nvPr>
        </p:nvSpPr>
        <p:spPr>
          <a:xfrm>
            <a:off x="4648200" y="6248400"/>
            <a:ext cx="2895600" cy="457200"/>
          </a:xfrm>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fld id="{7326C87C-8F03-4E42-A381-90EC6ABABD1A}" type="slidenum">
              <a:rPr lang="es-ES_tradnl" sz="1400"/>
              <a:pPr algn="ctr"/>
              <a:t>42</a:t>
            </a:fld>
            <a:endParaRPr lang="es-ES_tradnl" sz="1400"/>
          </a:p>
        </p:txBody>
      </p:sp>
      <p:grpSp>
        <p:nvGrpSpPr>
          <p:cNvPr id="54278" name="Group 4"/>
          <p:cNvGrpSpPr>
            <a:grpSpLocks/>
          </p:cNvGrpSpPr>
          <p:nvPr/>
        </p:nvGrpSpPr>
        <p:grpSpPr bwMode="auto">
          <a:xfrm>
            <a:off x="4800600" y="2667000"/>
            <a:ext cx="1981200" cy="914400"/>
            <a:chOff x="1488" y="2208"/>
            <a:chExt cx="1248" cy="576"/>
          </a:xfrm>
        </p:grpSpPr>
        <p:sp>
          <p:nvSpPr>
            <p:cNvPr id="54286" name="Rectangle 5"/>
            <p:cNvSpPr>
              <a:spLocks noChangeArrowheads="1"/>
            </p:cNvSpPr>
            <p:nvPr/>
          </p:nvSpPr>
          <p:spPr bwMode="auto">
            <a:xfrm>
              <a:off x="1488" y="2208"/>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4287" name="Line 6"/>
            <p:cNvSpPr>
              <a:spLocks noChangeShapeType="1"/>
            </p:cNvSpPr>
            <p:nvPr/>
          </p:nvSpPr>
          <p:spPr bwMode="auto">
            <a:xfrm>
              <a:off x="1488" y="2592"/>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4288" name="Line 7"/>
            <p:cNvSpPr>
              <a:spLocks noChangeShapeType="1"/>
            </p:cNvSpPr>
            <p:nvPr/>
          </p:nvSpPr>
          <p:spPr bwMode="auto">
            <a:xfrm>
              <a:off x="1488" y="2688"/>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4289" name="Text Box 8"/>
            <p:cNvSpPr txBox="1">
              <a:spLocks noChangeArrowheads="1"/>
            </p:cNvSpPr>
            <p:nvPr/>
          </p:nvSpPr>
          <p:spPr bwMode="auto">
            <a:xfrm>
              <a:off x="1488" y="2256"/>
              <a:ext cx="12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Curso</a:t>
              </a:r>
            </a:p>
          </p:txBody>
        </p:sp>
      </p:grpSp>
      <p:sp>
        <p:nvSpPr>
          <p:cNvPr id="54279" name="Line 9"/>
          <p:cNvSpPr>
            <a:spLocks noChangeShapeType="1"/>
          </p:cNvSpPr>
          <p:nvPr/>
        </p:nvSpPr>
        <p:spPr bwMode="auto">
          <a:xfrm>
            <a:off x="6781800" y="3124200"/>
            <a:ext cx="990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4280" name="Line 10"/>
          <p:cNvSpPr>
            <a:spLocks noChangeShapeType="1"/>
          </p:cNvSpPr>
          <p:nvPr/>
        </p:nvSpPr>
        <p:spPr bwMode="auto">
          <a:xfrm>
            <a:off x="7772400" y="3124200"/>
            <a:ext cx="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4281" name="Line 11"/>
          <p:cNvSpPr>
            <a:spLocks noChangeShapeType="1"/>
          </p:cNvSpPr>
          <p:nvPr/>
        </p:nvSpPr>
        <p:spPr bwMode="auto">
          <a:xfrm flipH="1">
            <a:off x="6172200" y="4267200"/>
            <a:ext cx="1600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4282" name="Line 12"/>
          <p:cNvSpPr>
            <a:spLocks noChangeShapeType="1"/>
          </p:cNvSpPr>
          <p:nvPr/>
        </p:nvSpPr>
        <p:spPr bwMode="auto">
          <a:xfrm flipV="1">
            <a:off x="6172200" y="35814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4283" name="Text Box 13"/>
          <p:cNvSpPr txBox="1">
            <a:spLocks noChangeArrowheads="1"/>
          </p:cNvSpPr>
          <p:nvPr/>
        </p:nvSpPr>
        <p:spPr bwMode="auto">
          <a:xfrm>
            <a:off x="6858000" y="25908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0..*</a:t>
            </a:r>
          </a:p>
        </p:txBody>
      </p:sp>
      <p:sp>
        <p:nvSpPr>
          <p:cNvPr id="54284" name="Text Box 14"/>
          <p:cNvSpPr txBox="1">
            <a:spLocks noChangeArrowheads="1"/>
          </p:cNvSpPr>
          <p:nvPr/>
        </p:nvSpPr>
        <p:spPr bwMode="auto">
          <a:xfrm>
            <a:off x="5359400" y="3589338"/>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0..*</a:t>
            </a:r>
          </a:p>
        </p:txBody>
      </p:sp>
      <p:sp>
        <p:nvSpPr>
          <p:cNvPr id="54285" name="Text Box 15"/>
          <p:cNvSpPr txBox="1">
            <a:spLocks noChangeArrowheads="1"/>
          </p:cNvSpPr>
          <p:nvPr/>
        </p:nvSpPr>
        <p:spPr bwMode="auto">
          <a:xfrm>
            <a:off x="6248400" y="4191000"/>
            <a:ext cx="175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precedencia</a:t>
            </a:r>
          </a:p>
        </p:txBody>
      </p:sp>
    </p:spTree>
    <p:extLst>
      <p:ext uri="{BB962C8B-B14F-4D97-AF65-F5344CB8AC3E}">
        <p14:creationId xmlns:p14="http://schemas.microsoft.com/office/powerpoint/2010/main" val="37073649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a:xfrm>
            <a:off x="1194486" y="982144"/>
            <a:ext cx="7772400" cy="762000"/>
          </a:xfrm>
        </p:spPr>
        <p:txBody>
          <a:bodyPr/>
          <a:lstStyle/>
          <a:p>
            <a:r>
              <a:rPr lang="es-ES_tradnl" dirty="0"/>
              <a:t>Atributo de una asociación</a:t>
            </a:r>
          </a:p>
        </p:txBody>
      </p:sp>
      <p:sp>
        <p:nvSpPr>
          <p:cNvPr id="55300" name="Rectangle 3"/>
          <p:cNvSpPr>
            <a:spLocks noGrp="1" noChangeArrowheads="1"/>
          </p:cNvSpPr>
          <p:nvPr>
            <p:ph idx="1"/>
          </p:nvPr>
        </p:nvSpPr>
        <p:spPr>
          <a:xfrm>
            <a:off x="1882345" y="1903751"/>
            <a:ext cx="9139881" cy="2520950"/>
          </a:xfrm>
        </p:spPr>
        <p:txBody>
          <a:bodyPr>
            <a:normAutofit/>
          </a:bodyPr>
          <a:lstStyle/>
          <a:p>
            <a:pPr marL="7938" indent="-7938"/>
            <a:r>
              <a:rPr lang="es-ES_tradnl" sz="2800" dirty="0"/>
              <a:t> El atributo que califica a una asociación se ubica en una clase y se une al símbolo de asociación</a:t>
            </a:r>
          </a:p>
          <a:p>
            <a:pPr marL="7938" indent="-7938"/>
            <a:r>
              <a:rPr lang="es-ES_tradnl" sz="2800" dirty="0"/>
              <a:t> Esta “clase-atributo” puede tener propiedades especificas</a:t>
            </a:r>
          </a:p>
          <a:p>
            <a:pPr marL="7938" indent="-7938"/>
            <a:r>
              <a:rPr lang="es-ES_tradnl" sz="2800" dirty="0"/>
              <a:t> UML admite un solo atributo por asociación</a:t>
            </a:r>
          </a:p>
        </p:txBody>
      </p:sp>
      <p:sp>
        <p:nvSpPr>
          <p:cNvPr id="55298" name="4 Marcador de número de diapositiva"/>
          <p:cNvSpPr>
            <a:spLocks noGrp="1"/>
          </p:cNvSpPr>
          <p:nvPr>
            <p:ph type="sldNum" sz="quarter" idx="12"/>
          </p:nvPr>
        </p:nvSpPr>
        <p:spPr>
          <a:xfrm>
            <a:off x="4648200" y="6248400"/>
            <a:ext cx="2895600" cy="457200"/>
          </a:xfrm>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fld id="{8144BA12-6C69-4471-A9F4-AA244A179825}" type="slidenum">
              <a:rPr lang="es-ES_tradnl" sz="1400"/>
              <a:pPr algn="ctr"/>
              <a:t>43</a:t>
            </a:fld>
            <a:endParaRPr lang="es-ES_tradnl" sz="1400"/>
          </a:p>
        </p:txBody>
      </p:sp>
      <p:grpSp>
        <p:nvGrpSpPr>
          <p:cNvPr id="55301" name="Group 4"/>
          <p:cNvGrpSpPr>
            <a:grpSpLocks/>
          </p:cNvGrpSpPr>
          <p:nvPr/>
        </p:nvGrpSpPr>
        <p:grpSpPr bwMode="auto">
          <a:xfrm>
            <a:off x="2362200" y="4285911"/>
            <a:ext cx="1981200" cy="914400"/>
            <a:chOff x="3209" y="2216"/>
            <a:chExt cx="1248" cy="576"/>
          </a:xfrm>
        </p:grpSpPr>
        <p:sp>
          <p:nvSpPr>
            <p:cNvPr id="55316" name="Rectangle 5"/>
            <p:cNvSpPr>
              <a:spLocks noChangeArrowheads="1"/>
            </p:cNvSpPr>
            <p:nvPr/>
          </p:nvSpPr>
          <p:spPr bwMode="auto">
            <a:xfrm>
              <a:off x="3209" y="2216"/>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5317" name="Line 6"/>
            <p:cNvSpPr>
              <a:spLocks noChangeShapeType="1"/>
            </p:cNvSpPr>
            <p:nvPr/>
          </p:nvSpPr>
          <p:spPr bwMode="auto">
            <a:xfrm>
              <a:off x="3209" y="2600"/>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5318" name="Line 7"/>
            <p:cNvSpPr>
              <a:spLocks noChangeShapeType="1"/>
            </p:cNvSpPr>
            <p:nvPr/>
          </p:nvSpPr>
          <p:spPr bwMode="auto">
            <a:xfrm>
              <a:off x="3209" y="2696"/>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5319" name="Text Box 8"/>
            <p:cNvSpPr txBox="1">
              <a:spLocks noChangeArrowheads="1"/>
            </p:cNvSpPr>
            <p:nvPr/>
          </p:nvSpPr>
          <p:spPr bwMode="auto">
            <a:xfrm>
              <a:off x="3257" y="2264"/>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Estudiante</a:t>
              </a:r>
            </a:p>
          </p:txBody>
        </p:sp>
      </p:grpSp>
      <p:grpSp>
        <p:nvGrpSpPr>
          <p:cNvPr id="55302" name="Group 9"/>
          <p:cNvGrpSpPr>
            <a:grpSpLocks/>
          </p:cNvGrpSpPr>
          <p:nvPr/>
        </p:nvGrpSpPr>
        <p:grpSpPr bwMode="auto">
          <a:xfrm>
            <a:off x="7524750" y="4279561"/>
            <a:ext cx="1981200" cy="914400"/>
            <a:chOff x="1488" y="2208"/>
            <a:chExt cx="1248" cy="576"/>
          </a:xfrm>
        </p:grpSpPr>
        <p:sp>
          <p:nvSpPr>
            <p:cNvPr id="55312" name="Rectangle 10"/>
            <p:cNvSpPr>
              <a:spLocks noChangeArrowheads="1"/>
            </p:cNvSpPr>
            <p:nvPr/>
          </p:nvSpPr>
          <p:spPr bwMode="auto">
            <a:xfrm>
              <a:off x="1488" y="2208"/>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5313" name="Line 11"/>
            <p:cNvSpPr>
              <a:spLocks noChangeShapeType="1"/>
            </p:cNvSpPr>
            <p:nvPr/>
          </p:nvSpPr>
          <p:spPr bwMode="auto">
            <a:xfrm>
              <a:off x="1488" y="2592"/>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5314" name="Line 12"/>
            <p:cNvSpPr>
              <a:spLocks noChangeShapeType="1"/>
            </p:cNvSpPr>
            <p:nvPr/>
          </p:nvSpPr>
          <p:spPr bwMode="auto">
            <a:xfrm>
              <a:off x="1488" y="2688"/>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5315" name="Text Box 13"/>
            <p:cNvSpPr txBox="1">
              <a:spLocks noChangeArrowheads="1"/>
            </p:cNvSpPr>
            <p:nvPr/>
          </p:nvSpPr>
          <p:spPr bwMode="auto">
            <a:xfrm>
              <a:off x="1488" y="2256"/>
              <a:ext cx="12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Curso</a:t>
              </a:r>
            </a:p>
          </p:txBody>
        </p:sp>
      </p:grpSp>
      <p:sp>
        <p:nvSpPr>
          <p:cNvPr id="55303" name="Line 14"/>
          <p:cNvSpPr>
            <a:spLocks noChangeShapeType="1"/>
          </p:cNvSpPr>
          <p:nvPr/>
        </p:nvSpPr>
        <p:spPr bwMode="auto">
          <a:xfrm>
            <a:off x="4413251" y="4736761"/>
            <a:ext cx="31162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5304" name="Text Box 15"/>
          <p:cNvSpPr txBox="1">
            <a:spLocks noChangeArrowheads="1"/>
          </p:cNvSpPr>
          <p:nvPr/>
        </p:nvSpPr>
        <p:spPr bwMode="auto">
          <a:xfrm>
            <a:off x="4489450" y="4878049"/>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3..10</a:t>
            </a:r>
          </a:p>
        </p:txBody>
      </p:sp>
      <p:sp>
        <p:nvSpPr>
          <p:cNvPr id="55305" name="Text Box 16"/>
          <p:cNvSpPr txBox="1">
            <a:spLocks noChangeArrowheads="1"/>
          </p:cNvSpPr>
          <p:nvPr/>
        </p:nvSpPr>
        <p:spPr bwMode="auto">
          <a:xfrm>
            <a:off x="6691313" y="4889161"/>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0..*</a:t>
            </a:r>
          </a:p>
        </p:txBody>
      </p:sp>
      <p:grpSp>
        <p:nvGrpSpPr>
          <p:cNvPr id="55306" name="Group 17"/>
          <p:cNvGrpSpPr>
            <a:grpSpLocks/>
          </p:cNvGrpSpPr>
          <p:nvPr/>
        </p:nvGrpSpPr>
        <p:grpSpPr bwMode="auto">
          <a:xfrm>
            <a:off x="5181600" y="5574961"/>
            <a:ext cx="1752600" cy="685800"/>
            <a:chOff x="3504" y="2544"/>
            <a:chExt cx="1248" cy="576"/>
          </a:xfrm>
        </p:grpSpPr>
        <p:sp>
          <p:nvSpPr>
            <p:cNvPr id="55308" name="Rectangle 18"/>
            <p:cNvSpPr>
              <a:spLocks noChangeArrowheads="1"/>
            </p:cNvSpPr>
            <p:nvPr/>
          </p:nvSpPr>
          <p:spPr bwMode="auto">
            <a:xfrm>
              <a:off x="3504" y="2544"/>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5309" name="Line 19"/>
            <p:cNvSpPr>
              <a:spLocks noChangeShapeType="1"/>
            </p:cNvSpPr>
            <p:nvPr/>
          </p:nvSpPr>
          <p:spPr bwMode="auto">
            <a:xfrm>
              <a:off x="3504" y="2928"/>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5310" name="Line 20"/>
            <p:cNvSpPr>
              <a:spLocks noChangeShapeType="1"/>
            </p:cNvSpPr>
            <p:nvPr/>
          </p:nvSpPr>
          <p:spPr bwMode="auto">
            <a:xfrm>
              <a:off x="3504" y="3024"/>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5311" name="Text Box 21"/>
            <p:cNvSpPr txBox="1">
              <a:spLocks noChangeArrowheads="1"/>
            </p:cNvSpPr>
            <p:nvPr/>
          </p:nvSpPr>
          <p:spPr bwMode="auto">
            <a:xfrm>
              <a:off x="3504" y="2592"/>
              <a:ext cx="1201"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Programa</a:t>
              </a:r>
            </a:p>
          </p:txBody>
        </p:sp>
      </p:grpSp>
      <p:sp>
        <p:nvSpPr>
          <p:cNvPr id="55307" name="Line 22"/>
          <p:cNvSpPr>
            <a:spLocks noChangeShapeType="1"/>
          </p:cNvSpPr>
          <p:nvPr/>
        </p:nvSpPr>
        <p:spPr bwMode="auto">
          <a:xfrm>
            <a:off x="6096000" y="4736761"/>
            <a:ext cx="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Tree>
    <p:extLst>
      <p:ext uri="{BB962C8B-B14F-4D97-AF65-F5344CB8AC3E}">
        <p14:creationId xmlns:p14="http://schemas.microsoft.com/office/powerpoint/2010/main" val="14160438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lstStyle/>
          <a:p>
            <a:r>
              <a:rPr lang="es-ES_tradnl" dirty="0"/>
              <a:t>Atributo calificador</a:t>
            </a:r>
          </a:p>
        </p:txBody>
      </p:sp>
      <p:sp>
        <p:nvSpPr>
          <p:cNvPr id="56322" name="4 Marcador de número de diapositiva"/>
          <p:cNvSpPr>
            <a:spLocks noGrp="1"/>
          </p:cNvSpPr>
          <p:nvPr>
            <p:ph type="sldNum" sz="quarter" idx="12"/>
          </p:nvPr>
        </p:nvSpPr>
        <p:spPr>
          <a:xfrm>
            <a:off x="4648200" y="6248400"/>
            <a:ext cx="2895600" cy="457200"/>
          </a:xfrm>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fld id="{320DE197-11DF-46AC-941F-62E6A89F0F8D}" type="slidenum">
              <a:rPr lang="es-ES_tradnl" sz="1400"/>
              <a:pPr algn="ctr"/>
              <a:t>44</a:t>
            </a:fld>
            <a:endParaRPr lang="es-ES_tradnl" sz="1400"/>
          </a:p>
        </p:txBody>
      </p:sp>
      <p:grpSp>
        <p:nvGrpSpPr>
          <p:cNvPr id="56324" name="Group 3"/>
          <p:cNvGrpSpPr>
            <a:grpSpLocks/>
          </p:cNvGrpSpPr>
          <p:nvPr/>
        </p:nvGrpSpPr>
        <p:grpSpPr bwMode="auto">
          <a:xfrm>
            <a:off x="2209800" y="2438400"/>
            <a:ext cx="2127250" cy="914400"/>
            <a:chOff x="3209" y="2216"/>
            <a:chExt cx="1248" cy="576"/>
          </a:xfrm>
        </p:grpSpPr>
        <p:sp>
          <p:nvSpPr>
            <p:cNvPr id="56333" name="Rectangle 4"/>
            <p:cNvSpPr>
              <a:spLocks noChangeArrowheads="1"/>
            </p:cNvSpPr>
            <p:nvPr/>
          </p:nvSpPr>
          <p:spPr bwMode="auto">
            <a:xfrm>
              <a:off x="3209" y="2216"/>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6334" name="Line 5"/>
            <p:cNvSpPr>
              <a:spLocks noChangeShapeType="1"/>
            </p:cNvSpPr>
            <p:nvPr/>
          </p:nvSpPr>
          <p:spPr bwMode="auto">
            <a:xfrm>
              <a:off x="3209" y="2600"/>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6335" name="Line 6"/>
            <p:cNvSpPr>
              <a:spLocks noChangeShapeType="1"/>
            </p:cNvSpPr>
            <p:nvPr/>
          </p:nvSpPr>
          <p:spPr bwMode="auto">
            <a:xfrm>
              <a:off x="3209" y="2696"/>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6336" name="Text Box 7"/>
            <p:cNvSpPr txBox="1">
              <a:spLocks noChangeArrowheads="1"/>
            </p:cNvSpPr>
            <p:nvPr/>
          </p:nvSpPr>
          <p:spPr bwMode="auto">
            <a:xfrm>
              <a:off x="3257" y="2264"/>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Departamento</a:t>
              </a:r>
            </a:p>
          </p:txBody>
        </p:sp>
      </p:grpSp>
      <p:grpSp>
        <p:nvGrpSpPr>
          <p:cNvPr id="56325" name="Group 8"/>
          <p:cNvGrpSpPr>
            <a:grpSpLocks/>
          </p:cNvGrpSpPr>
          <p:nvPr/>
        </p:nvGrpSpPr>
        <p:grpSpPr bwMode="auto">
          <a:xfrm>
            <a:off x="7531100" y="2438400"/>
            <a:ext cx="1981200" cy="914400"/>
            <a:chOff x="1488" y="2208"/>
            <a:chExt cx="1248" cy="576"/>
          </a:xfrm>
        </p:grpSpPr>
        <p:sp>
          <p:nvSpPr>
            <p:cNvPr id="56329" name="Rectangle 9"/>
            <p:cNvSpPr>
              <a:spLocks noChangeArrowheads="1"/>
            </p:cNvSpPr>
            <p:nvPr/>
          </p:nvSpPr>
          <p:spPr bwMode="auto">
            <a:xfrm>
              <a:off x="1488" y="2208"/>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6330" name="Line 10"/>
            <p:cNvSpPr>
              <a:spLocks noChangeShapeType="1"/>
            </p:cNvSpPr>
            <p:nvPr/>
          </p:nvSpPr>
          <p:spPr bwMode="auto">
            <a:xfrm>
              <a:off x="1488" y="2592"/>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6331" name="Line 11"/>
            <p:cNvSpPr>
              <a:spLocks noChangeShapeType="1"/>
            </p:cNvSpPr>
            <p:nvPr/>
          </p:nvSpPr>
          <p:spPr bwMode="auto">
            <a:xfrm>
              <a:off x="1488" y="2688"/>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6332" name="Text Box 12"/>
            <p:cNvSpPr txBox="1">
              <a:spLocks noChangeArrowheads="1"/>
            </p:cNvSpPr>
            <p:nvPr/>
          </p:nvSpPr>
          <p:spPr bwMode="auto">
            <a:xfrm>
              <a:off x="1488" y="2256"/>
              <a:ext cx="12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Profesor</a:t>
              </a:r>
            </a:p>
          </p:txBody>
        </p:sp>
      </p:grpSp>
      <p:sp>
        <p:nvSpPr>
          <p:cNvPr id="56326" name="Line 13"/>
          <p:cNvSpPr>
            <a:spLocks noChangeShapeType="1"/>
          </p:cNvSpPr>
          <p:nvPr/>
        </p:nvSpPr>
        <p:spPr bwMode="auto">
          <a:xfrm>
            <a:off x="4419601" y="2895600"/>
            <a:ext cx="31162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6327" name="Rectangle 14"/>
          <p:cNvSpPr>
            <a:spLocks noChangeArrowheads="1"/>
          </p:cNvSpPr>
          <p:nvPr/>
        </p:nvSpPr>
        <p:spPr bwMode="auto">
          <a:xfrm>
            <a:off x="4343400" y="2667000"/>
            <a:ext cx="685800" cy="457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6328" name="Text Box 15"/>
          <p:cNvSpPr txBox="1">
            <a:spLocks noChangeArrowheads="1"/>
          </p:cNvSpPr>
          <p:nvPr/>
        </p:nvSpPr>
        <p:spPr bwMode="auto">
          <a:xfrm>
            <a:off x="2971800" y="3886201"/>
            <a:ext cx="64008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spcBef>
                <a:spcPct val="50000"/>
              </a:spcBef>
            </a:pPr>
            <a:r>
              <a:rPr lang="es-ES_tradnl" dirty="0"/>
              <a:t>Dado un Departamento y un numero de expediente existe uno y solo un profesor asociado al Departamento</a:t>
            </a:r>
          </a:p>
        </p:txBody>
      </p:sp>
    </p:spTree>
    <p:extLst>
      <p:ext uri="{BB962C8B-B14F-4D97-AF65-F5344CB8AC3E}">
        <p14:creationId xmlns:p14="http://schemas.microsoft.com/office/powerpoint/2010/main" val="37704175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1219200" y="1175947"/>
            <a:ext cx="7772400" cy="533400"/>
          </a:xfrm>
        </p:spPr>
        <p:txBody>
          <a:bodyPr>
            <a:normAutofit fontScale="90000"/>
          </a:bodyPr>
          <a:lstStyle/>
          <a:p>
            <a:r>
              <a:rPr lang="es-ES_tradnl" dirty="0">
                <a:solidFill>
                  <a:schemeClr val="tx1"/>
                </a:solidFill>
              </a:rPr>
              <a:t>Ejemplo</a:t>
            </a:r>
          </a:p>
        </p:txBody>
      </p:sp>
      <p:grpSp>
        <p:nvGrpSpPr>
          <p:cNvPr id="57347" name="Group 3"/>
          <p:cNvGrpSpPr>
            <a:grpSpLocks/>
          </p:cNvGrpSpPr>
          <p:nvPr/>
        </p:nvGrpSpPr>
        <p:grpSpPr bwMode="auto">
          <a:xfrm>
            <a:off x="2960688" y="2176852"/>
            <a:ext cx="1992312" cy="914400"/>
            <a:chOff x="857" y="1344"/>
            <a:chExt cx="1255" cy="576"/>
          </a:xfrm>
        </p:grpSpPr>
        <p:sp>
          <p:nvSpPr>
            <p:cNvPr id="57384" name="Rectangle 4"/>
            <p:cNvSpPr>
              <a:spLocks noChangeArrowheads="1"/>
            </p:cNvSpPr>
            <p:nvPr/>
          </p:nvSpPr>
          <p:spPr bwMode="auto">
            <a:xfrm>
              <a:off x="864" y="1344"/>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85" name="Line 5"/>
            <p:cNvSpPr>
              <a:spLocks noChangeShapeType="1"/>
            </p:cNvSpPr>
            <p:nvPr/>
          </p:nvSpPr>
          <p:spPr bwMode="auto">
            <a:xfrm>
              <a:off x="857" y="1776"/>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86" name="Line 6"/>
            <p:cNvSpPr>
              <a:spLocks noChangeShapeType="1"/>
            </p:cNvSpPr>
            <p:nvPr/>
          </p:nvSpPr>
          <p:spPr bwMode="auto">
            <a:xfrm>
              <a:off x="864" y="1872"/>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87" name="Text Box 7"/>
            <p:cNvSpPr txBox="1">
              <a:spLocks noChangeArrowheads="1"/>
            </p:cNvSpPr>
            <p:nvPr/>
          </p:nvSpPr>
          <p:spPr bwMode="auto">
            <a:xfrm>
              <a:off x="864" y="1440"/>
              <a:ext cx="12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sz="2000"/>
                <a:t>Catalogo Cursos</a:t>
              </a:r>
              <a:endParaRPr lang="es-ES_tradnl"/>
            </a:p>
          </p:txBody>
        </p:sp>
      </p:grpSp>
      <p:grpSp>
        <p:nvGrpSpPr>
          <p:cNvPr id="57348" name="Group 8"/>
          <p:cNvGrpSpPr>
            <a:grpSpLocks/>
          </p:cNvGrpSpPr>
          <p:nvPr/>
        </p:nvGrpSpPr>
        <p:grpSpPr bwMode="auto">
          <a:xfrm>
            <a:off x="3810000" y="3548452"/>
            <a:ext cx="1981200" cy="914400"/>
            <a:chOff x="1488" y="2208"/>
            <a:chExt cx="1248" cy="576"/>
          </a:xfrm>
        </p:grpSpPr>
        <p:sp>
          <p:nvSpPr>
            <p:cNvPr id="57380" name="Rectangle 9"/>
            <p:cNvSpPr>
              <a:spLocks noChangeArrowheads="1"/>
            </p:cNvSpPr>
            <p:nvPr/>
          </p:nvSpPr>
          <p:spPr bwMode="auto">
            <a:xfrm>
              <a:off x="1488" y="2208"/>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81" name="Line 10"/>
            <p:cNvSpPr>
              <a:spLocks noChangeShapeType="1"/>
            </p:cNvSpPr>
            <p:nvPr/>
          </p:nvSpPr>
          <p:spPr bwMode="auto">
            <a:xfrm>
              <a:off x="1488" y="2592"/>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82" name="Line 11"/>
            <p:cNvSpPr>
              <a:spLocks noChangeShapeType="1"/>
            </p:cNvSpPr>
            <p:nvPr/>
          </p:nvSpPr>
          <p:spPr bwMode="auto">
            <a:xfrm>
              <a:off x="1488" y="2688"/>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83" name="Text Box 12"/>
            <p:cNvSpPr txBox="1">
              <a:spLocks noChangeArrowheads="1"/>
            </p:cNvSpPr>
            <p:nvPr/>
          </p:nvSpPr>
          <p:spPr bwMode="auto">
            <a:xfrm>
              <a:off x="1488" y="2256"/>
              <a:ext cx="12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Curso</a:t>
              </a:r>
            </a:p>
          </p:txBody>
        </p:sp>
      </p:grpSp>
      <p:grpSp>
        <p:nvGrpSpPr>
          <p:cNvPr id="57349" name="Group 13"/>
          <p:cNvGrpSpPr>
            <a:grpSpLocks/>
          </p:cNvGrpSpPr>
          <p:nvPr/>
        </p:nvGrpSpPr>
        <p:grpSpPr bwMode="auto">
          <a:xfrm>
            <a:off x="7086600" y="3548452"/>
            <a:ext cx="1981200" cy="914400"/>
            <a:chOff x="3209" y="2216"/>
            <a:chExt cx="1248" cy="576"/>
          </a:xfrm>
        </p:grpSpPr>
        <p:sp>
          <p:nvSpPr>
            <p:cNvPr id="57376" name="Rectangle 14"/>
            <p:cNvSpPr>
              <a:spLocks noChangeArrowheads="1"/>
            </p:cNvSpPr>
            <p:nvPr/>
          </p:nvSpPr>
          <p:spPr bwMode="auto">
            <a:xfrm>
              <a:off x="3209" y="2216"/>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77" name="Line 15"/>
            <p:cNvSpPr>
              <a:spLocks noChangeShapeType="1"/>
            </p:cNvSpPr>
            <p:nvPr/>
          </p:nvSpPr>
          <p:spPr bwMode="auto">
            <a:xfrm>
              <a:off x="3209" y="2600"/>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78" name="Line 16"/>
            <p:cNvSpPr>
              <a:spLocks noChangeShapeType="1"/>
            </p:cNvSpPr>
            <p:nvPr/>
          </p:nvSpPr>
          <p:spPr bwMode="auto">
            <a:xfrm>
              <a:off x="3209" y="2696"/>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79" name="Text Box 17"/>
            <p:cNvSpPr txBox="1">
              <a:spLocks noChangeArrowheads="1"/>
            </p:cNvSpPr>
            <p:nvPr/>
          </p:nvSpPr>
          <p:spPr bwMode="auto">
            <a:xfrm>
              <a:off x="3257" y="2264"/>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Estudiante</a:t>
              </a:r>
            </a:p>
          </p:txBody>
        </p:sp>
      </p:grpSp>
      <p:grpSp>
        <p:nvGrpSpPr>
          <p:cNvPr id="57350" name="Group 18"/>
          <p:cNvGrpSpPr>
            <a:grpSpLocks/>
          </p:cNvGrpSpPr>
          <p:nvPr/>
        </p:nvGrpSpPr>
        <p:grpSpPr bwMode="auto">
          <a:xfrm>
            <a:off x="2209800" y="5072452"/>
            <a:ext cx="1981200" cy="914400"/>
            <a:chOff x="384" y="3168"/>
            <a:chExt cx="1248" cy="576"/>
          </a:xfrm>
        </p:grpSpPr>
        <p:sp>
          <p:nvSpPr>
            <p:cNvPr id="57372" name="Rectangle 19"/>
            <p:cNvSpPr>
              <a:spLocks noChangeArrowheads="1"/>
            </p:cNvSpPr>
            <p:nvPr/>
          </p:nvSpPr>
          <p:spPr bwMode="auto">
            <a:xfrm>
              <a:off x="384" y="3168"/>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73" name="Line 20"/>
            <p:cNvSpPr>
              <a:spLocks noChangeShapeType="1"/>
            </p:cNvSpPr>
            <p:nvPr/>
          </p:nvSpPr>
          <p:spPr bwMode="auto">
            <a:xfrm>
              <a:off x="384" y="3552"/>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74" name="Line 21"/>
            <p:cNvSpPr>
              <a:spLocks noChangeShapeType="1"/>
            </p:cNvSpPr>
            <p:nvPr/>
          </p:nvSpPr>
          <p:spPr bwMode="auto">
            <a:xfrm>
              <a:off x="384" y="3648"/>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75" name="Text Box 22"/>
            <p:cNvSpPr txBox="1">
              <a:spLocks noChangeArrowheads="1"/>
            </p:cNvSpPr>
            <p:nvPr/>
          </p:nvSpPr>
          <p:spPr bwMode="auto">
            <a:xfrm>
              <a:off x="384" y="3216"/>
              <a:ext cx="12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Matricula</a:t>
              </a:r>
            </a:p>
          </p:txBody>
        </p:sp>
      </p:grpSp>
      <p:grpSp>
        <p:nvGrpSpPr>
          <p:cNvPr id="57351" name="Group 23"/>
          <p:cNvGrpSpPr>
            <a:grpSpLocks/>
          </p:cNvGrpSpPr>
          <p:nvPr/>
        </p:nvGrpSpPr>
        <p:grpSpPr bwMode="auto">
          <a:xfrm>
            <a:off x="8153400" y="4996252"/>
            <a:ext cx="1981200" cy="914400"/>
            <a:chOff x="4128" y="3120"/>
            <a:chExt cx="1248" cy="576"/>
          </a:xfrm>
        </p:grpSpPr>
        <p:sp>
          <p:nvSpPr>
            <p:cNvPr id="57368" name="Rectangle 24"/>
            <p:cNvSpPr>
              <a:spLocks noChangeArrowheads="1"/>
            </p:cNvSpPr>
            <p:nvPr/>
          </p:nvSpPr>
          <p:spPr bwMode="auto">
            <a:xfrm>
              <a:off x="4128" y="3120"/>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69" name="Line 25"/>
            <p:cNvSpPr>
              <a:spLocks noChangeShapeType="1"/>
            </p:cNvSpPr>
            <p:nvPr/>
          </p:nvSpPr>
          <p:spPr bwMode="auto">
            <a:xfrm>
              <a:off x="4128" y="3552"/>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70" name="Line 26"/>
            <p:cNvSpPr>
              <a:spLocks noChangeShapeType="1"/>
            </p:cNvSpPr>
            <p:nvPr/>
          </p:nvSpPr>
          <p:spPr bwMode="auto">
            <a:xfrm>
              <a:off x="4128" y="3648"/>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71" name="Text Box 27"/>
            <p:cNvSpPr txBox="1">
              <a:spLocks noChangeArrowheads="1"/>
            </p:cNvSpPr>
            <p:nvPr/>
          </p:nvSpPr>
          <p:spPr bwMode="auto">
            <a:xfrm>
              <a:off x="4176" y="3168"/>
              <a:ext cx="11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Profesor</a:t>
              </a:r>
            </a:p>
          </p:txBody>
        </p:sp>
      </p:grpSp>
      <p:grpSp>
        <p:nvGrpSpPr>
          <p:cNvPr id="57352" name="Group 28"/>
          <p:cNvGrpSpPr>
            <a:grpSpLocks/>
          </p:cNvGrpSpPr>
          <p:nvPr/>
        </p:nvGrpSpPr>
        <p:grpSpPr bwMode="auto">
          <a:xfrm>
            <a:off x="7467601" y="2100652"/>
            <a:ext cx="1992313" cy="914400"/>
            <a:chOff x="3449" y="1344"/>
            <a:chExt cx="1255" cy="576"/>
          </a:xfrm>
        </p:grpSpPr>
        <p:sp>
          <p:nvSpPr>
            <p:cNvPr id="57364" name="Rectangle 29"/>
            <p:cNvSpPr>
              <a:spLocks noChangeArrowheads="1"/>
            </p:cNvSpPr>
            <p:nvPr/>
          </p:nvSpPr>
          <p:spPr bwMode="auto">
            <a:xfrm>
              <a:off x="3456" y="1344"/>
              <a:ext cx="1248" cy="57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65" name="Line 30"/>
            <p:cNvSpPr>
              <a:spLocks noChangeShapeType="1"/>
            </p:cNvSpPr>
            <p:nvPr/>
          </p:nvSpPr>
          <p:spPr bwMode="auto">
            <a:xfrm>
              <a:off x="3449" y="1776"/>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66" name="Line 31"/>
            <p:cNvSpPr>
              <a:spLocks noChangeShapeType="1"/>
            </p:cNvSpPr>
            <p:nvPr/>
          </p:nvSpPr>
          <p:spPr bwMode="auto">
            <a:xfrm>
              <a:off x="3456" y="1872"/>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67" name="Text Box 32"/>
            <p:cNvSpPr txBox="1">
              <a:spLocks noChangeArrowheads="1"/>
            </p:cNvSpPr>
            <p:nvPr/>
          </p:nvSpPr>
          <p:spPr bwMode="auto">
            <a:xfrm>
              <a:off x="3456" y="1440"/>
              <a:ext cx="12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sz="2000"/>
                <a:t>Expediente Est.</a:t>
              </a:r>
              <a:endParaRPr lang="es-ES_tradnl"/>
            </a:p>
          </p:txBody>
        </p:sp>
      </p:grpSp>
      <p:sp>
        <p:nvSpPr>
          <p:cNvPr id="57353" name="Line 33"/>
          <p:cNvSpPr>
            <a:spLocks noChangeShapeType="1"/>
          </p:cNvSpPr>
          <p:nvPr/>
        </p:nvSpPr>
        <p:spPr bwMode="auto">
          <a:xfrm flipH="1">
            <a:off x="7924800" y="3015052"/>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54" name="Text Box 34"/>
          <p:cNvSpPr txBox="1">
            <a:spLocks noChangeArrowheads="1"/>
          </p:cNvSpPr>
          <p:nvPr/>
        </p:nvSpPr>
        <p:spPr bwMode="auto">
          <a:xfrm>
            <a:off x="8229600" y="3091252"/>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1..1</a:t>
            </a:r>
          </a:p>
        </p:txBody>
      </p:sp>
      <p:sp>
        <p:nvSpPr>
          <p:cNvPr id="57355" name="Line 35"/>
          <p:cNvSpPr>
            <a:spLocks noChangeShapeType="1"/>
          </p:cNvSpPr>
          <p:nvPr/>
        </p:nvSpPr>
        <p:spPr bwMode="auto">
          <a:xfrm>
            <a:off x="5791200" y="3929452"/>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56" name="Line 36"/>
          <p:cNvSpPr>
            <a:spLocks noChangeShapeType="1"/>
          </p:cNvSpPr>
          <p:nvPr/>
        </p:nvSpPr>
        <p:spPr bwMode="auto">
          <a:xfrm>
            <a:off x="5791200" y="4234252"/>
            <a:ext cx="304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57" name="Line 37"/>
          <p:cNvSpPr>
            <a:spLocks noChangeShapeType="1"/>
          </p:cNvSpPr>
          <p:nvPr/>
        </p:nvSpPr>
        <p:spPr bwMode="auto">
          <a:xfrm>
            <a:off x="6096000" y="4234252"/>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58" name="Line 38"/>
          <p:cNvSpPr>
            <a:spLocks noChangeShapeType="1"/>
          </p:cNvSpPr>
          <p:nvPr/>
        </p:nvSpPr>
        <p:spPr bwMode="auto">
          <a:xfrm flipH="1">
            <a:off x="5257800" y="4691452"/>
            <a:ext cx="838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59" name="Line 39"/>
          <p:cNvSpPr>
            <a:spLocks noChangeShapeType="1"/>
          </p:cNvSpPr>
          <p:nvPr/>
        </p:nvSpPr>
        <p:spPr bwMode="auto">
          <a:xfrm flipV="1">
            <a:off x="5257800" y="4462852"/>
            <a:ext cx="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60" name="Line 40"/>
          <p:cNvSpPr>
            <a:spLocks noChangeShapeType="1"/>
          </p:cNvSpPr>
          <p:nvPr/>
        </p:nvSpPr>
        <p:spPr bwMode="auto">
          <a:xfrm flipH="1">
            <a:off x="3581400" y="4462852"/>
            <a:ext cx="609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61" name="Line 41"/>
          <p:cNvSpPr>
            <a:spLocks noChangeShapeType="1"/>
          </p:cNvSpPr>
          <p:nvPr/>
        </p:nvSpPr>
        <p:spPr bwMode="auto">
          <a:xfrm flipH="1" flipV="1">
            <a:off x="4038600" y="3091252"/>
            <a:ext cx="8382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62" name="Line 42"/>
          <p:cNvSpPr>
            <a:spLocks noChangeShapeType="1"/>
          </p:cNvSpPr>
          <p:nvPr/>
        </p:nvSpPr>
        <p:spPr bwMode="auto">
          <a:xfrm>
            <a:off x="4876800" y="4462852"/>
            <a:ext cx="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7363" name="Line 43"/>
          <p:cNvSpPr>
            <a:spLocks noChangeShapeType="1"/>
          </p:cNvSpPr>
          <p:nvPr/>
        </p:nvSpPr>
        <p:spPr bwMode="auto">
          <a:xfrm>
            <a:off x="4876800" y="5605852"/>
            <a:ext cx="3276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2" name="Flecha: hacia la izquierda 1">
            <a:hlinkClick r:id="rId3" action="ppaction://hlinksldjump"/>
            <a:extLst>
              <a:ext uri="{FF2B5EF4-FFF2-40B4-BE49-F238E27FC236}">
                <a16:creationId xmlns:a16="http://schemas.microsoft.com/office/drawing/2014/main" id="{B97A8C55-6B4E-ED2F-F745-62500D3506E8}"/>
              </a:ext>
            </a:extLst>
          </p:cNvPr>
          <p:cNvSpPr/>
          <p:nvPr/>
        </p:nvSpPr>
        <p:spPr>
          <a:xfrm>
            <a:off x="10626811" y="5834452"/>
            <a:ext cx="1186248" cy="442779"/>
          </a:xfrm>
          <a:prstGeom prst="leftArrow">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29836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p:cNvSpPr>
            <a:spLocks noGrp="1" noChangeArrowheads="1"/>
          </p:cNvSpPr>
          <p:nvPr>
            <p:ph type="title"/>
          </p:nvPr>
        </p:nvSpPr>
        <p:spPr>
          <a:xfrm>
            <a:off x="1184189" y="1161628"/>
            <a:ext cx="7772400" cy="609600"/>
          </a:xfrm>
        </p:spPr>
        <p:txBody>
          <a:bodyPr>
            <a:normAutofit fontScale="90000"/>
          </a:bodyPr>
          <a:lstStyle/>
          <a:p>
            <a:r>
              <a:rPr lang="es-ES_tradnl" dirty="0"/>
              <a:t>Diagramas de casos de uso </a:t>
            </a:r>
          </a:p>
        </p:txBody>
      </p:sp>
      <p:sp>
        <p:nvSpPr>
          <p:cNvPr id="6147" name="Rectangle 3"/>
          <p:cNvSpPr>
            <a:spLocks noGrp="1" noChangeArrowheads="1"/>
          </p:cNvSpPr>
          <p:nvPr>
            <p:ph idx="1"/>
          </p:nvPr>
        </p:nvSpPr>
        <p:spPr>
          <a:xfrm>
            <a:off x="1066800" y="2179825"/>
            <a:ext cx="10058400" cy="4023360"/>
          </a:xfrm>
        </p:spPr>
        <p:txBody>
          <a:bodyPr>
            <a:normAutofit/>
          </a:bodyPr>
          <a:lstStyle/>
          <a:p>
            <a:pPr marL="563562" indent="-514350">
              <a:buFont typeface="Wingdings" panose="05000000000000000000" pitchFamily="2" charset="2"/>
              <a:buChar char="Ø"/>
              <a:defRPr/>
            </a:pPr>
            <a:r>
              <a:rPr lang="es-ES_tradnl" sz="2600" dirty="0"/>
              <a:t>Se aborda en la fase de Concepción</a:t>
            </a:r>
          </a:p>
          <a:p>
            <a:pPr marL="563562" indent="-514350">
              <a:buFont typeface="Wingdings" panose="05000000000000000000" pitchFamily="2" charset="2"/>
              <a:buChar char="Ø"/>
              <a:defRPr/>
            </a:pPr>
            <a:r>
              <a:rPr lang="es-ES_tradnl" sz="2600" dirty="0"/>
              <a:t> Definen  el comportamiento del sistema, viéndolo como una caja negra, ante estímulos externos</a:t>
            </a:r>
          </a:p>
          <a:p>
            <a:pPr marL="563562" indent="-514350">
              <a:buFont typeface="Wingdings" panose="05000000000000000000" pitchFamily="2" charset="2"/>
              <a:buChar char="Ø"/>
              <a:defRPr/>
            </a:pPr>
            <a:r>
              <a:rPr lang="es-ES_tradnl" sz="2600" dirty="0"/>
              <a:t> Describir la relación Sistema-Ambiente</a:t>
            </a:r>
          </a:p>
        </p:txBody>
      </p:sp>
      <p:sp>
        <p:nvSpPr>
          <p:cNvPr id="37891" name="4 Marcador de número de diapositiva"/>
          <p:cNvSpPr>
            <a:spLocks noGrp="1"/>
          </p:cNvSpPr>
          <p:nvPr>
            <p:ph type="sldNum" sz="quarter" idx="12"/>
          </p:nvPr>
        </p:nvSpPr>
        <p:spPr>
          <a:xfrm>
            <a:off x="4648200" y="6248400"/>
            <a:ext cx="2895600" cy="457200"/>
          </a:xfrm>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fld id="{BA58FD72-0622-4260-B584-620A32A3E3CC}" type="slidenum">
              <a:rPr lang="es-ES_tradnl" sz="1400"/>
              <a:pPr algn="ctr"/>
              <a:t>46</a:t>
            </a:fld>
            <a:endParaRPr lang="es-ES_tradnl" sz="14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219200" y="1127554"/>
            <a:ext cx="7772400" cy="609600"/>
          </a:xfrm>
        </p:spPr>
        <p:txBody>
          <a:bodyPr>
            <a:normAutofit fontScale="90000"/>
          </a:bodyPr>
          <a:lstStyle/>
          <a:p>
            <a:r>
              <a:rPr lang="es-ES_tradnl" dirty="0"/>
              <a:t>Elementos que lo componen</a:t>
            </a:r>
          </a:p>
        </p:txBody>
      </p:sp>
      <p:sp>
        <p:nvSpPr>
          <p:cNvPr id="38915" name="Rectangle 3"/>
          <p:cNvSpPr>
            <a:spLocks noGrp="1" noChangeArrowheads="1"/>
          </p:cNvSpPr>
          <p:nvPr>
            <p:ph idx="1"/>
          </p:nvPr>
        </p:nvSpPr>
        <p:spPr>
          <a:xfrm>
            <a:off x="2209800" y="2171700"/>
            <a:ext cx="5791200" cy="4114800"/>
          </a:xfrm>
        </p:spPr>
        <p:txBody>
          <a:bodyPr>
            <a:noAutofit/>
          </a:bodyPr>
          <a:lstStyle/>
          <a:p>
            <a:pPr marL="0" indent="1588"/>
            <a:r>
              <a:rPr lang="es-ES_tradnl" sz="2600" dirty="0"/>
              <a:t> </a:t>
            </a:r>
            <a:r>
              <a:rPr lang="es-ES_tradnl" sz="2600" dirty="0">
                <a:latin typeface="Arial;Arial"/>
              </a:rPr>
              <a:t>Actor</a:t>
            </a:r>
            <a:r>
              <a:rPr lang="es-ES_tradnl" sz="2600" dirty="0"/>
              <a:t>: cualquiera (usuario) o cualquier cosa (sistema externo - hardware) que intercambia información con el sistema</a:t>
            </a:r>
          </a:p>
          <a:p>
            <a:pPr marL="0" indent="1588"/>
            <a:endParaRPr lang="es-ES_tradnl" sz="2600" dirty="0"/>
          </a:p>
          <a:p>
            <a:pPr marL="0" indent="1588"/>
            <a:endParaRPr lang="es-ES_tradnl" sz="2600" dirty="0"/>
          </a:p>
          <a:p>
            <a:pPr marL="0" indent="1588"/>
            <a:endParaRPr lang="es-ES_tradnl" sz="2600" dirty="0"/>
          </a:p>
          <a:p>
            <a:pPr marL="0" indent="1588"/>
            <a:r>
              <a:rPr lang="es-ES_tradnl" sz="2600" dirty="0"/>
              <a:t> </a:t>
            </a:r>
            <a:r>
              <a:rPr lang="es-ES_tradnl" sz="2600" dirty="0">
                <a:latin typeface="Arial;Arial"/>
              </a:rPr>
              <a:t>Caso de Uso (CU)</a:t>
            </a:r>
            <a:r>
              <a:rPr lang="es-ES_tradnl" sz="2600" dirty="0"/>
              <a:t>: es una unidad funcional, parte del sistema</a:t>
            </a:r>
          </a:p>
        </p:txBody>
      </p:sp>
      <p:grpSp>
        <p:nvGrpSpPr>
          <p:cNvPr id="38916" name="Group 10"/>
          <p:cNvGrpSpPr>
            <a:grpSpLocks/>
          </p:cNvGrpSpPr>
          <p:nvPr/>
        </p:nvGrpSpPr>
        <p:grpSpPr bwMode="auto">
          <a:xfrm>
            <a:off x="9525000" y="2286000"/>
            <a:ext cx="457200" cy="1066800"/>
            <a:chOff x="4608" y="1200"/>
            <a:chExt cx="288" cy="672"/>
          </a:xfrm>
        </p:grpSpPr>
        <p:sp>
          <p:nvSpPr>
            <p:cNvPr id="38918" name="Oval 4"/>
            <p:cNvSpPr>
              <a:spLocks noChangeArrowheads="1"/>
            </p:cNvSpPr>
            <p:nvPr/>
          </p:nvSpPr>
          <p:spPr bwMode="auto">
            <a:xfrm>
              <a:off x="4608" y="1200"/>
              <a:ext cx="288" cy="24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8919" name="Line 5"/>
            <p:cNvSpPr>
              <a:spLocks noChangeShapeType="1"/>
            </p:cNvSpPr>
            <p:nvPr/>
          </p:nvSpPr>
          <p:spPr bwMode="auto">
            <a:xfrm>
              <a:off x="4752" y="1440"/>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8920" name="Line 6"/>
            <p:cNvSpPr>
              <a:spLocks noChangeShapeType="1"/>
            </p:cNvSpPr>
            <p:nvPr/>
          </p:nvSpPr>
          <p:spPr bwMode="auto">
            <a:xfrm>
              <a:off x="4608" y="1536"/>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8921" name="Line 7"/>
            <p:cNvSpPr>
              <a:spLocks noChangeShapeType="1"/>
            </p:cNvSpPr>
            <p:nvPr/>
          </p:nvSpPr>
          <p:spPr bwMode="auto">
            <a:xfrm flipH="1">
              <a:off x="4608" y="1728"/>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8922" name="Line 8"/>
            <p:cNvSpPr>
              <a:spLocks noChangeShapeType="1"/>
            </p:cNvSpPr>
            <p:nvPr/>
          </p:nvSpPr>
          <p:spPr bwMode="auto">
            <a:xfrm>
              <a:off x="4752" y="1728"/>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sp>
        <p:nvSpPr>
          <p:cNvPr id="38917" name="Oval 9"/>
          <p:cNvSpPr>
            <a:spLocks noChangeArrowheads="1"/>
          </p:cNvSpPr>
          <p:nvPr/>
        </p:nvSpPr>
        <p:spPr bwMode="auto">
          <a:xfrm>
            <a:off x="9067800" y="5105400"/>
            <a:ext cx="1447800" cy="6096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181100" y="282280"/>
            <a:ext cx="7772400" cy="1431925"/>
          </a:xfrm>
        </p:spPr>
        <p:txBody>
          <a:bodyPr/>
          <a:lstStyle/>
          <a:p>
            <a:r>
              <a:rPr lang="es-ES_tradnl" dirty="0"/>
              <a:t>Relaciones entre componentes</a:t>
            </a:r>
          </a:p>
        </p:txBody>
      </p:sp>
      <p:sp>
        <p:nvSpPr>
          <p:cNvPr id="39939" name="Rectangle 3"/>
          <p:cNvSpPr>
            <a:spLocks noGrp="1" noChangeArrowheads="1"/>
          </p:cNvSpPr>
          <p:nvPr>
            <p:ph idx="1"/>
          </p:nvPr>
        </p:nvSpPr>
        <p:spPr>
          <a:xfrm>
            <a:off x="1562100" y="2286000"/>
            <a:ext cx="5562600" cy="4724400"/>
          </a:xfrm>
        </p:spPr>
        <p:txBody>
          <a:bodyPr>
            <a:normAutofit/>
          </a:bodyPr>
          <a:lstStyle/>
          <a:p>
            <a:pPr marL="0" indent="1588"/>
            <a:r>
              <a:rPr lang="es-ES_tradnl" sz="2600" dirty="0"/>
              <a:t> Interacción: relación entre actores y casos de uso</a:t>
            </a:r>
          </a:p>
          <a:p>
            <a:pPr marL="0" indent="1588"/>
            <a:endParaRPr lang="es-ES_tradnl" sz="2600" dirty="0"/>
          </a:p>
          <a:p>
            <a:pPr marL="0" indent="1588"/>
            <a:r>
              <a:rPr lang="es-ES_tradnl" sz="2600" dirty="0"/>
              <a:t> &lt;Uses&gt;: uso de cierta funcionalidad (se utiliza cuando una funcionalidad similar esta presente en otro contexto)</a:t>
            </a:r>
          </a:p>
          <a:p>
            <a:pPr marL="0" indent="1588"/>
            <a:endParaRPr lang="es-ES_tradnl" sz="2600" dirty="0"/>
          </a:p>
          <a:p>
            <a:pPr marL="0" indent="1588"/>
            <a:r>
              <a:rPr lang="es-ES_tradnl" sz="2600" dirty="0"/>
              <a:t> &lt;</a:t>
            </a:r>
            <a:r>
              <a:rPr lang="es-ES_tradnl" sz="2600" dirty="0" err="1"/>
              <a:t>extends</a:t>
            </a:r>
            <a:r>
              <a:rPr lang="es-ES_tradnl" sz="2600" dirty="0"/>
              <a:t>&gt;: define una funcionalidad por extensión de una existente</a:t>
            </a:r>
          </a:p>
        </p:txBody>
      </p:sp>
      <p:grpSp>
        <p:nvGrpSpPr>
          <p:cNvPr id="39940" name="Group 4"/>
          <p:cNvGrpSpPr>
            <a:grpSpLocks/>
          </p:cNvGrpSpPr>
          <p:nvPr/>
        </p:nvGrpSpPr>
        <p:grpSpPr bwMode="auto">
          <a:xfrm>
            <a:off x="7467600" y="2263351"/>
            <a:ext cx="457200" cy="1066800"/>
            <a:chOff x="4608" y="1200"/>
            <a:chExt cx="288" cy="672"/>
          </a:xfrm>
        </p:grpSpPr>
        <p:sp>
          <p:nvSpPr>
            <p:cNvPr id="39951" name="Oval 5"/>
            <p:cNvSpPr>
              <a:spLocks noChangeArrowheads="1"/>
            </p:cNvSpPr>
            <p:nvPr/>
          </p:nvSpPr>
          <p:spPr bwMode="auto">
            <a:xfrm>
              <a:off x="4608" y="1200"/>
              <a:ext cx="288" cy="24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52" name="Line 6"/>
            <p:cNvSpPr>
              <a:spLocks noChangeShapeType="1"/>
            </p:cNvSpPr>
            <p:nvPr/>
          </p:nvSpPr>
          <p:spPr bwMode="auto">
            <a:xfrm>
              <a:off x="4752" y="1440"/>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53" name="Line 7"/>
            <p:cNvSpPr>
              <a:spLocks noChangeShapeType="1"/>
            </p:cNvSpPr>
            <p:nvPr/>
          </p:nvSpPr>
          <p:spPr bwMode="auto">
            <a:xfrm>
              <a:off x="4608" y="1536"/>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54" name="Line 8"/>
            <p:cNvSpPr>
              <a:spLocks noChangeShapeType="1"/>
            </p:cNvSpPr>
            <p:nvPr/>
          </p:nvSpPr>
          <p:spPr bwMode="auto">
            <a:xfrm flipH="1">
              <a:off x="4608" y="1728"/>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55" name="Line 9"/>
            <p:cNvSpPr>
              <a:spLocks noChangeShapeType="1"/>
            </p:cNvSpPr>
            <p:nvPr/>
          </p:nvSpPr>
          <p:spPr bwMode="auto">
            <a:xfrm>
              <a:off x="4752" y="1728"/>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sp>
        <p:nvSpPr>
          <p:cNvPr id="39941" name="Oval 10"/>
          <p:cNvSpPr>
            <a:spLocks noChangeArrowheads="1"/>
          </p:cNvSpPr>
          <p:nvPr/>
        </p:nvSpPr>
        <p:spPr bwMode="auto">
          <a:xfrm>
            <a:off x="8915400" y="2415751"/>
            <a:ext cx="1219200" cy="685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42" name="Line 11"/>
          <p:cNvSpPr>
            <a:spLocks noChangeShapeType="1"/>
          </p:cNvSpPr>
          <p:nvPr/>
        </p:nvSpPr>
        <p:spPr bwMode="auto">
          <a:xfrm>
            <a:off x="8045450" y="2787226"/>
            <a:ext cx="838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43" name="Oval 12"/>
          <p:cNvSpPr>
            <a:spLocks noChangeArrowheads="1"/>
          </p:cNvSpPr>
          <p:nvPr/>
        </p:nvSpPr>
        <p:spPr bwMode="auto">
          <a:xfrm>
            <a:off x="7620000" y="3939751"/>
            <a:ext cx="762000" cy="533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44" name="Oval 14"/>
          <p:cNvSpPr>
            <a:spLocks noChangeArrowheads="1"/>
          </p:cNvSpPr>
          <p:nvPr/>
        </p:nvSpPr>
        <p:spPr bwMode="auto">
          <a:xfrm>
            <a:off x="9525000" y="3939751"/>
            <a:ext cx="762000" cy="533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45" name="Line 15"/>
          <p:cNvSpPr>
            <a:spLocks noChangeShapeType="1"/>
          </p:cNvSpPr>
          <p:nvPr/>
        </p:nvSpPr>
        <p:spPr bwMode="auto">
          <a:xfrm>
            <a:off x="8382000" y="4168351"/>
            <a:ext cx="1143000" cy="0"/>
          </a:xfrm>
          <a:prstGeom prst="line">
            <a:avLst/>
          </a:prstGeom>
          <a:noFill/>
          <a:ln w="158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46" name="Text Box 16"/>
          <p:cNvSpPr txBox="1">
            <a:spLocks noChangeArrowheads="1"/>
          </p:cNvSpPr>
          <p:nvPr/>
        </p:nvSpPr>
        <p:spPr bwMode="auto">
          <a:xfrm>
            <a:off x="8382000" y="3787351"/>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&lt;uses&gt;</a:t>
            </a:r>
          </a:p>
        </p:txBody>
      </p:sp>
      <p:sp>
        <p:nvSpPr>
          <p:cNvPr id="39947" name="Oval 18"/>
          <p:cNvSpPr>
            <a:spLocks noChangeArrowheads="1"/>
          </p:cNvSpPr>
          <p:nvPr/>
        </p:nvSpPr>
        <p:spPr bwMode="auto">
          <a:xfrm>
            <a:off x="7620000" y="5432001"/>
            <a:ext cx="762000" cy="533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48" name="Oval 19"/>
          <p:cNvSpPr>
            <a:spLocks noChangeArrowheads="1"/>
          </p:cNvSpPr>
          <p:nvPr/>
        </p:nvSpPr>
        <p:spPr bwMode="auto">
          <a:xfrm>
            <a:off x="9525000" y="5432001"/>
            <a:ext cx="762000" cy="533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49" name="Line 20"/>
          <p:cNvSpPr>
            <a:spLocks noChangeShapeType="1"/>
          </p:cNvSpPr>
          <p:nvPr/>
        </p:nvSpPr>
        <p:spPr bwMode="auto">
          <a:xfrm>
            <a:off x="8382000" y="5660601"/>
            <a:ext cx="1143000" cy="0"/>
          </a:xfrm>
          <a:prstGeom prst="line">
            <a:avLst/>
          </a:prstGeom>
          <a:noFill/>
          <a:ln w="158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50" name="Text Box 21"/>
          <p:cNvSpPr txBox="1">
            <a:spLocks noChangeArrowheads="1"/>
          </p:cNvSpPr>
          <p:nvPr/>
        </p:nvSpPr>
        <p:spPr bwMode="auto">
          <a:xfrm>
            <a:off x="8305800" y="5158951"/>
            <a:ext cx="175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&lt;extends&gt;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225549" y="981457"/>
            <a:ext cx="9920245" cy="762000"/>
          </a:xfrm>
        </p:spPr>
        <p:txBody>
          <a:bodyPr>
            <a:normAutofit fontScale="90000"/>
          </a:bodyPr>
          <a:lstStyle/>
          <a:p>
            <a:r>
              <a:rPr lang="es-ES_tradnl" dirty="0"/>
              <a:t>Una posible solución al problema de la matricula de un curso</a:t>
            </a:r>
          </a:p>
        </p:txBody>
      </p:sp>
      <p:sp>
        <p:nvSpPr>
          <p:cNvPr id="40963" name="Line 43"/>
          <p:cNvSpPr>
            <a:spLocks noChangeShapeType="1"/>
          </p:cNvSpPr>
          <p:nvPr/>
        </p:nvSpPr>
        <p:spPr bwMode="auto">
          <a:xfrm flipV="1">
            <a:off x="6324600" y="4572000"/>
            <a:ext cx="16764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nvGrpSpPr>
          <p:cNvPr id="40964" name="Group 62"/>
          <p:cNvGrpSpPr>
            <a:grpSpLocks/>
          </p:cNvGrpSpPr>
          <p:nvPr/>
        </p:nvGrpSpPr>
        <p:grpSpPr bwMode="auto">
          <a:xfrm>
            <a:off x="1905000" y="1820564"/>
            <a:ext cx="8312150" cy="4451350"/>
            <a:chOff x="188" y="864"/>
            <a:chExt cx="5236" cy="2804"/>
          </a:xfrm>
        </p:grpSpPr>
        <p:grpSp>
          <p:nvGrpSpPr>
            <p:cNvPr id="40965" name="Group 4"/>
            <p:cNvGrpSpPr>
              <a:grpSpLocks/>
            </p:cNvGrpSpPr>
            <p:nvPr/>
          </p:nvGrpSpPr>
          <p:grpSpPr bwMode="auto">
            <a:xfrm>
              <a:off x="576" y="912"/>
              <a:ext cx="192" cy="480"/>
              <a:chOff x="4608" y="1200"/>
              <a:chExt cx="288" cy="672"/>
            </a:xfrm>
          </p:grpSpPr>
          <p:sp>
            <p:nvSpPr>
              <p:cNvPr id="41015" name="Oval 5"/>
              <p:cNvSpPr>
                <a:spLocks noChangeArrowheads="1"/>
              </p:cNvSpPr>
              <p:nvPr/>
            </p:nvSpPr>
            <p:spPr bwMode="auto">
              <a:xfrm>
                <a:off x="4608" y="1200"/>
                <a:ext cx="288" cy="24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1016" name="Line 6"/>
              <p:cNvSpPr>
                <a:spLocks noChangeShapeType="1"/>
              </p:cNvSpPr>
              <p:nvPr/>
            </p:nvSpPr>
            <p:spPr bwMode="auto">
              <a:xfrm>
                <a:off x="4752" y="1440"/>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1017" name="Line 7"/>
              <p:cNvSpPr>
                <a:spLocks noChangeShapeType="1"/>
              </p:cNvSpPr>
              <p:nvPr/>
            </p:nvSpPr>
            <p:spPr bwMode="auto">
              <a:xfrm>
                <a:off x="4608" y="1536"/>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1018" name="Line 8"/>
              <p:cNvSpPr>
                <a:spLocks noChangeShapeType="1"/>
              </p:cNvSpPr>
              <p:nvPr/>
            </p:nvSpPr>
            <p:spPr bwMode="auto">
              <a:xfrm flipH="1">
                <a:off x="4608" y="1728"/>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1019" name="Line 9"/>
              <p:cNvSpPr>
                <a:spLocks noChangeShapeType="1"/>
              </p:cNvSpPr>
              <p:nvPr/>
            </p:nvSpPr>
            <p:spPr bwMode="auto">
              <a:xfrm>
                <a:off x="4752" y="1728"/>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grpSp>
          <p:nvGrpSpPr>
            <p:cNvPr id="40966" name="Group 10"/>
            <p:cNvGrpSpPr>
              <a:grpSpLocks/>
            </p:cNvGrpSpPr>
            <p:nvPr/>
          </p:nvGrpSpPr>
          <p:grpSpPr bwMode="auto">
            <a:xfrm>
              <a:off x="584" y="1745"/>
              <a:ext cx="192" cy="480"/>
              <a:chOff x="4608" y="1200"/>
              <a:chExt cx="288" cy="672"/>
            </a:xfrm>
          </p:grpSpPr>
          <p:sp>
            <p:nvSpPr>
              <p:cNvPr id="41010" name="Oval 11"/>
              <p:cNvSpPr>
                <a:spLocks noChangeArrowheads="1"/>
              </p:cNvSpPr>
              <p:nvPr/>
            </p:nvSpPr>
            <p:spPr bwMode="auto">
              <a:xfrm>
                <a:off x="4608" y="1200"/>
                <a:ext cx="288" cy="24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1011" name="Line 12"/>
              <p:cNvSpPr>
                <a:spLocks noChangeShapeType="1"/>
              </p:cNvSpPr>
              <p:nvPr/>
            </p:nvSpPr>
            <p:spPr bwMode="auto">
              <a:xfrm>
                <a:off x="4752" y="1440"/>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1012" name="Line 13"/>
              <p:cNvSpPr>
                <a:spLocks noChangeShapeType="1"/>
              </p:cNvSpPr>
              <p:nvPr/>
            </p:nvSpPr>
            <p:spPr bwMode="auto">
              <a:xfrm>
                <a:off x="4608" y="1536"/>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1013" name="Line 14"/>
              <p:cNvSpPr>
                <a:spLocks noChangeShapeType="1"/>
              </p:cNvSpPr>
              <p:nvPr/>
            </p:nvSpPr>
            <p:spPr bwMode="auto">
              <a:xfrm flipH="1">
                <a:off x="4608" y="1728"/>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1014" name="Line 15"/>
              <p:cNvSpPr>
                <a:spLocks noChangeShapeType="1"/>
              </p:cNvSpPr>
              <p:nvPr/>
            </p:nvSpPr>
            <p:spPr bwMode="auto">
              <a:xfrm>
                <a:off x="4752" y="1728"/>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grpSp>
          <p:nvGrpSpPr>
            <p:cNvPr id="40967" name="Group 16"/>
            <p:cNvGrpSpPr>
              <a:grpSpLocks/>
            </p:cNvGrpSpPr>
            <p:nvPr/>
          </p:nvGrpSpPr>
          <p:grpSpPr bwMode="auto">
            <a:xfrm>
              <a:off x="2784" y="2976"/>
              <a:ext cx="192" cy="480"/>
              <a:chOff x="4608" y="1200"/>
              <a:chExt cx="288" cy="672"/>
            </a:xfrm>
          </p:grpSpPr>
          <p:sp>
            <p:nvSpPr>
              <p:cNvPr id="41005" name="Oval 17"/>
              <p:cNvSpPr>
                <a:spLocks noChangeArrowheads="1"/>
              </p:cNvSpPr>
              <p:nvPr/>
            </p:nvSpPr>
            <p:spPr bwMode="auto">
              <a:xfrm>
                <a:off x="4608" y="1200"/>
                <a:ext cx="288" cy="24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1006" name="Line 18"/>
              <p:cNvSpPr>
                <a:spLocks noChangeShapeType="1"/>
              </p:cNvSpPr>
              <p:nvPr/>
            </p:nvSpPr>
            <p:spPr bwMode="auto">
              <a:xfrm>
                <a:off x="4752" y="1440"/>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1007" name="Line 19"/>
              <p:cNvSpPr>
                <a:spLocks noChangeShapeType="1"/>
              </p:cNvSpPr>
              <p:nvPr/>
            </p:nvSpPr>
            <p:spPr bwMode="auto">
              <a:xfrm>
                <a:off x="4608" y="1536"/>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1008" name="Line 20"/>
              <p:cNvSpPr>
                <a:spLocks noChangeShapeType="1"/>
              </p:cNvSpPr>
              <p:nvPr/>
            </p:nvSpPr>
            <p:spPr bwMode="auto">
              <a:xfrm flipH="1">
                <a:off x="4608" y="1728"/>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1009" name="Line 21"/>
              <p:cNvSpPr>
                <a:spLocks noChangeShapeType="1"/>
              </p:cNvSpPr>
              <p:nvPr/>
            </p:nvSpPr>
            <p:spPr bwMode="auto">
              <a:xfrm>
                <a:off x="4752" y="1728"/>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grpSp>
          <p:nvGrpSpPr>
            <p:cNvPr id="40968" name="Group 22"/>
            <p:cNvGrpSpPr>
              <a:grpSpLocks/>
            </p:cNvGrpSpPr>
            <p:nvPr/>
          </p:nvGrpSpPr>
          <p:grpSpPr bwMode="auto">
            <a:xfrm>
              <a:off x="4464" y="864"/>
              <a:ext cx="192" cy="480"/>
              <a:chOff x="4608" y="1200"/>
              <a:chExt cx="288" cy="672"/>
            </a:xfrm>
          </p:grpSpPr>
          <p:sp>
            <p:nvSpPr>
              <p:cNvPr id="41000" name="Oval 23"/>
              <p:cNvSpPr>
                <a:spLocks noChangeArrowheads="1"/>
              </p:cNvSpPr>
              <p:nvPr/>
            </p:nvSpPr>
            <p:spPr bwMode="auto">
              <a:xfrm>
                <a:off x="4608" y="1200"/>
                <a:ext cx="288" cy="24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1001" name="Line 24"/>
              <p:cNvSpPr>
                <a:spLocks noChangeShapeType="1"/>
              </p:cNvSpPr>
              <p:nvPr/>
            </p:nvSpPr>
            <p:spPr bwMode="auto">
              <a:xfrm>
                <a:off x="4752" y="1440"/>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1002" name="Line 25"/>
              <p:cNvSpPr>
                <a:spLocks noChangeShapeType="1"/>
              </p:cNvSpPr>
              <p:nvPr/>
            </p:nvSpPr>
            <p:spPr bwMode="auto">
              <a:xfrm>
                <a:off x="4608" y="1536"/>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1003" name="Line 26"/>
              <p:cNvSpPr>
                <a:spLocks noChangeShapeType="1"/>
              </p:cNvSpPr>
              <p:nvPr/>
            </p:nvSpPr>
            <p:spPr bwMode="auto">
              <a:xfrm flipH="1">
                <a:off x="4608" y="1728"/>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1004" name="Line 27"/>
              <p:cNvSpPr>
                <a:spLocks noChangeShapeType="1"/>
              </p:cNvSpPr>
              <p:nvPr/>
            </p:nvSpPr>
            <p:spPr bwMode="auto">
              <a:xfrm>
                <a:off x="4752" y="1728"/>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sp>
          <p:nvSpPr>
            <p:cNvPr id="40969" name="Oval 28"/>
            <p:cNvSpPr>
              <a:spLocks noChangeArrowheads="1"/>
            </p:cNvSpPr>
            <p:nvPr/>
          </p:nvSpPr>
          <p:spPr bwMode="auto">
            <a:xfrm>
              <a:off x="1488" y="960"/>
              <a:ext cx="528" cy="24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0970" name="Oval 29"/>
            <p:cNvSpPr>
              <a:spLocks noChangeArrowheads="1"/>
            </p:cNvSpPr>
            <p:nvPr/>
          </p:nvSpPr>
          <p:spPr bwMode="auto">
            <a:xfrm>
              <a:off x="1440" y="1584"/>
              <a:ext cx="528" cy="24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0971" name="Oval 30"/>
            <p:cNvSpPr>
              <a:spLocks noChangeArrowheads="1"/>
            </p:cNvSpPr>
            <p:nvPr/>
          </p:nvSpPr>
          <p:spPr bwMode="auto">
            <a:xfrm>
              <a:off x="1392" y="2160"/>
              <a:ext cx="528" cy="24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0972" name="Oval 31"/>
            <p:cNvSpPr>
              <a:spLocks noChangeArrowheads="1"/>
            </p:cNvSpPr>
            <p:nvPr/>
          </p:nvSpPr>
          <p:spPr bwMode="auto">
            <a:xfrm>
              <a:off x="1104" y="2784"/>
              <a:ext cx="528" cy="24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0973" name="Oval 32"/>
            <p:cNvSpPr>
              <a:spLocks noChangeArrowheads="1"/>
            </p:cNvSpPr>
            <p:nvPr/>
          </p:nvSpPr>
          <p:spPr bwMode="auto">
            <a:xfrm>
              <a:off x="2976" y="912"/>
              <a:ext cx="528" cy="24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0974" name="Oval 33"/>
            <p:cNvSpPr>
              <a:spLocks noChangeArrowheads="1"/>
            </p:cNvSpPr>
            <p:nvPr/>
          </p:nvSpPr>
          <p:spPr bwMode="auto">
            <a:xfrm>
              <a:off x="3168" y="1488"/>
              <a:ext cx="528" cy="24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0975" name="Oval 34"/>
            <p:cNvSpPr>
              <a:spLocks noChangeArrowheads="1"/>
            </p:cNvSpPr>
            <p:nvPr/>
          </p:nvSpPr>
          <p:spPr bwMode="auto">
            <a:xfrm>
              <a:off x="3744" y="2112"/>
              <a:ext cx="528" cy="24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0976" name="Oval 35"/>
            <p:cNvSpPr>
              <a:spLocks noChangeArrowheads="1"/>
            </p:cNvSpPr>
            <p:nvPr/>
          </p:nvSpPr>
          <p:spPr bwMode="auto">
            <a:xfrm>
              <a:off x="2640" y="2208"/>
              <a:ext cx="528" cy="24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0977" name="Oval 36"/>
            <p:cNvSpPr>
              <a:spLocks noChangeArrowheads="1"/>
            </p:cNvSpPr>
            <p:nvPr/>
          </p:nvSpPr>
          <p:spPr bwMode="auto">
            <a:xfrm>
              <a:off x="4080" y="2736"/>
              <a:ext cx="528" cy="24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0978" name="Line 37"/>
            <p:cNvSpPr>
              <a:spLocks noChangeShapeType="1"/>
            </p:cNvSpPr>
            <p:nvPr/>
          </p:nvSpPr>
          <p:spPr bwMode="auto">
            <a:xfrm flipH="1">
              <a:off x="864" y="1056"/>
              <a:ext cx="62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0979" name="Line 38"/>
            <p:cNvSpPr>
              <a:spLocks noChangeShapeType="1"/>
            </p:cNvSpPr>
            <p:nvPr/>
          </p:nvSpPr>
          <p:spPr bwMode="auto">
            <a:xfrm flipV="1">
              <a:off x="864" y="1152"/>
              <a:ext cx="672" cy="6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0980" name="Line 39"/>
            <p:cNvSpPr>
              <a:spLocks noChangeShapeType="1"/>
            </p:cNvSpPr>
            <p:nvPr/>
          </p:nvSpPr>
          <p:spPr bwMode="auto">
            <a:xfrm flipV="1">
              <a:off x="912" y="1728"/>
              <a:ext cx="528"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0981" name="Line 40"/>
            <p:cNvSpPr>
              <a:spLocks noChangeShapeType="1"/>
            </p:cNvSpPr>
            <p:nvPr/>
          </p:nvSpPr>
          <p:spPr bwMode="auto">
            <a:xfrm>
              <a:off x="864" y="2064"/>
              <a:ext cx="528"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0982" name="Line 41"/>
            <p:cNvSpPr>
              <a:spLocks noChangeShapeType="1"/>
            </p:cNvSpPr>
            <p:nvPr/>
          </p:nvSpPr>
          <p:spPr bwMode="auto">
            <a:xfrm flipH="1" flipV="1">
              <a:off x="1632" y="2928"/>
              <a:ext cx="1056"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0983" name="Line 42"/>
            <p:cNvSpPr>
              <a:spLocks noChangeShapeType="1"/>
            </p:cNvSpPr>
            <p:nvPr/>
          </p:nvSpPr>
          <p:spPr bwMode="auto">
            <a:xfrm flipV="1">
              <a:off x="2880" y="2448"/>
              <a:ext cx="0" cy="5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0984" name="Line 44"/>
            <p:cNvSpPr>
              <a:spLocks noChangeShapeType="1"/>
            </p:cNvSpPr>
            <p:nvPr/>
          </p:nvSpPr>
          <p:spPr bwMode="auto">
            <a:xfrm flipH="1">
              <a:off x="3456" y="1056"/>
              <a:ext cx="9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0985" name="Line 45"/>
            <p:cNvSpPr>
              <a:spLocks noChangeShapeType="1"/>
            </p:cNvSpPr>
            <p:nvPr/>
          </p:nvSpPr>
          <p:spPr bwMode="auto">
            <a:xfrm flipH="1">
              <a:off x="3696" y="1200"/>
              <a:ext cx="672"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0986" name="Line 46"/>
            <p:cNvSpPr>
              <a:spLocks noChangeShapeType="1"/>
            </p:cNvSpPr>
            <p:nvPr/>
          </p:nvSpPr>
          <p:spPr bwMode="auto">
            <a:xfrm flipH="1">
              <a:off x="4080" y="1344"/>
              <a:ext cx="432" cy="76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0987" name="Text Box 47"/>
            <p:cNvSpPr txBox="1">
              <a:spLocks noChangeArrowheads="1"/>
            </p:cNvSpPr>
            <p:nvPr/>
          </p:nvSpPr>
          <p:spPr bwMode="auto">
            <a:xfrm>
              <a:off x="188" y="1349"/>
              <a:ext cx="9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sz="1600"/>
                <a:t>Contabilidad</a:t>
              </a:r>
              <a:endParaRPr lang="es-ES_tradnl"/>
            </a:p>
          </p:txBody>
        </p:sp>
        <p:sp>
          <p:nvSpPr>
            <p:cNvPr id="40988" name="Text Box 49"/>
            <p:cNvSpPr txBox="1">
              <a:spLocks noChangeArrowheads="1"/>
            </p:cNvSpPr>
            <p:nvPr/>
          </p:nvSpPr>
          <p:spPr bwMode="auto">
            <a:xfrm>
              <a:off x="221" y="2256"/>
              <a:ext cx="9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sz="1600"/>
                <a:t>Estudiante</a:t>
              </a:r>
              <a:endParaRPr lang="es-ES_tradnl"/>
            </a:p>
          </p:txBody>
        </p:sp>
        <p:sp>
          <p:nvSpPr>
            <p:cNvPr id="40989" name="Text Box 50"/>
            <p:cNvSpPr txBox="1">
              <a:spLocks noChangeArrowheads="1"/>
            </p:cNvSpPr>
            <p:nvPr/>
          </p:nvSpPr>
          <p:spPr bwMode="auto">
            <a:xfrm>
              <a:off x="2448" y="3456"/>
              <a:ext cx="9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sz="1600"/>
                <a:t>Secretaria</a:t>
              </a:r>
              <a:endParaRPr lang="es-ES_tradnl"/>
            </a:p>
          </p:txBody>
        </p:sp>
        <p:sp>
          <p:nvSpPr>
            <p:cNvPr id="40990" name="Text Box 51"/>
            <p:cNvSpPr txBox="1">
              <a:spLocks noChangeArrowheads="1"/>
            </p:cNvSpPr>
            <p:nvPr/>
          </p:nvSpPr>
          <p:spPr bwMode="auto">
            <a:xfrm>
              <a:off x="4512" y="1488"/>
              <a:ext cx="9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sz="1600"/>
                <a:t>Profesor</a:t>
              </a:r>
              <a:endParaRPr lang="es-ES_tradnl"/>
            </a:p>
          </p:txBody>
        </p:sp>
        <p:sp>
          <p:nvSpPr>
            <p:cNvPr id="40991" name="Text Box 52"/>
            <p:cNvSpPr txBox="1">
              <a:spLocks noChangeArrowheads="1"/>
            </p:cNvSpPr>
            <p:nvPr/>
          </p:nvSpPr>
          <p:spPr bwMode="auto">
            <a:xfrm>
              <a:off x="1440" y="1200"/>
              <a:ext cx="105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sz="1600"/>
                <a:t>Matricular curso</a:t>
              </a:r>
              <a:endParaRPr lang="es-ES_tradnl"/>
            </a:p>
          </p:txBody>
        </p:sp>
        <p:sp>
          <p:nvSpPr>
            <p:cNvPr id="40992" name="Text Box 53"/>
            <p:cNvSpPr txBox="1">
              <a:spLocks noChangeArrowheads="1"/>
            </p:cNvSpPr>
            <p:nvPr/>
          </p:nvSpPr>
          <p:spPr bwMode="auto">
            <a:xfrm>
              <a:off x="1392" y="1824"/>
              <a:ext cx="120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sz="1600"/>
                <a:t>Cambios de Horario</a:t>
              </a:r>
              <a:endParaRPr lang="es-ES_tradnl"/>
            </a:p>
          </p:txBody>
        </p:sp>
        <p:sp>
          <p:nvSpPr>
            <p:cNvPr id="40993" name="Text Box 55"/>
            <p:cNvSpPr txBox="1">
              <a:spLocks noChangeArrowheads="1"/>
            </p:cNvSpPr>
            <p:nvPr/>
          </p:nvSpPr>
          <p:spPr bwMode="auto">
            <a:xfrm>
              <a:off x="1248" y="2400"/>
              <a:ext cx="129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sz="1600"/>
                <a:t>Solicitud de Catalogo</a:t>
              </a:r>
              <a:endParaRPr lang="es-ES_tradnl"/>
            </a:p>
          </p:txBody>
        </p:sp>
        <p:sp>
          <p:nvSpPr>
            <p:cNvPr id="40994" name="Text Box 56"/>
            <p:cNvSpPr txBox="1">
              <a:spLocks noChangeArrowheads="1"/>
            </p:cNvSpPr>
            <p:nvPr/>
          </p:nvSpPr>
          <p:spPr bwMode="auto">
            <a:xfrm>
              <a:off x="816" y="3072"/>
              <a:ext cx="129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sz="1600"/>
                <a:t>Gestion de Cursos</a:t>
              </a:r>
              <a:endParaRPr lang="es-ES_tradnl"/>
            </a:p>
          </p:txBody>
        </p:sp>
        <p:sp>
          <p:nvSpPr>
            <p:cNvPr id="40995" name="Text Box 57"/>
            <p:cNvSpPr txBox="1">
              <a:spLocks noChangeArrowheads="1"/>
            </p:cNvSpPr>
            <p:nvPr/>
          </p:nvSpPr>
          <p:spPr bwMode="auto">
            <a:xfrm>
              <a:off x="2208" y="2064"/>
              <a:ext cx="129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sz="1600"/>
                <a:t>Gestion de Estudiantes</a:t>
              </a:r>
              <a:endParaRPr lang="es-ES_tradnl"/>
            </a:p>
          </p:txBody>
        </p:sp>
        <p:sp>
          <p:nvSpPr>
            <p:cNvPr id="40996" name="Text Box 58"/>
            <p:cNvSpPr txBox="1">
              <a:spLocks noChangeArrowheads="1"/>
            </p:cNvSpPr>
            <p:nvPr/>
          </p:nvSpPr>
          <p:spPr bwMode="auto">
            <a:xfrm>
              <a:off x="3744" y="3024"/>
              <a:ext cx="129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sz="1600"/>
                <a:t>Gestion de Profesoes</a:t>
              </a:r>
              <a:endParaRPr lang="es-ES_tradnl"/>
            </a:p>
          </p:txBody>
        </p:sp>
        <p:sp>
          <p:nvSpPr>
            <p:cNvPr id="40997" name="Text Box 59"/>
            <p:cNvSpPr txBox="1">
              <a:spLocks noChangeArrowheads="1"/>
            </p:cNvSpPr>
            <p:nvPr/>
          </p:nvSpPr>
          <p:spPr bwMode="auto">
            <a:xfrm>
              <a:off x="3552" y="2352"/>
              <a:ext cx="129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sz="1600"/>
                <a:t>Selección de Curso</a:t>
              </a:r>
              <a:endParaRPr lang="es-ES_tradnl"/>
            </a:p>
          </p:txBody>
        </p:sp>
        <p:sp>
          <p:nvSpPr>
            <p:cNvPr id="40998" name="Text Box 60"/>
            <p:cNvSpPr txBox="1">
              <a:spLocks noChangeArrowheads="1"/>
            </p:cNvSpPr>
            <p:nvPr/>
          </p:nvSpPr>
          <p:spPr bwMode="auto">
            <a:xfrm>
              <a:off x="2832" y="1728"/>
              <a:ext cx="129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sz="1600"/>
                <a:t>Solicitud escrita</a:t>
              </a:r>
              <a:endParaRPr lang="es-ES_tradnl"/>
            </a:p>
          </p:txBody>
        </p:sp>
        <p:sp>
          <p:nvSpPr>
            <p:cNvPr id="40999" name="Text Box 61"/>
            <p:cNvSpPr txBox="1">
              <a:spLocks noChangeArrowheads="1"/>
            </p:cNvSpPr>
            <p:nvPr/>
          </p:nvSpPr>
          <p:spPr bwMode="auto">
            <a:xfrm>
              <a:off x="2640" y="1152"/>
              <a:ext cx="129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sz="1600"/>
                <a:t>Cambios en el curso</a:t>
              </a:r>
              <a:endParaRPr lang="es-ES_tradnl"/>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149178" y="968976"/>
            <a:ext cx="7772400" cy="762000"/>
          </a:xfrm>
        </p:spPr>
        <p:txBody>
          <a:bodyPr/>
          <a:lstStyle/>
          <a:p>
            <a:r>
              <a:rPr lang="es-ES_tradnl" dirty="0"/>
              <a:t>Escenarios de un CU</a:t>
            </a:r>
          </a:p>
        </p:txBody>
      </p:sp>
      <p:sp>
        <p:nvSpPr>
          <p:cNvPr id="41987" name="Rectangle 3"/>
          <p:cNvSpPr>
            <a:spLocks noGrp="1" noChangeArrowheads="1"/>
          </p:cNvSpPr>
          <p:nvPr>
            <p:ph idx="1"/>
          </p:nvPr>
        </p:nvSpPr>
        <p:spPr>
          <a:xfrm>
            <a:off x="1260388" y="1995616"/>
            <a:ext cx="9971903" cy="4114800"/>
          </a:xfrm>
        </p:spPr>
        <p:txBody>
          <a:bodyPr>
            <a:normAutofit/>
          </a:bodyPr>
          <a:lstStyle/>
          <a:p>
            <a:pPr>
              <a:buFont typeface="Wingdings" panose="05000000000000000000" pitchFamily="2" charset="2"/>
              <a:buChar char="Ø"/>
            </a:pPr>
            <a:r>
              <a:rPr lang="es-ES_tradnl" sz="2600" dirty="0"/>
              <a:t>Un escenario es una instancia de un Use Case, que describe una cadena de situaciones cercanas a la realidad a la que se enfrentara el sistema y como debe reaccionar este</a:t>
            </a:r>
          </a:p>
          <a:p>
            <a:pPr>
              <a:buFont typeface="Wingdings" panose="05000000000000000000" pitchFamily="2" charset="2"/>
              <a:buChar char="Ø"/>
            </a:pPr>
            <a:r>
              <a:rPr lang="es-ES_tradnl" sz="2600" dirty="0"/>
              <a:t>Se describen generalmente en lenguaje natural</a:t>
            </a:r>
          </a:p>
        </p:txBody>
      </p:sp>
      <p:sp>
        <p:nvSpPr>
          <p:cNvPr id="2" name="Flecha: hacia la izquierda 1">
            <a:hlinkClick r:id="rId3" action="ppaction://hlinksldjump"/>
            <a:extLst>
              <a:ext uri="{FF2B5EF4-FFF2-40B4-BE49-F238E27FC236}">
                <a16:creationId xmlns:a16="http://schemas.microsoft.com/office/drawing/2014/main" id="{CA2FD098-8E48-54EF-305F-3CECADBE404A}"/>
              </a:ext>
            </a:extLst>
          </p:cNvPr>
          <p:cNvSpPr/>
          <p:nvPr/>
        </p:nvSpPr>
        <p:spPr>
          <a:xfrm>
            <a:off x="10342605" y="5511114"/>
            <a:ext cx="1445741" cy="599302"/>
          </a:xfrm>
          <a:prstGeom prst="leftArrow">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171832" y="966874"/>
            <a:ext cx="7772400" cy="762000"/>
          </a:xfrm>
        </p:spPr>
        <p:txBody>
          <a:bodyPr/>
          <a:lstStyle/>
          <a:p>
            <a:r>
              <a:rPr lang="es-ES_tradnl" dirty="0"/>
              <a:t>Diagramas de actividad</a:t>
            </a:r>
          </a:p>
        </p:txBody>
      </p:sp>
      <p:sp>
        <p:nvSpPr>
          <p:cNvPr id="43011" name="Rectangle 3"/>
          <p:cNvSpPr>
            <a:spLocks noGrp="1" noChangeArrowheads="1"/>
          </p:cNvSpPr>
          <p:nvPr>
            <p:ph idx="1"/>
          </p:nvPr>
        </p:nvSpPr>
        <p:spPr>
          <a:xfrm>
            <a:off x="1320112" y="1876126"/>
            <a:ext cx="9813325" cy="4114800"/>
          </a:xfrm>
        </p:spPr>
        <p:txBody>
          <a:bodyPr>
            <a:normAutofit/>
          </a:bodyPr>
          <a:lstStyle/>
          <a:p>
            <a:pPr>
              <a:buFont typeface="Wingdings" panose="05000000000000000000" pitchFamily="2" charset="2"/>
              <a:buChar char="Ø"/>
            </a:pPr>
            <a:r>
              <a:rPr lang="es-ES_tradnl" sz="2800" dirty="0"/>
              <a:t>Se consideran una alternativa al lenguaje natural para la descripción de escenarios, son incorporados a UML como derivados de los diagramas de eventos de </a:t>
            </a:r>
            <a:r>
              <a:rPr lang="es-ES_tradnl" sz="2800" dirty="0" err="1"/>
              <a:t>Jim</a:t>
            </a:r>
            <a:r>
              <a:rPr lang="es-ES_tradnl" sz="2800" dirty="0"/>
              <a:t> </a:t>
            </a:r>
            <a:r>
              <a:rPr lang="es-ES_tradnl" sz="2800" dirty="0" err="1"/>
              <a:t>Odell</a:t>
            </a:r>
            <a:endParaRPr lang="es-ES_tradnl" sz="2800" dirty="0"/>
          </a:p>
          <a:p>
            <a:pPr>
              <a:buFont typeface="Wingdings" panose="05000000000000000000" pitchFamily="2" charset="2"/>
              <a:buChar char="Ø"/>
            </a:pPr>
            <a:r>
              <a:rPr lang="es-ES_tradnl" sz="2800" dirty="0"/>
              <a:t>Tienen cierta similitud sintáctica con las Redes de Petri</a:t>
            </a:r>
          </a:p>
          <a:p>
            <a:pPr>
              <a:buFont typeface="Wingdings" panose="05000000000000000000" pitchFamily="2" charset="2"/>
              <a:buChar char="Ø"/>
            </a:pPr>
            <a:r>
              <a:rPr lang="es-ES_tradnl" sz="2800" dirty="0"/>
              <a:t>Se utilizan para modelar comportamiento secuencial, concurrencia, no determinismo</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p:cNvSpPr>
            <a:spLocks noGrp="1" noChangeArrowheads="1"/>
          </p:cNvSpPr>
          <p:nvPr>
            <p:ph type="title"/>
          </p:nvPr>
        </p:nvSpPr>
        <p:spPr>
          <a:xfrm>
            <a:off x="1143000" y="933201"/>
            <a:ext cx="7772400" cy="762000"/>
          </a:xfrm>
        </p:spPr>
        <p:txBody>
          <a:bodyPr/>
          <a:lstStyle/>
          <a:p>
            <a:r>
              <a:rPr lang="es-ES_tradnl" dirty="0"/>
              <a:t>Notación</a:t>
            </a:r>
          </a:p>
        </p:txBody>
      </p:sp>
      <p:sp>
        <p:nvSpPr>
          <p:cNvPr id="44035" name="4 Marcador de número de diapositiva"/>
          <p:cNvSpPr>
            <a:spLocks noGrp="1"/>
          </p:cNvSpPr>
          <p:nvPr>
            <p:ph type="sldNum" sz="quarter" idx="12"/>
          </p:nvPr>
        </p:nvSpPr>
        <p:spPr>
          <a:xfrm>
            <a:off x="4648200" y="6248400"/>
            <a:ext cx="2895600" cy="457200"/>
          </a:xfrm>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fld id="{B74EBE07-E72F-4895-97A3-AE740B150B6D}" type="slidenum">
              <a:rPr lang="es-ES_tradnl" sz="1400"/>
              <a:pPr algn="ctr"/>
              <a:t>52</a:t>
            </a:fld>
            <a:endParaRPr lang="es-ES_tradnl" sz="1400"/>
          </a:p>
        </p:txBody>
      </p:sp>
      <p:sp>
        <p:nvSpPr>
          <p:cNvPr id="44037" name="AutoShape 4"/>
          <p:cNvSpPr>
            <a:spLocks noChangeArrowheads="1"/>
          </p:cNvSpPr>
          <p:nvPr/>
        </p:nvSpPr>
        <p:spPr bwMode="auto">
          <a:xfrm>
            <a:off x="2743200" y="2253057"/>
            <a:ext cx="1600200" cy="6858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4038" name="Line 5"/>
          <p:cNvSpPr>
            <a:spLocks noChangeShapeType="1"/>
          </p:cNvSpPr>
          <p:nvPr/>
        </p:nvSpPr>
        <p:spPr bwMode="auto">
          <a:xfrm>
            <a:off x="3505200" y="1719657"/>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4039" name="Line 6"/>
          <p:cNvSpPr>
            <a:spLocks noChangeShapeType="1"/>
          </p:cNvSpPr>
          <p:nvPr/>
        </p:nvSpPr>
        <p:spPr bwMode="auto">
          <a:xfrm>
            <a:off x="3505200" y="2938857"/>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4040" name="Line 7"/>
          <p:cNvSpPr>
            <a:spLocks noChangeShapeType="1"/>
          </p:cNvSpPr>
          <p:nvPr/>
        </p:nvSpPr>
        <p:spPr bwMode="auto">
          <a:xfrm>
            <a:off x="4343400" y="2634057"/>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4041" name="Text Box 8"/>
          <p:cNvSpPr txBox="1">
            <a:spLocks noChangeArrowheads="1"/>
          </p:cNvSpPr>
          <p:nvPr/>
        </p:nvSpPr>
        <p:spPr bwMode="auto">
          <a:xfrm>
            <a:off x="3733800" y="1719657"/>
            <a:ext cx="480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                   Repeticion   </a:t>
            </a:r>
          </a:p>
        </p:txBody>
      </p:sp>
      <p:sp>
        <p:nvSpPr>
          <p:cNvPr id="44042" name="Text Box 9"/>
          <p:cNvSpPr txBox="1">
            <a:spLocks noChangeArrowheads="1"/>
          </p:cNvSpPr>
          <p:nvPr/>
        </p:nvSpPr>
        <p:spPr bwMode="auto">
          <a:xfrm>
            <a:off x="5399088" y="2376882"/>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Actividad</a:t>
            </a:r>
          </a:p>
        </p:txBody>
      </p:sp>
      <p:sp>
        <p:nvSpPr>
          <p:cNvPr id="44043" name="Text Box 10"/>
          <p:cNvSpPr txBox="1">
            <a:spLocks noChangeArrowheads="1"/>
          </p:cNvSpPr>
          <p:nvPr/>
        </p:nvSpPr>
        <p:spPr bwMode="auto">
          <a:xfrm>
            <a:off x="3733800" y="3167457"/>
            <a:ext cx="121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Exito</a:t>
            </a:r>
          </a:p>
        </p:txBody>
      </p:sp>
      <p:sp>
        <p:nvSpPr>
          <p:cNvPr id="44044" name="Text Box 11"/>
          <p:cNvSpPr txBox="1">
            <a:spLocks noChangeArrowheads="1"/>
          </p:cNvSpPr>
          <p:nvPr/>
        </p:nvSpPr>
        <p:spPr bwMode="auto">
          <a:xfrm>
            <a:off x="5486400" y="3167457"/>
            <a:ext cx="182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Etiqueta</a:t>
            </a:r>
          </a:p>
        </p:txBody>
      </p:sp>
      <p:sp>
        <p:nvSpPr>
          <p:cNvPr id="44045" name="Line 12"/>
          <p:cNvSpPr>
            <a:spLocks noChangeShapeType="1"/>
          </p:cNvSpPr>
          <p:nvPr/>
        </p:nvSpPr>
        <p:spPr bwMode="auto">
          <a:xfrm>
            <a:off x="2438400" y="4310457"/>
            <a:ext cx="2209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4046" name="Line 13"/>
          <p:cNvSpPr>
            <a:spLocks noChangeShapeType="1"/>
          </p:cNvSpPr>
          <p:nvPr/>
        </p:nvSpPr>
        <p:spPr bwMode="auto">
          <a:xfrm>
            <a:off x="2819400" y="4005657"/>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4047" name="Line 14"/>
          <p:cNvSpPr>
            <a:spLocks noChangeShapeType="1"/>
          </p:cNvSpPr>
          <p:nvPr/>
        </p:nvSpPr>
        <p:spPr bwMode="auto">
          <a:xfrm>
            <a:off x="3111500" y="403582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4048" name="Line 15"/>
          <p:cNvSpPr>
            <a:spLocks noChangeShapeType="1"/>
          </p:cNvSpPr>
          <p:nvPr/>
        </p:nvSpPr>
        <p:spPr bwMode="auto">
          <a:xfrm>
            <a:off x="3429000" y="4046932"/>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4049" name="Line 16"/>
          <p:cNvSpPr>
            <a:spLocks noChangeShapeType="1"/>
          </p:cNvSpPr>
          <p:nvPr/>
        </p:nvSpPr>
        <p:spPr bwMode="auto">
          <a:xfrm>
            <a:off x="3886200" y="4005657"/>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4050" name="Line 17"/>
          <p:cNvSpPr>
            <a:spLocks noChangeShapeType="1"/>
          </p:cNvSpPr>
          <p:nvPr/>
        </p:nvSpPr>
        <p:spPr bwMode="auto">
          <a:xfrm>
            <a:off x="4265613" y="4018357"/>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4051" name="Line 18"/>
          <p:cNvSpPr>
            <a:spLocks noChangeShapeType="1"/>
          </p:cNvSpPr>
          <p:nvPr/>
        </p:nvSpPr>
        <p:spPr bwMode="auto">
          <a:xfrm>
            <a:off x="3276600" y="4310457"/>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4052" name="Line 19"/>
          <p:cNvSpPr>
            <a:spLocks noChangeShapeType="1"/>
          </p:cNvSpPr>
          <p:nvPr/>
        </p:nvSpPr>
        <p:spPr bwMode="auto">
          <a:xfrm>
            <a:off x="3733800" y="4310457"/>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4053" name="Text Box 20"/>
          <p:cNvSpPr txBox="1">
            <a:spLocks noChangeArrowheads="1"/>
          </p:cNvSpPr>
          <p:nvPr/>
        </p:nvSpPr>
        <p:spPr bwMode="auto">
          <a:xfrm>
            <a:off x="5257800" y="4158057"/>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Barra de sincronizacion</a:t>
            </a:r>
          </a:p>
        </p:txBody>
      </p:sp>
      <p:sp>
        <p:nvSpPr>
          <p:cNvPr id="44054" name="AutoShape 21"/>
          <p:cNvSpPr>
            <a:spLocks noChangeArrowheads="1"/>
          </p:cNvSpPr>
          <p:nvPr/>
        </p:nvSpPr>
        <p:spPr bwMode="auto">
          <a:xfrm>
            <a:off x="3200400" y="4800995"/>
            <a:ext cx="1371600" cy="838200"/>
          </a:xfrm>
          <a:prstGeom prst="flowChartDecision">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4055" name="Text Box 22"/>
          <p:cNvSpPr txBox="1">
            <a:spLocks noChangeArrowheads="1"/>
          </p:cNvSpPr>
          <p:nvPr/>
        </p:nvSpPr>
        <p:spPr bwMode="auto">
          <a:xfrm>
            <a:off x="5334000" y="4953395"/>
            <a:ext cx="312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Decision</a:t>
            </a:r>
          </a:p>
        </p:txBody>
      </p:sp>
      <p:sp>
        <p:nvSpPr>
          <p:cNvPr id="44056" name="Oval 23"/>
          <p:cNvSpPr>
            <a:spLocks noChangeArrowheads="1"/>
          </p:cNvSpPr>
          <p:nvPr/>
        </p:nvSpPr>
        <p:spPr bwMode="auto">
          <a:xfrm>
            <a:off x="2987675" y="6042420"/>
            <a:ext cx="3810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4057" name="Line 24"/>
          <p:cNvSpPr>
            <a:spLocks noChangeShapeType="1"/>
          </p:cNvSpPr>
          <p:nvPr/>
        </p:nvSpPr>
        <p:spPr bwMode="auto">
          <a:xfrm>
            <a:off x="3368675" y="6194820"/>
            <a:ext cx="762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4058" name="Oval 25"/>
          <p:cNvSpPr>
            <a:spLocks noChangeArrowheads="1"/>
          </p:cNvSpPr>
          <p:nvPr/>
        </p:nvSpPr>
        <p:spPr bwMode="auto">
          <a:xfrm>
            <a:off x="8702675" y="5966220"/>
            <a:ext cx="3810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4059" name="Line 26"/>
          <p:cNvSpPr>
            <a:spLocks noChangeShapeType="1"/>
          </p:cNvSpPr>
          <p:nvPr/>
        </p:nvSpPr>
        <p:spPr bwMode="auto">
          <a:xfrm>
            <a:off x="7940675" y="6118620"/>
            <a:ext cx="762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4060" name="Text Box 27"/>
          <p:cNvSpPr txBox="1">
            <a:spLocks noChangeArrowheads="1"/>
          </p:cNvSpPr>
          <p:nvPr/>
        </p:nvSpPr>
        <p:spPr bwMode="auto">
          <a:xfrm>
            <a:off x="4359275" y="6042420"/>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Inicio</a:t>
            </a:r>
          </a:p>
        </p:txBody>
      </p:sp>
      <p:sp>
        <p:nvSpPr>
          <p:cNvPr id="44061" name="Text Box 28"/>
          <p:cNvSpPr txBox="1">
            <a:spLocks noChangeArrowheads="1"/>
          </p:cNvSpPr>
          <p:nvPr/>
        </p:nvSpPr>
        <p:spPr bwMode="auto">
          <a:xfrm>
            <a:off x="6873875" y="604242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Fin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245973" y="989964"/>
            <a:ext cx="7772400" cy="762000"/>
          </a:xfrm>
        </p:spPr>
        <p:txBody>
          <a:bodyPr/>
          <a:lstStyle/>
          <a:p>
            <a:r>
              <a:rPr lang="es-ES_tradnl" dirty="0"/>
              <a:t>Ejemplo</a:t>
            </a:r>
          </a:p>
        </p:txBody>
      </p:sp>
      <p:sp>
        <p:nvSpPr>
          <p:cNvPr id="45059" name="AutoShape 4"/>
          <p:cNvSpPr>
            <a:spLocks noChangeArrowheads="1"/>
          </p:cNvSpPr>
          <p:nvPr/>
        </p:nvSpPr>
        <p:spPr bwMode="auto">
          <a:xfrm>
            <a:off x="5410200" y="2061526"/>
            <a:ext cx="1600200" cy="6858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nvGrpSpPr>
          <p:cNvPr id="45060" name="Group 7"/>
          <p:cNvGrpSpPr>
            <a:grpSpLocks/>
          </p:cNvGrpSpPr>
          <p:nvPr/>
        </p:nvGrpSpPr>
        <p:grpSpPr bwMode="auto">
          <a:xfrm>
            <a:off x="4267200" y="2213926"/>
            <a:ext cx="1143000" cy="304800"/>
            <a:chOff x="922" y="3347"/>
            <a:chExt cx="720" cy="192"/>
          </a:xfrm>
        </p:grpSpPr>
        <p:sp>
          <p:nvSpPr>
            <p:cNvPr id="45087" name="Oval 5"/>
            <p:cNvSpPr>
              <a:spLocks noChangeArrowheads="1"/>
            </p:cNvSpPr>
            <p:nvPr/>
          </p:nvSpPr>
          <p:spPr bwMode="auto">
            <a:xfrm>
              <a:off x="922" y="3347"/>
              <a:ext cx="240"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5088" name="Line 6"/>
            <p:cNvSpPr>
              <a:spLocks noChangeShapeType="1"/>
            </p:cNvSpPr>
            <p:nvPr/>
          </p:nvSpPr>
          <p:spPr bwMode="auto">
            <a:xfrm>
              <a:off x="1162" y="3443"/>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sp>
        <p:nvSpPr>
          <p:cNvPr id="45061" name="Text Box 8"/>
          <p:cNvSpPr txBox="1">
            <a:spLocks noChangeArrowheads="1"/>
          </p:cNvSpPr>
          <p:nvPr/>
        </p:nvSpPr>
        <p:spPr bwMode="auto">
          <a:xfrm>
            <a:off x="5521325" y="2109151"/>
            <a:ext cx="1371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spcBef>
                <a:spcPct val="50000"/>
              </a:spcBef>
            </a:pPr>
            <a:r>
              <a:rPr lang="es-ES_tradnl" sz="1800"/>
              <a:t>Recepción solicitud</a:t>
            </a:r>
            <a:endParaRPr lang="es-ES_tradnl"/>
          </a:p>
        </p:txBody>
      </p:sp>
      <p:sp>
        <p:nvSpPr>
          <p:cNvPr id="45062" name="Line 9"/>
          <p:cNvSpPr>
            <a:spLocks noChangeShapeType="1"/>
          </p:cNvSpPr>
          <p:nvPr/>
        </p:nvSpPr>
        <p:spPr bwMode="auto">
          <a:xfrm flipH="1">
            <a:off x="6248400" y="2747326"/>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5063" name="Line 10"/>
          <p:cNvSpPr>
            <a:spLocks noChangeShapeType="1"/>
          </p:cNvSpPr>
          <p:nvPr/>
        </p:nvSpPr>
        <p:spPr bwMode="auto">
          <a:xfrm>
            <a:off x="5562600" y="3052126"/>
            <a:ext cx="1371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5064" name="Line 11"/>
          <p:cNvSpPr>
            <a:spLocks noChangeShapeType="1"/>
          </p:cNvSpPr>
          <p:nvPr/>
        </p:nvSpPr>
        <p:spPr bwMode="auto">
          <a:xfrm flipH="1">
            <a:off x="5486400" y="3052126"/>
            <a:ext cx="4572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5065" name="Line 12"/>
          <p:cNvSpPr>
            <a:spLocks noChangeShapeType="1"/>
          </p:cNvSpPr>
          <p:nvPr/>
        </p:nvSpPr>
        <p:spPr bwMode="auto">
          <a:xfrm>
            <a:off x="6553200" y="3052126"/>
            <a:ext cx="4572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5066" name="Text Box 13"/>
          <p:cNvSpPr txBox="1">
            <a:spLocks noChangeArrowheads="1"/>
          </p:cNvSpPr>
          <p:nvPr/>
        </p:nvSpPr>
        <p:spPr bwMode="auto">
          <a:xfrm>
            <a:off x="7239000" y="3204526"/>
            <a:ext cx="1981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sz="1600"/>
              <a:t>*         Por cada curso</a:t>
            </a:r>
            <a:endParaRPr lang="es-ES_tradnl"/>
          </a:p>
        </p:txBody>
      </p:sp>
      <p:sp>
        <p:nvSpPr>
          <p:cNvPr id="45067" name="AutoShape 14"/>
          <p:cNvSpPr>
            <a:spLocks noChangeArrowheads="1"/>
          </p:cNvSpPr>
          <p:nvPr/>
        </p:nvSpPr>
        <p:spPr bwMode="auto">
          <a:xfrm>
            <a:off x="4613275" y="3461701"/>
            <a:ext cx="1600200" cy="6858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5068" name="Text Box 16"/>
          <p:cNvSpPr txBox="1">
            <a:spLocks noChangeArrowheads="1"/>
          </p:cNvSpPr>
          <p:nvPr/>
        </p:nvSpPr>
        <p:spPr bwMode="auto">
          <a:xfrm>
            <a:off x="4648200" y="3433126"/>
            <a:ext cx="1371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spcBef>
                <a:spcPct val="50000"/>
              </a:spcBef>
            </a:pPr>
            <a:r>
              <a:rPr lang="es-ES_tradnl" sz="1800"/>
              <a:t>Verifica estudiante</a:t>
            </a:r>
            <a:endParaRPr lang="es-ES_tradnl"/>
          </a:p>
        </p:txBody>
      </p:sp>
      <p:sp>
        <p:nvSpPr>
          <p:cNvPr id="45069" name="AutoShape 17"/>
          <p:cNvSpPr>
            <a:spLocks noChangeArrowheads="1"/>
          </p:cNvSpPr>
          <p:nvPr/>
        </p:nvSpPr>
        <p:spPr bwMode="auto">
          <a:xfrm>
            <a:off x="6705600" y="3585526"/>
            <a:ext cx="1600200" cy="6858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5070" name="Text Box 18"/>
          <p:cNvSpPr txBox="1">
            <a:spLocks noChangeArrowheads="1"/>
          </p:cNvSpPr>
          <p:nvPr/>
        </p:nvSpPr>
        <p:spPr bwMode="auto">
          <a:xfrm>
            <a:off x="6781800" y="3585526"/>
            <a:ext cx="152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spcBef>
                <a:spcPct val="50000"/>
              </a:spcBef>
            </a:pPr>
            <a:r>
              <a:rPr lang="es-ES_tradnl" sz="1800"/>
              <a:t>Verifica disponibilidad</a:t>
            </a:r>
            <a:endParaRPr lang="es-ES_tradnl"/>
          </a:p>
        </p:txBody>
      </p:sp>
      <p:sp>
        <p:nvSpPr>
          <p:cNvPr id="45071" name="Line 19"/>
          <p:cNvSpPr>
            <a:spLocks noChangeShapeType="1"/>
          </p:cNvSpPr>
          <p:nvPr/>
        </p:nvSpPr>
        <p:spPr bwMode="auto">
          <a:xfrm flipH="1">
            <a:off x="3810000" y="3814126"/>
            <a:ext cx="990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5072" name="Line 20"/>
          <p:cNvSpPr>
            <a:spLocks noChangeShapeType="1"/>
          </p:cNvSpPr>
          <p:nvPr/>
        </p:nvSpPr>
        <p:spPr bwMode="auto">
          <a:xfrm>
            <a:off x="5410200" y="4118926"/>
            <a:ext cx="0"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5073" name="Text Box 21"/>
          <p:cNvSpPr txBox="1">
            <a:spLocks noChangeArrowheads="1"/>
          </p:cNvSpPr>
          <p:nvPr/>
        </p:nvSpPr>
        <p:spPr bwMode="auto">
          <a:xfrm>
            <a:off x="5638800" y="4423727"/>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sz="1800"/>
              <a:t>Exito</a:t>
            </a:r>
            <a:endParaRPr lang="es-ES_tradnl"/>
          </a:p>
        </p:txBody>
      </p:sp>
      <p:sp>
        <p:nvSpPr>
          <p:cNvPr id="45074" name="Text Box 22"/>
          <p:cNvSpPr txBox="1">
            <a:spLocks noChangeArrowheads="1"/>
          </p:cNvSpPr>
          <p:nvPr/>
        </p:nvSpPr>
        <p:spPr bwMode="auto">
          <a:xfrm>
            <a:off x="3657600" y="3280727"/>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sz="1800"/>
              <a:t>Fallo</a:t>
            </a:r>
            <a:endParaRPr lang="es-ES_tradnl"/>
          </a:p>
        </p:txBody>
      </p:sp>
      <p:sp>
        <p:nvSpPr>
          <p:cNvPr id="45075" name="AutoShape 23"/>
          <p:cNvSpPr>
            <a:spLocks noChangeArrowheads="1"/>
          </p:cNvSpPr>
          <p:nvPr/>
        </p:nvSpPr>
        <p:spPr bwMode="auto">
          <a:xfrm>
            <a:off x="2174875" y="3461701"/>
            <a:ext cx="1600200" cy="6858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5076" name="Text Box 24"/>
          <p:cNvSpPr txBox="1">
            <a:spLocks noChangeArrowheads="1"/>
          </p:cNvSpPr>
          <p:nvPr/>
        </p:nvSpPr>
        <p:spPr bwMode="auto">
          <a:xfrm>
            <a:off x="2209800" y="3433126"/>
            <a:ext cx="1371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spcBef>
                <a:spcPct val="50000"/>
              </a:spcBef>
            </a:pPr>
            <a:r>
              <a:rPr lang="es-ES_tradnl" sz="1800"/>
              <a:t>Cancelar solicitud</a:t>
            </a:r>
            <a:endParaRPr lang="es-ES_tradnl"/>
          </a:p>
        </p:txBody>
      </p:sp>
      <p:sp>
        <p:nvSpPr>
          <p:cNvPr id="45077" name="Line 25"/>
          <p:cNvSpPr>
            <a:spLocks noChangeShapeType="1"/>
          </p:cNvSpPr>
          <p:nvPr/>
        </p:nvSpPr>
        <p:spPr bwMode="auto">
          <a:xfrm>
            <a:off x="7315200" y="4195127"/>
            <a:ext cx="0" cy="7032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5078" name="Line 26"/>
          <p:cNvSpPr>
            <a:spLocks noChangeShapeType="1"/>
          </p:cNvSpPr>
          <p:nvPr/>
        </p:nvSpPr>
        <p:spPr bwMode="auto">
          <a:xfrm>
            <a:off x="4876800" y="4957126"/>
            <a:ext cx="2971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5079" name="Line 27"/>
          <p:cNvSpPr>
            <a:spLocks noChangeShapeType="1"/>
          </p:cNvSpPr>
          <p:nvPr/>
        </p:nvSpPr>
        <p:spPr bwMode="auto">
          <a:xfrm>
            <a:off x="5638800" y="4957126"/>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5080" name="AutoShape 28"/>
          <p:cNvSpPr>
            <a:spLocks noChangeArrowheads="1"/>
          </p:cNvSpPr>
          <p:nvPr/>
        </p:nvSpPr>
        <p:spPr bwMode="auto">
          <a:xfrm>
            <a:off x="4953000" y="5671501"/>
            <a:ext cx="1600200" cy="6858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5081" name="Text Box 29"/>
          <p:cNvSpPr txBox="1">
            <a:spLocks noChangeArrowheads="1"/>
          </p:cNvSpPr>
          <p:nvPr/>
        </p:nvSpPr>
        <p:spPr bwMode="auto">
          <a:xfrm>
            <a:off x="4987925" y="5642927"/>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spcBef>
                <a:spcPct val="50000"/>
              </a:spcBef>
            </a:pPr>
            <a:r>
              <a:rPr lang="es-ES_tradnl" sz="1800"/>
              <a:t>Matricula</a:t>
            </a:r>
            <a:endParaRPr lang="es-ES_tradnl"/>
          </a:p>
        </p:txBody>
      </p:sp>
      <p:sp>
        <p:nvSpPr>
          <p:cNvPr id="45082" name="Line 30"/>
          <p:cNvSpPr>
            <a:spLocks noChangeShapeType="1"/>
          </p:cNvSpPr>
          <p:nvPr/>
        </p:nvSpPr>
        <p:spPr bwMode="auto">
          <a:xfrm>
            <a:off x="7543800" y="5004751"/>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5083" name="AutoShape 31"/>
          <p:cNvSpPr>
            <a:spLocks noChangeArrowheads="1"/>
          </p:cNvSpPr>
          <p:nvPr/>
        </p:nvSpPr>
        <p:spPr bwMode="auto">
          <a:xfrm>
            <a:off x="6858000" y="5719126"/>
            <a:ext cx="1600200" cy="6858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5084" name="Text Box 32"/>
          <p:cNvSpPr txBox="1">
            <a:spLocks noChangeArrowheads="1"/>
          </p:cNvSpPr>
          <p:nvPr/>
        </p:nvSpPr>
        <p:spPr bwMode="auto">
          <a:xfrm>
            <a:off x="6892925" y="5690551"/>
            <a:ext cx="1371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spcBef>
                <a:spcPct val="50000"/>
              </a:spcBef>
            </a:pPr>
            <a:r>
              <a:rPr lang="es-ES_tradnl" sz="1800"/>
              <a:t>Actualiza Curso</a:t>
            </a:r>
            <a:endParaRPr lang="es-ES_tradnl"/>
          </a:p>
        </p:txBody>
      </p:sp>
      <p:sp>
        <p:nvSpPr>
          <p:cNvPr id="45085" name="Oval 33"/>
          <p:cNvSpPr>
            <a:spLocks noChangeArrowheads="1"/>
          </p:cNvSpPr>
          <p:nvPr/>
        </p:nvSpPr>
        <p:spPr bwMode="auto">
          <a:xfrm>
            <a:off x="3810000" y="5795326"/>
            <a:ext cx="3810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5086" name="Line 34"/>
          <p:cNvSpPr>
            <a:spLocks noChangeShapeType="1"/>
          </p:cNvSpPr>
          <p:nvPr/>
        </p:nvSpPr>
        <p:spPr bwMode="auto">
          <a:xfrm>
            <a:off x="4191000" y="5947726"/>
            <a:ext cx="7620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2" name="Flecha: hacia la izquierda 1">
            <a:hlinkClick r:id="rId3" action="ppaction://hlinksldjump"/>
            <a:extLst>
              <a:ext uri="{FF2B5EF4-FFF2-40B4-BE49-F238E27FC236}">
                <a16:creationId xmlns:a16="http://schemas.microsoft.com/office/drawing/2014/main" id="{242FED62-3847-32FB-3AD6-06DF11B81D23}"/>
              </a:ext>
            </a:extLst>
          </p:cNvPr>
          <p:cNvSpPr/>
          <p:nvPr/>
        </p:nvSpPr>
        <p:spPr>
          <a:xfrm>
            <a:off x="10912476" y="5745892"/>
            <a:ext cx="987082" cy="448928"/>
          </a:xfrm>
          <a:prstGeom prst="leftArrow">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a:xfrm>
            <a:off x="1208903" y="1007075"/>
            <a:ext cx="7772400" cy="685800"/>
          </a:xfrm>
        </p:spPr>
        <p:txBody>
          <a:bodyPr>
            <a:normAutofit fontScale="90000"/>
          </a:bodyPr>
          <a:lstStyle/>
          <a:p>
            <a:r>
              <a:rPr lang="es-ES_tradnl" dirty="0"/>
              <a:t>Diagramas de interacción</a:t>
            </a:r>
          </a:p>
        </p:txBody>
      </p:sp>
      <p:sp>
        <p:nvSpPr>
          <p:cNvPr id="58372" name="Rectangle 3"/>
          <p:cNvSpPr>
            <a:spLocks noGrp="1" noChangeArrowheads="1"/>
          </p:cNvSpPr>
          <p:nvPr>
            <p:ph idx="1"/>
          </p:nvPr>
        </p:nvSpPr>
        <p:spPr>
          <a:xfrm>
            <a:off x="1342766" y="1886465"/>
            <a:ext cx="9209903" cy="5105400"/>
          </a:xfrm>
        </p:spPr>
        <p:txBody>
          <a:bodyPr/>
          <a:lstStyle/>
          <a:p>
            <a:pPr marL="7938" indent="-7938">
              <a:buNone/>
            </a:pPr>
            <a:r>
              <a:rPr lang="es-ES_tradnl" sz="2800" dirty="0"/>
              <a:t>Son diagramas que describen el comportamiento dinámico del sistema. Hay dos tipos:</a:t>
            </a:r>
          </a:p>
          <a:p>
            <a:pPr marL="7938" indent="-7938">
              <a:buNone/>
            </a:pPr>
            <a:r>
              <a:rPr lang="es-ES_tradnl" sz="2800" dirty="0"/>
              <a:t>– Diagramas de Secuencia</a:t>
            </a:r>
          </a:p>
          <a:p>
            <a:pPr marL="7938" indent="-7938">
              <a:buNone/>
            </a:pPr>
            <a:r>
              <a:rPr lang="es-ES_tradnl" sz="2800" dirty="0"/>
              <a:t>– Diagramas de Colaboración </a:t>
            </a:r>
          </a:p>
          <a:p>
            <a:pPr marL="7938" indent="-7938">
              <a:buNone/>
            </a:pPr>
            <a:r>
              <a:rPr lang="es-ES_tradnl" sz="2800" dirty="0"/>
              <a:t>Están compuestos fundamentalmente por:</a:t>
            </a:r>
          </a:p>
          <a:p>
            <a:pPr marL="7938" indent="-7938">
              <a:buNone/>
            </a:pPr>
            <a:r>
              <a:rPr lang="es-ES_tradnl" sz="2800" dirty="0"/>
              <a:t>– Objetos</a:t>
            </a:r>
          </a:p>
          <a:p>
            <a:pPr marL="7938" indent="-7938">
              <a:buNone/>
            </a:pPr>
            <a:r>
              <a:rPr lang="es-ES_tradnl" sz="2800" dirty="0"/>
              <a:t>– Intercambio de mensajes</a:t>
            </a:r>
          </a:p>
          <a:p>
            <a:pPr marL="7938" indent="-7938">
              <a:buNone/>
            </a:pPr>
            <a:r>
              <a:rPr lang="es-ES_tradnl" sz="2800" dirty="0"/>
              <a:t>– Orden o secuencia de invocación de los mensajes</a:t>
            </a:r>
          </a:p>
        </p:txBody>
      </p:sp>
      <p:sp>
        <p:nvSpPr>
          <p:cNvPr id="58370" name="4 Marcador de número de diapositiva"/>
          <p:cNvSpPr>
            <a:spLocks noGrp="1"/>
          </p:cNvSpPr>
          <p:nvPr>
            <p:ph type="sldNum" sz="quarter" idx="12"/>
          </p:nvPr>
        </p:nvSpPr>
        <p:spPr>
          <a:xfrm>
            <a:off x="4648200" y="6248400"/>
            <a:ext cx="2895600" cy="457200"/>
          </a:xfrm>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fld id="{AF0AF1A2-3D74-4F21-983F-22681977F83D}" type="slidenum">
              <a:rPr lang="es-ES_tradnl" sz="1400"/>
              <a:pPr algn="ctr"/>
              <a:t>54</a:t>
            </a:fld>
            <a:endParaRPr lang="es-ES_tradnl" sz="14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2"/>
          <p:cNvSpPr>
            <a:spLocks noGrp="1" noChangeArrowheads="1"/>
          </p:cNvSpPr>
          <p:nvPr>
            <p:ph type="title"/>
          </p:nvPr>
        </p:nvSpPr>
        <p:spPr>
          <a:xfrm>
            <a:off x="1219200" y="1140943"/>
            <a:ext cx="7772400" cy="609600"/>
          </a:xfrm>
        </p:spPr>
        <p:txBody>
          <a:bodyPr>
            <a:normAutofit fontScale="90000"/>
          </a:bodyPr>
          <a:lstStyle/>
          <a:p>
            <a:r>
              <a:rPr lang="es-ES_tradnl" dirty="0">
                <a:solidFill>
                  <a:schemeClr val="tx1"/>
                </a:solidFill>
              </a:rPr>
              <a:t>Diagrama de Secuencia</a:t>
            </a:r>
          </a:p>
        </p:txBody>
      </p:sp>
      <p:sp>
        <p:nvSpPr>
          <p:cNvPr id="59395" name="3 Marcador de número de diapositiva"/>
          <p:cNvSpPr>
            <a:spLocks noGrp="1"/>
          </p:cNvSpPr>
          <p:nvPr>
            <p:ph type="sldNum" sz="quarter" idx="12"/>
          </p:nvPr>
        </p:nvSpPr>
        <p:spPr>
          <a:xfrm>
            <a:off x="4648200" y="6248400"/>
            <a:ext cx="2895600" cy="457200"/>
          </a:xfrm>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fld id="{A995781C-E432-4CC9-AC7D-243B76F11E20}" type="slidenum">
              <a:rPr lang="es-ES_tradnl" sz="1400"/>
              <a:pPr algn="ctr"/>
              <a:t>55</a:t>
            </a:fld>
            <a:endParaRPr lang="es-ES_tradnl" sz="1400"/>
          </a:p>
        </p:txBody>
      </p:sp>
      <p:sp>
        <p:nvSpPr>
          <p:cNvPr id="59397" name="Rectangle 3"/>
          <p:cNvSpPr>
            <a:spLocks noChangeArrowheads="1"/>
          </p:cNvSpPr>
          <p:nvPr/>
        </p:nvSpPr>
        <p:spPr bwMode="auto">
          <a:xfrm>
            <a:off x="2514600" y="1979143"/>
            <a:ext cx="1524000" cy="838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9398" name="Rectangle 4"/>
          <p:cNvSpPr>
            <a:spLocks noChangeArrowheads="1"/>
          </p:cNvSpPr>
          <p:nvPr/>
        </p:nvSpPr>
        <p:spPr bwMode="auto">
          <a:xfrm>
            <a:off x="5257800" y="1979143"/>
            <a:ext cx="1600200" cy="914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9399" name="Rectangle 5"/>
          <p:cNvSpPr>
            <a:spLocks noChangeArrowheads="1"/>
          </p:cNvSpPr>
          <p:nvPr/>
        </p:nvSpPr>
        <p:spPr bwMode="auto">
          <a:xfrm>
            <a:off x="8229600" y="1979143"/>
            <a:ext cx="1447800" cy="914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9400" name="Line 6"/>
          <p:cNvSpPr>
            <a:spLocks noChangeShapeType="1"/>
          </p:cNvSpPr>
          <p:nvPr/>
        </p:nvSpPr>
        <p:spPr bwMode="auto">
          <a:xfrm>
            <a:off x="3200400" y="2590800"/>
            <a:ext cx="0" cy="3505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9401" name="Line 7"/>
          <p:cNvSpPr>
            <a:spLocks noChangeShapeType="1"/>
          </p:cNvSpPr>
          <p:nvPr/>
        </p:nvSpPr>
        <p:spPr bwMode="auto">
          <a:xfrm>
            <a:off x="6019800" y="2590800"/>
            <a:ext cx="0" cy="3048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9402" name="Line 8"/>
          <p:cNvSpPr>
            <a:spLocks noChangeShapeType="1"/>
          </p:cNvSpPr>
          <p:nvPr/>
        </p:nvSpPr>
        <p:spPr bwMode="auto">
          <a:xfrm>
            <a:off x="8991600" y="3122143"/>
            <a:ext cx="0" cy="297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9403" name="Rectangle 9"/>
          <p:cNvSpPr>
            <a:spLocks noChangeArrowheads="1"/>
          </p:cNvSpPr>
          <p:nvPr/>
        </p:nvSpPr>
        <p:spPr bwMode="auto">
          <a:xfrm>
            <a:off x="3124200" y="3503143"/>
            <a:ext cx="152400" cy="29718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9404" name="Rectangle 10"/>
          <p:cNvSpPr>
            <a:spLocks noChangeArrowheads="1"/>
          </p:cNvSpPr>
          <p:nvPr/>
        </p:nvSpPr>
        <p:spPr bwMode="auto">
          <a:xfrm>
            <a:off x="5943600" y="4341343"/>
            <a:ext cx="152400" cy="16764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9405" name="Line 11"/>
          <p:cNvSpPr>
            <a:spLocks noChangeShapeType="1"/>
          </p:cNvSpPr>
          <p:nvPr/>
        </p:nvSpPr>
        <p:spPr bwMode="auto">
          <a:xfrm>
            <a:off x="3200400" y="4341343"/>
            <a:ext cx="2819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9406" name="Line 12"/>
          <p:cNvSpPr>
            <a:spLocks noChangeShapeType="1"/>
          </p:cNvSpPr>
          <p:nvPr/>
        </p:nvSpPr>
        <p:spPr bwMode="auto">
          <a:xfrm>
            <a:off x="6019800" y="4569943"/>
            <a:ext cx="2895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9407" name="Rectangle 13"/>
          <p:cNvSpPr>
            <a:spLocks noChangeArrowheads="1"/>
          </p:cNvSpPr>
          <p:nvPr/>
        </p:nvSpPr>
        <p:spPr bwMode="auto">
          <a:xfrm>
            <a:off x="8915400" y="4493743"/>
            <a:ext cx="152400" cy="457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9408" name="Rectangle 14"/>
          <p:cNvSpPr>
            <a:spLocks noChangeArrowheads="1"/>
          </p:cNvSpPr>
          <p:nvPr/>
        </p:nvSpPr>
        <p:spPr bwMode="auto">
          <a:xfrm>
            <a:off x="8915400" y="5331943"/>
            <a:ext cx="152400" cy="457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9409" name="Line 15"/>
          <p:cNvSpPr>
            <a:spLocks noChangeShapeType="1"/>
          </p:cNvSpPr>
          <p:nvPr/>
        </p:nvSpPr>
        <p:spPr bwMode="auto">
          <a:xfrm>
            <a:off x="6019800" y="5331943"/>
            <a:ext cx="2895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9410" name="Line 16"/>
          <p:cNvSpPr>
            <a:spLocks noChangeShapeType="1"/>
          </p:cNvSpPr>
          <p:nvPr/>
        </p:nvSpPr>
        <p:spPr bwMode="auto">
          <a:xfrm flipH="1">
            <a:off x="3276600" y="6017743"/>
            <a:ext cx="2667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59411" name="Text Box 17"/>
          <p:cNvSpPr txBox="1">
            <a:spLocks noChangeArrowheads="1"/>
          </p:cNvSpPr>
          <p:nvPr/>
        </p:nvSpPr>
        <p:spPr bwMode="auto">
          <a:xfrm>
            <a:off x="3352800" y="3960343"/>
            <a:ext cx="243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Indica seleccion</a:t>
            </a:r>
          </a:p>
        </p:txBody>
      </p:sp>
      <p:sp>
        <p:nvSpPr>
          <p:cNvPr id="59412" name="Text Box 18"/>
          <p:cNvSpPr txBox="1">
            <a:spLocks noChangeArrowheads="1"/>
          </p:cNvSpPr>
          <p:nvPr/>
        </p:nvSpPr>
        <p:spPr bwMode="auto">
          <a:xfrm>
            <a:off x="2590800" y="2131543"/>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spcBef>
                <a:spcPct val="50000"/>
              </a:spcBef>
            </a:pPr>
            <a:r>
              <a:rPr lang="es-ES_tradnl" u="sng"/>
              <a:t>Pepito </a:t>
            </a:r>
            <a:endParaRPr lang="es-ES_tradnl"/>
          </a:p>
        </p:txBody>
      </p:sp>
      <p:sp>
        <p:nvSpPr>
          <p:cNvPr id="59413" name="Text Box 19"/>
          <p:cNvSpPr txBox="1">
            <a:spLocks noChangeArrowheads="1"/>
          </p:cNvSpPr>
          <p:nvPr/>
        </p:nvSpPr>
        <p:spPr bwMode="auto">
          <a:xfrm>
            <a:off x="8305800" y="2207743"/>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spcBef>
                <a:spcPct val="50000"/>
              </a:spcBef>
            </a:pPr>
            <a:r>
              <a:rPr lang="es-ES_tradnl"/>
              <a:t>Ing, Soft</a:t>
            </a:r>
          </a:p>
        </p:txBody>
      </p:sp>
      <p:sp>
        <p:nvSpPr>
          <p:cNvPr id="59414" name="Text Box 20"/>
          <p:cNvSpPr txBox="1">
            <a:spLocks noChangeArrowheads="1"/>
          </p:cNvSpPr>
          <p:nvPr/>
        </p:nvSpPr>
        <p:spPr bwMode="auto">
          <a:xfrm>
            <a:off x="5334000" y="2131543"/>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Seleccion</a:t>
            </a:r>
          </a:p>
        </p:txBody>
      </p:sp>
      <p:sp>
        <p:nvSpPr>
          <p:cNvPr id="59415" name="Text Box 21"/>
          <p:cNvSpPr txBox="1">
            <a:spLocks noChangeArrowheads="1"/>
          </p:cNvSpPr>
          <p:nvPr/>
        </p:nvSpPr>
        <p:spPr bwMode="auto">
          <a:xfrm>
            <a:off x="3429000" y="4265143"/>
            <a:ext cx="2209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Curso Ing. Soft</a:t>
            </a:r>
          </a:p>
        </p:txBody>
      </p:sp>
      <p:sp>
        <p:nvSpPr>
          <p:cNvPr id="59416" name="Text Box 22"/>
          <p:cNvSpPr txBox="1">
            <a:spLocks noChangeArrowheads="1"/>
          </p:cNvSpPr>
          <p:nvPr/>
        </p:nvSpPr>
        <p:spPr bwMode="auto">
          <a:xfrm>
            <a:off x="6477000" y="4112743"/>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Curso disponible?</a:t>
            </a:r>
          </a:p>
        </p:txBody>
      </p:sp>
      <p:sp>
        <p:nvSpPr>
          <p:cNvPr id="59417" name="Text Box 23"/>
          <p:cNvSpPr txBox="1">
            <a:spLocks noChangeArrowheads="1"/>
          </p:cNvSpPr>
          <p:nvPr/>
        </p:nvSpPr>
        <p:spPr bwMode="auto">
          <a:xfrm>
            <a:off x="6781800" y="5408143"/>
            <a:ext cx="259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Agregar a Pepito</a:t>
            </a:r>
          </a:p>
        </p:txBody>
      </p:sp>
      <p:sp>
        <p:nvSpPr>
          <p:cNvPr id="59418" name="Text Box 24"/>
          <p:cNvSpPr txBox="1">
            <a:spLocks noChangeArrowheads="1"/>
          </p:cNvSpPr>
          <p:nvPr/>
        </p:nvSpPr>
        <p:spPr bwMode="auto">
          <a:xfrm>
            <a:off x="3352800" y="5484343"/>
            <a:ext cx="243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spcBef>
                <a:spcPct val="50000"/>
              </a:spcBef>
            </a:pPr>
            <a:r>
              <a:rPr lang="es-ES_tradnl"/>
              <a:t>Matriculado</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3"/>
          <p:cNvSpPr>
            <a:spLocks noGrp="1" noChangeArrowheads="1"/>
          </p:cNvSpPr>
          <p:nvPr>
            <p:ph type="title"/>
          </p:nvPr>
        </p:nvSpPr>
        <p:spPr>
          <a:xfrm>
            <a:off x="1143000" y="886602"/>
            <a:ext cx="7772400" cy="838200"/>
          </a:xfrm>
        </p:spPr>
        <p:txBody>
          <a:bodyPr/>
          <a:lstStyle/>
          <a:p>
            <a:r>
              <a:rPr lang="es-ES_tradnl" dirty="0"/>
              <a:t>Diagramas de Colaboración</a:t>
            </a:r>
          </a:p>
        </p:txBody>
      </p:sp>
      <p:sp>
        <p:nvSpPr>
          <p:cNvPr id="60418" name="4 Marcador de número de diapositiva"/>
          <p:cNvSpPr>
            <a:spLocks noGrp="1"/>
          </p:cNvSpPr>
          <p:nvPr>
            <p:ph type="sldNum" sz="quarter" idx="12"/>
          </p:nvPr>
        </p:nvSpPr>
        <p:spPr>
          <a:xfrm>
            <a:off x="4648200" y="6248400"/>
            <a:ext cx="2895600" cy="457200"/>
          </a:xfrm>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fld id="{ED33866D-9AF5-4268-8FA7-C4ACD1C96577}" type="slidenum">
              <a:rPr lang="es-ES_tradnl" sz="1400"/>
              <a:pPr algn="ctr"/>
              <a:t>56</a:t>
            </a:fld>
            <a:endParaRPr lang="es-ES_tradnl" sz="1400"/>
          </a:p>
        </p:txBody>
      </p:sp>
      <p:sp>
        <p:nvSpPr>
          <p:cNvPr id="60419" name="Oval 2"/>
          <p:cNvSpPr>
            <a:spLocks noChangeArrowheads="1"/>
          </p:cNvSpPr>
          <p:nvPr/>
        </p:nvSpPr>
        <p:spPr bwMode="auto">
          <a:xfrm>
            <a:off x="8534400" y="3560810"/>
            <a:ext cx="685800" cy="1066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0421" name="Rectangle 4"/>
          <p:cNvSpPr>
            <a:spLocks noChangeArrowheads="1"/>
          </p:cNvSpPr>
          <p:nvPr/>
        </p:nvSpPr>
        <p:spPr bwMode="auto">
          <a:xfrm>
            <a:off x="2286000" y="4170410"/>
            <a:ext cx="2590800" cy="838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0422" name="Rectangle 5"/>
          <p:cNvSpPr>
            <a:spLocks noChangeArrowheads="1"/>
          </p:cNvSpPr>
          <p:nvPr/>
        </p:nvSpPr>
        <p:spPr bwMode="auto">
          <a:xfrm>
            <a:off x="7543800" y="4170410"/>
            <a:ext cx="2590800" cy="838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0423" name="Line 6"/>
          <p:cNvSpPr>
            <a:spLocks noChangeShapeType="1"/>
          </p:cNvSpPr>
          <p:nvPr/>
        </p:nvSpPr>
        <p:spPr bwMode="auto">
          <a:xfrm>
            <a:off x="4876800" y="4551410"/>
            <a:ext cx="2667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0424" name="Line 7"/>
          <p:cNvSpPr>
            <a:spLocks noChangeShapeType="1"/>
          </p:cNvSpPr>
          <p:nvPr/>
        </p:nvSpPr>
        <p:spPr bwMode="auto">
          <a:xfrm>
            <a:off x="5638800" y="3713210"/>
            <a:ext cx="990600" cy="0"/>
          </a:xfrm>
          <a:prstGeom prst="line">
            <a:avLst/>
          </a:prstGeom>
          <a:noFill/>
          <a:ln w="9525">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0425" name="Oval 8"/>
          <p:cNvSpPr>
            <a:spLocks noChangeArrowheads="1"/>
          </p:cNvSpPr>
          <p:nvPr/>
        </p:nvSpPr>
        <p:spPr bwMode="auto">
          <a:xfrm>
            <a:off x="6553200" y="4018010"/>
            <a:ext cx="228600" cy="2286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0426" name="Line 9"/>
          <p:cNvSpPr>
            <a:spLocks noChangeShapeType="1"/>
          </p:cNvSpPr>
          <p:nvPr/>
        </p:nvSpPr>
        <p:spPr bwMode="auto">
          <a:xfrm flipH="1">
            <a:off x="5638800" y="4135485"/>
            <a:ext cx="914400" cy="0"/>
          </a:xfrm>
          <a:prstGeom prst="line">
            <a:avLst/>
          </a:prstGeom>
          <a:noFill/>
          <a:ln w="9525">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0427" name="Text Box 10"/>
          <p:cNvSpPr txBox="1">
            <a:spLocks noChangeArrowheads="1"/>
          </p:cNvSpPr>
          <p:nvPr/>
        </p:nvSpPr>
        <p:spPr bwMode="auto">
          <a:xfrm>
            <a:off x="2667000" y="348461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Cliente</a:t>
            </a:r>
          </a:p>
        </p:txBody>
      </p:sp>
      <p:sp>
        <p:nvSpPr>
          <p:cNvPr id="60428" name="Text Box 11"/>
          <p:cNvSpPr txBox="1">
            <a:spLocks noChangeArrowheads="1"/>
          </p:cNvSpPr>
          <p:nvPr/>
        </p:nvSpPr>
        <p:spPr bwMode="auto">
          <a:xfrm>
            <a:off x="7772400" y="5237210"/>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Matriculador</a:t>
            </a:r>
          </a:p>
        </p:txBody>
      </p:sp>
      <p:sp>
        <p:nvSpPr>
          <p:cNvPr id="60429" name="Text Box 12"/>
          <p:cNvSpPr txBox="1">
            <a:spLocks noChangeArrowheads="1"/>
          </p:cNvSpPr>
          <p:nvPr/>
        </p:nvSpPr>
        <p:spPr bwMode="auto">
          <a:xfrm>
            <a:off x="2362200" y="4322810"/>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:Selecion de Curso</a:t>
            </a:r>
          </a:p>
        </p:txBody>
      </p:sp>
      <p:sp>
        <p:nvSpPr>
          <p:cNvPr id="60430" name="Text Box 13"/>
          <p:cNvSpPr txBox="1">
            <a:spLocks noChangeArrowheads="1"/>
          </p:cNvSpPr>
          <p:nvPr/>
        </p:nvSpPr>
        <p:spPr bwMode="auto">
          <a:xfrm>
            <a:off x="7620000" y="4399010"/>
            <a:ext cx="2209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IS: Curso</a:t>
            </a:r>
          </a:p>
        </p:txBody>
      </p:sp>
      <p:sp>
        <p:nvSpPr>
          <p:cNvPr id="60431" name="Line 14"/>
          <p:cNvSpPr>
            <a:spLocks noChangeShapeType="1"/>
          </p:cNvSpPr>
          <p:nvPr/>
        </p:nvSpPr>
        <p:spPr bwMode="auto">
          <a:xfrm>
            <a:off x="8382000" y="3332210"/>
            <a:ext cx="990600" cy="0"/>
          </a:xfrm>
          <a:prstGeom prst="line">
            <a:avLst/>
          </a:prstGeom>
          <a:noFill/>
          <a:ln w="9525">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0432" name="Text Box 15"/>
          <p:cNvSpPr txBox="1">
            <a:spLocks noChangeArrowheads="1"/>
          </p:cNvSpPr>
          <p:nvPr/>
        </p:nvSpPr>
        <p:spPr bwMode="auto">
          <a:xfrm>
            <a:off x="4953000" y="3103610"/>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1:Precedencia?</a:t>
            </a:r>
          </a:p>
        </p:txBody>
      </p:sp>
      <p:sp>
        <p:nvSpPr>
          <p:cNvPr id="60433" name="Text Box 16"/>
          <p:cNvSpPr txBox="1">
            <a:spLocks noChangeArrowheads="1"/>
          </p:cNvSpPr>
          <p:nvPr/>
        </p:nvSpPr>
        <p:spPr bwMode="auto">
          <a:xfrm>
            <a:off x="6858000" y="4018010"/>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true</a:t>
            </a:r>
          </a:p>
        </p:txBody>
      </p:sp>
      <p:sp>
        <p:nvSpPr>
          <p:cNvPr id="60434" name="Text Box 17"/>
          <p:cNvSpPr txBox="1">
            <a:spLocks noChangeArrowheads="1"/>
          </p:cNvSpPr>
          <p:nvPr/>
        </p:nvSpPr>
        <p:spPr bwMode="auto">
          <a:xfrm>
            <a:off x="8077200" y="2509886"/>
            <a:ext cx="2057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Controlar precedencias</a:t>
            </a:r>
          </a:p>
        </p:txBody>
      </p:sp>
      <p:sp>
        <p:nvSpPr>
          <p:cNvPr id="60435" name="Line 18"/>
          <p:cNvSpPr>
            <a:spLocks noChangeShapeType="1"/>
          </p:cNvSpPr>
          <p:nvPr/>
        </p:nvSpPr>
        <p:spPr bwMode="auto">
          <a:xfrm flipV="1">
            <a:off x="6248400" y="4246610"/>
            <a:ext cx="0" cy="1600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0436" name="Text Box 19"/>
          <p:cNvSpPr txBox="1">
            <a:spLocks noChangeArrowheads="1"/>
          </p:cNvSpPr>
          <p:nvPr/>
        </p:nvSpPr>
        <p:spPr bwMode="auto">
          <a:xfrm>
            <a:off x="5257800" y="5770610"/>
            <a:ext cx="236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Valor de retorno</a:t>
            </a:r>
          </a:p>
        </p:txBody>
      </p:sp>
      <p:sp>
        <p:nvSpPr>
          <p:cNvPr id="60437" name="Text Box 20"/>
          <p:cNvSpPr txBox="1">
            <a:spLocks noChangeArrowheads="1"/>
          </p:cNvSpPr>
          <p:nvPr/>
        </p:nvSpPr>
        <p:spPr bwMode="auto">
          <a:xfrm>
            <a:off x="6096000" y="1884410"/>
            <a:ext cx="198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dirty="0"/>
              <a:t>Mensaje</a:t>
            </a:r>
          </a:p>
        </p:txBody>
      </p:sp>
      <p:sp>
        <p:nvSpPr>
          <p:cNvPr id="60438" name="Line 21"/>
          <p:cNvSpPr>
            <a:spLocks noChangeShapeType="1"/>
          </p:cNvSpPr>
          <p:nvPr/>
        </p:nvSpPr>
        <p:spPr bwMode="auto">
          <a:xfrm>
            <a:off x="6705600" y="2417810"/>
            <a:ext cx="137160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0439" name="Line 22"/>
          <p:cNvSpPr>
            <a:spLocks noChangeShapeType="1"/>
          </p:cNvSpPr>
          <p:nvPr/>
        </p:nvSpPr>
        <p:spPr bwMode="auto">
          <a:xfrm flipH="1">
            <a:off x="6172200" y="2417810"/>
            <a:ext cx="30480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2" name="Flecha: hacia la izquierda 1">
            <a:hlinkClick r:id="rId3" action="ppaction://hlinksldjump"/>
            <a:extLst>
              <a:ext uri="{FF2B5EF4-FFF2-40B4-BE49-F238E27FC236}">
                <a16:creationId xmlns:a16="http://schemas.microsoft.com/office/drawing/2014/main" id="{6FCD358A-3211-2A41-ABE3-D6BC96F748C2}"/>
              </a:ext>
            </a:extLst>
          </p:cNvPr>
          <p:cNvSpPr/>
          <p:nvPr/>
        </p:nvSpPr>
        <p:spPr>
          <a:xfrm>
            <a:off x="10799806" y="5846811"/>
            <a:ext cx="1173892" cy="401590"/>
          </a:xfrm>
          <a:prstGeom prst="leftArrow">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a:xfrm>
            <a:off x="1245973" y="1192427"/>
            <a:ext cx="7772400" cy="533400"/>
          </a:xfrm>
        </p:spPr>
        <p:txBody>
          <a:bodyPr>
            <a:normAutofit fontScale="90000"/>
          </a:bodyPr>
          <a:lstStyle/>
          <a:p>
            <a:r>
              <a:rPr lang="es-ES_tradnl" dirty="0"/>
              <a:t>Diagramas de Estado</a:t>
            </a:r>
          </a:p>
        </p:txBody>
      </p:sp>
      <p:sp>
        <p:nvSpPr>
          <p:cNvPr id="61444" name="Rectangle 3"/>
          <p:cNvSpPr>
            <a:spLocks noGrp="1" noChangeArrowheads="1"/>
          </p:cNvSpPr>
          <p:nvPr>
            <p:ph idx="1"/>
          </p:nvPr>
        </p:nvSpPr>
        <p:spPr>
          <a:xfrm>
            <a:off x="1729946" y="1828800"/>
            <a:ext cx="8534400" cy="4876800"/>
          </a:xfrm>
        </p:spPr>
        <p:txBody>
          <a:bodyPr/>
          <a:lstStyle/>
          <a:p>
            <a:pPr marL="7938" indent="-7938" algn="ctr">
              <a:buNone/>
            </a:pPr>
            <a:r>
              <a:rPr lang="es-ES_tradnl" dirty="0"/>
              <a:t>También llamados Diagramas de Transición de Estados</a:t>
            </a:r>
          </a:p>
          <a:p>
            <a:pPr marL="7938" indent="-7938">
              <a:buNone/>
            </a:pPr>
            <a:r>
              <a:rPr lang="es-ES_tradnl" dirty="0"/>
              <a:t>Definen el comportamiento de los objetos</a:t>
            </a:r>
          </a:p>
          <a:p>
            <a:pPr marL="7938" indent="-7938">
              <a:buNone/>
            </a:pPr>
            <a:r>
              <a:rPr lang="es-ES_tradnl" dirty="0"/>
              <a:t>Elementos esenciales</a:t>
            </a:r>
          </a:p>
          <a:p>
            <a:pPr marL="7938" indent="-7938">
              <a:buNone/>
            </a:pPr>
            <a:r>
              <a:rPr lang="es-ES_tradnl" dirty="0"/>
              <a:t>– estados y transiciones</a:t>
            </a:r>
          </a:p>
          <a:p>
            <a:pPr marL="7938" indent="-7938">
              <a:buNone/>
            </a:pPr>
            <a:r>
              <a:rPr lang="es-ES_tradnl" dirty="0"/>
              <a:t>– eventos y acciones</a:t>
            </a:r>
          </a:p>
          <a:p>
            <a:pPr marL="7938" indent="-7938">
              <a:buNone/>
            </a:pPr>
            <a:r>
              <a:rPr lang="es-ES_tradnl" dirty="0"/>
              <a:t>– guardias (precondiciones)</a:t>
            </a:r>
          </a:p>
          <a:p>
            <a:pPr marL="7938" indent="-7938">
              <a:buNone/>
            </a:pPr>
            <a:r>
              <a:rPr lang="es-ES_tradnl" dirty="0"/>
              <a:t>UML los representa con </a:t>
            </a:r>
            <a:r>
              <a:rPr lang="es-ES_tradnl" dirty="0" err="1"/>
              <a:t>Statecharts</a:t>
            </a:r>
            <a:endParaRPr lang="es-ES_tradnl" dirty="0"/>
          </a:p>
        </p:txBody>
      </p:sp>
      <p:sp>
        <p:nvSpPr>
          <p:cNvPr id="61442" name="4 Marcador de número de diapositiva"/>
          <p:cNvSpPr>
            <a:spLocks noGrp="1"/>
          </p:cNvSpPr>
          <p:nvPr>
            <p:ph type="sldNum" sz="quarter" idx="12"/>
          </p:nvPr>
        </p:nvSpPr>
        <p:spPr>
          <a:xfrm>
            <a:off x="4648200" y="6248400"/>
            <a:ext cx="2895600" cy="457200"/>
          </a:xfrm>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fld id="{197433B1-FA26-4B86-9BAE-894AF05C0939}" type="slidenum">
              <a:rPr lang="es-ES_tradnl" sz="1400"/>
              <a:pPr algn="ctr"/>
              <a:t>57</a:t>
            </a:fld>
            <a:endParaRPr lang="es-ES_tradnl" sz="14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9" name="Rectangle 3"/>
          <p:cNvSpPr>
            <a:spLocks noGrp="1" noChangeArrowheads="1"/>
          </p:cNvSpPr>
          <p:nvPr>
            <p:ph type="title"/>
          </p:nvPr>
        </p:nvSpPr>
        <p:spPr>
          <a:xfrm>
            <a:off x="1245973" y="1083280"/>
            <a:ext cx="7772400" cy="685800"/>
          </a:xfrm>
        </p:spPr>
        <p:txBody>
          <a:bodyPr>
            <a:normAutofit fontScale="90000"/>
          </a:bodyPr>
          <a:lstStyle/>
          <a:p>
            <a:r>
              <a:rPr lang="es-ES_tradnl" dirty="0"/>
              <a:t>Notación</a:t>
            </a:r>
          </a:p>
        </p:txBody>
      </p:sp>
      <p:sp>
        <p:nvSpPr>
          <p:cNvPr id="62467" name="3 Marcador de número de diapositiva"/>
          <p:cNvSpPr>
            <a:spLocks noGrp="1"/>
          </p:cNvSpPr>
          <p:nvPr>
            <p:ph type="sldNum" sz="quarter" idx="12"/>
          </p:nvPr>
        </p:nvSpPr>
        <p:spPr>
          <a:xfrm>
            <a:off x="4648200" y="6248400"/>
            <a:ext cx="2895600" cy="457200"/>
          </a:xfrm>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fld id="{3749823D-27FB-4205-9B50-9E741108FAA8}" type="slidenum">
              <a:rPr lang="es-ES_tradnl" sz="1400"/>
              <a:pPr algn="ctr"/>
              <a:t>58</a:t>
            </a:fld>
            <a:endParaRPr lang="es-ES_tradnl" sz="1400"/>
          </a:p>
        </p:txBody>
      </p:sp>
      <p:sp>
        <p:nvSpPr>
          <p:cNvPr id="62468" name="AutoShape 2"/>
          <p:cNvSpPr>
            <a:spLocks noChangeArrowheads="1"/>
          </p:cNvSpPr>
          <p:nvPr/>
        </p:nvSpPr>
        <p:spPr bwMode="auto">
          <a:xfrm>
            <a:off x="6400800" y="1845280"/>
            <a:ext cx="3352800" cy="20574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2470" name="AutoShape 4"/>
          <p:cNvSpPr>
            <a:spLocks noChangeArrowheads="1"/>
          </p:cNvSpPr>
          <p:nvPr/>
        </p:nvSpPr>
        <p:spPr bwMode="auto">
          <a:xfrm>
            <a:off x="2286000" y="2378680"/>
            <a:ext cx="1676400" cy="762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2471" name="AutoShape 5"/>
          <p:cNvSpPr>
            <a:spLocks noChangeArrowheads="1"/>
          </p:cNvSpPr>
          <p:nvPr/>
        </p:nvSpPr>
        <p:spPr bwMode="auto">
          <a:xfrm>
            <a:off x="7924800" y="2988280"/>
            <a:ext cx="1676400" cy="762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2472" name="AutoShape 6"/>
          <p:cNvSpPr>
            <a:spLocks noChangeArrowheads="1"/>
          </p:cNvSpPr>
          <p:nvPr/>
        </p:nvSpPr>
        <p:spPr bwMode="auto">
          <a:xfrm>
            <a:off x="6705600" y="2073880"/>
            <a:ext cx="1676400" cy="762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2473" name="Text Box 7"/>
          <p:cNvSpPr txBox="1">
            <a:spLocks noChangeArrowheads="1"/>
          </p:cNvSpPr>
          <p:nvPr/>
        </p:nvSpPr>
        <p:spPr bwMode="auto">
          <a:xfrm>
            <a:off x="2362200" y="321688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Estado</a:t>
            </a:r>
          </a:p>
        </p:txBody>
      </p:sp>
      <p:sp>
        <p:nvSpPr>
          <p:cNvPr id="62474" name="Text Box 8"/>
          <p:cNvSpPr txBox="1">
            <a:spLocks noChangeArrowheads="1"/>
          </p:cNvSpPr>
          <p:nvPr/>
        </p:nvSpPr>
        <p:spPr bwMode="auto">
          <a:xfrm>
            <a:off x="6781800" y="390268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Descomposicion OR</a:t>
            </a:r>
          </a:p>
        </p:txBody>
      </p:sp>
      <p:sp>
        <p:nvSpPr>
          <p:cNvPr id="62475" name="AutoShape 9"/>
          <p:cNvSpPr>
            <a:spLocks noChangeArrowheads="1"/>
          </p:cNvSpPr>
          <p:nvPr/>
        </p:nvSpPr>
        <p:spPr bwMode="auto">
          <a:xfrm>
            <a:off x="2057400" y="4055080"/>
            <a:ext cx="2971800" cy="13716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2476" name="Line 10"/>
          <p:cNvSpPr>
            <a:spLocks noChangeShapeType="1"/>
          </p:cNvSpPr>
          <p:nvPr/>
        </p:nvSpPr>
        <p:spPr bwMode="auto">
          <a:xfrm>
            <a:off x="3581400" y="4055080"/>
            <a:ext cx="0" cy="13716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2477" name="Text Box 11"/>
          <p:cNvSpPr txBox="1">
            <a:spLocks noChangeArrowheads="1"/>
          </p:cNvSpPr>
          <p:nvPr/>
        </p:nvSpPr>
        <p:spPr bwMode="auto">
          <a:xfrm>
            <a:off x="2133600" y="5579080"/>
            <a:ext cx="327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Descomposicion AND</a:t>
            </a:r>
          </a:p>
        </p:txBody>
      </p:sp>
      <p:sp>
        <p:nvSpPr>
          <p:cNvPr id="62478" name="AutoShape 12"/>
          <p:cNvSpPr>
            <a:spLocks noChangeArrowheads="1"/>
          </p:cNvSpPr>
          <p:nvPr/>
        </p:nvSpPr>
        <p:spPr bwMode="auto">
          <a:xfrm>
            <a:off x="5638800" y="4969480"/>
            <a:ext cx="1676400" cy="762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2479" name="AutoShape 13"/>
          <p:cNvSpPr>
            <a:spLocks noChangeArrowheads="1"/>
          </p:cNvSpPr>
          <p:nvPr/>
        </p:nvSpPr>
        <p:spPr bwMode="auto">
          <a:xfrm>
            <a:off x="8077200" y="6036280"/>
            <a:ext cx="1676400" cy="762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2480" name="Line 14"/>
          <p:cNvSpPr>
            <a:spLocks noChangeShapeType="1"/>
          </p:cNvSpPr>
          <p:nvPr/>
        </p:nvSpPr>
        <p:spPr bwMode="auto">
          <a:xfrm>
            <a:off x="7315200" y="5655280"/>
            <a:ext cx="7620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2481" name="Text Box 15"/>
          <p:cNvSpPr txBox="1">
            <a:spLocks noChangeArrowheads="1"/>
          </p:cNvSpPr>
          <p:nvPr/>
        </p:nvSpPr>
        <p:spPr bwMode="auto">
          <a:xfrm>
            <a:off x="7620000" y="489328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Precondicion</a:t>
            </a:r>
          </a:p>
        </p:txBody>
      </p:sp>
      <p:sp>
        <p:nvSpPr>
          <p:cNvPr id="62482" name="Text Box 16"/>
          <p:cNvSpPr txBox="1">
            <a:spLocks noChangeArrowheads="1"/>
          </p:cNvSpPr>
          <p:nvPr/>
        </p:nvSpPr>
        <p:spPr bwMode="auto">
          <a:xfrm>
            <a:off x="7696200" y="5274280"/>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Accion</a:t>
            </a:r>
          </a:p>
        </p:txBody>
      </p:sp>
      <p:sp>
        <p:nvSpPr>
          <p:cNvPr id="62483" name="Line 17"/>
          <p:cNvSpPr>
            <a:spLocks noChangeShapeType="1"/>
          </p:cNvSpPr>
          <p:nvPr/>
        </p:nvSpPr>
        <p:spPr bwMode="auto">
          <a:xfrm>
            <a:off x="7696200" y="5350480"/>
            <a:ext cx="1752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2"/>
          <p:cNvSpPr>
            <a:spLocks noGrp="1" noChangeArrowheads="1"/>
          </p:cNvSpPr>
          <p:nvPr>
            <p:ph type="title"/>
          </p:nvPr>
        </p:nvSpPr>
        <p:spPr>
          <a:xfrm>
            <a:off x="1208902" y="988906"/>
            <a:ext cx="7772400" cy="685800"/>
          </a:xfrm>
        </p:spPr>
        <p:txBody>
          <a:bodyPr>
            <a:normAutofit fontScale="90000"/>
          </a:bodyPr>
          <a:lstStyle/>
          <a:p>
            <a:r>
              <a:rPr lang="es-ES_tradnl" dirty="0"/>
              <a:t>Ejemplo</a:t>
            </a:r>
          </a:p>
        </p:txBody>
      </p:sp>
      <p:sp>
        <p:nvSpPr>
          <p:cNvPr id="63493" name="Rectangle 3"/>
          <p:cNvSpPr>
            <a:spLocks noGrp="1" noChangeArrowheads="1"/>
          </p:cNvSpPr>
          <p:nvPr>
            <p:ph idx="1"/>
          </p:nvPr>
        </p:nvSpPr>
        <p:spPr/>
        <p:txBody>
          <a:bodyPr>
            <a:normAutofit/>
          </a:bodyPr>
          <a:lstStyle/>
          <a:p>
            <a:pPr marL="60325" indent="-60325" algn="ctr">
              <a:buNone/>
            </a:pPr>
            <a:r>
              <a:rPr lang="es-ES_tradnl" sz="2600" dirty="0"/>
              <a:t>Proyectar el diagrama de estado para la Selección de Curso</a:t>
            </a:r>
          </a:p>
          <a:p>
            <a:pPr marL="60325" indent="-60325">
              <a:buNone/>
            </a:pPr>
            <a:endParaRPr lang="es-ES_tradnl" sz="2600" dirty="0"/>
          </a:p>
          <a:p>
            <a:pPr marL="60325" indent="-60325">
              <a:buNone/>
            </a:pPr>
            <a:r>
              <a:rPr lang="es-ES_tradnl" sz="2600" dirty="0"/>
              <a:t>“El sistema deberá permitir al estudiante seleccionar cuatro cursos entre los disponibles. Adicionalmente indicara dos alternativas”</a:t>
            </a:r>
          </a:p>
        </p:txBody>
      </p:sp>
      <p:sp>
        <p:nvSpPr>
          <p:cNvPr id="63491" name="4 Marcador de número de diapositiva"/>
          <p:cNvSpPr>
            <a:spLocks noGrp="1"/>
          </p:cNvSpPr>
          <p:nvPr>
            <p:ph type="sldNum" sz="quarter" idx="12"/>
          </p:nvPr>
        </p:nvSpPr>
        <p:spPr>
          <a:xfrm>
            <a:off x="4648200" y="6248400"/>
            <a:ext cx="2895600" cy="457200"/>
          </a:xfrm>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fld id="{FA29DB50-1BD7-468C-BB1F-6E8A15FC0769}" type="slidenum">
              <a:rPr lang="es-ES_tradnl" sz="1400"/>
              <a:pPr algn="ctr"/>
              <a:t>59</a:t>
            </a:fld>
            <a:endParaRPr lang="es-ES_tradnl" sz="14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7" name="Rectangle 4"/>
          <p:cNvSpPr>
            <a:spLocks noGrp="1" noChangeArrowheads="1"/>
          </p:cNvSpPr>
          <p:nvPr>
            <p:ph type="title"/>
          </p:nvPr>
        </p:nvSpPr>
        <p:spPr>
          <a:xfrm>
            <a:off x="1143000" y="1338657"/>
            <a:ext cx="7772400" cy="533400"/>
          </a:xfrm>
        </p:spPr>
        <p:txBody>
          <a:bodyPr>
            <a:normAutofit fontScale="90000"/>
          </a:bodyPr>
          <a:lstStyle/>
          <a:p>
            <a:r>
              <a:rPr lang="es-ES_tradnl" dirty="0">
                <a:solidFill>
                  <a:schemeClr val="tx1"/>
                </a:solidFill>
              </a:rPr>
              <a:t>Solución</a:t>
            </a:r>
          </a:p>
        </p:txBody>
      </p:sp>
      <p:sp>
        <p:nvSpPr>
          <p:cNvPr id="64514" name="3 Marcador de número de diapositiva"/>
          <p:cNvSpPr>
            <a:spLocks noGrp="1"/>
          </p:cNvSpPr>
          <p:nvPr>
            <p:ph type="sldNum" sz="quarter" idx="12"/>
          </p:nvPr>
        </p:nvSpPr>
        <p:spPr>
          <a:xfrm>
            <a:off x="4648200" y="6248400"/>
            <a:ext cx="2895600" cy="457200"/>
          </a:xfrm>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fld id="{1ABB8E2C-9019-40DD-A76D-C865B09D1F5C}" type="slidenum">
              <a:rPr lang="es-ES_tradnl" sz="1400"/>
              <a:pPr algn="ctr"/>
              <a:t>60</a:t>
            </a:fld>
            <a:endParaRPr lang="es-ES_tradnl" sz="1400"/>
          </a:p>
        </p:txBody>
      </p:sp>
      <p:sp>
        <p:nvSpPr>
          <p:cNvPr id="64515" name="Oval 2"/>
          <p:cNvSpPr>
            <a:spLocks noChangeArrowheads="1"/>
          </p:cNvSpPr>
          <p:nvPr/>
        </p:nvSpPr>
        <p:spPr bwMode="auto">
          <a:xfrm>
            <a:off x="5334000" y="6444057"/>
            <a:ext cx="457200" cy="4572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4516" name="AutoShape 3"/>
          <p:cNvSpPr>
            <a:spLocks noChangeArrowheads="1"/>
          </p:cNvSpPr>
          <p:nvPr/>
        </p:nvSpPr>
        <p:spPr bwMode="auto">
          <a:xfrm>
            <a:off x="3581400" y="2862657"/>
            <a:ext cx="3581400" cy="27432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4518" name="AutoShape 5"/>
          <p:cNvSpPr>
            <a:spLocks noChangeArrowheads="1"/>
          </p:cNvSpPr>
          <p:nvPr/>
        </p:nvSpPr>
        <p:spPr bwMode="auto">
          <a:xfrm>
            <a:off x="1752600" y="2329257"/>
            <a:ext cx="1676400" cy="762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s-ES_tradnl" dirty="0"/>
              <a:t>Creación</a:t>
            </a:r>
          </a:p>
        </p:txBody>
      </p:sp>
      <p:sp>
        <p:nvSpPr>
          <p:cNvPr id="64519" name="AutoShape 6"/>
          <p:cNvSpPr>
            <a:spLocks noChangeArrowheads="1"/>
          </p:cNvSpPr>
          <p:nvPr/>
        </p:nvSpPr>
        <p:spPr bwMode="auto">
          <a:xfrm>
            <a:off x="3962400" y="3167457"/>
            <a:ext cx="1676400" cy="762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s-ES_tradnl" dirty="0"/>
              <a:t>Selección </a:t>
            </a:r>
          </a:p>
          <a:p>
            <a:pPr algn="ctr"/>
            <a:r>
              <a:rPr lang="es-ES_tradnl" dirty="0"/>
              <a:t>Curso</a:t>
            </a:r>
          </a:p>
        </p:txBody>
      </p:sp>
      <p:sp>
        <p:nvSpPr>
          <p:cNvPr id="64520" name="AutoShape 7"/>
          <p:cNvSpPr>
            <a:spLocks noChangeArrowheads="1"/>
          </p:cNvSpPr>
          <p:nvPr/>
        </p:nvSpPr>
        <p:spPr bwMode="auto">
          <a:xfrm>
            <a:off x="5181600" y="4691457"/>
            <a:ext cx="1676400" cy="762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s-ES_tradnl"/>
              <a:t>Sel. Curso</a:t>
            </a:r>
          </a:p>
          <a:p>
            <a:pPr algn="ctr"/>
            <a:r>
              <a:rPr lang="es-ES_tradnl"/>
              <a:t>extra</a:t>
            </a:r>
          </a:p>
        </p:txBody>
      </p:sp>
      <p:sp>
        <p:nvSpPr>
          <p:cNvPr id="64521" name="AutoShape 8"/>
          <p:cNvSpPr>
            <a:spLocks noChangeArrowheads="1"/>
          </p:cNvSpPr>
          <p:nvPr/>
        </p:nvSpPr>
        <p:spPr bwMode="auto">
          <a:xfrm>
            <a:off x="8686800" y="3015057"/>
            <a:ext cx="1676400" cy="762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s-ES_tradnl"/>
              <a:t>Cancelar</a:t>
            </a:r>
          </a:p>
        </p:txBody>
      </p:sp>
      <p:sp>
        <p:nvSpPr>
          <p:cNvPr id="64522" name="Oval 9"/>
          <p:cNvSpPr>
            <a:spLocks noChangeArrowheads="1"/>
          </p:cNvSpPr>
          <p:nvPr/>
        </p:nvSpPr>
        <p:spPr bwMode="auto">
          <a:xfrm>
            <a:off x="2362200" y="1414857"/>
            <a:ext cx="304800" cy="3048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4523" name="Line 10"/>
          <p:cNvSpPr>
            <a:spLocks noChangeShapeType="1"/>
          </p:cNvSpPr>
          <p:nvPr/>
        </p:nvSpPr>
        <p:spPr bwMode="auto">
          <a:xfrm>
            <a:off x="2514600" y="1719657"/>
            <a:ext cx="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4524" name="Oval 11"/>
          <p:cNvSpPr>
            <a:spLocks noChangeArrowheads="1"/>
          </p:cNvSpPr>
          <p:nvPr/>
        </p:nvSpPr>
        <p:spPr bwMode="auto">
          <a:xfrm>
            <a:off x="3733800" y="4234257"/>
            <a:ext cx="304800" cy="3048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4525" name="Line 12"/>
          <p:cNvSpPr>
            <a:spLocks noChangeShapeType="1"/>
          </p:cNvSpPr>
          <p:nvPr/>
        </p:nvSpPr>
        <p:spPr bwMode="auto">
          <a:xfrm flipV="1">
            <a:off x="3962400" y="3929457"/>
            <a:ext cx="3810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4526" name="Line 13"/>
          <p:cNvSpPr>
            <a:spLocks noChangeShapeType="1"/>
          </p:cNvSpPr>
          <p:nvPr/>
        </p:nvSpPr>
        <p:spPr bwMode="auto">
          <a:xfrm>
            <a:off x="4800600" y="3929457"/>
            <a:ext cx="76200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4527" name="Freeform 14"/>
          <p:cNvSpPr>
            <a:spLocks/>
          </p:cNvSpPr>
          <p:nvPr/>
        </p:nvSpPr>
        <p:spPr bwMode="auto">
          <a:xfrm>
            <a:off x="4343400" y="2329257"/>
            <a:ext cx="685800" cy="838200"/>
          </a:xfrm>
          <a:custGeom>
            <a:avLst/>
            <a:gdLst>
              <a:gd name="T0" fmla="*/ 0 w 432"/>
              <a:gd name="T1" fmla="*/ 838200 h 672"/>
              <a:gd name="T2" fmla="*/ 228600 w 432"/>
              <a:gd name="T3" fmla="*/ 119743 h 672"/>
              <a:gd name="T4" fmla="*/ 533400 w 432"/>
              <a:gd name="T5" fmla="*/ 119743 h 672"/>
              <a:gd name="T6" fmla="*/ 685800 w 432"/>
              <a:gd name="T7" fmla="*/ 838200 h 6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2" h="672">
                <a:moveTo>
                  <a:pt x="0" y="672"/>
                </a:moveTo>
                <a:cubicBezTo>
                  <a:pt x="44" y="432"/>
                  <a:pt x="88" y="192"/>
                  <a:pt x="144" y="96"/>
                </a:cubicBezTo>
                <a:cubicBezTo>
                  <a:pt x="200" y="0"/>
                  <a:pt x="288" y="0"/>
                  <a:pt x="336" y="96"/>
                </a:cubicBezTo>
                <a:cubicBezTo>
                  <a:pt x="384" y="192"/>
                  <a:pt x="408" y="432"/>
                  <a:pt x="432" y="672"/>
                </a:cubicBezTo>
              </a:path>
            </a:pathLst>
          </a:custGeom>
          <a:noFill/>
          <a:ln w="9525">
            <a:solidFill>
              <a:schemeClr val="tx1"/>
            </a:solidFill>
            <a:round/>
            <a:headEn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4528" name="Freeform 15"/>
          <p:cNvSpPr>
            <a:spLocks/>
          </p:cNvSpPr>
          <p:nvPr/>
        </p:nvSpPr>
        <p:spPr bwMode="auto">
          <a:xfrm>
            <a:off x="5715000" y="3853257"/>
            <a:ext cx="685800" cy="838200"/>
          </a:xfrm>
          <a:custGeom>
            <a:avLst/>
            <a:gdLst>
              <a:gd name="T0" fmla="*/ 0 w 432"/>
              <a:gd name="T1" fmla="*/ 838200 h 672"/>
              <a:gd name="T2" fmla="*/ 228600 w 432"/>
              <a:gd name="T3" fmla="*/ 119743 h 672"/>
              <a:gd name="T4" fmla="*/ 533400 w 432"/>
              <a:gd name="T5" fmla="*/ 119743 h 672"/>
              <a:gd name="T6" fmla="*/ 685800 w 432"/>
              <a:gd name="T7" fmla="*/ 838200 h 6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2" h="672">
                <a:moveTo>
                  <a:pt x="0" y="672"/>
                </a:moveTo>
                <a:cubicBezTo>
                  <a:pt x="44" y="432"/>
                  <a:pt x="88" y="192"/>
                  <a:pt x="144" y="96"/>
                </a:cubicBezTo>
                <a:cubicBezTo>
                  <a:pt x="200" y="0"/>
                  <a:pt x="288" y="0"/>
                  <a:pt x="336" y="96"/>
                </a:cubicBezTo>
                <a:cubicBezTo>
                  <a:pt x="384" y="192"/>
                  <a:pt x="408" y="432"/>
                  <a:pt x="432" y="672"/>
                </a:cubicBezTo>
              </a:path>
            </a:pathLst>
          </a:custGeom>
          <a:noFill/>
          <a:ln w="9525">
            <a:solidFill>
              <a:schemeClr val="tx1"/>
            </a:solidFill>
            <a:round/>
            <a:headEn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4529" name="Line 16"/>
          <p:cNvSpPr>
            <a:spLocks noChangeShapeType="1"/>
          </p:cNvSpPr>
          <p:nvPr/>
        </p:nvSpPr>
        <p:spPr bwMode="auto">
          <a:xfrm>
            <a:off x="5562600" y="5605857"/>
            <a:ext cx="0"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4530" name="Oval 17"/>
          <p:cNvSpPr>
            <a:spLocks noChangeArrowheads="1"/>
          </p:cNvSpPr>
          <p:nvPr/>
        </p:nvSpPr>
        <p:spPr bwMode="auto">
          <a:xfrm>
            <a:off x="5410200" y="6520257"/>
            <a:ext cx="304800" cy="3048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4531" name="Text Box 18"/>
          <p:cNvSpPr txBox="1">
            <a:spLocks noChangeArrowheads="1"/>
          </p:cNvSpPr>
          <p:nvPr/>
        </p:nvSpPr>
        <p:spPr bwMode="auto">
          <a:xfrm>
            <a:off x="5029200" y="2253057"/>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Curso &lt; 4</a:t>
            </a:r>
          </a:p>
        </p:txBody>
      </p:sp>
      <p:sp>
        <p:nvSpPr>
          <p:cNvPr id="64532" name="Text Box 19"/>
          <p:cNvSpPr txBox="1">
            <a:spLocks noChangeArrowheads="1"/>
          </p:cNvSpPr>
          <p:nvPr/>
        </p:nvSpPr>
        <p:spPr bwMode="auto">
          <a:xfrm>
            <a:off x="5715000" y="3472257"/>
            <a:ext cx="167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CursoE &lt; 2</a:t>
            </a:r>
          </a:p>
        </p:txBody>
      </p:sp>
      <p:sp>
        <p:nvSpPr>
          <p:cNvPr id="64533" name="Text Box 20"/>
          <p:cNvSpPr txBox="1">
            <a:spLocks noChangeArrowheads="1"/>
          </p:cNvSpPr>
          <p:nvPr/>
        </p:nvSpPr>
        <p:spPr bwMode="auto">
          <a:xfrm>
            <a:off x="7162800" y="3472257"/>
            <a:ext cx="182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recomienza</a:t>
            </a:r>
          </a:p>
        </p:txBody>
      </p:sp>
      <p:sp>
        <p:nvSpPr>
          <p:cNvPr id="64534" name="Line 21"/>
          <p:cNvSpPr>
            <a:spLocks noChangeShapeType="1"/>
          </p:cNvSpPr>
          <p:nvPr/>
        </p:nvSpPr>
        <p:spPr bwMode="auto">
          <a:xfrm>
            <a:off x="7162800" y="3243657"/>
            <a:ext cx="1524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4535" name="Line 22"/>
          <p:cNvSpPr>
            <a:spLocks noChangeShapeType="1"/>
          </p:cNvSpPr>
          <p:nvPr/>
        </p:nvSpPr>
        <p:spPr bwMode="auto">
          <a:xfrm flipH="1">
            <a:off x="7162800" y="3548457"/>
            <a:ext cx="1524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64536" name="Text Box 23"/>
          <p:cNvSpPr txBox="1">
            <a:spLocks noChangeArrowheads="1"/>
          </p:cNvSpPr>
          <p:nvPr/>
        </p:nvSpPr>
        <p:spPr bwMode="auto">
          <a:xfrm>
            <a:off x="7162800" y="2786457"/>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suspende</a:t>
            </a:r>
          </a:p>
        </p:txBody>
      </p:sp>
      <p:sp>
        <p:nvSpPr>
          <p:cNvPr id="64537" name="Text Box 24"/>
          <p:cNvSpPr txBox="1">
            <a:spLocks noChangeArrowheads="1"/>
          </p:cNvSpPr>
          <p:nvPr/>
        </p:nvSpPr>
        <p:spPr bwMode="auto">
          <a:xfrm>
            <a:off x="5943600" y="6063057"/>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t>Termina</a:t>
            </a:r>
          </a:p>
        </p:txBody>
      </p:sp>
      <p:sp>
        <p:nvSpPr>
          <p:cNvPr id="64538" name="Line 25"/>
          <p:cNvSpPr>
            <a:spLocks noChangeShapeType="1"/>
          </p:cNvSpPr>
          <p:nvPr/>
        </p:nvSpPr>
        <p:spPr bwMode="auto">
          <a:xfrm>
            <a:off x="2514600" y="3091257"/>
            <a:ext cx="106680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2" name="Flecha: hacia la izquierda 1">
            <a:hlinkClick r:id="rId3" action="ppaction://hlinksldjump"/>
            <a:extLst>
              <a:ext uri="{FF2B5EF4-FFF2-40B4-BE49-F238E27FC236}">
                <a16:creationId xmlns:a16="http://schemas.microsoft.com/office/drawing/2014/main" id="{9C7212F3-5A5D-9665-86FC-B38EE8DE3DFE}"/>
              </a:ext>
            </a:extLst>
          </p:cNvPr>
          <p:cNvSpPr/>
          <p:nvPr/>
        </p:nvSpPr>
        <p:spPr>
          <a:xfrm>
            <a:off x="10363200" y="5770605"/>
            <a:ext cx="1239795" cy="477795"/>
          </a:xfrm>
          <a:prstGeom prst="leftArrow">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p:txBody>
          <a:bodyPr/>
          <a:lstStyle/>
          <a:p>
            <a:r>
              <a:rPr lang="es-ES_tradnl"/>
              <a:t>Diagramas de Componentes</a:t>
            </a:r>
          </a:p>
        </p:txBody>
      </p:sp>
      <p:sp>
        <p:nvSpPr>
          <p:cNvPr id="65540" name="Rectangle 3"/>
          <p:cNvSpPr>
            <a:spLocks noGrp="1" noChangeArrowheads="1"/>
          </p:cNvSpPr>
          <p:nvPr>
            <p:ph idx="1"/>
          </p:nvPr>
        </p:nvSpPr>
        <p:spPr>
          <a:xfrm>
            <a:off x="1468394" y="1959610"/>
            <a:ext cx="7772400" cy="2743200"/>
          </a:xfrm>
        </p:spPr>
        <p:txBody>
          <a:bodyPr>
            <a:normAutofit/>
          </a:bodyPr>
          <a:lstStyle/>
          <a:p>
            <a:r>
              <a:rPr lang="es-ES_tradnl" sz="2600" dirty="0"/>
              <a:t> Adecuados para la descripción de la arquitectura del software</a:t>
            </a:r>
          </a:p>
          <a:p>
            <a:r>
              <a:rPr lang="es-ES_tradnl" sz="2600" dirty="0"/>
              <a:t>Tiene utilidad inmediata en la organización del trabajo y a mas largo plazo en la implementación</a:t>
            </a:r>
          </a:p>
        </p:txBody>
      </p:sp>
      <p:sp>
        <p:nvSpPr>
          <p:cNvPr id="65538" name="4 Marcador de número de diapositiva"/>
          <p:cNvSpPr>
            <a:spLocks noGrp="1"/>
          </p:cNvSpPr>
          <p:nvPr>
            <p:ph type="sldNum" sz="quarter" idx="12"/>
          </p:nvPr>
        </p:nvSpPr>
        <p:spPr>
          <a:xfrm>
            <a:off x="4648200" y="6248400"/>
            <a:ext cx="2895600" cy="457200"/>
          </a:xfrm>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fld id="{5BB46D95-642A-4C04-B4A1-540875AA0EB9}" type="slidenum">
              <a:rPr lang="es-ES_tradnl" sz="1400"/>
              <a:pPr algn="ctr"/>
              <a:t>61</a:t>
            </a:fld>
            <a:endParaRPr lang="es-ES_tradnl" sz="1400"/>
          </a:p>
        </p:txBody>
      </p:sp>
      <p:pic>
        <p:nvPicPr>
          <p:cNvPr id="6554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4876801"/>
            <a:ext cx="2349500"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542"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5601" y="4800600"/>
            <a:ext cx="1935163" cy="122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
          <p:cNvSpPr>
            <a:spLocks noGrp="1" noChangeArrowheads="1"/>
          </p:cNvSpPr>
          <p:nvPr>
            <p:ph type="title"/>
          </p:nvPr>
        </p:nvSpPr>
        <p:spPr>
          <a:xfrm>
            <a:off x="1159476" y="1104900"/>
            <a:ext cx="7772400" cy="685800"/>
          </a:xfrm>
        </p:spPr>
        <p:txBody>
          <a:bodyPr>
            <a:normAutofit fontScale="90000"/>
          </a:bodyPr>
          <a:lstStyle/>
          <a:p>
            <a:r>
              <a:rPr lang="es-ES_tradnl" dirty="0"/>
              <a:t>Elementos</a:t>
            </a:r>
          </a:p>
        </p:txBody>
      </p:sp>
      <p:sp>
        <p:nvSpPr>
          <p:cNvPr id="67588" name="Rectangle 3"/>
          <p:cNvSpPr>
            <a:spLocks noGrp="1" noChangeArrowheads="1"/>
          </p:cNvSpPr>
          <p:nvPr>
            <p:ph idx="1"/>
          </p:nvPr>
        </p:nvSpPr>
        <p:spPr>
          <a:xfrm>
            <a:off x="1313934" y="1896762"/>
            <a:ext cx="9893643" cy="5257800"/>
          </a:xfrm>
        </p:spPr>
        <p:txBody>
          <a:bodyPr/>
          <a:lstStyle/>
          <a:p>
            <a:pPr marL="7938" indent="-7938"/>
            <a:r>
              <a:rPr lang="es-ES_tradnl" sz="2800" dirty="0"/>
              <a:t> </a:t>
            </a:r>
            <a:r>
              <a:rPr lang="es-ES_tradnl" sz="2800" dirty="0" err="1"/>
              <a:t>Packages</a:t>
            </a:r>
            <a:r>
              <a:rPr lang="es-ES_tradnl" sz="2800" dirty="0"/>
              <a:t>: son </a:t>
            </a:r>
            <a:r>
              <a:rPr lang="es-ES_tradnl" sz="2800" dirty="0" err="1"/>
              <a:t>clusters</a:t>
            </a:r>
            <a:r>
              <a:rPr lang="es-ES_tradnl" sz="2800" dirty="0"/>
              <a:t> de componentes lógicamente relacionadas</a:t>
            </a:r>
          </a:p>
          <a:p>
            <a:pPr marL="7938" indent="-7938">
              <a:buNone/>
            </a:pPr>
            <a:endParaRPr lang="es-ES_tradnl" sz="2800" dirty="0"/>
          </a:p>
          <a:p>
            <a:pPr marL="7938" indent="-7938"/>
            <a:r>
              <a:rPr lang="es-ES_tradnl" sz="2800" dirty="0"/>
              <a:t> Componentes: Modulo de software con interfaces bien definidas</a:t>
            </a:r>
          </a:p>
          <a:p>
            <a:pPr marL="7938" indent="-7938">
              <a:buNone/>
            </a:pPr>
            <a:endParaRPr lang="es-ES_tradnl" sz="2800" dirty="0"/>
          </a:p>
          <a:p>
            <a:pPr marL="7938" indent="-7938"/>
            <a:r>
              <a:rPr lang="es-ES_tradnl" sz="2800" dirty="0"/>
              <a:t>Relaciones: Si es entre dos componentes es una dependencia de compilación  si es entre una componente y la interfaz de otra es una relación de cliente-de</a:t>
            </a:r>
          </a:p>
        </p:txBody>
      </p:sp>
      <p:sp>
        <p:nvSpPr>
          <p:cNvPr id="67586" name="4 Marcador de número de diapositiva"/>
          <p:cNvSpPr>
            <a:spLocks noGrp="1"/>
          </p:cNvSpPr>
          <p:nvPr>
            <p:ph type="sldNum" sz="quarter" idx="12"/>
          </p:nvPr>
        </p:nvSpPr>
        <p:spPr>
          <a:xfrm>
            <a:off x="4648200" y="6248400"/>
            <a:ext cx="2895600" cy="457200"/>
          </a:xfrm>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fld id="{3099547A-7063-4B5A-88D3-983BA4425BE2}" type="slidenum">
              <a:rPr lang="es-ES_tradnl" sz="1400"/>
              <a:pPr algn="ctr"/>
              <a:t>62</a:t>
            </a:fld>
            <a:endParaRPr lang="es-ES_tradnl" sz="1400"/>
          </a:p>
        </p:txBody>
      </p:sp>
      <p:sp>
        <p:nvSpPr>
          <p:cNvPr id="2" name="Flecha: hacia la izquierda 1">
            <a:hlinkClick r:id="rId3" action="ppaction://hlinksldjump"/>
            <a:extLst>
              <a:ext uri="{FF2B5EF4-FFF2-40B4-BE49-F238E27FC236}">
                <a16:creationId xmlns:a16="http://schemas.microsoft.com/office/drawing/2014/main" id="{2F788437-8A25-48AD-B866-290102B95F22}"/>
              </a:ext>
            </a:extLst>
          </p:cNvPr>
          <p:cNvSpPr/>
          <p:nvPr/>
        </p:nvSpPr>
        <p:spPr>
          <a:xfrm>
            <a:off x="10404389" y="5894173"/>
            <a:ext cx="1248033" cy="354227"/>
          </a:xfrm>
          <a:prstGeom prst="leftArrow">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a:xfrm>
            <a:off x="1233616" y="1033849"/>
            <a:ext cx="7772400" cy="685800"/>
          </a:xfrm>
        </p:spPr>
        <p:txBody>
          <a:bodyPr>
            <a:normAutofit fontScale="90000"/>
          </a:bodyPr>
          <a:lstStyle/>
          <a:p>
            <a:r>
              <a:rPr lang="es-ES_tradnl" dirty="0"/>
              <a:t>Diagramas de Despliegue</a:t>
            </a:r>
          </a:p>
        </p:txBody>
      </p:sp>
      <p:sp>
        <p:nvSpPr>
          <p:cNvPr id="68612" name="Rectangle 3"/>
          <p:cNvSpPr>
            <a:spLocks noGrp="1" noChangeArrowheads="1"/>
          </p:cNvSpPr>
          <p:nvPr>
            <p:ph idx="1"/>
          </p:nvPr>
        </p:nvSpPr>
        <p:spPr>
          <a:xfrm>
            <a:off x="1388076" y="2016210"/>
            <a:ext cx="8229600" cy="4114800"/>
          </a:xfrm>
        </p:spPr>
        <p:txBody>
          <a:bodyPr/>
          <a:lstStyle/>
          <a:p>
            <a:pPr marL="7938" indent="-7938">
              <a:buNone/>
            </a:pPr>
            <a:r>
              <a:rPr lang="es-ES_tradnl" sz="2600" dirty="0"/>
              <a:t>Contiene:</a:t>
            </a:r>
          </a:p>
          <a:p>
            <a:pPr marL="7938" indent="-7938"/>
            <a:r>
              <a:rPr lang="es-ES_tradnl" sz="2600" dirty="0"/>
              <a:t> Procesadores: Componente de hardware que ejecuta programas</a:t>
            </a:r>
          </a:p>
          <a:p>
            <a:pPr marL="7938" indent="-7938"/>
            <a:r>
              <a:rPr lang="es-ES_tradnl" sz="2600" dirty="0"/>
              <a:t> </a:t>
            </a:r>
            <a:r>
              <a:rPr lang="es-ES_tradnl" sz="2600" dirty="0" err="1"/>
              <a:t>Devices</a:t>
            </a:r>
            <a:r>
              <a:rPr lang="es-ES_tradnl" sz="2600" dirty="0"/>
              <a:t> (Dispositivos): Componente de hardware que no ejecuta programas (modem, </a:t>
            </a:r>
            <a:r>
              <a:rPr lang="es-ES_tradnl" sz="2600" dirty="0" err="1"/>
              <a:t>harddisk</a:t>
            </a:r>
            <a:r>
              <a:rPr lang="es-ES_tradnl" sz="2600" dirty="0"/>
              <a:t>, impresora)</a:t>
            </a:r>
          </a:p>
          <a:p>
            <a:pPr marL="7938" indent="-7938"/>
            <a:r>
              <a:rPr lang="es-ES_tradnl" sz="2600" dirty="0"/>
              <a:t> Conexiones</a:t>
            </a:r>
          </a:p>
          <a:p>
            <a:pPr marL="7938" indent="-7938">
              <a:buNone/>
            </a:pPr>
            <a:r>
              <a:rPr lang="es-ES_tradnl" dirty="0"/>
              <a:t> </a:t>
            </a:r>
          </a:p>
        </p:txBody>
      </p:sp>
      <p:sp>
        <p:nvSpPr>
          <p:cNvPr id="68610" name="4 Marcador de número de diapositiva"/>
          <p:cNvSpPr>
            <a:spLocks noGrp="1"/>
          </p:cNvSpPr>
          <p:nvPr>
            <p:ph type="sldNum" sz="quarter" idx="12"/>
          </p:nvPr>
        </p:nvSpPr>
        <p:spPr>
          <a:xfrm>
            <a:off x="4648200" y="6248400"/>
            <a:ext cx="2895600" cy="457200"/>
          </a:xfrm>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fld id="{1B0E6628-5393-4EBC-A29A-CD5E76FD75D9}" type="slidenum">
              <a:rPr lang="es-ES_tradnl" sz="1400"/>
              <a:pPr algn="ctr"/>
              <a:t>63</a:t>
            </a:fld>
            <a:endParaRPr lang="es-ES_tradnl" sz="14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DDF8D-1965-A8BF-1FEB-E800D6E3D74F}"/>
            </a:ext>
          </a:extLst>
        </p:cNvPr>
        <p:cNvGrpSpPr/>
        <p:nvPr/>
      </p:nvGrpSpPr>
      <p:grpSpPr>
        <a:xfrm>
          <a:off x="0" y="0"/>
          <a:ext cx="0" cy="0"/>
          <a:chOff x="0" y="0"/>
          <a:chExt cx="0" cy="0"/>
        </a:xfrm>
      </p:grpSpPr>
      <p:sp>
        <p:nvSpPr>
          <p:cNvPr id="68611" name="Rectangle 2">
            <a:extLst>
              <a:ext uri="{FF2B5EF4-FFF2-40B4-BE49-F238E27FC236}">
                <a16:creationId xmlns:a16="http://schemas.microsoft.com/office/drawing/2014/main" id="{9BC96330-7345-0EC5-6FE2-4863563D3B06}"/>
              </a:ext>
            </a:extLst>
          </p:cNvPr>
          <p:cNvSpPr>
            <a:spLocks noGrp="1" noChangeArrowheads="1"/>
          </p:cNvSpPr>
          <p:nvPr>
            <p:ph type="title"/>
          </p:nvPr>
        </p:nvSpPr>
        <p:spPr>
          <a:xfrm>
            <a:off x="1233616" y="1033849"/>
            <a:ext cx="7772400" cy="685800"/>
          </a:xfrm>
        </p:spPr>
        <p:txBody>
          <a:bodyPr>
            <a:normAutofit fontScale="90000"/>
          </a:bodyPr>
          <a:lstStyle/>
          <a:p>
            <a:r>
              <a:rPr lang="es-ES_tradnl" dirty="0"/>
              <a:t>Ejemplo</a:t>
            </a:r>
          </a:p>
        </p:txBody>
      </p:sp>
      <p:sp>
        <p:nvSpPr>
          <p:cNvPr id="68612" name="Rectangle 3">
            <a:extLst>
              <a:ext uri="{FF2B5EF4-FFF2-40B4-BE49-F238E27FC236}">
                <a16:creationId xmlns:a16="http://schemas.microsoft.com/office/drawing/2014/main" id="{545C9A6C-9234-DF26-0C78-8945A12F1F6C}"/>
              </a:ext>
            </a:extLst>
          </p:cNvPr>
          <p:cNvSpPr>
            <a:spLocks noGrp="1" noChangeArrowheads="1"/>
          </p:cNvSpPr>
          <p:nvPr>
            <p:ph idx="1"/>
          </p:nvPr>
        </p:nvSpPr>
        <p:spPr>
          <a:xfrm>
            <a:off x="2166552" y="4034714"/>
            <a:ext cx="6455237" cy="2310608"/>
          </a:xfrm>
        </p:spPr>
        <p:txBody>
          <a:bodyPr/>
          <a:lstStyle/>
          <a:p>
            <a:pPr marL="7938" indent="-7938">
              <a:buNone/>
            </a:pPr>
            <a:r>
              <a:rPr lang="es-ES_tradnl" dirty="0"/>
              <a:t> </a:t>
            </a:r>
          </a:p>
        </p:txBody>
      </p:sp>
      <p:sp>
        <p:nvSpPr>
          <p:cNvPr id="68610" name="4 Marcador de número de diapositiva">
            <a:extLst>
              <a:ext uri="{FF2B5EF4-FFF2-40B4-BE49-F238E27FC236}">
                <a16:creationId xmlns:a16="http://schemas.microsoft.com/office/drawing/2014/main" id="{E45914B1-12D2-2C7D-5499-ECD3EE4E8885}"/>
              </a:ext>
            </a:extLst>
          </p:cNvPr>
          <p:cNvSpPr>
            <a:spLocks noGrp="1"/>
          </p:cNvSpPr>
          <p:nvPr>
            <p:ph type="sldNum" sz="quarter" idx="12"/>
          </p:nvPr>
        </p:nvSpPr>
        <p:spPr>
          <a:xfrm>
            <a:off x="4648200" y="6248400"/>
            <a:ext cx="2895600" cy="457200"/>
          </a:xfrm>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fld id="{1B0E6628-5393-4EBC-A29A-CD5E76FD75D9}" type="slidenum">
              <a:rPr lang="es-ES_tradnl" sz="1400"/>
              <a:pPr algn="ctr"/>
              <a:t>64</a:t>
            </a:fld>
            <a:endParaRPr lang="es-ES_tradnl" sz="1400"/>
          </a:p>
        </p:txBody>
      </p:sp>
      <p:pic>
        <p:nvPicPr>
          <p:cNvPr id="1026" name="Picture 2" descr="Ejemplo de diagrama de despliegue">
            <a:extLst>
              <a:ext uri="{FF2B5EF4-FFF2-40B4-BE49-F238E27FC236}">
                <a16:creationId xmlns:a16="http://schemas.microsoft.com/office/drawing/2014/main" id="{BE2BB808-54C8-B253-EC27-8E0C72045A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8943" y="0"/>
            <a:ext cx="8763057" cy="6345322"/>
          </a:xfrm>
          <a:prstGeom prst="rect">
            <a:avLst/>
          </a:prstGeom>
          <a:noFill/>
          <a:extLst>
            <a:ext uri="{909E8E84-426E-40DD-AFC4-6F175D3DCCD1}">
              <a14:hiddenFill xmlns:a14="http://schemas.microsoft.com/office/drawing/2010/main">
                <a:solidFill>
                  <a:srgbClr val="FFFFFF"/>
                </a:solidFill>
              </a14:hiddenFill>
            </a:ext>
          </a:extLst>
        </p:spPr>
      </p:pic>
      <p:sp>
        <p:nvSpPr>
          <p:cNvPr id="2" name="Flecha: hacia la izquierda 1">
            <a:hlinkClick r:id="rId4" action="ppaction://hlinksldjump"/>
            <a:extLst>
              <a:ext uri="{FF2B5EF4-FFF2-40B4-BE49-F238E27FC236}">
                <a16:creationId xmlns:a16="http://schemas.microsoft.com/office/drawing/2014/main" id="{B13FF7F0-DBF5-A312-CA72-5711E1C13981}"/>
              </a:ext>
            </a:extLst>
          </p:cNvPr>
          <p:cNvSpPr/>
          <p:nvPr/>
        </p:nvSpPr>
        <p:spPr>
          <a:xfrm>
            <a:off x="10379676" y="5846678"/>
            <a:ext cx="1260389" cy="401722"/>
          </a:xfrm>
          <a:prstGeom prst="leftArrow">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51521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66F55C-971E-ED33-854E-25A5D9DA87B3}"/>
              </a:ext>
            </a:extLst>
          </p:cNvPr>
          <p:cNvSpPr>
            <a:spLocks noGrp="1"/>
          </p:cNvSpPr>
          <p:nvPr>
            <p:ph type="title"/>
          </p:nvPr>
        </p:nvSpPr>
        <p:spPr/>
        <p:txBody>
          <a:bodyPr/>
          <a:lstStyle/>
          <a:p>
            <a:r>
              <a:rPr lang="es-419" dirty="0"/>
              <a:t>OCL en UML</a:t>
            </a:r>
            <a:endParaRPr lang="en-US" dirty="0"/>
          </a:p>
        </p:txBody>
      </p:sp>
      <p:sp>
        <p:nvSpPr>
          <p:cNvPr id="3" name="Marcador de contenido 2">
            <a:extLst>
              <a:ext uri="{FF2B5EF4-FFF2-40B4-BE49-F238E27FC236}">
                <a16:creationId xmlns:a16="http://schemas.microsoft.com/office/drawing/2014/main" id="{6A2FA323-AA63-CEDE-05A4-068065319B6C}"/>
              </a:ext>
            </a:extLst>
          </p:cNvPr>
          <p:cNvSpPr>
            <a:spLocks noGrp="1"/>
          </p:cNvSpPr>
          <p:nvPr>
            <p:ph idx="1"/>
          </p:nvPr>
        </p:nvSpPr>
        <p:spPr>
          <a:xfrm>
            <a:off x="1097279" y="1845734"/>
            <a:ext cx="11094721" cy="4456212"/>
          </a:xfrm>
        </p:spPr>
        <p:txBody>
          <a:bodyPr>
            <a:normAutofit/>
          </a:bodyPr>
          <a:lstStyle/>
          <a:p>
            <a:pPr algn="l">
              <a:buFont typeface="Wingdings" panose="05000000000000000000" pitchFamily="2" charset="2"/>
              <a:buChar char="Ø"/>
            </a:pPr>
            <a:r>
              <a:rPr lang="es-ES" sz="2600" dirty="0"/>
              <a:t>OCL 2.0 (</a:t>
            </a:r>
            <a:r>
              <a:rPr lang="es-ES" sz="2600" dirty="0" err="1"/>
              <a:t>Object</a:t>
            </a:r>
            <a:r>
              <a:rPr lang="es-ES" sz="2600" dirty="0"/>
              <a:t> </a:t>
            </a:r>
            <a:r>
              <a:rPr lang="es-ES" sz="2600" dirty="0" err="1"/>
              <a:t>Constraint</a:t>
            </a:r>
            <a:r>
              <a:rPr lang="es-ES" sz="2600" dirty="0"/>
              <a:t> </a:t>
            </a:r>
            <a:r>
              <a:rPr lang="es-ES" sz="2600" dirty="0" err="1"/>
              <a:t>Language</a:t>
            </a:r>
            <a:r>
              <a:rPr lang="es-ES" sz="2600" dirty="0"/>
              <a:t> 2.0) es un lenguaje para la descripción formal de expresiones en los modelos UML. </a:t>
            </a:r>
          </a:p>
          <a:p>
            <a:pPr algn="l">
              <a:buFont typeface="Wingdings" panose="05000000000000000000" pitchFamily="2" charset="2"/>
              <a:buChar char="Ø"/>
            </a:pPr>
            <a:r>
              <a:rPr lang="es-ES" sz="2600" dirty="0"/>
              <a:t>Fue adoptado en octubre de 2003 por el grupo OMG como parte de UML 2.0. </a:t>
            </a:r>
          </a:p>
          <a:p>
            <a:pPr algn="l">
              <a:buFont typeface="Wingdings" panose="05000000000000000000" pitchFamily="2" charset="2"/>
              <a:buChar char="Ø"/>
            </a:pPr>
            <a:r>
              <a:rPr lang="es-ES" sz="2600" dirty="0"/>
              <a:t>Sus expresiones pueden representar invariantes, precondiciones, postcondiciones, inicializaciones, reglas de derivación, así como consultas a objetos para determinar sus condiciones de estado.</a:t>
            </a:r>
          </a:p>
          <a:p>
            <a:pPr algn="l">
              <a:buFont typeface="Wingdings" panose="05000000000000000000" pitchFamily="2" charset="2"/>
              <a:buChar char="Ø"/>
            </a:pPr>
            <a:r>
              <a:rPr lang="es-ES" sz="2600" dirty="0"/>
              <a:t>Su papel principal es el de completar los diferentes artefactos de la notación UML con requerimientos formalmente expresados.</a:t>
            </a:r>
          </a:p>
          <a:p>
            <a:endParaRPr lang="en-US" dirty="0"/>
          </a:p>
        </p:txBody>
      </p:sp>
    </p:spTree>
    <p:extLst>
      <p:ext uri="{BB962C8B-B14F-4D97-AF65-F5344CB8AC3E}">
        <p14:creationId xmlns:p14="http://schemas.microsoft.com/office/powerpoint/2010/main" val="14867559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B7041-7467-0610-867B-E854248CF51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E0A9EB5-0296-0585-58CD-86A5A739743D}"/>
              </a:ext>
            </a:extLst>
          </p:cNvPr>
          <p:cNvSpPr>
            <a:spLocks noGrp="1"/>
          </p:cNvSpPr>
          <p:nvPr>
            <p:ph type="title"/>
          </p:nvPr>
        </p:nvSpPr>
        <p:spPr/>
        <p:txBody>
          <a:bodyPr/>
          <a:lstStyle/>
          <a:p>
            <a:r>
              <a:rPr lang="es-419" dirty="0"/>
              <a:t>Resumen</a:t>
            </a:r>
            <a:endParaRPr lang="en-US" dirty="0"/>
          </a:p>
        </p:txBody>
      </p:sp>
      <p:sp>
        <p:nvSpPr>
          <p:cNvPr id="3" name="Marcador de contenido 2">
            <a:extLst>
              <a:ext uri="{FF2B5EF4-FFF2-40B4-BE49-F238E27FC236}">
                <a16:creationId xmlns:a16="http://schemas.microsoft.com/office/drawing/2014/main" id="{54E31231-8E2A-AEC1-9811-D8AED735B1D8}"/>
              </a:ext>
            </a:extLst>
          </p:cNvPr>
          <p:cNvSpPr>
            <a:spLocks noGrp="1"/>
          </p:cNvSpPr>
          <p:nvPr>
            <p:ph idx="1"/>
          </p:nvPr>
        </p:nvSpPr>
        <p:spPr>
          <a:xfrm>
            <a:off x="1097279" y="1845734"/>
            <a:ext cx="11094721" cy="4456212"/>
          </a:xfrm>
        </p:spPr>
        <p:txBody>
          <a:bodyPr>
            <a:normAutofit/>
          </a:bodyPr>
          <a:lstStyle/>
          <a:p>
            <a:pPr algn="l">
              <a:buFont typeface="Wingdings" panose="05000000000000000000" pitchFamily="2" charset="2"/>
              <a:buChar char="Ø"/>
            </a:pPr>
            <a:r>
              <a:rPr lang="es-ES" sz="2600" dirty="0"/>
              <a:t>El uso de lenguajes de especificación de requerimientos proporciona un marco claro y estructurado para capturar, comunicar y validar las necesidades del cliente/usuario final. </a:t>
            </a:r>
          </a:p>
          <a:p>
            <a:pPr algn="l">
              <a:buFont typeface="Wingdings" panose="05000000000000000000" pitchFamily="2" charset="2"/>
              <a:buChar char="Ø"/>
            </a:pPr>
            <a:endParaRPr lang="es-ES" sz="1000" dirty="0"/>
          </a:p>
          <a:p>
            <a:pPr algn="l">
              <a:buFont typeface="Wingdings" panose="05000000000000000000" pitchFamily="2" charset="2"/>
              <a:buChar char="Ø"/>
            </a:pPr>
            <a:r>
              <a:rPr lang="es-ES" sz="2600" dirty="0"/>
              <a:t>Facilita la colaboración entre diferentes partes interesadas, desde analistas hasta desarrolladores y probadores, asegurando que todos tengan una comprensión común de lo que se debe construir. </a:t>
            </a:r>
          </a:p>
          <a:p>
            <a:pPr algn="l">
              <a:buFont typeface="Wingdings" panose="05000000000000000000" pitchFamily="2" charset="2"/>
              <a:buChar char="Ø"/>
            </a:pPr>
            <a:endParaRPr lang="es-ES" sz="1000" dirty="0"/>
          </a:p>
          <a:p>
            <a:pPr algn="l">
              <a:buFont typeface="Wingdings" panose="05000000000000000000" pitchFamily="2" charset="2"/>
              <a:buChar char="Ø"/>
            </a:pPr>
            <a:r>
              <a:rPr lang="es-ES" sz="2600" dirty="0"/>
              <a:t>Su implementación adecuada puede ser un factor decisivo en la calidad y la efectividad de los procesos de desarrollo ágil y tradicional.</a:t>
            </a:r>
            <a:endParaRPr lang="en-US" dirty="0"/>
          </a:p>
        </p:txBody>
      </p:sp>
    </p:spTree>
    <p:extLst>
      <p:ext uri="{BB962C8B-B14F-4D97-AF65-F5344CB8AC3E}">
        <p14:creationId xmlns:p14="http://schemas.microsoft.com/office/powerpoint/2010/main" val="19007987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EE9A6-FED7-0EF8-2C0A-456B6FA400EB}"/>
            </a:ext>
          </a:extLst>
        </p:cNvPr>
        <p:cNvGrpSpPr/>
        <p:nvPr/>
      </p:nvGrpSpPr>
      <p:grpSpPr>
        <a:xfrm>
          <a:off x="0" y="0"/>
          <a:ext cx="0" cy="0"/>
          <a:chOff x="0" y="0"/>
          <a:chExt cx="0" cy="0"/>
        </a:xfrm>
      </p:grpSpPr>
      <p:sp>
        <p:nvSpPr>
          <p:cNvPr id="4" name="Rectángulo: esquinas redondeadas 3">
            <a:extLst>
              <a:ext uri="{FF2B5EF4-FFF2-40B4-BE49-F238E27FC236}">
                <a16:creationId xmlns:a16="http://schemas.microsoft.com/office/drawing/2014/main" id="{E04C4AF4-3A7A-C1A2-6497-2663557D5F72}"/>
              </a:ext>
            </a:extLst>
          </p:cNvPr>
          <p:cNvSpPr/>
          <p:nvPr/>
        </p:nvSpPr>
        <p:spPr>
          <a:xfrm>
            <a:off x="963829" y="1247001"/>
            <a:ext cx="10639166" cy="2842055"/>
          </a:xfrm>
          <a:prstGeom prst="roundRect">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419" sz="4000" b="1" dirty="0">
                <a:solidFill>
                  <a:srgbClr val="FF0000"/>
                </a:solidFill>
              </a:rPr>
              <a:t>Debate</a:t>
            </a:r>
          </a:p>
          <a:p>
            <a:pPr algn="ctr"/>
            <a:r>
              <a:rPr lang="es-ES_tradnl" sz="4000" b="1" dirty="0">
                <a:solidFill>
                  <a:srgbClr val="FF0000"/>
                </a:solidFill>
              </a:rPr>
              <a:t>¿ </a:t>
            </a:r>
            <a:r>
              <a:rPr lang="es-419" sz="4000" b="1" dirty="0">
                <a:solidFill>
                  <a:srgbClr val="FF0000"/>
                </a:solidFill>
              </a:rPr>
              <a:t>Qué lenguaje de especificación debo utilizar?</a:t>
            </a:r>
            <a:endParaRPr lang="en-US" sz="4000" b="1" dirty="0">
              <a:solidFill>
                <a:srgbClr val="FF0000"/>
              </a:solidFill>
            </a:endParaRPr>
          </a:p>
        </p:txBody>
      </p:sp>
      <p:pic>
        <p:nvPicPr>
          <p:cNvPr id="2050" name="Picture 2" descr="Imágenes de Persona Computador Dudas - Descarga gratuita en ...">
            <a:extLst>
              <a:ext uri="{FF2B5EF4-FFF2-40B4-BE49-F238E27FC236}">
                <a16:creationId xmlns:a16="http://schemas.microsoft.com/office/drawing/2014/main" id="{5738964F-A2EF-88D4-98D6-EF2859B05A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23787" y="4447403"/>
            <a:ext cx="1849910" cy="1849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1656085"/>
      </p:ext>
    </p:extLst>
  </p:cSld>
  <p:clrMapOvr>
    <a:masterClrMapping/>
  </p:clrMapOvr>
</p:sld>
</file>

<file path=ppt/theme/theme1.xml><?xml version="1.0" encoding="utf-8"?>
<a:theme xmlns:a="http://schemas.openxmlformats.org/drawingml/2006/main" name="Retrospección">
  <a:themeElements>
    <a:clrScheme name="Retrospección">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ción">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16391</TotalTime>
  <Words>10726</Words>
  <Application>Microsoft Office PowerPoint</Application>
  <PresentationFormat>Panorámica</PresentationFormat>
  <Paragraphs>929</Paragraphs>
  <Slides>67</Slides>
  <Notes>67</Notes>
  <HiddenSlides>0</HiddenSlides>
  <MMClips>0</MMClips>
  <ScaleCrop>false</ScaleCrop>
  <HeadingPairs>
    <vt:vector size="8" baseType="variant">
      <vt:variant>
        <vt:lpstr>Fuentes usadas</vt:lpstr>
      </vt:variant>
      <vt:variant>
        <vt:i4>15</vt:i4>
      </vt:variant>
      <vt:variant>
        <vt:lpstr>Tema</vt:lpstr>
      </vt:variant>
      <vt:variant>
        <vt:i4>1</vt:i4>
      </vt:variant>
      <vt:variant>
        <vt:lpstr>Servidores OLE incrustados</vt:lpstr>
      </vt:variant>
      <vt:variant>
        <vt:i4>2</vt:i4>
      </vt:variant>
      <vt:variant>
        <vt:lpstr>Títulos de diapositiva</vt:lpstr>
      </vt:variant>
      <vt:variant>
        <vt:i4>67</vt:i4>
      </vt:variant>
    </vt:vector>
  </HeadingPairs>
  <TitlesOfParts>
    <vt:vector size="85" baseType="lpstr">
      <vt:lpstr>Arial</vt:lpstr>
      <vt:lpstr>Arial;Arial</vt:lpstr>
      <vt:lpstr>Calibri</vt:lpstr>
      <vt:lpstr>Calibri Light</vt:lpstr>
      <vt:lpstr>Courier New</vt:lpstr>
      <vt:lpstr>ff2</vt:lpstr>
      <vt:lpstr>ff3</vt:lpstr>
      <vt:lpstr>Graphik</vt:lpstr>
      <vt:lpstr>inherit</vt:lpstr>
      <vt:lpstr>Symbol</vt:lpstr>
      <vt:lpstr>Tahoma</vt:lpstr>
      <vt:lpstr>Times New Roman</vt:lpstr>
      <vt:lpstr>TradeGothic</vt:lpstr>
      <vt:lpstr>TWK Lausanne</vt:lpstr>
      <vt:lpstr>Wingdings</vt:lpstr>
      <vt:lpstr>Retrospección</vt:lpstr>
      <vt:lpstr>Documento</vt:lpstr>
      <vt:lpstr>Imagen</vt:lpstr>
      <vt:lpstr>Lenguajes de especificación de requerimientos</vt:lpstr>
      <vt:lpstr>Sumario:</vt:lpstr>
      <vt:lpstr>Lenguaje de especificación de requerimientos</vt:lpstr>
      <vt:lpstr>Características</vt:lpstr>
      <vt:lpstr>Utilidad</vt:lpstr>
      <vt:lpstr>Clasificación (1)</vt:lpstr>
      <vt:lpstr>Métodos formales</vt:lpstr>
      <vt:lpstr>Métodos informales</vt:lpstr>
      <vt:lpstr>Clasificación (2)</vt:lpstr>
      <vt:lpstr>Lenguajes  de especificación: Exponentes</vt:lpstr>
      <vt:lpstr>Diagrama de Flujo de Datos (DFD)</vt:lpstr>
      <vt:lpstr>Máquinas de Estados Finitos (MEF)</vt:lpstr>
      <vt:lpstr>Redes de Petri</vt:lpstr>
      <vt:lpstr>Situaciones comunes </vt:lpstr>
      <vt:lpstr>El lenguaje Z</vt:lpstr>
      <vt:lpstr>El lenguaje Z:Esquemas cont.</vt:lpstr>
      <vt:lpstr>Otros exponentes de métodos formales</vt:lpstr>
      <vt:lpstr>Exponentes de métodos informales</vt:lpstr>
      <vt:lpstr>Exponentes de métodos informales cont.</vt:lpstr>
      <vt:lpstr>Tarjetas CRC</vt:lpstr>
      <vt:lpstr>Tarjetas CRC: Simulación </vt:lpstr>
      <vt:lpstr>Storyboards (Guiones gráficos)</vt:lpstr>
      <vt:lpstr>Storyboard: tipo 1</vt:lpstr>
      <vt:lpstr>Storyboard:  tipo 1 </vt:lpstr>
      <vt:lpstr>Storyboard: tipo 2</vt:lpstr>
      <vt:lpstr>Storyboard  tipo 2</vt:lpstr>
      <vt:lpstr>Historias de Usuarios</vt:lpstr>
      <vt:lpstr>Historias de Usuarios. Ejemplos</vt:lpstr>
      <vt:lpstr>Historias de Usuarios. Ventajas/Desventajas</vt:lpstr>
      <vt:lpstr>Lenguaje Unificado de Modelado </vt:lpstr>
      <vt:lpstr>¿Qué es UML?</vt:lpstr>
      <vt:lpstr>UML. Evolución</vt:lpstr>
      <vt:lpstr>UML. Etapas de desarrollo</vt:lpstr>
      <vt:lpstr>UML. Principales diagramas</vt:lpstr>
      <vt:lpstr>Diagramas de Clase</vt:lpstr>
      <vt:lpstr>Atributos</vt:lpstr>
      <vt:lpstr>Ejemplo</vt:lpstr>
      <vt:lpstr>Relaciones</vt:lpstr>
      <vt:lpstr>Relaciones (cont.)</vt:lpstr>
      <vt:lpstr>Relación de asociación</vt:lpstr>
      <vt:lpstr>Agregación</vt:lpstr>
      <vt:lpstr>Agregación reflexiva</vt:lpstr>
      <vt:lpstr>Atributo de una asociación</vt:lpstr>
      <vt:lpstr>Atributo calificador</vt:lpstr>
      <vt:lpstr>Ejemplo</vt:lpstr>
      <vt:lpstr>Diagramas de casos de uso </vt:lpstr>
      <vt:lpstr>Elementos que lo componen</vt:lpstr>
      <vt:lpstr>Relaciones entre componentes</vt:lpstr>
      <vt:lpstr>Una posible solución al problema de la matricula de un curso</vt:lpstr>
      <vt:lpstr>Escenarios de un CU</vt:lpstr>
      <vt:lpstr>Diagramas de actividad</vt:lpstr>
      <vt:lpstr>Notación</vt:lpstr>
      <vt:lpstr>Ejemplo</vt:lpstr>
      <vt:lpstr>Diagramas de interacción</vt:lpstr>
      <vt:lpstr>Diagrama de Secuencia</vt:lpstr>
      <vt:lpstr>Diagramas de Colaboración</vt:lpstr>
      <vt:lpstr>Diagramas de Estado</vt:lpstr>
      <vt:lpstr>Notación</vt:lpstr>
      <vt:lpstr>Ejemplo</vt:lpstr>
      <vt:lpstr>Solución</vt:lpstr>
      <vt:lpstr>Diagramas de Componentes</vt:lpstr>
      <vt:lpstr>Elementos</vt:lpstr>
      <vt:lpstr>Diagramas de Despliegue</vt:lpstr>
      <vt:lpstr>Ejemplo</vt:lpstr>
      <vt:lpstr>OCL en UML</vt:lpstr>
      <vt:lpstr>Resumen</vt:lpstr>
      <vt:lpstr>Presentación de PowerPoint</vt:lpstr>
    </vt:vector>
  </TitlesOfParts>
  <Company>Universidad de Málaga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Gestión de Proyectos Software</dc:title>
  <dc:creator>Aracelys</dc:creator>
  <cp:lastModifiedBy>Aracelys García Armenteros</cp:lastModifiedBy>
  <cp:revision>319</cp:revision>
  <dcterms:created xsi:type="dcterms:W3CDTF">2016-09-19T15:25:44Z</dcterms:created>
  <dcterms:modified xsi:type="dcterms:W3CDTF">2025-09-14T12:40:33Z</dcterms:modified>
</cp:coreProperties>
</file>