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0" r:id="rId1"/>
  </p:sldMasterIdLst>
  <p:notesMasterIdLst>
    <p:notesMasterId r:id="rId55"/>
  </p:notesMasterIdLst>
  <p:handoutMasterIdLst>
    <p:handoutMasterId r:id="rId56"/>
  </p:handoutMasterIdLst>
  <p:sldIdLst>
    <p:sldId id="446" r:id="rId2"/>
    <p:sldId id="258" r:id="rId3"/>
    <p:sldId id="764" r:id="rId4"/>
    <p:sldId id="763" r:id="rId5"/>
    <p:sldId id="765" r:id="rId6"/>
    <p:sldId id="766" r:id="rId7"/>
    <p:sldId id="769" r:id="rId8"/>
    <p:sldId id="770" r:id="rId9"/>
    <p:sldId id="772" r:id="rId10"/>
    <p:sldId id="771" r:id="rId11"/>
    <p:sldId id="773" r:id="rId12"/>
    <p:sldId id="774" r:id="rId13"/>
    <p:sldId id="775" r:id="rId14"/>
    <p:sldId id="776" r:id="rId15"/>
    <p:sldId id="777" r:id="rId16"/>
    <p:sldId id="791" r:id="rId17"/>
    <p:sldId id="815" r:id="rId18"/>
    <p:sldId id="778" r:id="rId19"/>
    <p:sldId id="789" r:id="rId20"/>
    <p:sldId id="816" r:id="rId21"/>
    <p:sldId id="779" r:id="rId22"/>
    <p:sldId id="780" r:id="rId23"/>
    <p:sldId id="799" r:id="rId24"/>
    <p:sldId id="819" r:id="rId25"/>
    <p:sldId id="781" r:id="rId26"/>
    <p:sldId id="782" r:id="rId27"/>
    <p:sldId id="820" r:id="rId28"/>
    <p:sldId id="823" r:id="rId29"/>
    <p:sldId id="800" r:id="rId30"/>
    <p:sldId id="827" r:id="rId31"/>
    <p:sldId id="825" r:id="rId32"/>
    <p:sldId id="826" r:id="rId33"/>
    <p:sldId id="783" r:id="rId34"/>
    <p:sldId id="784" r:id="rId35"/>
    <p:sldId id="785" r:id="rId36"/>
    <p:sldId id="797" r:id="rId37"/>
    <p:sldId id="829" r:id="rId38"/>
    <p:sldId id="786" r:id="rId39"/>
    <p:sldId id="787" r:id="rId40"/>
    <p:sldId id="788" r:id="rId41"/>
    <p:sldId id="801" r:id="rId42"/>
    <p:sldId id="831" r:id="rId43"/>
    <p:sldId id="832" r:id="rId44"/>
    <p:sldId id="802" r:id="rId45"/>
    <p:sldId id="803" r:id="rId46"/>
    <p:sldId id="810" r:id="rId47"/>
    <p:sldId id="811" r:id="rId48"/>
    <p:sldId id="806" r:id="rId49"/>
    <p:sldId id="807" r:id="rId50"/>
    <p:sldId id="808" r:id="rId51"/>
    <p:sldId id="809" r:id="rId52"/>
    <p:sldId id="812" r:id="rId53"/>
    <p:sldId id="834" r:id="rId5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49" autoAdjust="0"/>
    <p:restoredTop sz="59266" autoAdjust="0"/>
  </p:normalViewPr>
  <p:slideViewPr>
    <p:cSldViewPr snapToGrid="0">
      <p:cViewPr>
        <p:scale>
          <a:sx n="48" d="100"/>
          <a:sy n="48" d="100"/>
        </p:scale>
        <p:origin x="-1584"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E54A35-C587-4D9E-88EB-28625A5AAE59}" type="datetimeFigureOut">
              <a:rPr lang="es-ES" smtClean="0"/>
              <a:t>14/04/2026</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FB20A4-F458-406D-8DAC-3B8EE176367F}" type="slidenum">
              <a:rPr lang="es-ES" smtClean="0"/>
              <a:t>‹Nº›</a:t>
            </a:fld>
            <a:endParaRPr lang="es-ES"/>
          </a:p>
        </p:txBody>
      </p:sp>
    </p:spTree>
    <p:extLst>
      <p:ext uri="{BB962C8B-B14F-4D97-AF65-F5344CB8AC3E}">
        <p14:creationId xmlns:p14="http://schemas.microsoft.com/office/powerpoint/2010/main" val="282072254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B2E9DD-9C30-4075-A3B5-08E83A83D8F0}" type="datetimeFigureOut">
              <a:rPr lang="es-ES" smtClean="0"/>
              <a:t>14/04/2026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236AF-7B77-41A3-9722-60AF9BD7B607}" type="slidenum">
              <a:rPr lang="es-ES" smtClean="0"/>
              <a:t>‹Nº›</a:t>
            </a:fld>
            <a:endParaRPr lang="es-ES"/>
          </a:p>
        </p:txBody>
      </p:sp>
    </p:spTree>
    <p:extLst>
      <p:ext uri="{BB962C8B-B14F-4D97-AF65-F5344CB8AC3E}">
        <p14:creationId xmlns:p14="http://schemas.microsoft.com/office/powerpoint/2010/main" val="26528592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7"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marL="742950" indent="-28575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marL="11430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marL="16002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marL="20574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eaLnBrk="1" hangingPunct="1"/>
            <a:endParaRPr lang="en-US" dirty="0"/>
          </a:p>
        </p:txBody>
      </p:sp>
      <p:sp>
        <p:nvSpPr>
          <p:cNvPr id="108548" name="Rectangle 2"/>
          <p:cNvSpPr>
            <a:spLocks noGrp="1" noChangeArrowheads="1"/>
          </p:cNvSpPr>
          <p:nvPr>
            <p:ph type="body"/>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dirty="0">
              <a:cs typeface="Arial" panose="020B0604020202020204" pitchFamily="34" charset="0"/>
            </a:endParaRPr>
          </a:p>
        </p:txBody>
      </p:sp>
    </p:spTree>
    <p:extLst>
      <p:ext uri="{BB962C8B-B14F-4D97-AF65-F5344CB8AC3E}">
        <p14:creationId xmlns:p14="http://schemas.microsoft.com/office/powerpoint/2010/main" val="1109841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1" name="Rectangle 1"/>
          <p:cNvSpPr>
            <a:spLocks noGrp="1" noRot="1" noChangeAspect="1" noChangeArrowheads="1" noTextEdit="1"/>
          </p:cNvSpPr>
          <p:nvPr>
            <p:ph type="sldImg"/>
          </p:nvPr>
        </p:nvSpPr>
        <p:spPr>
          <a:xfrm>
            <a:off x="381000" y="685800"/>
            <a:ext cx="6096000" cy="3429000"/>
          </a:xfrm>
          <a:ln/>
        </p:spPr>
      </p:sp>
      <p:sp>
        <p:nvSpPr>
          <p:cNvPr id="109572" name="Text Box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dirty="0">
              <a:cs typeface="Arial" panose="020B0604020202020204" pitchFamily="34" charset="0"/>
            </a:endParaRPr>
          </a:p>
        </p:txBody>
      </p:sp>
    </p:spTree>
    <p:extLst>
      <p:ext uri="{BB962C8B-B14F-4D97-AF65-F5344CB8AC3E}">
        <p14:creationId xmlns:p14="http://schemas.microsoft.com/office/powerpoint/2010/main" val="979760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1" name="Rectangle 1"/>
          <p:cNvSpPr>
            <a:spLocks noGrp="1" noRot="1" noChangeAspect="1" noChangeArrowheads="1" noTextEdit="1"/>
          </p:cNvSpPr>
          <p:nvPr>
            <p:ph type="sldImg"/>
          </p:nvPr>
        </p:nvSpPr>
        <p:spPr>
          <a:xfrm>
            <a:off x="381000" y="685800"/>
            <a:ext cx="6096000" cy="3429000"/>
          </a:xfrm>
          <a:ln/>
        </p:spPr>
      </p:sp>
      <p:sp>
        <p:nvSpPr>
          <p:cNvPr id="109572" name="Text Box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dirty="0">
              <a:cs typeface="Arial" panose="020B0604020202020204" pitchFamily="34" charset="0"/>
            </a:endParaRPr>
          </a:p>
        </p:txBody>
      </p:sp>
    </p:spTree>
    <p:extLst>
      <p:ext uri="{BB962C8B-B14F-4D97-AF65-F5344CB8AC3E}">
        <p14:creationId xmlns:p14="http://schemas.microsoft.com/office/powerpoint/2010/main" val="9797606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Un marco de trabajo o </a:t>
            </a:r>
            <a:r>
              <a:rPr lang="es-ES" dirty="0" err="1" smtClean="0"/>
              <a:t>framework</a:t>
            </a:r>
            <a:r>
              <a:rPr lang="es-ES" dirty="0" smtClean="0"/>
              <a:t> como acostumbramos a llamarles no es mas que un conjunto de funcionalidades ya programadas de forma general que pueden ser usadas y adaptadas para soluciones mas concretas, </a:t>
            </a:r>
          </a:p>
          <a:p>
            <a:endParaRPr lang="es-ES" dirty="0" smtClean="0"/>
          </a:p>
          <a:p>
            <a:r>
              <a:rPr lang="es-ES" dirty="0" smtClean="0"/>
              <a:t>Podemos poner como ejemplo el acceso a bases de datos de forma general, el </a:t>
            </a:r>
            <a:r>
              <a:rPr lang="es-ES" dirty="0" err="1" smtClean="0"/>
              <a:t>framework</a:t>
            </a:r>
            <a:r>
              <a:rPr lang="es-ES" dirty="0" smtClean="0"/>
              <a:t> de acceso a las mismas x si solo no resuelve el problema concreto, </a:t>
            </a:r>
          </a:p>
          <a:p>
            <a:endParaRPr lang="es-ES" dirty="0" smtClean="0"/>
          </a:p>
          <a:p>
            <a:r>
              <a:rPr lang="es-ES" dirty="0" smtClean="0"/>
              <a:t>O sea no nos dice como están organizadas nuestras tablas, que relaciones hay entre ellas, que dependencias existen entre los datos de una tabla y otra tabla, </a:t>
            </a:r>
          </a:p>
          <a:p>
            <a:endParaRPr lang="es-ES" dirty="0" smtClean="0"/>
          </a:p>
          <a:p>
            <a:r>
              <a:rPr lang="es-ES" dirty="0" smtClean="0"/>
              <a:t>Lo que nos brinda este marco de trabajo es de forma muy general las funcionalidades básicas de acceder a una tabla, de poder obtener sus relaciones,  de poder obtener un record especifico de una tabla especifica.</a:t>
            </a:r>
          </a:p>
          <a:p>
            <a:endParaRPr lang="es-ES" dirty="0" smtClean="0"/>
          </a:p>
          <a:p>
            <a:r>
              <a:rPr lang="es-ES" dirty="0" smtClean="0"/>
              <a:t>El sentido de lo que representa la base de datos a la que estamos accediendo se lo damos nosotros al utilizar las funcionalidades genéricas que nos brinda el </a:t>
            </a:r>
            <a:r>
              <a:rPr lang="es-ES" dirty="0" err="1" smtClean="0"/>
              <a:t>framework</a:t>
            </a:r>
            <a:r>
              <a:rPr lang="es-ES" dirty="0" smtClean="0"/>
              <a:t> que estemos usando, Esto lo podemos conseguir ya sea por uso directo de las funcionalidades que brinda el </a:t>
            </a:r>
            <a:r>
              <a:rPr lang="es-ES" dirty="0" err="1" smtClean="0"/>
              <a:t>framework</a:t>
            </a:r>
            <a:r>
              <a:rPr lang="es-ES" dirty="0" smtClean="0"/>
              <a:t> en cuestión </a:t>
            </a:r>
          </a:p>
          <a:p>
            <a:r>
              <a:rPr lang="es-ES" dirty="0" smtClean="0"/>
              <a:t>o por la extensión de los componentes que la integran, por ejemplo usando la herencia Desde que empezamos a programar estamos haciendo uso de </a:t>
            </a:r>
            <a:r>
              <a:rPr lang="es-ES" dirty="0" err="1" smtClean="0"/>
              <a:t>frameworks</a:t>
            </a:r>
            <a:r>
              <a:rPr lang="es-ES" dirty="0" smtClean="0"/>
              <a:t> por ejemplo para programar las interfaces visuales con Windows </a:t>
            </a:r>
            <a:r>
              <a:rPr lang="es-ES" dirty="0" err="1" smtClean="0"/>
              <a:t>Forms</a:t>
            </a:r>
            <a:r>
              <a:rPr lang="es-ES" dirty="0" smtClean="0"/>
              <a:t>, Por ejemplo cuando salvamos en disco usando </a:t>
            </a:r>
            <a:r>
              <a:rPr lang="es-ES" dirty="0" err="1" smtClean="0"/>
              <a:t>streams</a:t>
            </a:r>
            <a:r>
              <a:rPr lang="es-ES" dirty="0" smtClean="0"/>
              <a:t>,</a:t>
            </a:r>
          </a:p>
          <a:p>
            <a:r>
              <a:rPr lang="es-ES" dirty="0" smtClean="0"/>
              <a:t>Por ejemplo para </a:t>
            </a:r>
            <a:r>
              <a:rPr lang="es-ES" dirty="0" err="1" smtClean="0"/>
              <a:t>parsear</a:t>
            </a:r>
            <a:r>
              <a:rPr lang="es-ES" dirty="0" smtClean="0"/>
              <a:t> ficheros </a:t>
            </a:r>
            <a:r>
              <a:rPr lang="es-ES" dirty="0" err="1" smtClean="0"/>
              <a:t>xml</a:t>
            </a:r>
            <a:r>
              <a:rPr lang="es-ES" dirty="0" smtClean="0"/>
              <a:t> o ficheros </a:t>
            </a:r>
            <a:r>
              <a:rPr lang="es-ES" dirty="0" err="1" smtClean="0"/>
              <a:t>json</a:t>
            </a:r>
            <a:endParaRPr lang="en-US"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Es muy común que los </a:t>
            </a:r>
            <a:r>
              <a:rPr lang="es-ES" noProof="0" dirty="0" err="1" smtClean="0"/>
              <a:t>frameworks</a:t>
            </a:r>
            <a:r>
              <a:rPr lang="es-ES" noProof="0" dirty="0" smtClean="0"/>
              <a:t> implementen varios patrones o partes de los mismos</a:t>
            </a:r>
          </a:p>
          <a:p>
            <a:r>
              <a:rPr lang="es-ES" noProof="0" dirty="0" smtClean="0"/>
              <a:t>estamos introduciendo en este momento el termino patrones pero estos los veremos mas adelante</a:t>
            </a:r>
          </a:p>
          <a:p>
            <a:endParaRPr lang="es-ES" noProof="0" dirty="0" smtClean="0"/>
          </a:p>
          <a:p>
            <a:r>
              <a:rPr lang="es-ES" noProof="0" dirty="0" smtClean="0"/>
              <a:t>El </a:t>
            </a:r>
            <a:r>
              <a:rPr lang="es-ES" noProof="0" dirty="0" err="1" smtClean="0"/>
              <a:t>framework</a:t>
            </a:r>
            <a:r>
              <a:rPr lang="es-ES" noProof="0" dirty="0" smtClean="0"/>
              <a:t> por excelencia que ustedes deben haber estado usando desde que empezaron la carrera, </a:t>
            </a:r>
          </a:p>
          <a:p>
            <a:r>
              <a:rPr lang="es-ES" noProof="0" dirty="0" smtClean="0"/>
              <a:t>el NET Framework, implementa muchísimos </a:t>
            </a:r>
            <a:r>
              <a:rPr lang="es-ES" noProof="0" dirty="0" err="1" smtClean="0"/>
              <a:t>patrones,y</a:t>
            </a:r>
            <a:r>
              <a:rPr lang="es-ES" noProof="0" dirty="0" smtClean="0"/>
              <a:t> puede ser considerado un </a:t>
            </a:r>
            <a:r>
              <a:rPr lang="es-ES" noProof="0" dirty="0" err="1" smtClean="0"/>
              <a:t>framework</a:t>
            </a:r>
            <a:r>
              <a:rPr lang="es-ES" noProof="0" dirty="0" smtClean="0"/>
              <a:t> de </a:t>
            </a:r>
            <a:r>
              <a:rPr lang="es-ES" noProof="0" dirty="0" err="1" smtClean="0"/>
              <a:t>frameworks</a:t>
            </a:r>
            <a:r>
              <a:rPr lang="es-ES" noProof="0" dirty="0" smtClean="0"/>
              <a:t> .</a:t>
            </a:r>
          </a:p>
          <a:p>
            <a:r>
              <a:rPr lang="es-ES" noProof="0" dirty="0" smtClean="0"/>
              <a:t>las ventajas son obvias</a:t>
            </a:r>
          </a:p>
          <a:p>
            <a:r>
              <a:rPr lang="es-ES" noProof="0" dirty="0" smtClean="0"/>
              <a:t>se reduce el tiempo de desarrollo y por lo tanto el costo de producción al estar usándose partes de código ya previamente creadas y testeadas</a:t>
            </a:r>
          </a:p>
          <a:p>
            <a:r>
              <a:rPr lang="es-ES" noProof="0" dirty="0" smtClean="0"/>
              <a:t>la calidad del producto se ve incrementada porque en cierto modo se supone que estas piezas de código que estamos utilizando están libres de errores, </a:t>
            </a:r>
          </a:p>
          <a:p>
            <a:r>
              <a:rPr lang="es-ES" noProof="0" dirty="0" smtClean="0"/>
              <a:t>están optimizadas y son consistentes</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Los patrones nos dan descripciones de como solucionar problemas que comúnmente ocurren dentro de un contexto determinado</a:t>
            </a:r>
          </a:p>
          <a:p>
            <a:r>
              <a:rPr lang="es-ES" dirty="0" smtClean="0"/>
              <a:t>estas soluciones pueden ser utilizadas en diferentes situaciones</a:t>
            </a:r>
          </a:p>
          <a:p>
            <a:endParaRPr lang="es-ES" dirty="0" smtClean="0"/>
          </a:p>
          <a:p>
            <a:r>
              <a:rPr lang="es-ES" dirty="0" smtClean="0"/>
              <a:t>Los patrones no son diseños finalizados que puedan transformarse directamente en código, sino mas bien ideas, lineamientos, formas de estructurar y organizar, formas de actuar, inclusive pueden verse como plantillas para solucionar problemas específicos</a:t>
            </a:r>
            <a:endParaRPr lang="en-US" dirty="0"/>
          </a:p>
        </p:txBody>
      </p:sp>
    </p:spTree>
    <p:extLst>
      <p:ext uri="{BB962C8B-B14F-4D97-AF65-F5344CB8AC3E}">
        <p14:creationId xmlns:p14="http://schemas.microsoft.com/office/powerpoint/2010/main" val="1369886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La terminología de patrones se tomo prestada de la industria</a:t>
            </a:r>
          </a:p>
          <a:p>
            <a:endParaRPr lang="es-ES" noProof="0" dirty="0" smtClean="0"/>
          </a:p>
          <a:p>
            <a:r>
              <a:rPr lang="es-ES" noProof="0" dirty="0" smtClean="0"/>
              <a:t>En particular de la industria de confección de ropa, aunque los patrones se utilizan en otras industrias también</a:t>
            </a:r>
            <a:r>
              <a:rPr lang="es-ES" baseline="0" noProof="0" dirty="0" smtClean="0"/>
              <a:t> como el diseño arquitectónico.</a:t>
            </a:r>
            <a:endParaRPr lang="es-ES" noProof="0" dirty="0" smtClean="0"/>
          </a:p>
          <a:p>
            <a:endParaRPr lang="es-ES" noProof="0" dirty="0" smtClean="0"/>
          </a:p>
          <a:p>
            <a:r>
              <a:rPr lang="es-ES" noProof="0" dirty="0" smtClean="0"/>
              <a:t>Cuando se quiere crear una camisa por ejemplo, existen unas plantillas o patrones que se marcan en</a:t>
            </a:r>
            <a:r>
              <a:rPr lang="es-ES" baseline="0" noProof="0" dirty="0" smtClean="0"/>
              <a:t> la tela, esta es cortada y posteriormente cosida para obtener el producto terminado que es la camisa, esto permite aplicar la producción en masa pues un mismo trabajador trabajando con un único patrón puede crear múltiples piezas de ropa. </a:t>
            </a:r>
          </a:p>
          <a:p>
            <a:endParaRPr lang="es-ES" baseline="0" noProof="0" dirty="0" smtClean="0"/>
          </a:p>
          <a:p>
            <a:r>
              <a:rPr lang="es-ES" baseline="0" noProof="0" dirty="0" smtClean="0"/>
              <a:t>Por supuesto estamos dando una descripción muy simplificada del proceso.</a:t>
            </a:r>
          </a:p>
          <a:p>
            <a:endParaRPr lang="es-ES" baseline="0" noProof="0" dirty="0" smtClean="0"/>
          </a:p>
          <a:p>
            <a:r>
              <a:rPr lang="es-ES" baseline="0" noProof="0" dirty="0" smtClean="0"/>
              <a:t>En los 60 del siglo pasado el arquitecto de edificaciones </a:t>
            </a:r>
            <a:r>
              <a:rPr lang="es-ES_tradnl" sz="1200" dirty="0" smtClean="0">
                <a:cs typeface="Times New Roman" pitchFamily="18" charset="0"/>
              </a:rPr>
              <a:t>Christopher Alexander comienza a aplicar estos principios en sus trabajos.</a:t>
            </a:r>
            <a:r>
              <a:rPr lang="es-ES_tradnl" sz="1200" baseline="0" dirty="0" smtClean="0">
                <a:cs typeface="Times New Roman" pitchFamily="18" charset="0"/>
              </a:rPr>
              <a:t> Sus teorías acerca del diseño han influenciado fuertemente otros campos mas allá de la arquitectura como la sociología y la industria del software</a:t>
            </a:r>
            <a:endParaRPr lang="es-ES" baseline="0" noProof="0" dirty="0" smtClean="0"/>
          </a:p>
          <a:p>
            <a:endParaRPr lang="es-ES" baseline="0" noProof="0" dirty="0" smtClean="0"/>
          </a:p>
          <a:p>
            <a:r>
              <a:rPr lang="es-ES" baseline="0" noProof="0" dirty="0" smtClean="0"/>
              <a:t>En la industria del software el concepto de patrón comienza a ser popularizado a partir del trabajo de la banda de los 4 en 1995, pero los orígenes del uso de patrones es anterior a esto.</a:t>
            </a:r>
          </a:p>
          <a:p>
            <a:r>
              <a:rPr lang="es-ES" noProof="0" dirty="0" smtClean="0"/>
              <a:t>Previo al trabajo de la banda de los 4</a:t>
            </a:r>
            <a:r>
              <a:rPr lang="es-ES" baseline="0" noProof="0" dirty="0" smtClean="0"/>
              <a:t> podemos mencionar los trabajos</a:t>
            </a:r>
          </a:p>
          <a:p>
            <a:endParaRPr lang="es-ES" baseline="0" noProof="0" dirty="0" smtClean="0"/>
          </a:p>
          <a:p>
            <a:r>
              <a:rPr lang="es-ES" baseline="0" noProof="0" dirty="0" smtClean="0"/>
              <a:t>de </a:t>
            </a:r>
            <a:r>
              <a:rPr lang="es-ES_tradnl" sz="1200" dirty="0" err="1" smtClean="0">
                <a:cs typeface="Times New Roman" pitchFamily="18" charset="0"/>
              </a:rPr>
              <a:t>Cunningham</a:t>
            </a:r>
            <a:r>
              <a:rPr lang="es-ES_tradnl" sz="1200" dirty="0" smtClean="0">
                <a:cs typeface="Times New Roman" pitchFamily="18" charset="0"/>
              </a:rPr>
              <a:t> y Beck en 1987 sobre el</a:t>
            </a:r>
            <a:r>
              <a:rPr lang="es-ES_tradnl" sz="1200" baseline="0" dirty="0" smtClean="0">
                <a:cs typeface="Times New Roman" pitchFamily="18" charset="0"/>
              </a:rPr>
              <a:t> lenguaje </a:t>
            </a:r>
            <a:r>
              <a:rPr lang="es-ES_tradnl" sz="1200" baseline="0" dirty="0" err="1" smtClean="0">
                <a:cs typeface="Times New Roman" pitchFamily="18" charset="0"/>
              </a:rPr>
              <a:t>SmallTalk</a:t>
            </a:r>
            <a:endParaRPr lang="es-ES_tradnl" sz="1200" baseline="0" dirty="0" smtClean="0">
              <a:cs typeface="Times New Roman" pitchFamily="18" charset="0"/>
            </a:endParaRPr>
          </a:p>
          <a:p>
            <a:endParaRPr lang="es-ES_tradnl" sz="1200" baseline="0" noProof="0" dirty="0" smtClean="0">
              <a:cs typeface="Times New Roman" pitchFamily="18" charset="0"/>
            </a:endParaRPr>
          </a:p>
          <a:p>
            <a:r>
              <a:rPr lang="es-ES_tradnl" sz="1200" baseline="0" noProof="0" dirty="0" smtClean="0">
                <a:cs typeface="Times New Roman" pitchFamily="18" charset="0"/>
              </a:rPr>
              <a:t>de </a:t>
            </a:r>
            <a:r>
              <a:rPr lang="es-ES_tradnl" sz="1200" dirty="0" err="1" smtClean="0">
                <a:cs typeface="Times New Roman" pitchFamily="18" charset="0"/>
              </a:rPr>
              <a:t>Coplien</a:t>
            </a:r>
            <a:r>
              <a:rPr lang="es-ES_tradnl" sz="1200" dirty="0" smtClean="0">
                <a:cs typeface="Times New Roman" pitchFamily="18" charset="0"/>
              </a:rPr>
              <a:t> en 1981</a:t>
            </a:r>
            <a:r>
              <a:rPr lang="es-ES_tradnl" sz="1200" baseline="0" dirty="0" smtClean="0">
                <a:cs typeface="Times New Roman" pitchFamily="18" charset="0"/>
              </a:rPr>
              <a:t> sobre C++</a:t>
            </a:r>
            <a:endParaRPr lang="es-ES" noProof="0"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Como hemos dicho anteriormente, a  pesar de que el trabajo de Alexander fue orientado inicialmente a la Arquitectura, la mayoría de sus principios son aplicados en la industria del software</a:t>
            </a:r>
          </a:p>
          <a:p>
            <a:endParaRPr lang="es-ES" noProof="0" dirty="0" smtClean="0"/>
          </a:p>
          <a:p>
            <a:r>
              <a:rPr lang="es-ES" noProof="0" dirty="0" smtClean="0"/>
              <a:t>La definición de Alexander habla de una regla de 3 partes que expresa la relación entre el</a:t>
            </a:r>
            <a:r>
              <a:rPr lang="es-ES" baseline="0" noProof="0" dirty="0" smtClean="0"/>
              <a:t> problema, la solución y el contexto donde se desarrolla.</a:t>
            </a:r>
          </a:p>
          <a:p>
            <a:endParaRPr lang="es-ES" baseline="0" noProof="0" dirty="0" smtClean="0"/>
          </a:p>
          <a:p>
            <a:r>
              <a:rPr lang="es-ES" noProof="0" dirty="0" smtClean="0"/>
              <a:t>Otra definición, la de </a:t>
            </a:r>
            <a:r>
              <a:rPr lang="es-ES" noProof="0" dirty="0" err="1" smtClean="0"/>
              <a:t>Riehle</a:t>
            </a:r>
            <a:r>
              <a:rPr lang="es-ES" baseline="0" noProof="0" dirty="0" smtClean="0"/>
              <a:t> y </a:t>
            </a:r>
            <a:r>
              <a:rPr lang="es-ES" baseline="0" noProof="0" dirty="0" err="1" smtClean="0"/>
              <a:t>Zullighoven</a:t>
            </a:r>
            <a:r>
              <a:rPr lang="es-ES" baseline="0" noProof="0" dirty="0" smtClean="0"/>
              <a:t> habla de la idea abstracta que se ha extraído de una aplicación concreta, la cual puede servir para ser aplicada en otros problemas.</a:t>
            </a:r>
            <a:endParaRPr lang="es-ES" noProof="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Richard</a:t>
            </a:r>
            <a:r>
              <a:rPr lang="es-ES" baseline="0" noProof="0" dirty="0" smtClean="0"/>
              <a:t> Gabriel extiende la definición de Alexander al considerar también las fuerzas que aparecen en el contexto y la solución de software</a:t>
            </a:r>
            <a:endParaRPr lang="es-ES" noProof="0"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err="1" smtClean="0"/>
              <a:t>Coplien</a:t>
            </a:r>
            <a:r>
              <a:rPr lang="es-ES" noProof="0" dirty="0" smtClean="0"/>
              <a:t> por su parte intenta dar una explicación asequible de lo que debe ser un patrón a partir de ejemplos.</a:t>
            </a: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Entonces que definimos como un patrón de diseño?</a:t>
            </a:r>
          </a:p>
          <a:p>
            <a:endParaRPr lang="es-ES" noProof="0" dirty="0" smtClean="0"/>
          </a:p>
          <a:p>
            <a:r>
              <a:rPr lang="es-ES" noProof="0" dirty="0" smtClean="0"/>
              <a:t>Cuando damos</a:t>
            </a:r>
            <a:r>
              <a:rPr lang="es-ES" baseline="0" noProof="0" dirty="0" smtClean="0"/>
              <a:t> solución efectiva a un problema especifico es muy probable que la idea que usamos pueda ser generalizada para su uso en la solución de problemas similares, inclusive puede adaptarse la idea a la solución de otros problemas que aparentemente no tiene relación con el problema original</a:t>
            </a:r>
          </a:p>
          <a:p>
            <a:endParaRPr lang="es-ES" baseline="0" noProof="0" dirty="0" smtClean="0"/>
          </a:p>
          <a:p>
            <a:r>
              <a:rPr lang="es-ES" baseline="0" noProof="0" dirty="0" smtClean="0"/>
              <a:t>Es por eso que es importante tener bien clara la idea de como vamos a resolver un problema determinado para poder plantearla y que quizás se convierta en un patrón. </a:t>
            </a:r>
          </a:p>
          <a:p>
            <a:endParaRPr lang="es-ES" baseline="0" noProof="0" dirty="0" smtClean="0"/>
          </a:p>
          <a:p>
            <a:r>
              <a:rPr lang="es-ES" baseline="0" noProof="0" dirty="0" smtClean="0"/>
              <a:t>También hay que observar porque puede ser que nuestro problema ya haya sido abordado anteriormente de alguna forma, así que antes de ponernos a construir ideas es mejor comenzar buscando que hay hecho al respecto con el mismo problema o con problemas similares</a:t>
            </a:r>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El libro de la banda de los 4 aborda un numero de patrones que podemos decir que usamos diariamente de una forma u otra ya sea de forma consciente o ya sea de forma inconsciente</a:t>
            </a:r>
          </a:p>
          <a:p>
            <a:endParaRPr lang="es-ES" noProof="0" dirty="0" smtClean="0"/>
          </a:p>
          <a:p>
            <a:r>
              <a:rPr lang="es-ES" noProof="0" dirty="0" smtClean="0"/>
              <a:t>En este libro los autores clasifican en grupos los tipos de patrones que exponen</a:t>
            </a:r>
          </a:p>
          <a:p>
            <a:r>
              <a:rPr lang="es-ES" noProof="0" dirty="0" smtClean="0"/>
              <a:t>Veremos a continuación algunos de</a:t>
            </a:r>
            <a:r>
              <a:rPr lang="es-ES" baseline="0" noProof="0" dirty="0" smtClean="0"/>
              <a:t> estos patrones de acuerdo a su clasificación en </a:t>
            </a:r>
            <a:endParaRPr lang="es-ES" noProof="0" dirty="0" smtClean="0"/>
          </a:p>
          <a:p>
            <a:r>
              <a:rPr lang="es-ES" noProof="0" dirty="0" smtClean="0"/>
              <a:t>Patrones de creación</a:t>
            </a:r>
          </a:p>
          <a:p>
            <a:r>
              <a:rPr lang="es-ES" noProof="0" dirty="0" smtClean="0"/>
              <a:t>Patrones estructurales</a:t>
            </a:r>
          </a:p>
          <a:p>
            <a:r>
              <a:rPr lang="es-ES" noProof="0" dirty="0" smtClean="0"/>
              <a:t>Patrones de comportamiento</a:t>
            </a:r>
          </a:p>
        </p:txBody>
      </p:sp>
    </p:spTree>
    <p:extLst>
      <p:ext uri="{BB962C8B-B14F-4D97-AF65-F5344CB8AC3E}">
        <p14:creationId xmlns:p14="http://schemas.microsoft.com/office/powerpoint/2010/main" val="13698864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`patrón </a:t>
            </a:r>
            <a:r>
              <a:rPr lang="es-ES" dirty="0" err="1" smtClean="0"/>
              <a:t>Abstract</a:t>
            </a:r>
            <a:r>
              <a:rPr lang="es-ES" dirty="0" smtClean="0"/>
              <a:t> Factory</a:t>
            </a:r>
          </a:p>
          <a:p>
            <a:endParaRPr lang="es-ES" dirty="0" smtClean="0"/>
          </a:p>
          <a:p>
            <a:r>
              <a:rPr lang="es-ES" dirty="0" smtClean="0"/>
              <a:t>Provee una vía de juntar un grupo de diferentes </a:t>
            </a:r>
            <a:r>
              <a:rPr lang="es-ES" dirty="0" err="1" smtClean="0"/>
              <a:t>Factorys</a:t>
            </a:r>
            <a:r>
              <a:rPr lang="es-ES" dirty="0" smtClean="0"/>
              <a:t> individuales que tienen funcionalidades comunes, </a:t>
            </a:r>
          </a:p>
          <a:p>
            <a:r>
              <a:rPr lang="es-ES" dirty="0" smtClean="0"/>
              <a:t>sin necesidad de especificar sus clases concretas. </a:t>
            </a:r>
          </a:p>
          <a:p>
            <a:endParaRPr lang="es-ES" dirty="0" smtClean="0"/>
          </a:p>
          <a:p>
            <a:r>
              <a:rPr lang="es-ES" dirty="0" smtClean="0"/>
              <a:t>Normalmente se utiliza una implementación concreta del </a:t>
            </a:r>
            <a:r>
              <a:rPr lang="es-ES" dirty="0" err="1" smtClean="0"/>
              <a:t>Abstract</a:t>
            </a:r>
            <a:r>
              <a:rPr lang="es-ES" dirty="0" smtClean="0"/>
              <a:t> Factory </a:t>
            </a:r>
          </a:p>
          <a:p>
            <a:r>
              <a:rPr lang="es-ES" dirty="0" smtClean="0"/>
              <a:t>y se usan las interfaces genéricas de los </a:t>
            </a:r>
            <a:r>
              <a:rPr lang="es-ES" dirty="0" err="1" smtClean="0"/>
              <a:t>factorys</a:t>
            </a:r>
            <a:r>
              <a:rPr lang="es-ES" dirty="0" smtClean="0"/>
              <a:t> para crear las instancias concretas que implementan la funcionalidad deseada.</a:t>
            </a:r>
          </a:p>
          <a:p>
            <a:endParaRPr lang="es-ES" dirty="0" smtClean="0"/>
          </a:p>
          <a:p>
            <a:r>
              <a:rPr lang="es-ES" dirty="0" smtClean="0"/>
              <a:t>El cliente no se tiene que preocupar por que instancias concretas esta recibiendo dado que el solo utiliza estas instancias de forma genérica.</a:t>
            </a:r>
          </a:p>
          <a:p>
            <a:endParaRPr lang="es-ES" dirty="0" smtClean="0"/>
          </a:p>
          <a:p>
            <a:r>
              <a:rPr lang="es-ES" dirty="0" smtClean="0"/>
              <a:t>El patrón Factory </a:t>
            </a:r>
            <a:r>
              <a:rPr lang="es-ES" dirty="0" err="1" smtClean="0"/>
              <a:t>Method</a:t>
            </a:r>
            <a:endParaRPr lang="es-ES" dirty="0" smtClean="0"/>
          </a:p>
          <a:p>
            <a:endParaRPr lang="es-ES" dirty="0" smtClean="0"/>
          </a:p>
          <a:p>
            <a:r>
              <a:rPr lang="es-ES" dirty="0" smtClean="0"/>
              <a:t>Usa métodos Factory para crear instancias sin tener que especificar el tipo exacto de la instancia que se esta creando.</a:t>
            </a:r>
          </a:p>
          <a:p>
            <a:r>
              <a:rPr lang="es-ES" dirty="0" smtClean="0"/>
              <a:t>Estos contienen todo el conocimiento necesario para la creación de las instancias</a:t>
            </a: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El patrón Factory nos</a:t>
            </a:r>
            <a:r>
              <a:rPr lang="es-ES" baseline="0" noProof="0" dirty="0" smtClean="0"/>
              <a:t> oculta la decisión de que instancia se nos va a devolver, en este caso </a:t>
            </a:r>
            <a:r>
              <a:rPr lang="es-ES" baseline="0" noProof="0" dirty="0" err="1" smtClean="0"/>
              <a:t>Creator</a:t>
            </a:r>
            <a:r>
              <a:rPr lang="es-ES" baseline="0" noProof="0" dirty="0" smtClean="0"/>
              <a:t> es quien decide que generador de instancias especifico (</a:t>
            </a:r>
            <a:r>
              <a:rPr lang="es-ES" baseline="0" noProof="0" dirty="0" err="1" smtClean="0"/>
              <a:t>ConcreteCreator</a:t>
            </a:r>
            <a:r>
              <a:rPr lang="es-ES" baseline="0" noProof="0" dirty="0" smtClean="0"/>
              <a:t>) va a ejecutar en base a la información que ha recibido el </a:t>
            </a:r>
            <a:r>
              <a:rPr lang="es-ES" baseline="0" noProof="0" dirty="0" err="1" smtClean="0"/>
              <a:t>ConcreteCreator</a:t>
            </a:r>
            <a:r>
              <a:rPr lang="es-ES" baseline="0" noProof="0" dirty="0" smtClean="0"/>
              <a:t> es realmente quien se encarga de crear la instancia </a:t>
            </a:r>
            <a:r>
              <a:rPr lang="es-ES" baseline="0" noProof="0" dirty="0" err="1" smtClean="0"/>
              <a:t>ConcreteProduct</a:t>
            </a:r>
            <a:r>
              <a:rPr lang="es-ES" baseline="0" noProof="0" dirty="0" smtClean="0"/>
              <a:t> y tomar todas las acciones necesarias en su proceso de creación se devuelve una instancia concreta (</a:t>
            </a:r>
            <a:r>
              <a:rPr lang="es-ES" baseline="0" noProof="0" dirty="0" err="1" smtClean="0"/>
              <a:t>ConcreteProduct</a:t>
            </a:r>
            <a:r>
              <a:rPr lang="es-ES" baseline="0" noProof="0" dirty="0" smtClean="0"/>
              <a:t>) de una clase abstracta general </a:t>
            </a:r>
            <a:r>
              <a:rPr lang="es-ES" baseline="0" noProof="0" dirty="0" err="1" smtClean="0"/>
              <a:t>Product</a:t>
            </a:r>
            <a:endParaRPr lang="es-ES" noProof="0" dirty="0" smtClean="0"/>
          </a:p>
          <a:p>
            <a:endParaRPr lang="en-US"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endParaRPr lang="es-ES" dirty="0" smtClean="0"/>
          </a:p>
          <a:p>
            <a:r>
              <a:rPr lang="es-ES" dirty="0" smtClean="0"/>
              <a:t>El patrón Prototipo</a:t>
            </a:r>
          </a:p>
          <a:p>
            <a:endParaRPr lang="es-ES" dirty="0" smtClean="0"/>
          </a:p>
          <a:p>
            <a:r>
              <a:rPr lang="es-ES" dirty="0" smtClean="0"/>
              <a:t>Es usado cuando el tipo de la instancia creada es determinada por una instancia prototipo, la cual es clonada para producir nuevos objetos</a:t>
            </a:r>
          </a:p>
          <a:p>
            <a:r>
              <a:rPr lang="es-ES" dirty="0" smtClean="0"/>
              <a:t>permite evitar los constructores de las subclases en la aplicación cliente y evitar el costo de crear un nuevo objeto en la forma estándar</a:t>
            </a:r>
          </a:p>
          <a:p>
            <a:endParaRPr lang="es-ES" dirty="0" smtClean="0"/>
          </a:p>
          <a:p>
            <a:r>
              <a:rPr lang="es-ES" dirty="0" smtClean="0"/>
              <a:t>El patrón </a:t>
            </a:r>
            <a:r>
              <a:rPr lang="es-ES" dirty="0" err="1" smtClean="0"/>
              <a:t>Singleton</a:t>
            </a:r>
            <a:endParaRPr lang="es-ES" dirty="0" smtClean="0"/>
          </a:p>
          <a:p>
            <a:endParaRPr lang="es-ES" dirty="0" smtClean="0"/>
          </a:p>
          <a:p>
            <a:r>
              <a:rPr lang="es-ES" dirty="0" smtClean="0"/>
              <a:t>Restringe la instanciación de una clase a una única </a:t>
            </a:r>
            <a:r>
              <a:rPr lang="es-ES" dirty="0" err="1" smtClean="0"/>
              <a:t>instancia,es</a:t>
            </a:r>
            <a:r>
              <a:rPr lang="es-ES" dirty="0" smtClean="0"/>
              <a:t> muy útil cuando exactamente una única instancia es necesitada para coordinar las acciones en todo el sistema</a:t>
            </a:r>
          </a:p>
          <a:p>
            <a:endParaRPr lang="es-ES"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Los patrones estructurales se utilizan en la composición de clases e instancias para formar estructuras mas grandes,</a:t>
            </a:r>
          </a:p>
          <a:p>
            <a:endParaRPr lang="es-ES" dirty="0" smtClean="0"/>
          </a:p>
          <a:p>
            <a:r>
              <a:rPr lang="es-ES" dirty="0" smtClean="0"/>
              <a:t>Se utiliza la herencia para componer interfaces o implementaciones</a:t>
            </a:r>
          </a:p>
          <a:p>
            <a:endParaRPr lang="es-ES" dirty="0" smtClean="0"/>
          </a:p>
          <a:p>
            <a:r>
              <a:rPr lang="es-ES" dirty="0" smtClean="0"/>
              <a:t>Estos patrones son utilices para lograr que clases desarrolladas de forma independiente trabajen juntas</a:t>
            </a:r>
          </a:p>
          <a:p>
            <a:endParaRPr lang="es-ES" dirty="0" smtClean="0"/>
          </a:p>
          <a:p>
            <a:r>
              <a:rPr lang="es-ES" dirty="0" smtClean="0"/>
              <a:t>En vez de componer interfaces o implementaciones, estos patrones describen formas de componer instancias para obtener nuevas funcionalidades.</a:t>
            </a:r>
            <a:endParaRPr lang="en-US"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patrón </a:t>
            </a:r>
            <a:r>
              <a:rPr lang="es-ES" dirty="0" err="1" smtClean="0"/>
              <a:t>Adapter</a:t>
            </a:r>
            <a:r>
              <a:rPr lang="es-ES" dirty="0" smtClean="0"/>
              <a:t> es </a:t>
            </a:r>
            <a:r>
              <a:rPr lang="es-ES" dirty="0" err="1" smtClean="0"/>
              <a:t>tambien</a:t>
            </a:r>
            <a:r>
              <a:rPr lang="es-ES" dirty="0" smtClean="0"/>
              <a:t> conocido como </a:t>
            </a:r>
            <a:r>
              <a:rPr lang="es-ES" dirty="0" err="1" smtClean="0"/>
              <a:t>Wrapper</a:t>
            </a:r>
            <a:r>
              <a:rPr lang="es-ES" dirty="0" smtClean="0"/>
              <a:t> o </a:t>
            </a:r>
            <a:r>
              <a:rPr lang="es-ES" dirty="0" err="1" smtClean="0"/>
              <a:t>Traslator</a:t>
            </a:r>
            <a:endParaRPr lang="es-ES" dirty="0" smtClean="0"/>
          </a:p>
          <a:p>
            <a:endParaRPr lang="es-ES" dirty="0" smtClean="0"/>
          </a:p>
          <a:p>
            <a:r>
              <a:rPr lang="es-ES" dirty="0" smtClean="0"/>
              <a:t>Permite que las interfaces o funcionalidades de una clase sean usadas en forma de interfaces que el cliente espera</a:t>
            </a:r>
          </a:p>
          <a:p>
            <a:r>
              <a:rPr lang="es-ES" dirty="0" smtClean="0"/>
              <a:t>es usado comúnmente para lograr que clases existentes trabajen con otras clases sin modificar su código fuente original</a:t>
            </a:r>
          </a:p>
          <a:p>
            <a:endParaRPr lang="es-ES" dirty="0" smtClean="0"/>
          </a:p>
          <a:p>
            <a:r>
              <a:rPr lang="es-ES" dirty="0" smtClean="0"/>
              <a:t>El patrón bridge</a:t>
            </a:r>
          </a:p>
          <a:p>
            <a:endParaRPr lang="es-ES" dirty="0" smtClean="0"/>
          </a:p>
          <a:p>
            <a:r>
              <a:rPr lang="es-ES" dirty="0" smtClean="0"/>
              <a:t>Es utilizado para desacoplar una abstracción de su implementación, de forma tal que ambas puedan variar independientemente una de la otra</a:t>
            </a:r>
          </a:p>
          <a:p>
            <a:r>
              <a:rPr lang="es-ES" dirty="0" smtClean="0"/>
              <a:t>puede usar encapsulación, agregación y herencia para desacoplar las responsabilidades en diferentes clases</a:t>
            </a:r>
          </a:p>
          <a:p>
            <a:endParaRPr lang="es-ES" dirty="0" smtClean="0"/>
          </a:p>
          <a:p>
            <a:r>
              <a:rPr lang="es-ES" dirty="0" smtClean="0"/>
              <a:t>Es útil cuando la clase y lo que hace esta varían frecuentemente,</a:t>
            </a:r>
          </a:p>
          <a:p>
            <a:endParaRPr lang="es-ES" dirty="0" smtClean="0"/>
          </a:p>
          <a:p>
            <a:r>
              <a:rPr lang="es-ES" dirty="0" smtClean="0"/>
              <a:t>La clase en si puede interpretarse como la abstracción y lo que la clase puede hacer puede interpretarse como la implementación</a:t>
            </a: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Este patrón nos permite reinterpretar las interfaces que exponen</a:t>
            </a:r>
            <a:r>
              <a:rPr lang="es-ES" baseline="0" noProof="0" dirty="0" smtClean="0"/>
              <a:t> un objeto de acuerdo a las interfaces que espera otro, en muchas ocasiones realiza la función de traductor.</a:t>
            </a:r>
          </a:p>
          <a:p>
            <a:endParaRPr lang="es-ES" baseline="0" noProof="0" dirty="0" smtClean="0"/>
          </a:p>
          <a:p>
            <a:r>
              <a:rPr lang="es-ES" baseline="0" noProof="0" dirty="0" smtClean="0"/>
              <a:t>Esto es muy útil cuando estamos trabajando un diseño y necesitamos adaptar a nuestro diseño clases que han seguido un diseño completamente diferente</a:t>
            </a:r>
          </a:p>
          <a:p>
            <a:r>
              <a:rPr lang="es-ES" noProof="0" dirty="0" smtClean="0"/>
              <a:t>Gráficamente podemos mostrar el patrón </a:t>
            </a:r>
            <a:r>
              <a:rPr lang="es-ES" noProof="0" dirty="0" err="1" smtClean="0"/>
              <a:t>adapter</a:t>
            </a:r>
            <a:r>
              <a:rPr lang="es-ES" noProof="0" dirty="0" smtClean="0"/>
              <a:t> de esta forma</a:t>
            </a:r>
          </a:p>
          <a:p>
            <a:endParaRPr lang="es-ES" noProof="0" dirty="0" smtClean="0"/>
          </a:p>
          <a:p>
            <a:r>
              <a:rPr lang="es-ES" noProof="0" dirty="0" smtClean="0"/>
              <a:t>La instancia Target espera la ejecución de las solicitudes de un método </a:t>
            </a:r>
            <a:r>
              <a:rPr lang="es-ES" noProof="0" dirty="0" err="1" smtClean="0"/>
              <a:t>Request</a:t>
            </a:r>
            <a:r>
              <a:rPr lang="es-ES" noProof="0" dirty="0" smtClean="0"/>
              <a:t>, mientras que la </a:t>
            </a:r>
            <a:r>
              <a:rPr lang="es-ES" noProof="0" dirty="0" err="1" smtClean="0"/>
              <a:t>class</a:t>
            </a:r>
            <a:r>
              <a:rPr lang="es-ES" noProof="0" dirty="0" smtClean="0"/>
              <a:t> Adaptada (</a:t>
            </a:r>
            <a:r>
              <a:rPr lang="es-ES" noProof="0" dirty="0" err="1" smtClean="0"/>
              <a:t>Adaptee</a:t>
            </a:r>
            <a:r>
              <a:rPr lang="es-ES" noProof="0" dirty="0" smtClean="0"/>
              <a:t>) ejecuta las solicitudes</a:t>
            </a:r>
            <a:r>
              <a:rPr lang="es-ES" baseline="0" noProof="0" dirty="0" smtClean="0"/>
              <a:t> con un método especifico que llamaremos </a:t>
            </a:r>
            <a:r>
              <a:rPr lang="es-ES" baseline="0" noProof="0" dirty="0" err="1" smtClean="0"/>
              <a:t>SpecificRequest</a:t>
            </a:r>
            <a:endParaRPr lang="es-ES" baseline="0" noProof="0" dirty="0" smtClean="0"/>
          </a:p>
          <a:p>
            <a:endParaRPr lang="es-ES" baseline="0" noProof="0" dirty="0" smtClean="0"/>
          </a:p>
          <a:p>
            <a:r>
              <a:rPr lang="es-ES" baseline="0" noProof="0" dirty="0" smtClean="0"/>
              <a:t>Se hace uso de una </a:t>
            </a:r>
            <a:r>
              <a:rPr lang="es-ES" baseline="0" noProof="0" dirty="0" err="1" smtClean="0"/>
              <a:t>class</a:t>
            </a:r>
            <a:r>
              <a:rPr lang="es-ES" baseline="0" noProof="0" dirty="0" smtClean="0"/>
              <a:t> </a:t>
            </a:r>
            <a:r>
              <a:rPr lang="es-ES" baseline="0" noProof="0" dirty="0" err="1" smtClean="0"/>
              <a:t>adapter</a:t>
            </a:r>
            <a:r>
              <a:rPr lang="es-ES" baseline="0" noProof="0" dirty="0" smtClean="0"/>
              <a:t> que convierte las llamadas </a:t>
            </a:r>
            <a:r>
              <a:rPr lang="es-ES" baseline="0" noProof="0" dirty="0" err="1" smtClean="0"/>
              <a:t>Request</a:t>
            </a:r>
            <a:r>
              <a:rPr lang="es-ES" baseline="0" noProof="0" dirty="0" smtClean="0"/>
              <a:t> en </a:t>
            </a:r>
            <a:r>
              <a:rPr lang="es-ES" baseline="0" noProof="0" dirty="0" err="1" smtClean="0"/>
              <a:t>SpecificRequest</a:t>
            </a:r>
            <a:r>
              <a:rPr lang="es-ES" baseline="0" noProof="0" dirty="0" smtClean="0"/>
              <a:t> de forma transparente para la </a:t>
            </a:r>
            <a:r>
              <a:rPr lang="es-ES" baseline="0" noProof="0" dirty="0" err="1" smtClean="0"/>
              <a:t>class</a:t>
            </a:r>
            <a:r>
              <a:rPr lang="es-ES" baseline="0" noProof="0" dirty="0" smtClean="0"/>
              <a:t> Target</a:t>
            </a:r>
            <a:endParaRPr lang="es-ES" noProof="0"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patrón </a:t>
            </a:r>
            <a:r>
              <a:rPr lang="es-ES" dirty="0" err="1" smtClean="0"/>
              <a:t>Composite</a:t>
            </a:r>
            <a:endParaRPr lang="es-ES" dirty="0" smtClean="0"/>
          </a:p>
          <a:p>
            <a:endParaRPr lang="es-ES" dirty="0" smtClean="0"/>
          </a:p>
          <a:p>
            <a:r>
              <a:rPr lang="es-ES" dirty="0" smtClean="0"/>
              <a:t>Describe un grupo de objetos que se tratan de la misma forma que una única instancia del mismo tipo de forma uniforme</a:t>
            </a:r>
          </a:p>
          <a:p>
            <a:r>
              <a:rPr lang="es-ES" dirty="0" smtClean="0"/>
              <a:t>la intención es componer las instancias en estructuras de árbol para representar jerarquías de parte-todo</a:t>
            </a:r>
          </a:p>
          <a:p>
            <a:endParaRPr lang="es-ES" dirty="0" smtClean="0"/>
          </a:p>
          <a:p>
            <a:r>
              <a:rPr lang="es-ES" dirty="0" smtClean="0"/>
              <a:t>Permite que los clientes traten el objeto compuesto y las ramas de forma uniforme, las instancias en las ramas pueden realizar las solicitudes directamente </a:t>
            </a:r>
          </a:p>
          <a:p>
            <a:r>
              <a:rPr lang="es-ES" dirty="0" smtClean="0"/>
              <a:t>y las instancias compuestas pueden reenviar las mismas de forma recursiva a sus componentes secundarios hacia abajo en la estructura de árbol</a:t>
            </a:r>
          </a:p>
          <a:p>
            <a:endParaRPr lang="es-ES" dirty="0" smtClean="0"/>
          </a:p>
          <a:p>
            <a:r>
              <a:rPr lang="es-ES" dirty="0" smtClean="0"/>
              <a:t>El patrón Decorador</a:t>
            </a:r>
          </a:p>
          <a:p>
            <a:endParaRPr lang="es-ES" dirty="0" smtClean="0"/>
          </a:p>
          <a:p>
            <a:r>
              <a:rPr lang="es-ES" dirty="0" smtClean="0"/>
              <a:t>Permite adicionar comportamiento a una instancia individual de forma dinámica sin afectar el comportamiento de otras instancias de la misma clase</a:t>
            </a:r>
          </a:p>
          <a:p>
            <a:endParaRPr lang="es-ES" dirty="0" smtClean="0"/>
          </a:p>
          <a:p>
            <a:r>
              <a:rPr lang="es-ES" dirty="0" smtClean="0"/>
              <a:t>Es útil en el cumplimiento del principio de única responsabilidad, al permitir que la funcionalidad sea dividida entre clases con una única área de responsabilidad</a:t>
            </a:r>
          </a:p>
          <a:p>
            <a:endParaRPr lang="es-ES" dirty="0" smtClean="0"/>
          </a:p>
          <a:p>
            <a:r>
              <a:rPr lang="es-ES" dirty="0" smtClean="0"/>
              <a:t>En ciertos casos este patrón puede ser mas eficiente que la herencia, debido a que el comportamiento de una instancia puede ser aumentado o modificado sin necesidad de definir una nueva clase.</a:t>
            </a:r>
            <a:endParaRPr lang="en-US" dirty="0"/>
          </a:p>
        </p:txBody>
      </p:sp>
    </p:spTree>
    <p:extLst>
      <p:ext uri="{BB962C8B-B14F-4D97-AF65-F5344CB8AC3E}">
        <p14:creationId xmlns:p14="http://schemas.microsoft.com/office/powerpoint/2010/main" val="13698864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patrón Fachada</a:t>
            </a:r>
          </a:p>
          <a:p>
            <a:endParaRPr lang="es-ES" dirty="0" smtClean="0"/>
          </a:p>
          <a:p>
            <a:r>
              <a:rPr lang="es-ES" dirty="0" smtClean="0"/>
              <a:t>Es análogo a las fachadas utilizadas en la arquitectura, es una instancia que sirve como interfaz frontal y que enmascara el código subyacente mas complejo</a:t>
            </a:r>
          </a:p>
          <a:p>
            <a:r>
              <a:rPr lang="es-ES" dirty="0" smtClean="0"/>
              <a:t>permite mejorar la usabilidad y legibilidad de librerías de software al enmascarar la interacción con componentes mas complejos usando una api única y a menudo simplificada</a:t>
            </a:r>
          </a:p>
          <a:p>
            <a:endParaRPr lang="es-ES" dirty="0" smtClean="0"/>
          </a:p>
          <a:p>
            <a:r>
              <a:rPr lang="es-ES" dirty="0" smtClean="0"/>
              <a:t>También puede usarse  para proveer interfaces de contexto especifico a funcionalidades mas genéricas</a:t>
            </a:r>
          </a:p>
          <a:p>
            <a:endParaRPr lang="es-ES" dirty="0" smtClean="0"/>
          </a:p>
          <a:p>
            <a:endParaRPr lang="es-ES" dirty="0" smtClean="0"/>
          </a:p>
          <a:p>
            <a:r>
              <a:rPr lang="es-ES" dirty="0" smtClean="0"/>
              <a:t>El patrón </a:t>
            </a:r>
            <a:r>
              <a:rPr lang="es-ES" dirty="0" err="1" smtClean="0"/>
              <a:t>Flyweight</a:t>
            </a:r>
            <a:r>
              <a:rPr lang="es-ES" dirty="0" smtClean="0"/>
              <a:t> o peso mosca</a:t>
            </a:r>
          </a:p>
          <a:p>
            <a:endParaRPr lang="es-ES" dirty="0" smtClean="0"/>
          </a:p>
          <a:p>
            <a:r>
              <a:rPr lang="es-ES" dirty="0" smtClean="0"/>
              <a:t>Se refiera a una instancia que minimiza el uso de memoria al compartir la mayor cantidad de datos posibles con otras instancias similares. </a:t>
            </a:r>
          </a:p>
          <a:p>
            <a:endParaRPr lang="es-ES" dirty="0" smtClean="0"/>
          </a:p>
          <a:p>
            <a:r>
              <a:rPr lang="es-ES" dirty="0" smtClean="0"/>
              <a:t>Es una forma de usar grandes cantidades de instancias cuando una representación repetida de las mismas utilizaría una cantidad de memoria inaceptable. </a:t>
            </a:r>
          </a:p>
          <a:p>
            <a:endParaRPr lang="es-ES" dirty="0" smtClean="0"/>
          </a:p>
          <a:p>
            <a:r>
              <a:rPr lang="es-ES" dirty="0" smtClean="0"/>
              <a:t>A menudo partes del estado de la instancia es compartida y es una practica común mantenerlas en estructuras de datos externas a la instancia, las cuales son pasadas al la misma en el momento en que estas necesitan ser utilizadas.</a:t>
            </a:r>
          </a:p>
          <a:p>
            <a:endParaRPr lang="es-ES" dirty="0" smtClean="0"/>
          </a:p>
          <a:p>
            <a:r>
              <a:rPr lang="es-ES" dirty="0" smtClean="0"/>
              <a:t>El patrón proxy</a:t>
            </a:r>
          </a:p>
          <a:p>
            <a:endParaRPr lang="es-ES" dirty="0" smtClean="0"/>
          </a:p>
          <a:p>
            <a:r>
              <a:rPr lang="es-ES" dirty="0" smtClean="0"/>
              <a:t>En su forma mas general es una clase que funciona como interface a cualquier otra cosa. </a:t>
            </a:r>
          </a:p>
          <a:p>
            <a:endParaRPr lang="es-ES" dirty="0" smtClean="0"/>
          </a:p>
          <a:p>
            <a:r>
              <a:rPr lang="es-ES" dirty="0" smtClean="0"/>
              <a:t>Por lo general es usado cuando el acceso a un recurso determinado es costoso o imposible de duplicar.</a:t>
            </a:r>
          </a:p>
          <a:p>
            <a:endParaRPr lang="es-ES" dirty="0" smtClean="0"/>
          </a:p>
          <a:p>
            <a:r>
              <a:rPr lang="es-ES" dirty="0" smtClean="0"/>
              <a:t>Este patrón en esencia es una versión de un patrón agente que es llamado por el cliente para acceder a la instancia real de servicio de forma indirecta.</a:t>
            </a:r>
          </a:p>
          <a:p>
            <a:endParaRPr lang="es-ES" dirty="0" smtClean="0"/>
          </a:p>
          <a:p>
            <a:r>
              <a:rPr lang="es-ES" dirty="0" smtClean="0"/>
              <a:t>La implementación de este patrón puede ser reenviando las operaciones a la instancia real aunque también puede hacerse adicionando cierta cantidad funcionalidades antes de realizar el reenvió.</a:t>
            </a:r>
          </a:p>
          <a:p>
            <a:r>
              <a:rPr lang="es-ES" dirty="0" smtClean="0"/>
              <a:t>Esta funcionalidad extra puede proveer por ejemplo el almacenamiento en cache cuando las operaciones con el objeto real consumen muchos recursos, </a:t>
            </a:r>
          </a:p>
          <a:p>
            <a:r>
              <a:rPr lang="es-ES" dirty="0" smtClean="0"/>
              <a:t>o el chequeo de condiciones previas antes de invocar las operaciones en el objeto real.</a:t>
            </a:r>
          </a:p>
          <a:p>
            <a:endParaRPr lang="es-ES" dirty="0" smtClean="0"/>
          </a:p>
          <a:p>
            <a:r>
              <a:rPr lang="es-ES" dirty="0" smtClean="0"/>
              <a:t>Para el cliente el uso del objeto proxy es similar a usar el objeto real, debido a que ambos implementan las mismas interfaces</a:t>
            </a:r>
          </a:p>
        </p:txBody>
      </p:sp>
    </p:spTree>
    <p:extLst>
      <p:ext uri="{BB962C8B-B14F-4D97-AF65-F5344CB8AC3E}">
        <p14:creationId xmlns:p14="http://schemas.microsoft.com/office/powerpoint/2010/main" val="13698864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baseline="0" noProof="0" dirty="0" smtClean="0"/>
              <a:t>En ocasiones la creación del objeto real implica mucho costo computacional (por ejemplo traer los datos de una base de datos, interpretar y construir el objeto a partir de estos datos)</a:t>
            </a:r>
            <a:endParaRPr lang="es-ES" noProof="0" dirty="0" smtClean="0"/>
          </a:p>
          <a:p>
            <a:endParaRPr lang="es-ES" noProof="0" dirty="0" smtClean="0"/>
          </a:p>
          <a:p>
            <a:r>
              <a:rPr lang="es-ES" noProof="0" dirty="0" smtClean="0"/>
              <a:t>Las instancias proxy ofrecen una forma</a:t>
            </a:r>
            <a:r>
              <a:rPr lang="es-ES" baseline="0" noProof="0" dirty="0" smtClean="0"/>
              <a:t> de acceder a una instancia real del objeto de una forma mas liviana y expedita. Dejando el costo de la creación del objeto real para mas adelante. La instancia proxy ejecuta un papel semejante a un doble para un actor de películas.</a:t>
            </a:r>
          </a:p>
          <a:p>
            <a:endParaRPr lang="es-ES" baseline="0" noProof="0" dirty="0" smtClean="0"/>
          </a:p>
          <a:p>
            <a:r>
              <a:rPr lang="es-ES" baseline="0" noProof="0" dirty="0" smtClean="0"/>
              <a:t>Se usan las mismas interfaces por lo que acceder al objeto original o al objeto proxy es prácticamente lo mismo.</a:t>
            </a:r>
          </a:p>
          <a:p>
            <a:endParaRPr lang="es-ES" baseline="0" noProof="0" dirty="0" smtClean="0"/>
          </a:p>
          <a:p>
            <a:r>
              <a:rPr lang="es-ES" baseline="0" noProof="0" dirty="0" smtClean="0"/>
              <a:t>Pueden insertarse funcionalidades extra como parte del mecanismo de acceso a los objetos reales por parte de los objetos proxy.</a:t>
            </a:r>
            <a:endParaRPr lang="es-ES" noProof="0" dirty="0" smtClean="0"/>
          </a:p>
          <a:p>
            <a:r>
              <a:rPr lang="es-ES" noProof="0" dirty="0" smtClean="0"/>
              <a:t>El objeto</a:t>
            </a:r>
            <a:r>
              <a:rPr lang="es-ES" baseline="0" noProof="0" dirty="0" smtClean="0"/>
              <a:t> original y el objeto proxy están basados en la misma jerarquía de herencia, </a:t>
            </a:r>
          </a:p>
          <a:p>
            <a:r>
              <a:rPr lang="es-ES" baseline="0" noProof="0" dirty="0" smtClean="0"/>
              <a:t>el cliente accede al proxy como si fuera el objeto original mientras el proxy realiza las acciones adecuadas para ejecutar las acciones en el objeto original.</a:t>
            </a:r>
          </a:p>
          <a:p>
            <a:endParaRPr lang="es-ES" baseline="0" noProof="0" dirty="0" smtClean="0"/>
          </a:p>
          <a:p>
            <a:r>
              <a:rPr lang="es-ES" noProof="0" dirty="0" smtClean="0"/>
              <a:t>Otras responsabilidades dependen del tipo de </a:t>
            </a:r>
            <a:r>
              <a:rPr lang="es-ES" noProof="0" dirty="0" err="1" smtClean="0"/>
              <a:t>proxy:Los</a:t>
            </a:r>
            <a:r>
              <a:rPr lang="es-ES" noProof="0" dirty="0" smtClean="0"/>
              <a:t> </a:t>
            </a:r>
            <a:r>
              <a:rPr lang="es-ES" noProof="0" dirty="0" err="1" smtClean="0"/>
              <a:t>proxies</a:t>
            </a:r>
            <a:r>
              <a:rPr lang="es-ES" noProof="0" dirty="0" smtClean="0"/>
              <a:t> remotos son responsables de codificar una solicitud y sus argumentos y de enviar la solicitud codificada al sujeto real en un espacio de direcciones diferente. Los </a:t>
            </a:r>
            <a:r>
              <a:rPr lang="es-ES" noProof="0" dirty="0" err="1" smtClean="0"/>
              <a:t>proxies</a:t>
            </a:r>
            <a:r>
              <a:rPr lang="es-ES" noProof="0" dirty="0" smtClean="0"/>
              <a:t> virtuales pueden almacenar en caché información adicional sobre el sujeto real para poder posponer el acceso a él. Por ejemplo, el </a:t>
            </a:r>
            <a:r>
              <a:rPr lang="es-ES" noProof="0" dirty="0" err="1" smtClean="0"/>
              <a:t>ImageProxy</a:t>
            </a:r>
            <a:r>
              <a:rPr lang="es-ES" noProof="0" dirty="0" smtClean="0"/>
              <a:t> de </a:t>
            </a:r>
            <a:r>
              <a:rPr lang="es-ES" noProof="0" dirty="0" err="1" smtClean="0"/>
              <a:t>Motivation</a:t>
            </a:r>
            <a:r>
              <a:rPr lang="es-ES" noProof="0" dirty="0" smtClean="0"/>
              <a:t> almacena en caché la extensión de las imágenes reales. Los </a:t>
            </a:r>
            <a:r>
              <a:rPr lang="es-ES" noProof="0" dirty="0" err="1" smtClean="0"/>
              <a:t>proxies</a:t>
            </a:r>
            <a:r>
              <a:rPr lang="es-ES" noProof="0" dirty="0" smtClean="0"/>
              <a:t> de protección comprueban que el autor de la llamada tenga los permisos de acceso necesarios para realizar una solicitud.</a:t>
            </a: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patrón </a:t>
            </a:r>
            <a:r>
              <a:rPr lang="es-ES" dirty="0" err="1" smtClean="0"/>
              <a:t>command</a:t>
            </a:r>
            <a:endParaRPr lang="es-ES" dirty="0" smtClean="0"/>
          </a:p>
          <a:p>
            <a:endParaRPr lang="es-ES" dirty="0" smtClean="0"/>
          </a:p>
          <a:p>
            <a:r>
              <a:rPr lang="es-ES" dirty="0" smtClean="0"/>
              <a:t>Se utiliza un objeto para encapsular toda la información necesaria para realizar una acción o desencadenar un evento en un momento posterior. </a:t>
            </a:r>
          </a:p>
          <a:p>
            <a:endParaRPr lang="es-ES" dirty="0" smtClean="0"/>
          </a:p>
          <a:p>
            <a:r>
              <a:rPr lang="es-ES" dirty="0" smtClean="0"/>
              <a:t>Esta información incluye el nombre del método, el objeto que posee el método y los valores para los parámetros del método.</a:t>
            </a:r>
          </a:p>
          <a:p>
            <a:endParaRPr lang="es-ES" dirty="0" smtClean="0"/>
          </a:p>
          <a:p>
            <a:endParaRPr lang="es-ES" dirty="0" smtClean="0"/>
          </a:p>
          <a:p>
            <a:r>
              <a:rPr lang="es-ES" dirty="0" smtClean="0"/>
              <a:t>El patrón cadena de responsabilidades</a:t>
            </a:r>
          </a:p>
          <a:p>
            <a:endParaRPr lang="es-ES" dirty="0" smtClean="0"/>
          </a:p>
          <a:p>
            <a:r>
              <a:rPr lang="es-ES" dirty="0" smtClean="0"/>
              <a:t>Consta de una fuente de objetos de comando y una serie de objetos de procesamiento. </a:t>
            </a:r>
          </a:p>
          <a:p>
            <a:endParaRPr lang="es-ES" dirty="0" smtClean="0"/>
          </a:p>
          <a:p>
            <a:r>
              <a:rPr lang="es-ES" dirty="0" smtClean="0"/>
              <a:t>Cada objeto de procesamiento contiene lógica que define los tipos de objetos de comando que puede manejar</a:t>
            </a:r>
          </a:p>
          <a:p>
            <a:r>
              <a:rPr lang="es-ES" dirty="0" smtClean="0"/>
              <a:t>y</a:t>
            </a:r>
            <a:r>
              <a:rPr lang="es-ES" baseline="0" dirty="0" smtClean="0"/>
              <a:t> realiza solamente las funcionalidades que tiene habilitadas</a:t>
            </a:r>
            <a:endParaRPr lang="es-ES" dirty="0" smtClean="0"/>
          </a:p>
          <a:p>
            <a:r>
              <a:rPr lang="es-ES" dirty="0" smtClean="0"/>
              <a:t>el resto se pasa al siguiente objeto de procesamiento de la cadena. </a:t>
            </a:r>
          </a:p>
          <a:p>
            <a:endParaRPr lang="es-ES" dirty="0" smtClean="0"/>
          </a:p>
          <a:p>
            <a:endParaRPr lang="es-ES" dirty="0" smtClean="0"/>
          </a:p>
          <a:p>
            <a:endParaRPr lang="es-ES"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patrón </a:t>
            </a:r>
            <a:r>
              <a:rPr lang="es-ES" dirty="0" err="1" smtClean="0"/>
              <a:t>interpreter</a:t>
            </a:r>
            <a:endParaRPr lang="es-ES" dirty="0" smtClean="0"/>
          </a:p>
          <a:p>
            <a:endParaRPr lang="es-ES" dirty="0" smtClean="0"/>
          </a:p>
          <a:p>
            <a:r>
              <a:rPr lang="es-ES" dirty="0" smtClean="0"/>
              <a:t>Especifica cómo evaluar oraciones en un lenguaje. </a:t>
            </a:r>
          </a:p>
          <a:p>
            <a:endParaRPr lang="es-ES" dirty="0" smtClean="0"/>
          </a:p>
          <a:p>
            <a:r>
              <a:rPr lang="es-ES" dirty="0" smtClean="0"/>
              <a:t>La idea básica es tener una clase para cada símbolo (terminal o no terminal) en un lenguaje predeterminado</a:t>
            </a:r>
          </a:p>
          <a:p>
            <a:endParaRPr lang="es-ES" dirty="0" smtClean="0"/>
          </a:p>
          <a:p>
            <a:r>
              <a:rPr lang="es-ES" dirty="0" smtClean="0"/>
              <a:t>El árbol de sintaxis de una oración en el lenguaje es una instancia del patrón compuesto y se usa para evaluar (interpretar) la oración</a:t>
            </a:r>
          </a:p>
          <a:p>
            <a:endParaRPr lang="es-ES" dirty="0" smtClean="0"/>
          </a:p>
          <a:p>
            <a:endParaRPr lang="es-ES" dirty="0" smtClean="0"/>
          </a:p>
          <a:p>
            <a:r>
              <a:rPr lang="es-ES" dirty="0" smtClean="0"/>
              <a:t>El patrón </a:t>
            </a:r>
            <a:r>
              <a:rPr lang="es-ES" dirty="0" err="1" smtClean="0"/>
              <a:t>iterator</a:t>
            </a:r>
            <a:endParaRPr lang="es-ES" dirty="0" smtClean="0"/>
          </a:p>
          <a:p>
            <a:endParaRPr lang="es-ES" dirty="0" smtClean="0"/>
          </a:p>
          <a:p>
            <a:r>
              <a:rPr lang="es-ES" dirty="0" smtClean="0"/>
              <a:t>Se utiliza para recorrer un contenedor y acceder a los elementos del contenedor sin exponer su representación (estructuras de datos) </a:t>
            </a: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baseline="0" noProof="0" dirty="0" smtClean="0"/>
              <a:t>Un objeto agregado como por ejemplo una colección de elementos, debe darnos la posibilidad de acceder a sus elementos sin necesidad de exponer su estructura interna.</a:t>
            </a:r>
          </a:p>
          <a:p>
            <a:endParaRPr lang="es-ES" baseline="0" noProof="0" dirty="0" smtClean="0"/>
          </a:p>
          <a:p>
            <a:r>
              <a:rPr lang="es-ES" baseline="0" noProof="0" dirty="0" smtClean="0"/>
              <a:t>Es posible que queramos recorrer los elementos contenidos en mas de una forma.</a:t>
            </a:r>
          </a:p>
          <a:p>
            <a:endParaRPr lang="es-ES" baseline="0" noProof="0" dirty="0" smtClean="0"/>
          </a:p>
          <a:p>
            <a:r>
              <a:rPr lang="es-ES" baseline="0" noProof="0" dirty="0" smtClean="0"/>
              <a:t>El patrón </a:t>
            </a:r>
            <a:r>
              <a:rPr lang="es-ES" baseline="0" noProof="0" dirty="0" err="1" smtClean="0"/>
              <a:t>iterador</a:t>
            </a:r>
            <a:r>
              <a:rPr lang="es-ES" baseline="0" noProof="0" dirty="0" smtClean="0"/>
              <a:t> nos permite hacer esto al permitirle asumir la responsabilidad de recorrer la colección, llevar la cuenta de que elementos ya ha visitado.</a:t>
            </a:r>
          </a:p>
          <a:p>
            <a:endParaRPr lang="es-ES" baseline="0" noProof="0" dirty="0" smtClean="0"/>
          </a:p>
          <a:p>
            <a:r>
              <a:rPr lang="es-ES" baseline="0" noProof="0" dirty="0" smtClean="0"/>
              <a:t>El </a:t>
            </a:r>
            <a:r>
              <a:rPr lang="es-ES" baseline="0" noProof="0" dirty="0" err="1" smtClean="0"/>
              <a:t>iterador</a:t>
            </a:r>
            <a:r>
              <a:rPr lang="es-ES" baseline="0" noProof="0" dirty="0" smtClean="0"/>
              <a:t> debe exponer las interfaces adecuadas para acceder al objeto agregado.</a:t>
            </a:r>
            <a:endParaRPr lang="es-ES" noProof="0"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baseline="0" noProof="0" dirty="0" smtClean="0"/>
              <a:t>Este código del mundo real demuestra el patrón </a:t>
            </a:r>
            <a:r>
              <a:rPr lang="es-ES" baseline="0" noProof="0" dirty="0" err="1" smtClean="0"/>
              <a:t>Iterador</a:t>
            </a:r>
            <a:r>
              <a:rPr lang="es-ES" baseline="0" noProof="0" smtClean="0"/>
              <a:t> que se utiliza para iterar sobre una colección de elementos y omitir una cantidad específica de elementos en cada iteración.</a:t>
            </a:r>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patrón mediador</a:t>
            </a:r>
          </a:p>
          <a:p>
            <a:endParaRPr lang="es-ES" dirty="0" smtClean="0"/>
          </a:p>
          <a:p>
            <a:r>
              <a:rPr lang="es-ES" dirty="0" smtClean="0"/>
              <a:t>Define un objeto que encapsula cómo interactúan un conjunto de objetos. </a:t>
            </a:r>
          </a:p>
          <a:p>
            <a:endParaRPr lang="es-ES" dirty="0" smtClean="0"/>
          </a:p>
          <a:p>
            <a:r>
              <a:rPr lang="es-ES" dirty="0" smtClean="0"/>
              <a:t>Promueve el desacoplamiento al evitar que los objetos se refieran entre sí de forma explícita y les permite variar su interacción de forma independiente.</a:t>
            </a:r>
          </a:p>
          <a:p>
            <a:endParaRPr lang="es-ES" dirty="0" smtClean="0"/>
          </a:p>
          <a:p>
            <a:endParaRPr lang="es-ES" dirty="0" smtClean="0"/>
          </a:p>
          <a:p>
            <a:r>
              <a:rPr lang="es-ES" dirty="0" smtClean="0"/>
              <a:t>El patrón memento o recuerdo</a:t>
            </a:r>
          </a:p>
          <a:p>
            <a:endParaRPr lang="es-ES" dirty="0" smtClean="0"/>
          </a:p>
          <a:p>
            <a:r>
              <a:rPr lang="es-ES" dirty="0" smtClean="0"/>
              <a:t>Brinda la capacidad de restaurar un objeto a su estado anterior, </a:t>
            </a:r>
          </a:p>
          <a:p>
            <a:r>
              <a:rPr lang="es-ES" dirty="0" smtClean="0"/>
              <a:t>Esto se hace respetando la encapsulación del objeto</a:t>
            </a:r>
          </a:p>
          <a:p>
            <a:endParaRPr lang="es-ES"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patrón estrategia</a:t>
            </a:r>
          </a:p>
          <a:p>
            <a:endParaRPr lang="es-ES" dirty="0" smtClean="0"/>
          </a:p>
          <a:p>
            <a:r>
              <a:rPr lang="es-ES" dirty="0" smtClean="0"/>
              <a:t>Permite seleccionar un algoritmo en tiempo de ejecución. </a:t>
            </a:r>
          </a:p>
          <a:p>
            <a:endParaRPr lang="es-ES" dirty="0" smtClean="0"/>
          </a:p>
          <a:p>
            <a:r>
              <a:rPr lang="es-ES" dirty="0" smtClean="0"/>
              <a:t>En lugar de implementar un solo algoritmo directamente, el código recibe instrucciones en tiempo de ejecución sobre cual de los algoritmos usar.</a:t>
            </a:r>
          </a:p>
          <a:p>
            <a:endParaRPr lang="es-ES" dirty="0" smtClean="0"/>
          </a:p>
          <a:p>
            <a:endParaRPr lang="es-ES" dirty="0" smtClean="0"/>
          </a:p>
          <a:p>
            <a:r>
              <a:rPr lang="es-ES" dirty="0" smtClean="0"/>
              <a:t>El patrón método plantilla</a:t>
            </a:r>
          </a:p>
          <a:p>
            <a:endParaRPr lang="es-ES" dirty="0" smtClean="0"/>
          </a:p>
          <a:p>
            <a:r>
              <a:rPr lang="es-ES" dirty="0" smtClean="0"/>
              <a:t>Este es un método en una superclase, generalmente una superclase abstracta, </a:t>
            </a:r>
          </a:p>
          <a:p>
            <a:r>
              <a:rPr lang="es-ES" dirty="0" smtClean="0"/>
              <a:t>y define el esqueleto de una operación en términos de una serie de pasos de alto nivel. </a:t>
            </a:r>
          </a:p>
          <a:p>
            <a:endParaRPr lang="es-ES" dirty="0" smtClean="0"/>
          </a:p>
          <a:p>
            <a:r>
              <a:rPr lang="es-ES" dirty="0" smtClean="0"/>
              <a:t>Estos pasos se implementan ellos mismos mediante métodos auxiliares adicionales en la misma clase que el método de plantilla (estos se les llama </a:t>
            </a:r>
            <a:r>
              <a:rPr lang="es-ES" dirty="0" err="1" smtClean="0"/>
              <a:t>helper</a:t>
            </a:r>
            <a:r>
              <a:rPr lang="es-ES" dirty="0" smtClean="0"/>
              <a:t> </a:t>
            </a:r>
            <a:r>
              <a:rPr lang="es-ES" dirty="0" err="1" smtClean="0"/>
              <a:t>methods</a:t>
            </a:r>
            <a:r>
              <a:rPr lang="es-ES" dirty="0" smtClean="0"/>
              <a:t>)</a:t>
            </a:r>
          </a:p>
          <a:p>
            <a:r>
              <a:rPr lang="es-ES" dirty="0" smtClean="0"/>
              <a:t>estos </a:t>
            </a:r>
            <a:r>
              <a:rPr lang="es-ES" dirty="0" err="1" smtClean="0"/>
              <a:t>helper</a:t>
            </a:r>
            <a:r>
              <a:rPr lang="es-ES" dirty="0" smtClean="0"/>
              <a:t> </a:t>
            </a:r>
            <a:r>
              <a:rPr lang="es-ES" dirty="0" err="1" smtClean="0"/>
              <a:t>methods</a:t>
            </a:r>
            <a:r>
              <a:rPr lang="es-ES" dirty="0" smtClean="0"/>
              <a:t> pueden ser métodos abstractos (lo que implica que las subclases deben implementarlos) </a:t>
            </a:r>
          </a:p>
          <a:p>
            <a:r>
              <a:rPr lang="es-ES" dirty="0" smtClean="0"/>
              <a:t>o pueden ser métodos con cuerpo vacío en la superclase (lo que hace que las subclases puedan sobre escribirlos pero no esta obligadas a ello)</a:t>
            </a:r>
          </a:p>
          <a:p>
            <a:endParaRPr lang="es-ES" dirty="0" smtClean="0"/>
          </a:p>
          <a:p>
            <a:r>
              <a:rPr lang="es-ES" dirty="0" smtClean="0"/>
              <a:t>La intención es definir la estructura general de la operación, al tiempo que permite que las subclases refinen o redefinan ciertos pasos.</a:t>
            </a:r>
          </a:p>
          <a:p>
            <a:endParaRPr lang="es-ES"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patrón visitante o visitador</a:t>
            </a:r>
          </a:p>
          <a:p>
            <a:endParaRPr lang="es-ES" dirty="0" smtClean="0"/>
          </a:p>
          <a:p>
            <a:r>
              <a:rPr lang="es-ES" dirty="0" smtClean="0"/>
              <a:t>Es una forma de separar un algoritmo de una estructura de objeto en la que opera. </a:t>
            </a:r>
          </a:p>
          <a:p>
            <a:endParaRPr lang="es-ES" dirty="0" smtClean="0"/>
          </a:p>
          <a:p>
            <a:r>
              <a:rPr lang="es-ES" dirty="0" smtClean="0"/>
              <a:t>Brinda la capacidad de agregar nuevas operaciones a las estructuras de objetos existentes sin modificar sus estructuras. </a:t>
            </a:r>
          </a:p>
          <a:p>
            <a:endParaRPr lang="es-ES" dirty="0" smtClean="0"/>
          </a:p>
          <a:p>
            <a:r>
              <a:rPr lang="es-ES" dirty="0" smtClean="0"/>
              <a:t>Es una forma de seguir el principio abierto / cerrado.</a:t>
            </a:r>
          </a:p>
          <a:p>
            <a:endParaRPr lang="es-ES" dirty="0" smtClean="0"/>
          </a:p>
          <a:p>
            <a:r>
              <a:rPr lang="es-ES" dirty="0" smtClean="0"/>
              <a:t>En esencia, el visitante permite agregar nuevas funciones virtuales a una familia de clases, sin modificar las clases. </a:t>
            </a:r>
          </a:p>
          <a:p>
            <a:endParaRPr lang="es-ES" dirty="0" smtClean="0"/>
          </a:p>
          <a:p>
            <a:r>
              <a:rPr lang="es-ES" dirty="0" smtClean="0"/>
              <a:t>En cambio, se crea una clase de visitante que implementa todas las especializaciones apropiadas de la función virtual. </a:t>
            </a:r>
          </a:p>
          <a:p>
            <a:endParaRPr lang="es-ES" dirty="0" smtClean="0"/>
          </a:p>
          <a:p>
            <a:r>
              <a:rPr lang="es-ES" dirty="0" smtClean="0"/>
              <a:t>El visitante toma la referencia de la instancia como entrada e implementa el objetivo mediante un envío doble.</a:t>
            </a:r>
          </a:p>
          <a:p>
            <a:endParaRPr lang="es-ES" dirty="0" smtClean="0"/>
          </a:p>
          <a:p>
            <a:endParaRPr lang="es-ES" dirty="0" smtClean="0"/>
          </a:p>
          <a:p>
            <a:r>
              <a:rPr lang="es-ES" dirty="0" smtClean="0"/>
              <a:t>El patrón observador</a:t>
            </a:r>
          </a:p>
          <a:p>
            <a:endParaRPr lang="es-ES" dirty="0" smtClean="0"/>
          </a:p>
          <a:p>
            <a:r>
              <a:rPr lang="es-ES" dirty="0" smtClean="0"/>
              <a:t>Permite que un objeto, llamado sujeto, mantenga una lista objetos dependientes (observadores) a los cuales les notifica automáticamente de cualquier cambio de estado, generalmente llamando a uno de sus métodos.</a:t>
            </a:r>
          </a:p>
          <a:p>
            <a:endParaRPr lang="es-ES" dirty="0" smtClean="0"/>
          </a:p>
          <a:p>
            <a:r>
              <a:rPr lang="es-ES" dirty="0" smtClean="0"/>
              <a:t>Se utiliza principalmente para implementar sistemas de manejo de eventos distribuidos, </a:t>
            </a:r>
          </a:p>
          <a:p>
            <a:endParaRPr lang="en-US"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Este código del mundo real demuestra el patrón </a:t>
            </a:r>
            <a:r>
              <a:rPr lang="es-ES" dirty="0" err="1" smtClean="0"/>
              <a:t>Observer</a:t>
            </a:r>
            <a:r>
              <a:rPr lang="es-ES" smtClean="0"/>
              <a:t> en el que los inversores registrados reciben una notificación cada vez que una acción cambia de valor.</a:t>
            </a:r>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Este código del mundo real demuestra el patrón </a:t>
            </a:r>
            <a:r>
              <a:rPr lang="es-ES" dirty="0" err="1" smtClean="0"/>
              <a:t>Observer</a:t>
            </a:r>
            <a:r>
              <a:rPr lang="es-ES" smtClean="0"/>
              <a:t> en el que los inversores registrados reciben una notificación cada vez que una acción cambia de valor.</a:t>
            </a:r>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Hemos estado hablando de los patrones y de las ventajas que tienen</a:t>
            </a:r>
            <a:r>
              <a:rPr lang="es-ES" baseline="0" noProof="0" dirty="0" smtClean="0"/>
              <a:t> para resolver problemas conocidos.</a:t>
            </a:r>
          </a:p>
          <a:p>
            <a:endParaRPr lang="es-ES" baseline="0" noProof="0" dirty="0" smtClean="0"/>
          </a:p>
          <a:p>
            <a:r>
              <a:rPr lang="es-ES" baseline="0" noProof="0" dirty="0" smtClean="0"/>
              <a:t>Existen los anti patrones los cuales están ampliamente documentados. Básicamente se describe por un lado lo que no se debe hacer para la solución de un problema.</a:t>
            </a:r>
          </a:p>
          <a:p>
            <a:endParaRPr lang="es-ES" baseline="0" noProof="0" dirty="0" smtClean="0"/>
          </a:p>
          <a:p>
            <a:r>
              <a:rPr lang="es-ES" baseline="0" noProof="0" dirty="0" smtClean="0"/>
              <a:t>Usar un patrón para resolver un problema para el cual no sirve es también una practica común descrita por los </a:t>
            </a:r>
            <a:r>
              <a:rPr lang="es-ES" baseline="0" noProof="0" dirty="0" err="1" smtClean="0"/>
              <a:t>antipatrones</a:t>
            </a:r>
            <a:r>
              <a:rPr lang="es-ES" baseline="0" noProof="0" dirty="0" smtClean="0"/>
              <a:t>.</a:t>
            </a: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Estos son</a:t>
            </a:r>
            <a:r>
              <a:rPr lang="es-ES" baseline="0" noProof="0" dirty="0" smtClean="0"/>
              <a:t> algunos de los anti patrones mas comunes del desarrollo de aplicaciones</a:t>
            </a:r>
          </a:p>
          <a:p>
            <a:endParaRPr lang="es-ES" baseline="0" noProof="0" dirty="0" smtClean="0"/>
          </a:p>
          <a:p>
            <a:r>
              <a:rPr lang="es-ES" baseline="0" noProof="0" dirty="0" smtClean="0"/>
              <a:t>La mayoría de ellos son auto explicativos con la descripción que estamos dando, pero podemos analizar alguno de ellos.</a:t>
            </a:r>
          </a:p>
          <a:p>
            <a:endParaRPr lang="es-ES" baseline="0" noProof="0" dirty="0" smtClean="0"/>
          </a:p>
          <a:p>
            <a:r>
              <a:rPr lang="es-ES" baseline="0" noProof="0" dirty="0" smtClean="0"/>
              <a:t>Golden </a:t>
            </a:r>
            <a:r>
              <a:rPr lang="es-ES" baseline="0" noProof="0" dirty="0" err="1" smtClean="0"/>
              <a:t>Hammer</a:t>
            </a:r>
            <a:endParaRPr lang="es-ES" baseline="0" noProof="0" dirty="0" smtClean="0"/>
          </a:p>
          <a:p>
            <a:r>
              <a:rPr lang="es-ES" baseline="0" noProof="0" dirty="0" smtClean="0"/>
              <a:t>Desde que empezamos a programar se nos ha insistido constantemente que nuestras clases sigan el principio de una sola responsabilidad. Una </a:t>
            </a:r>
            <a:r>
              <a:rPr lang="es-ES" baseline="0" noProof="0" dirty="0" err="1" smtClean="0"/>
              <a:t>class</a:t>
            </a:r>
            <a:r>
              <a:rPr lang="es-ES" baseline="0" noProof="0" dirty="0" smtClean="0"/>
              <a:t> que trata de cubrir muchos aspectos de la implementación es una </a:t>
            </a:r>
            <a:r>
              <a:rPr lang="es-ES" baseline="0" noProof="0" dirty="0" err="1" smtClean="0"/>
              <a:t>class</a:t>
            </a:r>
            <a:r>
              <a:rPr lang="es-ES" baseline="0" noProof="0" dirty="0" smtClean="0"/>
              <a:t> que al final resulta difícil de mantener, depurar y entender.</a:t>
            </a:r>
          </a:p>
          <a:p>
            <a:endParaRPr lang="es-ES" baseline="0" noProof="0" dirty="0" smtClean="0"/>
          </a:p>
          <a:p>
            <a:r>
              <a:rPr lang="es-ES" baseline="0" noProof="0" dirty="0" smtClean="0"/>
              <a:t>Lava </a:t>
            </a:r>
            <a:r>
              <a:rPr lang="es-ES" baseline="0" noProof="0" dirty="0" err="1" smtClean="0"/>
              <a:t>flow</a:t>
            </a:r>
            <a:endParaRPr lang="es-ES" baseline="0" noProof="0" dirty="0" smtClean="0"/>
          </a:p>
          <a:p>
            <a:r>
              <a:rPr lang="es-ES" baseline="0" noProof="0" dirty="0" smtClean="0"/>
              <a:t>Nos referimos a código muerto a aquellos pedazos de código que dejamos en nuestras implementaciones que dejan ideas inconclusas que nunca terminamos de implementar o que si bien ya no funcionan correctamente en la implementación actual de nuestra clase. </a:t>
            </a:r>
          </a:p>
          <a:p>
            <a:r>
              <a:rPr lang="es-ES" baseline="0" noProof="0" dirty="0" smtClean="0"/>
              <a:t>También puede verse como el código que nunca es accedido durante todos los posibles caminos de ejecución dentro de un método.</a:t>
            </a:r>
          </a:p>
          <a:p>
            <a:endParaRPr lang="es-ES" baseline="0" noProof="0" dirty="0" smtClean="0"/>
          </a:p>
          <a:p>
            <a:r>
              <a:rPr lang="es-ES" baseline="0" noProof="0" dirty="0" err="1" smtClean="0"/>
              <a:t>Cut</a:t>
            </a:r>
            <a:r>
              <a:rPr lang="es-ES" baseline="0" noProof="0" dirty="0" smtClean="0"/>
              <a:t> &amp; Paste</a:t>
            </a:r>
          </a:p>
          <a:p>
            <a:r>
              <a:rPr lang="es-ES" baseline="0" noProof="0" dirty="0" smtClean="0"/>
              <a:t>Pues eso, que mucha gente copia código de </a:t>
            </a:r>
            <a:r>
              <a:rPr lang="es-ES" baseline="0" noProof="0" dirty="0" err="1" smtClean="0"/>
              <a:t>StackOverflow</a:t>
            </a:r>
            <a:r>
              <a:rPr lang="es-ES" baseline="0" noProof="0" dirty="0" smtClean="0"/>
              <a:t> o similar sin siquiera entender lo que están copiando</a:t>
            </a:r>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Los patrones deben ser</a:t>
            </a:r>
            <a:r>
              <a:rPr lang="es-ES" baseline="0" noProof="0" dirty="0" smtClean="0"/>
              <a:t> capaces de </a:t>
            </a:r>
          </a:p>
          <a:p>
            <a:endParaRPr lang="es-ES" baseline="0" noProof="0" dirty="0" smtClean="0"/>
          </a:p>
          <a:p>
            <a:r>
              <a:rPr lang="es-ES" baseline="0" noProof="0" dirty="0" smtClean="0"/>
              <a:t>Dar una descripción abstracta de la solución de un problema concreto y al mismo tiempo ser capaz de dar una solución concreta de este mismo problema</a:t>
            </a:r>
          </a:p>
          <a:p>
            <a:endParaRPr lang="es-ES" baseline="0" noProof="0" dirty="0" smtClean="0"/>
          </a:p>
          <a:p>
            <a:r>
              <a:rPr lang="es-ES" baseline="0" noProof="0" dirty="0" smtClean="0"/>
              <a:t>Deben dar la posibilidad de ser extendidos para cubrir conjuntos problemas que contengan nuestro problema de forma particular y dar la posibilidad que pueda adaptarse sin mucha dificultad a problemas no exactamente iguales al nuestro pero si muy parecidos.</a:t>
            </a:r>
          </a:p>
          <a:p>
            <a:endParaRPr lang="es-ES" baseline="0" noProof="0" dirty="0" smtClean="0"/>
          </a:p>
          <a:p>
            <a:r>
              <a:rPr lang="es-ES" baseline="0" noProof="0" dirty="0" smtClean="0"/>
              <a:t>También deben ser capaces de integrarse en soluciones aun mayores</a:t>
            </a:r>
          </a:p>
          <a:p>
            <a:r>
              <a:rPr lang="es-ES" baseline="0" noProof="0" dirty="0" smtClean="0"/>
              <a:t>Y deberían permitir el uso de otros patrones como parte de la solución que proponen.</a:t>
            </a:r>
            <a:endParaRPr lang="es-ES" noProof="0" dirty="0" smtClean="0"/>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Que resultados se esperan al aplicar este patrón, en que estado queda el sistema, en que configuración queda el sistema, que</a:t>
            </a:r>
            <a:r>
              <a:rPr lang="es-ES" baseline="0" noProof="0" dirty="0" smtClean="0"/>
              <a:t> efectos colaterales implica la ejecución de este patrón.</a:t>
            </a:r>
          </a:p>
          <a:p>
            <a:endParaRPr lang="es-ES" baseline="0" noProof="0" dirty="0" smtClean="0"/>
          </a:p>
          <a:p>
            <a:r>
              <a:rPr lang="es-ES" baseline="0" noProof="0" dirty="0" smtClean="0"/>
              <a:t>Que nos justifica que el patrón funcione y resuelva el problema que estamos describiendo, que beneficios trae.</a:t>
            </a:r>
          </a:p>
          <a:p>
            <a:endParaRPr lang="es-ES" baseline="0" noProof="0" dirty="0" smtClean="0"/>
          </a:p>
          <a:p>
            <a:r>
              <a:rPr lang="es-ES" baseline="0" noProof="0" dirty="0" smtClean="0"/>
              <a:t>Que con que patrones esta relacionado este patrón, a quien se asemeja, a quien modifica, a quien mejora.</a:t>
            </a:r>
          </a:p>
          <a:p>
            <a:r>
              <a:rPr lang="es-ES" baseline="0" noProof="0" dirty="0" smtClean="0"/>
              <a:t>Anteriormente no lo habíamos mencionado pero las arquitecturas también son patrones y por ejemplo La arquitectura </a:t>
            </a:r>
            <a:r>
              <a:rPr lang="es-ES" baseline="0" noProof="0" dirty="0" err="1" smtClean="0"/>
              <a:t>Clean</a:t>
            </a:r>
            <a:r>
              <a:rPr lang="es-ES" baseline="0" noProof="0" dirty="0" smtClean="0"/>
              <a:t> mejora al patrón N-</a:t>
            </a:r>
            <a:r>
              <a:rPr lang="es-ES" baseline="0" noProof="0" dirty="0" err="1" smtClean="0"/>
              <a:t>Layered</a:t>
            </a:r>
            <a:endParaRPr lang="es-ES" noProof="0" dirty="0" smtClean="0"/>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noProof="0" dirty="0" smtClean="0"/>
              <a:t>Usos conocidos de aplicación de nuestro patrón, ejemplos de soluciones reales donde se usa</a:t>
            </a:r>
          </a:p>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noProof="0" dirty="0" smtClean="0"/>
          </a:p>
        </p:txBody>
      </p:sp>
    </p:spTree>
    <p:extLst>
      <p:ext uri="{BB962C8B-B14F-4D97-AF65-F5344CB8AC3E}">
        <p14:creationId xmlns:p14="http://schemas.microsoft.com/office/powerpoint/2010/main" val="1369886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09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7195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141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90220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097280" y="2582335"/>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217920" y="2582334"/>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404808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r>
              <a:rPr lang="es-ES"/>
              <a:t>MSc. Aracelys García Armenteros</a:t>
            </a:r>
          </a:p>
        </p:txBody>
      </p:sp>
      <p:sp>
        <p:nvSpPr>
          <p:cNvPr id="4" name="Footer Placeholder 3"/>
          <p:cNvSpPr>
            <a:spLocks noGrp="1"/>
          </p:cNvSpPr>
          <p:nvPr>
            <p:ph type="ftr" sz="quarter" idx="11"/>
          </p:nvPr>
        </p:nvSpPr>
        <p:spPr/>
        <p:txBody>
          <a:bodyPr/>
          <a:lstStyle/>
          <a:p>
            <a:r>
              <a:rPr lang="es-ES"/>
              <a:t>Gestión de Proyectos. Planificación y estimación.</a:t>
            </a:r>
          </a:p>
        </p:txBody>
      </p:sp>
      <p:sp>
        <p:nvSpPr>
          <p:cNvPr id="5" name="Slide Number Placeholder 4"/>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82151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979413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s-ES"/>
              <a:t>MSc. Aracelys García Armenteros</a:t>
            </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s-ES"/>
              <a:t>Gestión de Proyectos. Planificación y estimación.</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C4EE0E4-9C8A-4542-A491-318C3530755B}" type="slidenum">
              <a:rPr lang="es-ES" smtClean="0"/>
              <a:t>‹Nº›</a:t>
            </a:fld>
            <a:endParaRPr lang="es-ES"/>
          </a:p>
        </p:txBody>
      </p:sp>
    </p:spTree>
    <p:extLst>
      <p:ext uri="{BB962C8B-B14F-4D97-AF65-F5344CB8AC3E}">
        <p14:creationId xmlns:p14="http://schemas.microsoft.com/office/powerpoint/2010/main" val="2346865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65602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37871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11365008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1826685" y="252414"/>
            <a:ext cx="9749367" cy="1189037"/>
          </a:xfrm>
        </p:spPr>
        <p:txBody>
          <a:bodyPr/>
          <a:lstStyle/>
          <a:p>
            <a:r>
              <a:rPr lang="es-ES"/>
              <a:t>Haga clic para modificar el estilo de título del patrón</a:t>
            </a:r>
            <a:endParaRPr lang="en-US"/>
          </a:p>
        </p:txBody>
      </p:sp>
      <p:sp>
        <p:nvSpPr>
          <p:cNvPr id="3" name="Rectangle 7"/>
          <p:cNvSpPr>
            <a:spLocks noGrp="1" noChangeArrowheads="1"/>
          </p:cNvSpPr>
          <p:nvPr>
            <p:ph type="dt" idx="10"/>
          </p:nvPr>
        </p:nvSpPr>
        <p:spPr>
          <a:ln/>
        </p:spPr>
        <p:txBody>
          <a:bodyPr/>
          <a:lstStyle>
            <a:lvl1pPr>
              <a:defRPr/>
            </a:lvl1pPr>
          </a:lstStyle>
          <a:p>
            <a:pPr>
              <a:defRPr/>
            </a:pPr>
            <a:r>
              <a:rPr lang="es-ES"/>
              <a:t>MSc. Aracelys García Armenteros</a:t>
            </a:r>
            <a:endParaRPr lang="es-ES_tradnl"/>
          </a:p>
        </p:txBody>
      </p:sp>
      <p:sp>
        <p:nvSpPr>
          <p:cNvPr id="4" name="Rectangle 8"/>
          <p:cNvSpPr>
            <a:spLocks noGrp="1" noChangeArrowheads="1"/>
          </p:cNvSpPr>
          <p:nvPr>
            <p:ph type="ftr" idx="11"/>
          </p:nvPr>
        </p:nvSpPr>
        <p:spPr>
          <a:ln/>
        </p:spPr>
        <p:txBody>
          <a:bodyPr/>
          <a:lstStyle>
            <a:lvl1pPr>
              <a:defRPr/>
            </a:lvl1pPr>
          </a:lstStyle>
          <a:p>
            <a:pPr>
              <a:defRPr/>
            </a:pPr>
            <a:r>
              <a:rPr lang="es-ES"/>
              <a:t>Gestión de Proyectos. Planificación y estimación.</a:t>
            </a:r>
            <a:endParaRPr lang="en-US"/>
          </a:p>
        </p:txBody>
      </p:sp>
      <p:sp>
        <p:nvSpPr>
          <p:cNvPr id="5" name="Rectangle 9"/>
          <p:cNvSpPr>
            <a:spLocks noGrp="1" noChangeArrowheads="1"/>
          </p:cNvSpPr>
          <p:nvPr>
            <p:ph type="sldNum" idx="12"/>
          </p:nvPr>
        </p:nvSpPr>
        <p:spPr>
          <a:ln/>
        </p:spPr>
        <p:txBody>
          <a:bodyPr/>
          <a:lstStyle>
            <a:lvl1pPr>
              <a:defRPr/>
            </a:lvl1pPr>
          </a:lstStyle>
          <a:p>
            <a:fld id="{263DA378-A288-4DEE-B6C0-5484F297BAE2}" type="slidenum">
              <a:rPr lang="en-US"/>
              <a:pPr/>
              <a:t>‹Nº›</a:t>
            </a:fld>
            <a:endParaRPr lang="en-US"/>
          </a:p>
        </p:txBody>
      </p:sp>
    </p:spTree>
    <p:extLst>
      <p:ext uri="{BB962C8B-B14F-4D97-AF65-F5344CB8AC3E}">
        <p14:creationId xmlns:p14="http://schemas.microsoft.com/office/powerpoint/2010/main" val="1449705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s-ES"/>
              <a:t>MSc. Aracelys García Armenteros</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s-ES"/>
              <a:t>Gestión de Proyectos. Planificación y estimación.</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C4EE0E4-9C8A-4542-A491-318C3530755B}" type="slidenum">
              <a:rPr lang="es-ES" smtClean="0"/>
              <a:t>‹Nº›</a:t>
            </a:fld>
            <a:endParaRPr lang="es-E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470030"/>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Lst>
  <p:hf sldNum="0"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www.dofactory.com/net/design-patterns" TargetMode="External"/><Relationship Id="rId3" Type="http://schemas.openxmlformats.org/officeDocument/2006/relationships/hyperlink" Target="http://g.oswego.edu/dl/pd-FAQ/pd-FAQ.html" TargetMode="External"/><Relationship Id="rId7" Type="http://schemas.openxmlformats.org/officeDocument/2006/relationships/hyperlink" Target="http://c2.com/cgi/wiki?WelcomeVisitor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hillside.net/patterns" TargetMode="External"/><Relationship Id="rId5" Type="http://schemas.openxmlformats.org/officeDocument/2006/relationships/hyperlink" Target="ftp://st.cs.uiuc.edu/pub/patterns/papers/PatQandA.ps" TargetMode="External"/><Relationship Id="rId4" Type="http://schemas.openxmlformats.org/officeDocument/2006/relationships/hyperlink" Target="http://gee.cs.oswego.edu/dl/ca/ca/ca.html"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noChangeArrowheads="1"/>
          </p:cNvSpPr>
          <p:nvPr>
            <p:ph type="title"/>
          </p:nvPr>
        </p:nvSpPr>
        <p:spPr>
          <a:xfrm>
            <a:off x="1761116" y="2168338"/>
            <a:ext cx="8418342" cy="1752600"/>
          </a:xfrm>
        </p:spPr>
        <p:txBody>
          <a:bodyPr>
            <a:norm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s-ES" dirty="0"/>
              <a:t>Marcos de Trabajo y </a:t>
            </a:r>
            <a:br>
              <a:rPr lang="es-ES" dirty="0"/>
            </a:br>
            <a:r>
              <a:rPr lang="es-ES" dirty="0"/>
              <a:t>Patrones de Diseño</a:t>
            </a:r>
          </a:p>
        </p:txBody>
      </p:sp>
      <p:sp>
        <p:nvSpPr>
          <p:cNvPr id="3" name="CuadroTexto 2"/>
          <p:cNvSpPr txBox="1"/>
          <p:nvPr/>
        </p:nvSpPr>
        <p:spPr>
          <a:xfrm>
            <a:off x="4604510" y="4601224"/>
            <a:ext cx="2963375" cy="461665"/>
          </a:xfrm>
          <a:prstGeom prst="rect">
            <a:avLst/>
          </a:prstGeom>
          <a:noFill/>
        </p:spPr>
        <p:txBody>
          <a:bodyPr wrap="none" rtlCol="0">
            <a:spAutoFit/>
          </a:bodyPr>
          <a:lstStyle/>
          <a:p>
            <a:pPr algn="ctr"/>
            <a:r>
              <a:rPr lang="es-ES" sz="2400" dirty="0">
                <a:latin typeface="+mj-lt"/>
              </a:rPr>
              <a:t>Ingeniería de </a:t>
            </a:r>
            <a:r>
              <a:rPr lang="es-ES" sz="2400" dirty="0" smtClean="0">
                <a:latin typeface="+mj-lt"/>
              </a:rPr>
              <a:t>Software</a:t>
            </a:r>
            <a:endParaRPr lang="es-ES" sz="2400" dirty="0">
              <a:latin typeface="+mj-lt"/>
            </a:endParaRPr>
          </a:p>
        </p:txBody>
      </p:sp>
    </p:spTree>
    <p:extLst>
      <p:ext uri="{BB962C8B-B14F-4D97-AF65-F5344CB8AC3E}">
        <p14:creationId xmlns:p14="http://schemas.microsoft.com/office/powerpoint/2010/main" val="3810362731"/>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1255351" y="1918772"/>
            <a:ext cx="9372600" cy="4421187"/>
          </a:xfrm>
        </p:spPr>
        <p:txBody>
          <a:bodyPr>
            <a:normAutofit lnSpcReduction="10000"/>
          </a:bodyPr>
          <a:lstStyle/>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smtClean="0"/>
              <a:t>Concepto  Marcos </a:t>
            </a:r>
            <a:r>
              <a:rPr lang="es-ES_tradnl" sz="2800" dirty="0"/>
              <a:t>de Trabajo </a:t>
            </a:r>
            <a:r>
              <a:rPr lang="es-ES_tradnl" sz="2800" dirty="0" smtClean="0"/>
              <a:t>, </a:t>
            </a:r>
            <a:r>
              <a:rPr lang="es-ES_tradnl" sz="2800" dirty="0"/>
              <a:t>Ventajas </a:t>
            </a:r>
            <a:endParaRPr lang="es-ES_tradnl" sz="2800" dirty="0" smtClean="0"/>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smtClean="0"/>
              <a:t>Patrones</a:t>
            </a:r>
            <a:r>
              <a:rPr lang="es-ES_tradnl" sz="2800" dirty="0"/>
              <a:t>: </a:t>
            </a:r>
            <a:r>
              <a:rPr lang="es-ES_tradnl" sz="2800" dirty="0" smtClean="0"/>
              <a:t>Objetivos, Historia,</a:t>
            </a:r>
            <a:r>
              <a:rPr lang="es-ES_tradnl" sz="2800" dirty="0"/>
              <a:t> </a:t>
            </a:r>
            <a:r>
              <a:rPr lang="es-ES_tradnl" sz="2800" dirty="0" smtClean="0"/>
              <a:t>Definiciones, </a:t>
            </a:r>
            <a:r>
              <a:rPr lang="es-ES_tradnl" sz="2800" dirty="0"/>
              <a:t>Tipos de Patrones</a:t>
            </a:r>
            <a:endParaRPr lang="es-ES_tradnl" sz="2800" dirty="0" smtClean="0"/>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smtClean="0"/>
              <a:t>Patrones </a:t>
            </a:r>
            <a:r>
              <a:rPr lang="es-ES" sz="2800" dirty="0"/>
              <a:t>de </a:t>
            </a:r>
            <a:r>
              <a:rPr lang="es-ES" sz="2800" dirty="0" smtClean="0"/>
              <a:t>diseño : Patrones de creación, Patrones estructurales , Patrones de comportamiento </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smtClean="0"/>
              <a:t>Ejemplos de </a:t>
            </a:r>
            <a:r>
              <a:rPr lang="es-ES_tradnl" sz="2800" dirty="0" smtClean="0"/>
              <a:t>Patrones: </a:t>
            </a:r>
            <a:r>
              <a:rPr lang="es-ES_tradnl" sz="2800" dirty="0" err="1" smtClean="0"/>
              <a:t>Singleton</a:t>
            </a:r>
            <a:r>
              <a:rPr lang="es-ES_tradnl" sz="2800" dirty="0" smtClean="0"/>
              <a:t>, Factory, </a:t>
            </a:r>
            <a:r>
              <a:rPr lang="es-ES_tradnl" sz="2800" dirty="0" err="1" smtClean="0"/>
              <a:t>Iterator</a:t>
            </a:r>
            <a:r>
              <a:rPr lang="es-ES_tradnl" sz="2800" dirty="0" smtClean="0"/>
              <a:t>, </a:t>
            </a:r>
            <a:r>
              <a:rPr lang="es-ES_tradnl" sz="2800" dirty="0" err="1" smtClean="0"/>
              <a:t>Observer</a:t>
            </a:r>
            <a:r>
              <a:rPr lang="es-ES_tradnl" sz="2800" dirty="0" smtClean="0"/>
              <a:t>,</a:t>
            </a:r>
            <a:r>
              <a:rPr lang="es-ES_tradnl" sz="2800" dirty="0"/>
              <a:t> </a:t>
            </a:r>
            <a:r>
              <a:rPr lang="es-ES_tradnl" sz="2800" dirty="0" err="1" smtClean="0"/>
              <a:t>Adapter</a:t>
            </a:r>
            <a:r>
              <a:rPr lang="es-ES_tradnl" sz="2800" dirty="0" smtClean="0"/>
              <a:t>, </a:t>
            </a:r>
            <a:r>
              <a:rPr lang="en-US" sz="2800" dirty="0" smtClean="0"/>
              <a:t>Proxy</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err="1" smtClean="0"/>
              <a:t>AntiPatrones</a:t>
            </a:r>
            <a:endParaRPr lang="en-US" sz="2800" dirty="0" smtClean="0"/>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a:t>Cualidades de un Patrón</a:t>
            </a:r>
            <a:endParaRPr lang="es-ES" sz="2800" dirty="0"/>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smtClean="0"/>
              <a:t>Documentación </a:t>
            </a:r>
            <a:r>
              <a:rPr lang="es-ES_tradnl" sz="2800" dirty="0"/>
              <a:t>de un </a:t>
            </a:r>
            <a:r>
              <a:rPr lang="es-ES_tradnl" sz="2800" dirty="0" smtClean="0"/>
              <a:t>Patrón</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800" dirty="0">
              <a:cs typeface="Times New Roman" panose="02020603050405020304" pitchFamily="18" charset="0"/>
            </a:endParaRPr>
          </a:p>
          <a:p>
            <a:pPr marL="552450" indent="-55245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600" dirty="0">
              <a:cs typeface="Times New Roman" panose="02020603050405020304" pitchFamily="18" charset="0"/>
            </a:endParaRPr>
          </a:p>
        </p:txBody>
      </p:sp>
      <p:sp>
        <p:nvSpPr>
          <p:cNvPr id="2" name="Título 1"/>
          <p:cNvSpPr>
            <a:spLocks noGrp="1"/>
          </p:cNvSpPr>
          <p:nvPr>
            <p:ph type="title"/>
          </p:nvPr>
        </p:nvSpPr>
        <p:spPr/>
        <p:txBody>
          <a:bodyPr/>
          <a:lstStyle/>
          <a:p>
            <a:r>
              <a:rPr lang="es-ES" dirty="0"/>
              <a:t>Sumario:</a:t>
            </a:r>
          </a:p>
        </p:txBody>
      </p:sp>
      <p:sp>
        <p:nvSpPr>
          <p:cNvPr id="3" name="Marcador de pie de página 2"/>
          <p:cNvSpPr>
            <a:spLocks noGrp="1"/>
          </p:cNvSpPr>
          <p:nvPr>
            <p:ph type="ftr" sz="quarter" idx="11"/>
          </p:nvPr>
        </p:nvSpPr>
        <p:spPr>
          <a:xfrm>
            <a:off x="3686184" y="6459785"/>
            <a:ext cx="5596963" cy="398215"/>
          </a:xfrm>
        </p:spPr>
        <p:txBody>
          <a:bodyPr/>
          <a:lstStyle/>
          <a:p>
            <a:r>
              <a:rPr lang="es-ES" dirty="0"/>
              <a:t>Marcos de Trabajo y </a:t>
            </a:r>
            <a:br>
              <a:rPr lang="es-ES" dirty="0"/>
            </a:br>
            <a:r>
              <a:rPr lang="es-ES" dirty="0"/>
              <a:t>Patrones de Diseño</a:t>
            </a:r>
          </a:p>
        </p:txBody>
      </p:sp>
    </p:spTree>
    <p:extLst>
      <p:ext uri="{BB962C8B-B14F-4D97-AF65-F5344CB8AC3E}">
        <p14:creationId xmlns:p14="http://schemas.microsoft.com/office/powerpoint/2010/main" val="3576632108"/>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636104" y="1908314"/>
            <a:ext cx="11251096" cy="4431646"/>
          </a:xfrm>
        </p:spPr>
        <p:txBody>
          <a:bodyPr>
            <a:normAutofit fontScale="62500" lnSpcReduction="20000"/>
          </a:bodyPr>
          <a:lstStyle/>
          <a:p>
            <a:pPr marL="566928" indent="-457200">
              <a:spcAft>
                <a:spcPts val="0"/>
              </a:spcAft>
              <a:buFont typeface="Wingdings" pitchFamily="2" charset="2"/>
              <a:buChar char="Ø"/>
              <a:defRPr/>
            </a:pPr>
            <a:r>
              <a:rPr lang="en-US" sz="2800" dirty="0" smtClean="0">
                <a:cs typeface="Times New Roman" pitchFamily="18" charset="0"/>
              </a:rPr>
              <a:t>Doug </a:t>
            </a:r>
            <a:r>
              <a:rPr lang="en-US" sz="2800" dirty="0">
                <a:cs typeface="Times New Roman" pitchFamily="18" charset="0"/>
              </a:rPr>
              <a:t>Lea, "Patterns-Discussion FAQ" </a:t>
            </a:r>
          </a:p>
          <a:p>
            <a:pPr marL="566928" indent="-457200">
              <a:spcAft>
                <a:spcPts val="0"/>
              </a:spcAft>
              <a:buFont typeface="Wingdings" pitchFamily="2" charset="2"/>
              <a:buChar char="Ø"/>
              <a:defRPr/>
            </a:pPr>
            <a:r>
              <a:rPr lang="en-US" sz="2800" dirty="0">
                <a:cs typeface="Times New Roman" pitchFamily="18" charset="0"/>
              </a:rPr>
              <a:t>	</a:t>
            </a:r>
            <a:r>
              <a:rPr lang="en-US" sz="2800" dirty="0">
                <a:cs typeface="Times New Roman" pitchFamily="18" charset="0"/>
                <a:hlinkClick r:id="rId3"/>
              </a:rPr>
              <a:t>http://g.oswego.edu/dl/pd-FAQ/pd-FAQ.html</a:t>
            </a:r>
            <a:endParaRPr lang="en-US" sz="2800" dirty="0">
              <a:cs typeface="Times New Roman" pitchFamily="18" charset="0"/>
            </a:endParaRPr>
          </a:p>
          <a:p>
            <a:pPr marL="566928" indent="-457200">
              <a:spcAft>
                <a:spcPts val="0"/>
              </a:spcAft>
              <a:buFont typeface="Wingdings" pitchFamily="2" charset="2"/>
              <a:buChar char="Ø"/>
              <a:defRPr/>
            </a:pPr>
            <a:r>
              <a:rPr lang="en-US" sz="2800" dirty="0">
                <a:cs typeface="Times New Roman" pitchFamily="18" charset="0"/>
              </a:rPr>
              <a:t>Doug Lea, "Christopher Alexander: An Introduction for Object-Oriented Designers"</a:t>
            </a:r>
          </a:p>
          <a:p>
            <a:pPr marL="566928" indent="-457200">
              <a:spcAft>
                <a:spcPts val="0"/>
              </a:spcAft>
              <a:buFont typeface="Wingdings" pitchFamily="2" charset="2"/>
              <a:buChar char="Ø"/>
              <a:defRPr/>
            </a:pPr>
            <a:r>
              <a:rPr lang="en-US" sz="2800" dirty="0">
                <a:cs typeface="Times New Roman" pitchFamily="18" charset="0"/>
              </a:rPr>
              <a:t>	</a:t>
            </a:r>
            <a:r>
              <a:rPr lang="en-US" sz="2800" dirty="0">
                <a:cs typeface="Times New Roman" pitchFamily="18" charset="0"/>
                <a:hlinkClick r:id="rId4"/>
              </a:rPr>
              <a:t>http://gee.cs.oswego.edu/dl/ca/ca/ca.html</a:t>
            </a:r>
            <a:endParaRPr lang="en-US" sz="2800" dirty="0">
              <a:cs typeface="Times New Roman" pitchFamily="18" charset="0"/>
            </a:endParaRPr>
          </a:p>
          <a:p>
            <a:pPr marL="566928" indent="-457200">
              <a:spcAft>
                <a:spcPts val="0"/>
              </a:spcAft>
              <a:buFont typeface="Wingdings" pitchFamily="2" charset="2"/>
              <a:buChar char="Ø"/>
              <a:defRPr/>
            </a:pPr>
            <a:r>
              <a:rPr lang="en-US" sz="2800" dirty="0">
                <a:cs typeface="Times New Roman" pitchFamily="18" charset="0"/>
              </a:rPr>
              <a:t>Jim </a:t>
            </a:r>
            <a:r>
              <a:rPr lang="en-US" sz="2800" dirty="0" err="1">
                <a:cs typeface="Times New Roman" pitchFamily="18" charset="0"/>
              </a:rPr>
              <a:t>Coplien</a:t>
            </a:r>
            <a:r>
              <a:rPr lang="en-US" sz="2800" dirty="0">
                <a:cs typeface="Times New Roman" pitchFamily="18" charset="0"/>
              </a:rPr>
              <a:t>, "Software Design Patterns: Common Questions and Answers" </a:t>
            </a:r>
          </a:p>
          <a:p>
            <a:pPr marL="566928" indent="-457200">
              <a:spcAft>
                <a:spcPts val="0"/>
              </a:spcAft>
              <a:buFont typeface="Wingdings" pitchFamily="2" charset="2"/>
              <a:buChar char="Ø"/>
              <a:defRPr/>
            </a:pPr>
            <a:r>
              <a:rPr lang="en-US" sz="2800" dirty="0">
                <a:cs typeface="Times New Roman" pitchFamily="18" charset="0"/>
              </a:rPr>
              <a:t>	</a:t>
            </a:r>
            <a:r>
              <a:rPr lang="en-US" sz="2800" dirty="0">
                <a:cs typeface="Times New Roman" pitchFamily="18" charset="0"/>
                <a:hlinkClick r:id="rId5"/>
              </a:rPr>
              <a:t>ftp://st.cs.uiuc.edu/pub/patterns/papers/PatQandA.ps</a:t>
            </a:r>
            <a:endParaRPr lang="en-US" sz="2800" dirty="0">
              <a:cs typeface="Times New Roman" pitchFamily="18" charset="0"/>
            </a:endParaRPr>
          </a:p>
          <a:p>
            <a:pPr>
              <a:buFont typeface="Wingdings" pitchFamily="2" charset="2"/>
              <a:buChar char="Ø"/>
            </a:pPr>
            <a:r>
              <a:rPr lang="en-US" altLang="en-US" sz="2800" dirty="0" smtClean="0">
                <a:cs typeface="Times New Roman" panose="02020603050405020304" pitchFamily="18" charset="0"/>
              </a:rPr>
              <a:t>   The </a:t>
            </a:r>
            <a:r>
              <a:rPr lang="en-US" altLang="en-US" sz="2800" dirty="0">
                <a:cs typeface="Times New Roman" panose="02020603050405020304" pitchFamily="18" charset="0"/>
              </a:rPr>
              <a:t>Patterns Home Page </a:t>
            </a:r>
          </a:p>
          <a:p>
            <a:pPr>
              <a:buFont typeface="Wingdings" pitchFamily="2" charset="2"/>
              <a:buChar char="Ø"/>
            </a:pPr>
            <a:r>
              <a:rPr lang="en-US" altLang="en-US" sz="2800" dirty="0">
                <a:cs typeface="Times New Roman" panose="02020603050405020304" pitchFamily="18" charset="0"/>
              </a:rPr>
              <a:t>	</a:t>
            </a:r>
            <a:r>
              <a:rPr lang="en-US" altLang="en-US" sz="2800" dirty="0">
                <a:cs typeface="Times New Roman" panose="02020603050405020304" pitchFamily="18" charset="0"/>
                <a:hlinkClick r:id="rId6"/>
              </a:rPr>
              <a:t>http://hillside.net/patterns</a:t>
            </a:r>
            <a:endParaRPr lang="en-US" altLang="en-US" sz="2800" dirty="0">
              <a:cs typeface="Times New Roman" panose="02020603050405020304" pitchFamily="18" charset="0"/>
            </a:endParaRPr>
          </a:p>
          <a:p>
            <a:pPr>
              <a:buFont typeface="Wingdings" pitchFamily="2" charset="2"/>
              <a:buChar char="Ø"/>
            </a:pPr>
            <a:r>
              <a:rPr lang="en-US" altLang="en-US" sz="2800" dirty="0" smtClean="0">
                <a:cs typeface="Times New Roman" panose="02020603050405020304" pitchFamily="18" charset="0"/>
              </a:rPr>
              <a:t>Ward Cunningham, </a:t>
            </a:r>
            <a:r>
              <a:rPr lang="en-US" altLang="en-US" sz="2800" dirty="0" err="1" smtClean="0">
                <a:cs typeface="Times New Roman" panose="02020603050405020304" pitchFamily="18" charset="0"/>
              </a:rPr>
              <a:t>WikiWiki</a:t>
            </a:r>
            <a:r>
              <a:rPr lang="en-US" altLang="en-US" sz="2800" dirty="0" smtClean="0">
                <a:cs typeface="Times New Roman" panose="02020603050405020304" pitchFamily="18" charset="0"/>
              </a:rPr>
              <a:t> Web </a:t>
            </a:r>
          </a:p>
          <a:p>
            <a:pPr>
              <a:buFont typeface="Wingdings" pitchFamily="2" charset="2"/>
              <a:buChar char="Ø"/>
            </a:pPr>
            <a:r>
              <a:rPr lang="en-US" altLang="en-US" sz="2800" dirty="0">
                <a:cs typeface="Times New Roman" panose="02020603050405020304" pitchFamily="18" charset="0"/>
              </a:rPr>
              <a:t>	</a:t>
            </a:r>
            <a:r>
              <a:rPr lang="en-US" altLang="en-US" sz="2800" dirty="0">
                <a:cs typeface="Times New Roman" panose="02020603050405020304" pitchFamily="18" charset="0"/>
                <a:hlinkClick r:id="rId7"/>
              </a:rPr>
              <a:t>http://c2.com/cgi/wiki?WelcomeVisitors</a:t>
            </a:r>
            <a:endParaRPr lang="en-US" altLang="en-US" sz="2800" dirty="0">
              <a:cs typeface="Times New Roman" panose="02020603050405020304" pitchFamily="18" charset="0"/>
            </a:endParaRPr>
          </a:p>
          <a:p>
            <a:pPr>
              <a:buFont typeface="Wingdings" pitchFamily="2" charset="2"/>
              <a:buChar char="Ø"/>
            </a:pPr>
            <a:r>
              <a:rPr lang="en-US" altLang="en-US" sz="2800" dirty="0" err="1">
                <a:cs typeface="Times New Roman" panose="02020603050405020304" pitchFamily="18" charset="0"/>
              </a:rPr>
              <a:t>dofactory</a:t>
            </a:r>
            <a:r>
              <a:rPr lang="en-US" altLang="en-US" sz="2800" dirty="0">
                <a:cs typeface="Times New Roman" panose="02020603050405020304" pitchFamily="18" charset="0"/>
              </a:rPr>
              <a:t> </a:t>
            </a:r>
            <a:r>
              <a:rPr lang="en-US" altLang="en-US" sz="2800" dirty="0">
                <a:cs typeface="Times New Roman" panose="02020603050405020304" pitchFamily="18" charset="0"/>
                <a:hlinkClick r:id="rId8"/>
              </a:rPr>
              <a:t>https</a:t>
            </a:r>
            <a:r>
              <a:rPr lang="en-US" altLang="en-US" sz="2800" dirty="0" smtClean="0">
                <a:cs typeface="Times New Roman" panose="02020603050405020304" pitchFamily="18" charset="0"/>
                <a:hlinkClick r:id="rId8"/>
              </a:rPr>
              <a:t>://www.dofactory.com/net/design-patterns</a:t>
            </a:r>
            <a:endParaRPr lang="en-US" altLang="en-US" sz="2800" dirty="0" smtClean="0">
              <a:cs typeface="Times New Roman" panose="02020603050405020304" pitchFamily="18" charset="0"/>
            </a:endParaRPr>
          </a:p>
          <a:p>
            <a:pPr>
              <a:buFont typeface="Wingdings" pitchFamily="2" charset="2"/>
              <a:buChar char="Ø"/>
            </a:pPr>
            <a:r>
              <a:rPr lang="en-US" altLang="en-US" sz="2800" dirty="0">
                <a:cs typeface="Times New Roman" panose="02020603050405020304" pitchFamily="18" charset="0"/>
              </a:rPr>
              <a:t>Erich Gamma, Richard Helm, Ralph Johnson, John M. </a:t>
            </a:r>
            <a:r>
              <a:rPr lang="en-US" altLang="en-US" sz="2800" dirty="0" err="1">
                <a:cs typeface="Times New Roman" panose="02020603050405020304" pitchFamily="18" charset="0"/>
              </a:rPr>
              <a:t>Vlissides</a:t>
            </a:r>
            <a:r>
              <a:rPr lang="en-US" altLang="en-US" sz="2800" dirty="0">
                <a:cs typeface="Times New Roman" panose="02020603050405020304" pitchFamily="18" charset="0"/>
              </a:rPr>
              <a:t> - Design Patterns_ Elements of Reusable Object-Oriented Software-Addison-Wesley Professional (1994)</a:t>
            </a:r>
            <a:endParaRPr lang="en-US" altLang="en-U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800" dirty="0">
              <a:cs typeface="Times New Roman" panose="02020603050405020304" pitchFamily="18" charset="0"/>
            </a:endParaRPr>
          </a:p>
          <a:p>
            <a:pPr marL="552450" indent="-55245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600" dirty="0">
              <a:cs typeface="Times New Roman" panose="02020603050405020304" pitchFamily="18" charset="0"/>
            </a:endParaRPr>
          </a:p>
        </p:txBody>
      </p:sp>
      <p:sp>
        <p:nvSpPr>
          <p:cNvPr id="2" name="Título 1"/>
          <p:cNvSpPr>
            <a:spLocks noGrp="1"/>
          </p:cNvSpPr>
          <p:nvPr>
            <p:ph type="title"/>
          </p:nvPr>
        </p:nvSpPr>
        <p:spPr/>
        <p:txBody>
          <a:bodyPr/>
          <a:lstStyle/>
          <a:p>
            <a:r>
              <a:rPr lang="es-ES" dirty="0" smtClean="0"/>
              <a:t>Bibliografía :</a:t>
            </a:r>
            <a:endParaRPr lang="es-ES" dirty="0"/>
          </a:p>
        </p:txBody>
      </p:sp>
      <p:sp>
        <p:nvSpPr>
          <p:cNvPr id="3" name="Marcador de pie de página 2"/>
          <p:cNvSpPr>
            <a:spLocks noGrp="1"/>
          </p:cNvSpPr>
          <p:nvPr>
            <p:ph type="ftr" sz="quarter" idx="11"/>
          </p:nvPr>
        </p:nvSpPr>
        <p:spPr>
          <a:xfrm>
            <a:off x="3686184" y="6459785"/>
            <a:ext cx="5596963" cy="398215"/>
          </a:xfrm>
        </p:spPr>
        <p:txBody>
          <a:bodyPr/>
          <a:lstStyle/>
          <a:p>
            <a:r>
              <a:rPr lang="es-ES" dirty="0"/>
              <a:t>Marcos de Trabajo y </a:t>
            </a:r>
            <a:br>
              <a:rPr lang="es-ES" dirty="0"/>
            </a:br>
            <a:r>
              <a:rPr lang="es-ES" dirty="0"/>
              <a:t>Patrones de Diseño</a:t>
            </a:r>
          </a:p>
        </p:txBody>
      </p:sp>
    </p:spTree>
    <p:extLst>
      <p:ext uri="{BB962C8B-B14F-4D97-AF65-F5344CB8AC3E}">
        <p14:creationId xmlns:p14="http://schemas.microsoft.com/office/powerpoint/2010/main" val="1971380780"/>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r>
              <a:rPr lang="es-ES" dirty="0" smtClean="0"/>
              <a:t>¿Qué podemos entender por </a:t>
            </a:r>
            <a:r>
              <a:rPr lang="es-ES" dirty="0"/>
              <a:t>Marcos de Trabajo (</a:t>
            </a:r>
            <a:r>
              <a:rPr lang="es-ES" dirty="0" err="1"/>
              <a:t>Frameworks</a:t>
            </a:r>
            <a:r>
              <a:rPr lang="es-ES" dirty="0"/>
              <a:t>) </a:t>
            </a:r>
            <a:r>
              <a:rPr lang="es-ES" dirty="0" smtClean="0"/>
              <a:t>? </a:t>
            </a:r>
            <a:endParaRPr lang="es-ES" dirty="0"/>
          </a:p>
        </p:txBody>
      </p:sp>
      <p:sp>
        <p:nvSpPr>
          <p:cNvPr id="3" name="Marcador de contenido 2"/>
          <p:cNvSpPr>
            <a:spLocks noGrp="1"/>
          </p:cNvSpPr>
          <p:nvPr>
            <p:ph idx="1"/>
          </p:nvPr>
        </p:nvSpPr>
        <p:spPr>
          <a:xfrm>
            <a:off x="965143" y="1744266"/>
            <a:ext cx="10058400" cy="4159577"/>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Un Marco de Trabajo de Software (Framework) es una arquitectura reusable que describe la estructura y el comportamiento genéricos de una familia de abstracciones de software, junto a una especificación de cómo colaboran y se usan en un cierto dominio.</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3805793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r>
              <a:rPr lang="es-ES" dirty="0" smtClean="0"/>
              <a:t>¿Qué podemos entender por </a:t>
            </a:r>
            <a:r>
              <a:rPr lang="es-ES" dirty="0"/>
              <a:t>Marcos de Trabajo (MT ) </a:t>
            </a:r>
            <a:r>
              <a:rPr lang="es-ES" dirty="0" smtClean="0"/>
              <a:t>?  Según </a:t>
            </a:r>
            <a:r>
              <a:rPr lang="es-ES" dirty="0" err="1" smtClean="0"/>
              <a:t>GoF</a:t>
            </a:r>
            <a:endParaRPr lang="es-ES" dirty="0"/>
          </a:p>
        </p:txBody>
      </p:sp>
      <p:sp>
        <p:nvSpPr>
          <p:cNvPr id="3" name="Marcador de contenido 2"/>
          <p:cNvSpPr>
            <a:spLocks noGrp="1"/>
          </p:cNvSpPr>
          <p:nvPr>
            <p:ph idx="1"/>
          </p:nvPr>
        </p:nvSpPr>
        <p:spPr>
          <a:xfrm>
            <a:off x="965143" y="1744266"/>
            <a:ext cx="10058400" cy="4159577"/>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Un MT es un conjunto de clases que conforman un diseño reusable para una cierta clase de software. </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Brinda </a:t>
            </a:r>
            <a:r>
              <a:rPr lang="es-ES" sz="3600" dirty="0"/>
              <a:t>una guía arquitectónica </a:t>
            </a:r>
            <a:r>
              <a:rPr lang="es-ES" sz="3600" dirty="0" err="1"/>
              <a:t>particionando</a:t>
            </a:r>
            <a:r>
              <a:rPr lang="es-ES" sz="3600" dirty="0"/>
              <a:t> el diseño en clases abstractas y definiendo sus responsabilidades y colaboraciones. Un desarrollador </a:t>
            </a:r>
            <a:r>
              <a:rPr lang="es-ES" sz="3600" dirty="0" smtClean="0"/>
              <a:t>personaliza un </a:t>
            </a:r>
            <a:r>
              <a:rPr lang="es-ES" sz="3600" dirty="0"/>
              <a:t>MT a una aplicación particular a través de los mecanismos de herencia y composición de clases. </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24885090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r>
              <a:rPr lang="es-ES" dirty="0"/>
              <a:t>Ventajas MT </a:t>
            </a:r>
          </a:p>
        </p:txBody>
      </p:sp>
      <p:sp>
        <p:nvSpPr>
          <p:cNvPr id="3" name="Marcador de contenido 2"/>
          <p:cNvSpPr>
            <a:spLocks noGrp="1"/>
          </p:cNvSpPr>
          <p:nvPr>
            <p:ph idx="1"/>
          </p:nvPr>
        </p:nvSpPr>
        <p:spPr>
          <a:xfrm>
            <a:off x="965143" y="1744266"/>
            <a:ext cx="10058400" cy="4159577"/>
          </a:xfrm>
        </p:spPr>
        <p:txBody>
          <a:bodyPr>
            <a:noAutofit/>
          </a:bodyPr>
          <a:lstStyle/>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Un marco de trabajo generalmente implementa uno o más patrones </a:t>
            </a:r>
            <a:r>
              <a:rPr lang="es-ES" sz="3600" dirty="0" smtClean="0"/>
              <a:t>de </a:t>
            </a:r>
            <a:r>
              <a:rPr lang="es-ES" sz="3600" dirty="0"/>
              <a:t>un sistema o de sus </a:t>
            </a:r>
            <a:r>
              <a:rPr lang="es-ES" sz="3600" dirty="0" smtClean="0"/>
              <a:t>partes</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smtClean="0"/>
              <a:t>Reducción </a:t>
            </a:r>
            <a:r>
              <a:rPr lang="es-ES" sz="3600" dirty="0"/>
              <a:t>de los costos de producción</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En principio debe ayudar a elevar la calidad final del </a:t>
            </a:r>
            <a:r>
              <a:rPr lang="es-ES" sz="3600" dirty="0" smtClean="0"/>
              <a:t>producto</a:t>
            </a:r>
            <a:endParaRPr lang="es-ES" sz="36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8239514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r>
              <a:rPr lang="es-ES_tradnl" dirty="0"/>
              <a:t>Patrones: Objetivos</a:t>
            </a:r>
            <a:endParaRPr lang="es-ES" dirty="0"/>
          </a:p>
        </p:txBody>
      </p:sp>
      <p:sp>
        <p:nvSpPr>
          <p:cNvPr id="3" name="Marcador de contenido 2"/>
          <p:cNvSpPr>
            <a:spLocks noGrp="1"/>
          </p:cNvSpPr>
          <p:nvPr>
            <p:ph idx="1"/>
          </p:nvPr>
        </p:nvSpPr>
        <p:spPr>
          <a:xfrm>
            <a:off x="965143" y="1744266"/>
            <a:ext cx="10058400" cy="4159577"/>
          </a:xfrm>
        </p:spPr>
        <p:txBody>
          <a:bodyPr>
            <a:noAutofit/>
          </a:bodyPr>
          <a:lstStyle/>
          <a:p>
            <a:pPr marL="566928" indent="-457200">
              <a:spcAft>
                <a:spcPts val="0"/>
              </a:spcAft>
              <a:buFont typeface="Wingdings" pitchFamily="2" charset="2"/>
              <a:buChar char="Ø"/>
              <a:defRPr/>
            </a:pPr>
            <a:r>
              <a:rPr lang="es-ES" sz="2800" dirty="0"/>
              <a:t>El objetivo principal de los que se ocupan de patrones de software es crear una literatura, con un lenguaje común y de comprensión generalizada que ayude a los desarrolladores de software a comprender y aprovechar las experiencias de otros en la solución de problemas recurrentes</a:t>
            </a:r>
          </a:p>
          <a:p>
            <a:pPr marL="566928" indent="-457200">
              <a:spcAft>
                <a:spcPts val="0"/>
              </a:spcAft>
              <a:buFont typeface="Wingdings" pitchFamily="2" charset="2"/>
              <a:buChar char="Ø"/>
              <a:defRPr/>
            </a:pPr>
            <a:endParaRPr lang="es-ES" sz="2800" dirty="0"/>
          </a:p>
          <a:p>
            <a:pPr marL="566928" indent="-457200">
              <a:spcAft>
                <a:spcPts val="0"/>
              </a:spcAft>
              <a:buFont typeface="Wingdings" pitchFamily="2" charset="2"/>
              <a:buChar char="Ø"/>
              <a:defRPr/>
            </a:pPr>
            <a:r>
              <a:rPr lang="es-ES" sz="2800" dirty="0"/>
              <a:t>El foco principal está alrededor de la creación de una cultura de documentación y transmisión de experiencia en el área del análisis y diseño de problemas de </a:t>
            </a:r>
            <a:r>
              <a:rPr lang="es-ES" sz="2800" dirty="0" smtClean="0"/>
              <a:t>software</a:t>
            </a:r>
            <a:endParaRPr lang="es-ES_tradnl"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1985837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Historia</a:t>
            </a:r>
            <a:endParaRPr lang="es-ES" dirty="0"/>
          </a:p>
        </p:txBody>
      </p:sp>
      <p:sp>
        <p:nvSpPr>
          <p:cNvPr id="3" name="Marcador de contenido 2"/>
          <p:cNvSpPr>
            <a:spLocks noGrp="1"/>
          </p:cNvSpPr>
          <p:nvPr>
            <p:ph idx="1"/>
          </p:nvPr>
        </p:nvSpPr>
        <p:spPr>
          <a:xfrm>
            <a:off x="965142" y="1744266"/>
            <a:ext cx="10941935" cy="4159577"/>
          </a:xfrm>
        </p:spPr>
        <p:txBody>
          <a:bodyPr>
            <a:noAutofit/>
          </a:bodyPr>
          <a:lstStyle/>
          <a:p>
            <a:pPr marL="566928" indent="-457200">
              <a:spcAft>
                <a:spcPts val="0"/>
              </a:spcAft>
              <a:buFont typeface="Wingdings" pitchFamily="2" charset="2"/>
              <a:buChar char="Ø"/>
              <a:defRPr/>
            </a:pPr>
            <a:r>
              <a:rPr lang="es-ES" sz="2800" dirty="0"/>
              <a:t>El concepto de patrones y gran parte de la terminología utilizada tiene su origen en los trabajos de Christopher Alexander en los 60 en diseño arquitectónico</a:t>
            </a:r>
          </a:p>
          <a:p>
            <a:pPr marL="566928" indent="-457200">
              <a:spcAft>
                <a:spcPts val="0"/>
              </a:spcAft>
              <a:buFont typeface="Wingdings" pitchFamily="2" charset="2"/>
              <a:buChar char="Ø"/>
              <a:defRPr/>
            </a:pPr>
            <a:r>
              <a:rPr lang="es-ES" sz="2800" dirty="0"/>
              <a:t> </a:t>
            </a:r>
            <a:r>
              <a:rPr lang="es-ES" sz="2800" dirty="0" smtClean="0"/>
              <a:t>En </a:t>
            </a:r>
            <a:r>
              <a:rPr lang="es-ES" sz="2800" dirty="0"/>
              <a:t>la industria del software se comenzaron a popularizar con el libro “</a:t>
            </a:r>
            <a:r>
              <a:rPr lang="es-ES" sz="2800" dirty="0" err="1"/>
              <a:t>Design</a:t>
            </a:r>
            <a:r>
              <a:rPr lang="es-ES" sz="2800" dirty="0"/>
              <a:t> </a:t>
            </a:r>
            <a:r>
              <a:rPr lang="es-ES" sz="2800" dirty="0" err="1"/>
              <a:t>Patterns</a:t>
            </a:r>
            <a:r>
              <a:rPr lang="es-ES" sz="2800" dirty="0"/>
              <a:t>: </a:t>
            </a:r>
            <a:r>
              <a:rPr lang="es-ES" sz="2800" dirty="0" err="1"/>
              <a:t>Elements</a:t>
            </a:r>
            <a:r>
              <a:rPr lang="es-ES" sz="2800" dirty="0"/>
              <a:t> of Reusable </a:t>
            </a:r>
            <a:r>
              <a:rPr lang="es-ES" sz="2800" dirty="0" err="1"/>
              <a:t>Object-Oriented</a:t>
            </a:r>
            <a:r>
              <a:rPr lang="es-ES" sz="2800" dirty="0"/>
              <a:t> Software” escrito por Erich Gamma, Richard </a:t>
            </a:r>
            <a:r>
              <a:rPr lang="es-ES" sz="2800" dirty="0" err="1"/>
              <a:t>Helm</a:t>
            </a:r>
            <a:r>
              <a:rPr lang="es-ES" sz="2800" dirty="0"/>
              <a:t>, Ralph Johnson y John </a:t>
            </a:r>
            <a:r>
              <a:rPr lang="es-ES" sz="2800" dirty="0" err="1"/>
              <a:t>Vlissides</a:t>
            </a:r>
            <a:r>
              <a:rPr lang="es-ES" sz="2800" dirty="0"/>
              <a:t>, conocidos como la Banda de los Cuatro (</a:t>
            </a:r>
            <a:r>
              <a:rPr lang="es-ES" sz="2800" dirty="0" err="1"/>
              <a:t>Gang</a:t>
            </a:r>
            <a:r>
              <a:rPr lang="es-ES" sz="2800" dirty="0"/>
              <a:t> of </a:t>
            </a:r>
            <a:r>
              <a:rPr lang="es-ES" sz="2800" dirty="0" err="1"/>
              <a:t>Four</a:t>
            </a:r>
            <a:r>
              <a:rPr lang="es-ES" sz="2800" dirty="0"/>
              <a:t> o </a:t>
            </a:r>
            <a:r>
              <a:rPr lang="es-ES" sz="2800" dirty="0" err="1"/>
              <a:t>GoF</a:t>
            </a:r>
            <a:r>
              <a:rPr lang="es-ES" sz="2800" dirty="0"/>
              <a:t>), pero sus </a:t>
            </a:r>
            <a:r>
              <a:rPr lang="es-ES" sz="2800" dirty="0" err="1"/>
              <a:t>origenes</a:t>
            </a:r>
            <a:r>
              <a:rPr lang="es-ES" sz="2800" dirty="0"/>
              <a:t> son anteriores a esto. </a:t>
            </a:r>
          </a:p>
          <a:p>
            <a:pPr marL="621792" lvl="1">
              <a:spcBef>
                <a:spcPts val="324"/>
              </a:spcBef>
              <a:spcAft>
                <a:spcPts val="0"/>
              </a:spcAft>
              <a:buFont typeface="Verdana"/>
              <a:buChar char="◦"/>
              <a:defRPr/>
            </a:pPr>
            <a:endParaRPr lang="es-ES_tradnl"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2853385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Definiciones</a:t>
            </a:r>
            <a:endParaRPr lang="es-ES" dirty="0"/>
          </a:p>
        </p:txBody>
      </p:sp>
      <p:sp>
        <p:nvSpPr>
          <p:cNvPr id="3" name="Marcador de contenido 2"/>
          <p:cNvSpPr>
            <a:spLocks noGrp="1"/>
          </p:cNvSpPr>
          <p:nvPr>
            <p:ph idx="1"/>
          </p:nvPr>
        </p:nvSpPr>
        <p:spPr>
          <a:xfrm>
            <a:off x="318052" y="1744266"/>
            <a:ext cx="11589025" cy="4676412"/>
          </a:xfrm>
        </p:spPr>
        <p:txBody>
          <a:bodyPr>
            <a:noAutofit/>
          </a:bodyPr>
          <a:lstStyle/>
          <a:p>
            <a:pPr marL="566928" indent="-457200">
              <a:spcAft>
                <a:spcPts val="0"/>
              </a:spcAft>
              <a:buFont typeface="Wingdings" pitchFamily="2" charset="2"/>
              <a:buChar char="Ø"/>
              <a:defRPr/>
            </a:pPr>
            <a:r>
              <a:rPr lang="es-ES" sz="2800" dirty="0"/>
              <a:t>Cada patrón es una regla de tres partes que expresa una relación entre un cierto contexto, un problema y una solución </a:t>
            </a:r>
          </a:p>
          <a:p>
            <a:pPr marL="566928" indent="-457200">
              <a:spcAft>
                <a:spcPts val="0"/>
              </a:spcAft>
              <a:buFont typeface="Wingdings" pitchFamily="2" charset="2"/>
              <a:buChar char="Ø"/>
              <a:defRPr/>
            </a:pPr>
            <a:r>
              <a:rPr lang="es-ES" sz="2800" dirty="0"/>
              <a:t>“Un patrón es una abstracción de una forma concreta que se conserva recurrente en  ciertos contextos no arbitrarios</a:t>
            </a:r>
            <a:r>
              <a:rPr lang="es-ES" sz="2800" dirty="0" smtClean="0"/>
              <a:t>” ("</a:t>
            </a:r>
            <a:r>
              <a:rPr lang="es-ES" sz="2800" i="1" dirty="0" err="1"/>
              <a:t>Understanding</a:t>
            </a:r>
            <a:r>
              <a:rPr lang="es-ES" sz="2800" i="1" dirty="0"/>
              <a:t> and </a:t>
            </a:r>
            <a:r>
              <a:rPr lang="es-ES" sz="2800" i="1" dirty="0" err="1"/>
              <a:t>Using</a:t>
            </a:r>
            <a:r>
              <a:rPr lang="es-ES" sz="2800" i="1" dirty="0"/>
              <a:t> </a:t>
            </a:r>
            <a:r>
              <a:rPr lang="es-ES" sz="2800" i="1" dirty="0" err="1"/>
              <a:t>Patterns</a:t>
            </a:r>
            <a:r>
              <a:rPr lang="es-ES" sz="2800" i="1" dirty="0"/>
              <a:t> in Software </a:t>
            </a:r>
            <a:r>
              <a:rPr lang="es-ES" sz="2800" i="1" dirty="0" err="1"/>
              <a:t>Development</a:t>
            </a:r>
            <a:r>
              <a:rPr lang="es-ES" sz="2800" i="1" dirty="0"/>
              <a:t>", </a:t>
            </a:r>
            <a:r>
              <a:rPr lang="es-ES" sz="2800" i="1" dirty="0" err="1"/>
              <a:t>Dirk</a:t>
            </a:r>
            <a:r>
              <a:rPr lang="es-ES" sz="2800" i="1" dirty="0"/>
              <a:t> </a:t>
            </a:r>
            <a:r>
              <a:rPr lang="es-ES" sz="2800" i="1" dirty="0" err="1"/>
              <a:t>Riehle</a:t>
            </a:r>
            <a:r>
              <a:rPr lang="es-ES" sz="2800" i="1" dirty="0"/>
              <a:t> y Heinz </a:t>
            </a:r>
            <a:r>
              <a:rPr lang="es-ES" sz="2800" i="1" dirty="0" err="1" smtClean="0"/>
              <a:t>Zullighoven</a:t>
            </a:r>
            <a:endParaRPr lang="es-ES" sz="2800" i="1" dirty="0" smtClean="0"/>
          </a:p>
          <a:p>
            <a:pPr marL="566928" indent="-457200">
              <a:spcAft>
                <a:spcPts val="0"/>
              </a:spcAft>
              <a:buFont typeface="Wingdings" pitchFamily="2" charset="2"/>
              <a:buChar char="Ø"/>
              <a:defRPr/>
            </a:pPr>
            <a:r>
              <a:rPr lang="es-ES" sz="2800" dirty="0"/>
              <a:t>Un patrón es una regla con tres partes, que expresa una relación entre un cierto contexto, un conjunto de fuerzas que aparecen en ese contexto y una cierta solución de software que permite que estas fuerzas se equilibren a si mismas. </a:t>
            </a:r>
            <a:r>
              <a:rPr lang="es-ES" sz="2800" dirty="0" smtClean="0"/>
              <a:t>(</a:t>
            </a:r>
            <a:r>
              <a:rPr lang="es-ES" sz="2800" i="1" dirty="0"/>
              <a:t>Richard Gabriel, “</a:t>
            </a:r>
            <a:r>
              <a:rPr lang="es-ES" sz="2800" i="1" dirty="0" err="1"/>
              <a:t>Patterns</a:t>
            </a:r>
            <a:r>
              <a:rPr lang="es-ES" sz="2800" i="1" dirty="0"/>
              <a:t> of Software: Tales </a:t>
            </a:r>
            <a:r>
              <a:rPr lang="es-ES" sz="2800" i="1" dirty="0" err="1"/>
              <a:t>From</a:t>
            </a:r>
            <a:r>
              <a:rPr lang="es-ES" sz="2800" i="1" dirty="0"/>
              <a:t> </a:t>
            </a:r>
            <a:r>
              <a:rPr lang="es-ES" sz="2800" i="1" dirty="0" err="1"/>
              <a:t>the</a:t>
            </a:r>
            <a:r>
              <a:rPr lang="es-ES" sz="2800" i="1" dirty="0"/>
              <a:t> Software </a:t>
            </a:r>
            <a:r>
              <a:rPr lang="es-ES" sz="2800" i="1" dirty="0" err="1"/>
              <a:t>Community</a:t>
            </a:r>
            <a:r>
              <a:rPr lang="es-ES" sz="2800" i="1" dirty="0"/>
              <a:t>”)</a:t>
            </a:r>
          </a:p>
          <a:p>
            <a:pPr marL="566928" indent="-457200">
              <a:spcAft>
                <a:spcPts val="0"/>
              </a:spcAft>
              <a:buFont typeface="Wingdings" pitchFamily="2" charset="2"/>
              <a:buChar char="Ø"/>
              <a:defRPr/>
            </a:pPr>
            <a:endParaRPr lang="es-ES_tradnl"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11672254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Definiciones</a:t>
            </a:r>
            <a:endParaRPr lang="es-ES" dirty="0"/>
          </a:p>
        </p:txBody>
      </p:sp>
      <p:sp>
        <p:nvSpPr>
          <p:cNvPr id="3" name="Marcador de contenido 2"/>
          <p:cNvSpPr>
            <a:spLocks noGrp="1"/>
          </p:cNvSpPr>
          <p:nvPr>
            <p:ph idx="1"/>
          </p:nvPr>
        </p:nvSpPr>
        <p:spPr>
          <a:xfrm>
            <a:off x="965142" y="1744266"/>
            <a:ext cx="10941935" cy="4159577"/>
          </a:xfrm>
        </p:spPr>
        <p:txBody>
          <a:bodyPr>
            <a:noAutofit/>
          </a:bodyPr>
          <a:lstStyle/>
          <a:p>
            <a:pPr marL="566928" indent="-457200">
              <a:spcAft>
                <a:spcPts val="0"/>
              </a:spcAft>
              <a:buFont typeface="Wingdings" pitchFamily="2" charset="2"/>
              <a:buChar char="Ø"/>
              <a:defRPr/>
            </a:pPr>
            <a:r>
              <a:rPr lang="es-ES" sz="3200" dirty="0"/>
              <a:t>“Relacionemos esta definición con los patrones de costura. Puedo decirle a </a:t>
            </a:r>
            <a:r>
              <a:rPr lang="es-ES" sz="3200" dirty="0" err="1"/>
              <a:t>Ud</a:t>
            </a:r>
            <a:r>
              <a:rPr lang="es-ES" sz="3200" dirty="0"/>
              <a:t> como hacer un vestido especificando con precisión la ruta que deben seguir las tijeras sobre la tela en términos de ángulos y longitudes de cortes o puedo darle un patrón de corte. Al leer la especificación no tendrá una idea de lo que va a hacer. El patrón nos da una pre imagen del producto, es una regla para hacer un producto, pero es también en muchas ocasiones el producto en sí mismo” </a:t>
            </a:r>
            <a:r>
              <a:rPr lang="es-ES" sz="3200" i="1" dirty="0" smtClean="0"/>
              <a:t>(“</a:t>
            </a:r>
            <a:r>
              <a:rPr lang="es-ES" sz="3200" i="1" dirty="0"/>
              <a:t>Software </a:t>
            </a:r>
            <a:r>
              <a:rPr lang="es-ES" sz="3200" i="1" dirty="0" err="1"/>
              <a:t>Patterns</a:t>
            </a:r>
            <a:r>
              <a:rPr lang="es-ES" sz="3200" i="1" dirty="0"/>
              <a:t>”, </a:t>
            </a:r>
            <a:r>
              <a:rPr lang="es-ES" sz="3200" i="1" dirty="0" err="1"/>
              <a:t>Jim</a:t>
            </a:r>
            <a:r>
              <a:rPr lang="es-ES" sz="3200" i="1" dirty="0"/>
              <a:t> </a:t>
            </a:r>
            <a:r>
              <a:rPr lang="es-ES" sz="3200" i="1" dirty="0" err="1"/>
              <a:t>Coplien</a:t>
            </a:r>
            <a:r>
              <a:rPr lang="es-ES" sz="3200" dirty="0"/>
              <a:t>)</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100055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Tipos de Patrones</a:t>
            </a:r>
            <a:endParaRPr lang="es-ES" dirty="0"/>
          </a:p>
        </p:txBody>
      </p:sp>
      <p:sp>
        <p:nvSpPr>
          <p:cNvPr id="3" name="Marcador de contenido 2"/>
          <p:cNvSpPr>
            <a:spLocks noGrp="1"/>
          </p:cNvSpPr>
          <p:nvPr>
            <p:ph idx="1"/>
          </p:nvPr>
        </p:nvSpPr>
        <p:spPr>
          <a:xfrm>
            <a:off x="965142" y="1744266"/>
            <a:ext cx="10941935" cy="4159577"/>
          </a:xfrm>
        </p:spPr>
        <p:txBody>
          <a:bodyPr>
            <a:noAutofit/>
          </a:bodyPr>
          <a:lstStyle/>
          <a:p>
            <a:pPr marL="566928" indent="-457200">
              <a:spcAft>
                <a:spcPts val="0"/>
              </a:spcAft>
              <a:buFont typeface="Wingdings" pitchFamily="2" charset="2"/>
              <a:buChar char="Ø"/>
              <a:defRPr/>
            </a:pPr>
            <a:r>
              <a:rPr lang="es-ES" sz="3200" dirty="0"/>
              <a:t>Como consecuencia del libro de </a:t>
            </a:r>
            <a:r>
              <a:rPr lang="es-ES" sz="3200" dirty="0" err="1" smtClean="0"/>
              <a:t>GoF</a:t>
            </a:r>
            <a:r>
              <a:rPr lang="es-ES" sz="3200" dirty="0" smtClean="0"/>
              <a:t> , </a:t>
            </a:r>
            <a:r>
              <a:rPr lang="es-ES" sz="3200" dirty="0"/>
              <a:t>que se refiere esencialmente a Patrones de Diseño Orientados a Objeto, este ha sido el tipo de patrón mas utilizado en la industria del software, pero realmente hay muchos mas tipos</a:t>
            </a:r>
          </a:p>
          <a:p>
            <a:pPr marL="566928" indent="-457200">
              <a:spcAft>
                <a:spcPts val="0"/>
              </a:spcAft>
              <a:buFont typeface="Wingdings" pitchFamily="2" charset="2"/>
              <a:buChar char="Ø"/>
              <a:defRPr/>
            </a:pPr>
            <a:r>
              <a:rPr lang="es-ES" sz="3200" dirty="0"/>
              <a:t>Se habla de patrones para para el Proceso de Software, Planeamiento, Interfaz Usuario, Acceso a </a:t>
            </a:r>
            <a:r>
              <a:rPr lang="es-ES" sz="3200" dirty="0" smtClean="0"/>
              <a:t>Datos</a:t>
            </a:r>
            <a:r>
              <a:rPr lang="es-ES" sz="3200" dirty="0"/>
              <a:t>, </a:t>
            </a:r>
            <a:r>
              <a:rPr lang="es-ES" sz="3200" dirty="0" smtClean="0"/>
              <a:t>Análisis </a:t>
            </a:r>
            <a:r>
              <a:rPr lang="es-ES" sz="3200" dirty="0"/>
              <a:t>de Requerimientos, </a:t>
            </a:r>
            <a:r>
              <a:rPr lang="es-ES" sz="3200" dirty="0" err="1"/>
              <a:t>etc</a:t>
            </a:r>
            <a:endParaRPr lang="es-ES" sz="32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4292259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a:t>¿</a:t>
            </a:r>
            <a:r>
              <a:rPr lang="en-US" dirty="0" err="1"/>
              <a:t>Qué</a:t>
            </a:r>
            <a:r>
              <a:rPr lang="en-US" dirty="0"/>
              <a:t> son los </a:t>
            </a:r>
            <a:r>
              <a:rPr lang="en-US" dirty="0" err="1"/>
              <a:t>patrones</a:t>
            </a:r>
            <a:r>
              <a:rPr lang="en-US" dirty="0"/>
              <a:t> de </a:t>
            </a:r>
            <a:r>
              <a:rPr lang="en-US" dirty="0" err="1" smtClean="0"/>
              <a:t>diseño</a:t>
            </a:r>
            <a:r>
              <a:rPr lang="en-US" dirty="0" smtClean="0"/>
              <a:t> OO? </a:t>
            </a:r>
            <a:endParaRPr lang="es-ES" dirty="0"/>
          </a:p>
        </p:txBody>
      </p:sp>
      <p:sp>
        <p:nvSpPr>
          <p:cNvPr id="3" name="Marcador de contenido 2"/>
          <p:cNvSpPr>
            <a:spLocks noGrp="1"/>
          </p:cNvSpPr>
          <p:nvPr>
            <p:ph idx="1"/>
          </p:nvPr>
        </p:nvSpPr>
        <p:spPr>
          <a:xfrm>
            <a:off x="965142" y="1744266"/>
            <a:ext cx="10941935" cy="4159577"/>
          </a:xfrm>
        </p:spPr>
        <p:txBody>
          <a:bodyPr>
            <a:noAutofit/>
          </a:bodyPr>
          <a:lstStyle/>
          <a:p>
            <a:pPr marL="566928" indent="-457200">
              <a:spcAft>
                <a:spcPts val="0"/>
              </a:spcAft>
              <a:buFont typeface="Wingdings" pitchFamily="2" charset="2"/>
              <a:buChar char="Ø"/>
              <a:defRPr/>
            </a:pPr>
            <a:r>
              <a:rPr lang="es-ES" sz="3200" dirty="0"/>
              <a:t>Son soluciones simples a problemas concretos, que ocurren comúnmente  durante la etapa de diseño OO. </a:t>
            </a:r>
          </a:p>
          <a:p>
            <a:pPr marL="566928" indent="-457200">
              <a:spcAft>
                <a:spcPts val="0"/>
              </a:spcAft>
              <a:buFont typeface="Wingdings" pitchFamily="2" charset="2"/>
              <a:buChar char="Ø"/>
              <a:defRPr/>
            </a:pPr>
            <a:endParaRPr lang="es-ES" sz="3200" dirty="0"/>
          </a:p>
          <a:p>
            <a:pPr marL="566928" indent="-457200">
              <a:spcAft>
                <a:spcPts val="0"/>
              </a:spcAft>
              <a:buFont typeface="Wingdings" pitchFamily="2" charset="2"/>
              <a:buChar char="Ø"/>
              <a:defRPr/>
            </a:pPr>
            <a:r>
              <a:rPr lang="es-ES" sz="3200" dirty="0"/>
              <a:t>Son soluciones que se ha demostrado que funcionan, aplicándolas en varios proyectos</a:t>
            </a:r>
          </a:p>
        </p:txBody>
      </p:sp>
      <p:sp>
        <p:nvSpPr>
          <p:cNvPr id="5" name="Marcador de pie de página 2"/>
          <p:cNvSpPr>
            <a:spLocks noGrp="1"/>
          </p:cNvSpPr>
          <p:nvPr>
            <p:ph type="ftr" sz="quarter" idx="11"/>
          </p:nvPr>
        </p:nvSpPr>
        <p:spPr>
          <a:xfrm>
            <a:off x="3606671" y="649287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904235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s-ES" dirty="0"/>
              <a:t>Patrones de diseño OO</a:t>
            </a:r>
            <a:br>
              <a:rPr lang="es-ES" dirty="0"/>
            </a:br>
            <a:endParaRPr lang="es-ES" dirty="0"/>
          </a:p>
        </p:txBody>
      </p:sp>
      <p:sp>
        <p:nvSpPr>
          <p:cNvPr id="3" name="Marcador de contenido 2"/>
          <p:cNvSpPr>
            <a:spLocks noGrp="1"/>
          </p:cNvSpPr>
          <p:nvPr>
            <p:ph idx="1"/>
          </p:nvPr>
        </p:nvSpPr>
        <p:spPr>
          <a:xfrm>
            <a:off x="885629" y="2141831"/>
            <a:ext cx="10941935" cy="4159577"/>
          </a:xfrm>
        </p:spPr>
        <p:txBody>
          <a:bodyPr>
            <a:noAutofit/>
          </a:bodyPr>
          <a:lstStyle/>
          <a:p>
            <a:pPr>
              <a:buFont typeface="Wingdings" pitchFamily="2" charset="2"/>
              <a:buChar char="Ø"/>
            </a:pPr>
            <a:r>
              <a:rPr lang="es-ES" sz="4000" dirty="0" smtClean="0"/>
              <a:t>Patrones </a:t>
            </a:r>
            <a:r>
              <a:rPr lang="es-ES" sz="4000" dirty="0"/>
              <a:t>de creación</a:t>
            </a:r>
          </a:p>
          <a:p>
            <a:pPr>
              <a:buFont typeface="Wingdings" pitchFamily="2" charset="2"/>
              <a:buChar char="Ø"/>
            </a:pPr>
            <a:r>
              <a:rPr lang="es-ES" sz="4000" dirty="0"/>
              <a:t>Patrones estructurales</a:t>
            </a:r>
          </a:p>
          <a:p>
            <a:pPr>
              <a:buFont typeface="Wingdings" pitchFamily="2" charset="2"/>
              <a:buChar char="Ø"/>
            </a:pPr>
            <a:r>
              <a:rPr lang="es-ES" sz="4000" dirty="0"/>
              <a:t>Patrones de comportamiento</a:t>
            </a:r>
          </a:p>
          <a:p>
            <a:pPr marL="109728" indent="0" algn="ctr">
              <a:spcAft>
                <a:spcPts val="0"/>
              </a:spcAft>
              <a:buNone/>
              <a:defRPr/>
            </a:pPr>
            <a:endParaRPr lang="es-ES" sz="4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5357170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Patrones</a:t>
            </a:r>
            <a:r>
              <a:rPr lang="en-US" dirty="0"/>
              <a:t> de </a:t>
            </a:r>
            <a:r>
              <a:rPr lang="en-US" dirty="0" err="1"/>
              <a:t>creación</a:t>
            </a:r>
            <a:endParaRPr lang="es-ES" dirty="0"/>
          </a:p>
        </p:txBody>
      </p:sp>
      <p:sp>
        <p:nvSpPr>
          <p:cNvPr id="3" name="Marcador de contenido 2"/>
          <p:cNvSpPr>
            <a:spLocks noGrp="1"/>
          </p:cNvSpPr>
          <p:nvPr>
            <p:ph idx="1"/>
          </p:nvPr>
        </p:nvSpPr>
        <p:spPr>
          <a:xfrm>
            <a:off x="965142" y="1888436"/>
            <a:ext cx="10941935" cy="4532242"/>
          </a:xfrm>
        </p:spPr>
        <p:txBody>
          <a:bodyPr>
            <a:noAutofit/>
          </a:bodyPr>
          <a:lstStyle/>
          <a:p>
            <a:pPr marL="566928" indent="-457200">
              <a:spcAft>
                <a:spcPts val="0"/>
              </a:spcAft>
              <a:buFont typeface="Wingdings" pitchFamily="2" charset="2"/>
              <a:buChar char="Ø"/>
              <a:defRPr/>
            </a:pPr>
            <a:r>
              <a:rPr lang="es-ES" sz="3200" dirty="0"/>
              <a:t>Los patrones de creación abstraen la forma en la que se crean los objetos, permitiendo tratar las clases a crear de forma genérica dejando para más tarde la decisión de qué clases crear o cómo crearlas</a:t>
            </a:r>
            <a:r>
              <a:rPr lang="es-ES" sz="3200" dirty="0" smtClean="0"/>
              <a:t>.</a:t>
            </a:r>
          </a:p>
          <a:p>
            <a:pPr marL="566928" indent="-457200">
              <a:spcAft>
                <a:spcPts val="0"/>
              </a:spcAft>
              <a:buFont typeface="Wingdings" pitchFamily="2" charset="2"/>
              <a:buChar char="Ø"/>
              <a:defRPr/>
            </a:pPr>
            <a:r>
              <a:rPr lang="es-ES" sz="3200" dirty="0" smtClean="0"/>
              <a:t>Nos </a:t>
            </a:r>
            <a:r>
              <a:rPr lang="es-ES" sz="3200" dirty="0"/>
              <a:t>ayudan a construir sistemas que son independientes de </a:t>
            </a:r>
            <a:r>
              <a:rPr lang="es-ES" sz="3200" dirty="0" smtClean="0"/>
              <a:t>cómo </a:t>
            </a:r>
            <a:r>
              <a:rPr lang="es-ES" sz="3200" dirty="0"/>
              <a:t>crean, componen y representan las instancias</a:t>
            </a:r>
          </a:p>
          <a:p>
            <a:pPr marL="566928" indent="-457200">
              <a:spcAft>
                <a:spcPts val="0"/>
              </a:spcAft>
              <a:buFont typeface="Wingdings" pitchFamily="2" charset="2"/>
              <a:buChar char="Ø"/>
              <a:defRPr/>
            </a:pPr>
            <a:r>
              <a:rPr lang="es-ES" sz="3200" dirty="0"/>
              <a:t>Estos patrones encapsulan el conocimiento acerca de que clases concretas el sistema debe usar y por otro lado ocultan como las instancias de estas clases son creadas y compuestas.</a:t>
            </a:r>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30312174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Patrones</a:t>
            </a:r>
            <a:r>
              <a:rPr lang="en-US" dirty="0"/>
              <a:t> de </a:t>
            </a:r>
            <a:r>
              <a:rPr lang="en-US" dirty="0" err="1"/>
              <a:t>creación</a:t>
            </a:r>
            <a:endParaRPr lang="es-ES" dirty="0"/>
          </a:p>
        </p:txBody>
      </p:sp>
      <p:sp>
        <p:nvSpPr>
          <p:cNvPr id="3" name="Marcador de contenido 2"/>
          <p:cNvSpPr>
            <a:spLocks noGrp="1"/>
          </p:cNvSpPr>
          <p:nvPr>
            <p:ph idx="1"/>
          </p:nvPr>
        </p:nvSpPr>
        <p:spPr>
          <a:xfrm>
            <a:off x="965142" y="2261100"/>
            <a:ext cx="10941935" cy="4159577"/>
          </a:xfrm>
        </p:spPr>
        <p:txBody>
          <a:bodyPr>
            <a:noAutofit/>
          </a:bodyPr>
          <a:lstStyle/>
          <a:p>
            <a:pPr marL="566928" indent="-457200">
              <a:spcAft>
                <a:spcPts val="0"/>
              </a:spcAft>
              <a:buFont typeface="Wingdings" pitchFamily="2" charset="2"/>
              <a:buChar char="Ø"/>
              <a:defRPr/>
            </a:pPr>
            <a:r>
              <a:rPr lang="es-ES" sz="3600" b="1" dirty="0" err="1"/>
              <a:t>Abstract</a:t>
            </a:r>
            <a:r>
              <a:rPr lang="es-ES" sz="3600" b="1" dirty="0"/>
              <a:t> Factory. </a:t>
            </a:r>
            <a:r>
              <a:rPr lang="es-ES" sz="3600" dirty="0"/>
              <a:t>Una propuesta de interfaz para crear familias de objetos, sin depender de sus clases concretas </a:t>
            </a:r>
            <a:endParaRPr lang="es-ES" sz="3600" dirty="0" smtClean="0"/>
          </a:p>
          <a:p>
            <a:pPr marL="566928" indent="-457200">
              <a:spcAft>
                <a:spcPts val="0"/>
              </a:spcAft>
              <a:buFont typeface="Wingdings" pitchFamily="2" charset="2"/>
              <a:buChar char="Ø"/>
              <a:defRPr/>
            </a:pPr>
            <a:r>
              <a:rPr lang="es-ES" sz="3600" b="1" dirty="0">
                <a:solidFill>
                  <a:srgbClr val="FF0000"/>
                </a:solidFill>
              </a:rPr>
              <a:t>Factory </a:t>
            </a:r>
            <a:r>
              <a:rPr lang="es-ES" sz="3600" b="1" dirty="0" err="1">
                <a:solidFill>
                  <a:srgbClr val="FF0000"/>
                </a:solidFill>
              </a:rPr>
              <a:t>Method</a:t>
            </a:r>
            <a:r>
              <a:rPr lang="es-ES" sz="3600" dirty="0"/>
              <a:t>: Define una interfaz para crear un objeto, pero deja que sean las subclases quienes decidan qué clase instanciar. Permite que una clase delegue en sus subclases la creación de objetos. </a:t>
            </a:r>
          </a:p>
          <a:p>
            <a:pPr marL="566928" indent="-457200">
              <a:spcAft>
                <a:spcPts val="0"/>
              </a:spcAft>
              <a:buFont typeface="Wingdings" pitchFamily="2" charset="2"/>
              <a:buChar char="Ø"/>
              <a:defRPr/>
            </a:pPr>
            <a:endParaRPr lang="es-ES" sz="2800" dirty="0"/>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3012479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Ejemplo: Patrón Factory </a:t>
            </a:r>
            <a:r>
              <a:rPr lang="es-ES_tradnl" dirty="0" err="1" smtClean="0"/>
              <a:t>Method</a:t>
            </a: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pic>
        <p:nvPicPr>
          <p:cNvPr id="1026" name="Picture 2" descr="https://www.dofactory.com/img/diagrams/net/factor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60462"/>
            <a:ext cx="5227983" cy="4580703"/>
          </a:xfrm>
          <a:prstGeom prst="rect">
            <a:avLst/>
          </a:prstGeom>
          <a:noFill/>
          <a:extLst>
            <a:ext uri="{909E8E84-426E-40DD-AFC4-6F175D3DCCD1}">
              <a14:hiddenFill xmlns:a14="http://schemas.microsoft.com/office/drawing/2010/main">
                <a:solidFill>
                  <a:srgbClr val="FFFFFF"/>
                </a:solidFill>
              </a14:hiddenFill>
            </a:ext>
          </a:extLst>
        </p:spPr>
      </p:pic>
      <p:sp>
        <p:nvSpPr>
          <p:cNvPr id="7" name="Marcador de contenido 2"/>
          <p:cNvSpPr txBox="1">
            <a:spLocks/>
          </p:cNvSpPr>
          <p:nvPr/>
        </p:nvSpPr>
        <p:spPr>
          <a:xfrm>
            <a:off x="5227983" y="1760462"/>
            <a:ext cx="6964017" cy="4580703"/>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Product</a:t>
            </a:r>
            <a:r>
              <a:rPr lang="en-US" dirty="0"/>
              <a:t>  (</a:t>
            </a:r>
            <a:r>
              <a:rPr lang="en-US" i="1" dirty="0"/>
              <a:t>Page</a:t>
            </a:r>
            <a:r>
              <a:rPr lang="en-US" dirty="0"/>
              <a:t>) </a:t>
            </a:r>
          </a:p>
          <a:p>
            <a:pPr lvl="1"/>
            <a:r>
              <a:rPr lang="es-ES" dirty="0"/>
              <a:t>define la interfaz de objetos que crea el método de </a:t>
            </a:r>
            <a:r>
              <a:rPr lang="es-ES" dirty="0" smtClean="0"/>
              <a:t>fábrica</a:t>
            </a:r>
          </a:p>
          <a:p>
            <a:r>
              <a:rPr lang="en-US" b="1" dirty="0" err="1" smtClean="0"/>
              <a:t>ConcreteProduct</a:t>
            </a:r>
            <a:r>
              <a:rPr lang="en-US" dirty="0"/>
              <a:t>  (</a:t>
            </a:r>
            <a:r>
              <a:rPr lang="en-US" dirty="0" err="1"/>
              <a:t>SkillsPage</a:t>
            </a:r>
            <a:r>
              <a:rPr lang="en-US" dirty="0"/>
              <a:t>, </a:t>
            </a:r>
            <a:r>
              <a:rPr lang="en-US" dirty="0" err="1"/>
              <a:t>EducationPage</a:t>
            </a:r>
            <a:r>
              <a:rPr lang="en-US" dirty="0"/>
              <a:t>, </a:t>
            </a:r>
            <a:r>
              <a:rPr lang="en-US" dirty="0" err="1"/>
              <a:t>ExperiencePage</a:t>
            </a:r>
            <a:r>
              <a:rPr lang="en-US" dirty="0"/>
              <a:t>) </a:t>
            </a:r>
          </a:p>
          <a:p>
            <a:pPr lvl="1"/>
            <a:r>
              <a:rPr lang="en-US" dirty="0" err="1"/>
              <a:t>implementa</a:t>
            </a:r>
            <a:r>
              <a:rPr lang="en-US" dirty="0"/>
              <a:t> la </a:t>
            </a:r>
            <a:r>
              <a:rPr lang="en-US" dirty="0" err="1"/>
              <a:t>interfaz</a:t>
            </a:r>
            <a:r>
              <a:rPr lang="en-US" dirty="0"/>
              <a:t> </a:t>
            </a:r>
            <a:r>
              <a:rPr lang="en-US" dirty="0" smtClean="0"/>
              <a:t>Product</a:t>
            </a:r>
          </a:p>
          <a:p>
            <a:r>
              <a:rPr lang="en-US" b="1" dirty="0" smtClean="0"/>
              <a:t>Creator</a:t>
            </a:r>
            <a:r>
              <a:rPr lang="en-US" dirty="0"/>
              <a:t>  (</a:t>
            </a:r>
            <a:r>
              <a:rPr lang="en-US" i="1" dirty="0"/>
              <a:t>Document</a:t>
            </a:r>
            <a:r>
              <a:rPr lang="en-US" dirty="0"/>
              <a:t>) </a:t>
            </a:r>
          </a:p>
          <a:p>
            <a:pPr lvl="1"/>
            <a:r>
              <a:rPr lang="es-ES" dirty="0"/>
              <a:t>declara el método de fábrica, que devuelve un objeto de tipo Producto. El creador también puede definir una implementación predeterminada del método de fábrica que devuelve un objeto </a:t>
            </a:r>
            <a:r>
              <a:rPr lang="es-ES" dirty="0" err="1"/>
              <a:t>ConcreteProduct</a:t>
            </a:r>
            <a:r>
              <a:rPr lang="es-ES" dirty="0"/>
              <a:t> predeterminado</a:t>
            </a:r>
            <a:r>
              <a:rPr lang="es-ES" dirty="0" smtClean="0"/>
              <a:t>.</a:t>
            </a:r>
          </a:p>
          <a:p>
            <a:pPr lvl="1"/>
            <a:r>
              <a:rPr lang="es-ES" dirty="0"/>
              <a:t>puede llamar al método de fábrica para crear un objeto </a:t>
            </a:r>
            <a:r>
              <a:rPr lang="es-ES" dirty="0" smtClean="0"/>
              <a:t>Producto.</a:t>
            </a:r>
          </a:p>
          <a:p>
            <a:r>
              <a:rPr lang="en-US" b="1" dirty="0" err="1" smtClean="0"/>
              <a:t>ConcreteCreator</a:t>
            </a:r>
            <a:r>
              <a:rPr lang="en-US" dirty="0"/>
              <a:t>  (</a:t>
            </a:r>
            <a:r>
              <a:rPr lang="en-US" i="1" dirty="0"/>
              <a:t>Report, Resume</a:t>
            </a:r>
            <a:r>
              <a:rPr lang="en-US" dirty="0"/>
              <a:t>) </a:t>
            </a:r>
          </a:p>
          <a:p>
            <a:pPr lvl="1"/>
            <a:r>
              <a:rPr lang="es-ES" dirty="0" err="1" smtClean="0"/>
              <a:t>Sobreescribe</a:t>
            </a:r>
            <a:r>
              <a:rPr lang="es-ES" dirty="0" smtClean="0"/>
              <a:t> el </a:t>
            </a:r>
            <a:r>
              <a:rPr lang="es-ES" dirty="0"/>
              <a:t>método de fábrica para devolver una instancia de un </a:t>
            </a:r>
            <a:r>
              <a:rPr lang="es-ES" dirty="0" err="1"/>
              <a:t>ConcreteProduct</a:t>
            </a:r>
            <a:r>
              <a:rPr lang="es-ES" dirty="0"/>
              <a:t>.</a:t>
            </a:r>
            <a:endParaRPr lang="en-US" dirty="0"/>
          </a:p>
        </p:txBody>
      </p:sp>
    </p:spTree>
    <p:extLst>
      <p:ext uri="{BB962C8B-B14F-4D97-AF65-F5344CB8AC3E}">
        <p14:creationId xmlns:p14="http://schemas.microsoft.com/office/powerpoint/2010/main" val="6474190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5861" y="286603"/>
            <a:ext cx="11092067" cy="1263901"/>
          </a:xfrm>
        </p:spPr>
        <p:txBody>
          <a:bodyPr>
            <a:normAutofit fontScale="90000"/>
          </a:bodyPr>
          <a:lstStyle/>
          <a:p>
            <a:pPr algn="ctr"/>
            <a:r>
              <a:rPr lang="es-ES_tradnl" dirty="0"/>
              <a:t>Ejemplo: Patrón </a:t>
            </a:r>
            <a:r>
              <a:rPr lang="es-ES_tradnl" dirty="0" err="1"/>
              <a:t>Abstract</a:t>
            </a:r>
            <a:r>
              <a:rPr lang="es-ES_tradnl" dirty="0"/>
              <a:t> </a:t>
            </a:r>
            <a:r>
              <a:rPr lang="es-ES_tradnl" dirty="0" smtClean="0"/>
              <a:t>Factory/</a:t>
            </a:r>
            <a:r>
              <a:rPr lang="es-ES_tradnl" dirty="0"/>
              <a:t> Factory</a:t>
            </a:r>
            <a:r>
              <a:rPr lang="es-ES_tradnl" dirty="0" smtClean="0"/>
              <a:t> </a:t>
            </a:r>
            <a:r>
              <a:rPr lang="es-ES_tradnl" dirty="0" err="1"/>
              <a:t>Method</a:t>
            </a:r>
            <a:r>
              <a:rPr lang="es-ES_tradnl" dirty="0" smtClean="0"/>
              <a:t/>
            </a:r>
            <a:br>
              <a:rPr lang="es-ES_tradnl" dirty="0" smtClean="0"/>
            </a:b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
        <p:nvSpPr>
          <p:cNvPr id="7" name="Marcador de contenido 2"/>
          <p:cNvSpPr>
            <a:spLocks noGrp="1"/>
          </p:cNvSpPr>
          <p:nvPr>
            <p:ph idx="1"/>
          </p:nvPr>
        </p:nvSpPr>
        <p:spPr>
          <a:xfrm>
            <a:off x="945264" y="1923170"/>
            <a:ext cx="10941935" cy="1476014"/>
          </a:xfrm>
        </p:spPr>
        <p:txBody>
          <a:bodyPr>
            <a:noAutofit/>
          </a:bodyPr>
          <a:lstStyle/>
          <a:p>
            <a:pPr marL="566928" indent="-457200">
              <a:spcAft>
                <a:spcPts val="0"/>
              </a:spcAft>
              <a:buFont typeface="Wingdings" pitchFamily="2" charset="2"/>
              <a:buChar char="Ø"/>
              <a:defRPr/>
            </a:pPr>
            <a:r>
              <a:rPr lang="es-ES" sz="2800" dirty="0"/>
              <a:t>En .NET, el patrón Factory </a:t>
            </a:r>
            <a:r>
              <a:rPr lang="es-ES" sz="2800" dirty="0" err="1"/>
              <a:t>Method</a:t>
            </a:r>
            <a:r>
              <a:rPr lang="es-ES" sz="2800" dirty="0"/>
              <a:t> se puede observar en la clase </a:t>
            </a:r>
            <a:r>
              <a:rPr lang="es-ES" sz="2800" dirty="0" err="1"/>
              <a:t>DbProviderFactory</a:t>
            </a:r>
            <a:r>
              <a:rPr lang="es-ES" sz="2800" dirty="0"/>
              <a:t>, que permite crear diferentes tipos de conexiones a bases de datos sin especificar el tipo concreto de la base de datos.</a:t>
            </a:r>
          </a:p>
          <a:p>
            <a:pPr marL="566928" indent="-457200">
              <a:spcAft>
                <a:spcPts val="0"/>
              </a:spcAft>
              <a:buFont typeface="Wingdings" pitchFamily="2" charset="2"/>
              <a:buChar char="Ø"/>
              <a:defRPr/>
            </a:pPr>
            <a:endParaRPr lang="es-ES" sz="2800" dirty="0"/>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740" y="3319669"/>
            <a:ext cx="11072190" cy="2703443"/>
          </a:xfrm>
          <a:prstGeom prst="rect">
            <a:avLst/>
          </a:prstGeom>
        </p:spPr>
      </p:pic>
    </p:spTree>
    <p:extLst>
      <p:ext uri="{BB962C8B-B14F-4D97-AF65-F5344CB8AC3E}">
        <p14:creationId xmlns:p14="http://schemas.microsoft.com/office/powerpoint/2010/main" val="31527074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Patrones</a:t>
            </a:r>
            <a:r>
              <a:rPr lang="en-US" dirty="0"/>
              <a:t> de </a:t>
            </a:r>
            <a:r>
              <a:rPr lang="en-US" dirty="0" err="1"/>
              <a:t>creación</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3200" b="1" dirty="0" err="1" smtClean="0"/>
              <a:t>Prototype</a:t>
            </a:r>
            <a:r>
              <a:rPr lang="es-ES" sz="3200" dirty="0"/>
              <a:t>. Especifica los tipos de objetos a crear por medio de una instancia prototípica, y crear nuevos objetos copiando este prototipo</a:t>
            </a:r>
            <a:r>
              <a:rPr lang="es-ES" sz="3200" dirty="0" smtClean="0"/>
              <a:t>.</a:t>
            </a:r>
          </a:p>
          <a:p>
            <a:pPr marL="566928" indent="-457200">
              <a:spcAft>
                <a:spcPts val="0"/>
              </a:spcAft>
              <a:buFont typeface="Wingdings" pitchFamily="2" charset="2"/>
              <a:buChar char="Ø"/>
              <a:defRPr/>
            </a:pPr>
            <a:r>
              <a:rPr lang="es-ES" sz="3200" b="1" dirty="0" err="1"/>
              <a:t>Builder</a:t>
            </a:r>
            <a:r>
              <a:rPr lang="es-ES" sz="3200" dirty="0"/>
              <a:t>. Separa la construcción de un objeto complejo de su representación, de forma que el mismo proceso de construcción pueda crear diferentes representaciones. </a:t>
            </a:r>
          </a:p>
          <a:p>
            <a:pPr marL="566928" indent="-457200">
              <a:spcAft>
                <a:spcPts val="0"/>
              </a:spcAft>
              <a:buFont typeface="Wingdings" pitchFamily="2" charset="2"/>
              <a:buChar char="Ø"/>
              <a:defRPr/>
            </a:pPr>
            <a:r>
              <a:rPr lang="es-ES" sz="3200" b="1" dirty="0" err="1" smtClean="0">
                <a:solidFill>
                  <a:srgbClr val="FF0000"/>
                </a:solidFill>
              </a:rPr>
              <a:t>Singleton</a:t>
            </a:r>
            <a:r>
              <a:rPr lang="es-ES" sz="3200" dirty="0"/>
              <a:t>. Garantiza que una clase sólo tenga una instancia, y proporciona un punto de acceso global a </a:t>
            </a:r>
            <a:r>
              <a:rPr lang="es-ES" sz="3200" dirty="0" smtClean="0"/>
              <a:t>ella</a:t>
            </a:r>
          </a:p>
          <a:p>
            <a:pPr marL="566928" indent="-457200">
              <a:spcAft>
                <a:spcPts val="0"/>
              </a:spcAft>
              <a:buFont typeface="Wingdings" pitchFamily="2" charset="2"/>
              <a:buChar char="Ø"/>
              <a:defRPr/>
            </a:pPr>
            <a:endParaRPr lang="es-ES" sz="2800" dirty="0"/>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699699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s-ES_tradnl" dirty="0"/>
              <a:t>Ejemplo: Patrón </a:t>
            </a:r>
            <a:r>
              <a:rPr lang="es-ES_tradnl" dirty="0" err="1" smtClean="0"/>
              <a:t>Singleton</a:t>
            </a:r>
            <a:r>
              <a:rPr lang="es-ES_tradnl" dirty="0" smtClean="0"/>
              <a:t/>
            </a:r>
            <a:br>
              <a:rPr lang="es-ES_tradnl" dirty="0" smtClean="0"/>
            </a:b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
        <p:nvSpPr>
          <p:cNvPr id="9" name="Marcador de contenido 2"/>
          <p:cNvSpPr txBox="1">
            <a:spLocks/>
          </p:cNvSpPr>
          <p:nvPr/>
        </p:nvSpPr>
        <p:spPr>
          <a:xfrm>
            <a:off x="5804452" y="1923169"/>
            <a:ext cx="6221896" cy="441799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09728" indent="0">
              <a:lnSpc>
                <a:spcPct val="100000"/>
              </a:lnSpc>
              <a:spcAft>
                <a:spcPts val="0"/>
              </a:spcAft>
              <a:buNone/>
              <a:defRPr/>
            </a:pPr>
            <a:r>
              <a:rPr lang="es-ES" sz="2800" dirty="0" err="1"/>
              <a:t>Singleton</a:t>
            </a:r>
            <a:r>
              <a:rPr lang="es-ES" sz="2800" dirty="0"/>
              <a:t> (</a:t>
            </a:r>
            <a:r>
              <a:rPr lang="es-ES" sz="2800" i="1" dirty="0" err="1"/>
              <a:t>LoadBalancer</a:t>
            </a:r>
            <a:r>
              <a:rPr lang="es-ES" sz="2800" dirty="0" smtClean="0"/>
              <a:t>)</a:t>
            </a:r>
          </a:p>
          <a:p>
            <a:pPr marL="566928" indent="-457200">
              <a:lnSpc>
                <a:spcPct val="100000"/>
              </a:lnSpc>
              <a:spcAft>
                <a:spcPts val="0"/>
              </a:spcAft>
              <a:buFont typeface="Wingdings" pitchFamily="2" charset="2"/>
              <a:buChar char="Ø"/>
              <a:defRPr/>
            </a:pPr>
            <a:r>
              <a:rPr lang="es-ES" sz="2800" dirty="0" smtClean="0"/>
              <a:t>Define </a:t>
            </a:r>
            <a:r>
              <a:rPr lang="es-ES" sz="2800" dirty="0"/>
              <a:t>una operación de instancia que permite a los clientes acceder a su instancia única. La instancia es una operación de clase</a:t>
            </a:r>
            <a:r>
              <a:rPr lang="es-ES" sz="2800" dirty="0" smtClean="0"/>
              <a:t>.</a:t>
            </a:r>
          </a:p>
          <a:p>
            <a:pPr marL="566928" indent="-457200">
              <a:lnSpc>
                <a:spcPct val="100000"/>
              </a:lnSpc>
              <a:spcAft>
                <a:spcPts val="0"/>
              </a:spcAft>
              <a:buFont typeface="Wingdings" pitchFamily="2" charset="2"/>
              <a:buChar char="Ø"/>
              <a:defRPr/>
            </a:pPr>
            <a:r>
              <a:rPr lang="es-ES" sz="2800" dirty="0" smtClean="0"/>
              <a:t>Responsable </a:t>
            </a:r>
            <a:r>
              <a:rPr lang="es-ES" sz="2800" dirty="0"/>
              <a:t>de crear y mantener su propia instancia única.</a:t>
            </a:r>
          </a:p>
        </p:txBody>
      </p:sp>
      <p:pic>
        <p:nvPicPr>
          <p:cNvPr id="2050" name="Picture 2" descr="https://www.dofactory.com/img/diagrams/net/Singlet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2095844"/>
            <a:ext cx="5804453" cy="3768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2969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s-ES_tradnl" dirty="0"/>
              <a:t>Ejemplo: Patrón </a:t>
            </a:r>
            <a:r>
              <a:rPr lang="es-ES_tradnl" dirty="0" err="1" smtClean="0"/>
              <a:t>Singleton</a:t>
            </a:r>
            <a:r>
              <a:rPr lang="es-ES_tradnl" dirty="0" smtClean="0"/>
              <a:t/>
            </a:r>
            <a:br>
              <a:rPr lang="es-ES_tradnl" dirty="0" smtClean="0"/>
            </a:b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
        <p:nvSpPr>
          <p:cNvPr id="8" name="Marcador de contenido 2"/>
          <p:cNvSpPr>
            <a:spLocks noGrp="1"/>
          </p:cNvSpPr>
          <p:nvPr>
            <p:ph idx="1"/>
          </p:nvPr>
        </p:nvSpPr>
        <p:spPr>
          <a:xfrm>
            <a:off x="945264" y="1923170"/>
            <a:ext cx="10941935" cy="1476014"/>
          </a:xfrm>
        </p:spPr>
        <p:txBody>
          <a:bodyPr>
            <a:noAutofit/>
          </a:bodyPr>
          <a:lstStyle/>
          <a:p>
            <a:pPr marL="566928" indent="-457200">
              <a:spcAft>
                <a:spcPts val="0"/>
              </a:spcAft>
              <a:buFont typeface="Wingdings" pitchFamily="2" charset="2"/>
              <a:buChar char="Ø"/>
              <a:defRPr/>
            </a:pPr>
            <a:r>
              <a:rPr lang="es-ES" sz="2800" dirty="0"/>
              <a:t>Un ejemplo clásico del patrón </a:t>
            </a:r>
            <a:r>
              <a:rPr lang="es-ES" sz="2800" dirty="0" err="1"/>
              <a:t>Singleton</a:t>
            </a:r>
            <a:r>
              <a:rPr lang="es-ES" sz="2800" dirty="0"/>
              <a:t> en .NET es la clase </a:t>
            </a:r>
            <a:r>
              <a:rPr lang="es-ES" sz="2800" dirty="0" err="1"/>
              <a:t>ConfigurationManager</a:t>
            </a:r>
            <a:r>
              <a:rPr lang="es-ES" sz="2800" dirty="0"/>
              <a:t>, que gestiona la configuración de una aplicación y asegura que solo haya una instancia de ella.</a:t>
            </a:r>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835" y="3249712"/>
            <a:ext cx="11390243" cy="3031818"/>
          </a:xfrm>
          <a:prstGeom prst="rect">
            <a:avLst/>
          </a:prstGeom>
        </p:spPr>
      </p:pic>
    </p:spTree>
    <p:extLst>
      <p:ext uri="{BB962C8B-B14F-4D97-AF65-F5344CB8AC3E}">
        <p14:creationId xmlns:p14="http://schemas.microsoft.com/office/powerpoint/2010/main" val="11674014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Patrones</a:t>
            </a:r>
            <a:r>
              <a:rPr lang="en-US" dirty="0"/>
              <a:t> </a:t>
            </a:r>
            <a:r>
              <a:rPr lang="en-US" dirty="0" err="1" smtClean="0"/>
              <a:t>Estructurales</a:t>
            </a:r>
            <a:r>
              <a:rPr lang="en-US" dirty="0" smtClean="0"/>
              <a:t> </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3600" dirty="0"/>
              <a:t>Modelan situaciones en las que cambios en los requisitos de la aplicación no ocasionen cambios en las relaciones entre los objetos. Lo fundamental son las relaciones de uso entre los objetos, y, </a:t>
            </a:r>
            <a:r>
              <a:rPr lang="es-ES" sz="3600" dirty="0" smtClean="0"/>
              <a:t>estas </a:t>
            </a:r>
            <a:r>
              <a:rPr lang="es-ES" sz="3600" dirty="0"/>
              <a:t>están determinadas por las interfaces que soportan los objetos. Se utilizan para diseñar las interconexiones entre objetos</a:t>
            </a:r>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26654992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Patrones</a:t>
            </a:r>
            <a:r>
              <a:rPr lang="en-US" dirty="0"/>
              <a:t> </a:t>
            </a:r>
            <a:r>
              <a:rPr lang="en-US" dirty="0" err="1"/>
              <a:t>estructurales</a:t>
            </a:r>
            <a:r>
              <a:rPr lang="en-US" dirty="0"/>
              <a:t> </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3600" b="1" dirty="0" err="1">
                <a:solidFill>
                  <a:srgbClr val="FF0000"/>
                </a:solidFill>
              </a:rPr>
              <a:t>Adapter</a:t>
            </a:r>
            <a:r>
              <a:rPr lang="es-ES" sz="3600" dirty="0"/>
              <a:t>. Convierte la interfaz de una clase en otra distinta que es la que esperan los clientes. Permiten que cooperen clases que de otra manera no podrían por tener interfaces incompatibles. </a:t>
            </a:r>
          </a:p>
          <a:p>
            <a:pPr marL="566928" indent="-457200">
              <a:spcAft>
                <a:spcPts val="0"/>
              </a:spcAft>
              <a:buFont typeface="Wingdings" pitchFamily="2" charset="2"/>
              <a:buChar char="Ø"/>
              <a:defRPr/>
            </a:pPr>
            <a:r>
              <a:rPr lang="es-ES" sz="3600" b="1" dirty="0"/>
              <a:t>Bridge</a:t>
            </a:r>
            <a:r>
              <a:rPr lang="es-ES" sz="3600" dirty="0"/>
              <a:t>. Desvincula una abstracción de su implementación, de manera que ambas puedan variar de forma independiente </a:t>
            </a:r>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355986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Ejemplo: Patrón </a:t>
            </a:r>
            <a:r>
              <a:rPr lang="es-ES_tradnl" dirty="0" err="1"/>
              <a:t>Adapter</a:t>
            </a: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pic>
        <p:nvPicPr>
          <p:cNvPr id="3074" name="Picture 2" descr="https://www.dofactory.com/img/diagrams/net/adapt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149" y="2027583"/>
            <a:ext cx="5486399" cy="4134677"/>
          </a:xfrm>
          <a:prstGeom prst="rect">
            <a:avLst/>
          </a:prstGeom>
          <a:noFill/>
          <a:extLst>
            <a:ext uri="{909E8E84-426E-40DD-AFC4-6F175D3DCCD1}">
              <a14:hiddenFill xmlns:a14="http://schemas.microsoft.com/office/drawing/2010/main">
                <a:solidFill>
                  <a:srgbClr val="FFFFFF"/>
                </a:solidFill>
              </a14:hiddenFill>
            </a:ext>
          </a:extLst>
        </p:spPr>
      </p:pic>
      <p:sp>
        <p:nvSpPr>
          <p:cNvPr id="8" name="Marcador de contenido 2"/>
          <p:cNvSpPr txBox="1">
            <a:spLocks/>
          </p:cNvSpPr>
          <p:nvPr/>
        </p:nvSpPr>
        <p:spPr>
          <a:xfrm>
            <a:off x="5864088" y="1923169"/>
            <a:ext cx="6327912" cy="441799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ES" sz="2400" b="1" dirty="0"/>
              <a:t>Target</a:t>
            </a:r>
            <a:r>
              <a:rPr lang="es-ES" sz="2400" dirty="0"/>
              <a:t>   (</a:t>
            </a:r>
            <a:r>
              <a:rPr lang="es-ES" sz="2400" dirty="0" err="1"/>
              <a:t>ChemicalCompound</a:t>
            </a:r>
            <a:r>
              <a:rPr lang="es-ES" sz="2400" dirty="0"/>
              <a:t>) </a:t>
            </a:r>
          </a:p>
          <a:p>
            <a:pPr lvl="1"/>
            <a:r>
              <a:rPr lang="es-ES" sz="2400" dirty="0"/>
              <a:t>define la interfaz específica del dominio que utiliza el Cliente</a:t>
            </a:r>
            <a:r>
              <a:rPr lang="es-ES" sz="2400" dirty="0" smtClean="0"/>
              <a:t>.</a:t>
            </a:r>
          </a:p>
          <a:p>
            <a:r>
              <a:rPr lang="es-ES" sz="2400" b="1" dirty="0" err="1" smtClean="0"/>
              <a:t>Adapter</a:t>
            </a:r>
            <a:r>
              <a:rPr lang="es-ES" sz="2400" dirty="0" smtClean="0"/>
              <a:t> </a:t>
            </a:r>
            <a:r>
              <a:rPr lang="es-ES" sz="2400" dirty="0"/>
              <a:t>  (</a:t>
            </a:r>
            <a:r>
              <a:rPr lang="es-ES" sz="2400" dirty="0" err="1"/>
              <a:t>Compound</a:t>
            </a:r>
            <a:r>
              <a:rPr lang="es-ES" sz="2400" dirty="0"/>
              <a:t>) </a:t>
            </a:r>
          </a:p>
          <a:p>
            <a:pPr lvl="1"/>
            <a:r>
              <a:rPr lang="es-ES" sz="2400" dirty="0"/>
              <a:t>adapta la interfaz </a:t>
            </a:r>
            <a:r>
              <a:rPr lang="es-ES" sz="2400" dirty="0" err="1"/>
              <a:t>Adaptee</a:t>
            </a:r>
            <a:r>
              <a:rPr lang="es-ES" sz="2400" dirty="0"/>
              <a:t> a la interfaz Target</a:t>
            </a:r>
            <a:r>
              <a:rPr lang="es-ES" sz="2400" dirty="0" smtClean="0"/>
              <a:t>.</a:t>
            </a:r>
          </a:p>
          <a:p>
            <a:r>
              <a:rPr lang="es-ES" sz="2400" b="1" dirty="0" err="1" smtClean="0"/>
              <a:t>Adaptee</a:t>
            </a:r>
            <a:r>
              <a:rPr lang="es-ES" sz="2400" dirty="0" smtClean="0"/>
              <a:t> </a:t>
            </a:r>
            <a:r>
              <a:rPr lang="es-ES" sz="2400" dirty="0"/>
              <a:t>  (</a:t>
            </a:r>
            <a:r>
              <a:rPr lang="es-ES" sz="2400" dirty="0" err="1"/>
              <a:t>ChemicalDatabank</a:t>
            </a:r>
            <a:r>
              <a:rPr lang="es-ES" sz="2400" dirty="0"/>
              <a:t>) </a:t>
            </a:r>
          </a:p>
          <a:p>
            <a:pPr lvl="1"/>
            <a:r>
              <a:rPr lang="es-ES" sz="2400" dirty="0"/>
              <a:t>define una interfaz existente que necesita adaptación</a:t>
            </a:r>
            <a:r>
              <a:rPr lang="es-ES" sz="2400" dirty="0" smtClean="0"/>
              <a:t>.</a:t>
            </a:r>
          </a:p>
          <a:p>
            <a:r>
              <a:rPr lang="es-ES" sz="2400" b="1" dirty="0" err="1" smtClean="0"/>
              <a:t>Client</a:t>
            </a:r>
            <a:r>
              <a:rPr lang="es-ES" sz="2400" dirty="0" smtClean="0"/>
              <a:t> </a:t>
            </a:r>
            <a:r>
              <a:rPr lang="es-ES" sz="2400" dirty="0"/>
              <a:t>  (</a:t>
            </a:r>
            <a:r>
              <a:rPr lang="es-ES" sz="2400" dirty="0" err="1"/>
              <a:t>AdapterApp</a:t>
            </a:r>
            <a:r>
              <a:rPr lang="es-ES" sz="2400" dirty="0"/>
              <a:t>) </a:t>
            </a:r>
          </a:p>
          <a:p>
            <a:pPr lvl="1"/>
            <a:r>
              <a:rPr lang="es-ES" sz="2400" dirty="0"/>
              <a:t>colabora con objetos que se ajustan a la interfaz de destino.</a:t>
            </a:r>
          </a:p>
        </p:txBody>
      </p:sp>
    </p:spTree>
    <p:extLst>
      <p:ext uri="{BB962C8B-B14F-4D97-AF65-F5344CB8AC3E}">
        <p14:creationId xmlns:p14="http://schemas.microsoft.com/office/powerpoint/2010/main" val="28976126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s-ES_tradnl" dirty="0"/>
              <a:t>Ejemplo: Patrón </a:t>
            </a:r>
            <a:r>
              <a:rPr lang="es-ES_tradnl" dirty="0" err="1"/>
              <a:t>Adapter</a:t>
            </a:r>
            <a:r>
              <a:rPr lang="es-ES_tradnl" dirty="0" smtClean="0"/>
              <a:t/>
            </a:r>
            <a:br>
              <a:rPr lang="es-ES_tradnl" dirty="0" smtClean="0"/>
            </a:b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
        <p:nvSpPr>
          <p:cNvPr id="8" name="Marcador de contenido 2"/>
          <p:cNvSpPr>
            <a:spLocks noGrp="1"/>
          </p:cNvSpPr>
          <p:nvPr>
            <p:ph idx="1"/>
          </p:nvPr>
        </p:nvSpPr>
        <p:spPr>
          <a:xfrm>
            <a:off x="945264" y="1923170"/>
            <a:ext cx="10941935" cy="1476014"/>
          </a:xfrm>
        </p:spPr>
        <p:txBody>
          <a:bodyPr>
            <a:noAutofit/>
          </a:bodyPr>
          <a:lstStyle/>
          <a:p>
            <a:pPr marL="566928" indent="-457200">
              <a:spcAft>
                <a:spcPts val="0"/>
              </a:spcAft>
              <a:buFont typeface="Wingdings" pitchFamily="2" charset="2"/>
              <a:buChar char="Ø"/>
              <a:defRPr/>
            </a:pPr>
            <a:r>
              <a:rPr lang="es-ES" sz="2800" dirty="0"/>
              <a:t>El patrón </a:t>
            </a:r>
            <a:r>
              <a:rPr lang="es-ES" sz="2800" dirty="0" err="1"/>
              <a:t>Adapter</a:t>
            </a:r>
            <a:r>
              <a:rPr lang="es-ES" sz="2800" dirty="0"/>
              <a:t> se puede ver en las clases que implementan interfaces de diferentes bibliotecas o sistemas. Un ejemplo es </a:t>
            </a:r>
            <a:r>
              <a:rPr lang="es-ES" sz="2800" dirty="0" err="1"/>
              <a:t>XmlSerializer</a:t>
            </a:r>
            <a:r>
              <a:rPr lang="es-ES" sz="2800" dirty="0"/>
              <a:t>, que permite serializar y </a:t>
            </a:r>
            <a:r>
              <a:rPr lang="es-ES" sz="2800" dirty="0" err="1"/>
              <a:t>deserializar</a:t>
            </a:r>
            <a:r>
              <a:rPr lang="es-ES" sz="2800" dirty="0"/>
              <a:t> objetos a XML.</a:t>
            </a: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2453" y="3281532"/>
            <a:ext cx="9303026" cy="2980120"/>
          </a:xfrm>
          <a:prstGeom prst="rect">
            <a:avLst/>
          </a:prstGeom>
        </p:spPr>
      </p:pic>
    </p:spTree>
    <p:extLst>
      <p:ext uri="{BB962C8B-B14F-4D97-AF65-F5344CB8AC3E}">
        <p14:creationId xmlns:p14="http://schemas.microsoft.com/office/powerpoint/2010/main" val="12785359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Patrones</a:t>
            </a:r>
            <a:r>
              <a:rPr lang="en-US" dirty="0"/>
              <a:t> </a:t>
            </a:r>
            <a:r>
              <a:rPr lang="en-US" dirty="0" err="1" smtClean="0"/>
              <a:t>Estructurales</a:t>
            </a:r>
            <a:r>
              <a:rPr lang="en-US" dirty="0" smtClean="0"/>
              <a:t> </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3600" b="1" dirty="0" err="1"/>
              <a:t>Composite</a:t>
            </a:r>
            <a:r>
              <a:rPr lang="es-ES" sz="3600" dirty="0"/>
              <a:t>. Combina objetos en estructuras de árbol para representar jerarquías de parte-todo. Permite que los clientes traten de manera uniforme a los objetos individuales y a los compuestos. </a:t>
            </a:r>
          </a:p>
          <a:p>
            <a:pPr marL="566928" indent="-457200">
              <a:spcAft>
                <a:spcPts val="0"/>
              </a:spcAft>
              <a:buFont typeface="Wingdings" pitchFamily="2" charset="2"/>
              <a:buChar char="Ø"/>
              <a:defRPr/>
            </a:pPr>
            <a:r>
              <a:rPr lang="es-ES" sz="3600" b="1" dirty="0" err="1"/>
              <a:t>Decorator</a:t>
            </a:r>
            <a:r>
              <a:rPr lang="es-ES" sz="3600" dirty="0"/>
              <a:t>. Añade dinámicamente nuevas responsabilidades a un objeto, proporcionando una alternativa flexible a la herencia para extender la funcionalidad</a:t>
            </a:r>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1723278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Patrones</a:t>
            </a:r>
            <a:r>
              <a:rPr lang="en-US" dirty="0"/>
              <a:t> </a:t>
            </a:r>
            <a:r>
              <a:rPr lang="en-US" dirty="0" err="1"/>
              <a:t>estructurales</a:t>
            </a:r>
            <a:r>
              <a:rPr lang="en-US" dirty="0"/>
              <a:t> </a:t>
            </a:r>
            <a:endParaRPr lang="es-ES" dirty="0"/>
          </a:p>
        </p:txBody>
      </p:sp>
      <p:sp>
        <p:nvSpPr>
          <p:cNvPr id="3" name="Marcador de contenido 2"/>
          <p:cNvSpPr>
            <a:spLocks noGrp="1"/>
          </p:cNvSpPr>
          <p:nvPr>
            <p:ph idx="1"/>
          </p:nvPr>
        </p:nvSpPr>
        <p:spPr>
          <a:xfrm>
            <a:off x="198784" y="1789043"/>
            <a:ext cx="11993216" cy="4293703"/>
          </a:xfrm>
        </p:spPr>
        <p:txBody>
          <a:bodyPr>
            <a:noAutofit/>
          </a:bodyPr>
          <a:lstStyle/>
          <a:p>
            <a:pPr marL="566928" indent="-457200">
              <a:spcAft>
                <a:spcPts val="0"/>
              </a:spcAft>
              <a:buFont typeface="Wingdings" pitchFamily="2" charset="2"/>
              <a:buChar char="Ø"/>
              <a:defRPr/>
            </a:pPr>
            <a:r>
              <a:rPr lang="es-ES" sz="2800" b="1" dirty="0" err="1">
                <a:solidFill>
                  <a:srgbClr val="FF0000"/>
                </a:solidFill>
              </a:rPr>
              <a:t>Facade</a:t>
            </a:r>
            <a:r>
              <a:rPr lang="es-ES" sz="2800" dirty="0"/>
              <a:t>. Proporciona una interfaz unificada para un conjunto de interfaces de un subsistema. Define una interfaz de alto nivel que hace que el subsistema se más fácil de usar. </a:t>
            </a:r>
          </a:p>
          <a:p>
            <a:pPr marL="566928" indent="-457200">
              <a:spcAft>
                <a:spcPts val="0"/>
              </a:spcAft>
              <a:buFont typeface="Wingdings" pitchFamily="2" charset="2"/>
              <a:buChar char="Ø"/>
              <a:defRPr/>
            </a:pPr>
            <a:r>
              <a:rPr lang="es-ES" sz="2800" b="1" dirty="0" err="1" smtClean="0"/>
              <a:t>Flyweight</a:t>
            </a:r>
            <a:r>
              <a:rPr lang="es-ES" sz="2800" dirty="0"/>
              <a:t>. Se refiera a una instancia que minimiza el uso de memoria al compartir la mayor cantidad de datos posibles con otras instancias similares. A menudo partes del estado de la instancia es compartida y es una practica común mantenerlas en estructuras de datos externas a la instancia, las cuales son pasadas al la misma en el momento en que estas necesitan ser utilizadas.</a:t>
            </a:r>
          </a:p>
          <a:p>
            <a:pPr marL="566928" indent="-457200">
              <a:spcAft>
                <a:spcPts val="0"/>
              </a:spcAft>
              <a:buFont typeface="Wingdings" pitchFamily="2" charset="2"/>
              <a:buChar char="Ø"/>
              <a:defRPr/>
            </a:pPr>
            <a:r>
              <a:rPr lang="es-ES" sz="2800" b="1" dirty="0" smtClean="0">
                <a:solidFill>
                  <a:srgbClr val="FF0000"/>
                </a:solidFill>
              </a:rPr>
              <a:t>Proxy</a:t>
            </a:r>
            <a:r>
              <a:rPr lang="es-ES" sz="2800" dirty="0"/>
              <a:t>. Proporciona un sustituto o representante de otro objeto para controlar el acceso a éste.</a:t>
            </a:r>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232926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Ejemplo: Patrón </a:t>
            </a:r>
            <a:r>
              <a:rPr lang="en-US" dirty="0"/>
              <a:t>Facade</a:t>
            </a: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
        <p:nvSpPr>
          <p:cNvPr id="8" name="Marcador de contenido 2"/>
          <p:cNvSpPr txBox="1">
            <a:spLocks/>
          </p:cNvSpPr>
          <p:nvPr/>
        </p:nvSpPr>
        <p:spPr>
          <a:xfrm>
            <a:off x="5605670" y="1709530"/>
            <a:ext cx="6586331" cy="4750905"/>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b="1" dirty="0"/>
              <a:t>Facade </a:t>
            </a:r>
            <a:r>
              <a:rPr lang="en-US" sz="2400" dirty="0"/>
              <a:t>  (</a:t>
            </a:r>
            <a:r>
              <a:rPr lang="en-US" sz="2400" i="1" dirty="0" err="1"/>
              <a:t>MortgageApplication</a:t>
            </a:r>
            <a:r>
              <a:rPr lang="en-US" sz="2400" dirty="0"/>
              <a:t>) </a:t>
            </a:r>
          </a:p>
          <a:p>
            <a:pPr lvl="1"/>
            <a:r>
              <a:rPr lang="es-ES" sz="2400" dirty="0"/>
              <a:t>sabe qué clases de subsistema son responsables de una solicitud. </a:t>
            </a:r>
            <a:endParaRPr lang="es-ES" sz="2400" dirty="0" smtClean="0"/>
          </a:p>
          <a:p>
            <a:pPr lvl="1"/>
            <a:r>
              <a:rPr lang="es-ES" sz="2400" dirty="0"/>
              <a:t>delega las solicitudes del cliente a los objetos del subsistema apropiados. </a:t>
            </a:r>
            <a:endParaRPr lang="es-ES" sz="2400" dirty="0" smtClean="0"/>
          </a:p>
          <a:p>
            <a:r>
              <a:rPr lang="en-US" sz="2400" b="1" dirty="0" smtClean="0"/>
              <a:t>Subsystem </a:t>
            </a:r>
            <a:r>
              <a:rPr lang="en-US" sz="2400" b="1" dirty="0"/>
              <a:t>classes </a:t>
            </a:r>
            <a:r>
              <a:rPr lang="en-US" sz="2400" dirty="0"/>
              <a:t>  (Bank, Credit, Loan) </a:t>
            </a:r>
          </a:p>
          <a:p>
            <a:pPr lvl="1"/>
            <a:r>
              <a:rPr lang="es-ES" sz="2400" dirty="0"/>
              <a:t>Implementar la funcionalidad del subsistema. </a:t>
            </a:r>
            <a:endParaRPr lang="es-ES" sz="2400" dirty="0" smtClean="0"/>
          </a:p>
          <a:p>
            <a:pPr lvl="1"/>
            <a:r>
              <a:rPr lang="es-ES" sz="2400" dirty="0"/>
              <a:t>Manejar el trabajo asignado por el objeto Fachada. </a:t>
            </a:r>
            <a:endParaRPr lang="es-ES" sz="2400" dirty="0" smtClean="0"/>
          </a:p>
          <a:p>
            <a:pPr lvl="1"/>
            <a:r>
              <a:rPr lang="es-ES" sz="2400" dirty="0"/>
              <a:t>No tener conocimiento de la fachada y no mantener ninguna referencia a ella.</a:t>
            </a:r>
            <a:r>
              <a:rPr lang="es-ES" sz="2400" dirty="0" smtClean="0"/>
              <a:t>.</a:t>
            </a:r>
          </a:p>
          <a:p>
            <a:pPr marL="566928" indent="-457200">
              <a:spcAft>
                <a:spcPts val="0"/>
              </a:spcAft>
              <a:buFont typeface="Wingdings" pitchFamily="2" charset="2"/>
              <a:buChar char="Ø"/>
              <a:defRPr/>
            </a:pPr>
            <a:endParaRPr lang="es-ES" sz="2800" dirty="0"/>
          </a:p>
        </p:txBody>
      </p:sp>
      <p:pic>
        <p:nvPicPr>
          <p:cNvPr id="4098" name="Picture 2" descr="https://www.dofactory.com/img/diagrams/net/facad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00" y="1987826"/>
            <a:ext cx="4458804" cy="4075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72707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s-ES_tradnl" dirty="0"/>
              <a:t>Ejemplo: Patrón </a:t>
            </a:r>
            <a:r>
              <a:rPr lang="en-US" dirty="0"/>
              <a:t>Facade</a:t>
            </a:r>
            <a:r>
              <a:rPr lang="es-ES_tradnl" dirty="0" smtClean="0"/>
              <a:t/>
            </a:r>
            <a:br>
              <a:rPr lang="es-ES_tradnl" dirty="0" smtClean="0"/>
            </a:b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
        <p:nvSpPr>
          <p:cNvPr id="8" name="Marcador de contenido 2"/>
          <p:cNvSpPr>
            <a:spLocks noGrp="1"/>
          </p:cNvSpPr>
          <p:nvPr>
            <p:ph idx="1"/>
          </p:nvPr>
        </p:nvSpPr>
        <p:spPr>
          <a:xfrm>
            <a:off x="945264" y="1923170"/>
            <a:ext cx="10941935" cy="1138082"/>
          </a:xfrm>
        </p:spPr>
        <p:txBody>
          <a:bodyPr>
            <a:noAutofit/>
          </a:bodyPr>
          <a:lstStyle/>
          <a:p>
            <a:pPr marL="566928" indent="-457200">
              <a:spcAft>
                <a:spcPts val="0"/>
              </a:spcAft>
              <a:buFont typeface="Wingdings" pitchFamily="2" charset="2"/>
              <a:buChar char="Ø"/>
              <a:defRPr/>
            </a:pPr>
            <a:r>
              <a:rPr lang="es-ES" sz="2800" dirty="0"/>
              <a:t>El patrón </a:t>
            </a:r>
            <a:r>
              <a:rPr lang="es-ES" sz="2800" dirty="0" err="1"/>
              <a:t>Facade</a:t>
            </a:r>
            <a:r>
              <a:rPr lang="es-ES" sz="2800" dirty="0"/>
              <a:t> se utiliza en </a:t>
            </a:r>
            <a:r>
              <a:rPr lang="es-ES" sz="2800" dirty="0" err="1"/>
              <a:t>System.Net.Mail.SmtpClient</a:t>
            </a:r>
            <a:r>
              <a:rPr lang="es-ES" sz="2800" dirty="0"/>
              <a:t>, que proporciona una interfaz simplificada para enviar correos electrónicos.</a:t>
            </a:r>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2452" y="2943157"/>
            <a:ext cx="10356574" cy="2165556"/>
          </a:xfrm>
          <a:prstGeom prst="rect">
            <a:avLst/>
          </a:prstGeom>
        </p:spPr>
      </p:pic>
    </p:spTree>
    <p:extLst>
      <p:ext uri="{BB962C8B-B14F-4D97-AF65-F5344CB8AC3E}">
        <p14:creationId xmlns:p14="http://schemas.microsoft.com/office/powerpoint/2010/main" val="25492919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Ejemplo: Patrón </a:t>
            </a:r>
            <a:r>
              <a:rPr lang="en-US" dirty="0"/>
              <a:t>Proxy</a:t>
            </a: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
        <p:nvSpPr>
          <p:cNvPr id="8" name="Marcador de contenido 2"/>
          <p:cNvSpPr txBox="1">
            <a:spLocks/>
          </p:cNvSpPr>
          <p:nvPr/>
        </p:nvSpPr>
        <p:spPr>
          <a:xfrm>
            <a:off x="4214192" y="1709530"/>
            <a:ext cx="7977810" cy="4750905"/>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Proxy</a:t>
            </a:r>
            <a:r>
              <a:rPr lang="en-US" dirty="0"/>
              <a:t>   (</a:t>
            </a:r>
            <a:r>
              <a:rPr lang="en-US" i="1" dirty="0" err="1"/>
              <a:t>MathProxy</a:t>
            </a:r>
            <a:r>
              <a:rPr lang="en-US" dirty="0"/>
              <a:t>) </a:t>
            </a:r>
          </a:p>
          <a:p>
            <a:pPr lvl="1"/>
            <a:r>
              <a:rPr lang="es-ES" sz="2000" dirty="0"/>
              <a:t>Mantiene una referencia que permite al proxy acceder al sujeto real. El proxy puede hacer referencia a un sujeto si las interfaces </a:t>
            </a:r>
            <a:r>
              <a:rPr lang="es-ES" sz="2000" dirty="0" err="1"/>
              <a:t>RealSubject</a:t>
            </a:r>
            <a:r>
              <a:rPr lang="es-ES" sz="2000" dirty="0"/>
              <a:t> y </a:t>
            </a:r>
            <a:r>
              <a:rPr lang="es-ES" sz="2000" dirty="0" err="1"/>
              <a:t>Subject</a:t>
            </a:r>
            <a:r>
              <a:rPr lang="es-ES" sz="2000" dirty="0"/>
              <a:t> son las mismas</a:t>
            </a:r>
            <a:r>
              <a:rPr lang="es-ES" sz="2000" dirty="0" smtClean="0"/>
              <a:t>.</a:t>
            </a:r>
          </a:p>
          <a:p>
            <a:pPr lvl="1"/>
            <a:r>
              <a:rPr lang="es-ES" sz="2000" dirty="0"/>
              <a:t>Proporciona una interfaz idéntica a la del sujeto para que se pueda sustituir un proxy por el sujeto real</a:t>
            </a:r>
            <a:r>
              <a:rPr lang="es-ES" sz="2000" dirty="0" smtClean="0"/>
              <a:t>.</a:t>
            </a:r>
          </a:p>
          <a:p>
            <a:pPr lvl="1"/>
            <a:r>
              <a:rPr lang="es-ES" sz="2000" dirty="0"/>
              <a:t>Controla el acceso al sujeto real y puede ser responsable de crearlo y eliminarlo</a:t>
            </a:r>
            <a:r>
              <a:rPr lang="es-ES" sz="2000" dirty="0" smtClean="0"/>
              <a:t>.</a:t>
            </a:r>
          </a:p>
          <a:p>
            <a:r>
              <a:rPr lang="en-US" b="1" dirty="0" smtClean="0"/>
              <a:t>Subject</a:t>
            </a:r>
            <a:r>
              <a:rPr lang="en-US" dirty="0" smtClean="0"/>
              <a:t> </a:t>
            </a:r>
            <a:r>
              <a:rPr lang="en-US" dirty="0"/>
              <a:t>  (</a:t>
            </a:r>
            <a:r>
              <a:rPr lang="en-US" i="1" dirty="0" err="1"/>
              <a:t>IMath</a:t>
            </a:r>
            <a:r>
              <a:rPr lang="en-US" dirty="0"/>
              <a:t>) </a:t>
            </a:r>
          </a:p>
          <a:p>
            <a:pPr lvl="1"/>
            <a:r>
              <a:rPr lang="es-ES" sz="2000" dirty="0"/>
              <a:t>define la interfaz común para </a:t>
            </a:r>
            <a:r>
              <a:rPr lang="es-ES" sz="2000" dirty="0" err="1"/>
              <a:t>RealSubject</a:t>
            </a:r>
            <a:r>
              <a:rPr lang="es-ES" sz="2000" dirty="0"/>
              <a:t> y Proxy, de modo que un Proxy pueda usarse en cualquier lugar donde se espere un </a:t>
            </a:r>
            <a:r>
              <a:rPr lang="es-ES" sz="2000" dirty="0" err="1"/>
              <a:t>RealSubject</a:t>
            </a:r>
            <a:r>
              <a:rPr lang="es-ES" sz="2000" dirty="0" smtClean="0"/>
              <a:t>.</a:t>
            </a:r>
          </a:p>
          <a:p>
            <a:r>
              <a:rPr lang="en-US" b="1" dirty="0" err="1" smtClean="0"/>
              <a:t>RealSubject</a:t>
            </a:r>
            <a:r>
              <a:rPr lang="en-US" dirty="0" smtClean="0"/>
              <a:t> </a:t>
            </a:r>
            <a:r>
              <a:rPr lang="en-US" dirty="0"/>
              <a:t>  (</a:t>
            </a:r>
            <a:r>
              <a:rPr lang="en-US" i="1" dirty="0"/>
              <a:t>Math</a:t>
            </a:r>
            <a:r>
              <a:rPr lang="en-US" dirty="0"/>
              <a:t>) </a:t>
            </a:r>
          </a:p>
          <a:p>
            <a:pPr lvl="1"/>
            <a:r>
              <a:rPr lang="es-ES" sz="2000" dirty="0"/>
              <a:t>define el objeto real que representa el proxy.</a:t>
            </a:r>
          </a:p>
        </p:txBody>
      </p:sp>
      <p:pic>
        <p:nvPicPr>
          <p:cNvPr id="7170" name="Picture 2" descr="https://www.dofactory.com/img/diagrams/net/prox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1848678"/>
            <a:ext cx="4058616" cy="4293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397537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s-ES_tradnl" dirty="0"/>
              <a:t>Ejemplo: Patrón </a:t>
            </a:r>
            <a:r>
              <a:rPr lang="en-US" dirty="0"/>
              <a:t>Proxy</a:t>
            </a:r>
            <a:r>
              <a:rPr lang="es-ES_tradnl" dirty="0" smtClean="0"/>
              <a:t/>
            </a:r>
            <a:br>
              <a:rPr lang="es-ES_tradnl" dirty="0" smtClean="0"/>
            </a:b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
        <p:nvSpPr>
          <p:cNvPr id="8" name="Marcador de contenido 2"/>
          <p:cNvSpPr>
            <a:spLocks noGrp="1"/>
          </p:cNvSpPr>
          <p:nvPr>
            <p:ph idx="1"/>
          </p:nvPr>
        </p:nvSpPr>
        <p:spPr>
          <a:xfrm>
            <a:off x="945264" y="1923170"/>
            <a:ext cx="10941935" cy="1138082"/>
          </a:xfrm>
        </p:spPr>
        <p:txBody>
          <a:bodyPr>
            <a:noAutofit/>
          </a:bodyPr>
          <a:lstStyle/>
          <a:p>
            <a:pPr marL="566928" indent="-457200">
              <a:spcAft>
                <a:spcPts val="0"/>
              </a:spcAft>
              <a:buFont typeface="Wingdings" pitchFamily="2" charset="2"/>
              <a:buChar char="Ø"/>
              <a:defRPr/>
            </a:pPr>
            <a:r>
              <a:rPr lang="es-ES" sz="2800" dirty="0"/>
              <a:t>En aplicaciones que utilizan </a:t>
            </a:r>
            <a:r>
              <a:rPr lang="es-ES" sz="2800" dirty="0" err="1"/>
              <a:t>caching</a:t>
            </a:r>
            <a:r>
              <a:rPr lang="es-ES" sz="2800" dirty="0"/>
              <a:t>, puedes implementar un proxy que controle el acceso a los datos almacenados en caché y los recupere de la fuente original si no están disponibles en caché.</a:t>
            </a:r>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7734" y="3101010"/>
            <a:ext cx="9047744" cy="3081130"/>
          </a:xfrm>
          <a:prstGeom prst="rect">
            <a:avLst/>
          </a:prstGeom>
        </p:spPr>
      </p:pic>
    </p:spTree>
    <p:extLst>
      <p:ext uri="{BB962C8B-B14F-4D97-AF65-F5344CB8AC3E}">
        <p14:creationId xmlns:p14="http://schemas.microsoft.com/office/powerpoint/2010/main" val="23145500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s-ES_tradnl" dirty="0"/>
              <a:t>Ejemplo: Patrón </a:t>
            </a:r>
            <a:r>
              <a:rPr lang="en-US" dirty="0"/>
              <a:t>Proxy</a:t>
            </a:r>
            <a:r>
              <a:rPr lang="es-ES_tradnl" dirty="0" smtClean="0"/>
              <a:t/>
            </a:r>
            <a:br>
              <a:rPr lang="es-ES_tradnl" dirty="0" smtClean="0"/>
            </a:b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
        <p:nvSpPr>
          <p:cNvPr id="8" name="Marcador de contenido 2"/>
          <p:cNvSpPr>
            <a:spLocks noGrp="1"/>
          </p:cNvSpPr>
          <p:nvPr>
            <p:ph idx="1"/>
          </p:nvPr>
        </p:nvSpPr>
        <p:spPr>
          <a:xfrm>
            <a:off x="945264" y="1923170"/>
            <a:ext cx="10941935" cy="1575404"/>
          </a:xfrm>
        </p:spPr>
        <p:txBody>
          <a:bodyPr>
            <a:noAutofit/>
          </a:bodyPr>
          <a:lstStyle/>
          <a:p>
            <a:pPr marL="566928" indent="-457200">
              <a:spcAft>
                <a:spcPts val="0"/>
              </a:spcAft>
              <a:buFont typeface="Wingdings" pitchFamily="2" charset="2"/>
              <a:buChar char="Ø"/>
              <a:defRPr/>
            </a:pPr>
            <a:r>
              <a:rPr lang="es-ES" sz="2800" dirty="0" err="1"/>
              <a:t>Entity</a:t>
            </a:r>
            <a:r>
              <a:rPr lang="es-ES" sz="2800" dirty="0"/>
              <a:t> Framework utiliza </a:t>
            </a:r>
            <a:r>
              <a:rPr lang="es-ES" sz="2800" dirty="0" err="1"/>
              <a:t>proxies</a:t>
            </a:r>
            <a:r>
              <a:rPr lang="es-ES" sz="2800" dirty="0"/>
              <a:t> para habilitar la carga diferida (</a:t>
            </a:r>
            <a:r>
              <a:rPr lang="es-ES" sz="2800" dirty="0" err="1"/>
              <a:t>lazy</a:t>
            </a:r>
            <a:r>
              <a:rPr lang="es-ES" sz="2800" dirty="0"/>
              <a:t> </a:t>
            </a:r>
            <a:r>
              <a:rPr lang="es-ES" sz="2800" dirty="0" smtClean="0"/>
              <a:t>load). </a:t>
            </a:r>
            <a:r>
              <a:rPr lang="es-ES" sz="2800" dirty="0"/>
              <a:t>Cuando se habilita el </a:t>
            </a:r>
            <a:r>
              <a:rPr lang="es-ES" sz="2800" dirty="0" err="1"/>
              <a:t>lazy</a:t>
            </a:r>
            <a:r>
              <a:rPr lang="es-ES" sz="2800" dirty="0"/>
              <a:t> </a:t>
            </a:r>
            <a:r>
              <a:rPr lang="es-ES" sz="2800" dirty="0" err="1"/>
              <a:t>loading</a:t>
            </a:r>
            <a:r>
              <a:rPr lang="es-ES" sz="2800" dirty="0"/>
              <a:t>, EF crea </a:t>
            </a:r>
            <a:r>
              <a:rPr lang="es-ES" sz="2800" dirty="0" err="1"/>
              <a:t>proxies</a:t>
            </a:r>
            <a:r>
              <a:rPr lang="es-ES" sz="2800" dirty="0"/>
              <a:t> de las entidades para interceptar las llamadas a las propiedades de navegación.</a:t>
            </a: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061" y="3719425"/>
            <a:ext cx="10137913" cy="1866366"/>
          </a:xfrm>
          <a:prstGeom prst="rect">
            <a:avLst/>
          </a:prstGeom>
        </p:spPr>
      </p:pic>
    </p:spTree>
    <p:extLst>
      <p:ext uri="{BB962C8B-B14F-4D97-AF65-F5344CB8AC3E}">
        <p14:creationId xmlns:p14="http://schemas.microsoft.com/office/powerpoint/2010/main" val="8113267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s-ES_tradnl" dirty="0"/>
              <a:t>Ejemplo: Patrón </a:t>
            </a:r>
            <a:r>
              <a:rPr lang="en-US" dirty="0"/>
              <a:t>Proxy</a:t>
            </a:r>
            <a:r>
              <a:rPr lang="es-ES_tradnl" dirty="0" smtClean="0"/>
              <a:t/>
            </a:r>
            <a:br>
              <a:rPr lang="es-ES_tradnl" dirty="0" smtClean="0"/>
            </a:b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
        <p:nvSpPr>
          <p:cNvPr id="8" name="Marcador de contenido 2"/>
          <p:cNvSpPr>
            <a:spLocks noGrp="1"/>
          </p:cNvSpPr>
          <p:nvPr>
            <p:ph idx="1"/>
          </p:nvPr>
        </p:nvSpPr>
        <p:spPr>
          <a:xfrm>
            <a:off x="945264" y="1923169"/>
            <a:ext cx="10941935" cy="1796255"/>
          </a:xfrm>
        </p:spPr>
        <p:txBody>
          <a:bodyPr>
            <a:noAutofit/>
          </a:bodyPr>
          <a:lstStyle/>
          <a:p>
            <a:pPr marL="566928" indent="-457200">
              <a:spcAft>
                <a:spcPts val="0"/>
              </a:spcAft>
              <a:buFont typeface="Wingdings" pitchFamily="2" charset="2"/>
              <a:buChar char="Ø"/>
              <a:defRPr/>
            </a:pPr>
            <a:r>
              <a:rPr lang="es-ES" sz="2800" dirty="0" smtClean="0"/>
              <a:t>Algunas </a:t>
            </a:r>
            <a:r>
              <a:rPr lang="es-ES" sz="2800" dirty="0"/>
              <a:t>clases en ADO.NET actúan como </a:t>
            </a:r>
            <a:r>
              <a:rPr lang="es-ES" sz="2800" dirty="0" err="1"/>
              <a:t>proxies</a:t>
            </a:r>
            <a:r>
              <a:rPr lang="es-ES" sz="2800" dirty="0"/>
              <a:t>. Por ejemplo, </a:t>
            </a:r>
            <a:r>
              <a:rPr lang="es-ES" sz="2800" dirty="0" err="1"/>
              <a:t>SqlDataReader</a:t>
            </a:r>
            <a:r>
              <a:rPr lang="es-ES" sz="2800" dirty="0"/>
              <a:t> puede considerarse un proxy que permite acceder a los datos de manera eficiente sin cargar todo en memoria.</a:t>
            </a:r>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2939" y="3240157"/>
            <a:ext cx="10217426" cy="2743200"/>
          </a:xfrm>
          <a:prstGeom prst="rect">
            <a:avLst/>
          </a:prstGeom>
        </p:spPr>
      </p:pic>
    </p:spTree>
    <p:extLst>
      <p:ext uri="{BB962C8B-B14F-4D97-AF65-F5344CB8AC3E}">
        <p14:creationId xmlns:p14="http://schemas.microsoft.com/office/powerpoint/2010/main" val="292778330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Patrones</a:t>
            </a:r>
            <a:r>
              <a:rPr lang="en-US" dirty="0"/>
              <a:t> de </a:t>
            </a:r>
            <a:r>
              <a:rPr lang="en-US" dirty="0" err="1" smtClean="0"/>
              <a:t>Comportamiento</a:t>
            </a:r>
            <a:r>
              <a:rPr lang="en-US" dirty="0" smtClean="0"/>
              <a:t> </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3200" dirty="0" smtClean="0"/>
              <a:t>Los </a:t>
            </a:r>
            <a:r>
              <a:rPr lang="es-ES" sz="3200" dirty="0"/>
              <a:t>patrones de comportamiento están relacionados con la forma de asignar responsabilidades entre las instancias.</a:t>
            </a:r>
          </a:p>
          <a:p>
            <a:pPr marL="566928" indent="-457200">
              <a:spcAft>
                <a:spcPts val="0"/>
              </a:spcAft>
              <a:buFont typeface="Wingdings" pitchFamily="2" charset="2"/>
              <a:buChar char="Ø"/>
              <a:defRPr/>
            </a:pPr>
            <a:r>
              <a:rPr lang="es-ES" sz="3200" dirty="0" smtClean="0"/>
              <a:t>Describen </a:t>
            </a:r>
            <a:r>
              <a:rPr lang="es-ES" sz="3200" dirty="0"/>
              <a:t>no solo patrones de instancias o clases, sino también patrones de comunicación entre ellas</a:t>
            </a:r>
          </a:p>
          <a:p>
            <a:pPr marL="566928" indent="-457200">
              <a:spcAft>
                <a:spcPts val="0"/>
              </a:spcAft>
              <a:buFont typeface="Wingdings" pitchFamily="2" charset="2"/>
              <a:buChar char="Ø"/>
              <a:defRPr/>
            </a:pPr>
            <a:r>
              <a:rPr lang="es-ES" sz="3200" dirty="0" smtClean="0"/>
              <a:t>Se </a:t>
            </a:r>
            <a:r>
              <a:rPr lang="es-ES" sz="3200" dirty="0"/>
              <a:t>caracterizan por un flujo de control complejo que es difícil seguir en tiempo de ejecución</a:t>
            </a:r>
          </a:p>
          <a:p>
            <a:pPr marL="566928" indent="-457200">
              <a:spcAft>
                <a:spcPts val="0"/>
              </a:spcAft>
              <a:buFont typeface="Wingdings" pitchFamily="2" charset="2"/>
              <a:buChar char="Ø"/>
              <a:defRPr/>
            </a:pPr>
            <a:r>
              <a:rPr lang="es-ES" sz="3200" dirty="0" smtClean="0"/>
              <a:t>Alejan </a:t>
            </a:r>
            <a:r>
              <a:rPr lang="es-ES" sz="3200" dirty="0"/>
              <a:t>el enfoque del flujo de ejecución para permitirnos concentrarnos en la forma en que los objetos están interconectados</a:t>
            </a:r>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282412115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Patrones</a:t>
            </a:r>
            <a:r>
              <a:rPr lang="en-US" dirty="0"/>
              <a:t> de </a:t>
            </a:r>
            <a:r>
              <a:rPr lang="en-US" dirty="0" err="1" smtClean="0"/>
              <a:t>Comportamiento</a:t>
            </a:r>
            <a:r>
              <a:rPr lang="en-US" dirty="0" smtClean="0"/>
              <a:t> </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3200" b="1" dirty="0" err="1"/>
              <a:t>Command</a:t>
            </a:r>
            <a:r>
              <a:rPr lang="es-ES" sz="3200" dirty="0"/>
              <a:t>. Encapsula una petición en un objeto, permitiendo así </a:t>
            </a:r>
            <a:r>
              <a:rPr lang="es-ES" sz="3200" dirty="0" err="1"/>
              <a:t>parametrizar</a:t>
            </a:r>
            <a:r>
              <a:rPr lang="es-ES" sz="3200" dirty="0"/>
              <a:t> a los clientes con distintas peticiones, encolar o llevar un registro de las peticiones y poder deshacer la operaciones</a:t>
            </a:r>
          </a:p>
          <a:p>
            <a:pPr marL="566928" indent="-457200">
              <a:spcAft>
                <a:spcPts val="0"/>
              </a:spcAft>
              <a:buFont typeface="Wingdings" pitchFamily="2" charset="2"/>
              <a:buChar char="Ø"/>
              <a:defRPr/>
            </a:pPr>
            <a:r>
              <a:rPr lang="es-ES" sz="3200" b="1" dirty="0" err="1" smtClean="0"/>
              <a:t>Chain</a:t>
            </a:r>
            <a:r>
              <a:rPr lang="es-ES" sz="3200" b="1" dirty="0" smtClean="0"/>
              <a:t> </a:t>
            </a:r>
            <a:r>
              <a:rPr lang="es-ES" sz="3200" b="1" dirty="0"/>
              <a:t>of </a:t>
            </a:r>
            <a:r>
              <a:rPr lang="es-ES" sz="3200" b="1" dirty="0" err="1"/>
              <a:t>Responsibility</a:t>
            </a:r>
            <a:r>
              <a:rPr lang="es-ES" sz="3200" dirty="0"/>
              <a:t>. Evita acoplar el emisor de una petición a su receptor, al dar a más de un objeto la posibilidad de responder a la petición. Crea una cadena con los objetos receptores y pasa la petición a través de la cadena hasta que esta sea tratada por algún objeto. </a:t>
            </a:r>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4077563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Patrones</a:t>
            </a:r>
            <a:r>
              <a:rPr lang="en-US" dirty="0"/>
              <a:t> de </a:t>
            </a:r>
            <a:r>
              <a:rPr lang="en-US" dirty="0" err="1"/>
              <a:t>comportamiento</a:t>
            </a:r>
            <a:r>
              <a:rPr lang="en-US" dirty="0"/>
              <a:t> </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3600" b="1" dirty="0" err="1"/>
              <a:t>Interpreter</a:t>
            </a:r>
            <a:r>
              <a:rPr lang="es-ES" sz="3600" dirty="0"/>
              <a:t>. Dado un lenguaje, define una representación de su gramática junto con un intérprete que usa dicha representación para interpretar las sentencias del lenguaje. </a:t>
            </a:r>
          </a:p>
          <a:p>
            <a:pPr marL="566928" indent="-457200">
              <a:spcAft>
                <a:spcPts val="0"/>
              </a:spcAft>
              <a:buFont typeface="Wingdings" pitchFamily="2" charset="2"/>
              <a:buChar char="Ø"/>
              <a:defRPr/>
            </a:pPr>
            <a:r>
              <a:rPr lang="es-ES" sz="3600" b="1" dirty="0" err="1">
                <a:solidFill>
                  <a:srgbClr val="FF0000"/>
                </a:solidFill>
              </a:rPr>
              <a:t>Iterator</a:t>
            </a:r>
            <a:r>
              <a:rPr lang="es-ES" sz="3600" dirty="0"/>
              <a:t>. Proporciona un modo de acceder secuencialmente a los elementos de un objeto agregado sin exponer su representación interna. </a:t>
            </a:r>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794848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Ejemplo: Patrón </a:t>
            </a:r>
            <a:r>
              <a:rPr lang="es-ES_tradnl" dirty="0" err="1"/>
              <a:t>Iterator</a:t>
            </a: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pic>
        <p:nvPicPr>
          <p:cNvPr id="10242" name="Picture 2" descr="https://www.dofactory.com/img/diagrams/net/iterato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35" y="1868557"/>
            <a:ext cx="4572543" cy="4412974"/>
          </a:xfrm>
          <a:prstGeom prst="rect">
            <a:avLst/>
          </a:prstGeom>
          <a:noFill/>
          <a:extLst>
            <a:ext uri="{909E8E84-426E-40DD-AFC4-6F175D3DCCD1}">
              <a14:hiddenFill xmlns:a14="http://schemas.microsoft.com/office/drawing/2010/main">
                <a:solidFill>
                  <a:srgbClr val="FFFFFF"/>
                </a:solidFill>
              </a14:hiddenFill>
            </a:ext>
          </a:extLst>
        </p:spPr>
      </p:pic>
      <p:sp>
        <p:nvSpPr>
          <p:cNvPr id="8" name="Marcador de contenido 2"/>
          <p:cNvSpPr txBox="1">
            <a:spLocks/>
          </p:cNvSpPr>
          <p:nvPr/>
        </p:nvSpPr>
        <p:spPr>
          <a:xfrm>
            <a:off x="4591878" y="1709531"/>
            <a:ext cx="7600124" cy="4572000"/>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b="1" dirty="0"/>
              <a:t>Iterator</a:t>
            </a:r>
            <a:r>
              <a:rPr lang="en-US" sz="2400" dirty="0"/>
              <a:t>  (</a:t>
            </a:r>
            <a:r>
              <a:rPr lang="en-US" sz="2400" i="1" dirty="0" err="1"/>
              <a:t>AbstractIterator</a:t>
            </a:r>
            <a:r>
              <a:rPr lang="en-US" sz="2400" dirty="0"/>
              <a:t>) </a:t>
            </a:r>
          </a:p>
          <a:p>
            <a:pPr lvl="1"/>
            <a:r>
              <a:rPr lang="es-ES" sz="2400" dirty="0"/>
              <a:t>define una interfaz para acceder y recorrer elementos</a:t>
            </a:r>
            <a:r>
              <a:rPr lang="es-ES" sz="2400" dirty="0" smtClean="0"/>
              <a:t>.</a:t>
            </a:r>
          </a:p>
          <a:p>
            <a:r>
              <a:rPr lang="en-US" sz="2400" b="1" dirty="0" err="1" smtClean="0"/>
              <a:t>ConcreteIterator</a:t>
            </a:r>
            <a:r>
              <a:rPr lang="en-US" sz="2400" dirty="0"/>
              <a:t>  (</a:t>
            </a:r>
            <a:r>
              <a:rPr lang="en-US" sz="2400" i="1" dirty="0"/>
              <a:t>Iterator</a:t>
            </a:r>
            <a:r>
              <a:rPr lang="en-US" sz="2400" dirty="0"/>
              <a:t>) </a:t>
            </a:r>
          </a:p>
          <a:p>
            <a:pPr lvl="1"/>
            <a:r>
              <a:rPr lang="en-US" sz="2400" dirty="0" err="1"/>
              <a:t>implementa</a:t>
            </a:r>
            <a:r>
              <a:rPr lang="en-US" sz="2400" dirty="0"/>
              <a:t> la </a:t>
            </a:r>
            <a:r>
              <a:rPr lang="en-US" sz="2400" dirty="0" err="1"/>
              <a:t>interfaz</a:t>
            </a:r>
            <a:r>
              <a:rPr lang="en-US" sz="2400" dirty="0"/>
              <a:t> Iterator</a:t>
            </a:r>
            <a:r>
              <a:rPr lang="en-US" sz="2400" dirty="0" smtClean="0"/>
              <a:t>.</a:t>
            </a:r>
          </a:p>
          <a:p>
            <a:pPr lvl="1"/>
            <a:r>
              <a:rPr lang="es-ES" sz="2400" dirty="0"/>
              <a:t>realiza un seguimiento de la posición actual en el recorrido del agregado</a:t>
            </a:r>
            <a:r>
              <a:rPr lang="es-ES" sz="2400" dirty="0" smtClean="0"/>
              <a:t>.</a:t>
            </a:r>
          </a:p>
          <a:p>
            <a:r>
              <a:rPr lang="en-US" sz="2400" b="1" dirty="0" smtClean="0"/>
              <a:t>Aggregate</a:t>
            </a:r>
            <a:r>
              <a:rPr lang="en-US" sz="2400" dirty="0"/>
              <a:t>  (</a:t>
            </a:r>
            <a:r>
              <a:rPr lang="en-US" sz="2400" i="1" dirty="0" err="1"/>
              <a:t>AbstractCollection</a:t>
            </a:r>
            <a:r>
              <a:rPr lang="en-US" sz="2400" dirty="0"/>
              <a:t>) </a:t>
            </a:r>
          </a:p>
          <a:p>
            <a:pPr lvl="1"/>
            <a:r>
              <a:rPr lang="es-ES" sz="2400" dirty="0"/>
              <a:t>define una interfaz para crear un objeto </a:t>
            </a:r>
            <a:r>
              <a:rPr lang="es-ES" sz="2400" dirty="0" err="1" smtClean="0"/>
              <a:t>Iterator</a:t>
            </a:r>
            <a:endParaRPr lang="es-ES" sz="2400" dirty="0" smtClean="0"/>
          </a:p>
          <a:p>
            <a:r>
              <a:rPr lang="en-US" sz="2400" b="1" dirty="0" err="1" smtClean="0"/>
              <a:t>ConcreteAggregate</a:t>
            </a:r>
            <a:r>
              <a:rPr lang="en-US" sz="2400" dirty="0"/>
              <a:t>  (</a:t>
            </a:r>
            <a:r>
              <a:rPr lang="en-US" sz="2400" i="1" dirty="0"/>
              <a:t>Collection</a:t>
            </a:r>
            <a:r>
              <a:rPr lang="en-US" sz="2400" dirty="0"/>
              <a:t>) </a:t>
            </a:r>
          </a:p>
          <a:p>
            <a:pPr lvl="1"/>
            <a:r>
              <a:rPr lang="es-ES" sz="2400" dirty="0"/>
              <a:t>implementa la interfaz de creación </a:t>
            </a:r>
            <a:r>
              <a:rPr lang="es-ES" sz="2400" dirty="0" err="1"/>
              <a:t>Iterator</a:t>
            </a:r>
            <a:r>
              <a:rPr lang="es-ES" sz="2400" dirty="0"/>
              <a:t> para devolver una instancia del </a:t>
            </a:r>
            <a:r>
              <a:rPr lang="es-ES" sz="2400" dirty="0" err="1"/>
              <a:t>ConcreteIterator</a:t>
            </a:r>
            <a:r>
              <a:rPr lang="es-ES" sz="2400" dirty="0"/>
              <a:t> adecuado</a:t>
            </a:r>
          </a:p>
        </p:txBody>
      </p:sp>
    </p:spTree>
    <p:extLst>
      <p:ext uri="{BB962C8B-B14F-4D97-AF65-F5344CB8AC3E}">
        <p14:creationId xmlns:p14="http://schemas.microsoft.com/office/powerpoint/2010/main" val="31393380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0"/>
            <a:ext cx="10058400" cy="914400"/>
          </a:xfrm>
        </p:spPr>
        <p:txBody>
          <a:bodyPr>
            <a:normAutofit/>
          </a:bodyPr>
          <a:lstStyle/>
          <a:p>
            <a:pPr algn="ctr"/>
            <a:r>
              <a:rPr lang="es-ES_tradnl" dirty="0"/>
              <a:t>Ejemplo: Patrón </a:t>
            </a:r>
            <a:r>
              <a:rPr lang="es-ES_tradnl" dirty="0" err="1"/>
              <a:t>Iterator</a:t>
            </a: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
        <p:nvSpPr>
          <p:cNvPr id="7" name="Marcador de contenido 2"/>
          <p:cNvSpPr>
            <a:spLocks noGrp="1"/>
          </p:cNvSpPr>
          <p:nvPr>
            <p:ph idx="1"/>
          </p:nvPr>
        </p:nvSpPr>
        <p:spPr>
          <a:xfrm>
            <a:off x="945264" y="1923170"/>
            <a:ext cx="10941935" cy="1476014"/>
          </a:xfrm>
        </p:spPr>
        <p:txBody>
          <a:bodyPr>
            <a:noAutofit/>
          </a:bodyPr>
          <a:lstStyle/>
          <a:p>
            <a:pPr marL="566928" indent="-457200">
              <a:spcAft>
                <a:spcPts val="0"/>
              </a:spcAft>
              <a:buFont typeface="Wingdings" pitchFamily="2" charset="2"/>
              <a:buChar char="Ø"/>
              <a:defRPr/>
            </a:pPr>
            <a:r>
              <a:rPr lang="es-ES" sz="2800" dirty="0" smtClean="0"/>
              <a:t>El </a:t>
            </a:r>
            <a:r>
              <a:rPr lang="es-ES" sz="2800" dirty="0"/>
              <a:t>patrón </a:t>
            </a:r>
            <a:r>
              <a:rPr lang="es-ES" sz="2800" dirty="0" err="1"/>
              <a:t>Iterator</a:t>
            </a:r>
            <a:r>
              <a:rPr lang="es-ES" sz="2800" dirty="0"/>
              <a:t> se puede observar en las colecciones genéricas de .NET, como </a:t>
            </a:r>
            <a:r>
              <a:rPr lang="es-ES" sz="2800" dirty="0" err="1"/>
              <a:t>List</a:t>
            </a:r>
            <a:r>
              <a:rPr lang="es-ES" sz="2800" dirty="0"/>
              <a:t>&lt;T&gt;, que implementa </a:t>
            </a:r>
            <a:r>
              <a:rPr lang="es-ES" sz="2800" dirty="0" err="1"/>
              <a:t>IEnumerable</a:t>
            </a:r>
            <a:r>
              <a:rPr lang="es-ES" sz="2800" dirty="0"/>
              <a:t>&lt;T&gt; y permite iterar sobre sus elementos.</a:t>
            </a:r>
          </a:p>
        </p:txBody>
      </p:sp>
      <p:pic>
        <p:nvPicPr>
          <p:cNvPr id="8" name="7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061" y="3319670"/>
            <a:ext cx="10734261" cy="2007704"/>
          </a:xfrm>
          <a:prstGeom prst="rect">
            <a:avLst/>
          </a:prstGeom>
        </p:spPr>
      </p:pic>
    </p:spTree>
    <p:extLst>
      <p:ext uri="{BB962C8B-B14F-4D97-AF65-F5344CB8AC3E}">
        <p14:creationId xmlns:p14="http://schemas.microsoft.com/office/powerpoint/2010/main" val="91470154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Patrones</a:t>
            </a:r>
            <a:r>
              <a:rPr lang="en-US" dirty="0"/>
              <a:t> de </a:t>
            </a:r>
            <a:r>
              <a:rPr lang="en-US" dirty="0" err="1" smtClean="0"/>
              <a:t>Comportamiento</a:t>
            </a:r>
            <a:r>
              <a:rPr lang="en-US" dirty="0" smtClean="0"/>
              <a:t> </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3200" b="1" dirty="0"/>
              <a:t>Mediator</a:t>
            </a:r>
            <a:r>
              <a:rPr lang="es-ES" sz="3200" dirty="0"/>
              <a:t>. Define un objeto que encapsula cómo interactúan un conjunto de objetos. Promueve un bajo acoplamiento al evitar que los objetos se refieran unos a otros explícitamente, y permite variar la interacción entre ellos de forma independiente. </a:t>
            </a:r>
          </a:p>
          <a:p>
            <a:pPr marL="566928" indent="-457200">
              <a:spcAft>
                <a:spcPts val="0"/>
              </a:spcAft>
              <a:buFont typeface="Wingdings" pitchFamily="2" charset="2"/>
              <a:buChar char="Ø"/>
              <a:defRPr/>
            </a:pPr>
            <a:r>
              <a:rPr lang="es-ES" sz="3200" b="1" dirty="0"/>
              <a:t>Memento</a:t>
            </a:r>
            <a:r>
              <a:rPr lang="es-ES" sz="3200" dirty="0"/>
              <a:t>. Representa y externaliza el estado interno de un objeto sin violar la encapsulación, de forma que éste puede volver a dicho estado más tarde</a:t>
            </a:r>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3837337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Patrones</a:t>
            </a:r>
            <a:r>
              <a:rPr lang="en-US" dirty="0"/>
              <a:t> de </a:t>
            </a:r>
            <a:r>
              <a:rPr lang="en-US" dirty="0" err="1"/>
              <a:t>comportamiento</a:t>
            </a:r>
            <a:r>
              <a:rPr lang="en-US" dirty="0"/>
              <a:t> </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3200" b="1" dirty="0" err="1"/>
              <a:t>Strategy</a:t>
            </a:r>
            <a:r>
              <a:rPr lang="es-ES" sz="3200" dirty="0"/>
              <a:t>. Define una familia de algoritmos, encapsula uno de ellos y los hace intercambiables. Permite que un algoritmo varíe independientemente de los clientes que lo usan. </a:t>
            </a:r>
          </a:p>
          <a:p>
            <a:pPr marL="566928" indent="-457200">
              <a:spcAft>
                <a:spcPts val="0"/>
              </a:spcAft>
              <a:buFont typeface="Wingdings" pitchFamily="2" charset="2"/>
              <a:buChar char="Ø"/>
              <a:defRPr/>
            </a:pPr>
            <a:r>
              <a:rPr lang="es-ES" sz="3200" b="1" dirty="0" err="1"/>
              <a:t>Template</a:t>
            </a:r>
            <a:r>
              <a:rPr lang="es-ES" sz="3200" b="1" dirty="0"/>
              <a:t> </a:t>
            </a:r>
            <a:r>
              <a:rPr lang="es-ES" sz="3200" b="1" dirty="0" err="1"/>
              <a:t>Method</a:t>
            </a:r>
            <a:r>
              <a:rPr lang="es-ES" sz="3200" dirty="0"/>
              <a:t>. Define en una operación el esqueleto de un algoritmo, delegando en las subclases algunos de sus pasos. Permite que las subclases redefinan ciertos pasos del algoritmo sin cambiar su estructura </a:t>
            </a:r>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203162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Patrones</a:t>
            </a:r>
            <a:r>
              <a:rPr lang="en-US" dirty="0"/>
              <a:t> de </a:t>
            </a:r>
            <a:r>
              <a:rPr lang="en-US" dirty="0" err="1"/>
              <a:t>comportamiento</a:t>
            </a:r>
            <a:r>
              <a:rPr lang="en-US" dirty="0"/>
              <a:t> </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3600" b="1" dirty="0" err="1"/>
              <a:t>Visitor</a:t>
            </a:r>
            <a:r>
              <a:rPr lang="es-ES" sz="3600" dirty="0"/>
              <a:t>. Representa una operación sobre los elementos de una estructura de objetos. Permite definir una nueva operación sin cambiar las clases de los elementos sobre los que opera. </a:t>
            </a:r>
          </a:p>
          <a:p>
            <a:pPr marL="566928" indent="-457200">
              <a:spcAft>
                <a:spcPts val="0"/>
              </a:spcAft>
              <a:buFont typeface="Wingdings" pitchFamily="2" charset="2"/>
              <a:buChar char="Ø"/>
              <a:defRPr/>
            </a:pPr>
            <a:r>
              <a:rPr lang="es-ES" sz="3600" b="1" dirty="0" err="1">
                <a:solidFill>
                  <a:srgbClr val="FF0000"/>
                </a:solidFill>
              </a:rPr>
              <a:t>Observer</a:t>
            </a:r>
            <a:r>
              <a:rPr lang="es-ES" sz="3600" dirty="0"/>
              <a:t>. Define una dependencia de uno a muchos entre objetos para que cuando un objeto cambie de estado, todos sus dependientes sean notificados y actualizados automáticamente.</a:t>
            </a:r>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3392118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77402" y="0"/>
            <a:ext cx="10058400" cy="1263901"/>
          </a:xfrm>
        </p:spPr>
        <p:txBody>
          <a:bodyPr>
            <a:normAutofit/>
          </a:bodyPr>
          <a:lstStyle/>
          <a:p>
            <a:pPr algn="ctr"/>
            <a:r>
              <a:rPr lang="es-ES_tradnl" dirty="0"/>
              <a:t>Ejemplo: Patrón </a:t>
            </a:r>
            <a:r>
              <a:rPr lang="es-ES_tradnl" dirty="0" err="1"/>
              <a:t>Observer</a:t>
            </a: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pic>
        <p:nvPicPr>
          <p:cNvPr id="12290" name="Picture 2" descr="https://www.dofactory.com/img/diagrams/net/observ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789044"/>
            <a:ext cx="5446642" cy="4532244"/>
          </a:xfrm>
          <a:prstGeom prst="rect">
            <a:avLst/>
          </a:prstGeom>
          <a:noFill/>
          <a:extLst>
            <a:ext uri="{909E8E84-426E-40DD-AFC4-6F175D3DCCD1}">
              <a14:hiddenFill xmlns:a14="http://schemas.microsoft.com/office/drawing/2010/main">
                <a:solidFill>
                  <a:srgbClr val="FFFFFF"/>
                </a:solidFill>
              </a14:hiddenFill>
            </a:ext>
          </a:extLst>
        </p:spPr>
      </p:pic>
      <p:sp>
        <p:nvSpPr>
          <p:cNvPr id="8" name="Marcador de contenido 2"/>
          <p:cNvSpPr txBox="1">
            <a:spLocks/>
          </p:cNvSpPr>
          <p:nvPr/>
        </p:nvSpPr>
        <p:spPr>
          <a:xfrm>
            <a:off x="5446643" y="1789043"/>
            <a:ext cx="6745358" cy="4671393"/>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1800" b="1" dirty="0"/>
              <a:t>Subject</a:t>
            </a:r>
            <a:r>
              <a:rPr lang="en-US" sz="1800" dirty="0"/>
              <a:t>  (Stock) </a:t>
            </a:r>
          </a:p>
          <a:p>
            <a:pPr lvl="1"/>
            <a:r>
              <a:rPr lang="es-ES" dirty="0"/>
              <a:t>conoce a sus observadores. Cualquier número de objetos </a:t>
            </a:r>
            <a:r>
              <a:rPr lang="es-ES" dirty="0" err="1"/>
              <a:t>Observer</a:t>
            </a:r>
            <a:r>
              <a:rPr lang="es-ES" dirty="0"/>
              <a:t> puede observar a un </a:t>
            </a:r>
            <a:r>
              <a:rPr lang="es-ES" dirty="0" smtClean="0"/>
              <a:t>sujeto.</a:t>
            </a:r>
            <a:r>
              <a:rPr lang="en-US" dirty="0" err="1" smtClean="0"/>
              <a:t>Proporciona</a:t>
            </a:r>
            <a:r>
              <a:rPr lang="en-US" dirty="0" smtClean="0"/>
              <a:t> </a:t>
            </a:r>
            <a:r>
              <a:rPr lang="en-US" dirty="0" err="1"/>
              <a:t>una</a:t>
            </a:r>
            <a:r>
              <a:rPr lang="en-US" dirty="0"/>
              <a:t> </a:t>
            </a:r>
            <a:r>
              <a:rPr lang="en-US" dirty="0" err="1"/>
              <a:t>interfaz</a:t>
            </a:r>
            <a:r>
              <a:rPr lang="en-US" dirty="0"/>
              <a:t> </a:t>
            </a:r>
            <a:r>
              <a:rPr lang="en-US" dirty="0" err="1"/>
              <a:t>para</a:t>
            </a:r>
            <a:r>
              <a:rPr lang="en-US" dirty="0"/>
              <a:t> </a:t>
            </a:r>
            <a:r>
              <a:rPr lang="en-US" dirty="0" err="1"/>
              <a:t>adjuntar</a:t>
            </a:r>
            <a:r>
              <a:rPr lang="en-US" dirty="0"/>
              <a:t> y </a:t>
            </a:r>
            <a:r>
              <a:rPr lang="en-US" dirty="0" err="1"/>
              <a:t>separar</a:t>
            </a:r>
            <a:r>
              <a:rPr lang="en-US" dirty="0"/>
              <a:t> </a:t>
            </a:r>
            <a:r>
              <a:rPr lang="en-US" dirty="0" err="1"/>
              <a:t>objetos</a:t>
            </a:r>
            <a:r>
              <a:rPr lang="en-US" dirty="0"/>
              <a:t> Observer</a:t>
            </a:r>
            <a:r>
              <a:rPr lang="en-US" dirty="0" smtClean="0"/>
              <a:t>.</a:t>
            </a:r>
          </a:p>
          <a:p>
            <a:r>
              <a:rPr lang="en-US" sz="1800" b="1" dirty="0" err="1" smtClean="0"/>
              <a:t>ConcreteSubject</a:t>
            </a:r>
            <a:r>
              <a:rPr lang="en-US" sz="1800" dirty="0"/>
              <a:t>  (IBM) </a:t>
            </a:r>
          </a:p>
          <a:p>
            <a:pPr lvl="1"/>
            <a:r>
              <a:rPr lang="es-ES" dirty="0"/>
              <a:t>almacena el estado de interés para </a:t>
            </a:r>
            <a:r>
              <a:rPr lang="es-ES" dirty="0" err="1" smtClean="0"/>
              <a:t>ConcreteObserver</a:t>
            </a:r>
            <a:r>
              <a:rPr lang="es-ES" dirty="0" smtClean="0"/>
              <a:t> .Envía </a:t>
            </a:r>
            <a:r>
              <a:rPr lang="es-ES" dirty="0"/>
              <a:t>una notificación a sus observadores cuando su estado </a:t>
            </a:r>
            <a:r>
              <a:rPr lang="es-ES" dirty="0" smtClean="0"/>
              <a:t>cambia</a:t>
            </a:r>
          </a:p>
          <a:p>
            <a:r>
              <a:rPr lang="en-US" sz="1800" b="1" dirty="0" smtClean="0"/>
              <a:t>Observer</a:t>
            </a:r>
            <a:r>
              <a:rPr lang="en-US" sz="1800" dirty="0"/>
              <a:t>  (</a:t>
            </a:r>
            <a:r>
              <a:rPr lang="en-US" sz="1800" dirty="0" err="1"/>
              <a:t>IInvestor</a:t>
            </a:r>
            <a:r>
              <a:rPr lang="en-US" sz="1800" dirty="0"/>
              <a:t>) </a:t>
            </a:r>
          </a:p>
          <a:p>
            <a:pPr lvl="1"/>
            <a:r>
              <a:rPr lang="es-ES" dirty="0"/>
              <a:t>define una interfaz de actualización para los objetos a los que se les debe notificar sobre los cambios en un sujeto</a:t>
            </a:r>
            <a:r>
              <a:rPr lang="es-ES" dirty="0" smtClean="0"/>
              <a:t>.</a:t>
            </a:r>
          </a:p>
          <a:p>
            <a:r>
              <a:rPr lang="en-US" sz="1800" b="1" dirty="0" err="1" smtClean="0"/>
              <a:t>ConcreteObserver</a:t>
            </a:r>
            <a:r>
              <a:rPr lang="en-US" sz="1800" dirty="0"/>
              <a:t>  (Investor) </a:t>
            </a:r>
          </a:p>
          <a:p>
            <a:pPr lvl="1"/>
            <a:r>
              <a:rPr lang="es-ES" dirty="0"/>
              <a:t>mantiene una referencia a un objeto </a:t>
            </a:r>
            <a:r>
              <a:rPr lang="es-ES" dirty="0" err="1" smtClean="0"/>
              <a:t>ConcreteSubject</a:t>
            </a:r>
            <a:r>
              <a:rPr lang="es-ES" dirty="0" smtClean="0"/>
              <a:t> .Almacena </a:t>
            </a:r>
            <a:r>
              <a:rPr lang="es-ES" dirty="0"/>
              <a:t>el estado que debe mantenerse coherente con el del </a:t>
            </a:r>
            <a:r>
              <a:rPr lang="es-ES" dirty="0" smtClean="0"/>
              <a:t>sujeto. Implementa </a:t>
            </a:r>
            <a:r>
              <a:rPr lang="es-ES" dirty="0"/>
              <a:t>la interfaz de actualización </a:t>
            </a:r>
            <a:r>
              <a:rPr lang="es-ES" dirty="0" err="1"/>
              <a:t>Observer</a:t>
            </a:r>
            <a:r>
              <a:rPr lang="es-ES" dirty="0"/>
              <a:t> para mantener su estado coherente con el del sujeto</a:t>
            </a:r>
            <a:r>
              <a:rPr lang="es-ES" dirty="0" smtClean="0"/>
              <a:t>.</a:t>
            </a:r>
          </a:p>
          <a:p>
            <a:pPr marL="566928" indent="-457200">
              <a:spcAft>
                <a:spcPts val="0"/>
              </a:spcAft>
              <a:buFont typeface="Wingdings" pitchFamily="2" charset="2"/>
              <a:buChar char="Ø"/>
              <a:defRPr/>
            </a:pPr>
            <a:endParaRPr lang="es-ES" sz="1800" dirty="0"/>
          </a:p>
        </p:txBody>
      </p:sp>
    </p:spTree>
    <p:extLst>
      <p:ext uri="{BB962C8B-B14F-4D97-AF65-F5344CB8AC3E}">
        <p14:creationId xmlns:p14="http://schemas.microsoft.com/office/powerpoint/2010/main" val="95165650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77402" y="0"/>
            <a:ext cx="10058400" cy="1263901"/>
          </a:xfrm>
        </p:spPr>
        <p:txBody>
          <a:bodyPr>
            <a:normAutofit/>
          </a:bodyPr>
          <a:lstStyle/>
          <a:p>
            <a:pPr algn="ctr"/>
            <a:r>
              <a:rPr lang="es-ES_tradnl" dirty="0"/>
              <a:t>Ejemplo: Patrón </a:t>
            </a:r>
            <a:r>
              <a:rPr lang="es-ES_tradnl" dirty="0" err="1"/>
              <a:t>Observer</a:t>
            </a: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
        <p:nvSpPr>
          <p:cNvPr id="4" name="Marcador de contenido 2"/>
          <p:cNvSpPr>
            <a:spLocks noGrp="1"/>
          </p:cNvSpPr>
          <p:nvPr>
            <p:ph idx="1"/>
          </p:nvPr>
        </p:nvSpPr>
        <p:spPr>
          <a:xfrm>
            <a:off x="945264" y="1923170"/>
            <a:ext cx="10941935" cy="1635039"/>
          </a:xfrm>
        </p:spPr>
        <p:txBody>
          <a:bodyPr>
            <a:noAutofit/>
          </a:bodyPr>
          <a:lstStyle/>
          <a:p>
            <a:pPr marL="566928" indent="-457200">
              <a:spcAft>
                <a:spcPts val="0"/>
              </a:spcAft>
              <a:buFont typeface="Wingdings" pitchFamily="2" charset="2"/>
              <a:buChar char="Ø"/>
              <a:defRPr/>
            </a:pPr>
            <a:r>
              <a:rPr lang="es-ES" sz="2800" dirty="0" err="1" smtClean="0"/>
              <a:t>SignalR</a:t>
            </a:r>
            <a:r>
              <a:rPr lang="es-ES" sz="2800" dirty="0" smtClean="0"/>
              <a:t> </a:t>
            </a:r>
            <a:r>
              <a:rPr lang="es-ES" sz="2800" dirty="0"/>
              <a:t>es una biblioteca de ASP.NET que permite la comunicación en tiempo real entre el servidor y los clientes. Utiliza el patrón </a:t>
            </a:r>
            <a:r>
              <a:rPr lang="es-ES" sz="2800" dirty="0" err="1"/>
              <a:t>Observer</a:t>
            </a:r>
            <a:r>
              <a:rPr lang="es-ES" sz="2800" dirty="0"/>
              <a:t> para notificar a los clientes sobre eventos en el servidor.</a:t>
            </a:r>
            <a:endParaRPr lang="es-ES" sz="2800" dirty="0" smtClean="0"/>
          </a:p>
          <a:p>
            <a:pPr marL="566928" indent="-457200">
              <a:spcAft>
                <a:spcPts val="0"/>
              </a:spcAft>
              <a:buFont typeface="Wingdings" pitchFamily="2" charset="2"/>
              <a:buChar char="Ø"/>
              <a:defRPr/>
            </a:pPr>
            <a:endParaRPr lang="es-ES" sz="2800" dirty="0"/>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5254" y="3428999"/>
            <a:ext cx="9538033" cy="2554357"/>
          </a:xfrm>
          <a:prstGeom prst="rect">
            <a:avLst/>
          </a:prstGeom>
        </p:spPr>
      </p:pic>
    </p:spTree>
    <p:extLst>
      <p:ext uri="{BB962C8B-B14F-4D97-AF65-F5344CB8AC3E}">
        <p14:creationId xmlns:p14="http://schemas.microsoft.com/office/powerpoint/2010/main" val="121891862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77402" y="0"/>
            <a:ext cx="10058400" cy="1263901"/>
          </a:xfrm>
        </p:spPr>
        <p:txBody>
          <a:bodyPr>
            <a:normAutofit/>
          </a:bodyPr>
          <a:lstStyle/>
          <a:p>
            <a:pPr algn="ctr"/>
            <a:r>
              <a:rPr lang="es-ES_tradnl" dirty="0"/>
              <a:t>Ejemplo: Patrón </a:t>
            </a:r>
            <a:r>
              <a:rPr lang="es-ES_tradnl" dirty="0" err="1"/>
              <a:t>Observer</a:t>
            </a:r>
            <a:endParaRPr lang="es-ES"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
        <p:nvSpPr>
          <p:cNvPr id="4" name="Marcador de contenido 2"/>
          <p:cNvSpPr>
            <a:spLocks noGrp="1"/>
          </p:cNvSpPr>
          <p:nvPr>
            <p:ph idx="1"/>
          </p:nvPr>
        </p:nvSpPr>
        <p:spPr>
          <a:xfrm>
            <a:off x="945264" y="1923171"/>
            <a:ext cx="10941935" cy="1416378"/>
          </a:xfrm>
        </p:spPr>
        <p:txBody>
          <a:bodyPr>
            <a:noAutofit/>
          </a:bodyPr>
          <a:lstStyle/>
          <a:p>
            <a:pPr marL="566928" indent="-457200">
              <a:spcAft>
                <a:spcPts val="0"/>
              </a:spcAft>
              <a:buFont typeface="Wingdings" pitchFamily="2" charset="2"/>
              <a:buChar char="Ø"/>
              <a:defRPr/>
            </a:pPr>
            <a:r>
              <a:rPr lang="es-ES" sz="2800" dirty="0"/>
              <a:t>En Windows </a:t>
            </a:r>
            <a:r>
              <a:rPr lang="es-ES" sz="2800" dirty="0" err="1"/>
              <a:t>Forms</a:t>
            </a:r>
            <a:r>
              <a:rPr lang="es-ES" sz="2800" dirty="0"/>
              <a:t>, los controles como </a:t>
            </a:r>
            <a:r>
              <a:rPr lang="es-ES" sz="2800" dirty="0" err="1"/>
              <a:t>Button</a:t>
            </a:r>
            <a:r>
              <a:rPr lang="es-ES" sz="2800" dirty="0"/>
              <a:t>, </a:t>
            </a:r>
            <a:r>
              <a:rPr lang="es-ES" sz="2800" dirty="0" err="1"/>
              <a:t>TextBox</a:t>
            </a:r>
            <a:r>
              <a:rPr lang="es-ES" sz="2800" dirty="0"/>
              <a:t>, etc., utilizan el patrón </a:t>
            </a:r>
            <a:r>
              <a:rPr lang="es-ES" sz="2800" dirty="0" err="1"/>
              <a:t>Observer</a:t>
            </a:r>
            <a:r>
              <a:rPr lang="es-ES" sz="2800" dirty="0"/>
              <a:t> para notificar cambios en su estado (por ejemplo, cuando se hace clic en un botón).</a:t>
            </a: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7067" y="3107898"/>
            <a:ext cx="9188290" cy="2152951"/>
          </a:xfrm>
          <a:prstGeom prst="rect">
            <a:avLst/>
          </a:prstGeom>
        </p:spPr>
      </p:pic>
      <p:pic>
        <p:nvPicPr>
          <p:cNvPr id="6" name="5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32834" y="5260849"/>
            <a:ext cx="9229906" cy="1100194"/>
          </a:xfrm>
          <a:prstGeom prst="rect">
            <a:avLst/>
          </a:prstGeom>
        </p:spPr>
      </p:pic>
    </p:spTree>
    <p:extLst>
      <p:ext uri="{BB962C8B-B14F-4D97-AF65-F5344CB8AC3E}">
        <p14:creationId xmlns:p14="http://schemas.microsoft.com/office/powerpoint/2010/main" val="185346067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AntiPatrones</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3600" dirty="0"/>
              <a:t>Los </a:t>
            </a:r>
            <a:r>
              <a:rPr lang="es-ES" sz="3600" dirty="0" err="1"/>
              <a:t>antipatrones</a:t>
            </a:r>
            <a:r>
              <a:rPr lang="es-ES" sz="3600" dirty="0"/>
              <a:t> muestran formas de enfrentarse a problemas con consecuencias negativas conocidas.</a:t>
            </a:r>
          </a:p>
          <a:p>
            <a:pPr marL="566928" indent="-457200">
              <a:spcAft>
                <a:spcPts val="0"/>
              </a:spcAft>
              <a:buFont typeface="Wingdings" pitchFamily="2" charset="2"/>
              <a:buChar char="Ø"/>
              <a:defRPr/>
            </a:pPr>
            <a:endParaRPr lang="es-ES" sz="3600" dirty="0"/>
          </a:p>
          <a:p>
            <a:pPr marL="566928" indent="-457200">
              <a:spcAft>
                <a:spcPts val="0"/>
              </a:spcAft>
              <a:buFont typeface="Wingdings" pitchFamily="2" charset="2"/>
              <a:buChar char="Ø"/>
              <a:defRPr/>
            </a:pPr>
            <a:r>
              <a:rPr lang="es-ES" sz="3600" dirty="0"/>
              <a:t>Se basan en la idea de que descartar las alternativas incorrectas puede ayudar a la elección de la mejor alternativa.</a:t>
            </a:r>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315073872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AntiPatrones</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2800" dirty="0" err="1"/>
              <a:t>The</a:t>
            </a:r>
            <a:r>
              <a:rPr lang="es-ES" sz="2800" dirty="0"/>
              <a:t> blob (clases gigantes)</a:t>
            </a:r>
          </a:p>
          <a:p>
            <a:pPr marL="566928" indent="-457200">
              <a:spcAft>
                <a:spcPts val="0"/>
              </a:spcAft>
              <a:buFont typeface="Wingdings" pitchFamily="2" charset="2"/>
              <a:buChar char="Ø"/>
              <a:defRPr/>
            </a:pPr>
            <a:r>
              <a:rPr lang="es-ES" sz="2800" dirty="0"/>
              <a:t>Lava </a:t>
            </a:r>
            <a:r>
              <a:rPr lang="es-ES" sz="2800" dirty="0" err="1"/>
              <a:t>flow</a:t>
            </a:r>
            <a:r>
              <a:rPr lang="es-ES" sz="2800" dirty="0"/>
              <a:t> (código muerto)</a:t>
            </a:r>
          </a:p>
          <a:p>
            <a:pPr marL="566928" indent="-457200">
              <a:spcAft>
                <a:spcPts val="0"/>
              </a:spcAft>
              <a:buFont typeface="Wingdings" pitchFamily="2" charset="2"/>
              <a:buChar char="Ø"/>
              <a:defRPr/>
            </a:pPr>
            <a:r>
              <a:rPr lang="es-ES" sz="2800" dirty="0" err="1"/>
              <a:t>Functional</a:t>
            </a:r>
            <a:r>
              <a:rPr lang="es-ES" sz="2800" dirty="0"/>
              <a:t> </a:t>
            </a:r>
            <a:r>
              <a:rPr lang="es-ES" sz="2800" dirty="0" err="1"/>
              <a:t>Decomposition</a:t>
            </a:r>
            <a:r>
              <a:rPr lang="es-ES" sz="2800" dirty="0"/>
              <a:t> (Diseño No Orientado a Objetos)</a:t>
            </a:r>
          </a:p>
          <a:p>
            <a:pPr marL="566928" indent="-457200">
              <a:spcAft>
                <a:spcPts val="0"/>
              </a:spcAft>
              <a:buFont typeface="Wingdings" pitchFamily="2" charset="2"/>
              <a:buChar char="Ø"/>
              <a:defRPr/>
            </a:pPr>
            <a:r>
              <a:rPr lang="es-ES" sz="2800" dirty="0" err="1"/>
              <a:t>Poltergeists</a:t>
            </a:r>
            <a:r>
              <a:rPr lang="es-ES" sz="2800" dirty="0"/>
              <a:t> (No se sabe lo que hacen algunas clases)</a:t>
            </a:r>
          </a:p>
          <a:p>
            <a:pPr marL="566928" indent="-457200">
              <a:spcAft>
                <a:spcPts val="0"/>
              </a:spcAft>
              <a:buFont typeface="Wingdings" pitchFamily="2" charset="2"/>
              <a:buChar char="Ø"/>
              <a:defRPr/>
            </a:pPr>
            <a:r>
              <a:rPr lang="es-ES" sz="2800" dirty="0"/>
              <a:t>Golden </a:t>
            </a:r>
            <a:r>
              <a:rPr lang="es-ES" sz="2800" dirty="0" err="1"/>
              <a:t>Hammer</a:t>
            </a:r>
            <a:r>
              <a:rPr lang="es-ES" sz="2800" dirty="0"/>
              <a:t> (Para un martillo todo son clavos)</a:t>
            </a:r>
          </a:p>
          <a:p>
            <a:pPr marL="566928" indent="-457200">
              <a:spcAft>
                <a:spcPts val="0"/>
              </a:spcAft>
              <a:buFont typeface="Wingdings" pitchFamily="2" charset="2"/>
              <a:buChar char="Ø"/>
              <a:defRPr/>
            </a:pPr>
            <a:r>
              <a:rPr lang="es-ES" sz="2800" dirty="0" err="1"/>
              <a:t>Spaghetti</a:t>
            </a:r>
            <a:r>
              <a:rPr lang="es-ES" sz="2800" dirty="0"/>
              <a:t> </a:t>
            </a:r>
            <a:r>
              <a:rPr lang="es-ES" sz="2800" dirty="0" err="1"/>
              <a:t>Code</a:t>
            </a:r>
            <a:r>
              <a:rPr lang="es-ES" sz="2800" dirty="0"/>
              <a:t> (Muchos </a:t>
            </a:r>
            <a:r>
              <a:rPr lang="es-ES" sz="2800" dirty="0" err="1"/>
              <a:t>if</a:t>
            </a:r>
            <a:r>
              <a:rPr lang="es-ES" sz="2800" dirty="0"/>
              <a:t> o </a:t>
            </a:r>
            <a:r>
              <a:rPr lang="es-ES" sz="2800" dirty="0" err="1"/>
              <a:t>switch</a:t>
            </a:r>
            <a:r>
              <a:rPr lang="es-ES" sz="2800" dirty="0"/>
              <a:t>)</a:t>
            </a:r>
          </a:p>
          <a:p>
            <a:pPr marL="566928" indent="-457200">
              <a:spcAft>
                <a:spcPts val="0"/>
              </a:spcAft>
              <a:buFont typeface="Wingdings" pitchFamily="2" charset="2"/>
              <a:buChar char="Ø"/>
              <a:defRPr/>
            </a:pPr>
            <a:r>
              <a:rPr lang="es-ES" sz="2800" dirty="0" err="1"/>
              <a:t>Cut</a:t>
            </a:r>
            <a:r>
              <a:rPr lang="es-ES" sz="2800" dirty="0"/>
              <a:t> &amp; Paste </a:t>
            </a:r>
            <a:r>
              <a:rPr lang="es-ES" sz="2800" dirty="0" err="1"/>
              <a:t>programming</a:t>
            </a:r>
            <a:r>
              <a:rPr lang="es-ES" sz="2800" dirty="0"/>
              <a:t> (cortar y pegar código) </a:t>
            </a:r>
          </a:p>
          <a:p>
            <a:pPr marL="566928" indent="-457200">
              <a:spcAft>
                <a:spcPts val="0"/>
              </a:spcAft>
              <a:buFont typeface="Wingdings" pitchFamily="2" charset="2"/>
              <a:buChar char="Ø"/>
              <a:defRPr/>
            </a:pP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257073654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Cualidades de un Patrón</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3200" dirty="0"/>
              <a:t>Según Doug Lea en su artículo "Christopher Alexander: </a:t>
            </a:r>
            <a:r>
              <a:rPr lang="es-ES" sz="3200" dirty="0" err="1" smtClean="0"/>
              <a:t>An</a:t>
            </a:r>
            <a:r>
              <a:rPr lang="es-ES" sz="3200" dirty="0" smtClean="0"/>
              <a:t> </a:t>
            </a:r>
            <a:r>
              <a:rPr lang="es-ES" sz="3200" dirty="0" err="1"/>
              <a:t>Introduction</a:t>
            </a:r>
            <a:r>
              <a:rPr lang="es-ES" sz="3200" dirty="0"/>
              <a:t> </a:t>
            </a:r>
            <a:r>
              <a:rPr lang="es-ES" sz="3200" dirty="0" err="1"/>
              <a:t>for</a:t>
            </a:r>
            <a:r>
              <a:rPr lang="es-ES" sz="3200" dirty="0"/>
              <a:t> </a:t>
            </a:r>
            <a:r>
              <a:rPr lang="es-ES" sz="3200" dirty="0" err="1"/>
              <a:t>Object-Oriented</a:t>
            </a:r>
            <a:r>
              <a:rPr lang="es-ES" sz="3200" dirty="0"/>
              <a:t> </a:t>
            </a:r>
            <a:r>
              <a:rPr lang="es-ES" sz="3200" dirty="0" err="1"/>
              <a:t>Designers</a:t>
            </a:r>
            <a:r>
              <a:rPr lang="es-ES" sz="3200" dirty="0"/>
              <a:t>", las cualidades de un patrón serían: </a:t>
            </a:r>
          </a:p>
          <a:p>
            <a:pPr marL="566928" indent="-457200">
              <a:spcAft>
                <a:spcPts val="0"/>
              </a:spcAft>
              <a:buFont typeface="Wingdings" pitchFamily="2" charset="2"/>
              <a:buChar char="Ø"/>
              <a:defRPr/>
            </a:pPr>
            <a:r>
              <a:rPr lang="es-ES" sz="3200" b="1" dirty="0"/>
              <a:t>Encapsulación y Abstracción</a:t>
            </a:r>
            <a:r>
              <a:rPr lang="es-ES" sz="3200" dirty="0"/>
              <a:t>: encapsula un problema bien definido y su solución en un cierto dominio</a:t>
            </a:r>
          </a:p>
          <a:p>
            <a:pPr marL="566928" indent="-457200">
              <a:spcAft>
                <a:spcPts val="0"/>
              </a:spcAft>
              <a:buFont typeface="Wingdings" pitchFamily="2" charset="2"/>
              <a:buChar char="Ø"/>
              <a:defRPr/>
            </a:pPr>
            <a:r>
              <a:rPr lang="es-ES" sz="3200" b="1" dirty="0"/>
              <a:t>Apertura</a:t>
            </a:r>
            <a:r>
              <a:rPr lang="es-ES" sz="3200" dirty="0"/>
              <a:t>: debe ser abierto para su extensión y </a:t>
            </a:r>
            <a:r>
              <a:rPr lang="es-ES" sz="3200" dirty="0" err="1"/>
              <a:t>parametrización</a:t>
            </a:r>
            <a:r>
              <a:rPr lang="es-ES" sz="3200" dirty="0"/>
              <a:t> desde otros patrones para facilitar la integración de varios de ellos para la solución de un problema</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144928094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Cualidades de un Patrón</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3200" b="1" dirty="0" err="1"/>
              <a:t>Composicionabilidad</a:t>
            </a:r>
            <a:r>
              <a:rPr lang="es-ES" sz="3200" dirty="0"/>
              <a:t>: el contexto resultado de un patrón debe coincidir con el contexto inicial de otros para garantizar la </a:t>
            </a:r>
            <a:r>
              <a:rPr lang="es-ES" sz="3200" dirty="0" err="1"/>
              <a:t>composicionabilidad</a:t>
            </a:r>
            <a:r>
              <a:rPr lang="es-ES" sz="3200" dirty="0"/>
              <a:t> (aplicación secuencial) de estos</a:t>
            </a:r>
          </a:p>
          <a:p>
            <a:pPr marL="566928" indent="-457200">
              <a:spcAft>
                <a:spcPts val="0"/>
              </a:spcAft>
              <a:buFont typeface="Wingdings" pitchFamily="2" charset="2"/>
              <a:buChar char="Ø"/>
              <a:defRPr/>
            </a:pPr>
            <a:r>
              <a:rPr lang="es-ES" sz="3200" b="1" dirty="0"/>
              <a:t>Equilibrio</a:t>
            </a:r>
            <a:r>
              <a:rPr lang="es-ES" sz="3200" dirty="0"/>
              <a:t>: deben realizar un cierto balance entre las fuerzas presentes y las restricciones, que se expresa generalmente como </a:t>
            </a:r>
            <a:r>
              <a:rPr lang="es-ES" sz="3200" dirty="0" smtClean="0"/>
              <a:t>invariantes </a:t>
            </a:r>
            <a:r>
              <a:rPr lang="es-ES" sz="3200" dirty="0"/>
              <a:t>(axiomas) o heurísticas que minimicen conflictos en el espacio de solución</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57996212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Documentación de un Patrón</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2800" dirty="0"/>
              <a:t>Nombre</a:t>
            </a:r>
          </a:p>
          <a:p>
            <a:pPr marL="566928" indent="-457200">
              <a:spcAft>
                <a:spcPts val="0"/>
              </a:spcAft>
              <a:buFont typeface="Wingdings" pitchFamily="2" charset="2"/>
              <a:buChar char="Ø"/>
              <a:defRPr/>
            </a:pPr>
            <a:r>
              <a:rPr lang="es-ES" sz="2800" dirty="0"/>
              <a:t>Problema que resuelve: una declaración del problema a resolver en </a:t>
            </a:r>
            <a:r>
              <a:rPr lang="es-ES" sz="2800" dirty="0" smtClean="0"/>
              <a:t>términos </a:t>
            </a:r>
            <a:r>
              <a:rPr lang="es-ES" sz="2800" dirty="0"/>
              <a:t>de objetivos</a:t>
            </a:r>
          </a:p>
          <a:p>
            <a:pPr marL="566928" indent="-457200">
              <a:spcAft>
                <a:spcPts val="0"/>
              </a:spcAft>
              <a:buFont typeface="Wingdings" pitchFamily="2" charset="2"/>
              <a:buChar char="Ø"/>
              <a:defRPr/>
            </a:pPr>
            <a:r>
              <a:rPr lang="es-ES" sz="2800" dirty="0"/>
              <a:t>Contexto: las precondiciones para que el problema y la solución propuesta sean aplicables. Describe la aplicabilidad del patrón</a:t>
            </a:r>
          </a:p>
          <a:p>
            <a:pPr marL="566928" indent="-457200">
              <a:spcAft>
                <a:spcPts val="0"/>
              </a:spcAft>
              <a:buFont typeface="Wingdings" pitchFamily="2" charset="2"/>
              <a:buChar char="Ø"/>
              <a:defRPr/>
            </a:pPr>
            <a:r>
              <a:rPr lang="es-ES" sz="2800" dirty="0"/>
              <a:t>Fuerzas: una descripción de las fuerzas y las restricciones que aparecen en este contexto y como interactúan entre ellas.</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180401291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Documentación de un Patrón</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2800" dirty="0"/>
              <a:t>Solución: relaciones y reglas dinámicas que describen como obtener el resultado deseado. Se expresa generalmente en forma de instrucciones, sea en prosa, en diagramas u otra forma de expresión y contiene los elementos participantes en el patrón y la forma en que colaboran para resolver el problema.</a:t>
            </a:r>
          </a:p>
          <a:p>
            <a:pPr marL="566928" indent="-457200">
              <a:spcAft>
                <a:spcPts val="0"/>
              </a:spcAft>
              <a:buFont typeface="Wingdings" pitchFamily="2" charset="2"/>
              <a:buChar char="Ø"/>
              <a:defRPr/>
            </a:pPr>
            <a:r>
              <a:rPr lang="es-ES" sz="2800" dirty="0"/>
              <a:t>Ejemplos: debe documentarse con ejemplos de escenarios donde puede ser aplicado y como se aplica, para ayudar a entender como utilizarlo en otro problema</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68636437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Documentación de un Patrón</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2800" dirty="0"/>
              <a:t>Contexto resultado: </a:t>
            </a:r>
            <a:r>
              <a:rPr lang="es-ES" sz="2800" dirty="0" err="1"/>
              <a:t>postcondiciones</a:t>
            </a:r>
            <a:r>
              <a:rPr lang="es-ES" sz="2800" dirty="0"/>
              <a:t>, el estado o configuración del sistema una vez aplicado el patrón y sus posibles efectos colaterales</a:t>
            </a:r>
          </a:p>
          <a:p>
            <a:pPr marL="566928" indent="-457200">
              <a:spcAft>
                <a:spcPts val="0"/>
              </a:spcAft>
              <a:buFont typeface="Wingdings" pitchFamily="2" charset="2"/>
              <a:buChar char="Ø"/>
              <a:defRPr/>
            </a:pPr>
            <a:r>
              <a:rPr lang="es-ES" sz="2800" dirty="0"/>
              <a:t>Justificación: justifica, mas allá de ejemplos concretos, como y porqué el </a:t>
            </a:r>
            <a:r>
              <a:rPr lang="es-ES" sz="2800" dirty="0" smtClean="0"/>
              <a:t>patrón </a:t>
            </a:r>
            <a:r>
              <a:rPr lang="es-ES" sz="2800" dirty="0"/>
              <a:t>“funciona” y porqué es bueno</a:t>
            </a:r>
          </a:p>
          <a:p>
            <a:pPr marL="566928" indent="-457200">
              <a:spcAft>
                <a:spcPts val="0"/>
              </a:spcAft>
              <a:buFont typeface="Wingdings" pitchFamily="2" charset="2"/>
              <a:buChar char="Ø"/>
              <a:defRPr/>
            </a:pPr>
            <a:r>
              <a:rPr lang="es-ES" sz="2800" dirty="0"/>
              <a:t>Patrones relacionados: Hace mención a otros patrones relacionados a este por el dominio del problema, el lenguaje de especificación u otra causa cualquiera, que comúnmente contienen elementos compartidos. </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274893593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a:t>Documentación de un Patrón</a:t>
            </a:r>
            <a:endParaRPr lang="es-ES" dirty="0"/>
          </a:p>
        </p:txBody>
      </p:sp>
      <p:sp>
        <p:nvSpPr>
          <p:cNvPr id="3" name="Marcador de contenido 2"/>
          <p:cNvSpPr>
            <a:spLocks noGrp="1"/>
          </p:cNvSpPr>
          <p:nvPr>
            <p:ph idx="1"/>
          </p:nvPr>
        </p:nvSpPr>
        <p:spPr>
          <a:xfrm>
            <a:off x="945264" y="1923169"/>
            <a:ext cx="10941935" cy="4159577"/>
          </a:xfrm>
        </p:spPr>
        <p:txBody>
          <a:bodyPr>
            <a:noAutofit/>
          </a:bodyPr>
          <a:lstStyle/>
          <a:p>
            <a:pPr marL="566928" indent="-457200">
              <a:spcAft>
                <a:spcPts val="0"/>
              </a:spcAft>
              <a:buFont typeface="Wingdings" pitchFamily="2" charset="2"/>
              <a:buChar char="Ø"/>
              <a:defRPr/>
            </a:pPr>
            <a:r>
              <a:rPr lang="es-ES" sz="2800" dirty="0"/>
              <a:t>Usos conocidos: </a:t>
            </a:r>
            <a:r>
              <a:rPr lang="es-ES" sz="2800" dirty="0" smtClean="0"/>
              <a:t>presentar </a:t>
            </a:r>
            <a:endParaRPr lang="es-ES" sz="2800" dirty="0"/>
          </a:p>
          <a:p>
            <a:pPr marL="109728" indent="0" algn="ctr">
              <a:spcAft>
                <a:spcPts val="0"/>
              </a:spcAft>
              <a:buNone/>
              <a:defRPr/>
            </a:pPr>
            <a:r>
              <a:rPr lang="es-ES" sz="3600" b="1" dirty="0"/>
              <a:t>soluciones reales </a:t>
            </a:r>
          </a:p>
          <a:p>
            <a:pPr marL="566928" indent="-457200">
              <a:spcAft>
                <a:spcPts val="0"/>
              </a:spcAft>
              <a:buFont typeface="Wingdings" pitchFamily="2" charset="2"/>
              <a:buChar char="Ø"/>
              <a:defRPr/>
            </a:pPr>
            <a:r>
              <a:rPr lang="es-ES" sz="2800" dirty="0" smtClean="0"/>
              <a:t>conocidas </a:t>
            </a:r>
            <a:r>
              <a:rPr lang="es-ES" sz="2800" dirty="0"/>
              <a:t>obtenidas a partir de la aplicación del patrón, que complementa los ejemplos simples dados en la sección correspondiente</a:t>
            </a:r>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362603127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smtClean="0"/>
              <a:t>Resumen</a:t>
            </a:r>
            <a:endParaRPr lang="es-ES" dirty="0"/>
          </a:p>
        </p:txBody>
      </p:sp>
      <p:sp>
        <p:nvSpPr>
          <p:cNvPr id="3" name="Marcador de contenido 2"/>
          <p:cNvSpPr>
            <a:spLocks noGrp="1"/>
          </p:cNvSpPr>
          <p:nvPr>
            <p:ph idx="1"/>
          </p:nvPr>
        </p:nvSpPr>
        <p:spPr>
          <a:xfrm>
            <a:off x="329038" y="1624996"/>
            <a:ext cx="11697310" cy="4875195"/>
          </a:xfrm>
        </p:spPr>
        <p:txBody>
          <a:bodyPr>
            <a:noAutofit/>
          </a:bodyPr>
          <a:lstStyle/>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a:t>Los patrones de diseño son soluciones reutilizables a problemas comunes que surgen en el desarrollo de software. Proporcionan un marco de trabajo que ayuda a los desarrolladores a resolver problemas de diseño de manera eficiente y efectiva, promoviendo la reutilización del código y la </a:t>
            </a:r>
            <a:r>
              <a:rPr lang="es-ES" sz="2800" dirty="0" err="1"/>
              <a:t>mantenibilidad</a:t>
            </a:r>
            <a:r>
              <a:rPr lang="es-ES" sz="2800" dirty="0" smtClean="0"/>
              <a:t>.</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a:t>Los patrones de diseño se clasifican en tres categorías </a:t>
            </a:r>
            <a:r>
              <a:rPr lang="es-ES" sz="2800" dirty="0" smtClean="0"/>
              <a:t>principales: Patrones </a:t>
            </a:r>
            <a:r>
              <a:rPr lang="es-ES" sz="2800" dirty="0"/>
              <a:t>de creación, Patrones estructurales , Patrones de comportamiento </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a:t>Los </a:t>
            </a:r>
            <a:r>
              <a:rPr lang="es-ES" sz="2800" dirty="0" err="1" smtClean="0"/>
              <a:t>antipatrónes</a:t>
            </a:r>
            <a:r>
              <a:rPr lang="es-ES" sz="2800" dirty="0" smtClean="0"/>
              <a:t> </a:t>
            </a:r>
            <a:r>
              <a:rPr lang="es-ES" sz="2800" dirty="0"/>
              <a:t>son soluciones comunes que resultan ineficaces o contraproducentes. Representan prácticas de diseño que pueden parecer adecuadas pero que llevan a problemas en el mantenimiento, rendimiento o escalabilidad del software</a:t>
            </a:r>
            <a:r>
              <a:rPr lang="es-ES" sz="2800" dirty="0" smtClean="0"/>
              <a:t>.</a:t>
            </a: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42259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smtClean="0"/>
              <a:t>Resumen</a:t>
            </a:r>
            <a:endParaRPr lang="es-ES" dirty="0"/>
          </a:p>
        </p:txBody>
      </p:sp>
      <p:sp>
        <p:nvSpPr>
          <p:cNvPr id="3" name="Marcador de contenido 2"/>
          <p:cNvSpPr>
            <a:spLocks noGrp="1"/>
          </p:cNvSpPr>
          <p:nvPr>
            <p:ph idx="1"/>
          </p:nvPr>
        </p:nvSpPr>
        <p:spPr>
          <a:xfrm>
            <a:off x="494690" y="2121953"/>
            <a:ext cx="11697310" cy="3205421"/>
          </a:xfrm>
        </p:spPr>
        <p:txBody>
          <a:bodyPr>
            <a:noAutofit/>
          </a:bodyPr>
          <a:lstStyle/>
          <a:p>
            <a:pPr marL="552450" indent="-552450">
              <a:buFont typeface="+mj-lt"/>
              <a:buAutoNum type="arabicPeriod" startAt="4"/>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a:t>La documentación de un patrón típicamente incluye: Nombre del </a:t>
            </a:r>
            <a:r>
              <a:rPr lang="es-ES" sz="2800" dirty="0" smtClean="0"/>
              <a:t>Patrón ,Intento, Contexto, Problema, Solución, Ejemplo, Consecuencias.</a:t>
            </a:r>
            <a:endParaRPr lang="es-ES" sz="2800" dirty="0"/>
          </a:p>
          <a:p>
            <a:pPr marL="552450" indent="-552450">
              <a:buFont typeface="Wingdings" panose="05000000000000000000" pitchFamily="2" charset="2"/>
              <a:buAutoNum type="arabicPeriod" startAt="4"/>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a:t>Las cualidades que definen un buen patrón </a:t>
            </a:r>
            <a:r>
              <a:rPr lang="es-ES" sz="2800" dirty="0" smtClean="0"/>
              <a:t>incluyen: Reutilizable, Comprensible, Documentado, Efectivo.</a:t>
            </a:r>
            <a:endParaRPr lang="es-ES" sz="2800" dirty="0"/>
          </a:p>
        </p:txBody>
      </p:sp>
      <p:sp>
        <p:nvSpPr>
          <p:cNvPr id="5" name="Marcador de pie de página 2"/>
          <p:cNvSpPr>
            <a:spLocks noGrp="1"/>
          </p:cNvSpPr>
          <p:nvPr>
            <p:ph type="ftr" sz="quarter" idx="11"/>
          </p:nvPr>
        </p:nvSpPr>
        <p:spPr>
          <a:xfrm>
            <a:off x="3686185" y="6459785"/>
            <a:ext cx="4822804" cy="365125"/>
          </a:xfrm>
        </p:spPr>
        <p:txBody>
          <a:bodyPr/>
          <a:lstStyle/>
          <a:p>
            <a:r>
              <a:rPr lang="es-ES" dirty="0"/>
              <a:t>Marcos de Trabajo y </a:t>
            </a:r>
            <a:br>
              <a:rPr lang="es-ES" dirty="0"/>
            </a:br>
            <a:r>
              <a:rPr lang="es-ES" dirty="0"/>
              <a:t>Patrones de Diseño</a:t>
            </a:r>
          </a:p>
          <a:p>
            <a:endParaRPr lang="es-ES" dirty="0"/>
          </a:p>
        </p:txBody>
      </p:sp>
    </p:spTree>
    <p:extLst>
      <p:ext uri="{BB962C8B-B14F-4D97-AF65-F5344CB8AC3E}">
        <p14:creationId xmlns:p14="http://schemas.microsoft.com/office/powerpoint/2010/main" val="247805723"/>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ción">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13867</TotalTime>
  <Words>6421</Words>
  <Application>Microsoft Office PowerPoint</Application>
  <PresentationFormat>Personalizado</PresentationFormat>
  <Paragraphs>564</Paragraphs>
  <Slides>53</Slides>
  <Notes>53</Notes>
  <HiddenSlides>0</HiddenSlides>
  <MMClips>0</MMClips>
  <ScaleCrop>false</ScaleCrop>
  <HeadingPairs>
    <vt:vector size="4" baseType="variant">
      <vt:variant>
        <vt:lpstr>Tema</vt:lpstr>
      </vt:variant>
      <vt:variant>
        <vt:i4>1</vt:i4>
      </vt:variant>
      <vt:variant>
        <vt:lpstr>Títulos de diapositiva</vt:lpstr>
      </vt:variant>
      <vt:variant>
        <vt:i4>53</vt:i4>
      </vt:variant>
    </vt:vector>
  </HeadingPairs>
  <TitlesOfParts>
    <vt:vector size="54" baseType="lpstr">
      <vt:lpstr>Retrospección</vt:lpstr>
      <vt:lpstr>Marcos de Trabajo y  Patrones de Diseño</vt:lpstr>
      <vt:lpstr>Sumario:</vt:lpstr>
      <vt:lpstr>Bibliografía :</vt:lpstr>
      <vt:lpstr>¿Qué podemos entender por Marcos de Trabajo (Frameworks) ? </vt:lpstr>
      <vt:lpstr>¿Qué podemos entender por Marcos de Trabajo (MT ) ?  Según GoF</vt:lpstr>
      <vt:lpstr>Ventajas MT </vt:lpstr>
      <vt:lpstr>Patrones: Objetivos</vt:lpstr>
      <vt:lpstr>Historia</vt:lpstr>
      <vt:lpstr>Definiciones</vt:lpstr>
      <vt:lpstr>Definiciones</vt:lpstr>
      <vt:lpstr>Tipos de Patrones</vt:lpstr>
      <vt:lpstr>¿Qué son los patrones de diseño OO? </vt:lpstr>
      <vt:lpstr>Patrones de diseño OO </vt:lpstr>
      <vt:lpstr>Patrones de creación</vt:lpstr>
      <vt:lpstr>Patrones de creación</vt:lpstr>
      <vt:lpstr>Ejemplo: Patrón Factory Method</vt:lpstr>
      <vt:lpstr>Ejemplo: Patrón Abstract Factory/ Factory Method </vt:lpstr>
      <vt:lpstr>Patrones de creación</vt:lpstr>
      <vt:lpstr>Ejemplo: Patrón Singleton </vt:lpstr>
      <vt:lpstr>Ejemplo: Patrón Singleton </vt:lpstr>
      <vt:lpstr>Patrones Estructurales </vt:lpstr>
      <vt:lpstr>Patrones estructurales </vt:lpstr>
      <vt:lpstr>Ejemplo: Patrón Adapter</vt:lpstr>
      <vt:lpstr>Ejemplo: Patrón Adapter </vt:lpstr>
      <vt:lpstr>Patrones Estructurales </vt:lpstr>
      <vt:lpstr>Patrones estructurales </vt:lpstr>
      <vt:lpstr>Ejemplo: Patrón Facade</vt:lpstr>
      <vt:lpstr>Ejemplo: Patrón Facade </vt:lpstr>
      <vt:lpstr>Ejemplo: Patrón Proxy</vt:lpstr>
      <vt:lpstr>Ejemplo: Patrón Proxy </vt:lpstr>
      <vt:lpstr>Ejemplo: Patrón Proxy </vt:lpstr>
      <vt:lpstr>Ejemplo: Patrón Proxy </vt:lpstr>
      <vt:lpstr>Patrones de Comportamiento </vt:lpstr>
      <vt:lpstr>Patrones de Comportamiento </vt:lpstr>
      <vt:lpstr>Patrones de comportamiento </vt:lpstr>
      <vt:lpstr>Ejemplo: Patrón Iterator</vt:lpstr>
      <vt:lpstr>Ejemplo: Patrón Iterator</vt:lpstr>
      <vt:lpstr>Patrones de Comportamiento </vt:lpstr>
      <vt:lpstr>Patrones de comportamiento </vt:lpstr>
      <vt:lpstr>Patrones de comportamiento </vt:lpstr>
      <vt:lpstr>Ejemplo: Patrón Observer</vt:lpstr>
      <vt:lpstr>Ejemplo: Patrón Observer</vt:lpstr>
      <vt:lpstr>Ejemplo: Patrón Observer</vt:lpstr>
      <vt:lpstr>AntiPatrones</vt:lpstr>
      <vt:lpstr>AntiPatrones</vt:lpstr>
      <vt:lpstr>Cualidades de un Patrón</vt:lpstr>
      <vt:lpstr>Cualidades de un Patrón</vt:lpstr>
      <vt:lpstr>Documentación de un Patrón</vt:lpstr>
      <vt:lpstr>Documentación de un Patrón</vt:lpstr>
      <vt:lpstr>Documentación de un Patrón</vt:lpstr>
      <vt:lpstr>Documentación de un Patrón</vt:lpstr>
      <vt:lpstr>Resumen</vt:lpstr>
      <vt:lpstr>Resumen</vt:lpstr>
    </vt:vector>
  </TitlesOfParts>
  <Company>Universidad de Málaga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de Proyectos Software</dc:title>
  <dc:creator>Aracelys</dc:creator>
  <cp:lastModifiedBy>Admin</cp:lastModifiedBy>
  <cp:revision>440</cp:revision>
  <dcterms:created xsi:type="dcterms:W3CDTF">2016-09-19T15:25:44Z</dcterms:created>
  <dcterms:modified xsi:type="dcterms:W3CDTF">2026-04-15T01:13:10Z</dcterms:modified>
</cp:coreProperties>
</file>