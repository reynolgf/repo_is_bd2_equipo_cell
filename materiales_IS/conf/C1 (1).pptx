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57"/>
  </p:notesMasterIdLst>
  <p:handoutMasterIdLst>
    <p:handoutMasterId r:id="rId58"/>
  </p:handoutMasterIdLst>
  <p:sldIdLst>
    <p:sldId id="446" r:id="rId2"/>
    <p:sldId id="258" r:id="rId3"/>
    <p:sldId id="390" r:id="rId4"/>
    <p:sldId id="682" r:id="rId5"/>
    <p:sldId id="683" r:id="rId6"/>
    <p:sldId id="684" r:id="rId7"/>
    <p:sldId id="685" r:id="rId8"/>
    <p:sldId id="686" r:id="rId9"/>
    <p:sldId id="687" r:id="rId10"/>
    <p:sldId id="763" r:id="rId11"/>
    <p:sldId id="688" r:id="rId12"/>
    <p:sldId id="689" r:id="rId13"/>
    <p:sldId id="746" r:id="rId14"/>
    <p:sldId id="747" r:id="rId15"/>
    <p:sldId id="748" r:id="rId16"/>
    <p:sldId id="690" r:id="rId17"/>
    <p:sldId id="745" r:id="rId18"/>
    <p:sldId id="695" r:id="rId19"/>
    <p:sldId id="696" r:id="rId20"/>
    <p:sldId id="697" r:id="rId21"/>
    <p:sldId id="698" r:id="rId22"/>
    <p:sldId id="749" r:id="rId23"/>
    <p:sldId id="750" r:id="rId24"/>
    <p:sldId id="751" r:id="rId25"/>
    <p:sldId id="699" r:id="rId26"/>
    <p:sldId id="700" r:id="rId27"/>
    <p:sldId id="752" r:id="rId28"/>
    <p:sldId id="753" r:id="rId29"/>
    <p:sldId id="701" r:id="rId30"/>
    <p:sldId id="762" r:id="rId31"/>
    <p:sldId id="702" r:id="rId32"/>
    <p:sldId id="754" r:id="rId33"/>
    <p:sldId id="755" r:id="rId34"/>
    <p:sldId id="703" r:id="rId35"/>
    <p:sldId id="756" r:id="rId36"/>
    <p:sldId id="757" r:id="rId37"/>
    <p:sldId id="764" r:id="rId38"/>
    <p:sldId id="704" r:id="rId39"/>
    <p:sldId id="705" r:id="rId40"/>
    <p:sldId id="707" r:id="rId41"/>
    <p:sldId id="765" r:id="rId42"/>
    <p:sldId id="766" r:id="rId43"/>
    <p:sldId id="767" r:id="rId44"/>
    <p:sldId id="708" r:id="rId45"/>
    <p:sldId id="709" r:id="rId46"/>
    <p:sldId id="710" r:id="rId47"/>
    <p:sldId id="711" r:id="rId48"/>
    <p:sldId id="759" r:id="rId49"/>
    <p:sldId id="760" r:id="rId50"/>
    <p:sldId id="761" r:id="rId51"/>
    <p:sldId id="758" r:id="rId52"/>
    <p:sldId id="712" r:id="rId53"/>
    <p:sldId id="713" r:id="rId54"/>
    <p:sldId id="714" r:id="rId55"/>
    <p:sldId id="520" r:id="rId5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59441" autoAdjust="0"/>
  </p:normalViewPr>
  <p:slideViewPr>
    <p:cSldViewPr snapToGrid="0">
      <p:cViewPr>
        <p:scale>
          <a:sx n="48" d="100"/>
          <a:sy n="48" d="100"/>
        </p:scale>
        <p:origin x="-157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E54A35-C587-4D9E-88EB-28625A5AAE59}" type="datetimeFigureOut">
              <a:rPr lang="es-ES" smtClean="0"/>
              <a:t>14/04/2026</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FB20A4-F458-406D-8DAC-3B8EE176367F}" type="slidenum">
              <a:rPr lang="es-ES" smtClean="0"/>
              <a:t>‹Nº›</a:t>
            </a:fld>
            <a:endParaRPr lang="es-ES"/>
          </a:p>
        </p:txBody>
      </p:sp>
    </p:spTree>
    <p:extLst>
      <p:ext uri="{BB962C8B-B14F-4D97-AF65-F5344CB8AC3E}">
        <p14:creationId xmlns:p14="http://schemas.microsoft.com/office/powerpoint/2010/main" val="28207225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2E9DD-9C30-4075-A3B5-08E83A83D8F0}" type="datetimeFigureOut">
              <a:rPr lang="es-ES" smtClean="0"/>
              <a:t>14/04/2026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236AF-7B77-41A3-9722-60AF9BD7B607}" type="slidenum">
              <a:rPr lang="es-ES" smtClean="0"/>
              <a:t>‹Nº›</a:t>
            </a:fld>
            <a:endParaRPr lang="es-ES"/>
          </a:p>
        </p:txBody>
      </p:sp>
    </p:spTree>
    <p:extLst>
      <p:ext uri="{BB962C8B-B14F-4D97-AF65-F5344CB8AC3E}">
        <p14:creationId xmlns:p14="http://schemas.microsoft.com/office/powerpoint/2010/main" val="26528592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7"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a:p>
        </p:txBody>
      </p:sp>
      <p:sp>
        <p:nvSpPr>
          <p:cNvPr id="108548" name="Rectangle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110984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La ingeniería de software surgió como respuesta a la creciente complejidad de los sistemas de software y la necesidad de métodos más estructurados y eficientes para su desarrollo. A continuación, se presenta un resumen de su evolución:</a:t>
            </a:r>
          </a:p>
          <a:p>
            <a:endParaRPr lang="es-ES" dirty="0" smtClean="0"/>
          </a:p>
          <a:p>
            <a:r>
              <a:rPr lang="es-ES" dirty="0" smtClean="0"/>
              <a:t>▎Orígenes (1940-1960)</a:t>
            </a:r>
          </a:p>
          <a:p>
            <a:endParaRPr lang="es-ES" dirty="0" smtClean="0"/>
          </a:p>
          <a:p>
            <a:r>
              <a:rPr lang="es-ES" dirty="0" smtClean="0"/>
              <a:t>1. Primera Generación (1940-1950):</a:t>
            </a:r>
          </a:p>
          <a:p>
            <a:endParaRPr lang="es-ES" dirty="0" smtClean="0"/>
          </a:p>
          <a:p>
            <a:r>
              <a:rPr lang="es-ES" dirty="0" smtClean="0"/>
              <a:t>   • Los primeros programas eran desarrollados de manera ad-hoc, sin metodologías formales.</a:t>
            </a:r>
          </a:p>
          <a:p>
            <a:endParaRPr lang="es-ES" dirty="0" smtClean="0"/>
          </a:p>
          <a:p>
            <a:r>
              <a:rPr lang="es-ES" dirty="0" smtClean="0"/>
              <a:t>   • La programación se realizaba en lenguajes de bajo nivel, como ensamblador.</a:t>
            </a:r>
          </a:p>
          <a:p>
            <a:endParaRPr lang="es-ES" dirty="0" smtClean="0"/>
          </a:p>
          <a:p>
            <a:r>
              <a:rPr lang="es-ES" dirty="0" smtClean="0"/>
              <a:t>2. Auge de las Computadoras (1950-1960):</a:t>
            </a:r>
          </a:p>
          <a:p>
            <a:endParaRPr lang="es-ES" dirty="0" smtClean="0"/>
          </a:p>
          <a:p>
            <a:r>
              <a:rPr lang="es-ES" dirty="0" smtClean="0"/>
              <a:t>   • Con la introducción de computadoras más potentes, la demanda de software aumentó.</a:t>
            </a:r>
          </a:p>
          <a:p>
            <a:endParaRPr lang="es-ES" dirty="0" smtClean="0"/>
          </a:p>
          <a:p>
            <a:r>
              <a:rPr lang="es-ES" dirty="0" smtClean="0"/>
              <a:t>   • Se empezaron a desarrollar lenguajes de programación de alto nivel (como FORTRAN y COBOL).</a:t>
            </a:r>
          </a:p>
          <a:p>
            <a:endParaRPr lang="es-ES" dirty="0" smtClean="0"/>
          </a:p>
          <a:p>
            <a:r>
              <a:rPr lang="es-ES" dirty="0" smtClean="0"/>
              <a:t>▎Crisis del Software (1960)</a:t>
            </a:r>
          </a:p>
          <a:p>
            <a:endParaRPr lang="es-ES" dirty="0" smtClean="0"/>
          </a:p>
          <a:p>
            <a:r>
              <a:rPr lang="es-ES" dirty="0" smtClean="0"/>
              <a:t>• A medida que los proyectos de software crecieron en tamaño y complejidad, comenzaron a surgir problemas significativos:</a:t>
            </a:r>
          </a:p>
          <a:p>
            <a:endParaRPr lang="es-ES" dirty="0" smtClean="0"/>
          </a:p>
          <a:p>
            <a:r>
              <a:rPr lang="es-ES" dirty="0" smtClean="0"/>
              <a:t>  • Retrasos en la entrega de proyectos.</a:t>
            </a:r>
          </a:p>
          <a:p>
            <a:endParaRPr lang="es-ES" dirty="0" smtClean="0"/>
          </a:p>
          <a:p>
            <a:r>
              <a:rPr lang="es-ES" dirty="0" smtClean="0"/>
              <a:t>  • Sobrecostos en el desarrollo.</a:t>
            </a:r>
          </a:p>
          <a:p>
            <a:endParaRPr lang="es-ES" dirty="0" smtClean="0"/>
          </a:p>
          <a:p>
            <a:r>
              <a:rPr lang="es-ES" dirty="0" smtClean="0"/>
              <a:t>  • Bajos niveles de calidad y dificultad para mantener el software.</a:t>
            </a:r>
          </a:p>
          <a:p>
            <a:endParaRPr lang="es-ES" dirty="0" smtClean="0"/>
          </a:p>
          <a:p>
            <a:r>
              <a:rPr lang="es-ES" dirty="0" smtClean="0"/>
              <a:t>  </a:t>
            </a:r>
          </a:p>
          <a:p>
            <a:r>
              <a:rPr lang="es-ES" dirty="0" smtClean="0"/>
              <a:t>• En 1968, la Conferencia de Ingeniería de Software en </a:t>
            </a:r>
            <a:r>
              <a:rPr lang="es-ES" dirty="0" err="1" smtClean="0"/>
              <a:t>Garmisch</a:t>
            </a:r>
            <a:r>
              <a:rPr lang="es-ES" dirty="0" smtClean="0"/>
              <a:t>, Alemania, marcó un punto crucial, donde se discutieron estos problemas y se propusieron soluciones.</a:t>
            </a:r>
          </a:p>
          <a:p>
            <a:endParaRPr lang="es-ES" dirty="0" smtClean="0"/>
          </a:p>
          <a:p>
            <a:r>
              <a:rPr lang="es-ES" dirty="0" smtClean="0"/>
              <a:t>▎Formalización y Metodologías (1970-1980)</a:t>
            </a:r>
          </a:p>
          <a:p>
            <a:endParaRPr lang="es-ES" dirty="0" smtClean="0"/>
          </a:p>
          <a:p>
            <a:r>
              <a:rPr lang="es-ES" dirty="0" smtClean="0"/>
              <a:t>1. Desarrollo de Métodos Formales:</a:t>
            </a:r>
          </a:p>
          <a:p>
            <a:endParaRPr lang="es-ES" dirty="0" smtClean="0"/>
          </a:p>
          <a:p>
            <a:r>
              <a:rPr lang="es-ES" dirty="0" smtClean="0"/>
              <a:t>   • Se introdujeron enfoques más estructurados, como el modelo en cascada, que proponía fases secuenciales (análisis, diseño, implementación, pruebas y mantenimiento).</a:t>
            </a:r>
          </a:p>
          <a:p>
            <a:endParaRPr lang="es-ES" dirty="0" smtClean="0"/>
          </a:p>
          <a:p>
            <a:r>
              <a:rPr lang="es-ES" dirty="0" smtClean="0"/>
              <a:t>2. Modelos y Métodos:</a:t>
            </a:r>
          </a:p>
          <a:p>
            <a:endParaRPr lang="es-ES" dirty="0" smtClean="0"/>
          </a:p>
          <a:p>
            <a:r>
              <a:rPr lang="es-ES" dirty="0" smtClean="0"/>
              <a:t>   • Se desarrollaron modelos como el modelo en espiral (</a:t>
            </a:r>
            <a:r>
              <a:rPr lang="es-ES" dirty="0" err="1" smtClean="0"/>
              <a:t>Boehm</a:t>
            </a:r>
            <a:r>
              <a:rPr lang="es-ES" dirty="0" smtClean="0"/>
              <a:t>) y métodos ágiles en la década de 1980.</a:t>
            </a:r>
          </a:p>
          <a:p>
            <a:endParaRPr lang="es-ES" dirty="0" smtClean="0"/>
          </a:p>
          <a:p>
            <a:r>
              <a:rPr lang="es-ES" dirty="0" smtClean="0"/>
              <a:t>3. Aparición de la Ingeniería de Requisitos:</a:t>
            </a:r>
          </a:p>
          <a:p>
            <a:endParaRPr lang="es-ES" dirty="0" smtClean="0"/>
          </a:p>
          <a:p>
            <a:r>
              <a:rPr lang="es-ES" dirty="0" smtClean="0"/>
              <a:t>   • Se empezó a prestar atención a la recopilación y gestión de requisitos para asegurar que el software cumpliera con las expectativas del cliente.</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a:t>
            </a:r>
          </a:p>
          <a:p>
            <a:r>
              <a:rPr lang="es-ES" dirty="0" smtClean="0"/>
              <a:t>▎Conclusión</a:t>
            </a:r>
          </a:p>
          <a:p>
            <a:endParaRPr lang="es-ES" dirty="0" smtClean="0"/>
          </a:p>
          <a:p>
            <a:r>
              <a:rPr lang="es-ES" dirty="0" smtClean="0"/>
              <a:t>La ingeniería de software ha evolucionado desde un enfoque informal y ad-hoc hasta convertirse en una disciplina estructurada con metodologías bien definidas. Hoy en día, sigue adaptándose a las nuevas tecnologías y necesidades del mercado, buscando siempre mejorar la calidad, eficiencia y satisfacción del cliente en el desarrollo de software.</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3194977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kern="1200" dirty="0" smtClean="0">
                <a:solidFill>
                  <a:schemeClr val="tx1"/>
                </a:solidFill>
                <a:effectLst/>
                <a:latin typeface="+mn-lt"/>
                <a:ea typeface="+mn-ea"/>
                <a:cs typeface="+mn-cs"/>
              </a:rPr>
              <a:t>El término </a:t>
            </a:r>
            <a:r>
              <a:rPr lang="es-ES" sz="1200" b="0" i="0" kern="1200" dirty="0" err="1" smtClean="0">
                <a:solidFill>
                  <a:schemeClr val="tx1"/>
                </a:solidFill>
                <a:effectLst/>
                <a:latin typeface="+mn-lt"/>
                <a:ea typeface="+mn-ea"/>
                <a:cs typeface="+mn-cs"/>
              </a:rPr>
              <a:t>DevOps</a:t>
            </a:r>
            <a:r>
              <a:rPr lang="es-ES" sz="1200" b="0" i="0" kern="1200" dirty="0" smtClean="0">
                <a:solidFill>
                  <a:schemeClr val="tx1"/>
                </a:solidFill>
                <a:effectLst/>
                <a:latin typeface="+mn-lt"/>
                <a:ea typeface="+mn-ea"/>
                <a:cs typeface="+mn-cs"/>
              </a:rPr>
              <a:t>, que es una combinación de los términos ingleses </a:t>
            </a:r>
            <a:r>
              <a:rPr lang="es-ES" sz="1200" b="0" i="0" kern="1200" dirty="0" err="1" smtClean="0">
                <a:solidFill>
                  <a:schemeClr val="tx1"/>
                </a:solidFill>
                <a:effectLst/>
                <a:latin typeface="+mn-lt"/>
                <a:ea typeface="+mn-ea"/>
                <a:cs typeface="+mn-cs"/>
              </a:rPr>
              <a:t>development</a:t>
            </a:r>
            <a:r>
              <a:rPr lang="es-ES" sz="1200" b="0" i="0" kern="1200" dirty="0" smtClean="0">
                <a:solidFill>
                  <a:schemeClr val="tx1"/>
                </a:solidFill>
                <a:effectLst/>
                <a:latin typeface="+mn-lt"/>
                <a:ea typeface="+mn-ea"/>
                <a:cs typeface="+mn-cs"/>
              </a:rPr>
              <a:t> (desarrollo) y </a:t>
            </a:r>
            <a:r>
              <a:rPr lang="es-ES" sz="1200" b="0" i="0" kern="1200" dirty="0" err="1" smtClean="0">
                <a:solidFill>
                  <a:schemeClr val="tx1"/>
                </a:solidFill>
                <a:effectLst/>
                <a:latin typeface="+mn-lt"/>
                <a:ea typeface="+mn-ea"/>
                <a:cs typeface="+mn-cs"/>
              </a:rPr>
              <a:t>operations</a:t>
            </a:r>
            <a:r>
              <a:rPr lang="es-ES" sz="1200" b="0" i="0" kern="1200" dirty="0" smtClean="0">
                <a:solidFill>
                  <a:schemeClr val="tx1"/>
                </a:solidFill>
                <a:effectLst/>
                <a:latin typeface="+mn-lt"/>
                <a:ea typeface="+mn-ea"/>
                <a:cs typeface="+mn-cs"/>
              </a:rPr>
              <a:t> (operaciones), designa la unión de personas, procesos y tecnología para ofrecer valor a los clientes de forma constante.</a:t>
            </a:r>
          </a:p>
          <a:p>
            <a:r>
              <a:rPr lang="es-ES" sz="1200" b="0" i="0" kern="1200" dirty="0" smtClean="0">
                <a:solidFill>
                  <a:schemeClr val="tx1"/>
                </a:solidFill>
                <a:effectLst/>
                <a:latin typeface="+mn-lt"/>
                <a:ea typeface="+mn-ea"/>
                <a:cs typeface="+mn-cs"/>
              </a:rPr>
              <a:t>¿Qué significa </a:t>
            </a:r>
            <a:r>
              <a:rPr lang="es-ES" sz="1200" b="0" i="0" kern="1200" dirty="0" err="1" smtClean="0">
                <a:solidFill>
                  <a:schemeClr val="tx1"/>
                </a:solidFill>
                <a:effectLst/>
                <a:latin typeface="+mn-lt"/>
                <a:ea typeface="+mn-ea"/>
                <a:cs typeface="+mn-cs"/>
              </a:rPr>
              <a:t>DevOps</a:t>
            </a:r>
            <a:r>
              <a:rPr lang="es-ES" sz="1200" b="0" i="0" kern="1200" dirty="0" smtClean="0">
                <a:solidFill>
                  <a:schemeClr val="tx1"/>
                </a:solidFill>
                <a:effectLst/>
                <a:latin typeface="+mn-lt"/>
                <a:ea typeface="+mn-ea"/>
                <a:cs typeface="+mn-cs"/>
              </a:rPr>
              <a:t> para los equipos? </a:t>
            </a:r>
            <a:r>
              <a:rPr lang="es-ES" sz="1200" b="0" i="0" kern="1200" dirty="0" err="1" smtClean="0">
                <a:solidFill>
                  <a:schemeClr val="tx1"/>
                </a:solidFill>
                <a:effectLst/>
                <a:latin typeface="+mn-lt"/>
                <a:ea typeface="+mn-ea"/>
                <a:cs typeface="+mn-cs"/>
              </a:rPr>
              <a:t>DevOps</a:t>
            </a:r>
            <a:r>
              <a:rPr lang="es-ES" sz="1200" b="0" i="0" kern="1200" dirty="0" smtClean="0">
                <a:solidFill>
                  <a:schemeClr val="tx1"/>
                </a:solidFill>
                <a:effectLst/>
                <a:latin typeface="+mn-lt"/>
                <a:ea typeface="+mn-ea"/>
                <a:cs typeface="+mn-cs"/>
              </a:rPr>
              <a:t> permite que los roles que antes estaban aislados (desarrollo, operaciones de TI, ingeniería de la calidad y seguridad) se coordinen y colaboren para producir productos mejores y más confiables. Al adoptar una cultura de </a:t>
            </a:r>
            <a:r>
              <a:rPr lang="es-ES" sz="1200" b="0" i="0" kern="1200" dirty="0" err="1" smtClean="0">
                <a:solidFill>
                  <a:schemeClr val="tx1"/>
                </a:solidFill>
                <a:effectLst/>
                <a:latin typeface="+mn-lt"/>
                <a:ea typeface="+mn-ea"/>
                <a:cs typeface="+mn-cs"/>
              </a:rPr>
              <a:t>DevOps</a:t>
            </a:r>
            <a:r>
              <a:rPr lang="es-ES" sz="1200" b="0" i="0" kern="1200" dirty="0" smtClean="0">
                <a:solidFill>
                  <a:schemeClr val="tx1"/>
                </a:solidFill>
                <a:effectLst/>
                <a:latin typeface="+mn-lt"/>
                <a:ea typeface="+mn-ea"/>
                <a:cs typeface="+mn-cs"/>
              </a:rPr>
              <a:t> junto con prácticas y herramientas de </a:t>
            </a:r>
            <a:r>
              <a:rPr lang="es-ES" sz="1200" b="0" i="0" kern="1200" dirty="0" err="1" smtClean="0">
                <a:solidFill>
                  <a:schemeClr val="tx1"/>
                </a:solidFill>
                <a:effectLst/>
                <a:latin typeface="+mn-lt"/>
                <a:ea typeface="+mn-ea"/>
                <a:cs typeface="+mn-cs"/>
              </a:rPr>
              <a:t>DevOps</a:t>
            </a:r>
            <a:r>
              <a:rPr lang="es-ES" sz="1200" b="0" i="0" kern="1200" dirty="0" smtClean="0">
                <a:solidFill>
                  <a:schemeClr val="tx1"/>
                </a:solidFill>
                <a:effectLst/>
                <a:latin typeface="+mn-lt"/>
                <a:ea typeface="+mn-ea"/>
                <a:cs typeface="+mn-cs"/>
              </a:rPr>
              <a:t>, los equipos adquieren la capacidad de responder mejor a las necesidades de los clientes, aumentar la confianza en las aplicaciones que crean y alcanzar los objetivos empresariales en menos tiempo.</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altLang="en-US" smtClean="0">
                <a:latin typeface="Arial" panose="020B0604020202020204" pitchFamily="34" charset="0"/>
              </a:rPr>
              <a:t>Una complejidad mucho mayor implica generalmente mas personas, mas tiempo, mas esfuerzo de coordinación y organización, lo cual se parece a la problemática de muchos procesos productivos</a:t>
            </a:r>
          </a:p>
          <a:p>
            <a:endParaRPr lang="es-ES"/>
          </a:p>
        </p:txBody>
      </p:sp>
    </p:spTree>
    <p:extLst>
      <p:ext uri="{BB962C8B-B14F-4D97-AF65-F5344CB8AC3E}">
        <p14:creationId xmlns:p14="http://schemas.microsoft.com/office/powerpoint/2010/main" val="3194977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1. Requisitos:</a:t>
            </a:r>
          </a:p>
          <a:p>
            <a:endParaRPr lang="es-ES" dirty="0" smtClean="0"/>
          </a:p>
          <a:p>
            <a:r>
              <a:rPr lang="es-ES" dirty="0" smtClean="0"/>
              <a:t>   • En esta fase, se recopilan y documentan todos los requisitos del sistema. Los usuarios y partes interesadas proporcionan información sobre lo que esperan del software.</a:t>
            </a:r>
          </a:p>
          <a:p>
            <a:endParaRPr lang="es-ES" dirty="0" smtClean="0"/>
          </a:p>
          <a:p>
            <a:r>
              <a:rPr lang="es-ES" dirty="0" smtClean="0"/>
              <a:t>2. Diseño del sistema:</a:t>
            </a:r>
          </a:p>
          <a:p>
            <a:endParaRPr lang="es-ES" dirty="0" smtClean="0"/>
          </a:p>
          <a:p>
            <a:r>
              <a:rPr lang="es-ES" dirty="0" smtClean="0"/>
              <a:t>   • Con los requisitos claros, se elabora un diseño del sistema que especifica cómo se implementarán esos requisitos. Esto incluye la arquitectura del software, la interfaz de usuario y las bases de datos.</a:t>
            </a:r>
          </a:p>
          <a:p>
            <a:endParaRPr lang="es-ES" dirty="0" smtClean="0"/>
          </a:p>
          <a:p>
            <a:r>
              <a:rPr lang="es-ES" dirty="0" smtClean="0"/>
              <a:t>3. Implementación (Codificación):</a:t>
            </a:r>
          </a:p>
          <a:p>
            <a:endParaRPr lang="es-ES" dirty="0" smtClean="0"/>
          </a:p>
          <a:p>
            <a:r>
              <a:rPr lang="es-ES" dirty="0" smtClean="0"/>
              <a:t>   • En esta etapa, los desarrolladores escriben el código del software según el diseño previamente establecido. Se crean los diferentes módulos y componentes del sistema.</a:t>
            </a:r>
          </a:p>
          <a:p>
            <a:endParaRPr lang="es-ES" dirty="0" smtClean="0"/>
          </a:p>
          <a:p>
            <a:r>
              <a:rPr lang="es-ES" dirty="0" smtClean="0"/>
              <a:t>4. Pruebas:</a:t>
            </a:r>
          </a:p>
          <a:p>
            <a:endParaRPr lang="es-ES" dirty="0" smtClean="0"/>
          </a:p>
          <a:p>
            <a:r>
              <a:rPr lang="es-ES" dirty="0" smtClean="0"/>
              <a:t>   • Una vez que el software se ha implementado, se realizan pruebas para identificar y corregir errores. Esto incluye pruebas unitarias, pruebas de integración y pruebas del sistema.</a:t>
            </a:r>
          </a:p>
          <a:p>
            <a:endParaRPr lang="es-ES" dirty="0" smtClean="0"/>
          </a:p>
          <a:p>
            <a:r>
              <a:rPr lang="es-ES" dirty="0" smtClean="0"/>
              <a:t>5. Despliegue:</a:t>
            </a:r>
          </a:p>
          <a:p>
            <a:endParaRPr lang="es-ES" dirty="0" smtClean="0"/>
          </a:p>
          <a:p>
            <a:r>
              <a:rPr lang="es-ES" dirty="0" smtClean="0"/>
              <a:t>   • Después de que el software ha sido probado y se considera estable, se despliega en el entorno de producción. Esto implica la instalación y configuración del software para su uso por los usuarios finales.</a:t>
            </a:r>
          </a:p>
          <a:p>
            <a:endParaRPr lang="es-ES" dirty="0" smtClean="0"/>
          </a:p>
          <a:p>
            <a:r>
              <a:rPr lang="es-ES" dirty="0" smtClean="0"/>
              <a:t>6. Mantenimiento:</a:t>
            </a:r>
          </a:p>
          <a:p>
            <a:endParaRPr lang="es-ES" dirty="0" smtClean="0"/>
          </a:p>
          <a:p>
            <a:r>
              <a:rPr lang="es-ES" dirty="0" smtClean="0"/>
              <a:t>   • Una vez que el software está en uso, puede requerir actualizaciones y mantenimiento para corregir errores, mejorar el rendimiento o adaptar el software a nuevos requisitos.</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a:t>
            </a:r>
          </a:p>
          <a:p>
            <a:endParaRPr lang="es-ES" dirty="0" smtClean="0"/>
          </a:p>
          <a:p>
            <a:r>
              <a:rPr lang="es-ES" dirty="0" smtClean="0"/>
              <a:t>El modelo en cascada es adecuado para proyectos donde los requisitos son claros desde el principio y donde el riesgo de cambios es bajo. Sin embargo, en entornos más dinámicos, pueden ser más apropiados modelos ágiles o iterativos.</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31949778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indent="0" algn="just">
              <a:lnSpc>
                <a:spcPct val="100000"/>
              </a:lnSpc>
              <a:buNone/>
            </a:pPr>
            <a:r>
              <a:rPr lang="es-ES" sz="1200" b="1" kern="1200" dirty="0" smtClean="0">
                <a:solidFill>
                  <a:srgbClr val="000000"/>
                </a:solidFill>
                <a:latin typeface="+mn-lt"/>
                <a:ea typeface="+mn-ea"/>
                <a:cs typeface="+mn-cs"/>
              </a:rPr>
              <a:t>Planeación</a:t>
            </a:r>
            <a:r>
              <a:rPr lang="es-ES" sz="1200" kern="1200" dirty="0" smtClean="0">
                <a:solidFill>
                  <a:srgbClr val="000000"/>
                </a:solidFill>
                <a:latin typeface="+mn-lt"/>
                <a:ea typeface="+mn-ea"/>
                <a:cs typeface="+mn-cs"/>
              </a:rPr>
              <a:t>: se determinan los objetivos, alternativas y restricciones</a:t>
            </a:r>
          </a:p>
          <a:p>
            <a:pPr marL="0" indent="0" algn="just">
              <a:lnSpc>
                <a:spcPct val="100000"/>
              </a:lnSpc>
              <a:buNone/>
            </a:pPr>
            <a:r>
              <a:rPr lang="es-ES" sz="1200" b="1" kern="1200" dirty="0" smtClean="0">
                <a:solidFill>
                  <a:srgbClr val="000000"/>
                </a:solidFill>
                <a:latin typeface="+mn-lt"/>
                <a:ea typeface="+mn-ea"/>
                <a:cs typeface="+mn-cs"/>
              </a:rPr>
              <a:t>Análisis de Riesgos</a:t>
            </a:r>
            <a:r>
              <a:rPr lang="es-ES" sz="1200" kern="1200" dirty="0" smtClean="0">
                <a:solidFill>
                  <a:srgbClr val="000000"/>
                </a:solidFill>
                <a:latin typeface="+mn-lt"/>
                <a:ea typeface="+mn-ea"/>
                <a:cs typeface="+mn-cs"/>
              </a:rPr>
              <a:t>: se identifican problemas potenciales y se analizan soluciones alternativas</a:t>
            </a:r>
          </a:p>
          <a:p>
            <a:pPr marL="0" indent="0" algn="just">
              <a:lnSpc>
                <a:spcPct val="100000"/>
              </a:lnSpc>
              <a:buNone/>
            </a:pPr>
            <a:r>
              <a:rPr lang="es-ES" sz="1200" b="1" kern="1200" dirty="0" smtClean="0">
                <a:solidFill>
                  <a:srgbClr val="000000"/>
                </a:solidFill>
                <a:latin typeface="+mn-lt"/>
                <a:ea typeface="+mn-ea"/>
                <a:cs typeface="+mn-cs"/>
              </a:rPr>
              <a:t>Producción</a:t>
            </a:r>
            <a:r>
              <a:rPr lang="es-ES" sz="1200" kern="1200" dirty="0" smtClean="0">
                <a:solidFill>
                  <a:srgbClr val="000000"/>
                </a:solidFill>
                <a:latin typeface="+mn-lt"/>
                <a:ea typeface="+mn-ea"/>
                <a:cs typeface="+mn-cs"/>
              </a:rPr>
              <a:t>: se produce una nueva versión del software</a:t>
            </a:r>
          </a:p>
          <a:p>
            <a:pPr marL="0" indent="0" algn="just">
              <a:lnSpc>
                <a:spcPct val="100000"/>
              </a:lnSpc>
              <a:buNone/>
            </a:pPr>
            <a:r>
              <a:rPr lang="es-ES" sz="1200" b="1" kern="1200" dirty="0" smtClean="0">
                <a:solidFill>
                  <a:srgbClr val="000000"/>
                </a:solidFill>
                <a:latin typeface="+mn-lt"/>
                <a:ea typeface="+mn-ea"/>
                <a:cs typeface="+mn-cs"/>
              </a:rPr>
              <a:t>Evaluación cliente</a:t>
            </a:r>
            <a:r>
              <a:rPr lang="es-ES" sz="1200" kern="1200" dirty="0" smtClean="0">
                <a:solidFill>
                  <a:srgbClr val="000000"/>
                </a:solidFill>
                <a:latin typeface="+mn-lt"/>
                <a:ea typeface="+mn-ea"/>
                <a:cs typeface="+mn-cs"/>
              </a:rPr>
              <a:t>: el cliente acepta (o no) el software desde el punto de vista de funcionalidad y facilidad de uso</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altLang="en-US" dirty="0" smtClean="0">
              <a:latin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s-ES" altLang="en-US" dirty="0" smtClean="0">
              <a:latin typeface="Arial" panose="020B0604020202020204" pitchFamily="34" charset="0"/>
            </a:endParaRPr>
          </a:p>
        </p:txBody>
      </p:sp>
    </p:spTree>
    <p:extLst>
      <p:ext uri="{BB962C8B-B14F-4D97-AF65-F5344CB8AC3E}">
        <p14:creationId xmlns:p14="http://schemas.microsoft.com/office/powerpoint/2010/main" val="3194977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altLang="en-US" dirty="0" smtClean="0">
              <a:latin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altLang="en-US" dirty="0" smtClean="0">
                <a:latin typeface="Arial" panose="020B0604020202020204" pitchFamily="34" charset="0"/>
              </a:rPr>
              <a:t>El modelo en espiral es especialmente útil para proyectos grandes y complejos donde los requisitos pueden cambiar durante el desarrollo y donde la gestión de riesgos es crucial.</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▎Componentes Clave de la Administración de Proyectos de Software</a:t>
            </a:r>
          </a:p>
          <a:p>
            <a:endParaRPr lang="es-ES" dirty="0" smtClean="0"/>
          </a:p>
          <a:p>
            <a:r>
              <a:rPr lang="es-ES" dirty="0" smtClean="0"/>
              <a:t>1. Planificación:</a:t>
            </a:r>
          </a:p>
          <a:p>
            <a:endParaRPr lang="es-ES" dirty="0" smtClean="0"/>
          </a:p>
          <a:p>
            <a:r>
              <a:rPr lang="es-ES" dirty="0" smtClean="0"/>
              <a:t>   • Definir los objetivos del proyecto.</a:t>
            </a:r>
          </a:p>
          <a:p>
            <a:endParaRPr lang="es-ES" dirty="0" smtClean="0"/>
          </a:p>
          <a:p>
            <a:r>
              <a:rPr lang="es-ES" dirty="0" smtClean="0"/>
              <a:t>   • Establecer el alcance, cronograma y presupuesto.</a:t>
            </a:r>
          </a:p>
          <a:p>
            <a:endParaRPr lang="es-ES" dirty="0" smtClean="0"/>
          </a:p>
          <a:p>
            <a:r>
              <a:rPr lang="es-ES" dirty="0" smtClean="0"/>
              <a:t>   • Identificar los recursos necesarios (humanos, tecnológicos, financieros).</a:t>
            </a:r>
          </a:p>
          <a:p>
            <a:endParaRPr lang="es-ES" dirty="0" smtClean="0"/>
          </a:p>
          <a:p>
            <a:r>
              <a:rPr lang="es-ES" dirty="0" smtClean="0"/>
              <a:t>2. Organización:</a:t>
            </a:r>
          </a:p>
          <a:p>
            <a:endParaRPr lang="es-ES" dirty="0" smtClean="0"/>
          </a:p>
          <a:p>
            <a:r>
              <a:rPr lang="es-ES" dirty="0" smtClean="0"/>
              <a:t>   • Asignar roles y responsabilidades dentro del equipo.</a:t>
            </a:r>
          </a:p>
          <a:p>
            <a:endParaRPr lang="es-ES" dirty="0" smtClean="0"/>
          </a:p>
          <a:p>
            <a:r>
              <a:rPr lang="es-ES" dirty="0" smtClean="0"/>
              <a:t>   • Establecer una estructura organizativa que facilite la comunicación y colaboración.</a:t>
            </a:r>
          </a:p>
          <a:p>
            <a:endParaRPr lang="es-ES" dirty="0" smtClean="0"/>
          </a:p>
          <a:p>
            <a:r>
              <a:rPr lang="es-ES" dirty="0" smtClean="0"/>
              <a:t>3. Dirección:</a:t>
            </a:r>
          </a:p>
          <a:p>
            <a:endParaRPr lang="es-ES" dirty="0" smtClean="0"/>
          </a:p>
          <a:p>
            <a:r>
              <a:rPr lang="es-ES" dirty="0" smtClean="0"/>
              <a:t>   • Liderar al equipo del proyecto, motivar y resolver conflictos.</a:t>
            </a:r>
          </a:p>
          <a:p>
            <a:endParaRPr lang="es-ES" dirty="0" smtClean="0"/>
          </a:p>
          <a:p>
            <a:r>
              <a:rPr lang="es-ES" dirty="0" smtClean="0"/>
              <a:t>   • Comunicar el progreso y los cambios a las partes interesadas.</a:t>
            </a:r>
          </a:p>
          <a:p>
            <a:endParaRPr lang="es-ES" dirty="0" smtClean="0"/>
          </a:p>
          <a:p>
            <a:r>
              <a:rPr lang="es-ES" dirty="0" smtClean="0"/>
              <a:t>4. Control:</a:t>
            </a:r>
          </a:p>
          <a:p>
            <a:endParaRPr lang="es-ES" dirty="0" smtClean="0"/>
          </a:p>
          <a:p>
            <a:r>
              <a:rPr lang="es-ES" dirty="0" smtClean="0"/>
              <a:t>   • Monitorear el avance del proyecto en relación con el plan establecido.</a:t>
            </a:r>
          </a:p>
          <a:p>
            <a:endParaRPr lang="es-ES" dirty="0" smtClean="0"/>
          </a:p>
          <a:p>
            <a:r>
              <a:rPr lang="es-ES" dirty="0" smtClean="0"/>
              <a:t>   • Implementar medidas correctivas cuando sea necesario para mantener el proyecto en curso.</a:t>
            </a:r>
          </a:p>
          <a:p>
            <a:endParaRPr lang="es-ES" dirty="0" smtClean="0"/>
          </a:p>
          <a:p>
            <a:r>
              <a:rPr lang="es-ES" dirty="0" smtClean="0"/>
              <a:t>5. Gestión de Riesgos:</a:t>
            </a:r>
          </a:p>
          <a:p>
            <a:endParaRPr lang="es-ES" dirty="0" smtClean="0"/>
          </a:p>
          <a:p>
            <a:r>
              <a:rPr lang="es-ES" dirty="0" smtClean="0"/>
              <a:t>   • Identificar, evaluar y mitigar riesgos potenciales que puedan afectar el éxito del proyecto.</a:t>
            </a:r>
          </a:p>
          <a:p>
            <a:endParaRPr lang="es-ES" dirty="0" smtClean="0"/>
          </a:p>
          <a:p>
            <a:r>
              <a:rPr lang="es-ES" dirty="0" smtClean="0"/>
              <a:t>6. Gestión de Calidad:</a:t>
            </a:r>
          </a:p>
          <a:p>
            <a:endParaRPr lang="es-ES" dirty="0" smtClean="0"/>
          </a:p>
          <a:p>
            <a:r>
              <a:rPr lang="es-ES" dirty="0" smtClean="0"/>
              <a:t>   • Asegurar que el software desarrollado cumpla con los estándares de calidad requeridos y satisfaga las necesidades del cliente.</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dirty="0" smtClean="0"/>
              <a:t>Componentes Clave de la Economía de un Proyecto de Software</a:t>
            </a:r>
          </a:p>
          <a:p>
            <a:endParaRPr lang="es-ES" dirty="0" smtClean="0"/>
          </a:p>
          <a:p>
            <a:r>
              <a:rPr lang="es-ES" dirty="0" smtClean="0"/>
              <a:t>▎</a:t>
            </a:r>
          </a:p>
          <a:p>
            <a:r>
              <a:rPr lang="es-ES" dirty="0" smtClean="0"/>
              <a:t>1. Costos:</a:t>
            </a:r>
          </a:p>
          <a:p>
            <a:endParaRPr lang="es-ES" dirty="0" smtClean="0"/>
          </a:p>
          <a:p>
            <a:r>
              <a:rPr lang="es-ES" dirty="0" smtClean="0"/>
              <a:t>   • Costos Directos: Gastos directamente atribuibles al proyecto, como salarios del equipo, licencias de software, hardware y otros recursos.</a:t>
            </a:r>
          </a:p>
          <a:p>
            <a:endParaRPr lang="es-ES" dirty="0" smtClean="0"/>
          </a:p>
          <a:p>
            <a:r>
              <a:rPr lang="es-ES" dirty="0" smtClean="0"/>
              <a:t>   • Costos Indirectos: Gastos generales que no se pueden asignar directamente al proyecto, como servicios públicos, administración y soporte.</a:t>
            </a:r>
          </a:p>
          <a:p>
            <a:endParaRPr lang="es-ES" dirty="0" smtClean="0"/>
          </a:p>
          <a:p>
            <a:r>
              <a:rPr lang="es-ES" dirty="0" smtClean="0"/>
              <a:t>   • Costos Oportunidad: Pérdidas potenciales al elegir un proyecto sobre otro.</a:t>
            </a:r>
          </a:p>
          <a:p>
            <a:endParaRPr lang="es-ES" dirty="0" smtClean="0"/>
          </a:p>
          <a:p>
            <a:r>
              <a:rPr lang="es-ES" dirty="0" smtClean="0"/>
              <a:t>2. Beneficios:</a:t>
            </a:r>
          </a:p>
          <a:p>
            <a:endParaRPr lang="es-ES" dirty="0" smtClean="0"/>
          </a:p>
          <a:p>
            <a:r>
              <a:rPr lang="es-ES" dirty="0" smtClean="0"/>
              <a:t>   • Beneficios Tangibles: Aumento en ingresos, reducción de costos operativos o mejoras en la eficiencia.</a:t>
            </a:r>
          </a:p>
          <a:p>
            <a:endParaRPr lang="es-ES" dirty="0" smtClean="0"/>
          </a:p>
          <a:p>
            <a:r>
              <a:rPr lang="es-ES" dirty="0" smtClean="0"/>
              <a:t>   • Beneficios Intangibles: Mejora en la satisfacción del cliente, reputación de la empresa o ventajas competitivas.</a:t>
            </a:r>
          </a:p>
          <a:p>
            <a:endParaRPr lang="es-ES" dirty="0" smtClean="0"/>
          </a:p>
          <a:p>
            <a:r>
              <a:rPr lang="es-ES" dirty="0" smtClean="0"/>
              <a:t>3. Análisis de Viabilidad:</a:t>
            </a:r>
          </a:p>
          <a:p>
            <a:endParaRPr lang="es-ES" dirty="0" smtClean="0"/>
          </a:p>
          <a:p>
            <a:r>
              <a:rPr lang="es-ES" dirty="0" smtClean="0"/>
              <a:t>   • Evaluación de la factibilidad técnica, económica y operativa del proyecto.</a:t>
            </a:r>
          </a:p>
          <a:p>
            <a:endParaRPr lang="es-ES" dirty="0" smtClean="0"/>
          </a:p>
          <a:p>
            <a:r>
              <a:rPr lang="es-ES" dirty="0" smtClean="0"/>
              <a:t>   • Análisis de riesgos asociados y su impacto en los costos y beneficios.</a:t>
            </a:r>
          </a:p>
          <a:p>
            <a:endParaRPr lang="es-ES" dirty="0" smtClean="0"/>
          </a:p>
          <a:p>
            <a:r>
              <a:rPr lang="es-ES" dirty="0" smtClean="0"/>
              <a:t>4. Retorno de Inversión (ROI):</a:t>
            </a:r>
          </a:p>
          <a:p>
            <a:endParaRPr lang="es-ES" dirty="0" smtClean="0"/>
          </a:p>
          <a:p>
            <a:r>
              <a:rPr lang="es-ES" dirty="0" smtClean="0"/>
              <a:t>   • Cálculo que mide el rendimiento financiero del proyecto en relación con su costo.</a:t>
            </a:r>
          </a:p>
          <a:p>
            <a:endParaRPr lang="es-ES" dirty="0" smtClean="0"/>
          </a:p>
          <a:p>
            <a:r>
              <a:rPr lang="es-ES" dirty="0" smtClean="0"/>
              <a:t>   • Fórmula básica:  ROI = (Beneficios - Costos)/Costos × 100 </a:t>
            </a:r>
          </a:p>
          <a:p>
            <a:endParaRPr lang="es-ES" dirty="0" smtClean="0"/>
          </a:p>
          <a:p>
            <a:r>
              <a:rPr lang="es-ES" dirty="0" smtClean="0"/>
              <a:t>5. Valor Actual Neto (VAN):</a:t>
            </a:r>
          </a:p>
          <a:p>
            <a:endParaRPr lang="es-ES" dirty="0" smtClean="0"/>
          </a:p>
          <a:p>
            <a:r>
              <a:rPr lang="es-ES" dirty="0" smtClean="0"/>
              <a:t>   • Método que calcula el valor presente de los flujos de caja futuros generados por el proyecto, descontando los costos iniciales.</a:t>
            </a:r>
          </a:p>
          <a:p>
            <a:endParaRPr lang="es-ES" dirty="0" smtClean="0"/>
          </a:p>
          <a:p>
            <a:r>
              <a:rPr lang="es-ES" dirty="0" smtClean="0"/>
              <a:t>   • Un VAN positivo indica que el proyecto es económicamente viable.</a:t>
            </a:r>
          </a:p>
          <a:p>
            <a:endParaRPr lang="es-ES" dirty="0" smtClean="0"/>
          </a:p>
          <a:p>
            <a:r>
              <a:rPr lang="es-ES" dirty="0" smtClean="0"/>
              <a:t>6. Análisis de Costo-Beneficio (ACB):</a:t>
            </a:r>
          </a:p>
          <a:p>
            <a:endParaRPr lang="es-ES" dirty="0" smtClean="0"/>
          </a:p>
          <a:p>
            <a:r>
              <a:rPr lang="es-ES" dirty="0" smtClean="0"/>
              <a:t>   • Comparación sistemática entre los costos y beneficios esperados del proyecto para determinar su viabilidad económica.</a:t>
            </a:r>
          </a:p>
        </p:txBody>
      </p:sp>
    </p:spTree>
    <p:extLst>
      <p:ext uri="{BB962C8B-B14F-4D97-AF65-F5344CB8AC3E}">
        <p14:creationId xmlns:p14="http://schemas.microsoft.com/office/powerpoint/2010/main" val="3194977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▎Conclusión</a:t>
            </a:r>
          </a:p>
          <a:p>
            <a:endParaRPr lang="es-ES" dirty="0" smtClean="0"/>
          </a:p>
          <a:p>
            <a:r>
              <a:rPr lang="es-ES" dirty="0" smtClean="0"/>
              <a:t>La economía de un proyecto de software es esencial para garantizar que se maximicen los beneficios y se minimicen los costos, contribuyendo así al éxito general del proyecto y a la sostenibilidad financiera de la organización. Un análisis económico riguroso permite a las empresas tomar decisiones estratégicas que alineen sus objetivos comerciales con el desarrollo tecnológico.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1. Análisis de Factibilidad</a:t>
            </a:r>
          </a:p>
          <a:p>
            <a:endParaRPr lang="es-ES" dirty="0" smtClean="0"/>
          </a:p>
          <a:p>
            <a:r>
              <a:rPr lang="es-ES" dirty="0" smtClean="0"/>
              <a:t>El análisis de factibilidad evalúa si un proyecto de software es viable y si puede ser realizado con éxito. </a:t>
            </a:r>
          </a:p>
          <a:p>
            <a:r>
              <a:rPr lang="es-ES" dirty="0" smtClean="0"/>
              <a:t>▎2. Análisis de </a:t>
            </a:r>
            <a:r>
              <a:rPr lang="es-ES" dirty="0" err="1" smtClean="0"/>
              <a:t>Repetibilidad</a:t>
            </a:r>
            <a:endParaRPr lang="es-ES" dirty="0" smtClean="0"/>
          </a:p>
          <a:p>
            <a:endParaRPr lang="es-ES" dirty="0" smtClean="0"/>
          </a:p>
          <a:p>
            <a:r>
              <a:rPr lang="es-ES" dirty="0" smtClean="0"/>
              <a:t>El análisis de </a:t>
            </a:r>
            <a:r>
              <a:rPr lang="es-ES" dirty="0" err="1" smtClean="0"/>
              <a:t>repetibilidad</a:t>
            </a:r>
            <a:r>
              <a:rPr lang="es-ES" dirty="0" smtClean="0"/>
              <a:t> se centra en la capacidad de reproducir procesos, pruebas y resultados en el desarrollo de software. Es esencial para asegurar la calidad y la fiabilidad del producto final. </a:t>
            </a:r>
          </a:p>
          <a:p>
            <a:endParaRPr lang="es-ES" dirty="0" smtClean="0"/>
          </a:p>
          <a:p>
            <a:r>
              <a:rPr lang="es-ES" dirty="0" smtClean="0"/>
              <a:t>3. Análisis de Predictibilidad</a:t>
            </a:r>
          </a:p>
          <a:p>
            <a:endParaRPr lang="es-ES" dirty="0" smtClean="0"/>
          </a:p>
          <a:p>
            <a:r>
              <a:rPr lang="es-ES" dirty="0" smtClean="0"/>
              <a:t>El análisis de predictibilidad se centra en la capacidad de prever el desempeño futuro del proyecto, incluyendo plazos, costos y calidad. </a:t>
            </a:r>
          </a:p>
          <a:p>
            <a:endParaRPr lang="es-ES" dirty="0" smtClean="0"/>
          </a:p>
          <a:p>
            <a:r>
              <a:rPr lang="es-ES" dirty="0" smtClean="0"/>
              <a:t>▎Conclusión</a:t>
            </a:r>
          </a:p>
          <a:p>
            <a:endParaRPr lang="es-ES" dirty="0" smtClean="0"/>
          </a:p>
          <a:p>
            <a:r>
              <a:rPr lang="es-ES" dirty="0" smtClean="0"/>
              <a:t>Estos análisis son fundamentales para la planificación, ejecución y control de proyectos de software. El análisis de factibilidad ayuda a determinar si un proyecto debe llevarse a cabo; el análisis de </a:t>
            </a:r>
            <a:r>
              <a:rPr lang="es-ES" dirty="0" err="1" smtClean="0"/>
              <a:t>repetibilidad</a:t>
            </a:r>
            <a:r>
              <a:rPr lang="es-ES" dirty="0" smtClean="0"/>
              <a:t> asegura que los procesos sean consistentes y confiables; y el análisis de predictibilidad permite anticipar problemas y gestionar expectativas. Juntos, contribuyen a un desarrollo más efectivo y exitoso.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1. Análisis de Factibilidad</a:t>
            </a:r>
          </a:p>
          <a:p>
            <a:endParaRPr lang="es-ES" dirty="0" smtClean="0"/>
          </a:p>
          <a:p>
            <a:r>
              <a:rPr lang="es-ES" dirty="0" smtClean="0"/>
              <a:t>El análisis de factibilidad evalúa si un proyecto de software es viable y si puede ser realizado con éxito. Se considera desde varias perspectivas:</a:t>
            </a:r>
          </a:p>
          <a:p>
            <a:endParaRPr lang="es-ES" dirty="0" smtClean="0"/>
          </a:p>
          <a:p>
            <a:r>
              <a:rPr lang="es-ES" dirty="0" smtClean="0"/>
              <a:t>• Factibilidad Técnica: Determina si la tecnología necesaria para el proyecto está disponible y si el equipo tiene las habilidades necesarias para implementarla.</a:t>
            </a:r>
          </a:p>
          <a:p>
            <a:endParaRPr lang="es-ES" dirty="0" smtClean="0"/>
          </a:p>
          <a:p>
            <a:r>
              <a:rPr lang="es-ES" dirty="0" smtClean="0"/>
              <a:t>• Factibilidad Económica: Evalúa el costo del proyecto en comparación con los beneficios esperados. Incluye análisis de retorno de inversión (ROI) y costos a lo largo del ciclo de vida del software.</a:t>
            </a:r>
          </a:p>
          <a:p>
            <a:endParaRPr lang="es-ES" dirty="0" smtClean="0"/>
          </a:p>
          <a:p>
            <a:r>
              <a:rPr lang="es-ES" dirty="0" smtClean="0"/>
              <a:t>• Factibilidad Operativa: Examina si el software se puede integrar en las operaciones existentes de la organización y si los usuarios finales pueden adaptarse al nuevo sistema.</a:t>
            </a:r>
          </a:p>
          <a:p>
            <a:endParaRPr lang="es-ES" dirty="0" smtClean="0"/>
          </a:p>
          <a:p>
            <a:r>
              <a:rPr lang="es-ES" dirty="0" smtClean="0"/>
              <a:t>• Factibilidad Legal: Considera las implicaciones legales y normativas que podrían afectar el desarrollo y uso del software.</a:t>
            </a:r>
          </a:p>
        </p:txBody>
      </p:sp>
    </p:spTree>
    <p:extLst>
      <p:ext uri="{BB962C8B-B14F-4D97-AF65-F5344CB8AC3E}">
        <p14:creationId xmlns:p14="http://schemas.microsoft.com/office/powerpoint/2010/main" val="31949778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▎2. Análisis de </a:t>
            </a:r>
            <a:r>
              <a:rPr lang="es-ES" dirty="0" err="1" smtClean="0"/>
              <a:t>Repetibilidad</a:t>
            </a:r>
            <a:endParaRPr lang="es-ES" dirty="0" smtClean="0"/>
          </a:p>
          <a:p>
            <a:endParaRPr lang="es-ES" dirty="0" smtClean="0"/>
          </a:p>
          <a:p>
            <a:endParaRPr lang="es-ES" dirty="0" smtClean="0"/>
          </a:p>
          <a:p>
            <a:r>
              <a:rPr lang="es-ES" dirty="0" smtClean="0"/>
              <a:t>• Pruebas Repetibles: Asegurarse de que las pruebas se puedan realizar bajo las mismas condiciones y que los resultados sean consistentes en diferentes ciclos de desarrollo.</a:t>
            </a:r>
          </a:p>
          <a:p>
            <a:endParaRPr lang="es-ES" dirty="0" smtClean="0"/>
          </a:p>
          <a:p>
            <a:r>
              <a:rPr lang="es-ES" dirty="0" smtClean="0"/>
              <a:t>• Entornos Consistentes: Utilizar herramientas y técnicas que permitan crear entornos de desarrollo y producción replicables (como contenedores o máquinas virtuales).</a:t>
            </a:r>
          </a:p>
          <a:p>
            <a:endParaRPr lang="es-ES" dirty="0" smtClean="0"/>
          </a:p>
          <a:p>
            <a:r>
              <a:rPr lang="es-ES" dirty="0" smtClean="0"/>
              <a:t>• Documentación y Estándares: Mantener documentación clara y seguir estándares establecidos para asegurar que todos los miembros del equipo puedan reproducir procesos y resultados.</a:t>
            </a:r>
          </a:p>
        </p:txBody>
      </p:sp>
    </p:spTree>
    <p:extLst>
      <p:ext uri="{BB962C8B-B14F-4D97-AF65-F5344CB8AC3E}">
        <p14:creationId xmlns:p14="http://schemas.microsoft.com/office/powerpoint/2010/main" val="31949778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3. Análisis de Predictibilidad</a:t>
            </a:r>
          </a:p>
          <a:p>
            <a:endParaRPr lang="es-ES" dirty="0" smtClean="0"/>
          </a:p>
          <a:p>
            <a:endParaRPr lang="es-ES" dirty="0" smtClean="0"/>
          </a:p>
          <a:p>
            <a:r>
              <a:rPr lang="es-ES" dirty="0" smtClean="0"/>
              <a:t>• Estimaciones de Tiempo y Costo: Utiliza métricas históricas y modelos de estimación para prever cuánto tiempo y recursos se necesitarán para completar el proyecto.</a:t>
            </a:r>
          </a:p>
          <a:p>
            <a:endParaRPr lang="es-ES" dirty="0" smtClean="0"/>
          </a:p>
          <a:p>
            <a:r>
              <a:rPr lang="es-ES" dirty="0" smtClean="0"/>
              <a:t>• Métricas de Progreso: Monitorea el avance del proyecto en relación con los planes establecidos, permitiendo ajustes proactivos si es necesario.</a:t>
            </a:r>
          </a:p>
          <a:p>
            <a:endParaRPr lang="es-ES" dirty="0" smtClean="0"/>
          </a:p>
          <a:p>
            <a:r>
              <a:rPr lang="es-ES" dirty="0" smtClean="0"/>
              <a:t>• Identificación de Riesgos: Analiza los riesgos potenciales que podrían afectar el éxito del proyecto y desarrolla estrategias para mitigarlos.</a:t>
            </a:r>
          </a:p>
          <a:p>
            <a:endParaRPr lang="es-ES" dirty="0" smtClean="0"/>
          </a:p>
        </p:txBody>
      </p:sp>
    </p:spTree>
    <p:extLst>
      <p:ext uri="{BB962C8B-B14F-4D97-AF65-F5344CB8AC3E}">
        <p14:creationId xmlns:p14="http://schemas.microsoft.com/office/powerpoint/2010/main" val="31949778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altLang="en-US" dirty="0" smtClean="0">
              <a:latin typeface="Arial" panose="020B0604020202020204" pitchFamily="34" charset="0"/>
            </a:endParaRPr>
          </a:p>
        </p:txBody>
      </p:sp>
    </p:spTree>
    <p:extLst>
      <p:ext uri="{BB962C8B-B14F-4D97-AF65-F5344CB8AC3E}">
        <p14:creationId xmlns:p14="http://schemas.microsoft.com/office/powerpoint/2010/main" val="31949778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altLang="en-US" dirty="0" smtClean="0">
              <a:latin typeface="Arial" panose="020B0604020202020204" pitchFamily="34" charset="0"/>
            </a:endParaRPr>
          </a:p>
        </p:txBody>
      </p:sp>
    </p:spTree>
    <p:extLst>
      <p:ext uri="{BB962C8B-B14F-4D97-AF65-F5344CB8AC3E}">
        <p14:creationId xmlns:p14="http://schemas.microsoft.com/office/powerpoint/2010/main" val="31949778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altLang="en-US" dirty="0" smtClean="0">
              <a:latin typeface="Arial" panose="020B0604020202020204" pitchFamily="34" charset="0"/>
            </a:endParaRPr>
          </a:p>
        </p:txBody>
      </p:sp>
    </p:spTree>
    <p:extLst>
      <p:ext uri="{BB962C8B-B14F-4D97-AF65-F5344CB8AC3E}">
        <p14:creationId xmlns:p14="http://schemas.microsoft.com/office/powerpoint/2010/main" val="31949778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altLang="en-US" dirty="0" smtClean="0">
                <a:latin typeface="Arial" panose="020B0604020202020204" pitchFamily="34" charset="0"/>
              </a:rPr>
              <a:t>▎Conclusión</a:t>
            </a:r>
          </a:p>
          <a:p>
            <a:pPr marL="0" marR="0" indent="0" algn="l" defTabSz="914400" rtl="0" eaLnBrk="1" fontAlgn="auto" latinLnBrk="0" hangingPunct="1">
              <a:lnSpc>
                <a:spcPct val="100000"/>
              </a:lnSpc>
              <a:spcBef>
                <a:spcPts val="0"/>
              </a:spcBef>
              <a:spcAft>
                <a:spcPts val="0"/>
              </a:spcAft>
              <a:buClrTx/>
              <a:buSzTx/>
              <a:buFontTx/>
              <a:buNone/>
              <a:tabLst/>
              <a:defRPr/>
            </a:pPr>
            <a:endParaRPr lang="es-ES" altLang="en-US" dirty="0" smtClean="0">
              <a:latin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altLang="en-US" dirty="0" smtClean="0">
                <a:latin typeface="Arial" panose="020B0604020202020204" pitchFamily="34" charset="0"/>
              </a:rPr>
              <a:t>En resumen, "software de calidad" se refiere al producto final que satisface las necesidades del usuario, mientras que "calidad del software" se refiere a los procesos y prácticas implementadas para garantizar que se logre ese nivel de calidad. Ambos son cruciales para el éxito en el desarrollo de software y deben ser gestionados de manera efectiva.</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0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7195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4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9022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4048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r>
              <a:rPr lang="es-ES"/>
              <a:t>MSc. Aracelys García Armenteros</a:t>
            </a:r>
          </a:p>
        </p:txBody>
      </p:sp>
      <p:sp>
        <p:nvSpPr>
          <p:cNvPr id="4" name="Footer Placeholder 3"/>
          <p:cNvSpPr>
            <a:spLocks noGrp="1"/>
          </p:cNvSpPr>
          <p:nvPr>
            <p:ph type="ftr" sz="quarter" idx="11"/>
          </p:nvPr>
        </p:nvSpPr>
        <p:spPr/>
        <p:txBody>
          <a:bodyPr/>
          <a:lstStyle/>
          <a:p>
            <a:r>
              <a:rPr lang="es-ES"/>
              <a:t>Gestión de Proyectos. Planificación y estimación.</a:t>
            </a:r>
          </a:p>
        </p:txBody>
      </p:sp>
      <p:sp>
        <p:nvSpPr>
          <p:cNvPr id="5" name="Slide Number Placeholder 4"/>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8215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97941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s-ES"/>
              <a:t>MSc. Aracelys García Armenteros</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s-ES"/>
              <a:t>Gestión de Proyectos. Planificación y estimación.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C4EE0E4-9C8A-4542-A491-318C3530755B}" type="slidenum">
              <a:rPr lang="es-ES" smtClean="0"/>
              <a:t>‹Nº›</a:t>
            </a:fld>
            <a:endParaRPr lang="es-ES"/>
          </a:p>
        </p:txBody>
      </p:sp>
    </p:spTree>
    <p:extLst>
      <p:ext uri="{BB962C8B-B14F-4D97-AF65-F5344CB8AC3E}">
        <p14:creationId xmlns:p14="http://schemas.microsoft.com/office/powerpoint/2010/main" val="23468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6560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378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1136500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1826685" y="252414"/>
            <a:ext cx="9749367" cy="1189037"/>
          </a:xfrm>
        </p:spPr>
        <p:txBody>
          <a:bodyPr/>
          <a:lstStyle/>
          <a:p>
            <a:r>
              <a:rPr lang="es-ES"/>
              <a:t>Haga clic para modificar el estilo de título del patrón</a:t>
            </a:r>
            <a:endParaRPr lang="en-US"/>
          </a:p>
        </p:txBody>
      </p:sp>
      <p:sp>
        <p:nvSpPr>
          <p:cNvPr id="3" name="Rectangle 7"/>
          <p:cNvSpPr>
            <a:spLocks noGrp="1" noChangeArrowheads="1"/>
          </p:cNvSpPr>
          <p:nvPr>
            <p:ph type="dt" idx="10"/>
          </p:nvPr>
        </p:nvSpPr>
        <p:spPr>
          <a:ln/>
        </p:spPr>
        <p:txBody>
          <a:bodyPr/>
          <a:lstStyle>
            <a:lvl1pPr>
              <a:defRPr/>
            </a:lvl1pPr>
          </a:lstStyle>
          <a:p>
            <a:pPr>
              <a:defRPr/>
            </a:pPr>
            <a:r>
              <a:rPr lang="es-ES"/>
              <a:t>MSc. Aracelys García Armenteros</a:t>
            </a:r>
            <a:endParaRPr lang="es-ES_tradnl"/>
          </a:p>
        </p:txBody>
      </p:sp>
      <p:sp>
        <p:nvSpPr>
          <p:cNvPr id="4" name="Rectangle 8"/>
          <p:cNvSpPr>
            <a:spLocks noGrp="1" noChangeArrowheads="1"/>
          </p:cNvSpPr>
          <p:nvPr>
            <p:ph type="ftr" idx="11"/>
          </p:nvPr>
        </p:nvSpPr>
        <p:spPr>
          <a:ln/>
        </p:spPr>
        <p:txBody>
          <a:bodyPr/>
          <a:lstStyle>
            <a:lvl1pPr>
              <a:defRPr/>
            </a:lvl1pPr>
          </a:lstStyle>
          <a:p>
            <a:pPr>
              <a:defRPr/>
            </a:pPr>
            <a:r>
              <a:rPr lang="es-ES"/>
              <a:t>Gestión de Proyectos. Planificación y estimación.</a:t>
            </a:r>
            <a:endParaRPr lang="en-US"/>
          </a:p>
        </p:txBody>
      </p:sp>
      <p:sp>
        <p:nvSpPr>
          <p:cNvPr id="5" name="Rectangle 9"/>
          <p:cNvSpPr>
            <a:spLocks noGrp="1" noChangeArrowheads="1"/>
          </p:cNvSpPr>
          <p:nvPr>
            <p:ph type="sldNum" idx="12"/>
          </p:nvPr>
        </p:nvSpPr>
        <p:spPr>
          <a:ln/>
        </p:spPr>
        <p:txBody>
          <a:bodyPr/>
          <a:lstStyle>
            <a:lvl1pPr>
              <a:defRPr/>
            </a:lvl1pPr>
          </a:lstStyle>
          <a:p>
            <a:fld id="{263DA378-A288-4DEE-B6C0-5484F297BAE2}" type="slidenum">
              <a:rPr lang="en-US"/>
              <a:pPr/>
              <a:t>‹Nº›</a:t>
            </a:fld>
            <a:endParaRPr lang="en-US"/>
          </a:p>
        </p:txBody>
      </p:sp>
    </p:spTree>
    <p:extLst>
      <p:ext uri="{BB962C8B-B14F-4D97-AF65-F5344CB8AC3E}">
        <p14:creationId xmlns:p14="http://schemas.microsoft.com/office/powerpoint/2010/main" val="144970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s-ES"/>
              <a:t>MSc. Aracelys García Armenteros</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s-ES"/>
              <a:t>Gestión de Proyectos. Planificación y estimación.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C4EE0E4-9C8A-4542-A491-318C3530755B}"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47003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hf sldNum="0"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1761116" y="1630017"/>
            <a:ext cx="8418342" cy="2290921"/>
          </a:xfrm>
        </p:spPr>
        <p:txBody>
          <a:bodyPr>
            <a:normAutofit fontScale="90000"/>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ES" dirty="0" smtClean="0"/>
              <a:t>Introducción a la asignatura.</a:t>
            </a:r>
            <a:br>
              <a:rPr lang="es-ES" dirty="0" smtClean="0"/>
            </a:br>
            <a:r>
              <a:rPr lang="es-ES" dirty="0"/>
              <a:t>Concepto de Ingeniería de </a:t>
            </a:r>
            <a:r>
              <a:rPr lang="es-ES" dirty="0" smtClean="0"/>
              <a:t>software, Ciclo </a:t>
            </a:r>
            <a:r>
              <a:rPr lang="es-ES" dirty="0" smtClean="0"/>
              <a:t>de vida, </a:t>
            </a:r>
            <a:r>
              <a:rPr lang="es-ES" dirty="0" smtClean="0"/>
              <a:t>calidad</a:t>
            </a:r>
            <a:r>
              <a:rPr lang="es-ES" dirty="0" smtClean="0"/>
              <a:t/>
            </a:r>
            <a:br>
              <a:rPr lang="es-ES" dirty="0" smtClean="0"/>
            </a:br>
            <a:endParaRPr lang="es-ES_tradnl" sz="4800" dirty="0"/>
          </a:p>
        </p:txBody>
      </p:sp>
      <p:sp>
        <p:nvSpPr>
          <p:cNvPr id="3" name="CuadroTexto 2"/>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a:t>
            </a:r>
            <a:r>
              <a:rPr lang="es-ES" sz="2400" dirty="0" smtClean="0">
                <a:latin typeface="+mj-lt"/>
              </a:rPr>
              <a:t>Software</a:t>
            </a:r>
            <a:endParaRPr lang="es-ES" sz="2400" dirty="0">
              <a:latin typeface="+mj-lt"/>
            </a:endParaRPr>
          </a:p>
        </p:txBody>
      </p:sp>
    </p:spTree>
    <p:extLst>
      <p:ext uri="{BB962C8B-B14F-4D97-AF65-F5344CB8AC3E}">
        <p14:creationId xmlns:p14="http://schemas.microsoft.com/office/powerpoint/2010/main" val="3810362731"/>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1275229" y="1958529"/>
            <a:ext cx="10214406" cy="4421187"/>
          </a:xfrm>
        </p:spPr>
        <p:txBody>
          <a:bodyPr>
            <a:norm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cs typeface="Times New Roman" panose="02020603050405020304" pitchFamily="18" charset="0"/>
              </a:rPr>
              <a:t>Introducción a la asignatura. Evaluación   </a:t>
            </a:r>
            <a:endParaRPr lang="es-ES_tradnl" sz="28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cs typeface="Times New Roman" panose="02020603050405020304" pitchFamily="18" charset="0"/>
              </a:rPr>
              <a:t>Concepto de Ingeniería de software. Surgimiento, evolución y actualidad </a:t>
            </a:r>
            <a:endParaRPr lang="es-ES_tradnl" sz="28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cs typeface="Times New Roman" panose="02020603050405020304" pitchFamily="18" charset="0"/>
              </a:rPr>
              <a:t>Ciclo de Vida del Software</a:t>
            </a:r>
            <a:r>
              <a:rPr lang="es-ES_tradnl" sz="2800" dirty="0" smtClean="0">
                <a:cs typeface="Times New Roman" panose="02020603050405020304" pitchFamily="18" charset="0"/>
              </a:rPr>
              <a:t>.</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smtClean="0">
                <a:cs typeface="Times New Roman" panose="02020603050405020304" pitchFamily="18" charset="0"/>
              </a:rPr>
              <a:t>Administración</a:t>
            </a:r>
            <a:r>
              <a:rPr lang="es-ES" sz="2800" dirty="0">
                <a:cs typeface="Times New Roman" panose="02020603050405020304" pitchFamily="18" charset="0"/>
              </a:rPr>
              <a:t>,  </a:t>
            </a:r>
            <a:r>
              <a:rPr lang="es-ES" sz="2800" dirty="0" smtClean="0">
                <a:cs typeface="Times New Roman" panose="02020603050405020304" pitchFamily="18" charset="0"/>
              </a:rPr>
              <a:t>Economía de </a:t>
            </a:r>
            <a:r>
              <a:rPr lang="es-ES" sz="2800" dirty="0">
                <a:cs typeface="Times New Roman" panose="02020603050405020304" pitchFamily="18" charset="0"/>
              </a:rPr>
              <a:t>Proyectos de </a:t>
            </a:r>
            <a:r>
              <a:rPr lang="es-ES" sz="2800" dirty="0" smtClean="0">
                <a:cs typeface="Times New Roman" panose="02020603050405020304" pitchFamily="18" charset="0"/>
              </a:rPr>
              <a:t>Software</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smtClean="0">
                <a:cs typeface="Times New Roman" panose="02020603050405020304" pitchFamily="18" charset="0"/>
              </a:rPr>
              <a:t>Recomendaciones para enfrentar un proyecto de software</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smtClean="0">
                <a:cs typeface="Times New Roman" panose="02020603050405020304" pitchFamily="18" charset="0"/>
              </a:rPr>
              <a:t>Calidad</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Características medibles de la calidad del software </a:t>
            </a:r>
            <a:r>
              <a:rPr lang="es-ES" sz="2800" dirty="0" smtClean="0">
                <a:cs typeface="Times New Roman" panose="02020603050405020304" pitchFamily="18" charset="0"/>
              </a:rPr>
              <a:t>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a:t>Sumario:</a:t>
            </a:r>
          </a:p>
        </p:txBody>
      </p:sp>
      <p:sp>
        <p:nvSpPr>
          <p:cNvPr id="3" name="Marcador de pie de página 2"/>
          <p:cNvSpPr>
            <a:spLocks noGrp="1"/>
          </p:cNvSpPr>
          <p:nvPr>
            <p:ph type="ftr" sz="quarter" idx="11"/>
          </p:nvPr>
        </p:nvSpPr>
        <p:spPr/>
        <p:txBody>
          <a:bodyPr/>
          <a:lstStyle/>
          <a:p>
            <a:r>
              <a:rPr lang="es-ES_tradnl" dirty="0" smtClean="0"/>
              <a:t>Introducción  a la IS</a:t>
            </a:r>
            <a:endParaRPr lang="es-ES" dirty="0"/>
          </a:p>
        </p:txBody>
      </p:sp>
    </p:spTree>
    <p:extLst>
      <p:ext uri="{BB962C8B-B14F-4D97-AF65-F5344CB8AC3E}">
        <p14:creationId xmlns:p14="http://schemas.microsoft.com/office/powerpoint/2010/main" val="357663210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nodeType="afterEffect">
                                  <p:stCondLst>
                                    <p:cond delay="0"/>
                                  </p:stCondLst>
                                  <p:childTnLst>
                                    <p:set>
                                      <p:cBhvr additive="repl">
                                        <p:cTn id="6" dur="1" fill="hold">
                                          <p:stCondLst>
                                            <p:cond delay="0"/>
                                          </p:stCondLst>
                                        </p:cTn>
                                        <p:tgtEl>
                                          <p:spTgt spid="5122">
                                            <p:txEl>
                                              <p:pRg st="0" end="0"/>
                                            </p:txEl>
                                          </p:spTgt>
                                        </p:tgtEl>
                                        <p:attrNameLst>
                                          <p:attrName>style.visibility</p:attrName>
                                        </p:attrNameLst>
                                      </p:cBhvr>
                                      <p:to>
                                        <p:strVal val="visible"/>
                                      </p:to>
                                    </p:set>
                                    <p:animEffect transition="in" filter="wipe(up)">
                                      <p:cBhvr additive="repl">
                                        <p:cTn id="7" dur="500"/>
                                        <p:tgtEl>
                                          <p:spTgt spid="512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additive="repl">
                                        <p:cTn id="10" dur="1" fill="hold">
                                          <p:stCondLst>
                                            <p:cond delay="0"/>
                                          </p:stCondLst>
                                        </p:cTn>
                                        <p:tgtEl>
                                          <p:spTgt spid="5122">
                                            <p:txEl>
                                              <p:pRg st="1" end="1"/>
                                            </p:txEl>
                                          </p:spTgt>
                                        </p:tgtEl>
                                        <p:attrNameLst>
                                          <p:attrName>style.visibility</p:attrName>
                                        </p:attrNameLst>
                                      </p:cBhvr>
                                      <p:to>
                                        <p:strVal val="visible"/>
                                      </p:to>
                                    </p:set>
                                    <p:animEffect transition="in" filter="wipe(up)">
                                      <p:cBhvr additive="repl">
                                        <p:cTn id="11" dur="500"/>
                                        <p:tgtEl>
                                          <p:spTgt spid="5122">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additive="repl">
                                        <p:cTn id="14" dur="1" fill="hold">
                                          <p:stCondLst>
                                            <p:cond delay="0"/>
                                          </p:stCondLst>
                                        </p:cTn>
                                        <p:tgtEl>
                                          <p:spTgt spid="5122">
                                            <p:txEl>
                                              <p:pRg st="2" end="2"/>
                                            </p:txEl>
                                          </p:spTgt>
                                        </p:tgtEl>
                                        <p:attrNameLst>
                                          <p:attrName>style.visibility</p:attrName>
                                        </p:attrNameLst>
                                      </p:cBhvr>
                                      <p:to>
                                        <p:strVal val="visible"/>
                                      </p:to>
                                    </p:set>
                                    <p:animEffect transition="in" filter="wipe(up)">
                                      <p:cBhvr additive="repl">
                                        <p:cTn id="15" dur="500"/>
                                        <p:tgtEl>
                                          <p:spTgt spid="5122">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additive="repl">
                                        <p:cTn id="18" dur="1" fill="hold">
                                          <p:stCondLst>
                                            <p:cond delay="0"/>
                                          </p:stCondLst>
                                        </p:cTn>
                                        <p:tgtEl>
                                          <p:spTgt spid="5122">
                                            <p:txEl>
                                              <p:pRg st="3" end="3"/>
                                            </p:txEl>
                                          </p:spTgt>
                                        </p:tgtEl>
                                        <p:attrNameLst>
                                          <p:attrName>style.visibility</p:attrName>
                                        </p:attrNameLst>
                                      </p:cBhvr>
                                      <p:to>
                                        <p:strVal val="visible"/>
                                      </p:to>
                                    </p:set>
                                    <p:animEffect transition="in" filter="wipe(up)">
                                      <p:cBhvr additive="repl">
                                        <p:cTn id="19" dur="500"/>
                                        <p:tgtEl>
                                          <p:spTgt spid="5122">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additive="repl">
                                        <p:cTn id="22" dur="1" fill="hold">
                                          <p:stCondLst>
                                            <p:cond delay="0"/>
                                          </p:stCondLst>
                                        </p:cTn>
                                        <p:tgtEl>
                                          <p:spTgt spid="5122">
                                            <p:txEl>
                                              <p:pRg st="4" end="4"/>
                                            </p:txEl>
                                          </p:spTgt>
                                        </p:tgtEl>
                                        <p:attrNameLst>
                                          <p:attrName>style.visibility</p:attrName>
                                        </p:attrNameLst>
                                      </p:cBhvr>
                                      <p:to>
                                        <p:strVal val="visible"/>
                                      </p:to>
                                    </p:set>
                                    <p:animEffect transition="in" filter="wipe(up)">
                                      <p:cBhvr additive="repl">
                                        <p:cTn id="23" dur="500"/>
                                        <p:tgtEl>
                                          <p:spTgt spid="5122">
                                            <p:txEl>
                                              <p:pRg st="4" end="4"/>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additive="repl">
                                        <p:cTn id="26" dur="1" fill="hold">
                                          <p:stCondLst>
                                            <p:cond delay="0"/>
                                          </p:stCondLst>
                                        </p:cTn>
                                        <p:tgtEl>
                                          <p:spTgt spid="5122">
                                            <p:txEl>
                                              <p:pRg st="5" end="5"/>
                                            </p:txEl>
                                          </p:spTgt>
                                        </p:tgtEl>
                                        <p:attrNameLst>
                                          <p:attrName>style.visibility</p:attrName>
                                        </p:attrNameLst>
                                      </p:cBhvr>
                                      <p:to>
                                        <p:strVal val="visible"/>
                                      </p:to>
                                    </p:set>
                                    <p:animEffect transition="in" filter="wipe(up)">
                                      <p:cBhvr additive="repl">
                                        <p:cTn id="27" dur="500"/>
                                        <p:tgtEl>
                                          <p:spTgt spid="5122">
                                            <p:txEl>
                                              <p:pRg st="5" end="5"/>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additive="repl">
                                        <p:cTn id="30" dur="1" fill="hold">
                                          <p:stCondLst>
                                            <p:cond delay="0"/>
                                          </p:stCondLst>
                                        </p:cTn>
                                        <p:tgtEl>
                                          <p:spTgt spid="5122">
                                            <p:txEl>
                                              <p:pRg st="6" end="6"/>
                                            </p:txEl>
                                          </p:spTgt>
                                        </p:tgtEl>
                                        <p:attrNameLst>
                                          <p:attrName>style.visibility</p:attrName>
                                        </p:attrNameLst>
                                      </p:cBhvr>
                                      <p:to>
                                        <p:strVal val="visible"/>
                                      </p:to>
                                    </p:set>
                                    <p:animEffect transition="in" filter="wipe(up)">
                                      <p:cBhvr additive="repl">
                                        <p:cTn id="31" dur="500"/>
                                        <p:tgtEl>
                                          <p:spTgt spid="512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¿Cómo se evalúa la asignatura ?</a:t>
            </a:r>
            <a:endParaRPr lang="es-ES" dirty="0"/>
          </a:p>
        </p:txBody>
      </p:sp>
      <p:sp>
        <p:nvSpPr>
          <p:cNvPr id="3" name="Marcador de contenido 2"/>
          <p:cNvSpPr>
            <a:spLocks noGrp="1"/>
          </p:cNvSpPr>
          <p:nvPr>
            <p:ph idx="1"/>
          </p:nvPr>
        </p:nvSpPr>
        <p:spPr>
          <a:xfrm>
            <a:off x="1097280" y="1897249"/>
            <a:ext cx="10058400" cy="4336125"/>
          </a:xfrm>
        </p:spPr>
        <p:txBody>
          <a:bodyPr>
            <a:noAutofit/>
          </a:bodyPr>
          <a:lstStyle/>
          <a:p>
            <a:pPr marL="565200" indent="-457200" algn="just">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i="1" dirty="0" smtClean="0">
                <a:solidFill>
                  <a:srgbClr val="000000"/>
                </a:solidFill>
              </a:rPr>
              <a:t>Evaluaciones sistemáticas </a:t>
            </a:r>
          </a:p>
          <a:p>
            <a:pPr marL="857808" lvl="1" indent="-457200" algn="just">
              <a:buSzPct val="7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i="1" dirty="0" smtClean="0">
                <a:solidFill>
                  <a:srgbClr val="000000"/>
                </a:solidFill>
              </a:rPr>
              <a:t>Seminarios (4)</a:t>
            </a:r>
          </a:p>
          <a:p>
            <a:pPr marL="1223568" lvl="3" indent="-457200" algn="just">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000" i="1" dirty="0" smtClean="0">
                <a:solidFill>
                  <a:srgbClr val="000000"/>
                </a:solidFill>
              </a:rPr>
              <a:t>Informe escrito</a:t>
            </a:r>
          </a:p>
          <a:p>
            <a:pPr marL="1223568" lvl="3" indent="-457200" algn="just">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000" i="1" dirty="0" smtClean="0">
                <a:solidFill>
                  <a:srgbClr val="000000"/>
                </a:solidFill>
              </a:rPr>
              <a:t>Exposición</a:t>
            </a:r>
          </a:p>
          <a:p>
            <a:pPr marL="1223568" lvl="3" indent="-457200" algn="just">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000" i="1" dirty="0" smtClean="0">
                <a:solidFill>
                  <a:srgbClr val="000000"/>
                </a:solidFill>
              </a:rPr>
              <a:t>Pregunta escrita</a:t>
            </a:r>
          </a:p>
          <a:p>
            <a:pPr marL="857808" lvl="1" indent="-457200" algn="just">
              <a:buSzPct val="7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i="1" dirty="0" smtClean="0">
                <a:solidFill>
                  <a:srgbClr val="000000"/>
                </a:solidFill>
              </a:rPr>
              <a:t>Proyecto </a:t>
            </a:r>
          </a:p>
          <a:p>
            <a:pPr marL="1223568" lvl="3" indent="-457200" algn="just">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000" i="1" dirty="0" smtClean="0">
                <a:solidFill>
                  <a:srgbClr val="000000"/>
                </a:solidFill>
              </a:rPr>
              <a:t>Planificación</a:t>
            </a:r>
          </a:p>
          <a:p>
            <a:pPr marL="1223568" lvl="3" indent="-457200" algn="just">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000" i="1" dirty="0" smtClean="0">
                <a:solidFill>
                  <a:srgbClr val="000000"/>
                </a:solidFill>
              </a:rPr>
              <a:t>Entregas frecuentes ajustadas a la planificación </a:t>
            </a:r>
          </a:p>
          <a:p>
            <a:pPr marL="565200" indent="-457200" algn="just">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i="1" dirty="0" smtClean="0">
                <a:solidFill>
                  <a:srgbClr val="000000"/>
                </a:solidFill>
              </a:rPr>
              <a:t> Trabajo en equipos </a:t>
            </a:r>
          </a:p>
          <a:p>
            <a:pPr marL="565200" indent="-457200" algn="just">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i="1" dirty="0" smtClean="0">
                <a:solidFill>
                  <a:srgbClr val="FF0000"/>
                </a:solidFill>
              </a:rPr>
              <a:t>Aprobado en IS= Aprobado en seminarios + aprobado en proyecto</a:t>
            </a:r>
          </a:p>
          <a:p>
            <a:pPr marL="565200" indent="-457200" algn="just">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i="1" dirty="0">
              <a:solidFill>
                <a:srgbClr val="FF0000"/>
              </a:solidFill>
            </a:endParaRPr>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b="1" i="1"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Tree>
    <p:extLst>
      <p:ext uri="{BB962C8B-B14F-4D97-AF65-F5344CB8AC3E}">
        <p14:creationId xmlns:p14="http://schemas.microsoft.com/office/powerpoint/2010/main" val="5433046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_tradnl" dirty="0" smtClean="0"/>
              <a:t>¿Es útil saber de Ingeniería de </a:t>
            </a:r>
            <a:r>
              <a:rPr lang="es-ES_tradnl" dirty="0"/>
              <a:t>Software(IS)?</a:t>
            </a:r>
            <a:br>
              <a:rPr lang="es-ES_tradnl" dirty="0"/>
            </a:br>
            <a:r>
              <a:rPr lang="es-ES_tradnl" sz="2000" b="1" i="1" dirty="0" smtClean="0"/>
              <a:t>Sacado del grupo de </a:t>
            </a:r>
            <a:r>
              <a:rPr lang="es-ES_tradnl" sz="2000" b="1" i="1" dirty="0" err="1" smtClean="0"/>
              <a:t>telegram</a:t>
            </a:r>
            <a:r>
              <a:rPr lang="es-ES_tradnl" sz="2000" b="1" i="1" dirty="0" smtClean="0"/>
              <a:t> </a:t>
            </a:r>
            <a:r>
              <a:rPr lang="es-ES_tradnl" sz="2200" b="1" i="1" dirty="0" err="1" smtClean="0"/>
              <a:t>CubanTech</a:t>
            </a:r>
            <a:r>
              <a:rPr lang="es-ES_tradnl" sz="2200" b="1" i="1" dirty="0" smtClean="0"/>
              <a:t> </a:t>
            </a:r>
            <a:r>
              <a:rPr lang="es-ES_tradnl" sz="2200" b="1" i="1" dirty="0"/>
              <a:t>Jobs</a:t>
            </a:r>
            <a:endParaRPr lang="es-ES" sz="2200" b="1" i="1"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pic>
        <p:nvPicPr>
          <p:cNvPr id="12" name="11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346" y="1803401"/>
            <a:ext cx="3279308" cy="4470400"/>
          </a:xfrm>
        </p:spPr>
      </p:pic>
      <p:pic>
        <p:nvPicPr>
          <p:cNvPr id="13" name="1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2357" y="1847850"/>
            <a:ext cx="4146988" cy="4457700"/>
          </a:xfrm>
          <a:prstGeom prst="rect">
            <a:avLst/>
          </a:prstGeom>
        </p:spPr>
      </p:pic>
      <p:pic>
        <p:nvPicPr>
          <p:cNvPr id="14" name="13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9345" y="1803400"/>
            <a:ext cx="4288355" cy="4546600"/>
          </a:xfrm>
          <a:prstGeom prst="rect">
            <a:avLst/>
          </a:prstGeom>
        </p:spPr>
      </p:pic>
      <p:pic>
        <p:nvPicPr>
          <p:cNvPr id="15" name="14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2700" y="1847851"/>
            <a:ext cx="4241801" cy="4502150"/>
          </a:xfrm>
          <a:prstGeom prst="rect">
            <a:avLst/>
          </a:prstGeom>
        </p:spPr>
      </p:pic>
      <p:pic>
        <p:nvPicPr>
          <p:cNvPr id="16" name="15 Imagen"/>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7793" y="1847850"/>
            <a:ext cx="3594907" cy="4457700"/>
          </a:xfrm>
          <a:prstGeom prst="rect">
            <a:avLst/>
          </a:prstGeom>
        </p:spPr>
      </p:pic>
      <p:pic>
        <p:nvPicPr>
          <p:cNvPr id="10" name="9 Imagen"/>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58849" y="1847851"/>
            <a:ext cx="4118851" cy="4311649"/>
          </a:xfrm>
          <a:prstGeom prst="rect">
            <a:avLst/>
          </a:prstGeom>
        </p:spPr>
      </p:pic>
    </p:spTree>
    <p:extLst>
      <p:ext uri="{BB962C8B-B14F-4D97-AF65-F5344CB8AC3E}">
        <p14:creationId xmlns:p14="http://schemas.microsoft.com/office/powerpoint/2010/main" val="307000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smtClean="0"/>
              <a:t>Qué  </a:t>
            </a:r>
            <a:r>
              <a:rPr lang="es-ES" dirty="0"/>
              <a:t>es Ingeniería de Software</a:t>
            </a:r>
            <a:r>
              <a:rPr lang="es-ES_tradnl" dirty="0" smtClean="0"/>
              <a:t>?</a:t>
            </a:r>
            <a:endParaRPr lang="es-ES" dirty="0"/>
          </a:p>
        </p:txBody>
      </p:sp>
      <p:sp>
        <p:nvSpPr>
          <p:cNvPr id="3" name="Marcador de contenido 2"/>
          <p:cNvSpPr>
            <a:spLocks noGrp="1"/>
          </p:cNvSpPr>
          <p:nvPr>
            <p:ph idx="1"/>
          </p:nvPr>
        </p:nvSpPr>
        <p:spPr>
          <a:xfrm>
            <a:off x="1097280" y="1897249"/>
            <a:ext cx="10058400" cy="2077851"/>
          </a:xfrm>
        </p:spPr>
        <p:txBody>
          <a:bodyPr>
            <a:noAutofit/>
          </a:bodyPr>
          <a:lstStyle/>
          <a:p>
            <a:pPr marL="108000" indent="0" algn="just">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dirty="0">
                <a:solidFill>
                  <a:schemeClr val="tx1"/>
                </a:solidFill>
              </a:rPr>
              <a:t>Para contestar esta pregunta, primero respondamos otra</a:t>
            </a:r>
            <a:r>
              <a:rPr lang="es-ES" sz="2600" dirty="0" smtClean="0">
                <a:solidFill>
                  <a:schemeClr val="tx1"/>
                </a:solidFill>
              </a:rPr>
              <a:t>:</a:t>
            </a:r>
          </a:p>
          <a:p>
            <a:pPr marL="108000" indent="0" algn="just">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2600" dirty="0">
              <a:solidFill>
                <a:schemeClr val="tx1"/>
              </a:solidFill>
            </a:endParaRPr>
          </a:p>
          <a:p>
            <a:pPr marL="108000" indent="0" algn="ctr">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4800" dirty="0">
                <a:solidFill>
                  <a:schemeClr val="tx1"/>
                </a:solidFill>
              </a:rPr>
              <a:t>¿Que NO es Ingeniería de Software</a:t>
            </a:r>
            <a:r>
              <a:rPr lang="es-ES" sz="4800" dirty="0" smtClean="0">
                <a:solidFill>
                  <a:schemeClr val="tx1"/>
                </a:solidFill>
              </a:rPr>
              <a:t>?</a:t>
            </a:r>
          </a:p>
          <a:p>
            <a:pPr marL="565200" indent="-457200" algn="ctr">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i="1" dirty="0" smtClean="0">
              <a:solidFill>
                <a:srgbClr val="FF0000"/>
              </a:solidFill>
            </a:endParaRPr>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b="1" i="1"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5" name="Marcador de contenido 2"/>
          <p:cNvSpPr txBox="1">
            <a:spLocks/>
          </p:cNvSpPr>
          <p:nvPr/>
        </p:nvSpPr>
        <p:spPr>
          <a:xfrm>
            <a:off x="970280" y="3848100"/>
            <a:ext cx="10058400" cy="199157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65200" indent="-457200" algn="just">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dirty="0" smtClean="0">
                <a:solidFill>
                  <a:schemeClr val="tx1"/>
                </a:solidFill>
              </a:rPr>
              <a:t>NO ES la continuación del desarrollo de capacidades y habilidades de programación, como las obtenidas en cursos de Programación y Algoritmos o Estructuras de Datos durante sus estudios previos!</a:t>
            </a:r>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b="1" i="1" dirty="0">
              <a:solidFill>
                <a:srgbClr val="000000"/>
              </a:solidFill>
              <a:latin typeface="Verdana" pitchFamily="34" charset="0"/>
            </a:endParaRPr>
          </a:p>
        </p:txBody>
      </p:sp>
    </p:spTree>
    <p:extLst>
      <p:ext uri="{BB962C8B-B14F-4D97-AF65-F5344CB8AC3E}">
        <p14:creationId xmlns:p14="http://schemas.microsoft.com/office/powerpoint/2010/main" val="224629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a:t>Qué es software para un estudiante</a:t>
            </a:r>
            <a:r>
              <a:rPr lang="es-ES_tradnl" dirty="0" smtClean="0"/>
              <a:t>?</a:t>
            </a:r>
            <a:endParaRPr lang="es-ES" dirty="0"/>
          </a:p>
        </p:txBody>
      </p:sp>
      <p:sp>
        <p:nvSpPr>
          <p:cNvPr id="3" name="Marcador de contenido 2"/>
          <p:cNvSpPr>
            <a:spLocks noGrp="1"/>
          </p:cNvSpPr>
          <p:nvPr>
            <p:ph idx="1"/>
          </p:nvPr>
        </p:nvSpPr>
        <p:spPr>
          <a:xfrm>
            <a:off x="1097280" y="1897249"/>
            <a:ext cx="10058400" cy="1036451"/>
          </a:xfrm>
        </p:spPr>
        <p:txBody>
          <a:bodyPr>
            <a:noAutofit/>
          </a:bodyPr>
          <a:lstStyle/>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dirty="0" smtClean="0">
                <a:solidFill>
                  <a:srgbClr val="000000"/>
                </a:solidFill>
                <a:latin typeface="+mj-lt"/>
              </a:rPr>
              <a:t>Para un estudiante las precondiciones que se asumen para plantearle un problema de software son:</a:t>
            </a:r>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dirty="0">
              <a:solidFill>
                <a:srgbClr val="000000"/>
              </a:solidFill>
              <a:latin typeface="Verdana" pitchFamily="34"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3124173"/>
            <a:ext cx="10184802" cy="2603527"/>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r>
              <a:rPr lang="es-ES" sz="2600" dirty="0">
                <a:cs typeface="Arial" panose="020B0604020202020204" pitchFamily="34" charset="0"/>
              </a:rPr>
              <a:t>Todos los ejercicios y proyectos están relativamente bien definidos y para casi todas las preguntas hay respuestas</a:t>
            </a:r>
          </a:p>
          <a:p>
            <a:pPr algn="just">
              <a:buFont typeface="Wingdings" panose="05000000000000000000" pitchFamily="2" charset="2"/>
              <a:buChar char="Ø"/>
            </a:pPr>
            <a:r>
              <a:rPr lang="es-ES" sz="2600" dirty="0">
                <a:cs typeface="Arial" panose="020B0604020202020204" pitchFamily="34" charset="0"/>
              </a:rPr>
              <a:t>No es necesario el trabajo en equipos multidisciplinarios por largos períodos de tiempo para su realización</a:t>
            </a:r>
          </a:p>
          <a:p>
            <a:pPr algn="just">
              <a:buFont typeface="Wingdings" panose="05000000000000000000" pitchFamily="2" charset="2"/>
              <a:buChar char="Ø"/>
            </a:pPr>
            <a:r>
              <a:rPr lang="es-ES" sz="2600" dirty="0">
                <a:cs typeface="Arial" panose="020B0604020202020204" pitchFamily="34" charset="0"/>
              </a:rPr>
              <a:t>No es necesario modificar o darle mantenimiento a los programas semanas o meses después de haberlos entregado</a:t>
            </a:r>
          </a:p>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Tree>
    <p:extLst>
      <p:ext uri="{BB962C8B-B14F-4D97-AF65-F5344CB8AC3E}">
        <p14:creationId xmlns:p14="http://schemas.microsoft.com/office/powerpoint/2010/main" val="103045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smtClean="0"/>
              <a:t>¿</a:t>
            </a:r>
            <a:r>
              <a:rPr lang="es-ES" dirty="0"/>
              <a:t>Qué es software para un profesional</a:t>
            </a:r>
            <a:r>
              <a:rPr lang="es-ES_tradnl" dirty="0" smtClean="0"/>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altLang="en-US" sz="2800" noProof="1">
                <a:latin typeface="Arial" panose="020B0604020202020204" pitchFamily="34" charset="0"/>
              </a:rPr>
              <a:t>La complejidad de los problemas es mucho mayor, porque :</a:t>
            </a:r>
          </a:p>
          <a:p>
            <a:endParaRPr lang="en-US" altLang="en-US" sz="2800" noProof="1">
              <a:latin typeface="Arial" panose="020B0604020202020204" pitchFamily="34" charset="0"/>
            </a:endParaRPr>
          </a:p>
          <a:p>
            <a:pPr>
              <a:buFont typeface="Wingdings" pitchFamily="2" charset="2"/>
              <a:buChar char="Ø"/>
            </a:pPr>
            <a:r>
              <a:rPr lang="en-US" altLang="en-US" sz="2800" noProof="1">
                <a:latin typeface="Arial" panose="020B0604020202020204" pitchFamily="34" charset="0"/>
              </a:rPr>
              <a:t> Se requiere de mayor interacción con usuarios y desarrolladores</a:t>
            </a:r>
          </a:p>
          <a:p>
            <a:pPr>
              <a:buFont typeface="Wingdings" pitchFamily="2" charset="2"/>
              <a:buChar char="Ø"/>
            </a:pPr>
            <a:r>
              <a:rPr lang="en-US" altLang="en-US" sz="2800" noProof="1">
                <a:latin typeface="Arial" panose="020B0604020202020204" pitchFamily="34" charset="0"/>
              </a:rPr>
              <a:t> Implica un mayor volúmen de trabajo en un solo proyecto</a:t>
            </a:r>
          </a:p>
          <a:p>
            <a:pPr>
              <a:buFont typeface="Wingdings" pitchFamily="2" charset="2"/>
              <a:buChar char="Ø"/>
            </a:pPr>
            <a:r>
              <a:rPr lang="en-US" altLang="en-US" sz="2800" noProof="1">
                <a:latin typeface="Arial" panose="020B0604020202020204" pitchFamily="34" charset="0"/>
              </a:rPr>
              <a:t>Muchas veces requiere de esfuerzo multidisciplinario </a:t>
            </a:r>
          </a:p>
          <a:p>
            <a:pPr>
              <a:buFont typeface="Wingdings" pitchFamily="2" charset="2"/>
              <a:buChar char="Ø"/>
            </a:pPr>
            <a:r>
              <a:rPr lang="en-US" altLang="en-US" sz="2800" noProof="1">
                <a:solidFill>
                  <a:srgbClr val="FF0000"/>
                </a:solidFill>
                <a:latin typeface="Arial" panose="020B0604020202020204" pitchFamily="34" charset="0"/>
              </a:rPr>
              <a:t>Se busca obtener un programa  diseñado con capacidad de generalización y/o extensibilidad, buena documentación y ampliamente </a:t>
            </a:r>
            <a:r>
              <a:rPr lang="en-US" altLang="en-US" sz="2800" noProof="1" smtClean="0">
                <a:solidFill>
                  <a:srgbClr val="FF0000"/>
                </a:solidFill>
                <a:latin typeface="Arial" panose="020B0604020202020204" pitchFamily="34" charset="0"/>
              </a:rPr>
              <a:t>probado. </a:t>
            </a:r>
            <a:endParaRPr lang="en-US" altLang="en-US" sz="2800" noProof="1">
              <a:solidFill>
                <a:srgbClr val="FF0000"/>
              </a:solidFill>
              <a:latin typeface="Arial" panose="020B0604020202020204" pitchFamily="34" charset="0"/>
            </a:endParaRPr>
          </a:p>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Tree>
    <p:extLst>
      <p:ext uri="{BB962C8B-B14F-4D97-AF65-F5344CB8AC3E}">
        <p14:creationId xmlns:p14="http://schemas.microsoft.com/office/powerpoint/2010/main" val="29457619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dirty="0"/>
              <a:t>Entonces ... </a:t>
            </a:r>
            <a:br>
              <a:rPr lang="es-ES" dirty="0"/>
            </a:br>
            <a:r>
              <a:rPr lang="es-ES" dirty="0"/>
              <a:t>¿Que es Ingeniería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97280" y="1897249"/>
            <a:ext cx="10058400" cy="4084451"/>
          </a:xfrm>
        </p:spPr>
        <p:txBody>
          <a:bodyPr>
            <a:noAutofit/>
          </a:bodyPr>
          <a:lstStyle/>
          <a:p>
            <a:pPr marL="0" indent="7938" algn="just">
              <a:lnSpc>
                <a:spcPct val="150000"/>
              </a:lnSpc>
              <a:buNone/>
            </a:pPr>
            <a:r>
              <a:rPr lang="en-US" altLang="en-US" sz="2600" noProof="1">
                <a:latin typeface="+mj-lt"/>
              </a:rPr>
              <a:t>La Ingeniería de Software es una disciplina que se construye sobre los fundamentos de la Ciencia de la Computación, incluyendo Programación, Estructuras de Datos, Teoría de Algoritmos, etc., ocupándose de aprovechar sus técnicas y métodos para el desarrollo de programas y aplicándolos en la creación de </a:t>
            </a:r>
            <a:r>
              <a:rPr lang="en-US" altLang="en-US" sz="2600" b="1" noProof="1">
                <a:latin typeface="+mj-lt"/>
              </a:rPr>
              <a:t>sistemas de programas </a:t>
            </a:r>
            <a:r>
              <a:rPr lang="en-US" altLang="en-US" sz="2600" noProof="1">
                <a:latin typeface="+mj-lt"/>
              </a:rPr>
              <a:t>con requerimientos de </a:t>
            </a:r>
            <a:r>
              <a:rPr lang="en-US" altLang="en-US" sz="2600" b="1" noProof="1">
                <a:latin typeface="+mj-lt"/>
              </a:rPr>
              <a:t>tiempo</a:t>
            </a:r>
            <a:r>
              <a:rPr lang="en-US" altLang="en-US" sz="2600" noProof="1">
                <a:latin typeface="+mj-lt"/>
              </a:rPr>
              <a:t>, </a:t>
            </a:r>
            <a:r>
              <a:rPr lang="en-US" altLang="en-US" sz="2600" b="1" noProof="1">
                <a:latin typeface="+mj-lt"/>
              </a:rPr>
              <a:t>presupuesto</a:t>
            </a:r>
            <a:r>
              <a:rPr lang="en-US" altLang="en-US" sz="2600" noProof="1">
                <a:latin typeface="+mj-lt"/>
              </a:rPr>
              <a:t>, </a:t>
            </a:r>
            <a:r>
              <a:rPr lang="en-US" altLang="en-US" sz="2600" b="1" noProof="1">
                <a:latin typeface="+mj-lt"/>
              </a:rPr>
              <a:t>performance</a:t>
            </a:r>
            <a:r>
              <a:rPr lang="en-US" altLang="en-US" sz="2600" noProof="1">
                <a:latin typeface="+mj-lt"/>
              </a:rPr>
              <a:t>, </a:t>
            </a:r>
            <a:r>
              <a:rPr lang="en-US" altLang="en-US" sz="2600" b="1" noProof="1">
                <a:latin typeface="+mj-lt"/>
              </a:rPr>
              <a:t>funcionalidad</a:t>
            </a:r>
            <a:r>
              <a:rPr lang="en-US" altLang="en-US" sz="2600" noProof="1">
                <a:latin typeface="+mj-lt"/>
              </a:rPr>
              <a:t> </a:t>
            </a:r>
            <a:r>
              <a:rPr lang="en-US" altLang="en-US" sz="2600" noProof="1" smtClean="0">
                <a:latin typeface="+mj-lt"/>
              </a:rPr>
              <a:t>,</a:t>
            </a:r>
            <a:r>
              <a:rPr lang="en-US" altLang="en-US" sz="2600" b="1" noProof="1" smtClean="0">
                <a:latin typeface="+mj-lt"/>
              </a:rPr>
              <a:t>variable</a:t>
            </a:r>
            <a:r>
              <a:rPr lang="en-US" altLang="en-US" sz="2600" noProof="1">
                <a:latin typeface="+mj-lt"/>
              </a:rPr>
              <a:t>, etc..</a:t>
            </a:r>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dirty="0">
              <a:solidFill>
                <a:srgbClr val="000000"/>
              </a:solidFill>
              <a:latin typeface="+mj-lt"/>
            </a:endParaRPr>
          </a:p>
        </p:txBody>
      </p:sp>
    </p:spTree>
    <p:extLst>
      <p:ext uri="{BB962C8B-B14F-4D97-AF65-F5344CB8AC3E}">
        <p14:creationId xmlns:p14="http://schemas.microsoft.com/office/powerpoint/2010/main" val="289018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a:t>
            </a:r>
            <a:r>
              <a:rPr lang="es-ES" dirty="0"/>
              <a:t>Como surgió y se desarrolló?</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97280" y="1897249"/>
            <a:ext cx="10058400" cy="4377427"/>
          </a:xfrm>
        </p:spPr>
        <p:txBody>
          <a:bodyPr>
            <a:noAutofit/>
          </a:bodyPr>
          <a:lstStyle/>
          <a:p>
            <a:pPr marL="0" indent="7938" algn="just">
              <a:lnSpc>
                <a:spcPct val="150000"/>
              </a:lnSpc>
              <a:buNone/>
            </a:pPr>
            <a:r>
              <a:rPr lang="es-ES" sz="2600" dirty="0">
                <a:solidFill>
                  <a:srgbClr val="000000"/>
                </a:solidFill>
                <a:latin typeface="+mj-lt"/>
              </a:rPr>
              <a:t>En los 60’s comenzó a ser evidente que:</a:t>
            </a:r>
          </a:p>
          <a:p>
            <a:pPr marL="0" indent="7938" algn="ctr">
              <a:lnSpc>
                <a:spcPct val="150000"/>
              </a:lnSpc>
              <a:buNone/>
            </a:pPr>
            <a:r>
              <a:rPr lang="es-ES" sz="2600" b="1" dirty="0">
                <a:solidFill>
                  <a:srgbClr val="000000"/>
                </a:solidFill>
                <a:latin typeface="+mj-lt"/>
              </a:rPr>
              <a:t>Resolver un sistema de ecuaciones </a:t>
            </a:r>
          </a:p>
          <a:p>
            <a:pPr marL="0" indent="7938" algn="ctr">
              <a:lnSpc>
                <a:spcPct val="150000"/>
              </a:lnSpc>
              <a:buNone/>
            </a:pPr>
            <a:r>
              <a:rPr lang="es-ES" sz="2600" b="1" dirty="0">
                <a:solidFill>
                  <a:srgbClr val="000000"/>
                </a:solidFill>
                <a:latin typeface="+mj-lt"/>
              </a:rPr>
              <a:t>NO ES LO MISMO que  </a:t>
            </a:r>
          </a:p>
          <a:p>
            <a:pPr marL="0" indent="7938" algn="ctr">
              <a:lnSpc>
                <a:spcPct val="150000"/>
              </a:lnSpc>
              <a:buNone/>
            </a:pPr>
            <a:r>
              <a:rPr lang="es-ES" sz="2600" b="1" dirty="0">
                <a:solidFill>
                  <a:srgbClr val="000000"/>
                </a:solidFill>
                <a:latin typeface="+mj-lt"/>
              </a:rPr>
              <a:t>Construir un sistema operativo</a:t>
            </a:r>
          </a:p>
          <a:p>
            <a:pPr marL="0" indent="7938" algn="just">
              <a:lnSpc>
                <a:spcPct val="100000"/>
              </a:lnSpc>
              <a:buNone/>
            </a:pPr>
            <a:r>
              <a:rPr lang="es-ES_tradnl" altLang="en-US" sz="2600" dirty="0">
                <a:latin typeface="+mj-lt"/>
              </a:rPr>
              <a:t>Una complejidad mucho mayor implica generalmente </a:t>
            </a:r>
            <a:r>
              <a:rPr lang="es-ES_tradnl" altLang="en-US" sz="2600" dirty="0" smtClean="0">
                <a:latin typeface="+mj-lt"/>
              </a:rPr>
              <a:t>más </a:t>
            </a:r>
            <a:r>
              <a:rPr lang="es-ES_tradnl" altLang="en-US" sz="2600" dirty="0">
                <a:latin typeface="+mj-lt"/>
              </a:rPr>
              <a:t>personas, </a:t>
            </a:r>
            <a:r>
              <a:rPr lang="es-ES_tradnl" altLang="en-US" sz="2600" dirty="0" smtClean="0">
                <a:latin typeface="+mj-lt"/>
              </a:rPr>
              <a:t>más </a:t>
            </a:r>
            <a:r>
              <a:rPr lang="es-ES_tradnl" altLang="en-US" sz="2600" dirty="0">
                <a:latin typeface="+mj-lt"/>
              </a:rPr>
              <a:t>tiempo, </a:t>
            </a:r>
            <a:r>
              <a:rPr lang="es-ES_tradnl" altLang="en-US" sz="2600" dirty="0" smtClean="0">
                <a:latin typeface="+mj-lt"/>
              </a:rPr>
              <a:t>más </a:t>
            </a:r>
            <a:r>
              <a:rPr lang="es-ES_tradnl" altLang="en-US" sz="2600" dirty="0">
                <a:latin typeface="+mj-lt"/>
              </a:rPr>
              <a:t>esfuerzo de coordinación y organización, lo cual se parece a la problemática de muchos </a:t>
            </a:r>
            <a:r>
              <a:rPr lang="es-ES_tradnl" altLang="en-US" sz="2600" b="1" dirty="0">
                <a:latin typeface="+mj-lt"/>
              </a:rPr>
              <a:t>procesos productivos</a:t>
            </a:r>
          </a:p>
          <a:p>
            <a:pPr marL="0" indent="7938" algn="just">
              <a:lnSpc>
                <a:spcPct val="15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171269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a:t>
            </a:r>
            <a:r>
              <a:rPr lang="es-ES" dirty="0"/>
              <a:t>Como surgió y se desarrolló?</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4" name="3 Marcador de contenido"/>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33062" y="1846263"/>
            <a:ext cx="10376452" cy="4022725"/>
          </a:xfrm>
        </p:spPr>
      </p:pic>
    </p:spTree>
    <p:extLst>
      <p:ext uri="{BB962C8B-B14F-4D97-AF65-F5344CB8AC3E}">
        <p14:creationId xmlns:p14="http://schemas.microsoft.com/office/powerpoint/2010/main" val="38361500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a:t>
            </a:r>
            <a:r>
              <a:rPr lang="es-ES" dirty="0"/>
              <a:t>Como surgió y se desarrolló?</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97280" y="1897249"/>
            <a:ext cx="10058400" cy="4377427"/>
          </a:xfrm>
        </p:spPr>
        <p:txBody>
          <a:bodyPr>
            <a:noAutofit/>
          </a:bodyPr>
          <a:lstStyle/>
          <a:p>
            <a:pPr marL="0" indent="7938" algn="just">
              <a:lnSpc>
                <a:spcPct val="150000"/>
              </a:lnSpc>
              <a:buNone/>
            </a:pPr>
            <a:r>
              <a:rPr lang="es-ES" sz="2600" dirty="0">
                <a:solidFill>
                  <a:srgbClr val="000000"/>
                </a:solidFill>
                <a:latin typeface="+mj-lt"/>
              </a:rPr>
              <a:t>Entonces se llegó a un consenso: </a:t>
            </a:r>
          </a:p>
          <a:p>
            <a:pPr marL="0" indent="7938" algn="ctr">
              <a:lnSpc>
                <a:spcPct val="150000"/>
              </a:lnSpc>
              <a:buNone/>
            </a:pPr>
            <a:r>
              <a:rPr lang="es-ES" sz="2600" b="1" dirty="0" smtClean="0">
                <a:solidFill>
                  <a:srgbClr val="000000"/>
                </a:solidFill>
                <a:latin typeface="+mj-lt"/>
              </a:rPr>
              <a:t>Un </a:t>
            </a:r>
            <a:r>
              <a:rPr lang="es-ES" sz="2600" b="1" dirty="0">
                <a:solidFill>
                  <a:srgbClr val="000000"/>
                </a:solidFill>
                <a:latin typeface="+mj-lt"/>
              </a:rPr>
              <a:t>sistema de software es un producto complejo,  y su elaboración es un trabajo de ingeniería</a:t>
            </a:r>
          </a:p>
          <a:p>
            <a:pPr marL="0" indent="7938" algn="just">
              <a:lnSpc>
                <a:spcPct val="100000"/>
              </a:lnSpc>
              <a:buNone/>
            </a:pPr>
            <a:r>
              <a:rPr lang="es-ES" sz="2600" i="1" dirty="0" smtClean="0">
                <a:solidFill>
                  <a:srgbClr val="000000"/>
                </a:solidFill>
                <a:latin typeface="+mj-lt"/>
              </a:rPr>
              <a:t>Nota </a:t>
            </a:r>
            <a:r>
              <a:rPr lang="es-ES" sz="2600" i="1" dirty="0">
                <a:solidFill>
                  <a:srgbClr val="000000"/>
                </a:solidFill>
                <a:latin typeface="+mj-lt"/>
              </a:rPr>
              <a:t>importante: La IS evoluciona a partir de la programación, cambiando la importancia y el peso de la codificación dentro del proceso en su conjunto</a:t>
            </a:r>
          </a:p>
          <a:p>
            <a:pPr marL="0" indent="7938" algn="just">
              <a:lnSpc>
                <a:spcPct val="15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2275224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¿Cómo </a:t>
            </a:r>
            <a:r>
              <a:rPr lang="es-ES" dirty="0"/>
              <a:t>debe ser un ingeniero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97280" y="1897249"/>
            <a:ext cx="10058400" cy="4377427"/>
          </a:xfrm>
        </p:spPr>
        <p:txBody>
          <a:bodyPr>
            <a:noAutofit/>
          </a:bodyPr>
          <a:lstStyle/>
          <a:p>
            <a:pPr marL="0" indent="7938" algn="just">
              <a:lnSpc>
                <a:spcPct val="150000"/>
              </a:lnSpc>
              <a:buNone/>
            </a:pPr>
            <a:r>
              <a:rPr lang="es-ES" sz="2600" dirty="0" err="1">
                <a:solidFill>
                  <a:srgbClr val="000000"/>
                </a:solidFill>
                <a:latin typeface="+mj-lt"/>
              </a:rPr>
              <a:t>Ghezzi</a:t>
            </a:r>
            <a:r>
              <a:rPr lang="es-ES" sz="2600" dirty="0">
                <a:solidFill>
                  <a:srgbClr val="000000"/>
                </a:solidFill>
                <a:latin typeface="+mj-lt"/>
              </a:rPr>
              <a:t> et al., en su libro “Fundamentals of Software </a:t>
            </a:r>
            <a:r>
              <a:rPr lang="es-ES" sz="2600" dirty="0" err="1">
                <a:solidFill>
                  <a:srgbClr val="000000"/>
                </a:solidFill>
                <a:latin typeface="+mj-lt"/>
              </a:rPr>
              <a:t>Engineering</a:t>
            </a:r>
            <a:r>
              <a:rPr lang="es-ES" sz="2600" dirty="0">
                <a:solidFill>
                  <a:srgbClr val="000000"/>
                </a:solidFill>
                <a:latin typeface="+mj-lt"/>
              </a:rPr>
              <a:t>”, inician la descripción de un Ingeniero de Software como “ … un buen programador, con amplio dominio de estructuras de datos y algoritmos y con habilidades para la codificación en uno o mas lenguajes de programación… “</a:t>
            </a:r>
          </a:p>
          <a:p>
            <a:pPr marL="0" indent="7938" algn="just">
              <a:lnSpc>
                <a:spcPct val="100000"/>
              </a:lnSpc>
              <a:buNone/>
            </a:pPr>
            <a:r>
              <a:rPr lang="es-ES" sz="2600" i="1" dirty="0">
                <a:solidFill>
                  <a:srgbClr val="000000"/>
                </a:solidFill>
                <a:latin typeface="+mj-lt"/>
              </a:rPr>
              <a:t>Note que esto contradice algunas tendencias existentes que consideran al “analista” como el “cerebro” que no tiene que “ensuciarse las manos” programando, y en la practica hay unos cuantos que nunca se las han “ensuciado”</a:t>
            </a:r>
          </a:p>
          <a:p>
            <a:pPr marL="0" indent="7938" algn="just">
              <a:lnSpc>
                <a:spcPct val="15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183671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¿Por qué es complejo el proceso de desarrollo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457201" y="1897249"/>
            <a:ext cx="11330608" cy="4377427"/>
          </a:xfrm>
        </p:spPr>
        <p:txBody>
          <a:bodyPr>
            <a:noAutofit/>
          </a:bodyPr>
          <a:lstStyle/>
          <a:p>
            <a:pPr algn="just">
              <a:lnSpc>
                <a:spcPct val="100000"/>
              </a:lnSpc>
              <a:buFont typeface="Wingdings" pitchFamily="2" charset="2"/>
              <a:buChar char="Ø"/>
            </a:pPr>
            <a:r>
              <a:rPr lang="es-ES" sz="2600" dirty="0" smtClean="0">
                <a:solidFill>
                  <a:srgbClr val="000000"/>
                </a:solidFill>
                <a:latin typeface="+mj-lt"/>
              </a:rPr>
              <a:t>Requisitos </a:t>
            </a:r>
            <a:r>
              <a:rPr lang="es-ES" sz="2600" dirty="0">
                <a:solidFill>
                  <a:srgbClr val="000000"/>
                </a:solidFill>
                <a:latin typeface="+mj-lt"/>
              </a:rPr>
              <a:t>cambiantes: Los requisitos de los usuarios pueden cambiar a lo largo del proyecto, lo que puede llevar a reestructuraciones significativas y retrasos.</a:t>
            </a:r>
          </a:p>
          <a:p>
            <a:pPr algn="just">
              <a:lnSpc>
                <a:spcPct val="100000"/>
              </a:lnSpc>
              <a:buFont typeface="Wingdings" pitchFamily="2" charset="2"/>
              <a:buChar char="Ø"/>
            </a:pPr>
            <a:r>
              <a:rPr lang="es-ES" sz="2600" dirty="0" smtClean="0">
                <a:solidFill>
                  <a:srgbClr val="000000"/>
                </a:solidFill>
                <a:latin typeface="+mj-lt"/>
              </a:rPr>
              <a:t>Interacción </a:t>
            </a:r>
            <a:r>
              <a:rPr lang="es-ES" sz="2600" dirty="0">
                <a:solidFill>
                  <a:srgbClr val="000000"/>
                </a:solidFill>
                <a:latin typeface="+mj-lt"/>
              </a:rPr>
              <a:t>entre componentes: El software a menudo consiste en múltiples componentes que deben interactuar correctamente. La integración de estos componentes puede ser difícil de gestionar.</a:t>
            </a:r>
          </a:p>
          <a:p>
            <a:pPr algn="just">
              <a:lnSpc>
                <a:spcPct val="100000"/>
              </a:lnSpc>
              <a:buFont typeface="Wingdings" pitchFamily="2" charset="2"/>
              <a:buChar char="Ø"/>
            </a:pPr>
            <a:r>
              <a:rPr lang="es-ES" sz="2600" dirty="0" smtClean="0">
                <a:solidFill>
                  <a:srgbClr val="000000"/>
                </a:solidFill>
                <a:latin typeface="+mj-lt"/>
              </a:rPr>
              <a:t>Escalabilidad</a:t>
            </a:r>
            <a:r>
              <a:rPr lang="es-ES" sz="2600" dirty="0">
                <a:solidFill>
                  <a:srgbClr val="000000"/>
                </a:solidFill>
                <a:latin typeface="+mj-lt"/>
              </a:rPr>
              <a:t>: A medida que el software crece, la arquitectura debe ser capaz de manejar un aumento en la carga y la complejidad, lo que puede ser complicado de prever desde el principio.</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47342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¿Por qué es complejo el proceso de desarrollo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457201" y="1897249"/>
            <a:ext cx="11330608" cy="4377427"/>
          </a:xfrm>
        </p:spPr>
        <p:txBody>
          <a:bodyPr>
            <a:noAutofit/>
          </a:bodyPr>
          <a:lstStyle/>
          <a:p>
            <a:pPr algn="just">
              <a:lnSpc>
                <a:spcPct val="100000"/>
              </a:lnSpc>
              <a:buFont typeface="Wingdings" pitchFamily="2" charset="2"/>
              <a:buChar char="Ø"/>
            </a:pPr>
            <a:r>
              <a:rPr lang="es-ES" sz="2600" dirty="0" smtClean="0">
                <a:solidFill>
                  <a:srgbClr val="000000"/>
                </a:solidFill>
                <a:latin typeface="+mj-lt"/>
              </a:rPr>
              <a:t>Tecnologías </a:t>
            </a:r>
            <a:r>
              <a:rPr lang="es-ES" sz="2600" dirty="0">
                <a:solidFill>
                  <a:srgbClr val="000000"/>
                </a:solidFill>
                <a:latin typeface="+mj-lt"/>
              </a:rPr>
              <a:t>en evolución: Las herramientas, lenguajes y marcos de trabajo cambian rápidamente, lo que requiere que los desarrolladores se mantengan actualizados y adapten sus habilidades</a:t>
            </a:r>
            <a:r>
              <a:rPr lang="es-ES" sz="2600" dirty="0" smtClean="0">
                <a:solidFill>
                  <a:srgbClr val="000000"/>
                </a:solidFill>
                <a:latin typeface="+mj-lt"/>
              </a:rPr>
              <a:t>.</a:t>
            </a:r>
            <a:endParaRPr lang="es-ES" sz="2600" dirty="0">
              <a:solidFill>
                <a:srgbClr val="000000"/>
              </a:solidFill>
              <a:latin typeface="+mj-lt"/>
            </a:endParaRPr>
          </a:p>
          <a:p>
            <a:pPr algn="just">
              <a:lnSpc>
                <a:spcPct val="100000"/>
              </a:lnSpc>
              <a:buFont typeface="Wingdings" pitchFamily="2" charset="2"/>
              <a:buChar char="Ø"/>
            </a:pPr>
            <a:r>
              <a:rPr lang="es-ES" sz="2600" dirty="0" smtClean="0">
                <a:solidFill>
                  <a:srgbClr val="000000"/>
                </a:solidFill>
                <a:latin typeface="+mj-lt"/>
              </a:rPr>
              <a:t>Colaboración </a:t>
            </a:r>
            <a:r>
              <a:rPr lang="es-ES" sz="2600" dirty="0">
                <a:solidFill>
                  <a:srgbClr val="000000"/>
                </a:solidFill>
                <a:latin typeface="+mj-lt"/>
              </a:rPr>
              <a:t>en equipo: El desarrollo de software a menudo implica a múltiples personas con diferentes habilidades y estilos de trabajo, lo que puede generar conflictos y malentendidos</a:t>
            </a:r>
            <a:r>
              <a:rPr lang="es-ES" sz="2600" dirty="0" smtClean="0">
                <a:solidFill>
                  <a:srgbClr val="000000"/>
                </a:solidFill>
                <a:latin typeface="+mj-lt"/>
              </a:rPr>
              <a:t>.</a:t>
            </a:r>
            <a:endParaRPr lang="es-ES" sz="2600" dirty="0">
              <a:solidFill>
                <a:srgbClr val="000000"/>
              </a:solidFill>
              <a:latin typeface="+mj-lt"/>
            </a:endParaRPr>
          </a:p>
          <a:p>
            <a:pPr algn="just">
              <a:lnSpc>
                <a:spcPct val="100000"/>
              </a:lnSpc>
              <a:buFont typeface="Wingdings" pitchFamily="2" charset="2"/>
              <a:buChar char="Ø"/>
            </a:pPr>
            <a:r>
              <a:rPr lang="es-ES" sz="2600" dirty="0" smtClean="0">
                <a:solidFill>
                  <a:srgbClr val="000000"/>
                </a:solidFill>
                <a:latin typeface="+mj-lt"/>
              </a:rPr>
              <a:t>Pruebas </a:t>
            </a:r>
            <a:r>
              <a:rPr lang="es-ES" sz="2600" dirty="0">
                <a:solidFill>
                  <a:srgbClr val="000000"/>
                </a:solidFill>
                <a:latin typeface="+mj-lt"/>
              </a:rPr>
              <a:t>y calidad: Garantizar que el software funcione correctamente y sea seguro requiere un enfoque riguroso en pruebas, lo que puede ser un proceso laborioso.</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68581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¿Por qué es complejo el proceso de desarrollo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457201" y="1897249"/>
            <a:ext cx="11330608" cy="4377427"/>
          </a:xfrm>
        </p:spPr>
        <p:txBody>
          <a:bodyPr>
            <a:noAutofit/>
          </a:bodyPr>
          <a:lstStyle/>
          <a:p>
            <a:pPr algn="just">
              <a:lnSpc>
                <a:spcPct val="100000"/>
              </a:lnSpc>
              <a:buFont typeface="Wingdings" pitchFamily="2" charset="2"/>
              <a:buChar char="Ø"/>
            </a:pPr>
            <a:r>
              <a:rPr lang="es-ES" sz="2600" dirty="0" smtClean="0">
                <a:solidFill>
                  <a:srgbClr val="000000"/>
                </a:solidFill>
                <a:latin typeface="+mj-lt"/>
              </a:rPr>
              <a:t>Gestión </a:t>
            </a:r>
            <a:r>
              <a:rPr lang="es-ES" sz="2600" dirty="0">
                <a:solidFill>
                  <a:srgbClr val="000000"/>
                </a:solidFill>
                <a:latin typeface="+mj-lt"/>
              </a:rPr>
              <a:t>del tiempo y recursos: La planificación y gestión de tiempo y recursos son críticas, y cualquier desvío puede afectar el resultado final.</a:t>
            </a:r>
          </a:p>
          <a:p>
            <a:pPr algn="just">
              <a:lnSpc>
                <a:spcPct val="100000"/>
              </a:lnSpc>
              <a:buFont typeface="Wingdings" pitchFamily="2" charset="2"/>
              <a:buChar char="Ø"/>
            </a:pPr>
            <a:r>
              <a:rPr lang="es-ES" sz="2600" dirty="0" smtClean="0">
                <a:solidFill>
                  <a:srgbClr val="000000"/>
                </a:solidFill>
                <a:latin typeface="+mj-lt"/>
              </a:rPr>
              <a:t>Aspectos </a:t>
            </a:r>
            <a:r>
              <a:rPr lang="es-ES" sz="2600" dirty="0">
                <a:solidFill>
                  <a:srgbClr val="000000"/>
                </a:solidFill>
                <a:latin typeface="+mj-lt"/>
              </a:rPr>
              <a:t>no funcionales: Consideraciones como la seguridad, el rendimiento y la usabilidad son esenciales, pero a menudo se pasan por alto en las etapas iniciales.</a:t>
            </a:r>
          </a:p>
          <a:p>
            <a:pPr algn="just">
              <a:lnSpc>
                <a:spcPct val="100000"/>
              </a:lnSpc>
              <a:buFont typeface="Wingdings" pitchFamily="2" charset="2"/>
              <a:buChar char="Ø"/>
            </a:pPr>
            <a:r>
              <a:rPr lang="es-ES" sz="2600" dirty="0" smtClean="0">
                <a:solidFill>
                  <a:srgbClr val="000000"/>
                </a:solidFill>
                <a:latin typeface="+mj-lt"/>
              </a:rPr>
              <a:t>Documentación</a:t>
            </a:r>
            <a:r>
              <a:rPr lang="es-ES" sz="2600" dirty="0">
                <a:solidFill>
                  <a:srgbClr val="000000"/>
                </a:solidFill>
                <a:latin typeface="+mj-lt"/>
              </a:rPr>
              <a:t>: Mantener una documentación adecuada es fundamental para la </a:t>
            </a:r>
            <a:r>
              <a:rPr lang="es-ES" sz="2600" dirty="0" err="1">
                <a:solidFill>
                  <a:srgbClr val="000000"/>
                </a:solidFill>
                <a:latin typeface="+mj-lt"/>
              </a:rPr>
              <a:t>mantenibilidad</a:t>
            </a:r>
            <a:r>
              <a:rPr lang="es-ES" sz="2600" dirty="0">
                <a:solidFill>
                  <a:srgbClr val="000000"/>
                </a:solidFill>
                <a:latin typeface="+mj-lt"/>
              </a:rPr>
              <a:t> del software, pero a menudo se descuida durante el </a:t>
            </a:r>
            <a:r>
              <a:rPr lang="es-ES" sz="2600" dirty="0" smtClean="0">
                <a:solidFill>
                  <a:srgbClr val="000000"/>
                </a:solidFill>
                <a:latin typeface="+mj-lt"/>
              </a:rPr>
              <a:t>desarrollo.</a:t>
            </a:r>
          </a:p>
          <a:p>
            <a:pPr algn="just">
              <a:lnSpc>
                <a:spcPct val="100000"/>
              </a:lnSpc>
              <a:buFont typeface="Wingdings" pitchFamily="2" charset="2"/>
              <a:buChar char="Ø"/>
            </a:pPr>
            <a:r>
              <a:rPr lang="es-ES" sz="2800" dirty="0" smtClean="0"/>
              <a:t>Expectativas </a:t>
            </a:r>
            <a:r>
              <a:rPr lang="es-ES" sz="2800" dirty="0"/>
              <a:t>del cliente: Alinear las expectativas del cliente con lo que es técnicamente posible puede ser un desafío, especialmente si no hay una comunicación clara.</a:t>
            </a:r>
          </a:p>
          <a:p>
            <a:pPr algn="just">
              <a:lnSpc>
                <a:spcPct val="100000"/>
              </a:lnSpc>
              <a:buFont typeface="Wingdings" pitchFamily="2" charset="2"/>
              <a:buChar char="Ø"/>
            </a:pPr>
            <a:endParaRPr lang="es-ES" sz="2600" dirty="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52340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¿Por qué es complejo el proceso de desarrollo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97280" y="1897249"/>
            <a:ext cx="10058400" cy="4377427"/>
          </a:xfrm>
        </p:spPr>
        <p:txBody>
          <a:bodyPr>
            <a:noAutofit/>
          </a:bodyPr>
          <a:lstStyle/>
          <a:p>
            <a:pPr algn="just">
              <a:lnSpc>
                <a:spcPct val="100000"/>
              </a:lnSpc>
              <a:buFont typeface="Wingdings" pitchFamily="2" charset="2"/>
              <a:buChar char="Ø"/>
            </a:pPr>
            <a:r>
              <a:rPr lang="es-ES" sz="2600" dirty="0">
                <a:solidFill>
                  <a:srgbClr val="000000"/>
                </a:solidFill>
                <a:latin typeface="+mj-lt"/>
              </a:rPr>
              <a:t>Complejidad arbitraria: fundamentalmente porque depende de la voluntad y deseos de </a:t>
            </a:r>
            <a:r>
              <a:rPr lang="es-ES" sz="2600" dirty="0" smtClean="0">
                <a:solidFill>
                  <a:srgbClr val="000000"/>
                </a:solidFill>
                <a:latin typeface="+mj-lt"/>
              </a:rPr>
              <a:t>personas</a:t>
            </a:r>
            <a:endParaRPr lang="es-ES" sz="2600" dirty="0">
              <a:solidFill>
                <a:srgbClr val="000000"/>
              </a:solidFill>
              <a:latin typeface="+mj-lt"/>
            </a:endParaRPr>
          </a:p>
          <a:p>
            <a:pPr algn="just">
              <a:lnSpc>
                <a:spcPct val="100000"/>
              </a:lnSpc>
              <a:buFont typeface="Wingdings" pitchFamily="2" charset="2"/>
              <a:buChar char="Ø"/>
            </a:pPr>
            <a:r>
              <a:rPr lang="es-ES" sz="2600" dirty="0" smtClean="0">
                <a:solidFill>
                  <a:srgbClr val="000000"/>
                </a:solidFill>
                <a:latin typeface="+mj-lt"/>
              </a:rPr>
              <a:t>Multidisciplinario</a:t>
            </a:r>
            <a:r>
              <a:rPr lang="es-ES" sz="2600" dirty="0">
                <a:solidFill>
                  <a:srgbClr val="000000"/>
                </a:solidFill>
                <a:latin typeface="+mj-lt"/>
              </a:rPr>
              <a:t>: Adicionalmente se requiere del concurso de especialistas de otras disciplinas no afines a la computación (</a:t>
            </a:r>
            <a:r>
              <a:rPr lang="es-ES" sz="2600" dirty="0" err="1">
                <a:solidFill>
                  <a:srgbClr val="000000"/>
                </a:solidFill>
                <a:latin typeface="+mj-lt"/>
              </a:rPr>
              <a:t>multidisciplinariedad</a:t>
            </a:r>
            <a:r>
              <a:rPr lang="es-ES" sz="2600" dirty="0">
                <a:solidFill>
                  <a:srgbClr val="000000"/>
                </a:solidFill>
                <a:latin typeface="+mj-lt"/>
              </a:rPr>
              <a:t>)</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74649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¿Cuál es la situación actual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377427"/>
          </a:xfrm>
        </p:spPr>
        <p:txBody>
          <a:bodyPr>
            <a:noAutofit/>
          </a:bodyPr>
          <a:lstStyle/>
          <a:p>
            <a:pPr marL="0" indent="0" algn="just">
              <a:lnSpc>
                <a:spcPct val="100000"/>
              </a:lnSpc>
              <a:buNone/>
            </a:pPr>
            <a:r>
              <a:rPr lang="es-ES" sz="2600" dirty="0">
                <a:solidFill>
                  <a:srgbClr val="000000"/>
                </a:solidFill>
                <a:latin typeface="+mj-lt"/>
              </a:rPr>
              <a:t>Se realizan esfuerzos importantes en los desarrollos teóricos de la Ciencia de la Computación :</a:t>
            </a:r>
          </a:p>
          <a:p>
            <a:pPr algn="just">
              <a:lnSpc>
                <a:spcPct val="100000"/>
              </a:lnSpc>
              <a:buFont typeface="Wingdings" pitchFamily="2" charset="2"/>
              <a:buChar char="Ø"/>
            </a:pPr>
            <a:r>
              <a:rPr lang="es-ES" sz="2600" dirty="0">
                <a:solidFill>
                  <a:srgbClr val="000000"/>
                </a:solidFill>
                <a:latin typeface="+mj-lt"/>
              </a:rPr>
              <a:t> Paradigma de la Orientación a Objeto</a:t>
            </a:r>
          </a:p>
          <a:p>
            <a:pPr algn="just">
              <a:lnSpc>
                <a:spcPct val="100000"/>
              </a:lnSpc>
              <a:buFont typeface="Wingdings" pitchFamily="2" charset="2"/>
              <a:buChar char="Ø"/>
            </a:pPr>
            <a:r>
              <a:rPr lang="es-ES" sz="2600" dirty="0">
                <a:solidFill>
                  <a:srgbClr val="000000"/>
                </a:solidFill>
                <a:latin typeface="+mj-lt"/>
              </a:rPr>
              <a:t> Estrategias y modelos para facilitar la reusabilidad de Componentes de </a:t>
            </a:r>
            <a:r>
              <a:rPr lang="es-ES" sz="2600" dirty="0" smtClean="0">
                <a:solidFill>
                  <a:srgbClr val="000000"/>
                </a:solidFill>
                <a:latin typeface="+mj-lt"/>
              </a:rPr>
              <a:t>Software</a:t>
            </a:r>
          </a:p>
          <a:p>
            <a:pPr algn="just">
              <a:lnSpc>
                <a:spcPct val="100000"/>
              </a:lnSpc>
              <a:buFont typeface="Wingdings" pitchFamily="2" charset="2"/>
              <a:buChar char="Ø"/>
            </a:pPr>
            <a:r>
              <a:rPr lang="es-ES" sz="2800" dirty="0" smtClean="0"/>
              <a:t>Inteligencia </a:t>
            </a:r>
            <a:r>
              <a:rPr lang="es-ES" sz="2800" dirty="0"/>
              <a:t>Artificial y Aprendizaje </a:t>
            </a:r>
            <a:r>
              <a:rPr lang="es-ES" sz="2800" dirty="0" smtClean="0"/>
              <a:t>Automático:  La </a:t>
            </a:r>
            <a:r>
              <a:rPr lang="es-ES" sz="2800" dirty="0"/>
              <a:t>IA se ha integrado en herramientas de desarrollo y pruebas, mejorando la eficiencia y la calidad del software.</a:t>
            </a:r>
          </a:p>
          <a:p>
            <a:pPr>
              <a:lnSpc>
                <a:spcPct val="100000"/>
              </a:lnSpc>
            </a:pPr>
            <a:endParaRPr lang="es-ES" sz="2800" dirty="0"/>
          </a:p>
          <a:p>
            <a:pPr>
              <a:lnSpc>
                <a:spcPct val="100000"/>
              </a:lnSpc>
            </a:pPr>
            <a:endParaRPr lang="es-ES" sz="2800" dirty="0"/>
          </a:p>
          <a:p>
            <a:pPr marL="0" indent="0" algn="just">
              <a:lnSpc>
                <a:spcPct val="100000"/>
              </a:lnSpc>
              <a:buNone/>
            </a:pPr>
            <a:endParaRPr lang="es-ES" sz="2600" i="1" dirty="0" smtClean="0">
              <a:solidFill>
                <a:srgbClr val="000000"/>
              </a:solidFill>
              <a:latin typeface="+mj-lt"/>
            </a:endParaRPr>
          </a:p>
          <a:p>
            <a:pPr algn="just">
              <a:lnSpc>
                <a:spcPct val="100000"/>
              </a:lnSpc>
              <a:buFont typeface="Wingdings" pitchFamily="2" charset="2"/>
              <a:buChar char="Ø"/>
            </a:pPr>
            <a:endParaRPr lang="es-ES" sz="2600" dirty="0" smtClean="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34145061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9382" y="224443"/>
            <a:ext cx="10058400" cy="1280160"/>
          </a:xfrm>
        </p:spPr>
        <p:txBody>
          <a:bodyPr>
            <a:normAutofit/>
          </a:bodyPr>
          <a:lstStyle/>
          <a:p>
            <a:pPr algn="ctr"/>
            <a:r>
              <a:rPr lang="es-ES" dirty="0" smtClean="0"/>
              <a:t>¿Cuál es la situación actual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982980" y="1807691"/>
            <a:ext cx="10960698" cy="4443480"/>
          </a:xfrm>
        </p:spPr>
        <p:txBody>
          <a:bodyPr>
            <a:noAutofit/>
          </a:bodyPr>
          <a:lstStyle/>
          <a:p>
            <a:pPr marL="0" indent="0" algn="just">
              <a:lnSpc>
                <a:spcPct val="100000"/>
              </a:lnSpc>
              <a:buNone/>
            </a:pPr>
            <a:r>
              <a:rPr lang="es-ES" sz="2600" dirty="0" smtClean="0">
                <a:solidFill>
                  <a:srgbClr val="000000"/>
                </a:solidFill>
                <a:latin typeface="+mj-lt"/>
              </a:rPr>
              <a:t>Se </a:t>
            </a:r>
            <a:r>
              <a:rPr lang="es-ES" sz="2600" dirty="0">
                <a:solidFill>
                  <a:srgbClr val="000000"/>
                </a:solidFill>
                <a:latin typeface="+mj-lt"/>
              </a:rPr>
              <a:t>producen cada vez mas:</a:t>
            </a:r>
          </a:p>
          <a:p>
            <a:pPr algn="just">
              <a:lnSpc>
                <a:spcPct val="100000"/>
              </a:lnSpc>
              <a:buFont typeface="Wingdings" pitchFamily="2" charset="2"/>
              <a:buChar char="Ø"/>
            </a:pPr>
            <a:r>
              <a:rPr lang="es-ES" sz="2600" dirty="0">
                <a:solidFill>
                  <a:srgbClr val="000000"/>
                </a:solidFill>
                <a:latin typeface="+mj-lt"/>
              </a:rPr>
              <a:t> Ambientes para creación de prototipos (RAD) y visuales</a:t>
            </a:r>
          </a:p>
          <a:p>
            <a:pPr algn="just">
              <a:lnSpc>
                <a:spcPct val="100000"/>
              </a:lnSpc>
              <a:buFont typeface="Wingdings" pitchFamily="2" charset="2"/>
              <a:buChar char="Ø"/>
            </a:pPr>
            <a:r>
              <a:rPr lang="es-ES" sz="2600" dirty="0">
                <a:solidFill>
                  <a:srgbClr val="000000"/>
                </a:solidFill>
                <a:latin typeface="+mj-lt"/>
              </a:rPr>
              <a:t> Herramientas CASE</a:t>
            </a:r>
          </a:p>
          <a:p>
            <a:pPr algn="just">
              <a:lnSpc>
                <a:spcPct val="100000"/>
              </a:lnSpc>
              <a:buFont typeface="Wingdings" pitchFamily="2" charset="2"/>
              <a:buChar char="Ø"/>
            </a:pPr>
            <a:r>
              <a:rPr lang="es-ES" sz="2600" dirty="0">
                <a:solidFill>
                  <a:srgbClr val="000000"/>
                </a:solidFill>
                <a:latin typeface="+mj-lt"/>
              </a:rPr>
              <a:t> Patrones y </a:t>
            </a:r>
            <a:r>
              <a:rPr lang="es-ES" sz="2600" dirty="0" err="1">
                <a:solidFill>
                  <a:srgbClr val="000000"/>
                </a:solidFill>
                <a:latin typeface="+mj-lt"/>
              </a:rPr>
              <a:t>Frameworks</a:t>
            </a:r>
            <a:r>
              <a:rPr lang="es-ES" sz="2600" dirty="0">
                <a:solidFill>
                  <a:srgbClr val="000000"/>
                </a:solidFill>
                <a:latin typeface="+mj-lt"/>
              </a:rPr>
              <a:t> de componentes con diverso grado de </a:t>
            </a:r>
            <a:r>
              <a:rPr lang="es-ES" sz="2600" dirty="0" smtClean="0">
                <a:solidFill>
                  <a:srgbClr val="000000"/>
                </a:solidFill>
                <a:latin typeface="+mj-lt"/>
              </a:rPr>
              <a:t>especialización</a:t>
            </a:r>
          </a:p>
          <a:p>
            <a:pPr algn="just">
              <a:lnSpc>
                <a:spcPct val="100000"/>
              </a:lnSpc>
              <a:buFont typeface="Wingdings" pitchFamily="2" charset="2"/>
              <a:buChar char="Ø"/>
            </a:pPr>
            <a:r>
              <a:rPr lang="es-ES" sz="2400" dirty="0" err="1" smtClean="0"/>
              <a:t>DevOps</a:t>
            </a:r>
            <a:r>
              <a:rPr lang="es-ES" sz="2400" dirty="0" smtClean="0"/>
              <a:t> </a:t>
            </a:r>
            <a:r>
              <a:rPr lang="es-ES" sz="2400" dirty="0"/>
              <a:t>y Automatización</a:t>
            </a:r>
            <a:r>
              <a:rPr lang="es-ES" sz="2400" dirty="0" smtClean="0"/>
              <a:t>: </a:t>
            </a:r>
            <a:r>
              <a:rPr lang="es-ES" sz="2400" dirty="0"/>
              <a:t>La integración entre desarrollo y operaciones ha llevado a la adopción de prácticas </a:t>
            </a:r>
            <a:r>
              <a:rPr lang="es-ES" sz="2400" dirty="0" err="1"/>
              <a:t>DevOps</a:t>
            </a:r>
            <a:r>
              <a:rPr lang="es-ES" sz="2400" dirty="0"/>
              <a:t>, que buscan mejorar la colaboración y acelerar las entregas</a:t>
            </a:r>
            <a:r>
              <a:rPr lang="es-ES" sz="2400" dirty="0" smtClean="0"/>
              <a:t>.</a:t>
            </a:r>
          </a:p>
          <a:p>
            <a:pPr>
              <a:buFont typeface="Wingdings" pitchFamily="2" charset="2"/>
              <a:buChar char="Ø"/>
            </a:pPr>
            <a:r>
              <a:rPr lang="es-ES" sz="2400" dirty="0" smtClean="0"/>
              <a:t>Nuevas Tecnologías: La </a:t>
            </a:r>
            <a:r>
              <a:rPr lang="es-ES" sz="2400" dirty="0"/>
              <a:t>nube, </a:t>
            </a:r>
            <a:r>
              <a:rPr lang="es-ES" sz="2400" dirty="0" err="1"/>
              <a:t>microservicios</a:t>
            </a:r>
            <a:r>
              <a:rPr lang="es-ES" sz="2400" dirty="0"/>
              <a:t> y contenedores han transformado cómo se desarrolla, despliega y mantiene el software.</a:t>
            </a:r>
          </a:p>
          <a:p>
            <a:pPr>
              <a:lnSpc>
                <a:spcPct val="100000"/>
              </a:lnSpc>
            </a:pPr>
            <a:endParaRPr lang="es-ES" sz="2400" dirty="0"/>
          </a:p>
          <a:p>
            <a:pPr marL="0" indent="0" algn="just">
              <a:lnSpc>
                <a:spcPct val="100000"/>
              </a:lnSpc>
              <a:buNone/>
            </a:pPr>
            <a:endParaRPr lang="es-ES" sz="2600" i="1" dirty="0" smtClean="0">
              <a:solidFill>
                <a:srgbClr val="000000"/>
              </a:solidFill>
              <a:latin typeface="+mj-lt"/>
            </a:endParaRPr>
          </a:p>
          <a:p>
            <a:pPr algn="just">
              <a:lnSpc>
                <a:spcPct val="100000"/>
              </a:lnSpc>
              <a:buFont typeface="Wingdings" pitchFamily="2" charset="2"/>
              <a:buChar char="Ø"/>
            </a:pPr>
            <a:endParaRPr lang="es-ES" sz="2600" dirty="0" smtClean="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7398773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¿Cuál es la situación actual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377427"/>
          </a:xfrm>
        </p:spPr>
        <p:txBody>
          <a:bodyPr>
            <a:noAutofit/>
          </a:bodyPr>
          <a:lstStyle/>
          <a:p>
            <a:pPr marL="0" indent="0" algn="just">
              <a:lnSpc>
                <a:spcPct val="100000"/>
              </a:lnSpc>
              <a:buNone/>
            </a:pPr>
            <a:r>
              <a:rPr lang="es-ES" sz="2600" dirty="0">
                <a:solidFill>
                  <a:srgbClr val="000000"/>
                </a:solidFill>
                <a:latin typeface="+mj-lt"/>
              </a:rPr>
              <a:t>Las ideas de como organizar y hacer mas productivo el proceso surgen y se redefinen continuamente, por ejemplo:</a:t>
            </a:r>
          </a:p>
          <a:p>
            <a:pPr algn="just">
              <a:lnSpc>
                <a:spcPct val="100000"/>
              </a:lnSpc>
              <a:buFont typeface="Wingdings" pitchFamily="2" charset="2"/>
              <a:buChar char="Ø"/>
            </a:pPr>
            <a:r>
              <a:rPr lang="es-ES" sz="2600" dirty="0">
                <a:solidFill>
                  <a:srgbClr val="000000"/>
                </a:solidFill>
                <a:latin typeface="+mj-lt"/>
              </a:rPr>
              <a:t>Movimiento ágil de desarrollo</a:t>
            </a:r>
          </a:p>
          <a:p>
            <a:pPr algn="just">
              <a:lnSpc>
                <a:spcPct val="100000"/>
              </a:lnSpc>
              <a:buFont typeface="Wingdings" pitchFamily="2" charset="2"/>
              <a:buChar char="Ø"/>
            </a:pPr>
            <a:r>
              <a:rPr lang="es-ES" sz="2600" dirty="0">
                <a:solidFill>
                  <a:srgbClr val="000000"/>
                </a:solidFill>
                <a:latin typeface="+mj-lt"/>
              </a:rPr>
              <a:t>Métodos de diseño de software como TDD (Test </a:t>
            </a:r>
            <a:r>
              <a:rPr lang="es-ES" sz="2600" dirty="0" err="1">
                <a:solidFill>
                  <a:srgbClr val="000000"/>
                </a:solidFill>
                <a:latin typeface="+mj-lt"/>
              </a:rPr>
              <a:t>Driven</a:t>
            </a:r>
            <a:r>
              <a:rPr lang="es-ES" sz="2600" dirty="0">
                <a:solidFill>
                  <a:srgbClr val="000000"/>
                </a:solidFill>
                <a:latin typeface="+mj-lt"/>
              </a:rPr>
              <a:t> </a:t>
            </a:r>
            <a:r>
              <a:rPr lang="es-ES" sz="2600" dirty="0" err="1">
                <a:solidFill>
                  <a:srgbClr val="000000"/>
                </a:solidFill>
                <a:latin typeface="+mj-lt"/>
              </a:rPr>
              <a:t>Design</a:t>
            </a:r>
            <a:r>
              <a:rPr lang="es-ES" sz="2600" dirty="0">
                <a:solidFill>
                  <a:srgbClr val="000000"/>
                </a:solidFill>
                <a:latin typeface="+mj-lt"/>
              </a:rPr>
              <a:t>) o DDD (</a:t>
            </a:r>
            <a:r>
              <a:rPr lang="es-ES" sz="2600" dirty="0" err="1">
                <a:solidFill>
                  <a:srgbClr val="000000"/>
                </a:solidFill>
                <a:latin typeface="+mj-lt"/>
              </a:rPr>
              <a:t>Domain</a:t>
            </a:r>
            <a:r>
              <a:rPr lang="es-ES" sz="2600" dirty="0">
                <a:solidFill>
                  <a:srgbClr val="000000"/>
                </a:solidFill>
                <a:latin typeface="+mj-lt"/>
              </a:rPr>
              <a:t> </a:t>
            </a:r>
            <a:r>
              <a:rPr lang="es-ES" sz="2600" dirty="0" err="1">
                <a:solidFill>
                  <a:srgbClr val="000000"/>
                </a:solidFill>
                <a:latin typeface="+mj-lt"/>
              </a:rPr>
              <a:t>Driven</a:t>
            </a:r>
            <a:r>
              <a:rPr lang="es-ES" sz="2600" dirty="0">
                <a:solidFill>
                  <a:srgbClr val="000000"/>
                </a:solidFill>
                <a:latin typeface="+mj-lt"/>
              </a:rPr>
              <a:t> </a:t>
            </a:r>
            <a:r>
              <a:rPr lang="es-ES" sz="2600" dirty="0" err="1">
                <a:solidFill>
                  <a:srgbClr val="000000"/>
                </a:solidFill>
                <a:latin typeface="+mj-lt"/>
              </a:rPr>
              <a:t>Design</a:t>
            </a:r>
            <a:r>
              <a:rPr lang="es-ES" sz="2600" dirty="0">
                <a:solidFill>
                  <a:srgbClr val="000000"/>
                </a:solidFill>
                <a:latin typeface="+mj-lt"/>
              </a:rPr>
              <a:t>)</a:t>
            </a:r>
          </a:p>
          <a:p>
            <a:pPr marL="0" indent="0" algn="just">
              <a:lnSpc>
                <a:spcPct val="100000"/>
              </a:lnSpc>
              <a:buNone/>
            </a:pPr>
            <a:endParaRPr lang="es-ES" sz="2600" i="1" dirty="0" smtClean="0">
              <a:solidFill>
                <a:srgbClr val="000000"/>
              </a:solidFill>
              <a:latin typeface="+mj-lt"/>
            </a:endParaRPr>
          </a:p>
          <a:p>
            <a:pPr algn="just">
              <a:lnSpc>
                <a:spcPct val="100000"/>
              </a:lnSpc>
              <a:buFont typeface="Wingdings" pitchFamily="2" charset="2"/>
              <a:buChar char="Ø"/>
            </a:pPr>
            <a:endParaRPr lang="es-ES" sz="2600" dirty="0" smtClean="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2762561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Ciclo de Vida del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377427"/>
          </a:xfrm>
        </p:spPr>
        <p:txBody>
          <a:bodyPr>
            <a:noAutofit/>
          </a:bodyPr>
          <a:lstStyle/>
          <a:p>
            <a:pPr marL="0" indent="0" algn="just">
              <a:lnSpc>
                <a:spcPct val="100000"/>
              </a:lnSpc>
              <a:buNone/>
            </a:pPr>
            <a:endParaRPr lang="es-ES" sz="2600" i="1" dirty="0" smtClean="0">
              <a:solidFill>
                <a:srgbClr val="000000"/>
              </a:solidFill>
              <a:latin typeface="+mj-lt"/>
            </a:endParaRPr>
          </a:p>
          <a:p>
            <a:pPr marL="0" indent="0" algn="just">
              <a:lnSpc>
                <a:spcPct val="100000"/>
              </a:lnSpc>
              <a:buNone/>
            </a:pPr>
            <a:r>
              <a:rPr lang="es-ES" sz="2600" b="1" dirty="0">
                <a:solidFill>
                  <a:srgbClr val="000000"/>
                </a:solidFill>
                <a:latin typeface="+mj-lt"/>
              </a:rPr>
              <a:t>El Ciclo de Vida del Software es la secuencia de estados por la que va pasando un proyecto de software durante su desarrollo. </a:t>
            </a:r>
          </a:p>
          <a:p>
            <a:pPr marL="0" indent="0" algn="just">
              <a:lnSpc>
                <a:spcPct val="100000"/>
              </a:lnSpc>
              <a:buNone/>
            </a:pPr>
            <a:r>
              <a:rPr lang="es-ES" sz="2600" dirty="0" smtClean="0">
                <a:solidFill>
                  <a:srgbClr val="000000"/>
                </a:solidFill>
                <a:latin typeface="+mj-lt"/>
              </a:rPr>
              <a:t>Dos </a:t>
            </a:r>
            <a:r>
              <a:rPr lang="es-ES" sz="2600" dirty="0">
                <a:solidFill>
                  <a:srgbClr val="000000"/>
                </a:solidFill>
                <a:latin typeface="+mj-lt"/>
              </a:rPr>
              <a:t>modelos representativos de dos enfoques diferentes, los lineales y los evolutivos, son:</a:t>
            </a:r>
          </a:p>
          <a:p>
            <a:pPr algn="just">
              <a:lnSpc>
                <a:spcPct val="100000"/>
              </a:lnSpc>
              <a:buFont typeface="Wingdings" pitchFamily="2" charset="2"/>
              <a:buChar char="Ø"/>
            </a:pPr>
            <a:r>
              <a:rPr lang="es-ES" sz="2600" dirty="0" smtClean="0">
                <a:solidFill>
                  <a:srgbClr val="000000"/>
                </a:solidFill>
                <a:latin typeface="+mj-lt"/>
              </a:rPr>
              <a:t>Modelo </a:t>
            </a:r>
            <a:r>
              <a:rPr lang="es-ES" sz="2600" dirty="0">
                <a:solidFill>
                  <a:srgbClr val="000000"/>
                </a:solidFill>
                <a:latin typeface="+mj-lt"/>
              </a:rPr>
              <a:t>de la Cascada (</a:t>
            </a:r>
            <a:r>
              <a:rPr lang="es-ES" sz="2600" dirty="0" err="1">
                <a:solidFill>
                  <a:srgbClr val="000000"/>
                </a:solidFill>
                <a:latin typeface="+mj-lt"/>
              </a:rPr>
              <a:t>Waterfall</a:t>
            </a:r>
            <a:r>
              <a:rPr lang="es-ES" sz="2600" dirty="0">
                <a:solidFill>
                  <a:srgbClr val="000000"/>
                </a:solidFill>
                <a:latin typeface="+mj-lt"/>
              </a:rPr>
              <a:t> </a:t>
            </a:r>
            <a:r>
              <a:rPr lang="es-ES" sz="2600" dirty="0" err="1">
                <a:solidFill>
                  <a:srgbClr val="000000"/>
                </a:solidFill>
                <a:latin typeface="+mj-lt"/>
              </a:rPr>
              <a:t>Model</a:t>
            </a:r>
            <a:r>
              <a:rPr lang="es-ES" sz="2600" dirty="0">
                <a:solidFill>
                  <a:srgbClr val="000000"/>
                </a:solidFill>
                <a:latin typeface="+mj-lt"/>
              </a:rPr>
              <a:t>)</a:t>
            </a:r>
          </a:p>
          <a:p>
            <a:pPr algn="just">
              <a:lnSpc>
                <a:spcPct val="100000"/>
              </a:lnSpc>
              <a:buFont typeface="Wingdings" pitchFamily="2" charset="2"/>
              <a:buChar char="Ø"/>
            </a:pPr>
            <a:r>
              <a:rPr lang="es-ES" sz="2600" dirty="0" smtClean="0">
                <a:solidFill>
                  <a:srgbClr val="000000"/>
                </a:solidFill>
                <a:latin typeface="+mj-lt"/>
              </a:rPr>
              <a:t>Modelo </a:t>
            </a:r>
            <a:r>
              <a:rPr lang="es-ES" sz="2600" dirty="0">
                <a:solidFill>
                  <a:srgbClr val="000000"/>
                </a:solidFill>
                <a:latin typeface="+mj-lt"/>
              </a:rPr>
              <a:t>de la Espiral (</a:t>
            </a:r>
            <a:r>
              <a:rPr lang="es-ES" sz="2600" dirty="0" err="1">
                <a:solidFill>
                  <a:srgbClr val="000000"/>
                </a:solidFill>
                <a:latin typeface="+mj-lt"/>
              </a:rPr>
              <a:t>Spiral</a:t>
            </a:r>
            <a:r>
              <a:rPr lang="es-ES" sz="2600" dirty="0">
                <a:solidFill>
                  <a:srgbClr val="000000"/>
                </a:solidFill>
                <a:latin typeface="+mj-lt"/>
              </a:rPr>
              <a:t> </a:t>
            </a:r>
            <a:r>
              <a:rPr lang="es-ES" sz="2600" dirty="0" err="1">
                <a:solidFill>
                  <a:srgbClr val="000000"/>
                </a:solidFill>
                <a:latin typeface="+mj-lt"/>
              </a:rPr>
              <a:t>Model</a:t>
            </a:r>
            <a:r>
              <a:rPr lang="es-ES" sz="2600" dirty="0">
                <a:solidFill>
                  <a:srgbClr val="000000"/>
                </a:solidFill>
                <a:latin typeface="+mj-lt"/>
              </a:rPr>
              <a:t>)</a:t>
            </a:r>
          </a:p>
          <a:p>
            <a:pPr algn="just">
              <a:lnSpc>
                <a:spcPct val="100000"/>
              </a:lnSpc>
              <a:buFont typeface="Wingdings" pitchFamily="2" charset="2"/>
              <a:buChar char="Ø"/>
            </a:pPr>
            <a:endParaRPr lang="es-ES" sz="2600" dirty="0" smtClean="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24745501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Ciclo de Vida del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6"/>
            <a:ext cx="5816963" cy="5724283"/>
          </a:xfrm>
        </p:spPr>
        <p:txBody>
          <a:bodyPr>
            <a:noAutofit/>
          </a:bodyPr>
          <a:lstStyle/>
          <a:p>
            <a:pPr marL="0" indent="0" algn="just">
              <a:lnSpc>
                <a:spcPct val="100000"/>
              </a:lnSpc>
              <a:buNone/>
            </a:pPr>
            <a:endParaRPr lang="es-ES" sz="2600" i="1" dirty="0" smtClean="0">
              <a:solidFill>
                <a:srgbClr val="000000"/>
              </a:solidFill>
              <a:latin typeface="+mj-lt"/>
            </a:endParaRPr>
          </a:p>
          <a:p>
            <a:pPr marL="0" indent="0" algn="just">
              <a:lnSpc>
                <a:spcPct val="100000"/>
              </a:lnSpc>
              <a:buNone/>
            </a:pPr>
            <a:r>
              <a:rPr lang="es-ES" sz="2600" b="1" dirty="0" smtClean="0">
                <a:solidFill>
                  <a:srgbClr val="000000"/>
                </a:solidFill>
                <a:latin typeface="+mj-lt"/>
              </a:rPr>
              <a:t>Modelo en Cascada</a:t>
            </a:r>
          </a:p>
          <a:p>
            <a:pPr marL="0" indent="0" algn="just">
              <a:lnSpc>
                <a:spcPct val="100000"/>
              </a:lnSpc>
              <a:buNone/>
            </a:pPr>
            <a:r>
              <a:rPr lang="es-ES" sz="2800" dirty="0"/>
              <a:t>El modelo en cascada es uno de los enfoques más tradicionales para el desarrollo de software. Se caracteriza por un enfoque secuencial, donde cada fase del ciclo de vida del software debe completarse antes de pasar a la siguiente</a:t>
            </a:r>
            <a:endParaRPr lang="es-ES" sz="2600" b="1" dirty="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graphicFrame>
        <p:nvGraphicFramePr>
          <p:cNvPr id="3" name="2 Objeto"/>
          <p:cNvGraphicFramePr>
            <a:graphicFrameLocks noChangeAspect="1"/>
          </p:cNvGraphicFramePr>
          <p:nvPr>
            <p:extLst>
              <p:ext uri="{D42A27DB-BD31-4B8C-83A1-F6EECF244321}">
                <p14:modId xmlns:p14="http://schemas.microsoft.com/office/powerpoint/2010/main" val="3872155835"/>
              </p:ext>
            </p:extLst>
          </p:nvPr>
        </p:nvGraphicFramePr>
        <p:xfrm>
          <a:off x="6075381" y="2070101"/>
          <a:ext cx="6038850" cy="4114799"/>
        </p:xfrm>
        <a:graphic>
          <a:graphicData uri="http://schemas.openxmlformats.org/presentationml/2006/ole">
            <mc:AlternateContent xmlns:mc="http://schemas.openxmlformats.org/markup-compatibility/2006">
              <mc:Choice xmlns:v="urn:schemas-microsoft-com:vml" Requires="v">
                <p:oleObj spid="_x0000_s1057" name="Gráfico" r:id="rId4" imgW="6019920" imgH="4417560" progId="MSGraph.Chart.8">
                  <p:embed/>
                </p:oleObj>
              </mc:Choice>
              <mc:Fallback>
                <p:oleObj name="Gráfico" r:id="rId4" imgW="6019920" imgH="4417560" progId="MSGraph.Char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5381" y="2070101"/>
                        <a:ext cx="6038850" cy="411479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8997985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br>
              <a:rPr lang="es-ES" dirty="0" smtClean="0"/>
            </a:br>
            <a:r>
              <a:rPr lang="es-ES" dirty="0" smtClean="0"/>
              <a:t>Modelo Cascada</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6"/>
            <a:ext cx="11158883" cy="4017515"/>
          </a:xfrm>
        </p:spPr>
        <p:txBody>
          <a:bodyPr>
            <a:noAutofit/>
          </a:bodyPr>
          <a:lstStyle/>
          <a:p>
            <a:pPr marL="0" indent="0" algn="just">
              <a:lnSpc>
                <a:spcPct val="100000"/>
              </a:lnSpc>
              <a:buNone/>
            </a:pPr>
            <a:endParaRPr lang="es-ES" sz="2600" i="1" dirty="0" smtClean="0">
              <a:solidFill>
                <a:srgbClr val="000000"/>
              </a:solidFill>
              <a:latin typeface="+mj-lt"/>
            </a:endParaRPr>
          </a:p>
          <a:p>
            <a:pPr marL="0" indent="0" algn="just">
              <a:lnSpc>
                <a:spcPct val="100000"/>
              </a:lnSpc>
              <a:buNone/>
            </a:pPr>
            <a:r>
              <a:rPr lang="es-ES" sz="2800" b="1" dirty="0"/>
              <a:t>Características </a:t>
            </a:r>
          </a:p>
          <a:p>
            <a:pPr algn="just">
              <a:lnSpc>
                <a:spcPct val="100000"/>
              </a:lnSpc>
              <a:buFont typeface="Wingdings" pitchFamily="2" charset="2"/>
              <a:buChar char="Ø"/>
            </a:pPr>
            <a:r>
              <a:rPr lang="es-ES" sz="2600" dirty="0" smtClean="0">
                <a:solidFill>
                  <a:srgbClr val="000000"/>
                </a:solidFill>
                <a:latin typeface="+mj-lt"/>
              </a:rPr>
              <a:t>Secuencial</a:t>
            </a:r>
            <a:r>
              <a:rPr lang="es-ES" sz="2600" dirty="0">
                <a:solidFill>
                  <a:srgbClr val="000000"/>
                </a:solidFill>
                <a:latin typeface="+mj-lt"/>
              </a:rPr>
              <a:t>: Cada fase debe completarse antes de pasar a la siguiente.</a:t>
            </a:r>
          </a:p>
          <a:p>
            <a:pPr algn="just">
              <a:lnSpc>
                <a:spcPct val="100000"/>
              </a:lnSpc>
              <a:buFont typeface="Wingdings" pitchFamily="2" charset="2"/>
              <a:buChar char="Ø"/>
            </a:pPr>
            <a:r>
              <a:rPr lang="es-ES" sz="2600" dirty="0" smtClean="0">
                <a:solidFill>
                  <a:srgbClr val="000000"/>
                </a:solidFill>
                <a:latin typeface="+mj-lt"/>
              </a:rPr>
              <a:t>Documentación </a:t>
            </a:r>
            <a:r>
              <a:rPr lang="es-ES" sz="2600" dirty="0">
                <a:solidFill>
                  <a:srgbClr val="000000"/>
                </a:solidFill>
                <a:latin typeface="+mj-lt"/>
              </a:rPr>
              <a:t>exhaustiva: Se generan muchos documentos en cada fase, lo que facilita la comprensión y la gestión del proyecto.</a:t>
            </a:r>
          </a:p>
          <a:p>
            <a:pPr algn="just">
              <a:lnSpc>
                <a:spcPct val="100000"/>
              </a:lnSpc>
              <a:buFont typeface="Wingdings" pitchFamily="2" charset="2"/>
              <a:buChar char="Ø"/>
            </a:pPr>
            <a:r>
              <a:rPr lang="es-ES" sz="2600" dirty="0" smtClean="0">
                <a:solidFill>
                  <a:srgbClr val="000000"/>
                </a:solidFill>
                <a:latin typeface="+mj-lt"/>
              </a:rPr>
              <a:t>Dificultad </a:t>
            </a:r>
            <a:r>
              <a:rPr lang="es-ES" sz="2600" dirty="0">
                <a:solidFill>
                  <a:srgbClr val="000000"/>
                </a:solidFill>
                <a:latin typeface="+mj-lt"/>
              </a:rPr>
              <a:t>para adaptarse a cambios: Cambiar los requisitos en fases posteriores puede ser complicado y costoso.</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38622594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br>
              <a:rPr lang="es-ES" dirty="0" smtClean="0"/>
            </a:br>
            <a:r>
              <a:rPr lang="es-ES" dirty="0" smtClean="0"/>
              <a:t>Modelo Cascada</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6"/>
            <a:ext cx="11158883" cy="4017515"/>
          </a:xfrm>
        </p:spPr>
        <p:txBody>
          <a:bodyPr>
            <a:noAutofit/>
          </a:bodyPr>
          <a:lstStyle/>
          <a:p>
            <a:pPr marL="0" indent="0" algn="just">
              <a:lnSpc>
                <a:spcPct val="100000"/>
              </a:lnSpc>
              <a:buNone/>
            </a:pPr>
            <a:r>
              <a:rPr lang="es-ES" sz="2800" b="1" dirty="0" smtClean="0"/>
              <a:t>Ventajas /Desventajas  </a:t>
            </a:r>
          </a:p>
          <a:p>
            <a:pPr marL="0" indent="0" algn="just">
              <a:lnSpc>
                <a:spcPct val="100000"/>
              </a:lnSpc>
              <a:buNone/>
            </a:pPr>
            <a:r>
              <a:rPr lang="es-ES" sz="2600" dirty="0" smtClean="0">
                <a:solidFill>
                  <a:srgbClr val="000000"/>
                </a:solidFill>
                <a:latin typeface="+mj-lt"/>
              </a:rPr>
              <a:t>Ventajas</a:t>
            </a:r>
            <a:r>
              <a:rPr lang="es-ES" sz="2600" dirty="0">
                <a:solidFill>
                  <a:srgbClr val="000000"/>
                </a:solidFill>
                <a:latin typeface="+mj-lt"/>
              </a:rPr>
              <a:t>:</a:t>
            </a:r>
          </a:p>
          <a:p>
            <a:pPr algn="just">
              <a:lnSpc>
                <a:spcPct val="100000"/>
              </a:lnSpc>
              <a:buFont typeface="Wingdings" pitchFamily="2" charset="2"/>
              <a:buChar char="Ø"/>
            </a:pPr>
            <a:r>
              <a:rPr lang="es-ES" sz="2600" dirty="0" smtClean="0">
                <a:solidFill>
                  <a:srgbClr val="000000"/>
                </a:solidFill>
                <a:latin typeface="+mj-lt"/>
              </a:rPr>
              <a:t>Estructura </a:t>
            </a:r>
            <a:r>
              <a:rPr lang="es-ES" sz="2600" dirty="0">
                <a:solidFill>
                  <a:srgbClr val="000000"/>
                </a:solidFill>
                <a:latin typeface="+mj-lt"/>
              </a:rPr>
              <a:t>clara y fácil de entender.</a:t>
            </a:r>
          </a:p>
          <a:p>
            <a:pPr algn="just">
              <a:lnSpc>
                <a:spcPct val="100000"/>
              </a:lnSpc>
              <a:buFont typeface="Wingdings" pitchFamily="2" charset="2"/>
              <a:buChar char="Ø"/>
            </a:pPr>
            <a:r>
              <a:rPr lang="es-ES" sz="2600" dirty="0" smtClean="0">
                <a:solidFill>
                  <a:srgbClr val="000000"/>
                </a:solidFill>
                <a:latin typeface="+mj-lt"/>
              </a:rPr>
              <a:t>Enfoque </a:t>
            </a:r>
            <a:r>
              <a:rPr lang="es-ES" sz="2600" dirty="0">
                <a:solidFill>
                  <a:srgbClr val="000000"/>
                </a:solidFill>
                <a:latin typeface="+mj-lt"/>
              </a:rPr>
              <a:t>disciplinado con etapas bien definidas.</a:t>
            </a:r>
          </a:p>
          <a:p>
            <a:pPr algn="just">
              <a:lnSpc>
                <a:spcPct val="100000"/>
              </a:lnSpc>
              <a:buFont typeface="Wingdings" pitchFamily="2" charset="2"/>
              <a:buChar char="Ø"/>
            </a:pPr>
            <a:r>
              <a:rPr lang="es-ES" sz="2600" dirty="0" smtClean="0">
                <a:solidFill>
                  <a:srgbClr val="000000"/>
                </a:solidFill>
                <a:latin typeface="+mj-lt"/>
              </a:rPr>
              <a:t>Ideal </a:t>
            </a:r>
            <a:r>
              <a:rPr lang="es-ES" sz="2600" dirty="0">
                <a:solidFill>
                  <a:srgbClr val="000000"/>
                </a:solidFill>
                <a:latin typeface="+mj-lt"/>
              </a:rPr>
              <a:t>para proyectos con requisitos bien entendidos y estables</a:t>
            </a:r>
            <a:r>
              <a:rPr lang="es-ES" sz="2600" dirty="0" smtClean="0">
                <a:solidFill>
                  <a:srgbClr val="000000"/>
                </a:solidFill>
                <a:latin typeface="+mj-lt"/>
              </a:rPr>
              <a:t>.</a:t>
            </a:r>
            <a:endParaRPr lang="es-ES" sz="2600" dirty="0">
              <a:solidFill>
                <a:srgbClr val="000000"/>
              </a:solidFill>
              <a:latin typeface="+mj-lt"/>
            </a:endParaRPr>
          </a:p>
        </p:txBody>
      </p:sp>
    </p:spTree>
    <p:extLst>
      <p:ext uri="{BB962C8B-B14F-4D97-AF65-F5344CB8AC3E}">
        <p14:creationId xmlns:p14="http://schemas.microsoft.com/office/powerpoint/2010/main" val="519133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br>
              <a:rPr lang="es-ES" dirty="0" smtClean="0"/>
            </a:br>
            <a:r>
              <a:rPr lang="es-ES" dirty="0" smtClean="0"/>
              <a:t>Modelo Cascada</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6"/>
            <a:ext cx="11158883" cy="4017515"/>
          </a:xfrm>
        </p:spPr>
        <p:txBody>
          <a:bodyPr>
            <a:noAutofit/>
          </a:bodyPr>
          <a:lstStyle/>
          <a:p>
            <a:pPr marL="0" indent="0" algn="just">
              <a:lnSpc>
                <a:spcPct val="100000"/>
              </a:lnSpc>
              <a:buNone/>
            </a:pPr>
            <a:r>
              <a:rPr lang="es-ES" sz="2800" b="1" dirty="0" smtClean="0"/>
              <a:t>Ventajas /Desventajas</a:t>
            </a:r>
            <a:endParaRPr lang="es-ES" sz="2600" dirty="0" smtClean="0">
              <a:solidFill>
                <a:srgbClr val="000000"/>
              </a:solidFill>
              <a:latin typeface="+mj-lt"/>
            </a:endParaRPr>
          </a:p>
          <a:p>
            <a:pPr marL="0" indent="0" algn="just">
              <a:lnSpc>
                <a:spcPct val="100000"/>
              </a:lnSpc>
              <a:buNone/>
            </a:pPr>
            <a:r>
              <a:rPr lang="es-ES" sz="2600" dirty="0" smtClean="0">
                <a:solidFill>
                  <a:srgbClr val="000000"/>
                </a:solidFill>
                <a:latin typeface="+mj-lt"/>
              </a:rPr>
              <a:t>Desventajas</a:t>
            </a:r>
            <a:r>
              <a:rPr lang="es-ES" sz="2600" dirty="0">
                <a:solidFill>
                  <a:srgbClr val="000000"/>
                </a:solidFill>
                <a:latin typeface="+mj-lt"/>
              </a:rPr>
              <a:t>:</a:t>
            </a:r>
          </a:p>
          <a:p>
            <a:pPr algn="just">
              <a:lnSpc>
                <a:spcPct val="100000"/>
              </a:lnSpc>
              <a:buFont typeface="Wingdings" pitchFamily="2" charset="2"/>
              <a:buChar char="Ø"/>
            </a:pPr>
            <a:r>
              <a:rPr lang="es-ES" sz="2600" dirty="0" smtClean="0">
                <a:solidFill>
                  <a:srgbClr val="000000"/>
                </a:solidFill>
                <a:latin typeface="+mj-lt"/>
              </a:rPr>
              <a:t>Poco </a:t>
            </a:r>
            <a:r>
              <a:rPr lang="es-ES" sz="2600" dirty="0">
                <a:solidFill>
                  <a:srgbClr val="000000"/>
                </a:solidFill>
                <a:latin typeface="+mj-lt"/>
              </a:rPr>
              <a:t>flexible ante cambios en los requisitos.</a:t>
            </a:r>
          </a:p>
          <a:p>
            <a:pPr algn="just">
              <a:lnSpc>
                <a:spcPct val="100000"/>
              </a:lnSpc>
              <a:buFont typeface="Wingdings" pitchFamily="2" charset="2"/>
              <a:buChar char="Ø"/>
            </a:pPr>
            <a:r>
              <a:rPr lang="es-ES" sz="2600" dirty="0" smtClean="0">
                <a:solidFill>
                  <a:srgbClr val="000000"/>
                </a:solidFill>
                <a:latin typeface="+mj-lt"/>
              </a:rPr>
              <a:t>Puede </a:t>
            </a:r>
            <a:r>
              <a:rPr lang="es-ES" sz="2600" dirty="0">
                <a:solidFill>
                  <a:srgbClr val="000000"/>
                </a:solidFill>
                <a:latin typeface="+mj-lt"/>
              </a:rPr>
              <a:t>llevar a retrasos si se encuentran problemas en fases posteriores.</a:t>
            </a:r>
          </a:p>
          <a:p>
            <a:pPr algn="just">
              <a:lnSpc>
                <a:spcPct val="100000"/>
              </a:lnSpc>
              <a:buFont typeface="Wingdings" pitchFamily="2" charset="2"/>
              <a:buChar char="Ø"/>
            </a:pPr>
            <a:r>
              <a:rPr lang="es-ES" sz="2600" dirty="0" smtClean="0">
                <a:solidFill>
                  <a:srgbClr val="000000"/>
                </a:solidFill>
                <a:latin typeface="+mj-lt"/>
              </a:rPr>
              <a:t>No </a:t>
            </a:r>
            <a:r>
              <a:rPr lang="es-ES" sz="2600" dirty="0">
                <a:solidFill>
                  <a:srgbClr val="000000"/>
                </a:solidFill>
                <a:latin typeface="+mj-lt"/>
              </a:rPr>
              <a:t>permite revisiones frecuentes, lo que puede resultar en un producto final que no cumpla con las expectativas del cliente.</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37612301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Ciclo de Vida del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536713" y="1710187"/>
            <a:ext cx="5538667" cy="4462013"/>
          </a:xfrm>
        </p:spPr>
        <p:txBody>
          <a:bodyPr>
            <a:noAutofit/>
          </a:bodyPr>
          <a:lstStyle/>
          <a:p>
            <a:pPr marL="0" indent="0" algn="just">
              <a:lnSpc>
                <a:spcPct val="100000"/>
              </a:lnSpc>
              <a:buNone/>
            </a:pPr>
            <a:endParaRPr lang="es-ES" sz="2600" i="1" dirty="0" smtClean="0">
              <a:solidFill>
                <a:srgbClr val="000000"/>
              </a:solidFill>
              <a:latin typeface="+mj-lt"/>
            </a:endParaRPr>
          </a:p>
          <a:p>
            <a:pPr marL="0" indent="0" algn="just">
              <a:lnSpc>
                <a:spcPct val="100000"/>
              </a:lnSpc>
              <a:buNone/>
            </a:pPr>
            <a:r>
              <a:rPr lang="es-ES" sz="2600" b="1" dirty="0" smtClean="0">
                <a:solidFill>
                  <a:srgbClr val="000000"/>
                </a:solidFill>
                <a:latin typeface="+mj-lt"/>
              </a:rPr>
              <a:t>Modelo de la espiral</a:t>
            </a:r>
          </a:p>
          <a:p>
            <a:pPr marL="0" indent="0" algn="just">
              <a:lnSpc>
                <a:spcPct val="100000"/>
              </a:lnSpc>
              <a:buNone/>
            </a:pPr>
            <a:r>
              <a:rPr lang="es-ES" sz="2600" dirty="0">
                <a:solidFill>
                  <a:srgbClr val="000000"/>
                </a:solidFill>
                <a:latin typeface="+mj-lt"/>
              </a:rPr>
              <a:t>El modelo en espiral es un enfoque de desarrollo de software que combina elementos del modelo en cascada y del desarrollo iterativo. Se centra en la gestión de riesgos y permite una evolución continua del software a través de ciclos repetidos</a:t>
            </a:r>
          </a:p>
          <a:p>
            <a:pPr marL="0" indent="0" algn="just">
              <a:lnSpc>
                <a:spcPct val="100000"/>
              </a:lnSpc>
              <a:buNone/>
            </a:pPr>
            <a:endParaRPr lang="es-ES" sz="2600" b="1" dirty="0" smtClean="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pic>
        <p:nvPicPr>
          <p:cNvPr id="9" name="8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1043" y="1790700"/>
            <a:ext cx="5243582" cy="4381500"/>
          </a:xfrm>
          <a:prstGeom prst="rect">
            <a:avLst/>
          </a:prstGeom>
        </p:spPr>
      </p:pic>
    </p:spTree>
    <p:extLst>
      <p:ext uri="{BB962C8B-B14F-4D97-AF65-F5344CB8AC3E}">
        <p14:creationId xmlns:p14="http://schemas.microsoft.com/office/powerpoint/2010/main" val="3973596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br>
              <a:rPr lang="es-ES" dirty="0" smtClean="0"/>
            </a:br>
            <a:r>
              <a:rPr lang="es-ES" dirty="0" smtClean="0"/>
              <a:t>Modelo de la espiral</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131813"/>
          </a:xfrm>
        </p:spPr>
        <p:txBody>
          <a:bodyPr>
            <a:noAutofit/>
          </a:bodyPr>
          <a:lstStyle/>
          <a:p>
            <a:pPr marL="0" indent="0" algn="just">
              <a:lnSpc>
                <a:spcPct val="100000"/>
              </a:lnSpc>
              <a:buNone/>
            </a:pPr>
            <a:endParaRPr lang="es-ES" sz="2600" i="1" dirty="0" smtClean="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sp>
        <p:nvSpPr>
          <p:cNvPr id="10" name="Marcador de contenido 2"/>
          <p:cNvSpPr txBox="1">
            <a:spLocks/>
          </p:cNvSpPr>
          <p:nvPr/>
        </p:nvSpPr>
        <p:spPr>
          <a:xfrm>
            <a:off x="1109382" y="1710187"/>
            <a:ext cx="10058400" cy="463981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es-ES" sz="2600" dirty="0">
                <a:solidFill>
                  <a:srgbClr val="000000"/>
                </a:solidFill>
                <a:latin typeface="+mj-lt"/>
              </a:rPr>
              <a:t>Características del Modelo en Espiral</a:t>
            </a:r>
          </a:p>
          <a:p>
            <a:pPr algn="just">
              <a:lnSpc>
                <a:spcPct val="100000"/>
              </a:lnSpc>
              <a:buFont typeface="Wingdings" pitchFamily="2" charset="2"/>
              <a:buChar char="Ø"/>
            </a:pPr>
            <a:r>
              <a:rPr lang="es-ES" sz="2600" dirty="0" smtClean="0">
                <a:solidFill>
                  <a:srgbClr val="000000"/>
                </a:solidFill>
                <a:latin typeface="+mj-lt"/>
              </a:rPr>
              <a:t>Iterativo</a:t>
            </a:r>
            <a:r>
              <a:rPr lang="es-ES" sz="2600" dirty="0">
                <a:solidFill>
                  <a:srgbClr val="000000"/>
                </a:solidFill>
                <a:latin typeface="+mj-lt"/>
              </a:rPr>
              <a:t>: Cada ciclo (o espiral) permite revisiones y mejoras continuas.</a:t>
            </a:r>
          </a:p>
          <a:p>
            <a:pPr algn="just">
              <a:lnSpc>
                <a:spcPct val="100000"/>
              </a:lnSpc>
              <a:buFont typeface="Wingdings" pitchFamily="2" charset="2"/>
              <a:buChar char="Ø"/>
            </a:pPr>
            <a:endParaRPr lang="es-ES" sz="2600" dirty="0">
              <a:solidFill>
                <a:srgbClr val="000000"/>
              </a:solidFill>
              <a:latin typeface="+mj-lt"/>
            </a:endParaRPr>
          </a:p>
          <a:p>
            <a:pPr algn="just">
              <a:lnSpc>
                <a:spcPct val="100000"/>
              </a:lnSpc>
              <a:buFont typeface="Wingdings" pitchFamily="2" charset="2"/>
              <a:buChar char="Ø"/>
            </a:pPr>
            <a:r>
              <a:rPr lang="es-ES" sz="2600" dirty="0" smtClean="0">
                <a:solidFill>
                  <a:srgbClr val="000000"/>
                </a:solidFill>
                <a:latin typeface="+mj-lt"/>
              </a:rPr>
              <a:t>Enfoque </a:t>
            </a:r>
            <a:r>
              <a:rPr lang="es-ES" sz="2600" dirty="0">
                <a:solidFill>
                  <a:srgbClr val="000000"/>
                </a:solidFill>
                <a:latin typeface="+mj-lt"/>
              </a:rPr>
              <a:t>en Riesgos: La gestión de riesgos es un componente clave, lo que ayuda a mitigar problemas antes de que se conviertan en obstáculos significativos.</a:t>
            </a:r>
          </a:p>
          <a:p>
            <a:pPr algn="just">
              <a:lnSpc>
                <a:spcPct val="100000"/>
              </a:lnSpc>
              <a:buFont typeface="Wingdings" pitchFamily="2" charset="2"/>
              <a:buChar char="Ø"/>
            </a:pPr>
            <a:endParaRPr lang="es-ES" sz="2600" dirty="0">
              <a:solidFill>
                <a:srgbClr val="000000"/>
              </a:solidFill>
              <a:latin typeface="+mj-lt"/>
            </a:endParaRPr>
          </a:p>
          <a:p>
            <a:pPr algn="just">
              <a:lnSpc>
                <a:spcPct val="100000"/>
              </a:lnSpc>
              <a:buFont typeface="Wingdings" pitchFamily="2" charset="2"/>
              <a:buChar char="Ø"/>
            </a:pPr>
            <a:r>
              <a:rPr lang="es-ES" sz="2600" dirty="0" smtClean="0">
                <a:solidFill>
                  <a:srgbClr val="000000"/>
                </a:solidFill>
                <a:latin typeface="+mj-lt"/>
              </a:rPr>
              <a:t>Flexibilidad</a:t>
            </a:r>
            <a:r>
              <a:rPr lang="es-ES" sz="2600" dirty="0">
                <a:solidFill>
                  <a:srgbClr val="000000"/>
                </a:solidFill>
                <a:latin typeface="+mj-lt"/>
              </a:rPr>
              <a:t>: Permite adaptarse a cambios en los requisitos y a la evolución del proyecto.</a:t>
            </a:r>
          </a:p>
          <a:p>
            <a:pPr marL="0" indent="7938" algn="just">
              <a:lnSpc>
                <a:spcPct val="100000"/>
              </a:lnSpc>
              <a:buFont typeface="Calibri" panose="020F0502020204030204" pitchFamily="34" charset="0"/>
              <a:buNone/>
            </a:pPr>
            <a:endParaRPr lang="es-ES_tradnl" sz="2600" dirty="0">
              <a:solidFill>
                <a:srgbClr val="000000"/>
              </a:solidFill>
              <a:latin typeface="+mj-lt"/>
            </a:endParaRPr>
          </a:p>
        </p:txBody>
      </p:sp>
    </p:spTree>
    <p:extLst>
      <p:ext uri="{BB962C8B-B14F-4D97-AF65-F5344CB8AC3E}">
        <p14:creationId xmlns:p14="http://schemas.microsoft.com/office/powerpoint/2010/main" val="25641859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br>
              <a:rPr lang="es-ES" dirty="0" smtClean="0"/>
            </a:br>
            <a:r>
              <a:rPr lang="es-ES" dirty="0" smtClean="0"/>
              <a:t>Modelo de la espiral</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131813"/>
          </a:xfrm>
        </p:spPr>
        <p:txBody>
          <a:bodyPr>
            <a:noAutofit/>
          </a:bodyPr>
          <a:lstStyle/>
          <a:p>
            <a:pPr marL="0" indent="0" algn="just">
              <a:lnSpc>
                <a:spcPct val="100000"/>
              </a:lnSpc>
              <a:buNone/>
            </a:pPr>
            <a:endParaRPr lang="es-ES" sz="2600" i="1" dirty="0" smtClean="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sp>
        <p:nvSpPr>
          <p:cNvPr id="10" name="Marcador de contenido 2"/>
          <p:cNvSpPr txBox="1">
            <a:spLocks/>
          </p:cNvSpPr>
          <p:nvPr/>
        </p:nvSpPr>
        <p:spPr>
          <a:xfrm>
            <a:off x="1109382" y="1710187"/>
            <a:ext cx="10058400" cy="463981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es-ES" sz="2600" dirty="0" smtClean="0">
                <a:solidFill>
                  <a:srgbClr val="000000"/>
                </a:solidFill>
                <a:latin typeface="+mj-lt"/>
              </a:rPr>
              <a:t>Ventajas</a:t>
            </a:r>
            <a:endParaRPr lang="es-ES" sz="2600" dirty="0">
              <a:solidFill>
                <a:srgbClr val="000000"/>
              </a:solidFill>
              <a:latin typeface="+mj-lt"/>
            </a:endParaRPr>
          </a:p>
          <a:p>
            <a:pPr algn="just">
              <a:lnSpc>
                <a:spcPct val="100000"/>
              </a:lnSpc>
              <a:buFont typeface="Wingdings" pitchFamily="2" charset="2"/>
              <a:buChar char="Ø"/>
            </a:pPr>
            <a:r>
              <a:rPr lang="es-ES" sz="2600" dirty="0" smtClean="0">
                <a:solidFill>
                  <a:srgbClr val="000000"/>
                </a:solidFill>
                <a:latin typeface="+mj-lt"/>
              </a:rPr>
              <a:t>Reducción </a:t>
            </a:r>
            <a:r>
              <a:rPr lang="es-ES" sz="2600" dirty="0">
                <a:solidFill>
                  <a:srgbClr val="000000"/>
                </a:solidFill>
                <a:latin typeface="+mj-lt"/>
              </a:rPr>
              <a:t>de Riesgos: La identificación temprana de riesgos ayuda a evitar problemas costosos más adelante.</a:t>
            </a:r>
          </a:p>
          <a:p>
            <a:pPr algn="just">
              <a:lnSpc>
                <a:spcPct val="100000"/>
              </a:lnSpc>
              <a:buFont typeface="Wingdings" pitchFamily="2" charset="2"/>
              <a:buChar char="Ø"/>
            </a:pPr>
            <a:r>
              <a:rPr lang="es-ES" sz="2600" dirty="0" err="1" smtClean="0">
                <a:solidFill>
                  <a:srgbClr val="000000"/>
                </a:solidFill>
                <a:latin typeface="+mj-lt"/>
              </a:rPr>
              <a:t>Feedback</a:t>
            </a:r>
            <a:r>
              <a:rPr lang="es-ES" sz="2600" dirty="0" smtClean="0">
                <a:solidFill>
                  <a:srgbClr val="000000"/>
                </a:solidFill>
                <a:latin typeface="+mj-lt"/>
              </a:rPr>
              <a:t> </a:t>
            </a:r>
            <a:r>
              <a:rPr lang="es-ES" sz="2600" dirty="0">
                <a:solidFill>
                  <a:srgbClr val="000000"/>
                </a:solidFill>
                <a:latin typeface="+mj-lt"/>
              </a:rPr>
              <a:t>Continuo: La participación del cliente en cada ciclo asegura que el producto final cumpla con sus expectativas.</a:t>
            </a:r>
          </a:p>
          <a:p>
            <a:pPr algn="just">
              <a:lnSpc>
                <a:spcPct val="100000"/>
              </a:lnSpc>
              <a:buFont typeface="Wingdings" pitchFamily="2" charset="2"/>
              <a:buChar char="Ø"/>
            </a:pPr>
            <a:r>
              <a:rPr lang="es-ES" sz="2600" dirty="0" smtClean="0">
                <a:solidFill>
                  <a:srgbClr val="000000"/>
                </a:solidFill>
                <a:latin typeface="+mj-lt"/>
              </a:rPr>
              <a:t>Mejora </a:t>
            </a:r>
            <a:r>
              <a:rPr lang="es-ES" sz="2600" dirty="0">
                <a:solidFill>
                  <a:srgbClr val="000000"/>
                </a:solidFill>
                <a:latin typeface="+mj-lt"/>
              </a:rPr>
              <a:t>Continua: La naturaleza iterativa permite mejorar el producto a lo largo del tiempo.</a:t>
            </a:r>
          </a:p>
          <a:p>
            <a:pPr marL="0" indent="7938" algn="just">
              <a:lnSpc>
                <a:spcPct val="100000"/>
              </a:lnSpc>
              <a:buFont typeface="Calibri" panose="020F0502020204030204" pitchFamily="34" charset="0"/>
              <a:buNone/>
            </a:pPr>
            <a:endParaRPr lang="es-ES_tradnl" sz="2600" dirty="0">
              <a:solidFill>
                <a:srgbClr val="000000"/>
              </a:solidFill>
              <a:latin typeface="+mj-lt"/>
            </a:endParaRPr>
          </a:p>
        </p:txBody>
      </p:sp>
    </p:spTree>
    <p:extLst>
      <p:ext uri="{BB962C8B-B14F-4D97-AF65-F5344CB8AC3E}">
        <p14:creationId xmlns:p14="http://schemas.microsoft.com/office/powerpoint/2010/main" val="30160946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br>
              <a:rPr lang="es-ES" dirty="0" smtClean="0"/>
            </a:br>
            <a:r>
              <a:rPr lang="es-ES" dirty="0" smtClean="0"/>
              <a:t>Modelo de la espiral</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131813"/>
          </a:xfrm>
        </p:spPr>
        <p:txBody>
          <a:bodyPr>
            <a:noAutofit/>
          </a:bodyPr>
          <a:lstStyle/>
          <a:p>
            <a:pPr marL="0" indent="0" algn="just">
              <a:lnSpc>
                <a:spcPct val="100000"/>
              </a:lnSpc>
              <a:buNone/>
            </a:pPr>
            <a:endParaRPr lang="es-ES" sz="2600" i="1" dirty="0" smtClean="0">
              <a:solidFill>
                <a:srgbClr val="000000"/>
              </a:solidFill>
              <a:latin typeface="+mj-lt"/>
            </a:endParaRPr>
          </a:p>
          <a:p>
            <a:pPr marL="0" indent="7938" algn="just">
              <a:lnSpc>
                <a:spcPct val="100000"/>
              </a:lnSpc>
              <a:buNone/>
            </a:pPr>
            <a:endParaRPr lang="es-ES_tradnl" sz="2600" dirty="0">
              <a:solidFill>
                <a:srgbClr val="000000"/>
              </a:solidFill>
              <a:latin typeface="+mj-lt"/>
            </a:endParaRPr>
          </a:p>
        </p:txBody>
      </p:sp>
      <p:sp>
        <p:nvSpPr>
          <p:cNvPr id="10" name="Marcador de contenido 2"/>
          <p:cNvSpPr txBox="1">
            <a:spLocks/>
          </p:cNvSpPr>
          <p:nvPr/>
        </p:nvSpPr>
        <p:spPr>
          <a:xfrm>
            <a:off x="1109382" y="1710187"/>
            <a:ext cx="10058400" cy="463981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es-ES" sz="2600" dirty="0" smtClean="0">
                <a:solidFill>
                  <a:srgbClr val="000000"/>
                </a:solidFill>
                <a:latin typeface="+mj-lt"/>
              </a:rPr>
              <a:t>Desventajas</a:t>
            </a:r>
            <a:endParaRPr lang="es-ES" sz="2600" dirty="0">
              <a:solidFill>
                <a:srgbClr val="000000"/>
              </a:solidFill>
              <a:latin typeface="+mj-lt"/>
            </a:endParaRPr>
          </a:p>
          <a:p>
            <a:pPr algn="just">
              <a:lnSpc>
                <a:spcPct val="100000"/>
              </a:lnSpc>
              <a:buFont typeface="Wingdings" pitchFamily="2" charset="2"/>
              <a:buChar char="Ø"/>
            </a:pPr>
            <a:r>
              <a:rPr lang="es-ES" sz="2600" dirty="0" smtClean="0">
                <a:solidFill>
                  <a:srgbClr val="000000"/>
                </a:solidFill>
                <a:latin typeface="+mj-lt"/>
              </a:rPr>
              <a:t>Complejidad</a:t>
            </a:r>
            <a:r>
              <a:rPr lang="es-ES" sz="2600" dirty="0">
                <a:solidFill>
                  <a:srgbClr val="000000"/>
                </a:solidFill>
                <a:latin typeface="+mj-lt"/>
              </a:rPr>
              <a:t>: La gestión de múltiples ciclos puede ser más compleja que otros modelos.</a:t>
            </a:r>
          </a:p>
          <a:p>
            <a:pPr algn="just">
              <a:lnSpc>
                <a:spcPct val="100000"/>
              </a:lnSpc>
              <a:buFont typeface="Wingdings" pitchFamily="2" charset="2"/>
              <a:buChar char="Ø"/>
            </a:pPr>
            <a:r>
              <a:rPr lang="es-ES" sz="2600" dirty="0" smtClean="0">
                <a:solidFill>
                  <a:srgbClr val="000000"/>
                </a:solidFill>
                <a:latin typeface="+mj-lt"/>
              </a:rPr>
              <a:t>Costo</a:t>
            </a:r>
            <a:r>
              <a:rPr lang="es-ES" sz="2600" dirty="0">
                <a:solidFill>
                  <a:srgbClr val="000000"/>
                </a:solidFill>
                <a:latin typeface="+mj-lt"/>
              </a:rPr>
              <a:t>: Puede ser costoso debido a la necesidad de realizar múltiples evaluaciones y ajustes.</a:t>
            </a:r>
          </a:p>
          <a:p>
            <a:pPr algn="just">
              <a:lnSpc>
                <a:spcPct val="100000"/>
              </a:lnSpc>
              <a:buFont typeface="Wingdings" pitchFamily="2" charset="2"/>
              <a:buChar char="Ø"/>
            </a:pPr>
            <a:r>
              <a:rPr lang="es-ES" sz="2600" dirty="0" smtClean="0">
                <a:solidFill>
                  <a:srgbClr val="000000"/>
                </a:solidFill>
                <a:latin typeface="+mj-lt"/>
              </a:rPr>
              <a:t>Requiere </a:t>
            </a:r>
            <a:r>
              <a:rPr lang="es-ES" sz="2600" dirty="0">
                <a:solidFill>
                  <a:srgbClr val="000000"/>
                </a:solidFill>
                <a:latin typeface="+mj-lt"/>
              </a:rPr>
              <a:t>Experiencia: Un equipo experimentado es necesario para gestionar adecuadamente los riesgos y las iteraciones.</a:t>
            </a:r>
          </a:p>
          <a:p>
            <a:pPr marL="0" indent="0" algn="just">
              <a:lnSpc>
                <a:spcPct val="100000"/>
              </a:lnSpc>
              <a:buNone/>
            </a:pPr>
            <a:endParaRPr lang="es-ES" sz="2600" dirty="0">
              <a:solidFill>
                <a:srgbClr val="000000"/>
              </a:solidFill>
              <a:latin typeface="+mj-lt"/>
            </a:endParaRPr>
          </a:p>
          <a:p>
            <a:pPr marL="0" indent="7938" algn="just">
              <a:lnSpc>
                <a:spcPct val="100000"/>
              </a:lnSpc>
              <a:buFont typeface="Calibri" panose="020F0502020204030204" pitchFamily="34" charset="0"/>
              <a:buNone/>
            </a:pPr>
            <a:endParaRPr lang="es-ES_tradnl" sz="2600" dirty="0">
              <a:solidFill>
                <a:srgbClr val="000000"/>
              </a:solidFill>
              <a:latin typeface="+mj-lt"/>
            </a:endParaRPr>
          </a:p>
        </p:txBody>
      </p:sp>
    </p:spTree>
    <p:extLst>
      <p:ext uri="{BB962C8B-B14F-4D97-AF65-F5344CB8AC3E}">
        <p14:creationId xmlns:p14="http://schemas.microsoft.com/office/powerpoint/2010/main" val="23693999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r>
              <a:rPr lang="es-ES" dirty="0"/>
              <a:t/>
            </a:r>
            <a:br>
              <a:rPr lang="es-ES" dirty="0"/>
            </a:br>
            <a:r>
              <a:rPr lang="es-ES" dirty="0"/>
              <a:t>Etapa de Análisis </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marL="0" indent="0" algn="just">
              <a:lnSpc>
                <a:spcPct val="100000"/>
              </a:lnSpc>
              <a:buNone/>
            </a:pPr>
            <a:r>
              <a:rPr lang="es-ES" sz="2600" dirty="0" smtClean="0">
                <a:solidFill>
                  <a:srgbClr val="000000"/>
                </a:solidFill>
                <a:latin typeface="+mj-lt"/>
              </a:rPr>
              <a:t>Esta </a:t>
            </a:r>
            <a:r>
              <a:rPr lang="es-ES" sz="2600" dirty="0">
                <a:solidFill>
                  <a:srgbClr val="000000"/>
                </a:solidFill>
                <a:latin typeface="+mj-lt"/>
              </a:rPr>
              <a:t>etapa es donde se intenta comprender </a:t>
            </a:r>
            <a:r>
              <a:rPr lang="es-ES" sz="2600" b="1" dirty="0">
                <a:solidFill>
                  <a:srgbClr val="000000"/>
                </a:solidFill>
                <a:latin typeface="+mj-lt"/>
              </a:rPr>
              <a:t>QUE</a:t>
            </a:r>
            <a:r>
              <a:rPr lang="es-ES" sz="2600" dirty="0">
                <a:solidFill>
                  <a:srgbClr val="000000"/>
                </a:solidFill>
                <a:latin typeface="+mj-lt"/>
              </a:rPr>
              <a:t> debe hacerse. Puede dividirse en:</a:t>
            </a:r>
          </a:p>
          <a:p>
            <a:pPr algn="just">
              <a:lnSpc>
                <a:spcPct val="100000"/>
              </a:lnSpc>
              <a:buFont typeface="Wingdings" pitchFamily="2" charset="2"/>
              <a:buChar char="Ø"/>
            </a:pPr>
            <a:r>
              <a:rPr lang="es-ES" sz="2600" b="1" dirty="0" smtClean="0">
                <a:solidFill>
                  <a:srgbClr val="000000"/>
                </a:solidFill>
                <a:latin typeface="+mj-lt"/>
              </a:rPr>
              <a:t>Estudio </a:t>
            </a:r>
            <a:r>
              <a:rPr lang="es-ES" sz="2600" b="1" dirty="0">
                <a:solidFill>
                  <a:srgbClr val="000000"/>
                </a:solidFill>
                <a:latin typeface="+mj-lt"/>
              </a:rPr>
              <a:t>de factibilidad</a:t>
            </a:r>
            <a:r>
              <a:rPr lang="es-ES" sz="2600" dirty="0">
                <a:solidFill>
                  <a:srgbClr val="000000"/>
                </a:solidFill>
                <a:latin typeface="+mj-lt"/>
              </a:rPr>
              <a:t>: es o no factible la construcción del software en el marco de la organización que lo enfrenta</a:t>
            </a:r>
          </a:p>
          <a:p>
            <a:pPr algn="just">
              <a:lnSpc>
                <a:spcPct val="100000"/>
              </a:lnSpc>
              <a:buFont typeface="Wingdings" pitchFamily="2" charset="2"/>
              <a:buChar char="Ø"/>
            </a:pPr>
            <a:r>
              <a:rPr lang="es-ES" sz="2600" b="1" dirty="0" smtClean="0">
                <a:solidFill>
                  <a:srgbClr val="000000"/>
                </a:solidFill>
                <a:latin typeface="+mj-lt"/>
              </a:rPr>
              <a:t>Análisis </a:t>
            </a:r>
            <a:r>
              <a:rPr lang="es-ES" sz="2600" b="1" dirty="0">
                <a:solidFill>
                  <a:srgbClr val="000000"/>
                </a:solidFill>
                <a:latin typeface="+mj-lt"/>
              </a:rPr>
              <a:t>de los requerimientos</a:t>
            </a:r>
            <a:r>
              <a:rPr lang="es-ES" sz="2600" dirty="0">
                <a:solidFill>
                  <a:srgbClr val="000000"/>
                </a:solidFill>
                <a:latin typeface="+mj-lt"/>
              </a:rPr>
              <a:t>: interacción con el </a:t>
            </a:r>
            <a:r>
              <a:rPr lang="es-ES" sz="2600" dirty="0" smtClean="0">
                <a:solidFill>
                  <a:srgbClr val="000000"/>
                </a:solidFill>
                <a:latin typeface="+mj-lt"/>
              </a:rPr>
              <a:t>cliente /usuario </a:t>
            </a:r>
            <a:r>
              <a:rPr lang="es-ES" sz="2600" dirty="0">
                <a:solidFill>
                  <a:srgbClr val="000000"/>
                </a:solidFill>
                <a:latin typeface="+mj-lt"/>
              </a:rPr>
              <a:t>para determinar con precisión </a:t>
            </a:r>
            <a:r>
              <a:rPr lang="es-ES" sz="2600" b="1" dirty="0">
                <a:solidFill>
                  <a:srgbClr val="000000"/>
                </a:solidFill>
                <a:latin typeface="+mj-lt"/>
              </a:rPr>
              <a:t>QUE</a:t>
            </a:r>
            <a:r>
              <a:rPr lang="es-ES" sz="2600" dirty="0">
                <a:solidFill>
                  <a:srgbClr val="000000"/>
                </a:solidFill>
                <a:latin typeface="+mj-lt"/>
              </a:rPr>
              <a:t> desea que el sistema realice</a:t>
            </a:r>
          </a:p>
          <a:p>
            <a:pPr algn="just">
              <a:lnSpc>
                <a:spcPct val="100000"/>
              </a:lnSpc>
              <a:buFont typeface="Wingdings" pitchFamily="2" charset="2"/>
              <a:buChar char="Ø"/>
            </a:pPr>
            <a:r>
              <a:rPr lang="es-ES" sz="2600" b="1" dirty="0" smtClean="0">
                <a:solidFill>
                  <a:srgbClr val="000000"/>
                </a:solidFill>
                <a:latin typeface="+mj-lt"/>
              </a:rPr>
              <a:t>Definición </a:t>
            </a:r>
            <a:r>
              <a:rPr lang="es-ES" sz="2600" b="1" dirty="0">
                <a:solidFill>
                  <a:srgbClr val="000000"/>
                </a:solidFill>
                <a:latin typeface="+mj-lt"/>
              </a:rPr>
              <a:t>o especificación de los requerimientos</a:t>
            </a:r>
            <a:r>
              <a:rPr lang="es-ES" sz="2600" dirty="0">
                <a:solidFill>
                  <a:srgbClr val="000000"/>
                </a:solidFill>
                <a:latin typeface="+mj-lt"/>
              </a:rPr>
              <a:t>: definición lo mas precisa posible de los servicios que el sistema brinda, las restricciones que este impone a estos servicios, así como estudio de las entidades externas al sistema y las relaciones (interfaces) con estas</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14174578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r>
              <a:rPr lang="es-ES" dirty="0"/>
              <a:t/>
            </a:r>
            <a:br>
              <a:rPr lang="es-ES" dirty="0"/>
            </a:br>
            <a:r>
              <a:rPr lang="es-ES" dirty="0"/>
              <a:t>Etapa de Diseño</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marL="0" indent="7938" algn="just">
              <a:lnSpc>
                <a:spcPct val="100000"/>
              </a:lnSpc>
              <a:buNone/>
            </a:pPr>
            <a:r>
              <a:rPr lang="es-ES" sz="2600" dirty="0">
                <a:solidFill>
                  <a:srgbClr val="000000"/>
                </a:solidFill>
                <a:latin typeface="+mj-lt"/>
              </a:rPr>
              <a:t>Es el momento en el que se determina </a:t>
            </a:r>
            <a:r>
              <a:rPr lang="es-ES" sz="2600" b="1" dirty="0">
                <a:solidFill>
                  <a:srgbClr val="000000"/>
                </a:solidFill>
                <a:latin typeface="+mj-lt"/>
              </a:rPr>
              <a:t>COMO</a:t>
            </a:r>
            <a:r>
              <a:rPr lang="es-ES" sz="2600" dirty="0">
                <a:solidFill>
                  <a:srgbClr val="000000"/>
                </a:solidFill>
                <a:latin typeface="+mj-lt"/>
              </a:rPr>
              <a:t> serán satisfechos los requerimientos.</a:t>
            </a:r>
          </a:p>
          <a:p>
            <a:pPr marL="0" indent="7938" algn="just">
              <a:lnSpc>
                <a:spcPct val="100000"/>
              </a:lnSpc>
              <a:buNone/>
            </a:pPr>
            <a:endParaRPr lang="es-ES" sz="2600" dirty="0">
              <a:solidFill>
                <a:srgbClr val="000000"/>
              </a:solidFill>
              <a:latin typeface="+mj-lt"/>
            </a:endParaRPr>
          </a:p>
          <a:p>
            <a:pPr marL="0" indent="7938" algn="just">
              <a:lnSpc>
                <a:spcPct val="100000"/>
              </a:lnSpc>
              <a:buNone/>
            </a:pPr>
            <a:r>
              <a:rPr lang="es-ES" sz="2600" dirty="0">
                <a:solidFill>
                  <a:srgbClr val="000000"/>
                </a:solidFill>
                <a:latin typeface="+mj-lt"/>
              </a:rPr>
              <a:t>Generalmente se divide en dos partes:</a:t>
            </a:r>
          </a:p>
          <a:p>
            <a:pPr algn="just">
              <a:lnSpc>
                <a:spcPct val="100000"/>
              </a:lnSpc>
              <a:buFont typeface="Wingdings" pitchFamily="2" charset="2"/>
              <a:buChar char="Ø"/>
            </a:pPr>
            <a:r>
              <a:rPr lang="es-ES" sz="2600" dirty="0">
                <a:solidFill>
                  <a:srgbClr val="000000"/>
                </a:solidFill>
                <a:latin typeface="+mj-lt"/>
              </a:rPr>
              <a:t> </a:t>
            </a:r>
            <a:r>
              <a:rPr lang="es-ES" sz="2600" dirty="0" smtClean="0">
                <a:solidFill>
                  <a:srgbClr val="000000"/>
                </a:solidFill>
                <a:latin typeface="+mj-lt"/>
              </a:rPr>
              <a:t>Diseño </a:t>
            </a:r>
            <a:r>
              <a:rPr lang="es-ES" sz="2600" dirty="0">
                <a:solidFill>
                  <a:srgbClr val="000000"/>
                </a:solidFill>
                <a:latin typeface="+mj-lt"/>
              </a:rPr>
              <a:t>estructural o de alto nivel</a:t>
            </a:r>
          </a:p>
          <a:p>
            <a:pPr algn="just">
              <a:lnSpc>
                <a:spcPct val="100000"/>
              </a:lnSpc>
              <a:buFont typeface="Wingdings" pitchFamily="2" charset="2"/>
              <a:buChar char="Ø"/>
            </a:pPr>
            <a:r>
              <a:rPr lang="es-ES" sz="2600" dirty="0">
                <a:solidFill>
                  <a:srgbClr val="000000"/>
                </a:solidFill>
                <a:latin typeface="+mj-lt"/>
              </a:rPr>
              <a:t> </a:t>
            </a:r>
            <a:r>
              <a:rPr lang="es-ES" sz="2600" dirty="0" smtClean="0">
                <a:solidFill>
                  <a:srgbClr val="000000"/>
                </a:solidFill>
                <a:latin typeface="+mj-lt"/>
              </a:rPr>
              <a:t>Diseño </a:t>
            </a:r>
            <a:r>
              <a:rPr lang="es-ES" sz="2600" dirty="0">
                <a:solidFill>
                  <a:srgbClr val="000000"/>
                </a:solidFill>
                <a:latin typeface="+mj-lt"/>
              </a:rPr>
              <a:t>detallado</a:t>
            </a:r>
          </a:p>
          <a:p>
            <a:pPr marL="0" indent="7938" algn="just">
              <a:lnSpc>
                <a:spcPct val="100000"/>
              </a:lnSpc>
              <a:buNone/>
            </a:pPr>
            <a:endParaRPr lang="es-ES" sz="2600" dirty="0">
              <a:solidFill>
                <a:srgbClr val="000000"/>
              </a:solidFill>
              <a:latin typeface="+mj-lt"/>
            </a:endParaRPr>
          </a:p>
          <a:p>
            <a:pPr marL="0" indent="7938" algn="just">
              <a:lnSpc>
                <a:spcPct val="100000"/>
              </a:lnSpc>
              <a:buNone/>
            </a:pPr>
            <a:r>
              <a:rPr lang="es-ES" sz="2600" dirty="0">
                <a:solidFill>
                  <a:srgbClr val="000000"/>
                </a:solidFill>
                <a:latin typeface="+mj-lt"/>
              </a:rPr>
              <a:t>Consiste en detallar </a:t>
            </a:r>
            <a:r>
              <a:rPr lang="es-ES" sz="2600" b="1" dirty="0">
                <a:solidFill>
                  <a:srgbClr val="000000"/>
                </a:solidFill>
                <a:latin typeface="+mj-lt"/>
              </a:rPr>
              <a:t>COMO</a:t>
            </a:r>
            <a:r>
              <a:rPr lang="es-ES" sz="2600" dirty="0">
                <a:solidFill>
                  <a:srgbClr val="000000"/>
                </a:solidFill>
                <a:latin typeface="+mj-lt"/>
              </a:rPr>
              <a:t> hacer lo especificado en el análisis (</a:t>
            </a:r>
            <a:r>
              <a:rPr lang="es-ES" sz="2600" b="1" dirty="0">
                <a:solidFill>
                  <a:srgbClr val="000000"/>
                </a:solidFill>
                <a:latin typeface="+mj-lt"/>
              </a:rPr>
              <a:t>QUE</a:t>
            </a:r>
            <a:r>
              <a:rPr lang="es-ES" sz="2600" dirty="0">
                <a:solidFill>
                  <a:srgbClr val="000000"/>
                </a:solidFill>
                <a:latin typeface="+mj-lt"/>
              </a:rPr>
              <a:t>)</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18677976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Ciclo de Vida del </a:t>
            </a:r>
            <a:r>
              <a:rPr lang="es-ES" dirty="0" smtClean="0"/>
              <a:t>Software</a:t>
            </a:r>
            <a:r>
              <a:rPr lang="es-ES" dirty="0"/>
              <a:t/>
            </a:r>
            <a:br>
              <a:rPr lang="es-ES" dirty="0"/>
            </a:br>
            <a:r>
              <a:rPr lang="es-ES" dirty="0"/>
              <a:t>Los métodos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marL="0" indent="7938" algn="just">
              <a:lnSpc>
                <a:spcPct val="100000"/>
              </a:lnSpc>
              <a:buNone/>
            </a:pPr>
            <a:r>
              <a:rPr lang="es-ES" sz="2600" dirty="0">
                <a:solidFill>
                  <a:srgbClr val="000000"/>
                </a:solidFill>
                <a:latin typeface="+mj-lt"/>
              </a:rPr>
              <a:t>Todo proceso productivo requiere de criterios organizativos y ciertos principios para su ejecución, por lo que conocer y comprender los métodos que se usan extensivamente en la industria del software es de mucha </a:t>
            </a:r>
            <a:r>
              <a:rPr lang="es-ES" sz="2600" dirty="0" smtClean="0">
                <a:solidFill>
                  <a:srgbClr val="000000"/>
                </a:solidFill>
                <a:latin typeface="+mj-lt"/>
              </a:rPr>
              <a:t>utilidad</a:t>
            </a:r>
          </a:p>
          <a:p>
            <a:pPr marL="0" indent="7938" algn="just">
              <a:lnSpc>
                <a:spcPct val="100000"/>
              </a:lnSpc>
              <a:buNone/>
            </a:pPr>
            <a:endParaRPr lang="es-ES" sz="2600" dirty="0">
              <a:solidFill>
                <a:srgbClr val="000000"/>
              </a:solidFill>
              <a:latin typeface="+mj-lt"/>
            </a:endParaRPr>
          </a:p>
          <a:p>
            <a:pPr marL="0" indent="7938" algn="just">
              <a:lnSpc>
                <a:spcPct val="100000"/>
              </a:lnSpc>
              <a:buNone/>
            </a:pPr>
            <a:r>
              <a:rPr lang="es-ES" sz="2600" i="1" dirty="0">
                <a:solidFill>
                  <a:srgbClr val="000000"/>
                </a:solidFill>
                <a:latin typeface="+mj-lt"/>
              </a:rPr>
              <a:t>Aclaración! El término Metodología se usa (y se abusa) comúnmente en la comunidad de IS para denotar métodos. Según Larousse método es un modo de decir o hacer una cosa con orden y según ciertos principios, mientras que metodología es la ciencia que estudia los métodos  (Larousse)</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5134526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¿Qué es Administración de Proyectos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marL="0" indent="7938" algn="just">
              <a:lnSpc>
                <a:spcPct val="150000"/>
              </a:lnSpc>
              <a:buNone/>
            </a:pPr>
            <a:r>
              <a:rPr lang="es-ES" sz="2600" dirty="0">
                <a:solidFill>
                  <a:srgbClr val="000000"/>
                </a:solidFill>
                <a:latin typeface="+mj-lt"/>
              </a:rPr>
              <a:t>La Administración de Proyectos de Software es el proceso de planificar, organizar, dirigir y controlar los recursos y actividades necesarios para desarrollar un software de manera efectiva y eficiente. Implica la aplicación de conocimientos, habilidades, herramientas y técnicas a las actividades del proyecto para cumplir con los requisitos y objetivos establecidos.</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4513710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¿Qué es Administración de Proyectos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980" y="1848678"/>
            <a:ext cx="10387385" cy="4452731"/>
          </a:xfrm>
          <a:prstGeom prst="rect">
            <a:avLst/>
          </a:prstGeom>
        </p:spPr>
      </p:pic>
    </p:spTree>
    <p:extLst>
      <p:ext uri="{BB962C8B-B14F-4D97-AF65-F5344CB8AC3E}">
        <p14:creationId xmlns:p14="http://schemas.microsoft.com/office/powerpoint/2010/main" val="5034389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¿Qué es Administración de Proyectos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marL="0" indent="7938" algn="just">
              <a:lnSpc>
                <a:spcPct val="100000"/>
              </a:lnSpc>
              <a:buNone/>
            </a:pPr>
            <a:r>
              <a:rPr lang="es-ES" sz="2600" dirty="0">
                <a:solidFill>
                  <a:srgbClr val="000000"/>
                </a:solidFill>
                <a:latin typeface="+mj-lt"/>
              </a:rPr>
              <a:t>Es la encargada de responder a preguntas como:</a:t>
            </a:r>
          </a:p>
          <a:p>
            <a:pPr algn="just">
              <a:lnSpc>
                <a:spcPct val="150000"/>
              </a:lnSpc>
              <a:buFont typeface="Wingdings" pitchFamily="2" charset="2"/>
              <a:buChar char="Ø"/>
            </a:pPr>
            <a:r>
              <a:rPr lang="es-ES" sz="2600" dirty="0">
                <a:solidFill>
                  <a:srgbClr val="000000"/>
                </a:solidFill>
                <a:latin typeface="+mj-lt"/>
              </a:rPr>
              <a:t>¿Qué documentos deben generarse y utilizarse en el desarrollo de un proyecto de software?</a:t>
            </a:r>
          </a:p>
          <a:p>
            <a:pPr algn="just">
              <a:lnSpc>
                <a:spcPct val="150000"/>
              </a:lnSpc>
              <a:buFont typeface="Wingdings" pitchFamily="2" charset="2"/>
              <a:buChar char="Ø"/>
            </a:pPr>
            <a:r>
              <a:rPr lang="es-ES" sz="2600" dirty="0">
                <a:solidFill>
                  <a:srgbClr val="000000"/>
                </a:solidFill>
                <a:latin typeface="+mj-lt"/>
              </a:rPr>
              <a:t>¿En qué momentos?</a:t>
            </a:r>
          </a:p>
          <a:p>
            <a:pPr algn="just">
              <a:lnSpc>
                <a:spcPct val="150000"/>
              </a:lnSpc>
              <a:buFont typeface="Wingdings" pitchFamily="2" charset="2"/>
              <a:buChar char="Ø"/>
            </a:pPr>
            <a:r>
              <a:rPr lang="es-ES" sz="2600" dirty="0">
                <a:solidFill>
                  <a:srgbClr val="000000"/>
                </a:solidFill>
                <a:latin typeface="+mj-lt"/>
              </a:rPr>
              <a:t>¿Cuáles son los puntos críticos y cuando controlar el avance?</a:t>
            </a:r>
          </a:p>
          <a:p>
            <a:pPr algn="just">
              <a:lnSpc>
                <a:spcPct val="150000"/>
              </a:lnSpc>
              <a:buFont typeface="Wingdings" pitchFamily="2" charset="2"/>
              <a:buChar char="Ø"/>
            </a:pPr>
            <a:r>
              <a:rPr lang="es-ES" sz="2600" dirty="0">
                <a:solidFill>
                  <a:srgbClr val="000000"/>
                </a:solidFill>
                <a:latin typeface="+mj-lt"/>
              </a:rPr>
              <a:t>¿Cómo evaluar el rendimiento del equipo de desarrollo?</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17313608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¿Qué es Economía de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marL="0" indent="7938" algn="just">
              <a:lnSpc>
                <a:spcPct val="150000"/>
              </a:lnSpc>
              <a:buNone/>
            </a:pPr>
            <a:r>
              <a:rPr lang="es-ES" sz="2600" dirty="0">
                <a:solidFill>
                  <a:srgbClr val="000000"/>
                </a:solidFill>
                <a:latin typeface="+mj-lt"/>
              </a:rPr>
              <a:t>La Economía de un Proyecto de Software se refiere al análisis y la evaluación de los costos, beneficios y viabilidad económica de desarrollar un software específico. Este concepto es fundamental para tomar decisiones informadas sobre si llevar a cabo un proyecto, cómo gestionarlo y qué recursos asignar.</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25440579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¿Qué es Economía de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4" name="3 Marcador de contenido"/>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49896" y="1846263"/>
            <a:ext cx="9899373" cy="4415389"/>
          </a:xfrm>
        </p:spPr>
      </p:pic>
    </p:spTree>
    <p:extLst>
      <p:ext uri="{BB962C8B-B14F-4D97-AF65-F5344CB8AC3E}">
        <p14:creationId xmlns:p14="http://schemas.microsoft.com/office/powerpoint/2010/main" val="337080707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¿Qué es Economía de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397565" y="1710187"/>
            <a:ext cx="11794435" cy="4639813"/>
          </a:xfrm>
        </p:spPr>
        <p:txBody>
          <a:bodyPr>
            <a:noAutofit/>
          </a:bodyPr>
          <a:lstStyle/>
          <a:p>
            <a:r>
              <a:rPr lang="es-ES" sz="2800" dirty="0" smtClean="0"/>
              <a:t>Importancia</a:t>
            </a:r>
            <a:endParaRPr lang="es-ES" sz="2800" dirty="0"/>
          </a:p>
          <a:p>
            <a:pPr>
              <a:buFont typeface="Wingdings" pitchFamily="2" charset="2"/>
              <a:buChar char="Ø"/>
            </a:pPr>
            <a:r>
              <a:rPr lang="es-ES" sz="2800" dirty="0" smtClean="0"/>
              <a:t>Toma </a:t>
            </a:r>
            <a:r>
              <a:rPr lang="es-ES" sz="2800" dirty="0"/>
              <a:t>de Decisiones Informadas: Ayuda a los gerentes y </a:t>
            </a:r>
            <a:r>
              <a:rPr lang="es-ES" sz="2800" dirty="0" err="1"/>
              <a:t>stakeholders</a:t>
            </a:r>
            <a:r>
              <a:rPr lang="es-ES" sz="2800" dirty="0"/>
              <a:t> a decidir si proceder con un proyecto, modificarlo o cancelarlo.</a:t>
            </a:r>
          </a:p>
          <a:p>
            <a:pPr>
              <a:buFont typeface="Wingdings" pitchFamily="2" charset="2"/>
              <a:buChar char="Ø"/>
            </a:pPr>
            <a:r>
              <a:rPr lang="es-ES" sz="2800" dirty="0" smtClean="0"/>
              <a:t>Asignación </a:t>
            </a:r>
            <a:r>
              <a:rPr lang="es-ES" sz="2800" dirty="0"/>
              <a:t>Eficiente de Recursos: Permite una mejor planificación y uso de los recursos disponibles.</a:t>
            </a:r>
          </a:p>
          <a:p>
            <a:pPr>
              <a:buFont typeface="Wingdings" pitchFamily="2" charset="2"/>
              <a:buChar char="Ø"/>
            </a:pPr>
            <a:r>
              <a:rPr lang="es-ES" sz="2800" dirty="0" smtClean="0"/>
              <a:t>Justificación </a:t>
            </a:r>
            <a:r>
              <a:rPr lang="es-ES" sz="2800" dirty="0"/>
              <a:t>Financiera: Proporciona una base sólida para justificar inversiones ante inversores o partes interesadas.</a:t>
            </a:r>
          </a:p>
          <a:p>
            <a:pPr>
              <a:buFont typeface="Wingdings" pitchFamily="2" charset="2"/>
              <a:buChar char="Ø"/>
            </a:pPr>
            <a:r>
              <a:rPr lang="es-ES" sz="2800" dirty="0" smtClean="0"/>
              <a:t>Gestión </a:t>
            </a:r>
            <a:r>
              <a:rPr lang="es-ES" sz="2800" dirty="0"/>
              <a:t>de Riesgos: Identifica posibles problemas económicos antes de que se conviertan en obstáculos significativos.</a:t>
            </a:r>
          </a:p>
          <a:p>
            <a:pPr marL="0" indent="7938" algn="just">
              <a:lnSpc>
                <a:spcPct val="100000"/>
              </a:lnSpc>
              <a:buNone/>
            </a:pPr>
            <a:endParaRPr lang="es-ES" sz="2800" dirty="0"/>
          </a:p>
          <a:p>
            <a:pPr marL="0" indent="7938" algn="just">
              <a:lnSpc>
                <a:spcPct val="100000"/>
              </a:lnSpc>
              <a:buNone/>
            </a:pPr>
            <a:endParaRPr lang="es-ES" sz="2800" dirty="0"/>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12881400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¿Qué es Economía de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marL="0" indent="7938" algn="just">
              <a:lnSpc>
                <a:spcPct val="100000"/>
              </a:lnSpc>
              <a:buNone/>
            </a:pPr>
            <a:r>
              <a:rPr lang="es-ES" sz="2600" dirty="0">
                <a:solidFill>
                  <a:srgbClr val="000000"/>
                </a:solidFill>
                <a:latin typeface="+mj-lt"/>
              </a:rPr>
              <a:t>La que responde a:</a:t>
            </a:r>
          </a:p>
          <a:p>
            <a:pPr algn="just">
              <a:lnSpc>
                <a:spcPct val="150000"/>
              </a:lnSpc>
              <a:buFont typeface="Wingdings" pitchFamily="2" charset="2"/>
              <a:buChar char="Ø"/>
            </a:pPr>
            <a:r>
              <a:rPr lang="es-ES" sz="2600" dirty="0">
                <a:solidFill>
                  <a:srgbClr val="000000"/>
                </a:solidFill>
                <a:latin typeface="+mj-lt"/>
              </a:rPr>
              <a:t> ¿Cuan voluminoso puede ser el proyecto?</a:t>
            </a:r>
          </a:p>
          <a:p>
            <a:pPr algn="just">
              <a:lnSpc>
                <a:spcPct val="150000"/>
              </a:lnSpc>
              <a:buFont typeface="Wingdings" pitchFamily="2" charset="2"/>
              <a:buChar char="Ø"/>
            </a:pPr>
            <a:r>
              <a:rPr lang="es-ES" sz="2600" dirty="0">
                <a:solidFill>
                  <a:srgbClr val="000000"/>
                </a:solidFill>
                <a:latin typeface="+mj-lt"/>
              </a:rPr>
              <a:t> ¿Cuanto costará?</a:t>
            </a:r>
          </a:p>
          <a:p>
            <a:pPr algn="just">
              <a:lnSpc>
                <a:spcPct val="150000"/>
              </a:lnSpc>
              <a:buFont typeface="Wingdings" pitchFamily="2" charset="2"/>
              <a:buChar char="Ø"/>
            </a:pPr>
            <a:r>
              <a:rPr lang="es-ES" sz="2600" dirty="0">
                <a:solidFill>
                  <a:srgbClr val="000000"/>
                </a:solidFill>
                <a:latin typeface="+mj-lt"/>
              </a:rPr>
              <a:t> ¿Cuanto tiempo tomará?</a:t>
            </a:r>
          </a:p>
          <a:p>
            <a:pPr algn="just">
              <a:lnSpc>
                <a:spcPct val="150000"/>
              </a:lnSpc>
              <a:buFont typeface="Wingdings" pitchFamily="2" charset="2"/>
              <a:buChar char="Ø"/>
            </a:pPr>
            <a:r>
              <a:rPr lang="es-ES" sz="2600" dirty="0">
                <a:solidFill>
                  <a:srgbClr val="000000"/>
                </a:solidFill>
                <a:latin typeface="+mj-lt"/>
              </a:rPr>
              <a:t> ¿Cuanto personal se necesitará?</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24277749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¿Cómo debe ser el equipo de desarrollo?</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marL="0" indent="7938" algn="just">
              <a:lnSpc>
                <a:spcPct val="100000"/>
              </a:lnSpc>
              <a:buNone/>
            </a:pPr>
            <a:r>
              <a:rPr lang="es-ES" sz="2600" dirty="0">
                <a:solidFill>
                  <a:srgbClr val="000000"/>
                </a:solidFill>
                <a:latin typeface="+mj-lt"/>
              </a:rPr>
              <a:t>La selección del equipo de desarrollo es esencial:</a:t>
            </a:r>
          </a:p>
          <a:p>
            <a:pPr algn="just">
              <a:lnSpc>
                <a:spcPct val="150000"/>
              </a:lnSpc>
              <a:buFont typeface="Wingdings" pitchFamily="2" charset="2"/>
              <a:buChar char="Ø"/>
            </a:pPr>
            <a:r>
              <a:rPr lang="es-ES" sz="2600" dirty="0">
                <a:solidFill>
                  <a:srgbClr val="000000"/>
                </a:solidFill>
                <a:latin typeface="+mj-lt"/>
              </a:rPr>
              <a:t> Debe tener representados puntos de vistas opuestos constructivamente (no robots obedientes)</a:t>
            </a:r>
          </a:p>
          <a:p>
            <a:pPr algn="just">
              <a:lnSpc>
                <a:spcPct val="150000"/>
              </a:lnSpc>
              <a:buFont typeface="Wingdings" pitchFamily="2" charset="2"/>
              <a:buChar char="Ø"/>
            </a:pPr>
            <a:r>
              <a:rPr lang="es-ES" sz="2600" dirty="0">
                <a:solidFill>
                  <a:srgbClr val="000000"/>
                </a:solidFill>
                <a:latin typeface="+mj-lt"/>
              </a:rPr>
              <a:t>Debe existir respeto profesional entre sus miembros</a:t>
            </a:r>
          </a:p>
          <a:p>
            <a:pPr algn="just">
              <a:lnSpc>
                <a:spcPct val="150000"/>
              </a:lnSpc>
              <a:buFont typeface="Wingdings" pitchFamily="2" charset="2"/>
              <a:buChar char="Ø"/>
            </a:pPr>
            <a:r>
              <a:rPr lang="es-ES" sz="2600" dirty="0">
                <a:solidFill>
                  <a:srgbClr val="000000"/>
                </a:solidFill>
                <a:latin typeface="+mj-lt"/>
              </a:rPr>
              <a:t>Es recomendable que existan diferentes niveles de habilidades (conceptuales, “cacharreros”, etc..)</a:t>
            </a:r>
          </a:p>
          <a:p>
            <a:pPr algn="just">
              <a:lnSpc>
                <a:spcPct val="150000"/>
              </a:lnSpc>
              <a:buFont typeface="Wingdings" pitchFamily="2" charset="2"/>
              <a:buChar char="Ø"/>
            </a:pPr>
            <a:r>
              <a:rPr lang="es-ES" sz="2600" dirty="0">
                <a:solidFill>
                  <a:srgbClr val="000000"/>
                </a:solidFill>
                <a:latin typeface="+mj-lt"/>
              </a:rPr>
              <a:t>Deben ser capaces de auto organizarse y cooperar</a:t>
            </a:r>
          </a:p>
          <a:p>
            <a:pPr marL="0" indent="7938" algn="just">
              <a:lnSpc>
                <a:spcPct val="100000"/>
              </a:lnSpc>
              <a:buNone/>
            </a:pPr>
            <a:endParaRPr lang="es-ES_tradnl" sz="2600" dirty="0">
              <a:solidFill>
                <a:srgbClr val="000000"/>
              </a:solidFill>
              <a:latin typeface="+mj-lt"/>
            </a:endParaRPr>
          </a:p>
        </p:txBody>
      </p:sp>
    </p:spTree>
    <p:extLst>
      <p:ext uri="{BB962C8B-B14F-4D97-AF65-F5344CB8AC3E}">
        <p14:creationId xmlns:p14="http://schemas.microsoft.com/office/powerpoint/2010/main" val="375998064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a:t>
            </a:r>
            <a:r>
              <a:rPr lang="es-ES" dirty="0"/>
              <a:t>Qué </a:t>
            </a:r>
            <a:r>
              <a:rPr lang="es-ES" dirty="0" smtClean="0"/>
              <a:t>pasos debemos </a:t>
            </a:r>
            <a:r>
              <a:rPr lang="es-ES" dirty="0"/>
              <a:t>seguir para enfrentar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936844" cy="2404613"/>
          </a:xfrm>
        </p:spPr>
        <p:txBody>
          <a:bodyPr>
            <a:noAutofit/>
          </a:bodyPr>
          <a:lstStyle/>
          <a:p>
            <a:pPr>
              <a:lnSpc>
                <a:spcPct val="100000"/>
              </a:lnSpc>
              <a:buFont typeface="Wingdings" pitchFamily="2" charset="2"/>
              <a:buChar char="Ø"/>
            </a:pPr>
            <a:r>
              <a:rPr lang="en-US" sz="3200" dirty="0" err="1"/>
              <a:t>Conocer</a:t>
            </a:r>
            <a:r>
              <a:rPr lang="en-US" sz="3200" dirty="0"/>
              <a:t> el </a:t>
            </a:r>
            <a:r>
              <a:rPr lang="en-US" sz="3200" dirty="0" err="1"/>
              <a:t>Problema</a:t>
            </a:r>
            <a:r>
              <a:rPr lang="en-US" sz="3200" dirty="0"/>
              <a:t> (</a:t>
            </a:r>
            <a:r>
              <a:rPr lang="en-US" sz="3200" dirty="0" err="1"/>
              <a:t>Especificaciones</a:t>
            </a:r>
            <a:r>
              <a:rPr lang="en-US" sz="3200" dirty="0"/>
              <a:t>, </a:t>
            </a:r>
            <a:r>
              <a:rPr lang="en-US" sz="3200" dirty="0" err="1"/>
              <a:t>Requerimientos</a:t>
            </a:r>
            <a:r>
              <a:rPr lang="en-US" sz="3200" dirty="0"/>
              <a:t>, </a:t>
            </a:r>
            <a:r>
              <a:rPr lang="en-US" sz="3200" dirty="0" err="1"/>
              <a:t>Restricciones</a:t>
            </a:r>
            <a:r>
              <a:rPr lang="en-US" sz="3200" dirty="0"/>
              <a:t>)</a:t>
            </a:r>
          </a:p>
          <a:p>
            <a:pPr marL="0" indent="7938" algn="just">
              <a:lnSpc>
                <a:spcPct val="100000"/>
              </a:lnSpc>
              <a:buNone/>
            </a:pPr>
            <a:endParaRPr lang="es-ES_tradnl" sz="2600" dirty="0">
              <a:solidFill>
                <a:srgbClr val="000000"/>
              </a:solidFill>
              <a:latin typeface="+mj-lt"/>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7076" y="2683566"/>
            <a:ext cx="7653132" cy="3677476"/>
          </a:xfrm>
          <a:prstGeom prst="rect">
            <a:avLst/>
          </a:prstGeom>
        </p:spPr>
      </p:pic>
    </p:spTree>
    <p:extLst>
      <p:ext uri="{BB962C8B-B14F-4D97-AF65-F5344CB8AC3E}">
        <p14:creationId xmlns:p14="http://schemas.microsoft.com/office/powerpoint/2010/main" val="35048093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a:t>
            </a:r>
            <a:r>
              <a:rPr lang="es-ES" dirty="0"/>
              <a:t>Qué </a:t>
            </a:r>
            <a:r>
              <a:rPr lang="es-ES" dirty="0" smtClean="0"/>
              <a:t>pasos debemos </a:t>
            </a:r>
            <a:r>
              <a:rPr lang="es-ES" dirty="0"/>
              <a:t>seguir para enfrentar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1575" y="1888436"/>
            <a:ext cx="9848850" cy="4493314"/>
          </a:xfrm>
          <a:prstGeom prst="rect">
            <a:avLst/>
          </a:prstGeom>
        </p:spPr>
      </p:pic>
    </p:spTree>
    <p:extLst>
      <p:ext uri="{BB962C8B-B14F-4D97-AF65-F5344CB8AC3E}">
        <p14:creationId xmlns:p14="http://schemas.microsoft.com/office/powerpoint/2010/main" val="33669565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a:t>
            </a:r>
            <a:r>
              <a:rPr lang="es-ES" dirty="0"/>
              <a:t>Qué </a:t>
            </a:r>
            <a:r>
              <a:rPr lang="es-ES" dirty="0" smtClean="0"/>
              <a:t>pasos debemos </a:t>
            </a:r>
            <a:r>
              <a:rPr lang="es-ES" dirty="0"/>
              <a:t>seguir para enfrentar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2209" y="2070100"/>
            <a:ext cx="9895573" cy="4159249"/>
          </a:xfrm>
          <a:prstGeom prst="rect">
            <a:avLst/>
          </a:prstGeom>
        </p:spPr>
      </p:pic>
    </p:spTree>
    <p:extLst>
      <p:ext uri="{BB962C8B-B14F-4D97-AF65-F5344CB8AC3E}">
        <p14:creationId xmlns:p14="http://schemas.microsoft.com/office/powerpoint/2010/main" val="17156148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a:t>
            </a:r>
            <a:r>
              <a:rPr lang="es-ES" dirty="0"/>
              <a:t>Qué </a:t>
            </a:r>
            <a:r>
              <a:rPr lang="es-ES" dirty="0" smtClean="0"/>
              <a:t>pasos debemos </a:t>
            </a:r>
            <a:r>
              <a:rPr lang="es-ES" dirty="0"/>
              <a:t>seguir para enfrentar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261" y="2226365"/>
            <a:ext cx="9104243" cy="3774384"/>
          </a:xfrm>
          <a:prstGeom prst="rect">
            <a:avLst/>
          </a:prstGeom>
        </p:spPr>
      </p:pic>
    </p:spTree>
    <p:extLst>
      <p:ext uri="{BB962C8B-B14F-4D97-AF65-F5344CB8AC3E}">
        <p14:creationId xmlns:p14="http://schemas.microsoft.com/office/powerpoint/2010/main" val="17156148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a:t>
            </a:r>
            <a:r>
              <a:rPr lang="es-ES" dirty="0"/>
              <a:t>Qué </a:t>
            </a:r>
            <a:r>
              <a:rPr lang="es-ES" dirty="0" smtClean="0"/>
              <a:t>pasos debemos </a:t>
            </a:r>
            <a:r>
              <a:rPr lang="es-ES" dirty="0"/>
              <a:t>seguir para enfrentar un Proyecto de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639813"/>
          </a:xfrm>
        </p:spPr>
        <p:txBody>
          <a:bodyPr>
            <a:noAutofit/>
          </a:bodyPr>
          <a:lstStyle/>
          <a:p>
            <a:pPr>
              <a:buFont typeface="Wingdings" pitchFamily="2" charset="2"/>
              <a:buChar char="Ø"/>
            </a:pPr>
            <a:r>
              <a:rPr lang="es-ES" sz="3400" dirty="0"/>
              <a:t>Formar el equipo de desarrollo</a:t>
            </a:r>
          </a:p>
          <a:p>
            <a:pPr>
              <a:buFont typeface="Wingdings" pitchFamily="2" charset="2"/>
              <a:buChar char="Ø"/>
            </a:pPr>
            <a:r>
              <a:rPr lang="es-ES" sz="3400" dirty="0"/>
              <a:t>Seleccionar enfoque metodológico o método</a:t>
            </a:r>
          </a:p>
          <a:p>
            <a:pPr>
              <a:buFont typeface="Wingdings" pitchFamily="2" charset="2"/>
              <a:buChar char="Ø"/>
            </a:pPr>
            <a:r>
              <a:rPr lang="es-ES" sz="3400" dirty="0"/>
              <a:t>Decidir arquitectura preliminar</a:t>
            </a:r>
          </a:p>
          <a:p>
            <a:pPr>
              <a:buFont typeface="Wingdings" pitchFamily="2" charset="2"/>
              <a:buChar char="Ø"/>
            </a:pPr>
            <a:r>
              <a:rPr lang="es-ES" sz="3400" dirty="0"/>
              <a:t>Primera aproximación a la descomposición modular del problema  </a:t>
            </a:r>
          </a:p>
          <a:p>
            <a:pPr>
              <a:buFont typeface="Wingdings" pitchFamily="2" charset="2"/>
              <a:buChar char="Ø"/>
            </a:pPr>
            <a:r>
              <a:rPr lang="es-ES" sz="3400" dirty="0"/>
              <a:t>Estimación de esfuerzo necesario </a:t>
            </a:r>
            <a:endParaRPr lang="es-ES_tradnl" sz="2600" dirty="0">
              <a:solidFill>
                <a:srgbClr val="000000"/>
              </a:solidFill>
              <a:latin typeface="+mj-lt"/>
            </a:endParaRPr>
          </a:p>
        </p:txBody>
      </p:sp>
    </p:spTree>
    <p:extLst>
      <p:ext uri="{BB962C8B-B14F-4D97-AF65-F5344CB8AC3E}">
        <p14:creationId xmlns:p14="http://schemas.microsoft.com/office/powerpoint/2010/main" val="236822860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a:t>
            </a:r>
            <a:r>
              <a:rPr lang="es-ES" dirty="0" smtClean="0"/>
              <a:t>Cómo  </a:t>
            </a:r>
            <a:r>
              <a:rPr lang="es-ES" dirty="0"/>
              <a:t>queremos que sea 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1464813"/>
          </a:xfrm>
        </p:spPr>
        <p:txBody>
          <a:bodyPr>
            <a:noAutofit/>
          </a:bodyPr>
          <a:lstStyle/>
          <a:p>
            <a:pPr>
              <a:buFont typeface="Wingdings" pitchFamily="2" charset="2"/>
              <a:buChar char="Ø"/>
            </a:pPr>
            <a:r>
              <a:rPr lang="es-ES_tradnl" sz="2400" dirty="0"/>
              <a:t>A cualquier desarrollador que se le pregunte ¿Cómo deseas que sean tus programas?, la respuesta incluirá seguramente varias de las siguientes propiedades: </a:t>
            </a:r>
            <a:endParaRPr lang="es-ES_tradnl" sz="2800" dirty="0"/>
          </a:p>
          <a:p>
            <a:pPr>
              <a:buFont typeface="Wingdings" pitchFamily="2" charset="2"/>
              <a:buChar char="Ø"/>
            </a:pPr>
            <a:endParaRPr lang="es-ES_tradnl" sz="2600" dirty="0">
              <a:solidFill>
                <a:srgbClr val="000000"/>
              </a:solidFill>
              <a:latin typeface="+mj-lt"/>
            </a:endParaRPr>
          </a:p>
        </p:txBody>
      </p:sp>
      <p:sp>
        <p:nvSpPr>
          <p:cNvPr id="5" name="4 Rectángulo"/>
          <p:cNvSpPr/>
          <p:nvPr/>
        </p:nvSpPr>
        <p:spPr>
          <a:xfrm>
            <a:off x="800100" y="3429000"/>
            <a:ext cx="4457700" cy="1754326"/>
          </a:xfrm>
          <a:prstGeom prst="rect">
            <a:avLst/>
          </a:prstGeom>
        </p:spPr>
        <p:txBody>
          <a:bodyPr wrap="square">
            <a:spAutoFit/>
          </a:bodyPr>
          <a:lstStyle/>
          <a:p>
            <a:pPr lvl="2">
              <a:buFont typeface="Symbol" pitchFamily="18" charset="2"/>
              <a:buChar char="·"/>
              <a:defRPr/>
            </a:pPr>
            <a:r>
              <a:rPr lang="es-ES_tradnl" sz="3600" b="1" dirty="0">
                <a:effectLst>
                  <a:outerShdw blurRad="38100" dist="38100" dir="2700000" algn="tl">
                    <a:srgbClr val="C0C0C0"/>
                  </a:outerShdw>
                </a:effectLst>
              </a:rPr>
              <a:t>rápidos</a:t>
            </a:r>
          </a:p>
          <a:p>
            <a:pPr lvl="2">
              <a:buFont typeface="Symbol" pitchFamily="18" charset="2"/>
              <a:buChar char="·"/>
              <a:defRPr/>
            </a:pPr>
            <a:r>
              <a:rPr lang="es-ES_tradnl" sz="3600" b="1" dirty="0">
                <a:effectLst>
                  <a:outerShdw blurRad="38100" dist="38100" dir="2700000" algn="tl">
                    <a:srgbClr val="C0C0C0"/>
                  </a:outerShdw>
                </a:effectLst>
              </a:rPr>
              <a:t> confiables</a:t>
            </a:r>
          </a:p>
          <a:p>
            <a:pPr lvl="2">
              <a:buFont typeface="Symbol" pitchFamily="18" charset="2"/>
              <a:buChar char="·"/>
              <a:defRPr/>
            </a:pPr>
            <a:r>
              <a:rPr lang="es-ES_tradnl" sz="3600" b="1" dirty="0">
                <a:effectLst>
                  <a:outerShdw blurRad="38100" dist="38100" dir="2700000" algn="tl">
                    <a:srgbClr val="C0C0C0"/>
                  </a:outerShdw>
                </a:effectLst>
              </a:rPr>
              <a:t> fáciles de usar</a:t>
            </a:r>
          </a:p>
        </p:txBody>
      </p:sp>
      <p:sp>
        <p:nvSpPr>
          <p:cNvPr id="10" name="9 Rectángulo"/>
          <p:cNvSpPr/>
          <p:nvPr/>
        </p:nvSpPr>
        <p:spPr>
          <a:xfrm>
            <a:off x="6197600" y="3542437"/>
            <a:ext cx="4970182" cy="1754326"/>
          </a:xfrm>
          <a:prstGeom prst="rect">
            <a:avLst/>
          </a:prstGeom>
        </p:spPr>
        <p:txBody>
          <a:bodyPr wrap="square">
            <a:spAutoFit/>
          </a:bodyPr>
          <a:lstStyle/>
          <a:p>
            <a:pPr lvl="2">
              <a:buFont typeface="Symbol" pitchFamily="18" charset="2"/>
              <a:buChar char="·"/>
              <a:defRPr/>
            </a:pPr>
            <a:r>
              <a:rPr lang="es-ES_tradnl" sz="3600" b="1" dirty="0">
                <a:effectLst>
                  <a:outerShdw blurRad="38100" dist="38100" dir="2700000" algn="tl">
                    <a:srgbClr val="C0C0C0"/>
                  </a:outerShdw>
                </a:effectLst>
              </a:rPr>
              <a:t>legibles</a:t>
            </a:r>
          </a:p>
          <a:p>
            <a:pPr lvl="2">
              <a:buFont typeface="Symbol" pitchFamily="18" charset="2"/>
              <a:buChar char="·"/>
              <a:defRPr/>
            </a:pPr>
            <a:r>
              <a:rPr lang="es-ES_tradnl" sz="3600" b="1" dirty="0">
                <a:effectLst>
                  <a:outerShdw blurRad="38100" dist="38100" dir="2700000" algn="tl">
                    <a:srgbClr val="C0C0C0"/>
                  </a:outerShdw>
                </a:effectLst>
              </a:rPr>
              <a:t> modulares</a:t>
            </a:r>
          </a:p>
          <a:p>
            <a:pPr lvl="2">
              <a:buFont typeface="Symbol" pitchFamily="18" charset="2"/>
              <a:buChar char="·"/>
              <a:defRPr/>
            </a:pPr>
            <a:r>
              <a:rPr lang="es-ES_tradnl" sz="3600" b="1" dirty="0">
                <a:effectLst>
                  <a:outerShdw blurRad="38100" dist="38100" dir="2700000" algn="tl">
                    <a:srgbClr val="C0C0C0"/>
                  </a:outerShdw>
                </a:effectLst>
              </a:rPr>
              <a:t> estructurados</a:t>
            </a:r>
            <a:endParaRPr lang="es-ES_tradnl" dirty="0"/>
          </a:p>
        </p:txBody>
      </p:sp>
    </p:spTree>
    <p:extLst>
      <p:ext uri="{BB962C8B-B14F-4D97-AF65-F5344CB8AC3E}">
        <p14:creationId xmlns:p14="http://schemas.microsoft.com/office/powerpoint/2010/main" val="2443973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a:t>
            </a:r>
            <a:r>
              <a:rPr lang="es-ES" dirty="0" smtClean="0"/>
              <a:t>Cómo  </a:t>
            </a:r>
            <a:r>
              <a:rPr lang="es-ES" dirty="0"/>
              <a:t>queremos que sea 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3560313"/>
          </a:xfrm>
        </p:spPr>
        <p:txBody>
          <a:bodyPr>
            <a:noAutofit/>
          </a:bodyPr>
          <a:lstStyle/>
          <a:p>
            <a:pPr marL="0" indent="38100" fontAlgn="auto">
              <a:spcAft>
                <a:spcPts val="0"/>
              </a:spcAft>
              <a:buClr>
                <a:schemeClr val="accent3"/>
              </a:buClr>
              <a:buFont typeface="Monotype Sorts" pitchFamily="2" charset="2"/>
              <a:buNone/>
              <a:defRPr/>
            </a:pPr>
            <a:r>
              <a:rPr lang="es-ES_tradnl" sz="2600" dirty="0"/>
              <a:t>Y posiblemente lleven algo de razón, pero …</a:t>
            </a:r>
          </a:p>
          <a:p>
            <a:pPr marL="0" indent="38100" fontAlgn="auto">
              <a:spcAft>
                <a:spcPts val="0"/>
              </a:spcAft>
              <a:buClr>
                <a:schemeClr val="accent3"/>
              </a:buClr>
              <a:buFont typeface="Monotype Sorts" pitchFamily="2" charset="2"/>
              <a:buNone/>
              <a:defRPr/>
            </a:pPr>
            <a:endParaRPr lang="es-ES_tradnl" sz="2600" dirty="0"/>
          </a:p>
          <a:p>
            <a:pPr marL="0" indent="38100" fontAlgn="auto">
              <a:spcAft>
                <a:spcPts val="0"/>
              </a:spcAft>
              <a:buClr>
                <a:schemeClr val="accent3"/>
              </a:buClr>
              <a:buFont typeface="Monotype Sorts" pitchFamily="2" charset="2"/>
              <a:buNone/>
              <a:defRPr/>
            </a:pPr>
            <a:r>
              <a:rPr lang="es-ES_tradnl" sz="2600" dirty="0"/>
              <a:t>por ejemplo, ¿de que puede servir que un producto de software  sea rápido si eso no es necesario para el cliente?</a:t>
            </a:r>
          </a:p>
          <a:p>
            <a:pPr marL="0" indent="38100" fontAlgn="auto">
              <a:spcAft>
                <a:spcPts val="0"/>
              </a:spcAft>
              <a:buClr>
                <a:schemeClr val="accent3"/>
              </a:buClr>
              <a:buFont typeface="Monotype Sorts" pitchFamily="2" charset="2"/>
              <a:buNone/>
              <a:defRPr/>
            </a:pPr>
            <a:endParaRPr lang="es-ES_tradnl" sz="2600" dirty="0"/>
          </a:p>
          <a:p>
            <a:pPr marL="0" indent="38100" algn="ctr" fontAlgn="auto">
              <a:spcAft>
                <a:spcPts val="0"/>
              </a:spcAft>
              <a:buClr>
                <a:schemeClr val="accent3"/>
              </a:buClr>
              <a:buFont typeface="Monotype Sorts" pitchFamily="2" charset="2"/>
              <a:buNone/>
              <a:defRPr/>
            </a:pPr>
            <a:r>
              <a:rPr lang="es-ES_tradnl" sz="2600" dirty="0"/>
              <a:t>Ejemplos de extremos</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6948725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Software de calidad y calidad del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516835" y="1710187"/>
            <a:ext cx="11489635" cy="4968909"/>
          </a:xfrm>
        </p:spPr>
        <p:txBody>
          <a:bodyPr>
            <a:noAutofit/>
          </a:bodyPr>
          <a:lstStyle/>
          <a:p>
            <a:pPr marL="0" indent="38100" fontAlgn="auto">
              <a:lnSpc>
                <a:spcPct val="150000"/>
              </a:lnSpc>
              <a:spcAft>
                <a:spcPts val="0"/>
              </a:spcAft>
              <a:buClr>
                <a:schemeClr val="accent3"/>
              </a:buClr>
              <a:buFont typeface="Monotype Sorts" pitchFamily="2" charset="2"/>
              <a:buNone/>
              <a:defRPr/>
            </a:pPr>
            <a:r>
              <a:rPr lang="es-ES" sz="2600" dirty="0" smtClean="0"/>
              <a:t>Software </a:t>
            </a:r>
            <a:r>
              <a:rPr lang="es-ES" sz="2600" dirty="0"/>
              <a:t>de </a:t>
            </a:r>
            <a:r>
              <a:rPr lang="es-ES" sz="2600" dirty="0" smtClean="0"/>
              <a:t>Calidad</a:t>
            </a:r>
          </a:p>
          <a:p>
            <a:pPr marL="0" indent="38100" fontAlgn="auto">
              <a:lnSpc>
                <a:spcPct val="100000"/>
              </a:lnSpc>
              <a:spcAft>
                <a:spcPts val="0"/>
              </a:spcAft>
              <a:buClr>
                <a:schemeClr val="accent3"/>
              </a:buClr>
              <a:buFont typeface="Monotype Sorts" pitchFamily="2" charset="2"/>
              <a:buNone/>
              <a:defRPr/>
            </a:pPr>
            <a:r>
              <a:rPr lang="es-ES" sz="2600" dirty="0" smtClean="0"/>
              <a:t>Se </a:t>
            </a:r>
            <a:r>
              <a:rPr lang="es-ES" sz="2600" dirty="0"/>
              <a:t>refiere a un producto de software que cumple con los requisitos y expectativas establecidos por los usuarios y </a:t>
            </a:r>
            <a:r>
              <a:rPr lang="es-ES" sz="2600" dirty="0" err="1"/>
              <a:t>stakeholders</a:t>
            </a:r>
            <a:r>
              <a:rPr lang="es-ES" sz="2600" dirty="0"/>
              <a:t>. </a:t>
            </a:r>
            <a:endParaRPr lang="es-ES" sz="2600" dirty="0" smtClean="0"/>
          </a:p>
          <a:p>
            <a:pPr marL="0" indent="38100" fontAlgn="auto">
              <a:lnSpc>
                <a:spcPct val="100000"/>
              </a:lnSpc>
              <a:spcAft>
                <a:spcPts val="0"/>
              </a:spcAft>
              <a:buClr>
                <a:schemeClr val="accent3"/>
              </a:buClr>
              <a:buFont typeface="Monotype Sorts" pitchFamily="2" charset="2"/>
              <a:buNone/>
              <a:defRPr/>
            </a:pPr>
            <a:r>
              <a:rPr lang="es-ES" sz="2600" dirty="0" smtClean="0"/>
              <a:t>Un </a:t>
            </a:r>
            <a:r>
              <a:rPr lang="es-ES" sz="2600" dirty="0"/>
              <a:t>software de calidad es aquel que:</a:t>
            </a:r>
          </a:p>
          <a:p>
            <a:pPr>
              <a:lnSpc>
                <a:spcPct val="150000"/>
              </a:lnSpc>
              <a:spcAft>
                <a:spcPts val="0"/>
              </a:spcAft>
              <a:buClr>
                <a:schemeClr val="accent3"/>
              </a:buClr>
              <a:buFont typeface="Wingdings" pitchFamily="2" charset="2"/>
              <a:buChar char="Ø"/>
              <a:defRPr/>
            </a:pPr>
            <a:r>
              <a:rPr lang="es-ES" sz="2600" dirty="0" smtClean="0"/>
              <a:t>Cumple </a:t>
            </a:r>
            <a:r>
              <a:rPr lang="es-ES" sz="2600" dirty="0"/>
              <a:t>con Especificaciones: Satisface las especificaciones funcionales y no funcionales definidas en los requisitos del proyecto.</a:t>
            </a:r>
          </a:p>
          <a:p>
            <a:pPr>
              <a:lnSpc>
                <a:spcPct val="150000"/>
              </a:lnSpc>
              <a:spcAft>
                <a:spcPts val="0"/>
              </a:spcAft>
              <a:buClr>
                <a:schemeClr val="accent3"/>
              </a:buClr>
              <a:buFont typeface="Wingdings" pitchFamily="2" charset="2"/>
              <a:buChar char="Ø"/>
              <a:defRPr/>
            </a:pPr>
            <a:r>
              <a:rPr lang="es-ES" sz="2600" dirty="0" smtClean="0"/>
              <a:t>Es </a:t>
            </a:r>
            <a:r>
              <a:rPr lang="es-ES" sz="2600" dirty="0"/>
              <a:t>Fiable: Funciona correctamente bajo condiciones específicas y tiene una tasa baja de fallos.</a:t>
            </a:r>
          </a:p>
          <a:p>
            <a:pPr marL="0" indent="38100" fontAlgn="auto">
              <a:spcAft>
                <a:spcPts val="0"/>
              </a:spcAft>
              <a:buClr>
                <a:schemeClr val="accent3"/>
              </a:buClr>
              <a:buFont typeface="Monotype Sorts" pitchFamily="2" charset="2"/>
              <a:buNone/>
              <a:defRPr/>
            </a:pPr>
            <a:endParaRPr lang="es-ES" sz="2600" dirty="0"/>
          </a:p>
          <a:p>
            <a:pPr marL="0" indent="38100" fontAlgn="auto">
              <a:spcAft>
                <a:spcPts val="0"/>
              </a:spcAft>
              <a:buClr>
                <a:schemeClr val="accent3"/>
              </a:buClr>
              <a:buFont typeface="Monotype Sorts" pitchFamily="2" charset="2"/>
              <a:buNone/>
              <a:defRPr/>
            </a:pPr>
            <a:endParaRPr lang="es-ES" sz="2600" dirty="0"/>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96662858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Software de calidad y calidad del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516835" y="1710187"/>
            <a:ext cx="11489635" cy="4968909"/>
          </a:xfrm>
        </p:spPr>
        <p:txBody>
          <a:bodyPr>
            <a:noAutofit/>
          </a:bodyPr>
          <a:lstStyle/>
          <a:p>
            <a:pPr marL="0" indent="38100" fontAlgn="auto">
              <a:spcAft>
                <a:spcPts val="0"/>
              </a:spcAft>
              <a:buClr>
                <a:schemeClr val="accent3"/>
              </a:buClr>
              <a:buFont typeface="Monotype Sorts" pitchFamily="2" charset="2"/>
              <a:buNone/>
              <a:defRPr/>
            </a:pPr>
            <a:r>
              <a:rPr lang="es-ES" sz="2600" dirty="0" smtClean="0"/>
              <a:t>Software </a:t>
            </a:r>
            <a:r>
              <a:rPr lang="es-ES" sz="2600" dirty="0"/>
              <a:t>de Calidad</a:t>
            </a:r>
          </a:p>
          <a:p>
            <a:pPr fontAlgn="auto">
              <a:lnSpc>
                <a:spcPct val="150000"/>
              </a:lnSpc>
              <a:spcAft>
                <a:spcPts val="0"/>
              </a:spcAft>
              <a:buClr>
                <a:schemeClr val="accent3"/>
              </a:buClr>
              <a:buFont typeface="Wingdings" pitchFamily="2" charset="2"/>
              <a:buChar char="Ø"/>
              <a:defRPr/>
            </a:pPr>
            <a:r>
              <a:rPr lang="es-ES" sz="2600" dirty="0" smtClean="0"/>
              <a:t> </a:t>
            </a:r>
            <a:r>
              <a:rPr lang="es-ES" sz="2600" dirty="0"/>
              <a:t>Es Usable: Ofrece una experiencia de usuario positiva, facilitando la interacción y el aprendizaje por parte de los usuarios</a:t>
            </a:r>
            <a:r>
              <a:rPr lang="es-ES" sz="2600" dirty="0" smtClean="0"/>
              <a:t>.</a:t>
            </a:r>
            <a:endParaRPr lang="es-ES" sz="2600" dirty="0"/>
          </a:p>
          <a:p>
            <a:pPr fontAlgn="auto">
              <a:lnSpc>
                <a:spcPct val="150000"/>
              </a:lnSpc>
              <a:spcAft>
                <a:spcPts val="0"/>
              </a:spcAft>
              <a:buClr>
                <a:schemeClr val="accent3"/>
              </a:buClr>
              <a:buFont typeface="Wingdings" pitchFamily="2" charset="2"/>
              <a:buChar char="Ø"/>
              <a:defRPr/>
            </a:pPr>
            <a:r>
              <a:rPr lang="es-ES" sz="2600" dirty="0" smtClean="0"/>
              <a:t> </a:t>
            </a:r>
            <a:r>
              <a:rPr lang="es-ES" sz="2600" dirty="0"/>
              <a:t>Es </a:t>
            </a:r>
            <a:r>
              <a:rPr lang="es-ES" sz="2600" dirty="0" err="1"/>
              <a:t>Mantenible</a:t>
            </a:r>
            <a:r>
              <a:rPr lang="es-ES" sz="2600" dirty="0"/>
              <a:t>: Puede ser modificado y actualizado fácilmente para adaptarse a cambios en el entorno o en los requisitos.</a:t>
            </a:r>
          </a:p>
          <a:p>
            <a:pPr fontAlgn="auto">
              <a:lnSpc>
                <a:spcPct val="150000"/>
              </a:lnSpc>
              <a:spcAft>
                <a:spcPts val="0"/>
              </a:spcAft>
              <a:buClr>
                <a:schemeClr val="accent3"/>
              </a:buClr>
              <a:buFont typeface="Wingdings" pitchFamily="2" charset="2"/>
              <a:buChar char="Ø"/>
              <a:defRPr/>
            </a:pPr>
            <a:r>
              <a:rPr lang="es-ES" sz="2600" dirty="0" smtClean="0"/>
              <a:t> </a:t>
            </a:r>
            <a:r>
              <a:rPr lang="es-ES" sz="2600" dirty="0"/>
              <a:t>Es Eficiente: Utiliza recursos de manera óptima, incluyendo tiempo de respuesta y uso de memoria.</a:t>
            </a:r>
          </a:p>
          <a:p>
            <a:pPr marL="0" indent="38100" fontAlgn="auto">
              <a:spcAft>
                <a:spcPts val="0"/>
              </a:spcAft>
              <a:buClr>
                <a:schemeClr val="accent3"/>
              </a:buClr>
              <a:buFont typeface="Monotype Sorts" pitchFamily="2" charset="2"/>
              <a:buNone/>
              <a:defRPr/>
            </a:pPr>
            <a:endParaRPr lang="es-ES" sz="2600" dirty="0"/>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2169815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Software de calidad y calidad del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745194"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516835" y="1710187"/>
            <a:ext cx="11489635" cy="4968909"/>
          </a:xfrm>
        </p:spPr>
        <p:txBody>
          <a:bodyPr>
            <a:noAutofit/>
          </a:bodyPr>
          <a:lstStyle/>
          <a:p>
            <a:pPr marL="0" indent="38100" fontAlgn="auto">
              <a:spcAft>
                <a:spcPts val="0"/>
              </a:spcAft>
              <a:buClr>
                <a:schemeClr val="accent3"/>
              </a:buClr>
              <a:buFont typeface="Monotype Sorts" pitchFamily="2" charset="2"/>
              <a:buNone/>
              <a:defRPr/>
            </a:pPr>
            <a:r>
              <a:rPr lang="es-ES" sz="2600" dirty="0" smtClean="0"/>
              <a:t>Calidad </a:t>
            </a:r>
            <a:r>
              <a:rPr lang="es-ES" sz="2600" dirty="0"/>
              <a:t>del Software</a:t>
            </a:r>
          </a:p>
          <a:p>
            <a:pPr marL="0" indent="0" fontAlgn="auto">
              <a:lnSpc>
                <a:spcPct val="150000"/>
              </a:lnSpc>
              <a:spcAft>
                <a:spcPts val="0"/>
              </a:spcAft>
              <a:buClr>
                <a:schemeClr val="accent3"/>
              </a:buClr>
              <a:buNone/>
              <a:defRPr/>
            </a:pPr>
            <a:r>
              <a:rPr lang="es-ES" sz="2600" dirty="0" smtClean="0"/>
              <a:t> </a:t>
            </a:r>
            <a:r>
              <a:rPr lang="es-ES" sz="2600" dirty="0"/>
              <a:t>Se refiere al proceso y a las métricas utilizadas para evaluar y asegurar que el software cumple con los estándares de calidad. La calidad del software implica</a:t>
            </a:r>
            <a:r>
              <a:rPr lang="es-ES" sz="2600" dirty="0" smtClean="0"/>
              <a:t>:</a:t>
            </a:r>
          </a:p>
          <a:p>
            <a:pPr fontAlgn="auto">
              <a:lnSpc>
                <a:spcPct val="150000"/>
              </a:lnSpc>
              <a:spcAft>
                <a:spcPts val="0"/>
              </a:spcAft>
              <a:buClr>
                <a:schemeClr val="accent3"/>
              </a:buClr>
              <a:buFont typeface="Wingdings" pitchFamily="2" charset="2"/>
              <a:buChar char="Ø"/>
              <a:defRPr/>
            </a:pPr>
            <a:r>
              <a:rPr lang="es-ES" sz="2600" dirty="0" smtClean="0"/>
              <a:t>Pruebas </a:t>
            </a:r>
            <a:r>
              <a:rPr lang="es-ES" sz="2600" dirty="0"/>
              <a:t>y Validación: Implementación de pruebas sistemáticas (unitarias, de integración, funcionales, etc.) para identificar y corregir defectos.</a:t>
            </a:r>
          </a:p>
          <a:p>
            <a:pPr fontAlgn="auto">
              <a:lnSpc>
                <a:spcPct val="150000"/>
              </a:lnSpc>
              <a:spcAft>
                <a:spcPts val="0"/>
              </a:spcAft>
              <a:buClr>
                <a:schemeClr val="accent3"/>
              </a:buClr>
              <a:buFont typeface="Wingdings" pitchFamily="2" charset="2"/>
              <a:buChar char="Ø"/>
              <a:defRPr/>
            </a:pPr>
            <a:r>
              <a:rPr lang="es-ES" sz="2600" dirty="0" smtClean="0"/>
              <a:t>Métricas </a:t>
            </a:r>
            <a:r>
              <a:rPr lang="es-ES" sz="2600" dirty="0"/>
              <a:t>de Calidad: Uso de métricas como la cobertura de código, la densidad de defectos, el tiempo medio entre fallos (MTBF) y otros indicadores para evaluar la calidad del software.</a:t>
            </a:r>
          </a:p>
          <a:p>
            <a:pPr marL="0" indent="0" fontAlgn="auto">
              <a:lnSpc>
                <a:spcPct val="150000"/>
              </a:lnSpc>
              <a:spcAft>
                <a:spcPts val="0"/>
              </a:spcAft>
              <a:buClr>
                <a:schemeClr val="accent3"/>
              </a:buClr>
              <a:buNone/>
              <a:defRPr/>
            </a:pPr>
            <a:endParaRPr lang="es-ES" sz="2600" dirty="0" smtClean="0"/>
          </a:p>
          <a:p>
            <a:pPr marL="0" indent="38100" fontAlgn="auto">
              <a:spcAft>
                <a:spcPts val="0"/>
              </a:spcAft>
              <a:buClr>
                <a:schemeClr val="accent3"/>
              </a:buClr>
              <a:buFont typeface="Monotype Sorts" pitchFamily="2" charset="2"/>
              <a:buNone/>
              <a:defRPr/>
            </a:pPr>
            <a:endParaRPr lang="es-ES" sz="2600" dirty="0"/>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289881842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Software de calidad y calidad del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745194"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516835" y="1710187"/>
            <a:ext cx="11489635" cy="4968909"/>
          </a:xfrm>
        </p:spPr>
        <p:txBody>
          <a:bodyPr>
            <a:noAutofit/>
          </a:bodyPr>
          <a:lstStyle/>
          <a:p>
            <a:pPr marL="0" indent="38100" fontAlgn="auto">
              <a:spcAft>
                <a:spcPts val="0"/>
              </a:spcAft>
              <a:buClr>
                <a:schemeClr val="accent3"/>
              </a:buClr>
              <a:buFont typeface="Monotype Sorts" pitchFamily="2" charset="2"/>
              <a:buNone/>
              <a:defRPr/>
            </a:pPr>
            <a:r>
              <a:rPr lang="es-ES" sz="2600" dirty="0" smtClean="0"/>
              <a:t>Calidad </a:t>
            </a:r>
            <a:r>
              <a:rPr lang="es-ES" sz="2600" dirty="0"/>
              <a:t>del Software</a:t>
            </a:r>
          </a:p>
          <a:p>
            <a:pPr fontAlgn="auto">
              <a:lnSpc>
                <a:spcPct val="150000"/>
              </a:lnSpc>
              <a:spcAft>
                <a:spcPts val="0"/>
              </a:spcAft>
              <a:buClr>
                <a:schemeClr val="accent3"/>
              </a:buClr>
              <a:buFont typeface="Wingdings" pitchFamily="2" charset="2"/>
              <a:buChar char="Ø"/>
              <a:defRPr/>
            </a:pPr>
            <a:r>
              <a:rPr lang="es-ES" sz="2600" dirty="0"/>
              <a:t> </a:t>
            </a:r>
            <a:r>
              <a:rPr lang="es-ES" sz="2600" dirty="0" smtClean="0"/>
              <a:t>Proceso </a:t>
            </a:r>
            <a:r>
              <a:rPr lang="es-ES" sz="2600" dirty="0"/>
              <a:t>de Desarrollo: Adopción de metodologías ágiles, </a:t>
            </a:r>
            <a:r>
              <a:rPr lang="es-ES" sz="2600" dirty="0" err="1"/>
              <a:t>DevOps</a:t>
            </a:r>
            <a:r>
              <a:rPr lang="es-ES" sz="2600" dirty="0"/>
              <a:t>, o modelos en cascada que fomentan buenas prácticas en el desarrollo para mejorar la calidad del producto final.</a:t>
            </a:r>
          </a:p>
          <a:p>
            <a:pPr fontAlgn="auto">
              <a:lnSpc>
                <a:spcPct val="150000"/>
              </a:lnSpc>
              <a:spcAft>
                <a:spcPts val="0"/>
              </a:spcAft>
              <a:buClr>
                <a:schemeClr val="accent3"/>
              </a:buClr>
              <a:buFont typeface="Wingdings" pitchFamily="2" charset="2"/>
              <a:buChar char="Ø"/>
              <a:defRPr/>
            </a:pPr>
            <a:r>
              <a:rPr lang="es-ES" sz="2600" dirty="0" smtClean="0"/>
              <a:t>Gestión </a:t>
            </a:r>
            <a:r>
              <a:rPr lang="es-ES" sz="2600" dirty="0"/>
              <a:t>de Riesgos: Identificación y mitigación de riesgos que podrían afectar la calidad del software durante su desarrollo y mantenimiento.</a:t>
            </a:r>
          </a:p>
          <a:p>
            <a:pPr marL="0" indent="0" fontAlgn="auto">
              <a:lnSpc>
                <a:spcPct val="150000"/>
              </a:lnSpc>
              <a:spcAft>
                <a:spcPts val="0"/>
              </a:spcAft>
              <a:buClr>
                <a:schemeClr val="accent3"/>
              </a:buClr>
              <a:buNone/>
              <a:defRPr/>
            </a:pPr>
            <a:endParaRPr lang="es-ES" sz="2600" dirty="0" smtClean="0"/>
          </a:p>
          <a:p>
            <a:pPr marL="0" indent="38100" fontAlgn="auto">
              <a:spcAft>
                <a:spcPts val="0"/>
              </a:spcAft>
              <a:buClr>
                <a:schemeClr val="accent3"/>
              </a:buClr>
              <a:buFont typeface="Monotype Sorts" pitchFamily="2" charset="2"/>
              <a:buNone/>
              <a:defRPr/>
            </a:pPr>
            <a:endParaRPr lang="es-ES" sz="2600" dirty="0"/>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280153545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Software de calidad y calidad del software</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337930" y="1710187"/>
            <a:ext cx="11668540" cy="4889396"/>
          </a:xfrm>
        </p:spPr>
        <p:txBody>
          <a:bodyPr>
            <a:noAutofit/>
          </a:bodyPr>
          <a:lstStyle/>
          <a:p>
            <a:pPr marL="0" indent="38100" fontAlgn="auto">
              <a:spcAft>
                <a:spcPts val="0"/>
              </a:spcAft>
              <a:buClr>
                <a:schemeClr val="accent3"/>
              </a:buClr>
              <a:buFont typeface="Monotype Sorts" pitchFamily="2" charset="2"/>
              <a:buNone/>
              <a:defRPr/>
            </a:pPr>
            <a:r>
              <a:rPr lang="es-ES" sz="2600" dirty="0"/>
              <a:t>Relación entre Ambos Conceptos</a:t>
            </a:r>
          </a:p>
          <a:p>
            <a:pPr fontAlgn="auto">
              <a:lnSpc>
                <a:spcPct val="150000"/>
              </a:lnSpc>
              <a:spcAft>
                <a:spcPts val="0"/>
              </a:spcAft>
              <a:buClr>
                <a:schemeClr val="accent3"/>
              </a:buClr>
              <a:buFont typeface="Wingdings" pitchFamily="2" charset="2"/>
              <a:buChar char="Ø"/>
              <a:defRPr/>
            </a:pPr>
            <a:r>
              <a:rPr lang="es-ES" sz="2600" dirty="0" smtClean="0"/>
              <a:t> </a:t>
            </a:r>
            <a:r>
              <a:rPr lang="es-ES" sz="2600" dirty="0"/>
              <a:t>Interdependencia: Un software de calidad es el resultado de un enfoque sólido en la calidad del software. Las prácticas y procesos implementados para asegurar la calidad son fundamentales para lograr un producto final que cumpla con las expectativas.</a:t>
            </a:r>
          </a:p>
          <a:p>
            <a:pPr fontAlgn="auto">
              <a:lnSpc>
                <a:spcPct val="150000"/>
              </a:lnSpc>
              <a:spcAft>
                <a:spcPts val="0"/>
              </a:spcAft>
              <a:buClr>
                <a:schemeClr val="accent3"/>
              </a:buClr>
              <a:buFont typeface="Wingdings" pitchFamily="2" charset="2"/>
              <a:buChar char="Ø"/>
              <a:defRPr/>
            </a:pPr>
            <a:r>
              <a:rPr lang="es-ES" sz="2600" dirty="0" smtClean="0"/>
              <a:t>  Ciclo </a:t>
            </a:r>
            <a:r>
              <a:rPr lang="es-ES" sz="2600" dirty="0"/>
              <a:t>de Vida: La calidad del software debe ser considerada a lo largo de todo el ciclo de vida del desarrollo, desde la planificación y diseño hasta la implementación, mantenimiento y eventual retiro del software.</a:t>
            </a:r>
          </a:p>
          <a:p>
            <a:pPr marL="0" indent="38100" fontAlgn="auto">
              <a:spcAft>
                <a:spcPts val="0"/>
              </a:spcAft>
              <a:buClr>
                <a:schemeClr val="accent3"/>
              </a:buClr>
              <a:buFont typeface="Monotype Sorts" pitchFamily="2" charset="2"/>
              <a:buNone/>
              <a:defRPr/>
            </a:pPr>
            <a:endParaRPr lang="es-ES" sz="2600" dirty="0"/>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41460398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Características medibles de la calidad del software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271513"/>
          </a:xfrm>
        </p:spPr>
        <p:txBody>
          <a:bodyPr>
            <a:noAutofit/>
          </a:bodyPr>
          <a:lstStyle/>
          <a:p>
            <a:pPr>
              <a:lnSpc>
                <a:spcPct val="150000"/>
              </a:lnSpc>
              <a:buFont typeface="Wingdings" pitchFamily="2" charset="2"/>
              <a:buChar char="Ø"/>
            </a:pPr>
            <a:r>
              <a:rPr lang="es-ES" sz="2600" b="1" dirty="0">
                <a:solidFill>
                  <a:srgbClr val="000000"/>
                </a:solidFill>
                <a:latin typeface="+mj-lt"/>
              </a:rPr>
              <a:t>Corrección</a:t>
            </a:r>
            <a:r>
              <a:rPr lang="es-ES" sz="2600" dirty="0">
                <a:solidFill>
                  <a:srgbClr val="000000"/>
                </a:solidFill>
                <a:latin typeface="+mj-lt"/>
              </a:rPr>
              <a:t> es la capacidad de los productos de software de ejecutar las tareas exactas tal y como están definidas en sus </a:t>
            </a:r>
            <a:r>
              <a:rPr lang="es-ES" sz="2600" dirty="0" smtClean="0">
                <a:solidFill>
                  <a:srgbClr val="000000"/>
                </a:solidFill>
                <a:latin typeface="+mj-lt"/>
              </a:rPr>
              <a:t>ESPECIFICACIONES</a:t>
            </a:r>
          </a:p>
          <a:p>
            <a:pPr>
              <a:lnSpc>
                <a:spcPct val="150000"/>
              </a:lnSpc>
              <a:buFont typeface="Wingdings" pitchFamily="2" charset="2"/>
              <a:buChar char="Ø"/>
            </a:pPr>
            <a:r>
              <a:rPr lang="es-ES" sz="2600" b="1" dirty="0">
                <a:solidFill>
                  <a:srgbClr val="000000"/>
                </a:solidFill>
                <a:latin typeface="+mj-lt"/>
              </a:rPr>
              <a:t>Robustez</a:t>
            </a:r>
            <a:r>
              <a:rPr lang="es-ES" sz="2600" dirty="0">
                <a:solidFill>
                  <a:srgbClr val="000000"/>
                </a:solidFill>
                <a:latin typeface="+mj-lt"/>
              </a:rPr>
              <a:t> es la capacidad de los sistemas de software de reaccionar apropiadamente ante condiciones anormales	</a:t>
            </a:r>
            <a:r>
              <a:rPr lang="es-ES" sz="2600" dirty="0" smtClean="0">
                <a:solidFill>
                  <a:srgbClr val="000000"/>
                </a:solidFill>
                <a:latin typeface="+mj-lt"/>
              </a:rPr>
              <a:t>(Se </a:t>
            </a:r>
            <a:r>
              <a:rPr lang="es-ES" sz="2600" dirty="0">
                <a:solidFill>
                  <a:srgbClr val="000000"/>
                </a:solidFill>
                <a:latin typeface="+mj-lt"/>
              </a:rPr>
              <a:t>refiere por tanto a CASOS NO CUBIERTOS POR LA </a:t>
            </a:r>
            <a:r>
              <a:rPr lang="es-ES" sz="2600" dirty="0" smtClean="0">
                <a:solidFill>
                  <a:srgbClr val="000000"/>
                </a:solidFill>
                <a:latin typeface="+mj-lt"/>
              </a:rPr>
              <a:t>ESPECIFICACIÓN)</a:t>
            </a:r>
            <a:endParaRPr lang="es-ES" sz="2600" dirty="0">
              <a:solidFill>
                <a:srgbClr val="000000"/>
              </a:solidFill>
              <a:latin typeface="+mj-lt"/>
            </a:endParaRPr>
          </a:p>
          <a:p>
            <a:pPr>
              <a:lnSpc>
                <a:spcPct val="150000"/>
              </a:lnSpc>
              <a:buFont typeface="Wingdings" pitchFamily="2" charset="2"/>
              <a:buChar char="Ø"/>
            </a:pPr>
            <a:r>
              <a:rPr lang="es-ES" sz="2600" b="1" dirty="0">
                <a:solidFill>
                  <a:srgbClr val="000000"/>
                </a:solidFill>
                <a:latin typeface="+mj-lt"/>
              </a:rPr>
              <a:t>EXTENSIBILIDAD</a:t>
            </a:r>
            <a:r>
              <a:rPr lang="es-ES" sz="2600" dirty="0">
                <a:solidFill>
                  <a:srgbClr val="000000"/>
                </a:solidFill>
                <a:latin typeface="+mj-lt"/>
              </a:rPr>
              <a:t> es la facilidad de adaptar los productos de software a los cambios de especificación	</a:t>
            </a: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240705383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Características medibles de la calidad del software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271513"/>
          </a:xfrm>
        </p:spPr>
        <p:txBody>
          <a:bodyPr>
            <a:noAutofit/>
          </a:bodyPr>
          <a:lstStyle/>
          <a:p>
            <a:pPr>
              <a:lnSpc>
                <a:spcPct val="150000"/>
              </a:lnSpc>
              <a:buFont typeface="Wingdings" pitchFamily="2" charset="2"/>
              <a:buChar char="Ø"/>
            </a:pPr>
            <a:r>
              <a:rPr lang="es-ES" sz="2600" b="1" dirty="0" smtClean="0">
                <a:solidFill>
                  <a:srgbClr val="000000"/>
                </a:solidFill>
                <a:latin typeface="+mj-lt"/>
              </a:rPr>
              <a:t>REUSABILIDAD</a:t>
            </a:r>
            <a:r>
              <a:rPr lang="es-ES" sz="2600" dirty="0" smtClean="0">
                <a:solidFill>
                  <a:srgbClr val="000000"/>
                </a:solidFill>
                <a:latin typeface="+mj-lt"/>
              </a:rPr>
              <a:t> es la capacidad de los elementos de software de servir para la construcción de muchas aplicaciones diferentes</a:t>
            </a:r>
          </a:p>
          <a:p>
            <a:pPr>
              <a:lnSpc>
                <a:spcPct val="150000"/>
              </a:lnSpc>
              <a:buFont typeface="Wingdings" pitchFamily="2" charset="2"/>
              <a:buChar char="Ø"/>
            </a:pPr>
            <a:r>
              <a:rPr lang="es-ES" sz="2600" b="1" dirty="0" smtClean="0">
                <a:solidFill>
                  <a:srgbClr val="000000"/>
                </a:solidFill>
                <a:latin typeface="+mj-lt"/>
              </a:rPr>
              <a:t>EFICIENCIA</a:t>
            </a:r>
            <a:r>
              <a:rPr lang="es-ES" sz="2600" dirty="0" smtClean="0">
                <a:solidFill>
                  <a:srgbClr val="000000"/>
                </a:solidFill>
                <a:latin typeface="+mj-lt"/>
              </a:rPr>
              <a:t> es la capacidad de un sistema de software de exigir la menor cantidad de recursos de hardware para cumplir sus funciones</a:t>
            </a:r>
          </a:p>
          <a:p>
            <a:pPr>
              <a:lnSpc>
                <a:spcPct val="150000"/>
              </a:lnSpc>
              <a:buFont typeface="Wingdings" pitchFamily="2" charset="2"/>
              <a:buChar char="Ø"/>
            </a:pPr>
            <a:r>
              <a:rPr lang="es-ES" sz="2600" b="1" dirty="0">
                <a:solidFill>
                  <a:srgbClr val="000000"/>
                </a:solidFill>
                <a:latin typeface="+mj-lt"/>
              </a:rPr>
              <a:t>COMPATIBILIDAD</a:t>
            </a:r>
            <a:r>
              <a:rPr lang="es-ES" sz="2600" dirty="0">
                <a:solidFill>
                  <a:srgbClr val="000000"/>
                </a:solidFill>
                <a:latin typeface="+mj-lt"/>
              </a:rPr>
              <a:t> es la facilidad de combinar elementos de software con otros	</a:t>
            </a: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26019733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Características medibles de la calidad del software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710187"/>
            <a:ext cx="10058400" cy="4271513"/>
          </a:xfrm>
        </p:spPr>
        <p:txBody>
          <a:bodyPr>
            <a:noAutofit/>
          </a:bodyPr>
          <a:lstStyle/>
          <a:p>
            <a:pPr>
              <a:lnSpc>
                <a:spcPct val="150000"/>
              </a:lnSpc>
              <a:buFont typeface="Wingdings" pitchFamily="2" charset="2"/>
              <a:buChar char="Ø"/>
            </a:pPr>
            <a:r>
              <a:rPr lang="es-ES" sz="2600" b="1" dirty="0" smtClean="0">
                <a:solidFill>
                  <a:srgbClr val="000000"/>
                </a:solidFill>
                <a:latin typeface="+mj-lt"/>
              </a:rPr>
              <a:t>PORTABILIDAD</a:t>
            </a:r>
            <a:r>
              <a:rPr lang="es-ES" sz="2600" dirty="0" smtClean="0">
                <a:solidFill>
                  <a:srgbClr val="000000"/>
                </a:solidFill>
                <a:latin typeface="+mj-lt"/>
              </a:rPr>
              <a:t> </a:t>
            </a:r>
            <a:r>
              <a:rPr lang="es-ES" sz="2600" dirty="0">
                <a:solidFill>
                  <a:srgbClr val="000000"/>
                </a:solidFill>
                <a:latin typeface="+mj-lt"/>
              </a:rPr>
              <a:t>es la facilidad de transferir los productos de software a varios entornos de hardware y software	</a:t>
            </a:r>
          </a:p>
          <a:p>
            <a:pPr>
              <a:lnSpc>
                <a:spcPct val="150000"/>
              </a:lnSpc>
              <a:buFont typeface="Wingdings" pitchFamily="2" charset="2"/>
              <a:buChar char="Ø"/>
            </a:pPr>
            <a:r>
              <a:rPr lang="es-ES" sz="2600" b="1" dirty="0">
                <a:solidFill>
                  <a:srgbClr val="000000"/>
                </a:solidFill>
                <a:latin typeface="+mj-lt"/>
              </a:rPr>
              <a:t>FACILIDAD DE USO </a:t>
            </a:r>
            <a:r>
              <a:rPr lang="es-ES" sz="2600" dirty="0">
                <a:solidFill>
                  <a:srgbClr val="000000"/>
                </a:solidFill>
                <a:latin typeface="+mj-lt"/>
              </a:rPr>
              <a:t>es la facilidad con la cual las personas de diferentes formaciones y calificaciones pueden aprender a usar los productos de software y aplicarlos a resolver problemas</a:t>
            </a: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399987476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Resumen</a:t>
            </a:r>
          </a:p>
        </p:txBody>
      </p:sp>
      <p:sp>
        <p:nvSpPr>
          <p:cNvPr id="3" name="Marcador de contenido 2"/>
          <p:cNvSpPr>
            <a:spLocks noGrp="1"/>
          </p:cNvSpPr>
          <p:nvPr>
            <p:ph idx="1"/>
          </p:nvPr>
        </p:nvSpPr>
        <p:spPr>
          <a:xfrm>
            <a:off x="1097279" y="1886075"/>
            <a:ext cx="10948947" cy="4023360"/>
          </a:xfrm>
        </p:spPr>
        <p:txBody>
          <a:bodyPr>
            <a:noAutofit/>
          </a:bodyPr>
          <a:lstStyle/>
          <a:p>
            <a:pPr lvl="0" algn="just">
              <a:buFont typeface="Wingdings" panose="05000000000000000000" pitchFamily="2" charset="2"/>
              <a:buChar char="Ø"/>
            </a:pPr>
            <a:r>
              <a:rPr lang="es-ES" sz="2600" dirty="0" smtClean="0"/>
              <a:t>Para la producción de software es necesario entender primero el QUE para después pensar en el COMO</a:t>
            </a:r>
            <a:endParaRPr lang="es-ES" sz="2600" dirty="0"/>
          </a:p>
          <a:p>
            <a:pPr lvl="0" algn="just">
              <a:buFont typeface="Wingdings" panose="05000000000000000000" pitchFamily="2" charset="2"/>
              <a:buChar char="Ø"/>
            </a:pPr>
            <a:r>
              <a:rPr lang="es-ES" sz="2600" dirty="0" smtClean="0"/>
              <a:t>El QUE se obtiene en la etapa de análisis del ciclo de vida , recogida de requerimientos  </a:t>
            </a:r>
            <a:endParaRPr lang="es-ES" sz="2600" dirty="0"/>
          </a:p>
          <a:p>
            <a:pPr lvl="0" algn="just">
              <a:buFont typeface="Wingdings" panose="05000000000000000000" pitchFamily="2" charset="2"/>
              <a:buChar char="Ø"/>
            </a:pPr>
            <a:r>
              <a:rPr lang="es-ES" sz="2600" dirty="0" smtClean="0"/>
              <a:t>El COMO se ejecuta en las restantes etapas del ciclo de vida y se emplean metodologías </a:t>
            </a:r>
          </a:p>
          <a:p>
            <a:pPr lvl="0" algn="just">
              <a:buFont typeface="Wingdings" panose="05000000000000000000" pitchFamily="2" charset="2"/>
              <a:buChar char="Ø"/>
            </a:pPr>
            <a:r>
              <a:rPr lang="es-ES" sz="2600" dirty="0" smtClean="0"/>
              <a:t>Entender la ingeniería de software como un proceso donde intervienen variables de tiempo, presupuesto, recursos, performance </a:t>
            </a:r>
            <a:endParaRPr lang="es-ES" sz="2600" dirty="0"/>
          </a:p>
          <a:p>
            <a:pPr marL="0" indent="0">
              <a:spcBef>
                <a:spcPct val="20000"/>
              </a:spcBef>
              <a:buNone/>
            </a:pPr>
            <a:endParaRPr lang="en-US" sz="2600"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Tree>
    <p:extLst>
      <p:ext uri="{BB962C8B-B14F-4D97-AF65-F5344CB8AC3E}">
        <p14:creationId xmlns:p14="http://schemas.microsoft.com/office/powerpoint/2010/main" val="3158860671"/>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11568</TotalTime>
  <Words>5240</Words>
  <Application>Microsoft Office PowerPoint</Application>
  <PresentationFormat>Personalizado</PresentationFormat>
  <Paragraphs>575</Paragraphs>
  <Slides>55</Slides>
  <Notes>48</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55</vt:i4>
      </vt:variant>
    </vt:vector>
  </HeadingPairs>
  <TitlesOfParts>
    <vt:vector size="57" baseType="lpstr">
      <vt:lpstr>Retrospección</vt:lpstr>
      <vt:lpstr>Gráfico</vt:lpstr>
      <vt:lpstr>Introducción a la asignatura. Concepto de Ingeniería de software, Ciclo de vida, calidad </vt:lpstr>
      <vt:lpstr>Sumario:</vt:lpstr>
      <vt:lpstr>¿Cómo se evalúa la asignatura ?</vt:lpstr>
      <vt:lpstr>¿Es útil saber de Ingeniería de Software(IS)? Sacado del grupo de telegram CubanTech Jobs</vt:lpstr>
      <vt:lpstr>¿Qué  es Ingeniería de Software?</vt:lpstr>
      <vt:lpstr>¿Qué es software para un estudiante?</vt:lpstr>
      <vt:lpstr>¿Qué es software para un profesional?</vt:lpstr>
      <vt:lpstr>Entonces ...  ¿Que es Ingeniería de Software?</vt:lpstr>
      <vt:lpstr>¿Como surgió y se desarrolló?</vt:lpstr>
      <vt:lpstr>¿Como surgió y se desarrolló?</vt:lpstr>
      <vt:lpstr>¿Como surgió y se desarrolló?</vt:lpstr>
      <vt:lpstr>¿Cómo debe ser un ingeniero de software?</vt:lpstr>
      <vt:lpstr>¿Por qué es complejo el proceso de desarrollo de Software?</vt:lpstr>
      <vt:lpstr>¿Por qué es complejo el proceso de desarrollo de Software?</vt:lpstr>
      <vt:lpstr>¿Por qué es complejo el proceso de desarrollo de Software?</vt:lpstr>
      <vt:lpstr>¿Por qué es complejo el proceso de desarrollo de Software?</vt:lpstr>
      <vt:lpstr>¿Cuál es la situación actual ?</vt:lpstr>
      <vt:lpstr>¿Cuál es la situación actual ?</vt:lpstr>
      <vt:lpstr>¿Cuál es la situación actual ?</vt:lpstr>
      <vt:lpstr>Ciclo de Vida del Software</vt:lpstr>
      <vt:lpstr>Ciclo de Vida del Software</vt:lpstr>
      <vt:lpstr>Ciclo de Vida del Software Modelo Cascada</vt:lpstr>
      <vt:lpstr>Ciclo de Vida del Software Modelo Cascada</vt:lpstr>
      <vt:lpstr>Ciclo de Vida del Software Modelo Cascada</vt:lpstr>
      <vt:lpstr>Ciclo de Vida del Software</vt:lpstr>
      <vt:lpstr>Ciclo de Vida del Software Modelo de la espiral</vt:lpstr>
      <vt:lpstr>Ciclo de Vida del Software Modelo de la espiral</vt:lpstr>
      <vt:lpstr>Ciclo de Vida del Software Modelo de la espiral</vt:lpstr>
      <vt:lpstr>Ciclo de Vida del Software Etapa de Análisis </vt:lpstr>
      <vt:lpstr>Ciclo de Vida del Software Etapa de Diseño</vt:lpstr>
      <vt:lpstr>Ciclo de Vida del Software Los métodos</vt:lpstr>
      <vt:lpstr>¿Qué es Administración de Proyectos de Software?</vt:lpstr>
      <vt:lpstr>¿Qué es Administración de Proyectos de Software?</vt:lpstr>
      <vt:lpstr>¿Qué es Administración de Proyectos de Software?</vt:lpstr>
      <vt:lpstr>¿Qué es Economía de un Proyecto de Software?</vt:lpstr>
      <vt:lpstr>¿Qué es Economía de un Proyecto de Software?</vt:lpstr>
      <vt:lpstr>¿Qué es Economía de un Proyecto de Software?</vt:lpstr>
      <vt:lpstr>¿Qué es Economía de un Proyecto de Software?</vt:lpstr>
      <vt:lpstr>¿Cómo debe ser el equipo de desarrollo?</vt:lpstr>
      <vt:lpstr>¿Qué pasos debemos seguir para enfrentar un Proyecto de Software?</vt:lpstr>
      <vt:lpstr>¿Qué pasos debemos seguir para enfrentar un Proyecto de Software?</vt:lpstr>
      <vt:lpstr>¿Qué pasos debemos seguir para enfrentar un Proyecto de Software?</vt:lpstr>
      <vt:lpstr>¿Qué pasos debemos seguir para enfrentar un Proyecto de Software?</vt:lpstr>
      <vt:lpstr>¿Qué pasos debemos seguir para enfrentar un Proyecto de Software?</vt:lpstr>
      <vt:lpstr>¿Cómo  queremos que sea el software?</vt:lpstr>
      <vt:lpstr>¿Cómo  queremos que sea el software?</vt:lpstr>
      <vt:lpstr>Software de calidad y calidad del software</vt:lpstr>
      <vt:lpstr>Software de calidad y calidad del software</vt:lpstr>
      <vt:lpstr>Software de calidad y calidad del software</vt:lpstr>
      <vt:lpstr>Software de calidad y calidad del software</vt:lpstr>
      <vt:lpstr>Software de calidad y calidad del software</vt:lpstr>
      <vt:lpstr>Características medibles de la calidad del software </vt:lpstr>
      <vt:lpstr>Características medibles de la calidad del software </vt:lpstr>
      <vt:lpstr>Características medibles de la calidad del software </vt:lpstr>
      <vt:lpstr>Resumen</vt:lpstr>
    </vt:vector>
  </TitlesOfParts>
  <Company>Universidad de Málaga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Proyectos Software</dc:title>
  <dc:creator>Aracelys</dc:creator>
  <cp:lastModifiedBy>Admin</cp:lastModifiedBy>
  <cp:revision>292</cp:revision>
  <dcterms:created xsi:type="dcterms:W3CDTF">2016-09-19T15:25:44Z</dcterms:created>
  <dcterms:modified xsi:type="dcterms:W3CDTF">2026-04-14T16:33:20Z</dcterms:modified>
</cp:coreProperties>
</file>