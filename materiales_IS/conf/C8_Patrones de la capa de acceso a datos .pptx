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70" r:id="rId1"/>
  </p:sldMasterIdLst>
  <p:notesMasterIdLst>
    <p:notesMasterId r:id="rId55"/>
  </p:notesMasterIdLst>
  <p:handoutMasterIdLst>
    <p:handoutMasterId r:id="rId56"/>
  </p:handoutMasterIdLst>
  <p:sldIdLst>
    <p:sldId id="446" r:id="rId2"/>
    <p:sldId id="258" r:id="rId3"/>
    <p:sldId id="835" r:id="rId4"/>
    <p:sldId id="763" r:id="rId5"/>
    <p:sldId id="837" r:id="rId6"/>
    <p:sldId id="850" r:id="rId7"/>
    <p:sldId id="851" r:id="rId8"/>
    <p:sldId id="852" r:id="rId9"/>
    <p:sldId id="855" r:id="rId10"/>
    <p:sldId id="856" r:id="rId11"/>
    <p:sldId id="857" r:id="rId12"/>
    <p:sldId id="867" r:id="rId13"/>
    <p:sldId id="847" r:id="rId14"/>
    <p:sldId id="838" r:id="rId15"/>
    <p:sldId id="839" r:id="rId16"/>
    <p:sldId id="848" r:id="rId17"/>
    <p:sldId id="862" r:id="rId18"/>
    <p:sldId id="863" r:id="rId19"/>
    <p:sldId id="864" r:id="rId20"/>
    <p:sldId id="868" r:id="rId21"/>
    <p:sldId id="869" r:id="rId22"/>
    <p:sldId id="915" r:id="rId23"/>
    <p:sldId id="871" r:id="rId24"/>
    <p:sldId id="881" r:id="rId25"/>
    <p:sldId id="882" r:id="rId26"/>
    <p:sldId id="885" r:id="rId27"/>
    <p:sldId id="872" r:id="rId28"/>
    <p:sldId id="875" r:id="rId29"/>
    <p:sldId id="879" r:id="rId30"/>
    <p:sldId id="880" r:id="rId31"/>
    <p:sldId id="876" r:id="rId32"/>
    <p:sldId id="888" r:id="rId33"/>
    <p:sldId id="892" r:id="rId34"/>
    <p:sldId id="916" r:id="rId35"/>
    <p:sldId id="895" r:id="rId36"/>
    <p:sldId id="896" r:id="rId37"/>
    <p:sldId id="897" r:id="rId38"/>
    <p:sldId id="898" r:id="rId39"/>
    <p:sldId id="917" r:id="rId40"/>
    <p:sldId id="918" r:id="rId41"/>
    <p:sldId id="919" r:id="rId42"/>
    <p:sldId id="920" r:id="rId43"/>
    <p:sldId id="921" r:id="rId44"/>
    <p:sldId id="928" r:id="rId45"/>
    <p:sldId id="929" r:id="rId46"/>
    <p:sldId id="922" r:id="rId47"/>
    <p:sldId id="923" r:id="rId48"/>
    <p:sldId id="925" r:id="rId49"/>
    <p:sldId id="926" r:id="rId50"/>
    <p:sldId id="927" r:id="rId51"/>
    <p:sldId id="899" r:id="rId52"/>
    <p:sldId id="900" r:id="rId53"/>
    <p:sldId id="812" r:id="rId54"/>
  </p:sldIdLst>
  <p:sldSz cx="12192000" cy="6858000"/>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Sin estilo, cuadrícula de la tabla">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749" autoAdjust="0"/>
    <p:restoredTop sz="77098" autoAdjust="0"/>
  </p:normalViewPr>
  <p:slideViewPr>
    <p:cSldViewPr snapToGrid="0">
      <p:cViewPr>
        <p:scale>
          <a:sx n="71" d="100"/>
          <a:sy n="71" d="100"/>
        </p:scale>
        <p:origin x="-702" y="486"/>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viewProps" Target="viewProp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handoutMaster" Target="handoutMasters/handoutMaster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ES"/>
          </a:p>
        </p:txBody>
      </p:sp>
      <p:sp>
        <p:nvSpPr>
          <p:cNvPr id="3" name="Marcador de fecha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9E54A35-C587-4D9E-88EB-28625A5AAE59}" type="datetimeFigureOut">
              <a:rPr lang="es-ES" smtClean="0"/>
              <a:t>04/10/2025</a:t>
            </a:fld>
            <a:endParaRPr lang="es-ES"/>
          </a:p>
        </p:txBody>
      </p:sp>
      <p:sp>
        <p:nvSpPr>
          <p:cNvPr id="4" name="Marcador de pie de página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s-ES"/>
          </a:p>
        </p:txBody>
      </p:sp>
      <p:sp>
        <p:nvSpPr>
          <p:cNvPr id="5" name="Marcador de número de diapositiva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0FB20A4-F458-406D-8DAC-3B8EE176367F}" type="slidenum">
              <a:rPr lang="es-ES" smtClean="0"/>
              <a:t>‹Nº›</a:t>
            </a:fld>
            <a:endParaRPr lang="es-ES"/>
          </a:p>
        </p:txBody>
      </p:sp>
    </p:spTree>
    <p:extLst>
      <p:ext uri="{BB962C8B-B14F-4D97-AF65-F5344CB8AC3E}">
        <p14:creationId xmlns:p14="http://schemas.microsoft.com/office/powerpoint/2010/main" val="2820722544"/>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ES"/>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BB2E9DD-9C30-4075-A3B5-08E83A83D8F0}" type="datetimeFigureOut">
              <a:rPr lang="es-ES" smtClean="0"/>
              <a:t>04/10/2025</a:t>
            </a:fld>
            <a:endParaRPr lang="es-ES"/>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ES"/>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ES"/>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FD236AF-7B77-41A3-9722-60AF9BD7B607}" type="slidenum">
              <a:rPr lang="es-ES" smtClean="0"/>
              <a:t>‹Nº›</a:t>
            </a:fld>
            <a:endParaRPr lang="es-ES"/>
          </a:p>
        </p:txBody>
      </p:sp>
    </p:spTree>
    <p:extLst>
      <p:ext uri="{BB962C8B-B14F-4D97-AF65-F5344CB8AC3E}">
        <p14:creationId xmlns:p14="http://schemas.microsoft.com/office/powerpoint/2010/main" val="2652859226"/>
      </p:ext>
    </p:extLst>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8547" name="Text Box 1"/>
          <p:cNvSpPr txBox="1">
            <a:spLocks noChangeArrowheads="1"/>
          </p:cNvSpPr>
          <p:nvPr/>
        </p:nvSpPr>
        <p:spPr bwMode="auto">
          <a:xfrm>
            <a:off x="1143000" y="685800"/>
            <a:ext cx="4572000" cy="3429000"/>
          </a:xfrm>
          <a:prstGeom prst="rect">
            <a:avLst/>
          </a:prstGeom>
          <a:solidFill>
            <a:srgbClr val="FFFFFF"/>
          </a:solidFill>
          <a:ln w="9525">
            <a:solidFill>
              <a:srgbClr val="000000"/>
            </a:solidFill>
            <a:miter lim="800000"/>
            <a:headEnd/>
            <a:tailEnd/>
          </a:ln>
        </p:spPr>
        <p:txBody>
          <a:bodyPr wrap="none" anchor="ctr"/>
          <a:lstStyle>
            <a:lvl1pPr eaLnBrk="0" hangingPunct="0">
              <a:buClr>
                <a:srgbClr val="000000"/>
              </a:buClr>
              <a:buSzPct val="100000"/>
              <a:buFont typeface="Times New Roman" panose="02020603050405020304" pitchFamily="18" charset="0"/>
              <a:defRPr sz="2400">
                <a:solidFill>
                  <a:schemeClr val="bg1"/>
                </a:solidFill>
                <a:latin typeface="Times New Roman" panose="02020603050405020304" pitchFamily="18" charset="0"/>
                <a:ea typeface="Arial Unicode MS" panose="020B0604020202020204" pitchFamily="34" charset="-128"/>
                <a:cs typeface="Arial Unicode MS" panose="020B0604020202020204" pitchFamily="34" charset="-128"/>
              </a:defRPr>
            </a:lvl1pPr>
            <a:lvl2pPr marL="742950" indent="-285750" eaLnBrk="0" hangingPunct="0">
              <a:buClr>
                <a:srgbClr val="000000"/>
              </a:buClr>
              <a:buSzPct val="100000"/>
              <a:buFont typeface="Times New Roman" panose="02020603050405020304" pitchFamily="18" charset="0"/>
              <a:defRPr sz="2400">
                <a:solidFill>
                  <a:schemeClr val="bg1"/>
                </a:solidFill>
                <a:latin typeface="Times New Roman" panose="02020603050405020304" pitchFamily="18" charset="0"/>
                <a:ea typeface="Arial Unicode MS" panose="020B0604020202020204" pitchFamily="34" charset="-128"/>
                <a:cs typeface="Arial Unicode MS" panose="020B0604020202020204" pitchFamily="34" charset="-128"/>
              </a:defRPr>
            </a:lvl2pPr>
            <a:lvl3pPr marL="1143000" indent="-228600" eaLnBrk="0" hangingPunct="0">
              <a:buClr>
                <a:srgbClr val="000000"/>
              </a:buClr>
              <a:buSzPct val="100000"/>
              <a:buFont typeface="Times New Roman" panose="02020603050405020304" pitchFamily="18" charset="0"/>
              <a:defRPr sz="2400">
                <a:solidFill>
                  <a:schemeClr val="bg1"/>
                </a:solidFill>
                <a:latin typeface="Times New Roman" panose="02020603050405020304" pitchFamily="18" charset="0"/>
                <a:ea typeface="Arial Unicode MS" panose="020B0604020202020204" pitchFamily="34" charset="-128"/>
                <a:cs typeface="Arial Unicode MS" panose="020B0604020202020204" pitchFamily="34" charset="-128"/>
              </a:defRPr>
            </a:lvl3pPr>
            <a:lvl4pPr marL="1600200" indent="-228600" eaLnBrk="0" hangingPunct="0">
              <a:buClr>
                <a:srgbClr val="000000"/>
              </a:buClr>
              <a:buSzPct val="100000"/>
              <a:buFont typeface="Times New Roman" panose="02020603050405020304" pitchFamily="18" charset="0"/>
              <a:defRPr sz="2400">
                <a:solidFill>
                  <a:schemeClr val="bg1"/>
                </a:solidFill>
                <a:latin typeface="Times New Roman" panose="02020603050405020304" pitchFamily="18" charset="0"/>
                <a:ea typeface="Arial Unicode MS" panose="020B0604020202020204" pitchFamily="34" charset="-128"/>
                <a:cs typeface="Arial Unicode MS" panose="020B0604020202020204" pitchFamily="34" charset="-128"/>
              </a:defRPr>
            </a:lvl4pPr>
            <a:lvl5pPr marL="2057400" indent="-228600" eaLnBrk="0" hangingPunct="0">
              <a:buClr>
                <a:srgbClr val="000000"/>
              </a:buClr>
              <a:buSzPct val="100000"/>
              <a:buFont typeface="Times New Roman" panose="02020603050405020304" pitchFamily="18" charset="0"/>
              <a:defRPr sz="2400">
                <a:solidFill>
                  <a:schemeClr val="bg1"/>
                </a:solidFill>
                <a:latin typeface="Times New Roman" panose="02020603050405020304" pitchFamily="18" charset="0"/>
                <a:ea typeface="Arial Unicode MS" panose="020B0604020202020204" pitchFamily="34" charset="-128"/>
                <a:cs typeface="Arial Unicode MS" panose="020B0604020202020204" pitchFamily="34" charset="-128"/>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defRPr sz="2400">
                <a:solidFill>
                  <a:schemeClr val="bg1"/>
                </a:solidFill>
                <a:latin typeface="Times New Roman" panose="02020603050405020304" pitchFamily="18" charset="0"/>
                <a:ea typeface="Arial Unicode MS" panose="020B0604020202020204" pitchFamily="34" charset="-128"/>
                <a:cs typeface="Arial Unicode MS" panose="020B0604020202020204" pitchFamily="34" charset="-128"/>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defRPr sz="2400">
                <a:solidFill>
                  <a:schemeClr val="bg1"/>
                </a:solidFill>
                <a:latin typeface="Times New Roman" panose="02020603050405020304" pitchFamily="18" charset="0"/>
                <a:ea typeface="Arial Unicode MS" panose="020B0604020202020204" pitchFamily="34" charset="-128"/>
                <a:cs typeface="Arial Unicode MS" panose="020B0604020202020204" pitchFamily="34" charset="-128"/>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defRPr sz="2400">
                <a:solidFill>
                  <a:schemeClr val="bg1"/>
                </a:solidFill>
                <a:latin typeface="Times New Roman" panose="02020603050405020304" pitchFamily="18" charset="0"/>
                <a:ea typeface="Arial Unicode MS" panose="020B0604020202020204" pitchFamily="34" charset="-128"/>
                <a:cs typeface="Arial Unicode MS" panose="020B0604020202020204" pitchFamily="34" charset="-128"/>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defRPr sz="2400">
                <a:solidFill>
                  <a:schemeClr val="bg1"/>
                </a:solidFill>
                <a:latin typeface="Times New Roman" panose="02020603050405020304" pitchFamily="18" charset="0"/>
                <a:ea typeface="Arial Unicode MS" panose="020B0604020202020204" pitchFamily="34" charset="-128"/>
                <a:cs typeface="Arial Unicode MS" panose="020B0604020202020204" pitchFamily="34" charset="-128"/>
              </a:defRPr>
            </a:lvl9pPr>
          </a:lstStyle>
          <a:p>
            <a:pPr eaLnBrk="1" hangingPunct="1"/>
            <a:endParaRPr lang="en-US" dirty="0"/>
          </a:p>
        </p:txBody>
      </p:sp>
      <p:sp>
        <p:nvSpPr>
          <p:cNvPr id="108548" name="Rectangle 2"/>
          <p:cNvSpPr>
            <a:spLocks noGrp="1" noChangeArrowheads="1"/>
          </p:cNvSpPr>
          <p:nvPr>
            <p:ph type="body"/>
          </p:nvPr>
        </p:nvSpPr>
        <p:spPr>
          <a:xfrm>
            <a:off x="685800" y="4343400"/>
            <a:ext cx="54864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1" hangingPunct="1"/>
            <a:endParaRPr lang="en-US" dirty="0">
              <a:cs typeface="Arial" panose="020B0604020202020204" pitchFamily="34" charset="0"/>
            </a:endParaRPr>
          </a:p>
        </p:txBody>
      </p:sp>
    </p:spTree>
    <p:extLst>
      <p:ext uri="{BB962C8B-B14F-4D97-AF65-F5344CB8AC3E}">
        <p14:creationId xmlns:p14="http://schemas.microsoft.com/office/powerpoint/2010/main" val="110984164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9571" name="Rectangle 1"/>
          <p:cNvSpPr>
            <a:spLocks noGrp="1" noRot="1" noChangeAspect="1" noChangeArrowheads="1" noTextEdit="1"/>
          </p:cNvSpPr>
          <p:nvPr>
            <p:ph type="sldImg"/>
          </p:nvPr>
        </p:nvSpPr>
        <p:spPr>
          <a:xfrm>
            <a:off x="381000" y="685800"/>
            <a:ext cx="6096000" cy="3429000"/>
          </a:xfrm>
          <a:ln/>
        </p:spPr>
      </p:sp>
      <p:sp>
        <p:nvSpPr>
          <p:cNvPr id="109572" name="Text Box 2"/>
          <p:cNvSpPr>
            <a:spLocks noGrp="1" noChangeArrowheads="1"/>
          </p:cNvSpPr>
          <p:nvPr>
            <p:ph type="body" idx="1"/>
          </p:nvPr>
        </p:nvSpPr>
        <p:spPr>
          <a:xfrm>
            <a:off x="685800" y="4343400"/>
            <a:ext cx="54864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1" hangingPunct="1"/>
            <a:endParaRPr lang="en-US" dirty="0">
              <a:cs typeface="Arial" panose="020B0604020202020204" pitchFamily="34" charset="0"/>
            </a:endParaRPr>
          </a:p>
        </p:txBody>
      </p:sp>
    </p:spTree>
    <p:extLst>
      <p:ext uri="{BB962C8B-B14F-4D97-AF65-F5344CB8AC3E}">
        <p14:creationId xmlns:p14="http://schemas.microsoft.com/office/powerpoint/2010/main" val="97976060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9571" name="Rectangle 1"/>
          <p:cNvSpPr>
            <a:spLocks noGrp="1" noRot="1" noChangeAspect="1" noChangeArrowheads="1" noTextEdit="1"/>
          </p:cNvSpPr>
          <p:nvPr>
            <p:ph type="sldImg"/>
          </p:nvPr>
        </p:nvSpPr>
        <p:spPr>
          <a:xfrm>
            <a:off x="381000" y="685800"/>
            <a:ext cx="6096000" cy="3429000"/>
          </a:xfrm>
          <a:ln/>
        </p:spPr>
      </p:sp>
      <p:sp>
        <p:nvSpPr>
          <p:cNvPr id="109572" name="Text Box 2"/>
          <p:cNvSpPr>
            <a:spLocks noGrp="1" noChangeArrowheads="1"/>
          </p:cNvSpPr>
          <p:nvPr>
            <p:ph type="body" idx="1"/>
          </p:nvPr>
        </p:nvSpPr>
        <p:spPr>
          <a:xfrm>
            <a:off x="685800" y="4343400"/>
            <a:ext cx="54864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1" hangingPunct="1"/>
            <a:endParaRPr lang="en-US" dirty="0">
              <a:cs typeface="Arial" panose="020B0604020202020204" pitchFamily="34" charset="0"/>
            </a:endParaRPr>
          </a:p>
        </p:txBody>
      </p:sp>
    </p:spTree>
    <p:extLst>
      <p:ext uri="{BB962C8B-B14F-4D97-AF65-F5344CB8AC3E}">
        <p14:creationId xmlns:p14="http://schemas.microsoft.com/office/powerpoint/2010/main" val="97976060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r>
              <a:rPr lang="es-ES" noProof="0" dirty="0" smtClean="0"/>
              <a:t>Los patrones de acceso a datos </a:t>
            </a:r>
          </a:p>
          <a:p>
            <a:endParaRPr lang="es-ES" noProof="0" dirty="0" smtClean="0"/>
          </a:p>
          <a:p>
            <a:r>
              <a:rPr lang="es-ES" noProof="0" dirty="0" smtClean="0"/>
              <a:t>nos sirven para acceder a los datos, </a:t>
            </a:r>
          </a:p>
          <a:p>
            <a:endParaRPr lang="es-ES" noProof="0" dirty="0" smtClean="0"/>
          </a:p>
          <a:p>
            <a:r>
              <a:rPr lang="es-ES" noProof="0" dirty="0" smtClean="0"/>
              <a:t>nos permiten independizar a nuestra aplicación del origen de estos datos con el fin de garantizar la ignorancia de la persistencia</a:t>
            </a:r>
          </a:p>
          <a:p>
            <a:endParaRPr lang="es-ES" noProof="0" dirty="0" smtClean="0"/>
          </a:p>
          <a:p>
            <a:r>
              <a:rPr lang="es-ES" noProof="0" dirty="0" smtClean="0"/>
              <a:t>disminuyen la impedancia que existe entre la programación orientada a objetos y las bases de datos relacionales,, </a:t>
            </a:r>
          </a:p>
          <a:p>
            <a:r>
              <a:rPr lang="es-ES" noProof="0" dirty="0" smtClean="0"/>
              <a:t>como es bien</a:t>
            </a:r>
            <a:r>
              <a:rPr lang="es-ES" baseline="0" noProof="0" dirty="0" smtClean="0"/>
              <a:t> conocido estos dos mundos se trabajan de forma muy diferente</a:t>
            </a:r>
            <a:endParaRPr lang="es-ES" noProof="0" dirty="0" smtClean="0"/>
          </a:p>
          <a:p>
            <a:endParaRPr lang="es-ES" noProof="0" dirty="0" smtClean="0"/>
          </a:p>
          <a:p>
            <a:r>
              <a:rPr lang="es-ES" noProof="0" dirty="0" smtClean="0"/>
              <a:t>garantizan la </a:t>
            </a:r>
            <a:r>
              <a:rPr lang="es-ES" noProof="0" dirty="0" err="1" smtClean="0"/>
              <a:t>distributividad</a:t>
            </a:r>
            <a:r>
              <a:rPr lang="es-ES" noProof="0" dirty="0" smtClean="0"/>
              <a:t> de los datos y la concurrencia de los accesos a datos</a:t>
            </a:r>
          </a:p>
          <a:p>
            <a:endParaRPr lang="es-ES" noProof="0" dirty="0" smtClean="0"/>
          </a:p>
          <a:p>
            <a:r>
              <a:rPr lang="es-ES" noProof="0" dirty="0" smtClean="0"/>
              <a:t>Como observación final podemos decir que, </a:t>
            </a:r>
          </a:p>
          <a:p>
            <a:r>
              <a:rPr lang="es-ES" noProof="0" dirty="0" smtClean="0"/>
              <a:t>no todos los patrones de acceso a datos garantizan las mismas cosas</a:t>
            </a:r>
          </a:p>
          <a:p>
            <a:endParaRPr lang="es-ES" dirty="0" smtClean="0"/>
          </a:p>
        </p:txBody>
      </p:sp>
    </p:spTree>
    <p:extLst>
      <p:ext uri="{BB962C8B-B14F-4D97-AF65-F5344CB8AC3E}">
        <p14:creationId xmlns:p14="http://schemas.microsoft.com/office/powerpoint/2010/main" val="136988644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ES" dirty="0" smtClean="0"/>
          </a:p>
        </p:txBody>
      </p:sp>
    </p:spTree>
    <p:extLst>
      <p:ext uri="{BB962C8B-B14F-4D97-AF65-F5344CB8AC3E}">
        <p14:creationId xmlns:p14="http://schemas.microsoft.com/office/powerpoint/2010/main" val="136988644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r>
              <a:rPr lang="es-ES" dirty="0" smtClean="0"/>
              <a:t>El patrón </a:t>
            </a:r>
            <a:r>
              <a:rPr lang="es-ES" dirty="0" err="1" smtClean="0"/>
              <a:t>Row</a:t>
            </a:r>
            <a:r>
              <a:rPr lang="es-ES" dirty="0" smtClean="0"/>
              <a:t> Data Gateway es útil para aplicaciones donde se necesita un acceso simple y directo a los datos. Es especialmente efectivo en escenarios donde las operaciones sobre filas individuales son predominantes y donde se prefiere mantener las cosas simples sin introducir capas adicionales de abstracción. Sin embargo, en sistemas más complejos, puede ser beneficioso considerar otros patrones que ofrezcan mejor separación de preocupaciones y manejo de relaciones.</a:t>
            </a:r>
          </a:p>
        </p:txBody>
      </p:sp>
    </p:spTree>
    <p:extLst>
      <p:ext uri="{BB962C8B-B14F-4D97-AF65-F5344CB8AC3E}">
        <p14:creationId xmlns:p14="http://schemas.microsoft.com/office/powerpoint/2010/main" val="136988644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r>
              <a:rPr lang="es-ES" dirty="0" smtClean="0"/>
              <a:t>Descripción del código:</a:t>
            </a:r>
          </a:p>
          <a:p>
            <a:endParaRPr lang="es-ES" dirty="0" smtClean="0"/>
          </a:p>
          <a:p>
            <a:r>
              <a:rPr lang="es-ES" dirty="0" smtClean="0"/>
              <a:t>1. Clase </a:t>
            </a:r>
            <a:r>
              <a:rPr lang="es-ES" dirty="0" err="1" smtClean="0"/>
              <a:t>Person</a:t>
            </a:r>
            <a:r>
              <a:rPr lang="es-ES" dirty="0" smtClean="0"/>
              <a:t>:</a:t>
            </a:r>
          </a:p>
          <a:p>
            <a:endParaRPr lang="es-ES" dirty="0" smtClean="0"/>
          </a:p>
          <a:p>
            <a:r>
              <a:rPr lang="es-ES" dirty="0" smtClean="0"/>
              <a:t>   • Contiene propiedades para Id, </a:t>
            </a:r>
            <a:r>
              <a:rPr lang="es-ES" dirty="0" err="1" smtClean="0"/>
              <a:t>LastName</a:t>
            </a:r>
            <a:r>
              <a:rPr lang="es-ES" dirty="0" smtClean="0"/>
              <a:t>, </a:t>
            </a:r>
            <a:r>
              <a:rPr lang="es-ES" dirty="0" err="1" smtClean="0"/>
              <a:t>FirstName</a:t>
            </a:r>
            <a:r>
              <a:rPr lang="es-ES" dirty="0" smtClean="0"/>
              <a:t> y </a:t>
            </a:r>
            <a:r>
              <a:rPr lang="es-ES" dirty="0" err="1" smtClean="0"/>
              <a:t>NumberOfDependents</a:t>
            </a:r>
            <a:r>
              <a:rPr lang="es-ES" dirty="0" smtClean="0"/>
              <a:t>.</a:t>
            </a:r>
          </a:p>
          <a:p>
            <a:endParaRPr lang="es-ES" dirty="0" smtClean="0"/>
          </a:p>
          <a:p>
            <a:r>
              <a:rPr lang="es-ES" dirty="0" smtClean="0"/>
              <a:t>   • Tiene métodos para insertar (</a:t>
            </a:r>
            <a:r>
              <a:rPr lang="es-ES" dirty="0" err="1" smtClean="0"/>
              <a:t>Insert</a:t>
            </a:r>
            <a:r>
              <a:rPr lang="es-ES" dirty="0" smtClean="0"/>
              <a:t>), actualizar (</a:t>
            </a:r>
            <a:r>
              <a:rPr lang="es-ES" dirty="0" err="1" smtClean="0"/>
              <a:t>Update</a:t>
            </a:r>
            <a:r>
              <a:rPr lang="es-ES" dirty="0" smtClean="0"/>
              <a:t>) y eliminar (</a:t>
            </a:r>
            <a:r>
              <a:rPr lang="es-ES" dirty="0" err="1" smtClean="0"/>
              <a:t>Delete</a:t>
            </a:r>
            <a:r>
              <a:rPr lang="es-ES" dirty="0" smtClean="0"/>
              <a:t>) registros en la base de datos.</a:t>
            </a:r>
          </a:p>
          <a:p>
            <a:endParaRPr lang="es-ES" dirty="0" smtClean="0"/>
          </a:p>
          <a:p>
            <a:r>
              <a:rPr lang="es-ES" dirty="0" smtClean="0"/>
              <a:t>   • El método </a:t>
            </a:r>
            <a:r>
              <a:rPr lang="es-ES" dirty="0" err="1" smtClean="0"/>
              <a:t>GetExemption</a:t>
            </a:r>
            <a:r>
              <a:rPr lang="es-ES" dirty="0" smtClean="0"/>
              <a:t> calcula el monto total de exención basado en el número de dependientes.</a:t>
            </a:r>
          </a:p>
          <a:p>
            <a:endParaRPr lang="es-ES" dirty="0" smtClean="0"/>
          </a:p>
          <a:p>
            <a:r>
              <a:rPr lang="es-ES" dirty="0" smtClean="0"/>
              <a:t>2. Contexto de la base de datos:</a:t>
            </a:r>
          </a:p>
          <a:p>
            <a:endParaRPr lang="es-ES" dirty="0" smtClean="0"/>
          </a:p>
          <a:p>
            <a:r>
              <a:rPr lang="es-ES" dirty="0" smtClean="0"/>
              <a:t>   • La clase </a:t>
            </a:r>
            <a:r>
              <a:rPr lang="es-ES" dirty="0" err="1" smtClean="0"/>
              <a:t>ApplicationDbContext</a:t>
            </a:r>
            <a:r>
              <a:rPr lang="es-ES" dirty="0" smtClean="0"/>
              <a:t> hereda de </a:t>
            </a:r>
            <a:r>
              <a:rPr lang="es-ES" dirty="0" err="1" smtClean="0"/>
              <a:t>DbContext</a:t>
            </a:r>
            <a:r>
              <a:rPr lang="es-ES" dirty="0" smtClean="0"/>
              <a:t> y contiene un </a:t>
            </a:r>
            <a:r>
              <a:rPr lang="es-ES" dirty="0" err="1" smtClean="0"/>
              <a:t>DbSet</a:t>
            </a:r>
            <a:r>
              <a:rPr lang="es-ES" dirty="0" smtClean="0"/>
              <a:t>&lt;</a:t>
            </a:r>
            <a:r>
              <a:rPr lang="es-ES" dirty="0" err="1" smtClean="0"/>
              <a:t>Person</a:t>
            </a:r>
            <a:r>
              <a:rPr lang="es-ES" dirty="0" smtClean="0"/>
              <a:t>&gt;, que representa la tabla de personas en la base de datos.</a:t>
            </a:r>
          </a:p>
          <a:p>
            <a:endParaRPr lang="es-ES" dirty="0" smtClean="0"/>
          </a:p>
        </p:txBody>
      </p:sp>
    </p:spTree>
    <p:extLst>
      <p:ext uri="{BB962C8B-B14F-4D97-AF65-F5344CB8AC3E}">
        <p14:creationId xmlns:p14="http://schemas.microsoft.com/office/powerpoint/2010/main" val="136988644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ES" dirty="0" smtClean="0"/>
          </a:p>
        </p:txBody>
      </p:sp>
    </p:spTree>
    <p:extLst>
      <p:ext uri="{BB962C8B-B14F-4D97-AF65-F5344CB8AC3E}">
        <p14:creationId xmlns:p14="http://schemas.microsoft.com/office/powerpoint/2010/main" val="136988644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ES" dirty="0" smtClean="0"/>
          </a:p>
        </p:txBody>
      </p:sp>
    </p:spTree>
    <p:extLst>
      <p:ext uri="{BB962C8B-B14F-4D97-AF65-F5344CB8AC3E}">
        <p14:creationId xmlns:p14="http://schemas.microsoft.com/office/powerpoint/2010/main" val="136988644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ES" dirty="0" smtClean="0"/>
          </a:p>
        </p:txBody>
      </p:sp>
    </p:spTree>
    <p:extLst>
      <p:ext uri="{BB962C8B-B14F-4D97-AF65-F5344CB8AC3E}">
        <p14:creationId xmlns:p14="http://schemas.microsoft.com/office/powerpoint/2010/main" val="136988644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ES" dirty="0" smtClean="0"/>
          </a:p>
        </p:txBody>
      </p:sp>
    </p:spTree>
    <p:extLst>
      <p:ext uri="{BB962C8B-B14F-4D97-AF65-F5344CB8AC3E}">
        <p14:creationId xmlns:p14="http://schemas.microsoft.com/office/powerpoint/2010/main" val="136988644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ES" dirty="0" smtClean="0"/>
          </a:p>
        </p:txBody>
      </p:sp>
    </p:spTree>
    <p:extLst>
      <p:ext uri="{BB962C8B-B14F-4D97-AF65-F5344CB8AC3E}">
        <p14:creationId xmlns:p14="http://schemas.microsoft.com/office/powerpoint/2010/main" val="136988644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ES" dirty="0" smtClean="0"/>
          </a:p>
        </p:txBody>
      </p:sp>
    </p:spTree>
    <p:extLst>
      <p:ext uri="{BB962C8B-B14F-4D97-AF65-F5344CB8AC3E}">
        <p14:creationId xmlns:p14="http://schemas.microsoft.com/office/powerpoint/2010/main" val="136988644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ES" dirty="0" smtClean="0"/>
          </a:p>
          <a:p>
            <a:r>
              <a:rPr lang="es-ES" dirty="0" smtClean="0"/>
              <a:t>La estructura de datos del Registro Activo debe coincidir exactamente con la de la base de datos: un campo en la clase para cada columna de la tabla. Escriba los campos de la manera en que la interfaz SQL le proporciona los datos; no realice ninguna conversión en esta etapa. Puede utilizar vistas o tablas con el Registro Activo, aunque las actualizaciones a través de vistas son obviamente más difíciles. Las vistas son particularmente útiles para fines de generación de informes.</a:t>
            </a:r>
          </a:p>
          <a:p>
            <a:r>
              <a:rPr lang="es-ES" dirty="0" smtClean="0"/>
              <a:t>Active Record es muy similar a </a:t>
            </a:r>
            <a:r>
              <a:rPr lang="es-ES" dirty="0" err="1" smtClean="0"/>
              <a:t>Row</a:t>
            </a:r>
            <a:r>
              <a:rPr lang="es-ES" dirty="0" smtClean="0"/>
              <a:t> Data Gateway La principal diferencia es que </a:t>
            </a:r>
            <a:r>
              <a:rPr lang="es-ES" dirty="0" err="1" smtClean="0"/>
              <a:t>Row</a:t>
            </a:r>
            <a:r>
              <a:rPr lang="es-ES" dirty="0" smtClean="0"/>
              <a:t> Data Gateway contiene solo acceso a la base de datos, mientras que Active Record contiene tanto la fuente de datos como la lógica del dominio. Como ocurre con la mayoría de los límites en el software, la línea entre ambos no es demasiado nítida, pero es útil.</a:t>
            </a:r>
          </a:p>
        </p:txBody>
      </p:sp>
    </p:spTree>
    <p:extLst>
      <p:ext uri="{BB962C8B-B14F-4D97-AF65-F5344CB8AC3E}">
        <p14:creationId xmlns:p14="http://schemas.microsoft.com/office/powerpoint/2010/main" val="136988644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r>
              <a:rPr lang="es-ES" dirty="0" smtClean="0"/>
              <a:t>Descripción del código:</a:t>
            </a:r>
          </a:p>
          <a:p>
            <a:endParaRPr lang="es-ES" dirty="0" smtClean="0"/>
          </a:p>
          <a:p>
            <a:r>
              <a:rPr lang="es-ES" dirty="0" smtClean="0"/>
              <a:t>1. Clase </a:t>
            </a:r>
            <a:r>
              <a:rPr lang="es-ES" dirty="0" err="1" smtClean="0"/>
              <a:t>Person</a:t>
            </a:r>
            <a:r>
              <a:rPr lang="es-ES" dirty="0" smtClean="0"/>
              <a:t>:</a:t>
            </a:r>
          </a:p>
          <a:p>
            <a:endParaRPr lang="es-ES" dirty="0" smtClean="0"/>
          </a:p>
          <a:p>
            <a:r>
              <a:rPr lang="es-ES" dirty="0" smtClean="0"/>
              <a:t>   • Contiene propiedades para Id, </a:t>
            </a:r>
            <a:r>
              <a:rPr lang="es-ES" dirty="0" err="1" smtClean="0"/>
              <a:t>LastName</a:t>
            </a:r>
            <a:r>
              <a:rPr lang="es-ES" dirty="0" smtClean="0"/>
              <a:t>, </a:t>
            </a:r>
            <a:r>
              <a:rPr lang="es-ES" dirty="0" err="1" smtClean="0"/>
              <a:t>FirstName</a:t>
            </a:r>
            <a:r>
              <a:rPr lang="es-ES" dirty="0" smtClean="0"/>
              <a:t> y </a:t>
            </a:r>
            <a:r>
              <a:rPr lang="es-ES" dirty="0" err="1" smtClean="0"/>
              <a:t>NumberOfDependents</a:t>
            </a:r>
            <a:r>
              <a:rPr lang="es-ES" dirty="0" smtClean="0"/>
              <a:t>.</a:t>
            </a:r>
          </a:p>
          <a:p>
            <a:endParaRPr lang="es-ES" dirty="0" smtClean="0"/>
          </a:p>
          <a:p>
            <a:r>
              <a:rPr lang="es-ES" dirty="0" smtClean="0"/>
              <a:t>   • Tiene métodos para insertar (</a:t>
            </a:r>
            <a:r>
              <a:rPr lang="es-ES" dirty="0" err="1" smtClean="0"/>
              <a:t>Insert</a:t>
            </a:r>
            <a:r>
              <a:rPr lang="es-ES" dirty="0" smtClean="0"/>
              <a:t>), actualizar (</a:t>
            </a:r>
            <a:r>
              <a:rPr lang="es-ES" dirty="0" err="1" smtClean="0"/>
              <a:t>Update</a:t>
            </a:r>
            <a:r>
              <a:rPr lang="es-ES" dirty="0" smtClean="0"/>
              <a:t>) y eliminar (</a:t>
            </a:r>
            <a:r>
              <a:rPr lang="es-ES" dirty="0" err="1" smtClean="0"/>
              <a:t>Delete</a:t>
            </a:r>
            <a:r>
              <a:rPr lang="es-ES" dirty="0" smtClean="0"/>
              <a:t>) registros en la base de datos.</a:t>
            </a:r>
          </a:p>
          <a:p>
            <a:endParaRPr lang="es-ES" dirty="0" smtClean="0"/>
          </a:p>
          <a:p>
            <a:r>
              <a:rPr lang="es-ES" dirty="0" smtClean="0"/>
              <a:t>   • El método </a:t>
            </a:r>
            <a:r>
              <a:rPr lang="es-ES" dirty="0" err="1" smtClean="0"/>
              <a:t>GetExemption</a:t>
            </a:r>
            <a:r>
              <a:rPr lang="es-ES" dirty="0" smtClean="0"/>
              <a:t> calcula el monto total de exención basado en el número de dependientes.</a:t>
            </a:r>
          </a:p>
          <a:p>
            <a:endParaRPr lang="es-ES" dirty="0" smtClean="0"/>
          </a:p>
          <a:p>
            <a:r>
              <a:rPr lang="es-ES" dirty="0" smtClean="0"/>
              <a:t>2. Contexto de la base de datos:</a:t>
            </a:r>
          </a:p>
          <a:p>
            <a:endParaRPr lang="es-ES" dirty="0" smtClean="0"/>
          </a:p>
          <a:p>
            <a:r>
              <a:rPr lang="es-ES" dirty="0" smtClean="0"/>
              <a:t>   • La clase </a:t>
            </a:r>
            <a:r>
              <a:rPr lang="es-ES" dirty="0" err="1" smtClean="0"/>
              <a:t>ApplicationDbContext</a:t>
            </a:r>
            <a:r>
              <a:rPr lang="es-ES" dirty="0" smtClean="0"/>
              <a:t> hereda de </a:t>
            </a:r>
            <a:r>
              <a:rPr lang="es-ES" dirty="0" err="1" smtClean="0"/>
              <a:t>DbContext</a:t>
            </a:r>
            <a:r>
              <a:rPr lang="es-ES" dirty="0" smtClean="0"/>
              <a:t> y contiene un </a:t>
            </a:r>
            <a:r>
              <a:rPr lang="es-ES" dirty="0" err="1" smtClean="0"/>
              <a:t>DbSet</a:t>
            </a:r>
            <a:r>
              <a:rPr lang="es-ES" dirty="0" smtClean="0"/>
              <a:t>&lt;</a:t>
            </a:r>
            <a:r>
              <a:rPr lang="es-ES" dirty="0" err="1" smtClean="0"/>
              <a:t>Person</a:t>
            </a:r>
            <a:r>
              <a:rPr lang="es-ES" dirty="0" smtClean="0"/>
              <a:t>&gt;, que representa la tabla de personas en la base de datos.</a:t>
            </a:r>
          </a:p>
          <a:p>
            <a:endParaRPr lang="es-ES" dirty="0" smtClean="0"/>
          </a:p>
        </p:txBody>
      </p:sp>
    </p:spTree>
    <p:extLst>
      <p:ext uri="{BB962C8B-B14F-4D97-AF65-F5344CB8AC3E}">
        <p14:creationId xmlns:p14="http://schemas.microsoft.com/office/powerpoint/2010/main" val="136988644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ES" dirty="0" smtClean="0"/>
          </a:p>
        </p:txBody>
      </p:sp>
    </p:spTree>
    <p:extLst>
      <p:ext uri="{BB962C8B-B14F-4D97-AF65-F5344CB8AC3E}">
        <p14:creationId xmlns:p14="http://schemas.microsoft.com/office/powerpoint/2010/main" val="136988644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r>
              <a:rPr lang="es-ES" dirty="0" smtClean="0"/>
              <a:t>Los objetos y las bases de datos relacionales tienen mecanismos diferentes para estructurar los datos. Muchas partes de un objeto, como las colecciones y la herencia, no están presentes en las bases de datos relacionales. Cuando se crea un modelo de objetos con mucha lógica empresarial, resulta valioso utilizar estos mecanismos para organizar mejor los datos y el comportamiento que los acompaña. Si se hace esto, se obtienen esquemas variantes; es decir, el esquema de objetos y el esquema relacional no coinciden. Aún es necesario transferir datos entre los dos esquemas, y esta transferencia de datos se convierte en una complejidad en sí misma. Si los objetos en memoria conocen la estructura de la base de datos relacional, los cambios en uno tienden a propagarse al otro.</a:t>
            </a:r>
          </a:p>
          <a:p>
            <a:r>
              <a:rPr lang="es-ES" dirty="0" smtClean="0"/>
              <a:t>Data </a:t>
            </a:r>
            <a:r>
              <a:rPr lang="es-ES" dirty="0" err="1" smtClean="0"/>
              <a:t>Mapper</a:t>
            </a:r>
            <a:r>
              <a:rPr lang="es-ES" dirty="0" smtClean="0"/>
              <a:t> es una capa de software que separa los objetos en memoria de la base de datos. Su responsabilidad es transferir datos entre ambos y también aislarlos entre sí. Con Data </a:t>
            </a:r>
            <a:r>
              <a:rPr lang="es-ES" dirty="0" err="1" smtClean="0"/>
              <a:t>Mapper</a:t>
            </a:r>
            <a:r>
              <a:rPr lang="es-ES" dirty="0" smtClean="0"/>
              <a:t>, los objetos en memoria ni siquiera necesitan saber que hay una base de datos presente; no necesitan ningún código de interfaz SQL y, por supuesto, ningún conocimiento del esquema de la base de datos.</a:t>
            </a:r>
          </a:p>
        </p:txBody>
      </p:sp>
    </p:spTree>
    <p:extLst>
      <p:ext uri="{BB962C8B-B14F-4D97-AF65-F5344CB8AC3E}">
        <p14:creationId xmlns:p14="http://schemas.microsoft.com/office/powerpoint/2010/main" val="136988644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r>
              <a:rPr lang="es-ES" dirty="0" smtClean="0"/>
              <a:t>Un caso simple tendría una clase </a:t>
            </a:r>
            <a:r>
              <a:rPr lang="es-ES" dirty="0" err="1" smtClean="0"/>
              <a:t>Person</a:t>
            </a:r>
            <a:r>
              <a:rPr lang="es-ES" dirty="0" smtClean="0"/>
              <a:t> y </a:t>
            </a:r>
            <a:r>
              <a:rPr lang="es-ES" dirty="0" err="1" smtClean="0"/>
              <a:t>Person</a:t>
            </a:r>
            <a:r>
              <a:rPr lang="es-ES" dirty="0" smtClean="0"/>
              <a:t> </a:t>
            </a:r>
            <a:r>
              <a:rPr lang="es-ES" dirty="0" err="1" smtClean="0"/>
              <a:t>Mapper</a:t>
            </a:r>
            <a:r>
              <a:rPr lang="es-ES" dirty="0" smtClean="0"/>
              <a:t>. Para cargar una persona de la base de datos, un cliente llamaría a un método </a:t>
            </a:r>
            <a:r>
              <a:rPr lang="es-ES" dirty="0" err="1" smtClean="0"/>
              <a:t>find</a:t>
            </a:r>
            <a:r>
              <a:rPr lang="es-ES" dirty="0" smtClean="0"/>
              <a:t> en el </a:t>
            </a:r>
            <a:r>
              <a:rPr lang="es-ES" dirty="0" err="1" smtClean="0"/>
              <a:t>mapeador</a:t>
            </a:r>
            <a:r>
              <a:rPr lang="es-ES" dirty="0" smtClean="0"/>
              <a:t>. El </a:t>
            </a:r>
            <a:r>
              <a:rPr lang="es-ES" dirty="0" err="1" smtClean="0"/>
              <a:t>mapeador</a:t>
            </a:r>
            <a:r>
              <a:rPr lang="es-ES" dirty="0" smtClean="0"/>
              <a:t> utiliza un </a:t>
            </a:r>
            <a:r>
              <a:rPr lang="es-ES" dirty="0" err="1" smtClean="0"/>
              <a:t>Identity</a:t>
            </a:r>
            <a:r>
              <a:rPr lang="es-ES" dirty="0" smtClean="0"/>
              <a:t> </a:t>
            </a:r>
            <a:r>
              <a:rPr lang="es-ES" dirty="0" err="1" smtClean="0"/>
              <a:t>Map</a:t>
            </a:r>
            <a:r>
              <a:rPr lang="es-ES" dirty="0" smtClean="0"/>
              <a:t> para ver si la persona ya está cargada; si no, la carga.</a:t>
            </a:r>
          </a:p>
          <a:p>
            <a:r>
              <a:rPr lang="es-ES" dirty="0" smtClean="0"/>
              <a:t>Las actualizaciones se muestran en la Figura 10.4. Un cliente le pide al </a:t>
            </a:r>
            <a:r>
              <a:rPr lang="es-ES" dirty="0" err="1" smtClean="0"/>
              <a:t>mapeador</a:t>
            </a:r>
            <a:r>
              <a:rPr lang="es-ES" dirty="0" smtClean="0"/>
              <a:t> que guarde un objeto de dominio. El </a:t>
            </a:r>
            <a:r>
              <a:rPr lang="es-ES" dirty="0" err="1" smtClean="0"/>
              <a:t>mapeador</a:t>
            </a:r>
            <a:r>
              <a:rPr lang="es-ES" dirty="0" smtClean="0"/>
              <a:t> extrae los datos del objeto de dominio y los envía a la base de datos.</a:t>
            </a:r>
          </a:p>
        </p:txBody>
      </p:sp>
    </p:spTree>
    <p:extLst>
      <p:ext uri="{BB962C8B-B14F-4D97-AF65-F5344CB8AC3E}">
        <p14:creationId xmlns:p14="http://schemas.microsoft.com/office/powerpoint/2010/main" val="136988644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ES" dirty="0" smtClean="0"/>
          </a:p>
        </p:txBody>
      </p:sp>
    </p:spTree>
    <p:extLst>
      <p:ext uri="{BB962C8B-B14F-4D97-AF65-F5344CB8AC3E}">
        <p14:creationId xmlns:p14="http://schemas.microsoft.com/office/powerpoint/2010/main" val="136988644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ES" dirty="0" smtClean="0"/>
          </a:p>
        </p:txBody>
      </p:sp>
    </p:spTree>
    <p:extLst>
      <p:ext uri="{BB962C8B-B14F-4D97-AF65-F5344CB8AC3E}">
        <p14:creationId xmlns:p14="http://schemas.microsoft.com/office/powerpoint/2010/main" val="136988644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ES" dirty="0" smtClean="0"/>
          </a:p>
        </p:txBody>
      </p:sp>
    </p:spTree>
    <p:extLst>
      <p:ext uri="{BB962C8B-B14F-4D97-AF65-F5344CB8AC3E}">
        <p14:creationId xmlns:p14="http://schemas.microsoft.com/office/powerpoint/2010/main" val="136988644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ES" dirty="0" smtClean="0"/>
          </a:p>
        </p:txBody>
      </p:sp>
    </p:spTree>
    <p:extLst>
      <p:ext uri="{BB962C8B-B14F-4D97-AF65-F5344CB8AC3E}">
        <p14:creationId xmlns:p14="http://schemas.microsoft.com/office/powerpoint/2010/main" val="136988644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ES" dirty="0" smtClean="0"/>
          </a:p>
        </p:txBody>
      </p:sp>
    </p:spTree>
    <p:extLst>
      <p:ext uri="{BB962C8B-B14F-4D97-AF65-F5344CB8AC3E}">
        <p14:creationId xmlns:p14="http://schemas.microsoft.com/office/powerpoint/2010/main" val="136988644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r>
              <a:rPr lang="es-ES" dirty="0" smtClean="0"/>
              <a:t>El patrón </a:t>
            </a:r>
            <a:r>
              <a:rPr lang="es-ES" dirty="0" err="1" smtClean="0"/>
              <a:t>unit</a:t>
            </a:r>
            <a:r>
              <a:rPr lang="es-ES" dirty="0" smtClean="0"/>
              <a:t> of </a:t>
            </a:r>
            <a:r>
              <a:rPr lang="es-ES" dirty="0" err="1" smtClean="0"/>
              <a:t>work</a:t>
            </a:r>
            <a:endParaRPr lang="es-ES" dirty="0" smtClean="0"/>
          </a:p>
          <a:p>
            <a:r>
              <a:rPr lang="es-ES" dirty="0" smtClean="0"/>
              <a:t>es capaz de mantener la lista de los objetos participantes en una transacción, </a:t>
            </a:r>
          </a:p>
          <a:p>
            <a:r>
              <a:rPr lang="es-ES" dirty="0" smtClean="0"/>
              <a:t>coordina su actualización en la base de datos y es capaz de detectar los problemas de concurrencia en los mismos</a:t>
            </a:r>
          </a:p>
          <a:p>
            <a:r>
              <a:rPr lang="es-ES" dirty="0" smtClean="0"/>
              <a:t>existen dos enfoque para la notificación</a:t>
            </a:r>
          </a:p>
          <a:p>
            <a:r>
              <a:rPr lang="es-ES" dirty="0" smtClean="0"/>
              <a:t>en el primero de ellos el que origina la transacción (la aplicación) es el que notifica si hay algún problema de concurrencia</a:t>
            </a:r>
          </a:p>
          <a:p>
            <a:r>
              <a:rPr lang="es-ES" dirty="0" smtClean="0"/>
              <a:t>y en el segundo de ellos es el destino de la transacción (el sistema de gestión de bases de datos) el que notifica</a:t>
            </a:r>
          </a:p>
          <a:p>
            <a:endParaRPr lang="es-ES" dirty="0" smtClean="0"/>
          </a:p>
          <a:p>
            <a:r>
              <a:rPr lang="es-ES" dirty="0" smtClean="0"/>
              <a:t>Cuando se extraen datos de una base de datos, es importante realizar un seguimiento de lo que ha cambiado</a:t>
            </a:r>
          </a:p>
          <a:p>
            <a:r>
              <a:rPr lang="es-ES" dirty="0" smtClean="0"/>
              <a:t>de lo contrario, esos datos no se volverán a escribir en la base de datos. </a:t>
            </a:r>
          </a:p>
          <a:p>
            <a:r>
              <a:rPr lang="es-ES" dirty="0" smtClean="0"/>
              <a:t>Del mismo modo, se deben insertar nuevos objetos que creen </a:t>
            </a:r>
          </a:p>
          <a:p>
            <a:r>
              <a:rPr lang="es-ES" dirty="0" smtClean="0"/>
              <a:t>y eliminar cualquier objeto que elimine.</a:t>
            </a:r>
          </a:p>
          <a:p>
            <a:endParaRPr lang="es-ES" dirty="0" smtClean="0"/>
          </a:p>
          <a:p>
            <a:r>
              <a:rPr lang="es-ES" dirty="0" smtClean="0"/>
              <a:t>Cada vez que hagamos un cambio en el modelo de objetos podemos reflejar estos cambios directamente en</a:t>
            </a:r>
            <a:r>
              <a:rPr lang="es-ES" baseline="0" dirty="0" smtClean="0"/>
              <a:t> la base de datos</a:t>
            </a:r>
            <a:r>
              <a:rPr lang="es-ES" dirty="0" smtClean="0"/>
              <a:t>, </a:t>
            </a:r>
          </a:p>
          <a:p>
            <a:r>
              <a:rPr lang="es-ES" dirty="0" smtClean="0"/>
              <a:t>pero esto puede generar muchas llamadas de base de datos muy pequeñas, lo que termina siendo muy lento.</a:t>
            </a:r>
          </a:p>
          <a:p>
            <a:r>
              <a:rPr lang="es-ES" dirty="0" smtClean="0"/>
              <a:t>Además, esto requiere que se tenga una transacción abierta para toda la interacción, lo cual no es práctico si tiene una transacción que abarca varias solicitudes.</a:t>
            </a:r>
          </a:p>
          <a:p>
            <a:endParaRPr lang="es-ES" dirty="0" smtClean="0"/>
          </a:p>
          <a:p>
            <a:r>
              <a:rPr lang="es-ES" dirty="0" smtClean="0"/>
              <a:t>El patrón </a:t>
            </a:r>
            <a:r>
              <a:rPr lang="es-ES" dirty="0" err="1" smtClean="0"/>
              <a:t>Unit</a:t>
            </a:r>
            <a:r>
              <a:rPr lang="es-ES" dirty="0" smtClean="0"/>
              <a:t> of </a:t>
            </a:r>
            <a:r>
              <a:rPr lang="es-ES" dirty="0" err="1" smtClean="0"/>
              <a:t>Work</a:t>
            </a:r>
            <a:r>
              <a:rPr lang="es-ES" dirty="0" smtClean="0"/>
              <a:t> realiza un seguimiento de todo lo que hace durante una transacción que puede afectar la base de datos.</a:t>
            </a:r>
          </a:p>
          <a:p>
            <a:r>
              <a:rPr lang="es-ES" dirty="0" smtClean="0"/>
              <a:t>Cuando esta transacción haya terminado, es capaz de darse cuenta de todo lo que debe hacerse para modificar la base de datos como resultado de su trabajo.</a:t>
            </a:r>
            <a:endParaRPr lang="en-US" dirty="0" smtClean="0"/>
          </a:p>
          <a:p>
            <a:endParaRPr lang="es-ES" dirty="0" smtClean="0"/>
          </a:p>
        </p:txBody>
      </p:sp>
    </p:spTree>
    <p:extLst>
      <p:ext uri="{BB962C8B-B14F-4D97-AF65-F5344CB8AC3E}">
        <p14:creationId xmlns:p14="http://schemas.microsoft.com/office/powerpoint/2010/main" val="136988644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ES" dirty="0" smtClean="0"/>
          </a:p>
          <a:p>
            <a:endParaRPr lang="es-ES" dirty="0" smtClean="0"/>
          </a:p>
          <a:p>
            <a:r>
              <a:rPr lang="es-ES" dirty="0" smtClean="0"/>
              <a:t>El patrón </a:t>
            </a:r>
            <a:r>
              <a:rPr lang="es-ES" dirty="0" err="1" smtClean="0"/>
              <a:t>Identity</a:t>
            </a:r>
            <a:r>
              <a:rPr lang="es-ES" dirty="0" smtClean="0"/>
              <a:t> </a:t>
            </a:r>
            <a:r>
              <a:rPr lang="es-ES" dirty="0" err="1" smtClean="0"/>
              <a:t>Map</a:t>
            </a:r>
            <a:r>
              <a:rPr lang="es-ES" dirty="0" smtClean="0"/>
              <a:t> puede ser implementado de diferentes maneras según las necesidades del sistema y las decisiones de diseño. Aquí te presento un análisis sobre los tres aspectos que mencionas:</a:t>
            </a:r>
          </a:p>
          <a:p>
            <a:endParaRPr lang="es-ES" dirty="0" smtClean="0"/>
          </a:p>
          <a:p>
            <a:r>
              <a:rPr lang="es-ES" dirty="0" smtClean="0"/>
              <a:t>▎1. ¿Cuántos mapas por entidad o un solo mapa para todas las entidades?</a:t>
            </a:r>
          </a:p>
          <a:p>
            <a:endParaRPr lang="es-ES" dirty="0" smtClean="0"/>
          </a:p>
          <a:p>
            <a:r>
              <a:rPr lang="es-ES" dirty="0" smtClean="0"/>
              <a:t>• Un solo mapa para todas las entidades:</a:t>
            </a:r>
          </a:p>
          <a:p>
            <a:endParaRPr lang="es-ES" dirty="0" smtClean="0"/>
          </a:p>
          <a:p>
            <a:r>
              <a:rPr lang="es-ES" dirty="0" smtClean="0"/>
              <a:t>  • Ventajas: </a:t>
            </a:r>
          </a:p>
          <a:p>
            <a:endParaRPr lang="es-ES" dirty="0" smtClean="0"/>
          </a:p>
          <a:p>
            <a:r>
              <a:rPr lang="es-ES" dirty="0" smtClean="0"/>
              <a:t>    • Simplifica la gestión de los objetos en memoria, ya que se tiene una única estructura de datos para almacenar todas las instancias.</a:t>
            </a:r>
          </a:p>
          <a:p>
            <a:endParaRPr lang="es-ES" dirty="0" smtClean="0"/>
          </a:p>
          <a:p>
            <a:r>
              <a:rPr lang="es-ES" dirty="0" smtClean="0"/>
              <a:t>    • Reduce la complejidad al evitar la necesidad de múltiples mapas y facilita la implementación.</a:t>
            </a:r>
          </a:p>
          <a:p>
            <a:endParaRPr lang="es-ES" dirty="0" smtClean="0"/>
          </a:p>
          <a:p>
            <a:r>
              <a:rPr lang="es-ES" dirty="0" smtClean="0"/>
              <a:t>  • Desventajas:</a:t>
            </a:r>
          </a:p>
          <a:p>
            <a:endParaRPr lang="es-ES" dirty="0" smtClean="0"/>
          </a:p>
          <a:p>
            <a:r>
              <a:rPr lang="es-ES" dirty="0" smtClean="0"/>
              <a:t>    • Puede volverse ineficiente si hay muchas entidades diferentes, ya que el mapa puede crecer considerablemente y volverse difícil de manejar.</a:t>
            </a:r>
          </a:p>
          <a:p>
            <a:endParaRPr lang="es-ES" dirty="0" smtClean="0"/>
          </a:p>
          <a:p>
            <a:r>
              <a:rPr lang="es-ES" dirty="0" smtClean="0"/>
              <a:t>    • Puede haber problemas de rendimiento si no se gestiona adecuadamente, ya que el acceso a un único mapa puede convertirse en un cuello de botella.</a:t>
            </a:r>
          </a:p>
          <a:p>
            <a:endParaRPr lang="es-ES" dirty="0" smtClean="0"/>
          </a:p>
          <a:p>
            <a:r>
              <a:rPr lang="es-ES" dirty="0" smtClean="0"/>
              <a:t>• Un mapa por entidad:</a:t>
            </a:r>
          </a:p>
          <a:p>
            <a:endParaRPr lang="es-ES" dirty="0" smtClean="0"/>
          </a:p>
          <a:p>
            <a:r>
              <a:rPr lang="es-ES" dirty="0" smtClean="0"/>
              <a:t>  • Ventajas:</a:t>
            </a:r>
          </a:p>
          <a:p>
            <a:endParaRPr lang="es-ES" dirty="0" smtClean="0"/>
          </a:p>
          <a:p>
            <a:r>
              <a:rPr lang="es-ES" dirty="0" smtClean="0"/>
              <a:t>    • Permite optimizar el acceso a objetos específicos, ya que cada entidad tiene su propio mapa.</a:t>
            </a:r>
          </a:p>
          <a:p>
            <a:endParaRPr lang="es-ES" dirty="0" smtClean="0"/>
          </a:p>
          <a:p>
            <a:r>
              <a:rPr lang="es-ES" dirty="0" smtClean="0"/>
              <a:t>    • Facilita la gestión de caché y puede mejorar el rendimiento al reducir el tamaño de cada mapa.</a:t>
            </a:r>
          </a:p>
          <a:p>
            <a:endParaRPr lang="es-ES" dirty="0" smtClean="0"/>
          </a:p>
          <a:p>
            <a:r>
              <a:rPr lang="es-ES" dirty="0" smtClean="0"/>
              <a:t>  • Desventajas:</a:t>
            </a:r>
          </a:p>
          <a:p>
            <a:endParaRPr lang="es-ES" dirty="0" smtClean="0"/>
          </a:p>
          <a:p>
            <a:r>
              <a:rPr lang="es-ES" dirty="0" smtClean="0"/>
              <a:t>    • Aumenta la complejidad del sistema, ya que se deben gestionar múltiples mapas.</a:t>
            </a:r>
          </a:p>
          <a:p>
            <a:endParaRPr lang="es-ES" dirty="0" smtClean="0"/>
          </a:p>
          <a:p>
            <a:r>
              <a:rPr lang="es-ES" dirty="0" smtClean="0"/>
              <a:t>    • Puede requerir más código y esfuerzo para mantener la coherencia entre los diferentes mapas.</a:t>
            </a:r>
          </a:p>
          <a:p>
            <a:endParaRPr lang="es-ES" dirty="0" smtClean="0"/>
          </a:p>
          <a:p>
            <a:r>
              <a:rPr lang="es-ES" dirty="0" smtClean="0"/>
              <a:t>▎2. Hacer explícito o genérico</a:t>
            </a:r>
          </a:p>
          <a:p>
            <a:endParaRPr lang="es-ES" dirty="0" smtClean="0"/>
          </a:p>
          <a:p>
            <a:r>
              <a:rPr lang="es-ES" dirty="0" smtClean="0"/>
              <a:t>• Hacer explícito:</a:t>
            </a:r>
          </a:p>
          <a:p>
            <a:endParaRPr lang="es-ES" dirty="0" smtClean="0"/>
          </a:p>
          <a:p>
            <a:r>
              <a:rPr lang="es-ES" dirty="0" smtClean="0"/>
              <a:t>  • Ventajas:</a:t>
            </a:r>
          </a:p>
          <a:p>
            <a:endParaRPr lang="es-ES" dirty="0" smtClean="0"/>
          </a:p>
          <a:p>
            <a:r>
              <a:rPr lang="es-ES" dirty="0" smtClean="0"/>
              <a:t>    • Proporciona un control claro sobre cómo se manejan las instancias de cada entidad, lo que puede facilitar la depuración y el mantenimiento.</a:t>
            </a:r>
          </a:p>
          <a:p>
            <a:endParaRPr lang="es-ES" dirty="0" smtClean="0"/>
          </a:p>
          <a:p>
            <a:r>
              <a:rPr lang="es-ES" dirty="0" smtClean="0"/>
              <a:t>    • Permite optimizaciones específicas para cada tipo de entidad.</a:t>
            </a:r>
          </a:p>
          <a:p>
            <a:endParaRPr lang="es-ES" dirty="0" smtClean="0"/>
          </a:p>
          <a:p>
            <a:r>
              <a:rPr lang="es-ES" dirty="0" smtClean="0"/>
              <a:t>  • Desventajas:</a:t>
            </a:r>
          </a:p>
          <a:p>
            <a:endParaRPr lang="es-ES" dirty="0" smtClean="0"/>
          </a:p>
          <a:p>
            <a:r>
              <a:rPr lang="es-ES" dirty="0" smtClean="0"/>
              <a:t>    • Aumenta la complejidad del código y puede hacer que sea más difícil de entender y mantener.</a:t>
            </a:r>
          </a:p>
          <a:p>
            <a:endParaRPr lang="es-ES" dirty="0" smtClean="0"/>
          </a:p>
          <a:p>
            <a:r>
              <a:rPr lang="es-ES" dirty="0" smtClean="0"/>
              <a:t>  </a:t>
            </a:r>
          </a:p>
          <a:p>
            <a:r>
              <a:rPr lang="es-ES" dirty="0" smtClean="0"/>
              <a:t>• Hacer genérico:</a:t>
            </a:r>
          </a:p>
          <a:p>
            <a:endParaRPr lang="es-ES" dirty="0" smtClean="0"/>
          </a:p>
          <a:p>
            <a:r>
              <a:rPr lang="es-ES" dirty="0" smtClean="0"/>
              <a:t>  • Ventajas:</a:t>
            </a:r>
          </a:p>
          <a:p>
            <a:endParaRPr lang="es-ES" dirty="0" smtClean="0"/>
          </a:p>
          <a:p>
            <a:r>
              <a:rPr lang="es-ES" dirty="0" smtClean="0"/>
              <a:t>    • Simplifica la implementación al utilizar un enfoque más abstracto, lo que puede reducir la cantidad de código repetido.</a:t>
            </a:r>
          </a:p>
          <a:p>
            <a:endParaRPr lang="es-ES" dirty="0" smtClean="0"/>
          </a:p>
          <a:p>
            <a:r>
              <a:rPr lang="es-ES" dirty="0" smtClean="0"/>
              <a:t>    • Facilita la reutilización del código y puede hacer que el sistema sea más flexible ante cambios futuros.</a:t>
            </a:r>
          </a:p>
          <a:p>
            <a:endParaRPr lang="es-ES" dirty="0" smtClean="0"/>
          </a:p>
          <a:p>
            <a:r>
              <a:rPr lang="es-ES" dirty="0" smtClean="0"/>
              <a:t>  • Desventajas:</a:t>
            </a:r>
          </a:p>
          <a:p>
            <a:endParaRPr lang="es-ES" dirty="0" smtClean="0"/>
          </a:p>
          <a:p>
            <a:r>
              <a:rPr lang="es-ES" dirty="0" smtClean="0"/>
              <a:t>    • Puede ser menos eficiente si no se tiene en cuenta el comportamiento específico de ciertas entidades.</a:t>
            </a:r>
          </a:p>
          <a:p>
            <a:endParaRPr lang="es-ES" dirty="0" smtClean="0"/>
          </a:p>
          <a:p>
            <a:r>
              <a:rPr lang="es-ES" dirty="0" smtClean="0"/>
              <a:t>    • Puede dificultar el seguimiento de problemas específicos relacionados con ciertas entidades.</a:t>
            </a:r>
          </a:p>
          <a:p>
            <a:endParaRPr lang="es-ES" dirty="0" smtClean="0"/>
          </a:p>
          <a:p>
            <a:r>
              <a:rPr lang="es-ES" dirty="0" smtClean="0"/>
              <a:t>▎3. ¿Dónde colocar los </a:t>
            </a:r>
            <a:r>
              <a:rPr lang="es-ES" dirty="0" err="1" smtClean="0"/>
              <a:t>Identity</a:t>
            </a:r>
            <a:r>
              <a:rPr lang="es-ES" dirty="0" smtClean="0"/>
              <a:t> </a:t>
            </a:r>
            <a:r>
              <a:rPr lang="es-ES" dirty="0" err="1" smtClean="0"/>
              <a:t>Maps</a:t>
            </a:r>
            <a:r>
              <a:rPr lang="es-ES" dirty="0" smtClean="0"/>
              <a:t>: en el </a:t>
            </a:r>
            <a:r>
              <a:rPr lang="es-ES" dirty="0" err="1" smtClean="0"/>
              <a:t>Unit</a:t>
            </a:r>
            <a:r>
              <a:rPr lang="es-ES" dirty="0" smtClean="0"/>
              <a:t> of </a:t>
            </a:r>
            <a:r>
              <a:rPr lang="es-ES" dirty="0" err="1" smtClean="0"/>
              <a:t>Work</a:t>
            </a:r>
            <a:r>
              <a:rPr lang="es-ES" dirty="0" smtClean="0"/>
              <a:t> o en un Registro vinculado a la sesión?</a:t>
            </a:r>
          </a:p>
          <a:p>
            <a:endParaRPr lang="es-ES" dirty="0" smtClean="0"/>
          </a:p>
          <a:p>
            <a:r>
              <a:rPr lang="es-ES" dirty="0" smtClean="0"/>
              <a:t>• En el </a:t>
            </a:r>
            <a:r>
              <a:rPr lang="es-ES" dirty="0" err="1" smtClean="0"/>
              <a:t>Unit</a:t>
            </a:r>
            <a:r>
              <a:rPr lang="es-ES" dirty="0" smtClean="0"/>
              <a:t> of </a:t>
            </a:r>
            <a:r>
              <a:rPr lang="es-ES" dirty="0" err="1" smtClean="0"/>
              <a:t>Work</a:t>
            </a:r>
            <a:r>
              <a:rPr lang="es-ES" dirty="0" smtClean="0"/>
              <a:t>:</a:t>
            </a:r>
          </a:p>
          <a:p>
            <a:endParaRPr lang="es-ES" dirty="0" smtClean="0"/>
          </a:p>
          <a:p>
            <a:r>
              <a:rPr lang="es-ES" dirty="0" smtClean="0"/>
              <a:t>  • Ventajas:</a:t>
            </a:r>
          </a:p>
          <a:p>
            <a:endParaRPr lang="es-ES" dirty="0" smtClean="0"/>
          </a:p>
          <a:p>
            <a:r>
              <a:rPr lang="es-ES" dirty="0" smtClean="0"/>
              <a:t>    • El patrón </a:t>
            </a:r>
            <a:r>
              <a:rPr lang="es-ES" dirty="0" err="1" smtClean="0"/>
              <a:t>Unit</a:t>
            </a:r>
            <a:r>
              <a:rPr lang="es-ES" dirty="0" smtClean="0"/>
              <a:t> of </a:t>
            </a:r>
            <a:r>
              <a:rPr lang="es-ES" dirty="0" err="1" smtClean="0"/>
              <a:t>Work</a:t>
            </a:r>
            <a:r>
              <a:rPr lang="es-ES" dirty="0" smtClean="0"/>
              <a:t> está diseñado para manejar transacciones y coordinar el trabajo con múltiples objetos. Incluir el </a:t>
            </a:r>
            <a:r>
              <a:rPr lang="es-ES" dirty="0" err="1" smtClean="0"/>
              <a:t>Identity</a:t>
            </a:r>
            <a:r>
              <a:rPr lang="es-ES" dirty="0" smtClean="0"/>
              <a:t> </a:t>
            </a:r>
            <a:r>
              <a:rPr lang="es-ES" dirty="0" err="1" smtClean="0"/>
              <a:t>Map</a:t>
            </a:r>
            <a:r>
              <a:rPr lang="es-ES" dirty="0" smtClean="0"/>
              <a:t> aquí permite gestionar la coherencia y la persistencia de los objetos durante una transacción.</a:t>
            </a:r>
          </a:p>
          <a:p>
            <a:endParaRPr lang="es-ES" dirty="0" smtClean="0"/>
          </a:p>
          <a:p>
            <a:r>
              <a:rPr lang="es-ES" dirty="0" smtClean="0"/>
              <a:t>    • Facilita el manejo de la carga y el almacenamiento de objetos dentro del contexto de una unidad de trabajo específica.</a:t>
            </a:r>
          </a:p>
          <a:p>
            <a:endParaRPr lang="es-ES" dirty="0" smtClean="0"/>
          </a:p>
          <a:p>
            <a:r>
              <a:rPr lang="es-ES" dirty="0" smtClean="0"/>
              <a:t>  • Desventajas:</a:t>
            </a:r>
          </a:p>
          <a:p>
            <a:endParaRPr lang="es-ES" dirty="0" smtClean="0"/>
          </a:p>
          <a:p>
            <a:r>
              <a:rPr lang="es-ES" dirty="0" smtClean="0"/>
              <a:t>    • Puede incrementar la complejidad del </a:t>
            </a:r>
            <a:r>
              <a:rPr lang="es-ES" dirty="0" err="1" smtClean="0"/>
              <a:t>Unit</a:t>
            </a:r>
            <a:r>
              <a:rPr lang="es-ES" dirty="0" smtClean="0"/>
              <a:t> of </a:t>
            </a:r>
            <a:r>
              <a:rPr lang="es-ES" dirty="0" err="1" smtClean="0"/>
              <a:t>Work</a:t>
            </a:r>
            <a:r>
              <a:rPr lang="es-ES" dirty="0" smtClean="0"/>
              <a:t>, ya que debe encargarse también de la gestión del </a:t>
            </a:r>
            <a:r>
              <a:rPr lang="es-ES" dirty="0" err="1" smtClean="0"/>
              <a:t>Identity</a:t>
            </a:r>
            <a:r>
              <a:rPr lang="es-ES" dirty="0" smtClean="0"/>
              <a:t> </a:t>
            </a:r>
            <a:r>
              <a:rPr lang="es-ES" dirty="0" err="1" smtClean="0"/>
              <a:t>Map</a:t>
            </a:r>
            <a:r>
              <a:rPr lang="es-ES" dirty="0" smtClean="0"/>
              <a:t>.</a:t>
            </a:r>
          </a:p>
          <a:p>
            <a:endParaRPr lang="es-ES" dirty="0" smtClean="0"/>
          </a:p>
          <a:p>
            <a:r>
              <a:rPr lang="es-ES" dirty="0" smtClean="0"/>
              <a:t>• En un Registro vinculado a la sesión:</a:t>
            </a:r>
          </a:p>
          <a:p>
            <a:endParaRPr lang="es-ES" dirty="0" smtClean="0"/>
          </a:p>
          <a:p>
            <a:r>
              <a:rPr lang="es-ES" dirty="0" smtClean="0"/>
              <a:t>  • Ventajas:</a:t>
            </a:r>
          </a:p>
          <a:p>
            <a:endParaRPr lang="es-ES" dirty="0" smtClean="0"/>
          </a:p>
          <a:p>
            <a:r>
              <a:rPr lang="es-ES" dirty="0" smtClean="0"/>
              <a:t>    • Mantener el </a:t>
            </a:r>
            <a:r>
              <a:rPr lang="es-ES" dirty="0" err="1" smtClean="0"/>
              <a:t>Identity</a:t>
            </a:r>
            <a:r>
              <a:rPr lang="es-ES" dirty="0" smtClean="0"/>
              <a:t> </a:t>
            </a:r>
            <a:r>
              <a:rPr lang="es-ES" dirty="0" err="1" smtClean="0"/>
              <a:t>Map</a:t>
            </a:r>
            <a:r>
              <a:rPr lang="es-ES" dirty="0" smtClean="0"/>
              <a:t> en un registro vinculado a la sesión permite que el ciclo de vida del mapa esté alineado con la sesión del usuario, facilitando el manejo de objetos específicos para cada sesión.</a:t>
            </a:r>
          </a:p>
          <a:p>
            <a:endParaRPr lang="es-ES" dirty="0" smtClean="0"/>
          </a:p>
          <a:p>
            <a:r>
              <a:rPr lang="es-ES" dirty="0" smtClean="0"/>
              <a:t>    • Ayuda a gestionar mejor el estado de los objetos en contextos donde múltiples sesiones pueden interactuar con los mismos datos.</a:t>
            </a:r>
          </a:p>
          <a:p>
            <a:endParaRPr lang="es-ES" dirty="0" smtClean="0"/>
          </a:p>
          <a:p>
            <a:r>
              <a:rPr lang="es-ES" dirty="0" smtClean="0"/>
              <a:t>  • Desventajas:</a:t>
            </a:r>
          </a:p>
          <a:p>
            <a:endParaRPr lang="es-ES" dirty="0" smtClean="0"/>
          </a:p>
          <a:p>
            <a:r>
              <a:rPr lang="es-ES" dirty="0" smtClean="0"/>
              <a:t>    • Puede complicar la gestión del estado si no se implementa correctamente, especialmente en aplicaciones donde las sesiones son largas o se gestionan múltiples usuarios.</a:t>
            </a:r>
          </a:p>
          <a:p>
            <a:endParaRPr lang="es-ES" dirty="0" smtClean="0"/>
          </a:p>
          <a:p>
            <a:r>
              <a:rPr lang="es-ES" dirty="0" smtClean="0"/>
              <a:t>▎Conclusiones</a:t>
            </a:r>
          </a:p>
          <a:p>
            <a:endParaRPr lang="es-ES" dirty="0" smtClean="0"/>
          </a:p>
          <a:p>
            <a:r>
              <a:rPr lang="es-ES" dirty="0" smtClean="0"/>
              <a:t>La elección entre estas opciones depende en gran medida de los requisitos específicos del sistema, la complejidad del dominio y las consideraciones de rendimiento. Es importante evaluar cuidadosamente las ventajas y desventajas de cada enfoque antes de tomar una decisión sobre cómo implementar el patrón </a:t>
            </a:r>
            <a:r>
              <a:rPr lang="es-ES" dirty="0" err="1" smtClean="0"/>
              <a:t>Identity</a:t>
            </a:r>
            <a:r>
              <a:rPr lang="es-ES" dirty="0" smtClean="0"/>
              <a:t> </a:t>
            </a:r>
            <a:r>
              <a:rPr lang="es-ES" dirty="0" err="1" smtClean="0"/>
              <a:t>Map</a:t>
            </a:r>
            <a:r>
              <a:rPr lang="es-ES" dirty="0" smtClean="0"/>
              <a:t>.</a:t>
            </a:r>
          </a:p>
        </p:txBody>
      </p:sp>
    </p:spTree>
    <p:extLst>
      <p:ext uri="{BB962C8B-B14F-4D97-AF65-F5344CB8AC3E}">
        <p14:creationId xmlns:p14="http://schemas.microsoft.com/office/powerpoint/2010/main" val="136988644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ES" dirty="0" smtClean="0"/>
          </a:p>
        </p:txBody>
      </p:sp>
    </p:spTree>
    <p:extLst>
      <p:ext uri="{BB962C8B-B14F-4D97-AF65-F5344CB8AC3E}">
        <p14:creationId xmlns:p14="http://schemas.microsoft.com/office/powerpoint/2010/main" val="136988644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ES" dirty="0" smtClean="0"/>
          </a:p>
          <a:p>
            <a:endParaRPr lang="es-ES" dirty="0" smtClean="0"/>
          </a:p>
          <a:p>
            <a:r>
              <a:rPr lang="es-ES" dirty="0" smtClean="0"/>
              <a:t>El patrón </a:t>
            </a:r>
            <a:r>
              <a:rPr lang="es-ES" dirty="0" err="1" smtClean="0"/>
              <a:t>Identity</a:t>
            </a:r>
            <a:r>
              <a:rPr lang="es-ES" dirty="0" smtClean="0"/>
              <a:t> </a:t>
            </a:r>
            <a:r>
              <a:rPr lang="es-ES" dirty="0" err="1" smtClean="0"/>
              <a:t>Map</a:t>
            </a:r>
            <a:r>
              <a:rPr lang="es-ES" dirty="0" smtClean="0"/>
              <a:t> puede ser implementado de diferentes maneras según las necesidades del sistema y las decisiones de diseño. Aquí te presento un análisis sobre los tres aspectos que mencionas:</a:t>
            </a:r>
          </a:p>
          <a:p>
            <a:endParaRPr lang="es-ES" dirty="0" smtClean="0"/>
          </a:p>
          <a:p>
            <a:r>
              <a:rPr lang="es-ES" dirty="0" smtClean="0"/>
              <a:t>▎1. ¿Cuántos mapas por entidad o un solo mapa para todas las entidades?</a:t>
            </a:r>
          </a:p>
          <a:p>
            <a:endParaRPr lang="es-ES" dirty="0" smtClean="0"/>
          </a:p>
          <a:p>
            <a:r>
              <a:rPr lang="es-ES" dirty="0" smtClean="0"/>
              <a:t>• Un solo mapa para todas las entidades:</a:t>
            </a:r>
          </a:p>
          <a:p>
            <a:endParaRPr lang="es-ES" dirty="0" smtClean="0"/>
          </a:p>
          <a:p>
            <a:r>
              <a:rPr lang="es-ES" dirty="0" smtClean="0"/>
              <a:t>  • Ventajas: </a:t>
            </a:r>
          </a:p>
          <a:p>
            <a:endParaRPr lang="es-ES" dirty="0" smtClean="0"/>
          </a:p>
          <a:p>
            <a:r>
              <a:rPr lang="es-ES" dirty="0" smtClean="0"/>
              <a:t>    • Simplifica la gestión de los objetos en memoria, ya que se tiene una única estructura de datos para almacenar todas las instancias.</a:t>
            </a:r>
          </a:p>
          <a:p>
            <a:endParaRPr lang="es-ES" dirty="0" smtClean="0"/>
          </a:p>
          <a:p>
            <a:r>
              <a:rPr lang="es-ES" dirty="0" smtClean="0"/>
              <a:t>    • Reduce la complejidad al evitar la necesidad de múltiples mapas y facilita la implementación.</a:t>
            </a:r>
          </a:p>
          <a:p>
            <a:endParaRPr lang="es-ES" dirty="0" smtClean="0"/>
          </a:p>
          <a:p>
            <a:r>
              <a:rPr lang="es-ES" dirty="0" smtClean="0"/>
              <a:t>  • Desventajas:</a:t>
            </a:r>
          </a:p>
          <a:p>
            <a:endParaRPr lang="es-ES" dirty="0" smtClean="0"/>
          </a:p>
          <a:p>
            <a:r>
              <a:rPr lang="es-ES" dirty="0" smtClean="0"/>
              <a:t>    • Puede volverse ineficiente si hay muchas entidades diferentes, ya que el mapa puede crecer considerablemente y volverse difícil de manejar.</a:t>
            </a:r>
          </a:p>
          <a:p>
            <a:endParaRPr lang="es-ES" dirty="0" smtClean="0"/>
          </a:p>
          <a:p>
            <a:r>
              <a:rPr lang="es-ES" dirty="0" smtClean="0"/>
              <a:t>    • Puede haber problemas de rendimiento si no se gestiona adecuadamente, ya que el acceso a un único mapa puede convertirse en un cuello de botella.</a:t>
            </a:r>
          </a:p>
          <a:p>
            <a:endParaRPr lang="es-ES" dirty="0" smtClean="0"/>
          </a:p>
          <a:p>
            <a:r>
              <a:rPr lang="es-ES" dirty="0" smtClean="0"/>
              <a:t>• Un mapa por entidad:</a:t>
            </a:r>
          </a:p>
          <a:p>
            <a:endParaRPr lang="es-ES" dirty="0" smtClean="0"/>
          </a:p>
          <a:p>
            <a:r>
              <a:rPr lang="es-ES" dirty="0" smtClean="0"/>
              <a:t>  • Ventajas:</a:t>
            </a:r>
          </a:p>
          <a:p>
            <a:endParaRPr lang="es-ES" dirty="0" smtClean="0"/>
          </a:p>
          <a:p>
            <a:r>
              <a:rPr lang="es-ES" dirty="0" smtClean="0"/>
              <a:t>    • Permite optimizar el acceso a objetos específicos, ya que cada entidad tiene su propio mapa.</a:t>
            </a:r>
          </a:p>
          <a:p>
            <a:endParaRPr lang="es-ES" dirty="0" smtClean="0"/>
          </a:p>
          <a:p>
            <a:r>
              <a:rPr lang="es-ES" dirty="0" smtClean="0"/>
              <a:t>    • Facilita la gestión de caché y puede mejorar el rendimiento al reducir el tamaño de cada mapa.</a:t>
            </a:r>
          </a:p>
          <a:p>
            <a:endParaRPr lang="es-ES" dirty="0" smtClean="0"/>
          </a:p>
          <a:p>
            <a:r>
              <a:rPr lang="es-ES" dirty="0" smtClean="0"/>
              <a:t>  • Desventajas:</a:t>
            </a:r>
          </a:p>
          <a:p>
            <a:endParaRPr lang="es-ES" dirty="0" smtClean="0"/>
          </a:p>
          <a:p>
            <a:r>
              <a:rPr lang="es-ES" dirty="0" smtClean="0"/>
              <a:t>    • Aumenta la complejidad del sistema, ya que se deben gestionar múltiples mapas.</a:t>
            </a:r>
          </a:p>
          <a:p>
            <a:endParaRPr lang="es-ES" dirty="0" smtClean="0"/>
          </a:p>
          <a:p>
            <a:r>
              <a:rPr lang="es-ES" dirty="0" smtClean="0"/>
              <a:t>    • Puede requerir más código y esfuerzo para mantener la coherencia entre los diferentes mapas.</a:t>
            </a:r>
          </a:p>
          <a:p>
            <a:endParaRPr lang="es-ES" dirty="0" smtClean="0"/>
          </a:p>
          <a:p>
            <a:r>
              <a:rPr lang="es-ES" dirty="0" smtClean="0"/>
              <a:t>▎2. Hacer explícito o genérico</a:t>
            </a:r>
          </a:p>
          <a:p>
            <a:endParaRPr lang="es-ES" dirty="0" smtClean="0"/>
          </a:p>
          <a:p>
            <a:r>
              <a:rPr lang="es-ES" dirty="0" smtClean="0"/>
              <a:t>• Hacer explícito:</a:t>
            </a:r>
          </a:p>
          <a:p>
            <a:endParaRPr lang="es-ES" dirty="0" smtClean="0"/>
          </a:p>
          <a:p>
            <a:r>
              <a:rPr lang="es-ES" dirty="0" smtClean="0"/>
              <a:t>  • Ventajas:</a:t>
            </a:r>
          </a:p>
          <a:p>
            <a:endParaRPr lang="es-ES" dirty="0" smtClean="0"/>
          </a:p>
          <a:p>
            <a:r>
              <a:rPr lang="es-ES" dirty="0" smtClean="0"/>
              <a:t>    • Proporciona un control claro sobre cómo se manejan las instancias de cada entidad, lo que puede facilitar la depuración y el mantenimiento.</a:t>
            </a:r>
          </a:p>
          <a:p>
            <a:endParaRPr lang="es-ES" dirty="0" smtClean="0"/>
          </a:p>
          <a:p>
            <a:r>
              <a:rPr lang="es-ES" dirty="0" smtClean="0"/>
              <a:t>    • Permite optimizaciones específicas para cada tipo de entidad.</a:t>
            </a:r>
          </a:p>
          <a:p>
            <a:endParaRPr lang="es-ES" dirty="0" smtClean="0"/>
          </a:p>
          <a:p>
            <a:r>
              <a:rPr lang="es-ES" dirty="0" smtClean="0"/>
              <a:t>  • Desventajas:</a:t>
            </a:r>
          </a:p>
          <a:p>
            <a:endParaRPr lang="es-ES" dirty="0" smtClean="0"/>
          </a:p>
          <a:p>
            <a:r>
              <a:rPr lang="es-ES" dirty="0" smtClean="0"/>
              <a:t>    • Aumenta la complejidad del código y puede hacer que sea más difícil de entender y mantener.</a:t>
            </a:r>
          </a:p>
          <a:p>
            <a:endParaRPr lang="es-ES" dirty="0" smtClean="0"/>
          </a:p>
          <a:p>
            <a:r>
              <a:rPr lang="es-ES" dirty="0" smtClean="0"/>
              <a:t>  </a:t>
            </a:r>
          </a:p>
          <a:p>
            <a:r>
              <a:rPr lang="es-ES" dirty="0" smtClean="0"/>
              <a:t>• Hacer genérico:</a:t>
            </a:r>
          </a:p>
          <a:p>
            <a:endParaRPr lang="es-ES" dirty="0" smtClean="0"/>
          </a:p>
          <a:p>
            <a:r>
              <a:rPr lang="es-ES" dirty="0" smtClean="0"/>
              <a:t>  • Ventajas:</a:t>
            </a:r>
          </a:p>
          <a:p>
            <a:endParaRPr lang="es-ES" dirty="0" smtClean="0"/>
          </a:p>
          <a:p>
            <a:r>
              <a:rPr lang="es-ES" dirty="0" smtClean="0"/>
              <a:t>    • Simplifica la implementación al utilizar un enfoque más abstracto, lo que puede reducir la cantidad de código repetido.</a:t>
            </a:r>
          </a:p>
          <a:p>
            <a:endParaRPr lang="es-ES" dirty="0" smtClean="0"/>
          </a:p>
          <a:p>
            <a:r>
              <a:rPr lang="es-ES" dirty="0" smtClean="0"/>
              <a:t>    • Facilita la reutilización del código y puede hacer que el sistema sea más flexible ante cambios futuros.</a:t>
            </a:r>
          </a:p>
          <a:p>
            <a:endParaRPr lang="es-ES" dirty="0" smtClean="0"/>
          </a:p>
          <a:p>
            <a:r>
              <a:rPr lang="es-ES" dirty="0" smtClean="0"/>
              <a:t>  • Desventajas:</a:t>
            </a:r>
          </a:p>
          <a:p>
            <a:endParaRPr lang="es-ES" dirty="0" smtClean="0"/>
          </a:p>
          <a:p>
            <a:r>
              <a:rPr lang="es-ES" dirty="0" smtClean="0"/>
              <a:t>    • Puede ser menos eficiente si no se tiene en cuenta el comportamiento específico de ciertas entidades.</a:t>
            </a:r>
          </a:p>
          <a:p>
            <a:endParaRPr lang="es-ES" dirty="0" smtClean="0"/>
          </a:p>
          <a:p>
            <a:r>
              <a:rPr lang="es-ES" dirty="0" smtClean="0"/>
              <a:t>    • Puede dificultar el seguimiento de problemas específicos relacionados con ciertas entidades.</a:t>
            </a:r>
          </a:p>
          <a:p>
            <a:endParaRPr lang="es-ES" dirty="0" smtClean="0"/>
          </a:p>
          <a:p>
            <a:r>
              <a:rPr lang="es-ES" dirty="0" smtClean="0"/>
              <a:t>▎3. ¿Dónde colocar los </a:t>
            </a:r>
            <a:r>
              <a:rPr lang="es-ES" dirty="0" err="1" smtClean="0"/>
              <a:t>Identity</a:t>
            </a:r>
            <a:r>
              <a:rPr lang="es-ES" dirty="0" smtClean="0"/>
              <a:t> </a:t>
            </a:r>
            <a:r>
              <a:rPr lang="es-ES" dirty="0" err="1" smtClean="0"/>
              <a:t>Maps</a:t>
            </a:r>
            <a:r>
              <a:rPr lang="es-ES" dirty="0" smtClean="0"/>
              <a:t>: en el </a:t>
            </a:r>
            <a:r>
              <a:rPr lang="es-ES" dirty="0" err="1" smtClean="0"/>
              <a:t>Unit</a:t>
            </a:r>
            <a:r>
              <a:rPr lang="es-ES" dirty="0" smtClean="0"/>
              <a:t> of </a:t>
            </a:r>
            <a:r>
              <a:rPr lang="es-ES" dirty="0" err="1" smtClean="0"/>
              <a:t>Work</a:t>
            </a:r>
            <a:r>
              <a:rPr lang="es-ES" dirty="0" smtClean="0"/>
              <a:t> o en un Registro vinculado a la sesión?</a:t>
            </a:r>
          </a:p>
          <a:p>
            <a:endParaRPr lang="es-ES" dirty="0" smtClean="0"/>
          </a:p>
          <a:p>
            <a:r>
              <a:rPr lang="es-ES" dirty="0" smtClean="0"/>
              <a:t>• En el </a:t>
            </a:r>
            <a:r>
              <a:rPr lang="es-ES" dirty="0" err="1" smtClean="0"/>
              <a:t>Unit</a:t>
            </a:r>
            <a:r>
              <a:rPr lang="es-ES" dirty="0" smtClean="0"/>
              <a:t> of </a:t>
            </a:r>
            <a:r>
              <a:rPr lang="es-ES" dirty="0" err="1" smtClean="0"/>
              <a:t>Work</a:t>
            </a:r>
            <a:r>
              <a:rPr lang="es-ES" dirty="0" smtClean="0"/>
              <a:t>:</a:t>
            </a:r>
          </a:p>
          <a:p>
            <a:endParaRPr lang="es-ES" dirty="0" smtClean="0"/>
          </a:p>
          <a:p>
            <a:r>
              <a:rPr lang="es-ES" dirty="0" smtClean="0"/>
              <a:t>  • Ventajas:</a:t>
            </a:r>
          </a:p>
          <a:p>
            <a:endParaRPr lang="es-ES" dirty="0" smtClean="0"/>
          </a:p>
          <a:p>
            <a:r>
              <a:rPr lang="es-ES" dirty="0" smtClean="0"/>
              <a:t>    • El patrón </a:t>
            </a:r>
            <a:r>
              <a:rPr lang="es-ES" dirty="0" err="1" smtClean="0"/>
              <a:t>Unit</a:t>
            </a:r>
            <a:r>
              <a:rPr lang="es-ES" dirty="0" smtClean="0"/>
              <a:t> of </a:t>
            </a:r>
            <a:r>
              <a:rPr lang="es-ES" dirty="0" err="1" smtClean="0"/>
              <a:t>Work</a:t>
            </a:r>
            <a:r>
              <a:rPr lang="es-ES" dirty="0" smtClean="0"/>
              <a:t> está diseñado para manejar transacciones y coordinar el trabajo con múltiples objetos. Incluir el </a:t>
            </a:r>
            <a:r>
              <a:rPr lang="es-ES" dirty="0" err="1" smtClean="0"/>
              <a:t>Identity</a:t>
            </a:r>
            <a:r>
              <a:rPr lang="es-ES" dirty="0" smtClean="0"/>
              <a:t> </a:t>
            </a:r>
            <a:r>
              <a:rPr lang="es-ES" dirty="0" err="1" smtClean="0"/>
              <a:t>Map</a:t>
            </a:r>
            <a:r>
              <a:rPr lang="es-ES" dirty="0" smtClean="0"/>
              <a:t> aquí permite gestionar la coherencia y la persistencia de los objetos durante una transacción.</a:t>
            </a:r>
          </a:p>
          <a:p>
            <a:endParaRPr lang="es-ES" dirty="0" smtClean="0"/>
          </a:p>
          <a:p>
            <a:r>
              <a:rPr lang="es-ES" dirty="0" smtClean="0"/>
              <a:t>    • Facilita el manejo de la carga y el almacenamiento de objetos dentro del contexto de una unidad de trabajo específica.</a:t>
            </a:r>
          </a:p>
          <a:p>
            <a:endParaRPr lang="es-ES" dirty="0" smtClean="0"/>
          </a:p>
          <a:p>
            <a:r>
              <a:rPr lang="es-ES" dirty="0" smtClean="0"/>
              <a:t>  • Desventajas:</a:t>
            </a:r>
          </a:p>
          <a:p>
            <a:endParaRPr lang="es-ES" dirty="0" smtClean="0"/>
          </a:p>
          <a:p>
            <a:r>
              <a:rPr lang="es-ES" dirty="0" smtClean="0"/>
              <a:t>    • Puede incrementar la complejidad del </a:t>
            </a:r>
            <a:r>
              <a:rPr lang="es-ES" dirty="0" err="1" smtClean="0"/>
              <a:t>Unit</a:t>
            </a:r>
            <a:r>
              <a:rPr lang="es-ES" dirty="0" smtClean="0"/>
              <a:t> of </a:t>
            </a:r>
            <a:r>
              <a:rPr lang="es-ES" dirty="0" err="1" smtClean="0"/>
              <a:t>Work</a:t>
            </a:r>
            <a:r>
              <a:rPr lang="es-ES" dirty="0" smtClean="0"/>
              <a:t>, ya que debe encargarse también de la gestión del </a:t>
            </a:r>
            <a:r>
              <a:rPr lang="es-ES" dirty="0" err="1" smtClean="0"/>
              <a:t>Identity</a:t>
            </a:r>
            <a:r>
              <a:rPr lang="es-ES" dirty="0" smtClean="0"/>
              <a:t> </a:t>
            </a:r>
            <a:r>
              <a:rPr lang="es-ES" dirty="0" err="1" smtClean="0"/>
              <a:t>Map</a:t>
            </a:r>
            <a:r>
              <a:rPr lang="es-ES" dirty="0" smtClean="0"/>
              <a:t>.</a:t>
            </a:r>
          </a:p>
          <a:p>
            <a:endParaRPr lang="es-ES" dirty="0" smtClean="0"/>
          </a:p>
          <a:p>
            <a:r>
              <a:rPr lang="es-ES" dirty="0" smtClean="0"/>
              <a:t>• En un Registro vinculado a la sesión:</a:t>
            </a:r>
          </a:p>
          <a:p>
            <a:endParaRPr lang="es-ES" dirty="0" smtClean="0"/>
          </a:p>
          <a:p>
            <a:r>
              <a:rPr lang="es-ES" dirty="0" smtClean="0"/>
              <a:t>  • Ventajas:</a:t>
            </a:r>
          </a:p>
          <a:p>
            <a:endParaRPr lang="es-ES" dirty="0" smtClean="0"/>
          </a:p>
          <a:p>
            <a:r>
              <a:rPr lang="es-ES" dirty="0" smtClean="0"/>
              <a:t>    • Mantener el </a:t>
            </a:r>
            <a:r>
              <a:rPr lang="es-ES" dirty="0" err="1" smtClean="0"/>
              <a:t>Identity</a:t>
            </a:r>
            <a:r>
              <a:rPr lang="es-ES" dirty="0" smtClean="0"/>
              <a:t> </a:t>
            </a:r>
            <a:r>
              <a:rPr lang="es-ES" dirty="0" err="1" smtClean="0"/>
              <a:t>Map</a:t>
            </a:r>
            <a:r>
              <a:rPr lang="es-ES" dirty="0" smtClean="0"/>
              <a:t> en un registro vinculado a la sesión permite que el ciclo de vida del mapa esté alineado con la sesión del usuario, facilitando el manejo de objetos específicos para cada sesión.</a:t>
            </a:r>
          </a:p>
          <a:p>
            <a:endParaRPr lang="es-ES" dirty="0" smtClean="0"/>
          </a:p>
          <a:p>
            <a:r>
              <a:rPr lang="es-ES" dirty="0" smtClean="0"/>
              <a:t>    • Ayuda a gestionar mejor el estado de los objetos en contextos donde múltiples sesiones pueden interactuar con los mismos datos.</a:t>
            </a:r>
          </a:p>
          <a:p>
            <a:endParaRPr lang="es-ES" dirty="0" smtClean="0"/>
          </a:p>
          <a:p>
            <a:r>
              <a:rPr lang="es-ES" dirty="0" smtClean="0"/>
              <a:t>  • Desventajas:</a:t>
            </a:r>
          </a:p>
          <a:p>
            <a:endParaRPr lang="es-ES" dirty="0" smtClean="0"/>
          </a:p>
          <a:p>
            <a:r>
              <a:rPr lang="es-ES" dirty="0" smtClean="0"/>
              <a:t>    • Puede complicar la gestión del estado si no se implementa correctamente, especialmente en aplicaciones donde las sesiones son largas o se gestionan múltiples usuarios.</a:t>
            </a:r>
          </a:p>
          <a:p>
            <a:endParaRPr lang="es-ES" dirty="0" smtClean="0"/>
          </a:p>
          <a:p>
            <a:r>
              <a:rPr lang="es-ES" dirty="0" smtClean="0"/>
              <a:t>▎Conclusiones</a:t>
            </a:r>
          </a:p>
          <a:p>
            <a:endParaRPr lang="es-ES" dirty="0" smtClean="0"/>
          </a:p>
          <a:p>
            <a:r>
              <a:rPr lang="es-ES" dirty="0" smtClean="0"/>
              <a:t>La elección entre estas opciones depende en gran medida de los requisitos específicos del sistema, la complejidad del dominio y las consideraciones de rendimiento. Es importante evaluar cuidadosamente las ventajas y desventajas de cada enfoque antes de tomar una decisión sobre cómo implementar el patrón </a:t>
            </a:r>
            <a:r>
              <a:rPr lang="es-ES" dirty="0" err="1" smtClean="0"/>
              <a:t>Identity</a:t>
            </a:r>
            <a:r>
              <a:rPr lang="es-ES" dirty="0" smtClean="0"/>
              <a:t> </a:t>
            </a:r>
            <a:r>
              <a:rPr lang="es-ES" dirty="0" err="1" smtClean="0"/>
              <a:t>Map</a:t>
            </a:r>
            <a:r>
              <a:rPr lang="es-ES" dirty="0" smtClean="0"/>
              <a:t>.</a:t>
            </a:r>
          </a:p>
        </p:txBody>
      </p:sp>
    </p:spTree>
    <p:extLst>
      <p:ext uri="{BB962C8B-B14F-4D97-AF65-F5344CB8AC3E}">
        <p14:creationId xmlns:p14="http://schemas.microsoft.com/office/powerpoint/2010/main" val="136988644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ES" dirty="0" smtClean="0"/>
          </a:p>
          <a:p>
            <a:endParaRPr lang="es-ES" dirty="0" smtClean="0"/>
          </a:p>
          <a:p>
            <a:r>
              <a:rPr lang="es-ES" dirty="0" smtClean="0"/>
              <a:t>El patrón </a:t>
            </a:r>
            <a:r>
              <a:rPr lang="es-ES" dirty="0" err="1" smtClean="0"/>
              <a:t>Identity</a:t>
            </a:r>
            <a:r>
              <a:rPr lang="es-ES" dirty="0" smtClean="0"/>
              <a:t> </a:t>
            </a:r>
            <a:r>
              <a:rPr lang="es-ES" dirty="0" err="1" smtClean="0"/>
              <a:t>Map</a:t>
            </a:r>
            <a:r>
              <a:rPr lang="es-ES" dirty="0" smtClean="0"/>
              <a:t> puede ser implementado de diferentes maneras según las necesidades del sistema y las decisiones de diseño. Aquí te presento un análisis sobre los tres aspectos que mencionas:</a:t>
            </a:r>
          </a:p>
          <a:p>
            <a:endParaRPr lang="es-ES" dirty="0" smtClean="0"/>
          </a:p>
          <a:p>
            <a:r>
              <a:rPr lang="es-ES" dirty="0" smtClean="0"/>
              <a:t>▎1. ¿Cuántos mapas por entidad o un solo mapa para todas las entidades?</a:t>
            </a:r>
          </a:p>
          <a:p>
            <a:endParaRPr lang="es-ES" dirty="0" smtClean="0"/>
          </a:p>
          <a:p>
            <a:r>
              <a:rPr lang="es-ES" dirty="0" smtClean="0"/>
              <a:t>• Un solo mapa para todas las entidades:</a:t>
            </a:r>
          </a:p>
          <a:p>
            <a:endParaRPr lang="es-ES" dirty="0" smtClean="0"/>
          </a:p>
          <a:p>
            <a:r>
              <a:rPr lang="es-ES" dirty="0" smtClean="0"/>
              <a:t>  • Ventajas: </a:t>
            </a:r>
          </a:p>
          <a:p>
            <a:endParaRPr lang="es-ES" dirty="0" smtClean="0"/>
          </a:p>
          <a:p>
            <a:r>
              <a:rPr lang="es-ES" dirty="0" smtClean="0"/>
              <a:t>    • Simplifica la gestión de los objetos en memoria, ya que se tiene una única estructura de datos para almacenar todas las instancias.</a:t>
            </a:r>
          </a:p>
          <a:p>
            <a:endParaRPr lang="es-ES" dirty="0" smtClean="0"/>
          </a:p>
          <a:p>
            <a:r>
              <a:rPr lang="es-ES" dirty="0" smtClean="0"/>
              <a:t>    • Reduce la complejidad al evitar la necesidad de múltiples mapas y facilita la implementación.</a:t>
            </a:r>
          </a:p>
          <a:p>
            <a:endParaRPr lang="es-ES" dirty="0" smtClean="0"/>
          </a:p>
          <a:p>
            <a:r>
              <a:rPr lang="es-ES" dirty="0" smtClean="0"/>
              <a:t>  • Desventajas:</a:t>
            </a:r>
          </a:p>
          <a:p>
            <a:endParaRPr lang="es-ES" dirty="0" smtClean="0"/>
          </a:p>
          <a:p>
            <a:r>
              <a:rPr lang="es-ES" dirty="0" smtClean="0"/>
              <a:t>    • Puede volverse ineficiente si hay muchas entidades diferentes, ya que el mapa puede crecer considerablemente y volverse difícil de manejar.</a:t>
            </a:r>
          </a:p>
          <a:p>
            <a:endParaRPr lang="es-ES" dirty="0" smtClean="0"/>
          </a:p>
          <a:p>
            <a:r>
              <a:rPr lang="es-ES" dirty="0" smtClean="0"/>
              <a:t>    • Puede haber problemas de rendimiento si no se gestiona adecuadamente, ya que el acceso a un único mapa puede convertirse en un cuello de botella.</a:t>
            </a:r>
          </a:p>
          <a:p>
            <a:endParaRPr lang="es-ES" dirty="0" smtClean="0"/>
          </a:p>
          <a:p>
            <a:r>
              <a:rPr lang="es-ES" dirty="0" smtClean="0"/>
              <a:t>• Un mapa por entidad:</a:t>
            </a:r>
          </a:p>
          <a:p>
            <a:endParaRPr lang="es-ES" dirty="0" smtClean="0"/>
          </a:p>
          <a:p>
            <a:r>
              <a:rPr lang="es-ES" dirty="0" smtClean="0"/>
              <a:t>  • Ventajas:</a:t>
            </a:r>
          </a:p>
          <a:p>
            <a:endParaRPr lang="es-ES" dirty="0" smtClean="0"/>
          </a:p>
          <a:p>
            <a:r>
              <a:rPr lang="es-ES" dirty="0" smtClean="0"/>
              <a:t>    • Permite optimizar el acceso a objetos específicos, ya que cada entidad tiene su propio mapa.</a:t>
            </a:r>
          </a:p>
          <a:p>
            <a:endParaRPr lang="es-ES" dirty="0" smtClean="0"/>
          </a:p>
          <a:p>
            <a:r>
              <a:rPr lang="es-ES" dirty="0" smtClean="0"/>
              <a:t>    • Facilita la gestión de caché y puede mejorar el rendimiento al reducir el tamaño de cada mapa.</a:t>
            </a:r>
          </a:p>
          <a:p>
            <a:endParaRPr lang="es-ES" dirty="0" smtClean="0"/>
          </a:p>
          <a:p>
            <a:r>
              <a:rPr lang="es-ES" dirty="0" smtClean="0"/>
              <a:t>  • Desventajas:</a:t>
            </a:r>
          </a:p>
          <a:p>
            <a:endParaRPr lang="es-ES" dirty="0" smtClean="0"/>
          </a:p>
          <a:p>
            <a:r>
              <a:rPr lang="es-ES" dirty="0" smtClean="0"/>
              <a:t>    • Aumenta la complejidad del sistema, ya que se deben gestionar múltiples mapas.</a:t>
            </a:r>
          </a:p>
          <a:p>
            <a:endParaRPr lang="es-ES" dirty="0" smtClean="0"/>
          </a:p>
          <a:p>
            <a:r>
              <a:rPr lang="es-ES" dirty="0" smtClean="0"/>
              <a:t>    • Puede requerir más código y esfuerzo para mantener la coherencia entre los diferentes mapas.</a:t>
            </a:r>
          </a:p>
          <a:p>
            <a:endParaRPr lang="es-ES" dirty="0" smtClean="0"/>
          </a:p>
          <a:p>
            <a:r>
              <a:rPr lang="es-ES" dirty="0" smtClean="0"/>
              <a:t>▎2. Hacer explícito o genérico</a:t>
            </a:r>
          </a:p>
          <a:p>
            <a:endParaRPr lang="es-ES" dirty="0" smtClean="0"/>
          </a:p>
          <a:p>
            <a:r>
              <a:rPr lang="es-ES" dirty="0" smtClean="0"/>
              <a:t>• Hacer explícito:</a:t>
            </a:r>
          </a:p>
          <a:p>
            <a:endParaRPr lang="es-ES" dirty="0" smtClean="0"/>
          </a:p>
          <a:p>
            <a:r>
              <a:rPr lang="es-ES" dirty="0" smtClean="0"/>
              <a:t>  • Ventajas:</a:t>
            </a:r>
          </a:p>
          <a:p>
            <a:endParaRPr lang="es-ES" dirty="0" smtClean="0"/>
          </a:p>
          <a:p>
            <a:r>
              <a:rPr lang="es-ES" dirty="0" smtClean="0"/>
              <a:t>    • Proporciona un control claro sobre cómo se manejan las instancias de cada entidad, lo que puede facilitar la depuración y el mantenimiento.</a:t>
            </a:r>
          </a:p>
          <a:p>
            <a:endParaRPr lang="es-ES" dirty="0" smtClean="0"/>
          </a:p>
          <a:p>
            <a:r>
              <a:rPr lang="es-ES" dirty="0" smtClean="0"/>
              <a:t>    • Permite optimizaciones específicas para cada tipo de entidad.</a:t>
            </a:r>
          </a:p>
          <a:p>
            <a:endParaRPr lang="es-ES" dirty="0" smtClean="0"/>
          </a:p>
          <a:p>
            <a:r>
              <a:rPr lang="es-ES" dirty="0" smtClean="0"/>
              <a:t>  • Desventajas:</a:t>
            </a:r>
          </a:p>
          <a:p>
            <a:endParaRPr lang="es-ES" dirty="0" smtClean="0"/>
          </a:p>
          <a:p>
            <a:r>
              <a:rPr lang="es-ES" dirty="0" smtClean="0"/>
              <a:t>    • Aumenta la complejidad del código y puede hacer que sea más difícil de entender y mantener.</a:t>
            </a:r>
          </a:p>
          <a:p>
            <a:endParaRPr lang="es-ES" dirty="0" smtClean="0"/>
          </a:p>
          <a:p>
            <a:r>
              <a:rPr lang="es-ES" dirty="0" smtClean="0"/>
              <a:t>  </a:t>
            </a:r>
          </a:p>
          <a:p>
            <a:r>
              <a:rPr lang="es-ES" dirty="0" smtClean="0"/>
              <a:t>• Hacer genérico:</a:t>
            </a:r>
          </a:p>
          <a:p>
            <a:endParaRPr lang="es-ES" dirty="0" smtClean="0"/>
          </a:p>
          <a:p>
            <a:r>
              <a:rPr lang="es-ES" dirty="0" smtClean="0"/>
              <a:t>  • Ventajas:</a:t>
            </a:r>
          </a:p>
          <a:p>
            <a:endParaRPr lang="es-ES" dirty="0" smtClean="0"/>
          </a:p>
          <a:p>
            <a:r>
              <a:rPr lang="es-ES" dirty="0" smtClean="0"/>
              <a:t>    • Simplifica la implementación al utilizar un enfoque más abstracto, lo que puede reducir la cantidad de código repetido.</a:t>
            </a:r>
          </a:p>
          <a:p>
            <a:endParaRPr lang="es-ES" dirty="0" smtClean="0"/>
          </a:p>
          <a:p>
            <a:r>
              <a:rPr lang="es-ES" dirty="0" smtClean="0"/>
              <a:t>    • Facilita la reutilización del código y puede hacer que el sistema sea más flexible ante cambios futuros.</a:t>
            </a:r>
          </a:p>
          <a:p>
            <a:endParaRPr lang="es-ES" dirty="0" smtClean="0"/>
          </a:p>
          <a:p>
            <a:r>
              <a:rPr lang="es-ES" dirty="0" smtClean="0"/>
              <a:t>  • Desventajas:</a:t>
            </a:r>
          </a:p>
          <a:p>
            <a:endParaRPr lang="es-ES" dirty="0" smtClean="0"/>
          </a:p>
          <a:p>
            <a:r>
              <a:rPr lang="es-ES" dirty="0" smtClean="0"/>
              <a:t>    • Puede ser menos eficiente si no se tiene en cuenta el comportamiento específico de ciertas entidades.</a:t>
            </a:r>
          </a:p>
          <a:p>
            <a:endParaRPr lang="es-ES" dirty="0" smtClean="0"/>
          </a:p>
          <a:p>
            <a:r>
              <a:rPr lang="es-ES" dirty="0" smtClean="0"/>
              <a:t>    • Puede dificultar el seguimiento de problemas específicos relacionados con ciertas entidades.</a:t>
            </a:r>
          </a:p>
          <a:p>
            <a:endParaRPr lang="es-ES" dirty="0" smtClean="0"/>
          </a:p>
          <a:p>
            <a:r>
              <a:rPr lang="es-ES" dirty="0" smtClean="0"/>
              <a:t>▎3. ¿Dónde colocar los </a:t>
            </a:r>
            <a:r>
              <a:rPr lang="es-ES" dirty="0" err="1" smtClean="0"/>
              <a:t>Identity</a:t>
            </a:r>
            <a:r>
              <a:rPr lang="es-ES" dirty="0" smtClean="0"/>
              <a:t> </a:t>
            </a:r>
            <a:r>
              <a:rPr lang="es-ES" dirty="0" err="1" smtClean="0"/>
              <a:t>Maps</a:t>
            </a:r>
            <a:r>
              <a:rPr lang="es-ES" dirty="0" smtClean="0"/>
              <a:t>: en el </a:t>
            </a:r>
            <a:r>
              <a:rPr lang="es-ES" dirty="0" err="1" smtClean="0"/>
              <a:t>Unit</a:t>
            </a:r>
            <a:r>
              <a:rPr lang="es-ES" dirty="0" smtClean="0"/>
              <a:t> of </a:t>
            </a:r>
            <a:r>
              <a:rPr lang="es-ES" dirty="0" err="1" smtClean="0"/>
              <a:t>Work</a:t>
            </a:r>
            <a:r>
              <a:rPr lang="es-ES" dirty="0" smtClean="0"/>
              <a:t> o en un Registro vinculado a la sesión?</a:t>
            </a:r>
          </a:p>
          <a:p>
            <a:endParaRPr lang="es-ES" dirty="0" smtClean="0"/>
          </a:p>
          <a:p>
            <a:r>
              <a:rPr lang="es-ES" dirty="0" smtClean="0"/>
              <a:t>• En el </a:t>
            </a:r>
            <a:r>
              <a:rPr lang="es-ES" dirty="0" err="1" smtClean="0"/>
              <a:t>Unit</a:t>
            </a:r>
            <a:r>
              <a:rPr lang="es-ES" dirty="0" smtClean="0"/>
              <a:t> of </a:t>
            </a:r>
            <a:r>
              <a:rPr lang="es-ES" dirty="0" err="1" smtClean="0"/>
              <a:t>Work</a:t>
            </a:r>
            <a:r>
              <a:rPr lang="es-ES" dirty="0" smtClean="0"/>
              <a:t>:</a:t>
            </a:r>
          </a:p>
          <a:p>
            <a:endParaRPr lang="es-ES" dirty="0" smtClean="0"/>
          </a:p>
          <a:p>
            <a:r>
              <a:rPr lang="es-ES" dirty="0" smtClean="0"/>
              <a:t>  • Ventajas:</a:t>
            </a:r>
          </a:p>
          <a:p>
            <a:endParaRPr lang="es-ES" dirty="0" smtClean="0"/>
          </a:p>
          <a:p>
            <a:r>
              <a:rPr lang="es-ES" dirty="0" smtClean="0"/>
              <a:t>    • El patrón </a:t>
            </a:r>
            <a:r>
              <a:rPr lang="es-ES" dirty="0" err="1" smtClean="0"/>
              <a:t>Unit</a:t>
            </a:r>
            <a:r>
              <a:rPr lang="es-ES" dirty="0" smtClean="0"/>
              <a:t> of </a:t>
            </a:r>
            <a:r>
              <a:rPr lang="es-ES" dirty="0" err="1" smtClean="0"/>
              <a:t>Work</a:t>
            </a:r>
            <a:r>
              <a:rPr lang="es-ES" dirty="0" smtClean="0"/>
              <a:t> está diseñado para manejar transacciones y coordinar el trabajo con múltiples objetos. Incluir el </a:t>
            </a:r>
            <a:r>
              <a:rPr lang="es-ES" dirty="0" err="1" smtClean="0"/>
              <a:t>Identity</a:t>
            </a:r>
            <a:r>
              <a:rPr lang="es-ES" dirty="0" smtClean="0"/>
              <a:t> </a:t>
            </a:r>
            <a:r>
              <a:rPr lang="es-ES" dirty="0" err="1" smtClean="0"/>
              <a:t>Map</a:t>
            </a:r>
            <a:r>
              <a:rPr lang="es-ES" dirty="0" smtClean="0"/>
              <a:t> aquí permite gestionar la coherencia y la persistencia de los objetos durante una transacción.</a:t>
            </a:r>
          </a:p>
          <a:p>
            <a:endParaRPr lang="es-ES" dirty="0" smtClean="0"/>
          </a:p>
          <a:p>
            <a:r>
              <a:rPr lang="es-ES" dirty="0" smtClean="0"/>
              <a:t>    • Facilita el manejo de la carga y el almacenamiento de objetos dentro del contexto de una unidad de trabajo específica.</a:t>
            </a:r>
          </a:p>
          <a:p>
            <a:endParaRPr lang="es-ES" dirty="0" smtClean="0"/>
          </a:p>
          <a:p>
            <a:r>
              <a:rPr lang="es-ES" dirty="0" smtClean="0"/>
              <a:t>  • Desventajas:</a:t>
            </a:r>
          </a:p>
          <a:p>
            <a:endParaRPr lang="es-ES" dirty="0" smtClean="0"/>
          </a:p>
          <a:p>
            <a:r>
              <a:rPr lang="es-ES" dirty="0" smtClean="0"/>
              <a:t>    • Puede incrementar la complejidad del </a:t>
            </a:r>
            <a:r>
              <a:rPr lang="es-ES" dirty="0" err="1" smtClean="0"/>
              <a:t>Unit</a:t>
            </a:r>
            <a:r>
              <a:rPr lang="es-ES" dirty="0" smtClean="0"/>
              <a:t> of </a:t>
            </a:r>
            <a:r>
              <a:rPr lang="es-ES" dirty="0" err="1" smtClean="0"/>
              <a:t>Work</a:t>
            </a:r>
            <a:r>
              <a:rPr lang="es-ES" dirty="0" smtClean="0"/>
              <a:t>, ya que debe encargarse también de la gestión del </a:t>
            </a:r>
            <a:r>
              <a:rPr lang="es-ES" dirty="0" err="1" smtClean="0"/>
              <a:t>Identity</a:t>
            </a:r>
            <a:r>
              <a:rPr lang="es-ES" dirty="0" smtClean="0"/>
              <a:t> </a:t>
            </a:r>
            <a:r>
              <a:rPr lang="es-ES" dirty="0" err="1" smtClean="0"/>
              <a:t>Map</a:t>
            </a:r>
            <a:r>
              <a:rPr lang="es-ES" dirty="0" smtClean="0"/>
              <a:t>.</a:t>
            </a:r>
          </a:p>
          <a:p>
            <a:endParaRPr lang="es-ES" dirty="0" smtClean="0"/>
          </a:p>
          <a:p>
            <a:r>
              <a:rPr lang="es-ES" dirty="0" smtClean="0"/>
              <a:t>• En un Registro vinculado a la sesión:</a:t>
            </a:r>
          </a:p>
          <a:p>
            <a:endParaRPr lang="es-ES" dirty="0" smtClean="0"/>
          </a:p>
          <a:p>
            <a:r>
              <a:rPr lang="es-ES" dirty="0" smtClean="0"/>
              <a:t>  • Ventajas:</a:t>
            </a:r>
          </a:p>
          <a:p>
            <a:endParaRPr lang="es-ES" dirty="0" smtClean="0"/>
          </a:p>
          <a:p>
            <a:r>
              <a:rPr lang="es-ES" dirty="0" smtClean="0"/>
              <a:t>    • Mantener el </a:t>
            </a:r>
            <a:r>
              <a:rPr lang="es-ES" dirty="0" err="1" smtClean="0"/>
              <a:t>Identity</a:t>
            </a:r>
            <a:r>
              <a:rPr lang="es-ES" dirty="0" smtClean="0"/>
              <a:t> </a:t>
            </a:r>
            <a:r>
              <a:rPr lang="es-ES" dirty="0" err="1" smtClean="0"/>
              <a:t>Map</a:t>
            </a:r>
            <a:r>
              <a:rPr lang="es-ES" dirty="0" smtClean="0"/>
              <a:t> en un registro vinculado a la sesión permite que el ciclo de vida del mapa esté alineado con la sesión del usuario, facilitando el manejo de objetos específicos para cada sesión.</a:t>
            </a:r>
          </a:p>
          <a:p>
            <a:endParaRPr lang="es-ES" dirty="0" smtClean="0"/>
          </a:p>
          <a:p>
            <a:r>
              <a:rPr lang="es-ES" dirty="0" smtClean="0"/>
              <a:t>    • Ayuda a gestionar mejor el estado de los objetos en contextos donde múltiples sesiones pueden interactuar con los mismos datos.</a:t>
            </a:r>
          </a:p>
          <a:p>
            <a:endParaRPr lang="es-ES" dirty="0" smtClean="0"/>
          </a:p>
          <a:p>
            <a:r>
              <a:rPr lang="es-ES" dirty="0" smtClean="0"/>
              <a:t>  • Desventajas:</a:t>
            </a:r>
          </a:p>
          <a:p>
            <a:endParaRPr lang="es-ES" dirty="0" smtClean="0"/>
          </a:p>
          <a:p>
            <a:r>
              <a:rPr lang="es-ES" dirty="0" smtClean="0"/>
              <a:t>    • Puede complicar la gestión del estado si no se implementa correctamente, especialmente en aplicaciones donde las sesiones son largas o se gestionan múltiples usuarios.</a:t>
            </a:r>
          </a:p>
          <a:p>
            <a:endParaRPr lang="es-ES" dirty="0" smtClean="0"/>
          </a:p>
          <a:p>
            <a:r>
              <a:rPr lang="es-ES" dirty="0" smtClean="0"/>
              <a:t>▎Conclusiones</a:t>
            </a:r>
          </a:p>
          <a:p>
            <a:endParaRPr lang="es-ES" dirty="0" smtClean="0"/>
          </a:p>
          <a:p>
            <a:r>
              <a:rPr lang="es-ES" dirty="0" smtClean="0"/>
              <a:t>La elección entre estas opciones depende en gran medida de los requisitos específicos del sistema, la complejidad del dominio y las consideraciones de rendimiento. Es importante evaluar cuidadosamente las ventajas y desventajas de cada enfoque antes de tomar una decisión sobre cómo implementar el patrón </a:t>
            </a:r>
            <a:r>
              <a:rPr lang="es-ES" dirty="0" err="1" smtClean="0"/>
              <a:t>Identity</a:t>
            </a:r>
            <a:r>
              <a:rPr lang="es-ES" dirty="0" smtClean="0"/>
              <a:t> </a:t>
            </a:r>
            <a:r>
              <a:rPr lang="es-ES" dirty="0" err="1" smtClean="0"/>
              <a:t>Map</a:t>
            </a:r>
            <a:r>
              <a:rPr lang="es-ES" dirty="0" smtClean="0"/>
              <a:t>.</a:t>
            </a:r>
          </a:p>
        </p:txBody>
      </p:sp>
    </p:spTree>
    <p:extLst>
      <p:ext uri="{BB962C8B-B14F-4D97-AF65-F5344CB8AC3E}">
        <p14:creationId xmlns:p14="http://schemas.microsoft.com/office/powerpoint/2010/main" val="136988644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ES" dirty="0" smtClean="0"/>
          </a:p>
          <a:p>
            <a:endParaRPr lang="es-ES" dirty="0" smtClean="0"/>
          </a:p>
          <a:p>
            <a:r>
              <a:rPr lang="es-ES" dirty="0" smtClean="0"/>
              <a:t>El patrón </a:t>
            </a:r>
            <a:r>
              <a:rPr lang="es-ES" dirty="0" err="1" smtClean="0"/>
              <a:t>Identity</a:t>
            </a:r>
            <a:r>
              <a:rPr lang="es-ES" dirty="0" smtClean="0"/>
              <a:t> </a:t>
            </a:r>
            <a:r>
              <a:rPr lang="es-ES" dirty="0" err="1" smtClean="0"/>
              <a:t>Map</a:t>
            </a:r>
            <a:r>
              <a:rPr lang="es-ES" dirty="0" smtClean="0"/>
              <a:t> puede ser implementado de diferentes maneras según las necesidades del sistema y las decisiones de diseño. Aquí te presento un análisis sobre los tres aspectos que mencionas:</a:t>
            </a:r>
          </a:p>
          <a:p>
            <a:endParaRPr lang="es-ES" dirty="0" smtClean="0"/>
          </a:p>
          <a:p>
            <a:r>
              <a:rPr lang="es-ES" dirty="0" smtClean="0"/>
              <a:t>▎1. ¿Cuántos mapas por entidad o un solo mapa para todas las entidades?</a:t>
            </a:r>
          </a:p>
          <a:p>
            <a:endParaRPr lang="es-ES" dirty="0" smtClean="0"/>
          </a:p>
          <a:p>
            <a:r>
              <a:rPr lang="es-ES" dirty="0" smtClean="0"/>
              <a:t>• Un solo mapa para todas las entidades:</a:t>
            </a:r>
          </a:p>
          <a:p>
            <a:endParaRPr lang="es-ES" dirty="0" smtClean="0"/>
          </a:p>
          <a:p>
            <a:r>
              <a:rPr lang="es-ES" dirty="0" smtClean="0"/>
              <a:t>  • Ventajas: </a:t>
            </a:r>
          </a:p>
          <a:p>
            <a:endParaRPr lang="es-ES" dirty="0" smtClean="0"/>
          </a:p>
          <a:p>
            <a:r>
              <a:rPr lang="es-ES" dirty="0" smtClean="0"/>
              <a:t>    • Simplifica la gestión de los objetos en memoria, ya que se tiene una única estructura de datos para almacenar todas las instancias.</a:t>
            </a:r>
          </a:p>
          <a:p>
            <a:endParaRPr lang="es-ES" dirty="0" smtClean="0"/>
          </a:p>
          <a:p>
            <a:r>
              <a:rPr lang="es-ES" dirty="0" smtClean="0"/>
              <a:t>    • Reduce la complejidad al evitar la necesidad de múltiples mapas y facilita la implementación.</a:t>
            </a:r>
          </a:p>
          <a:p>
            <a:endParaRPr lang="es-ES" dirty="0" smtClean="0"/>
          </a:p>
          <a:p>
            <a:r>
              <a:rPr lang="es-ES" dirty="0" smtClean="0"/>
              <a:t>  • Desventajas:</a:t>
            </a:r>
          </a:p>
          <a:p>
            <a:endParaRPr lang="es-ES" dirty="0" smtClean="0"/>
          </a:p>
          <a:p>
            <a:r>
              <a:rPr lang="es-ES" dirty="0" smtClean="0"/>
              <a:t>    • Puede volverse ineficiente si hay muchas entidades diferentes, ya que el mapa puede crecer considerablemente y volverse difícil de manejar.</a:t>
            </a:r>
          </a:p>
          <a:p>
            <a:endParaRPr lang="es-ES" dirty="0" smtClean="0"/>
          </a:p>
          <a:p>
            <a:r>
              <a:rPr lang="es-ES" dirty="0" smtClean="0"/>
              <a:t>    • Puede haber problemas de rendimiento si no se gestiona adecuadamente, ya que el acceso a un único mapa puede convertirse en un cuello de botella.</a:t>
            </a:r>
          </a:p>
          <a:p>
            <a:endParaRPr lang="es-ES" dirty="0" smtClean="0"/>
          </a:p>
          <a:p>
            <a:r>
              <a:rPr lang="es-ES" dirty="0" smtClean="0"/>
              <a:t>• Un mapa por entidad:</a:t>
            </a:r>
          </a:p>
          <a:p>
            <a:endParaRPr lang="es-ES" dirty="0" smtClean="0"/>
          </a:p>
          <a:p>
            <a:r>
              <a:rPr lang="es-ES" dirty="0" smtClean="0"/>
              <a:t>  • Ventajas:</a:t>
            </a:r>
          </a:p>
          <a:p>
            <a:endParaRPr lang="es-ES" dirty="0" smtClean="0"/>
          </a:p>
          <a:p>
            <a:r>
              <a:rPr lang="es-ES" dirty="0" smtClean="0"/>
              <a:t>    • Permite optimizar el acceso a objetos específicos, ya que cada entidad tiene su propio mapa.</a:t>
            </a:r>
          </a:p>
          <a:p>
            <a:endParaRPr lang="es-ES" dirty="0" smtClean="0"/>
          </a:p>
          <a:p>
            <a:r>
              <a:rPr lang="es-ES" dirty="0" smtClean="0"/>
              <a:t>    • Facilita la gestión de caché y puede mejorar el rendimiento al reducir el tamaño de cada mapa.</a:t>
            </a:r>
          </a:p>
          <a:p>
            <a:endParaRPr lang="es-ES" dirty="0" smtClean="0"/>
          </a:p>
          <a:p>
            <a:r>
              <a:rPr lang="es-ES" dirty="0" smtClean="0"/>
              <a:t>  • Desventajas:</a:t>
            </a:r>
          </a:p>
          <a:p>
            <a:endParaRPr lang="es-ES" dirty="0" smtClean="0"/>
          </a:p>
          <a:p>
            <a:r>
              <a:rPr lang="es-ES" dirty="0" smtClean="0"/>
              <a:t>    • Aumenta la complejidad del sistema, ya que se deben gestionar múltiples mapas.</a:t>
            </a:r>
          </a:p>
          <a:p>
            <a:endParaRPr lang="es-ES" dirty="0" smtClean="0"/>
          </a:p>
          <a:p>
            <a:r>
              <a:rPr lang="es-ES" dirty="0" smtClean="0"/>
              <a:t>    • Puede requerir más código y esfuerzo para mantener la coherencia entre los diferentes mapas.</a:t>
            </a:r>
          </a:p>
          <a:p>
            <a:endParaRPr lang="es-ES" dirty="0" smtClean="0"/>
          </a:p>
          <a:p>
            <a:r>
              <a:rPr lang="es-ES" dirty="0" smtClean="0"/>
              <a:t>▎2. Hacer explícito o genérico</a:t>
            </a:r>
          </a:p>
          <a:p>
            <a:endParaRPr lang="es-ES" dirty="0" smtClean="0"/>
          </a:p>
          <a:p>
            <a:r>
              <a:rPr lang="es-ES" dirty="0" smtClean="0"/>
              <a:t>• Hacer explícito:</a:t>
            </a:r>
          </a:p>
          <a:p>
            <a:endParaRPr lang="es-ES" dirty="0" smtClean="0"/>
          </a:p>
          <a:p>
            <a:r>
              <a:rPr lang="es-ES" dirty="0" smtClean="0"/>
              <a:t>  • Ventajas:</a:t>
            </a:r>
          </a:p>
          <a:p>
            <a:endParaRPr lang="es-ES" dirty="0" smtClean="0"/>
          </a:p>
          <a:p>
            <a:r>
              <a:rPr lang="es-ES" dirty="0" smtClean="0"/>
              <a:t>    • Proporciona un control claro sobre cómo se manejan las instancias de cada entidad, lo que puede facilitar la depuración y el mantenimiento.</a:t>
            </a:r>
          </a:p>
          <a:p>
            <a:endParaRPr lang="es-ES" dirty="0" smtClean="0"/>
          </a:p>
          <a:p>
            <a:r>
              <a:rPr lang="es-ES" dirty="0" smtClean="0"/>
              <a:t>    • Permite optimizaciones específicas para cada tipo de entidad.</a:t>
            </a:r>
          </a:p>
          <a:p>
            <a:endParaRPr lang="es-ES" dirty="0" smtClean="0"/>
          </a:p>
          <a:p>
            <a:r>
              <a:rPr lang="es-ES" dirty="0" smtClean="0"/>
              <a:t>  • Desventajas:</a:t>
            </a:r>
          </a:p>
          <a:p>
            <a:endParaRPr lang="es-ES" dirty="0" smtClean="0"/>
          </a:p>
          <a:p>
            <a:r>
              <a:rPr lang="es-ES" dirty="0" smtClean="0"/>
              <a:t>    • Aumenta la complejidad del código y puede hacer que sea más difícil de entender y mantener.</a:t>
            </a:r>
          </a:p>
          <a:p>
            <a:endParaRPr lang="es-ES" dirty="0" smtClean="0"/>
          </a:p>
          <a:p>
            <a:r>
              <a:rPr lang="es-ES" dirty="0" smtClean="0"/>
              <a:t>  </a:t>
            </a:r>
          </a:p>
          <a:p>
            <a:r>
              <a:rPr lang="es-ES" dirty="0" smtClean="0"/>
              <a:t>• Hacer genérico:</a:t>
            </a:r>
          </a:p>
          <a:p>
            <a:endParaRPr lang="es-ES" dirty="0" smtClean="0"/>
          </a:p>
          <a:p>
            <a:r>
              <a:rPr lang="es-ES" dirty="0" smtClean="0"/>
              <a:t>  • Ventajas:</a:t>
            </a:r>
          </a:p>
          <a:p>
            <a:endParaRPr lang="es-ES" dirty="0" smtClean="0"/>
          </a:p>
          <a:p>
            <a:r>
              <a:rPr lang="es-ES" dirty="0" smtClean="0"/>
              <a:t>    • Simplifica la implementación al utilizar un enfoque más abstracto, lo que puede reducir la cantidad de código repetido.</a:t>
            </a:r>
          </a:p>
          <a:p>
            <a:endParaRPr lang="es-ES" dirty="0" smtClean="0"/>
          </a:p>
          <a:p>
            <a:r>
              <a:rPr lang="es-ES" dirty="0" smtClean="0"/>
              <a:t>    • Facilita la reutilización del código y puede hacer que el sistema sea más flexible ante cambios futuros.</a:t>
            </a:r>
          </a:p>
          <a:p>
            <a:endParaRPr lang="es-ES" dirty="0" smtClean="0"/>
          </a:p>
          <a:p>
            <a:r>
              <a:rPr lang="es-ES" dirty="0" smtClean="0"/>
              <a:t>  • Desventajas:</a:t>
            </a:r>
          </a:p>
          <a:p>
            <a:endParaRPr lang="es-ES" dirty="0" smtClean="0"/>
          </a:p>
          <a:p>
            <a:r>
              <a:rPr lang="es-ES" dirty="0" smtClean="0"/>
              <a:t>    • Puede ser menos eficiente si no se tiene en cuenta el comportamiento específico de ciertas entidades.</a:t>
            </a:r>
          </a:p>
          <a:p>
            <a:endParaRPr lang="es-ES" dirty="0" smtClean="0"/>
          </a:p>
          <a:p>
            <a:r>
              <a:rPr lang="es-ES" dirty="0" smtClean="0"/>
              <a:t>    • Puede dificultar el seguimiento de problemas específicos relacionados con ciertas entidades.</a:t>
            </a:r>
          </a:p>
          <a:p>
            <a:endParaRPr lang="es-ES" dirty="0" smtClean="0"/>
          </a:p>
          <a:p>
            <a:r>
              <a:rPr lang="es-ES" dirty="0" smtClean="0"/>
              <a:t>▎3. ¿Dónde colocar los </a:t>
            </a:r>
            <a:r>
              <a:rPr lang="es-ES" dirty="0" err="1" smtClean="0"/>
              <a:t>Identity</a:t>
            </a:r>
            <a:r>
              <a:rPr lang="es-ES" dirty="0" smtClean="0"/>
              <a:t> </a:t>
            </a:r>
            <a:r>
              <a:rPr lang="es-ES" dirty="0" err="1" smtClean="0"/>
              <a:t>Maps</a:t>
            </a:r>
            <a:r>
              <a:rPr lang="es-ES" dirty="0" smtClean="0"/>
              <a:t>: en el </a:t>
            </a:r>
            <a:r>
              <a:rPr lang="es-ES" dirty="0" err="1" smtClean="0"/>
              <a:t>Unit</a:t>
            </a:r>
            <a:r>
              <a:rPr lang="es-ES" dirty="0" smtClean="0"/>
              <a:t> of </a:t>
            </a:r>
            <a:r>
              <a:rPr lang="es-ES" dirty="0" err="1" smtClean="0"/>
              <a:t>Work</a:t>
            </a:r>
            <a:r>
              <a:rPr lang="es-ES" dirty="0" smtClean="0"/>
              <a:t> o en un Registro vinculado a la sesión?</a:t>
            </a:r>
          </a:p>
          <a:p>
            <a:endParaRPr lang="es-ES" dirty="0" smtClean="0"/>
          </a:p>
          <a:p>
            <a:r>
              <a:rPr lang="es-ES" dirty="0" smtClean="0"/>
              <a:t>• En el </a:t>
            </a:r>
            <a:r>
              <a:rPr lang="es-ES" dirty="0" err="1" smtClean="0"/>
              <a:t>Unit</a:t>
            </a:r>
            <a:r>
              <a:rPr lang="es-ES" dirty="0" smtClean="0"/>
              <a:t> of </a:t>
            </a:r>
            <a:r>
              <a:rPr lang="es-ES" dirty="0" err="1" smtClean="0"/>
              <a:t>Work</a:t>
            </a:r>
            <a:r>
              <a:rPr lang="es-ES" dirty="0" smtClean="0"/>
              <a:t>:</a:t>
            </a:r>
          </a:p>
          <a:p>
            <a:endParaRPr lang="es-ES" dirty="0" smtClean="0"/>
          </a:p>
          <a:p>
            <a:r>
              <a:rPr lang="es-ES" dirty="0" smtClean="0"/>
              <a:t>  • Ventajas:</a:t>
            </a:r>
          </a:p>
          <a:p>
            <a:endParaRPr lang="es-ES" dirty="0" smtClean="0"/>
          </a:p>
          <a:p>
            <a:r>
              <a:rPr lang="es-ES" dirty="0" smtClean="0"/>
              <a:t>    • El patrón </a:t>
            </a:r>
            <a:r>
              <a:rPr lang="es-ES" dirty="0" err="1" smtClean="0"/>
              <a:t>Unit</a:t>
            </a:r>
            <a:r>
              <a:rPr lang="es-ES" dirty="0" smtClean="0"/>
              <a:t> of </a:t>
            </a:r>
            <a:r>
              <a:rPr lang="es-ES" dirty="0" err="1" smtClean="0"/>
              <a:t>Work</a:t>
            </a:r>
            <a:r>
              <a:rPr lang="es-ES" dirty="0" smtClean="0"/>
              <a:t> está diseñado para manejar transacciones y coordinar el trabajo con múltiples objetos. Incluir el </a:t>
            </a:r>
            <a:r>
              <a:rPr lang="es-ES" dirty="0" err="1" smtClean="0"/>
              <a:t>Identity</a:t>
            </a:r>
            <a:r>
              <a:rPr lang="es-ES" dirty="0" smtClean="0"/>
              <a:t> </a:t>
            </a:r>
            <a:r>
              <a:rPr lang="es-ES" dirty="0" err="1" smtClean="0"/>
              <a:t>Map</a:t>
            </a:r>
            <a:r>
              <a:rPr lang="es-ES" dirty="0" smtClean="0"/>
              <a:t> aquí permite gestionar la coherencia y la persistencia de los objetos durante una transacción.</a:t>
            </a:r>
          </a:p>
          <a:p>
            <a:endParaRPr lang="es-ES" dirty="0" smtClean="0"/>
          </a:p>
          <a:p>
            <a:r>
              <a:rPr lang="es-ES" dirty="0" smtClean="0"/>
              <a:t>    • Facilita el manejo de la carga y el almacenamiento de objetos dentro del contexto de una unidad de trabajo específica.</a:t>
            </a:r>
          </a:p>
          <a:p>
            <a:endParaRPr lang="es-ES" dirty="0" smtClean="0"/>
          </a:p>
          <a:p>
            <a:r>
              <a:rPr lang="es-ES" dirty="0" smtClean="0"/>
              <a:t>  • Desventajas:</a:t>
            </a:r>
          </a:p>
          <a:p>
            <a:endParaRPr lang="es-ES" dirty="0" smtClean="0"/>
          </a:p>
          <a:p>
            <a:r>
              <a:rPr lang="es-ES" dirty="0" smtClean="0"/>
              <a:t>    • Puede incrementar la complejidad del </a:t>
            </a:r>
            <a:r>
              <a:rPr lang="es-ES" dirty="0" err="1" smtClean="0"/>
              <a:t>Unit</a:t>
            </a:r>
            <a:r>
              <a:rPr lang="es-ES" dirty="0" smtClean="0"/>
              <a:t> of </a:t>
            </a:r>
            <a:r>
              <a:rPr lang="es-ES" dirty="0" err="1" smtClean="0"/>
              <a:t>Work</a:t>
            </a:r>
            <a:r>
              <a:rPr lang="es-ES" dirty="0" smtClean="0"/>
              <a:t>, ya que debe encargarse también de la gestión del </a:t>
            </a:r>
            <a:r>
              <a:rPr lang="es-ES" dirty="0" err="1" smtClean="0"/>
              <a:t>Identity</a:t>
            </a:r>
            <a:r>
              <a:rPr lang="es-ES" dirty="0" smtClean="0"/>
              <a:t> </a:t>
            </a:r>
            <a:r>
              <a:rPr lang="es-ES" dirty="0" err="1" smtClean="0"/>
              <a:t>Map</a:t>
            </a:r>
            <a:r>
              <a:rPr lang="es-ES" dirty="0" smtClean="0"/>
              <a:t>.</a:t>
            </a:r>
          </a:p>
          <a:p>
            <a:endParaRPr lang="es-ES" dirty="0" smtClean="0"/>
          </a:p>
          <a:p>
            <a:r>
              <a:rPr lang="es-ES" dirty="0" smtClean="0"/>
              <a:t>• En un Registro vinculado a la sesión:</a:t>
            </a:r>
          </a:p>
          <a:p>
            <a:endParaRPr lang="es-ES" dirty="0" smtClean="0"/>
          </a:p>
          <a:p>
            <a:r>
              <a:rPr lang="es-ES" dirty="0" smtClean="0"/>
              <a:t>  • Ventajas:</a:t>
            </a:r>
          </a:p>
          <a:p>
            <a:endParaRPr lang="es-ES" dirty="0" smtClean="0"/>
          </a:p>
          <a:p>
            <a:r>
              <a:rPr lang="es-ES" dirty="0" smtClean="0"/>
              <a:t>    • Mantener el </a:t>
            </a:r>
            <a:r>
              <a:rPr lang="es-ES" dirty="0" err="1" smtClean="0"/>
              <a:t>Identity</a:t>
            </a:r>
            <a:r>
              <a:rPr lang="es-ES" dirty="0" smtClean="0"/>
              <a:t> </a:t>
            </a:r>
            <a:r>
              <a:rPr lang="es-ES" dirty="0" err="1" smtClean="0"/>
              <a:t>Map</a:t>
            </a:r>
            <a:r>
              <a:rPr lang="es-ES" dirty="0" smtClean="0"/>
              <a:t> en un registro vinculado a la sesión permite que el ciclo de vida del mapa esté alineado con la sesión del usuario, facilitando el manejo de objetos específicos para cada sesión.</a:t>
            </a:r>
          </a:p>
          <a:p>
            <a:endParaRPr lang="es-ES" dirty="0" smtClean="0"/>
          </a:p>
          <a:p>
            <a:r>
              <a:rPr lang="es-ES" dirty="0" smtClean="0"/>
              <a:t>    • Ayuda a gestionar mejor el estado de los objetos en contextos donde múltiples sesiones pueden interactuar con los mismos datos.</a:t>
            </a:r>
          </a:p>
          <a:p>
            <a:endParaRPr lang="es-ES" dirty="0" smtClean="0"/>
          </a:p>
          <a:p>
            <a:r>
              <a:rPr lang="es-ES" dirty="0" smtClean="0"/>
              <a:t>  • Desventajas:</a:t>
            </a:r>
          </a:p>
          <a:p>
            <a:endParaRPr lang="es-ES" dirty="0" smtClean="0"/>
          </a:p>
          <a:p>
            <a:r>
              <a:rPr lang="es-ES" dirty="0" smtClean="0"/>
              <a:t>    • Puede complicar la gestión del estado si no se implementa correctamente, especialmente en aplicaciones donde las sesiones son largas o se gestionan múltiples usuarios.</a:t>
            </a:r>
          </a:p>
          <a:p>
            <a:endParaRPr lang="es-ES" dirty="0" smtClean="0"/>
          </a:p>
          <a:p>
            <a:r>
              <a:rPr lang="es-ES" dirty="0" smtClean="0"/>
              <a:t>▎Conclusiones</a:t>
            </a:r>
          </a:p>
          <a:p>
            <a:endParaRPr lang="es-ES" dirty="0" smtClean="0"/>
          </a:p>
          <a:p>
            <a:r>
              <a:rPr lang="es-ES" dirty="0" smtClean="0"/>
              <a:t>La elección entre estas opciones depende en gran medida de los requisitos específicos del sistema, la complejidad del dominio y las consideraciones de rendimiento. Es importante evaluar cuidadosamente las ventajas y desventajas de cada enfoque antes de tomar una decisión sobre cómo implementar el patrón </a:t>
            </a:r>
            <a:r>
              <a:rPr lang="es-ES" dirty="0" err="1" smtClean="0"/>
              <a:t>Identity</a:t>
            </a:r>
            <a:r>
              <a:rPr lang="es-ES" dirty="0" smtClean="0"/>
              <a:t> </a:t>
            </a:r>
            <a:r>
              <a:rPr lang="es-ES" dirty="0" err="1" smtClean="0"/>
              <a:t>Map</a:t>
            </a:r>
            <a:r>
              <a:rPr lang="es-ES" dirty="0" smtClean="0"/>
              <a:t>.</a:t>
            </a:r>
          </a:p>
        </p:txBody>
      </p:sp>
    </p:spTree>
    <p:extLst>
      <p:ext uri="{BB962C8B-B14F-4D97-AF65-F5344CB8AC3E}">
        <p14:creationId xmlns:p14="http://schemas.microsoft.com/office/powerpoint/2010/main" val="136988644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ES" dirty="0" smtClean="0"/>
          </a:p>
          <a:p>
            <a:endParaRPr lang="es-ES" dirty="0" smtClean="0"/>
          </a:p>
          <a:p>
            <a:r>
              <a:rPr lang="es-ES" dirty="0" smtClean="0"/>
              <a:t>El patrón </a:t>
            </a:r>
            <a:r>
              <a:rPr lang="es-ES" dirty="0" err="1" smtClean="0"/>
              <a:t>Identity</a:t>
            </a:r>
            <a:r>
              <a:rPr lang="es-ES" dirty="0" smtClean="0"/>
              <a:t> </a:t>
            </a:r>
            <a:r>
              <a:rPr lang="es-ES" dirty="0" err="1" smtClean="0"/>
              <a:t>Map</a:t>
            </a:r>
            <a:r>
              <a:rPr lang="es-ES" dirty="0" smtClean="0"/>
              <a:t> puede ser implementado de diferentes maneras según las necesidades del sistema y las decisiones de diseño. Aquí te presento un análisis sobre los tres aspectos que mencionas:</a:t>
            </a:r>
          </a:p>
          <a:p>
            <a:endParaRPr lang="es-ES" dirty="0" smtClean="0"/>
          </a:p>
          <a:p>
            <a:r>
              <a:rPr lang="es-ES" dirty="0" smtClean="0"/>
              <a:t>▎1. ¿Cuántos mapas por entidad o un solo mapa para todas las entidades?</a:t>
            </a:r>
          </a:p>
          <a:p>
            <a:endParaRPr lang="es-ES" dirty="0" smtClean="0"/>
          </a:p>
          <a:p>
            <a:r>
              <a:rPr lang="es-ES" dirty="0" smtClean="0"/>
              <a:t>• Un solo mapa para todas las entidades:</a:t>
            </a:r>
          </a:p>
          <a:p>
            <a:endParaRPr lang="es-ES" dirty="0" smtClean="0"/>
          </a:p>
          <a:p>
            <a:r>
              <a:rPr lang="es-ES" dirty="0" smtClean="0"/>
              <a:t>  • Ventajas: </a:t>
            </a:r>
          </a:p>
          <a:p>
            <a:endParaRPr lang="es-ES" dirty="0" smtClean="0"/>
          </a:p>
          <a:p>
            <a:r>
              <a:rPr lang="es-ES" dirty="0" smtClean="0"/>
              <a:t>    • Simplifica la gestión de los objetos en memoria, ya que se tiene una única estructura de datos para almacenar todas las instancias.</a:t>
            </a:r>
          </a:p>
          <a:p>
            <a:endParaRPr lang="es-ES" dirty="0" smtClean="0"/>
          </a:p>
          <a:p>
            <a:r>
              <a:rPr lang="es-ES" dirty="0" smtClean="0"/>
              <a:t>    • Reduce la complejidad al evitar la necesidad de múltiples mapas y facilita la implementación.</a:t>
            </a:r>
          </a:p>
          <a:p>
            <a:endParaRPr lang="es-ES" dirty="0" smtClean="0"/>
          </a:p>
          <a:p>
            <a:r>
              <a:rPr lang="es-ES" dirty="0" smtClean="0"/>
              <a:t>  • Desventajas:</a:t>
            </a:r>
          </a:p>
          <a:p>
            <a:endParaRPr lang="es-ES" dirty="0" smtClean="0"/>
          </a:p>
          <a:p>
            <a:r>
              <a:rPr lang="es-ES" dirty="0" smtClean="0"/>
              <a:t>    • Puede volverse ineficiente si hay muchas entidades diferentes, ya que el mapa puede crecer considerablemente y volverse difícil de manejar.</a:t>
            </a:r>
          </a:p>
          <a:p>
            <a:endParaRPr lang="es-ES" dirty="0" smtClean="0"/>
          </a:p>
          <a:p>
            <a:r>
              <a:rPr lang="es-ES" dirty="0" smtClean="0"/>
              <a:t>    • Puede haber problemas de rendimiento si no se gestiona adecuadamente, ya que el acceso a un único mapa puede convertirse en un cuello de botella.</a:t>
            </a:r>
          </a:p>
          <a:p>
            <a:endParaRPr lang="es-ES" dirty="0" smtClean="0"/>
          </a:p>
          <a:p>
            <a:r>
              <a:rPr lang="es-ES" dirty="0" smtClean="0"/>
              <a:t>• Un mapa por entidad:</a:t>
            </a:r>
          </a:p>
          <a:p>
            <a:endParaRPr lang="es-ES" dirty="0" smtClean="0"/>
          </a:p>
          <a:p>
            <a:r>
              <a:rPr lang="es-ES" dirty="0" smtClean="0"/>
              <a:t>  • Ventajas:</a:t>
            </a:r>
          </a:p>
          <a:p>
            <a:endParaRPr lang="es-ES" dirty="0" smtClean="0"/>
          </a:p>
          <a:p>
            <a:r>
              <a:rPr lang="es-ES" dirty="0" smtClean="0"/>
              <a:t>    • Permite optimizar el acceso a objetos específicos, ya que cada entidad tiene su propio mapa.</a:t>
            </a:r>
          </a:p>
          <a:p>
            <a:endParaRPr lang="es-ES" dirty="0" smtClean="0"/>
          </a:p>
          <a:p>
            <a:r>
              <a:rPr lang="es-ES" dirty="0" smtClean="0"/>
              <a:t>    • Facilita la gestión de caché y puede mejorar el rendimiento al reducir el tamaño de cada mapa.</a:t>
            </a:r>
          </a:p>
          <a:p>
            <a:endParaRPr lang="es-ES" dirty="0" smtClean="0"/>
          </a:p>
          <a:p>
            <a:r>
              <a:rPr lang="es-ES" dirty="0" smtClean="0"/>
              <a:t>  • Desventajas:</a:t>
            </a:r>
          </a:p>
          <a:p>
            <a:endParaRPr lang="es-ES" dirty="0" smtClean="0"/>
          </a:p>
          <a:p>
            <a:r>
              <a:rPr lang="es-ES" dirty="0" smtClean="0"/>
              <a:t>    • Aumenta la complejidad del sistema, ya que se deben gestionar múltiples mapas.</a:t>
            </a:r>
          </a:p>
          <a:p>
            <a:endParaRPr lang="es-ES" dirty="0" smtClean="0"/>
          </a:p>
          <a:p>
            <a:r>
              <a:rPr lang="es-ES" dirty="0" smtClean="0"/>
              <a:t>    • Puede requerir más código y esfuerzo para mantener la coherencia entre los diferentes mapas.</a:t>
            </a:r>
          </a:p>
          <a:p>
            <a:endParaRPr lang="es-ES" dirty="0" smtClean="0"/>
          </a:p>
          <a:p>
            <a:r>
              <a:rPr lang="es-ES" dirty="0" smtClean="0"/>
              <a:t>▎2. Hacer explícito o genérico</a:t>
            </a:r>
          </a:p>
          <a:p>
            <a:endParaRPr lang="es-ES" dirty="0" smtClean="0"/>
          </a:p>
          <a:p>
            <a:r>
              <a:rPr lang="es-ES" dirty="0" smtClean="0"/>
              <a:t>• Hacer explícito:</a:t>
            </a:r>
          </a:p>
          <a:p>
            <a:endParaRPr lang="es-ES" dirty="0" smtClean="0"/>
          </a:p>
          <a:p>
            <a:r>
              <a:rPr lang="es-ES" dirty="0" smtClean="0"/>
              <a:t>  • Ventajas:</a:t>
            </a:r>
          </a:p>
          <a:p>
            <a:endParaRPr lang="es-ES" dirty="0" smtClean="0"/>
          </a:p>
          <a:p>
            <a:r>
              <a:rPr lang="es-ES" dirty="0" smtClean="0"/>
              <a:t>    • Proporciona un control claro sobre cómo se manejan las instancias de cada entidad, lo que puede facilitar la depuración y el mantenimiento.</a:t>
            </a:r>
          </a:p>
          <a:p>
            <a:endParaRPr lang="es-ES" dirty="0" smtClean="0"/>
          </a:p>
          <a:p>
            <a:r>
              <a:rPr lang="es-ES" dirty="0" smtClean="0"/>
              <a:t>    • Permite optimizaciones específicas para cada tipo de entidad.</a:t>
            </a:r>
          </a:p>
          <a:p>
            <a:endParaRPr lang="es-ES" dirty="0" smtClean="0"/>
          </a:p>
          <a:p>
            <a:r>
              <a:rPr lang="es-ES" dirty="0" smtClean="0"/>
              <a:t>  • Desventajas:</a:t>
            </a:r>
          </a:p>
          <a:p>
            <a:endParaRPr lang="es-ES" dirty="0" smtClean="0"/>
          </a:p>
          <a:p>
            <a:r>
              <a:rPr lang="es-ES" dirty="0" smtClean="0"/>
              <a:t>    • Aumenta la complejidad del código y puede hacer que sea más difícil de entender y mantener.</a:t>
            </a:r>
          </a:p>
          <a:p>
            <a:endParaRPr lang="es-ES" dirty="0" smtClean="0"/>
          </a:p>
          <a:p>
            <a:r>
              <a:rPr lang="es-ES" dirty="0" smtClean="0"/>
              <a:t>  </a:t>
            </a:r>
          </a:p>
          <a:p>
            <a:r>
              <a:rPr lang="es-ES" dirty="0" smtClean="0"/>
              <a:t>• Hacer genérico:</a:t>
            </a:r>
          </a:p>
          <a:p>
            <a:endParaRPr lang="es-ES" dirty="0" smtClean="0"/>
          </a:p>
          <a:p>
            <a:r>
              <a:rPr lang="es-ES" dirty="0" smtClean="0"/>
              <a:t>  • Ventajas:</a:t>
            </a:r>
          </a:p>
          <a:p>
            <a:endParaRPr lang="es-ES" dirty="0" smtClean="0"/>
          </a:p>
          <a:p>
            <a:r>
              <a:rPr lang="es-ES" dirty="0" smtClean="0"/>
              <a:t>    • Simplifica la implementación al utilizar un enfoque más abstracto, lo que puede reducir la cantidad de código repetido.</a:t>
            </a:r>
          </a:p>
          <a:p>
            <a:endParaRPr lang="es-ES" dirty="0" smtClean="0"/>
          </a:p>
          <a:p>
            <a:r>
              <a:rPr lang="es-ES" dirty="0" smtClean="0"/>
              <a:t>    • Facilita la reutilización del código y puede hacer que el sistema sea más flexible ante cambios futuros.</a:t>
            </a:r>
          </a:p>
          <a:p>
            <a:endParaRPr lang="es-ES" dirty="0" smtClean="0"/>
          </a:p>
          <a:p>
            <a:r>
              <a:rPr lang="es-ES" dirty="0" smtClean="0"/>
              <a:t>  • Desventajas:</a:t>
            </a:r>
          </a:p>
          <a:p>
            <a:endParaRPr lang="es-ES" dirty="0" smtClean="0"/>
          </a:p>
          <a:p>
            <a:r>
              <a:rPr lang="es-ES" dirty="0" smtClean="0"/>
              <a:t>    • Puede ser menos eficiente si no se tiene en cuenta el comportamiento específico de ciertas entidades.</a:t>
            </a:r>
          </a:p>
          <a:p>
            <a:endParaRPr lang="es-ES" dirty="0" smtClean="0"/>
          </a:p>
          <a:p>
            <a:r>
              <a:rPr lang="es-ES" dirty="0" smtClean="0"/>
              <a:t>    • Puede dificultar el seguimiento de problemas específicos relacionados con ciertas entidades.</a:t>
            </a:r>
          </a:p>
          <a:p>
            <a:endParaRPr lang="es-ES" dirty="0" smtClean="0"/>
          </a:p>
          <a:p>
            <a:r>
              <a:rPr lang="es-ES" dirty="0" smtClean="0"/>
              <a:t>▎3. ¿Dónde colocar los </a:t>
            </a:r>
            <a:r>
              <a:rPr lang="es-ES" dirty="0" err="1" smtClean="0"/>
              <a:t>Identity</a:t>
            </a:r>
            <a:r>
              <a:rPr lang="es-ES" dirty="0" smtClean="0"/>
              <a:t> </a:t>
            </a:r>
            <a:r>
              <a:rPr lang="es-ES" dirty="0" err="1" smtClean="0"/>
              <a:t>Maps</a:t>
            </a:r>
            <a:r>
              <a:rPr lang="es-ES" dirty="0" smtClean="0"/>
              <a:t>: en el </a:t>
            </a:r>
            <a:r>
              <a:rPr lang="es-ES" dirty="0" err="1" smtClean="0"/>
              <a:t>Unit</a:t>
            </a:r>
            <a:r>
              <a:rPr lang="es-ES" dirty="0" smtClean="0"/>
              <a:t> of </a:t>
            </a:r>
            <a:r>
              <a:rPr lang="es-ES" dirty="0" err="1" smtClean="0"/>
              <a:t>Work</a:t>
            </a:r>
            <a:r>
              <a:rPr lang="es-ES" dirty="0" smtClean="0"/>
              <a:t> o en un Registro vinculado a la sesión?</a:t>
            </a:r>
          </a:p>
          <a:p>
            <a:endParaRPr lang="es-ES" dirty="0" smtClean="0"/>
          </a:p>
          <a:p>
            <a:r>
              <a:rPr lang="es-ES" dirty="0" smtClean="0"/>
              <a:t>• En el </a:t>
            </a:r>
            <a:r>
              <a:rPr lang="es-ES" dirty="0" err="1" smtClean="0"/>
              <a:t>Unit</a:t>
            </a:r>
            <a:r>
              <a:rPr lang="es-ES" dirty="0" smtClean="0"/>
              <a:t> of </a:t>
            </a:r>
            <a:r>
              <a:rPr lang="es-ES" dirty="0" err="1" smtClean="0"/>
              <a:t>Work</a:t>
            </a:r>
            <a:r>
              <a:rPr lang="es-ES" dirty="0" smtClean="0"/>
              <a:t>:</a:t>
            </a:r>
          </a:p>
          <a:p>
            <a:endParaRPr lang="es-ES" dirty="0" smtClean="0"/>
          </a:p>
          <a:p>
            <a:r>
              <a:rPr lang="es-ES" dirty="0" smtClean="0"/>
              <a:t>  • Ventajas:</a:t>
            </a:r>
          </a:p>
          <a:p>
            <a:endParaRPr lang="es-ES" dirty="0" smtClean="0"/>
          </a:p>
          <a:p>
            <a:r>
              <a:rPr lang="es-ES" dirty="0" smtClean="0"/>
              <a:t>    • El patrón </a:t>
            </a:r>
            <a:r>
              <a:rPr lang="es-ES" dirty="0" err="1" smtClean="0"/>
              <a:t>Unit</a:t>
            </a:r>
            <a:r>
              <a:rPr lang="es-ES" dirty="0" smtClean="0"/>
              <a:t> of </a:t>
            </a:r>
            <a:r>
              <a:rPr lang="es-ES" dirty="0" err="1" smtClean="0"/>
              <a:t>Work</a:t>
            </a:r>
            <a:r>
              <a:rPr lang="es-ES" dirty="0" smtClean="0"/>
              <a:t> está diseñado para manejar transacciones y coordinar el trabajo con múltiples objetos. Incluir el </a:t>
            </a:r>
            <a:r>
              <a:rPr lang="es-ES" dirty="0" err="1" smtClean="0"/>
              <a:t>Identity</a:t>
            </a:r>
            <a:r>
              <a:rPr lang="es-ES" dirty="0" smtClean="0"/>
              <a:t> </a:t>
            </a:r>
            <a:r>
              <a:rPr lang="es-ES" dirty="0" err="1" smtClean="0"/>
              <a:t>Map</a:t>
            </a:r>
            <a:r>
              <a:rPr lang="es-ES" dirty="0" smtClean="0"/>
              <a:t> aquí permite gestionar la coherencia y la persistencia de los objetos durante una transacción.</a:t>
            </a:r>
          </a:p>
          <a:p>
            <a:endParaRPr lang="es-ES" dirty="0" smtClean="0"/>
          </a:p>
          <a:p>
            <a:r>
              <a:rPr lang="es-ES" dirty="0" smtClean="0"/>
              <a:t>    • Facilita el manejo de la carga y el almacenamiento de objetos dentro del contexto de una unidad de trabajo específica.</a:t>
            </a:r>
          </a:p>
          <a:p>
            <a:endParaRPr lang="es-ES" dirty="0" smtClean="0"/>
          </a:p>
          <a:p>
            <a:r>
              <a:rPr lang="es-ES" dirty="0" smtClean="0"/>
              <a:t>  • Desventajas:</a:t>
            </a:r>
          </a:p>
          <a:p>
            <a:endParaRPr lang="es-ES" dirty="0" smtClean="0"/>
          </a:p>
          <a:p>
            <a:r>
              <a:rPr lang="es-ES" dirty="0" smtClean="0"/>
              <a:t>    • Puede incrementar la complejidad del </a:t>
            </a:r>
            <a:r>
              <a:rPr lang="es-ES" dirty="0" err="1" smtClean="0"/>
              <a:t>Unit</a:t>
            </a:r>
            <a:r>
              <a:rPr lang="es-ES" dirty="0" smtClean="0"/>
              <a:t> of </a:t>
            </a:r>
            <a:r>
              <a:rPr lang="es-ES" dirty="0" err="1" smtClean="0"/>
              <a:t>Work</a:t>
            </a:r>
            <a:r>
              <a:rPr lang="es-ES" dirty="0" smtClean="0"/>
              <a:t>, ya que debe encargarse también de la gestión del </a:t>
            </a:r>
            <a:r>
              <a:rPr lang="es-ES" dirty="0" err="1" smtClean="0"/>
              <a:t>Identity</a:t>
            </a:r>
            <a:r>
              <a:rPr lang="es-ES" dirty="0" smtClean="0"/>
              <a:t> </a:t>
            </a:r>
            <a:r>
              <a:rPr lang="es-ES" dirty="0" err="1" smtClean="0"/>
              <a:t>Map</a:t>
            </a:r>
            <a:r>
              <a:rPr lang="es-ES" dirty="0" smtClean="0"/>
              <a:t>.</a:t>
            </a:r>
          </a:p>
          <a:p>
            <a:endParaRPr lang="es-ES" dirty="0" smtClean="0"/>
          </a:p>
          <a:p>
            <a:r>
              <a:rPr lang="es-ES" dirty="0" smtClean="0"/>
              <a:t>• En un Registro vinculado a la sesión:</a:t>
            </a:r>
          </a:p>
          <a:p>
            <a:endParaRPr lang="es-ES" dirty="0" smtClean="0"/>
          </a:p>
          <a:p>
            <a:r>
              <a:rPr lang="es-ES" dirty="0" smtClean="0"/>
              <a:t>  • Ventajas:</a:t>
            </a:r>
          </a:p>
          <a:p>
            <a:endParaRPr lang="es-ES" dirty="0" smtClean="0"/>
          </a:p>
          <a:p>
            <a:r>
              <a:rPr lang="es-ES" dirty="0" smtClean="0"/>
              <a:t>    • Mantener el </a:t>
            </a:r>
            <a:r>
              <a:rPr lang="es-ES" dirty="0" err="1" smtClean="0"/>
              <a:t>Identity</a:t>
            </a:r>
            <a:r>
              <a:rPr lang="es-ES" dirty="0" smtClean="0"/>
              <a:t> </a:t>
            </a:r>
            <a:r>
              <a:rPr lang="es-ES" dirty="0" err="1" smtClean="0"/>
              <a:t>Map</a:t>
            </a:r>
            <a:r>
              <a:rPr lang="es-ES" dirty="0" smtClean="0"/>
              <a:t> en un registro vinculado a la sesión permite que el ciclo de vida del mapa esté alineado con la sesión del usuario, facilitando el manejo de objetos específicos para cada sesión.</a:t>
            </a:r>
          </a:p>
          <a:p>
            <a:endParaRPr lang="es-ES" dirty="0" smtClean="0"/>
          </a:p>
          <a:p>
            <a:r>
              <a:rPr lang="es-ES" dirty="0" smtClean="0"/>
              <a:t>    • Ayuda a gestionar mejor el estado de los objetos en contextos donde múltiples sesiones pueden interactuar con los mismos datos.</a:t>
            </a:r>
          </a:p>
          <a:p>
            <a:endParaRPr lang="es-ES" dirty="0" smtClean="0"/>
          </a:p>
          <a:p>
            <a:r>
              <a:rPr lang="es-ES" dirty="0" smtClean="0"/>
              <a:t>  • Desventajas:</a:t>
            </a:r>
          </a:p>
          <a:p>
            <a:endParaRPr lang="es-ES" dirty="0" smtClean="0"/>
          </a:p>
          <a:p>
            <a:r>
              <a:rPr lang="es-ES" dirty="0" smtClean="0"/>
              <a:t>    • Puede complicar la gestión del estado si no se implementa correctamente, especialmente en aplicaciones donde las sesiones son largas o se gestionan múltiples usuarios.</a:t>
            </a:r>
          </a:p>
          <a:p>
            <a:endParaRPr lang="es-ES" dirty="0" smtClean="0"/>
          </a:p>
          <a:p>
            <a:r>
              <a:rPr lang="es-ES" dirty="0" smtClean="0"/>
              <a:t>▎Conclusiones</a:t>
            </a:r>
          </a:p>
          <a:p>
            <a:endParaRPr lang="es-ES" dirty="0" smtClean="0"/>
          </a:p>
          <a:p>
            <a:r>
              <a:rPr lang="es-ES" dirty="0" smtClean="0"/>
              <a:t>La elección entre estas opciones depende en gran medida de los requisitos específicos del sistema, la complejidad del dominio y las consideraciones de rendimiento. Es importante evaluar cuidadosamente las ventajas y desventajas de cada enfoque antes de tomar una decisión sobre cómo implementar el patrón </a:t>
            </a:r>
            <a:r>
              <a:rPr lang="es-ES" dirty="0" err="1" smtClean="0"/>
              <a:t>Identity</a:t>
            </a:r>
            <a:r>
              <a:rPr lang="es-ES" dirty="0" smtClean="0"/>
              <a:t> </a:t>
            </a:r>
            <a:r>
              <a:rPr lang="es-ES" dirty="0" err="1" smtClean="0"/>
              <a:t>Map</a:t>
            </a:r>
            <a:r>
              <a:rPr lang="es-ES" dirty="0" smtClean="0"/>
              <a:t>.</a:t>
            </a:r>
          </a:p>
        </p:txBody>
      </p:sp>
    </p:spTree>
    <p:extLst>
      <p:ext uri="{BB962C8B-B14F-4D97-AF65-F5344CB8AC3E}">
        <p14:creationId xmlns:p14="http://schemas.microsoft.com/office/powerpoint/2010/main" val="136988644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ES" dirty="0" smtClean="0"/>
          </a:p>
        </p:txBody>
      </p:sp>
    </p:spTree>
    <p:extLst>
      <p:ext uri="{BB962C8B-B14F-4D97-AF65-F5344CB8AC3E}">
        <p14:creationId xmlns:p14="http://schemas.microsoft.com/office/powerpoint/2010/main" val="136988644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r>
              <a:rPr lang="es-ES" dirty="0" err="1" smtClean="0"/>
              <a:t>Lazy</a:t>
            </a:r>
            <a:r>
              <a:rPr lang="es-ES" dirty="0" smtClean="0"/>
              <a:t> Load o Carga Diferida </a:t>
            </a:r>
          </a:p>
          <a:p>
            <a:endParaRPr lang="es-ES" dirty="0" smtClean="0"/>
          </a:p>
          <a:p>
            <a:r>
              <a:rPr lang="es-ES" dirty="0" smtClean="0"/>
              <a:t>Cuando se cargan datos de una base de datos en la memoria, es útil diseñar las cosas de modo que, al cargar un objeto de interés, también cargue los objetos relacionados con él. </a:t>
            </a:r>
          </a:p>
          <a:p>
            <a:r>
              <a:rPr lang="es-ES" dirty="0" smtClean="0"/>
              <a:t>Esto hace que la carga sea más fácil para el desarrollador que usa el objeto, </a:t>
            </a:r>
          </a:p>
          <a:p>
            <a:r>
              <a:rPr lang="es-ES" dirty="0" smtClean="0"/>
              <a:t>quien de lo contrario tiene que cargar todos los objetos que necesita explícitamente.</a:t>
            </a:r>
          </a:p>
          <a:p>
            <a:endParaRPr lang="es-ES" dirty="0" smtClean="0"/>
          </a:p>
          <a:p>
            <a:r>
              <a:rPr lang="es-ES" dirty="0" smtClean="0"/>
              <a:t>Sin embargo, cuando un objeto tiene muchas dependencias y relaciones, puede llegarse al punto en que cargar un objeto puede tener el efecto de cargar una gran cantidad de objetos relacionados, algo que perjudica el rendimiento cuando solo se necesitan algunos de los objetos.</a:t>
            </a:r>
          </a:p>
          <a:p>
            <a:endParaRPr lang="es-ES"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s-ES" dirty="0" smtClean="0"/>
              <a:t>Interrumpe el proceso de carga total de los objetos relacionados, dejando un marcador en la estructura del objeto para que, si se necesitan los datos, se puedan cargar solo cuando se usen. </a:t>
            </a:r>
          </a:p>
          <a:p>
            <a:pPr marL="0" marR="0" indent="0" algn="l" defTabSz="914400" rtl="0" eaLnBrk="1" fontAlgn="auto" latinLnBrk="0" hangingPunct="1">
              <a:lnSpc>
                <a:spcPct val="100000"/>
              </a:lnSpc>
              <a:spcBef>
                <a:spcPts val="0"/>
              </a:spcBef>
              <a:spcAft>
                <a:spcPts val="0"/>
              </a:spcAft>
              <a:buClrTx/>
              <a:buSzTx/>
              <a:buFontTx/>
              <a:buNone/>
              <a:tabLst/>
              <a:defRPr/>
            </a:pPr>
            <a:r>
              <a:rPr lang="en-US" dirty="0" err="1" smtClean="0"/>
              <a:t>Iconvenienes</a:t>
            </a:r>
            <a:endParaRPr lang="en-US" dirty="0" smtClean="0"/>
          </a:p>
          <a:p>
            <a:pPr>
              <a:buFont typeface="Wingdings" pitchFamily="2" charset="2"/>
              <a:buChar char="Ø"/>
            </a:pPr>
            <a:r>
              <a:rPr lang="es-ES" dirty="0" smtClean="0"/>
              <a:t> Rendimiento no predecible</a:t>
            </a:r>
          </a:p>
          <a:p>
            <a:pPr lvl="1">
              <a:buFont typeface="Wingdings" pitchFamily="2" charset="2"/>
              <a:buChar char="ü"/>
            </a:pPr>
            <a:r>
              <a:rPr lang="es-ES" dirty="0" smtClean="0"/>
              <a:t> Consultas adicionales: Cuando se accede a una propiedad que utiliza carga diferida, puede generar consultas adicionales a la base de datos, lo que puede resultar en un rendimiento no predecible. Si se accede a muchas propiedades de navegación de esta manera, puede haber un número significativo de consultas, lo que puede afectar el rendimiento general.</a:t>
            </a:r>
          </a:p>
          <a:p>
            <a:pPr>
              <a:buFont typeface="Wingdings" pitchFamily="2" charset="2"/>
              <a:buChar char="Ø"/>
            </a:pPr>
            <a:r>
              <a:rPr lang="es-ES" dirty="0" smtClean="0"/>
              <a:t>N+1 </a:t>
            </a:r>
            <a:r>
              <a:rPr lang="es-ES" dirty="0" err="1" smtClean="0"/>
              <a:t>Problem</a:t>
            </a:r>
            <a:endParaRPr lang="es-ES" dirty="0" smtClean="0"/>
          </a:p>
          <a:p>
            <a:pPr lvl="1">
              <a:buFont typeface="Wingdings" pitchFamily="2" charset="2"/>
              <a:buChar char="ü"/>
            </a:pPr>
            <a:r>
              <a:rPr lang="es-ES" dirty="0" smtClean="0"/>
              <a:t>Problema N+1: Este es un caso común en el que, al cargar una colección de entidades, se realiza una consulta adicional para cada entidad relacionada. Por ejemplo, si tienes 10 blogs y cada uno tiene 5 publicaciones, acceder a las publicaciones de cada blog puede resultar en 1 consulta para los blogs y 10 consultas adicionales para las publicaciones, lo que lleva a un total de 11 consultas en lugar de una consulta más eficiente que recuperara todo de una vez.</a:t>
            </a:r>
          </a:p>
          <a:p>
            <a:pPr marL="0" marR="0" lvl="1" indent="0" algn="l" defTabSz="914400" rtl="0" eaLnBrk="1" fontAlgn="auto" latinLnBrk="0" hangingPunct="1">
              <a:lnSpc>
                <a:spcPct val="100000"/>
              </a:lnSpc>
              <a:spcBef>
                <a:spcPts val="0"/>
              </a:spcBef>
              <a:spcAft>
                <a:spcPts val="0"/>
              </a:spcAft>
              <a:buClrTx/>
              <a:buSzTx/>
              <a:buFontTx/>
              <a:buNone/>
              <a:tabLst/>
              <a:defRPr/>
            </a:pPr>
            <a:r>
              <a:rPr lang="es-ES" dirty="0" smtClean="0"/>
              <a:t>Inconsistencias en transacciones: Si se utilizan transacciones y se accede a propiedades que utilizan carga diferida, puede haber problemas de consistencia si la sesión o contexto de la base de datos se cierra antes de que se accedan a esas propiedades.</a:t>
            </a:r>
          </a:p>
          <a:p>
            <a:endParaRPr lang="es-ES" dirty="0" smtClean="0"/>
          </a:p>
        </p:txBody>
      </p:sp>
    </p:spTree>
    <p:extLst>
      <p:ext uri="{BB962C8B-B14F-4D97-AF65-F5344CB8AC3E}">
        <p14:creationId xmlns:p14="http://schemas.microsoft.com/office/powerpoint/2010/main" val="136988644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ES" dirty="0" smtClean="0"/>
          </a:p>
        </p:txBody>
      </p:sp>
    </p:spTree>
    <p:extLst>
      <p:ext uri="{BB962C8B-B14F-4D97-AF65-F5344CB8AC3E}">
        <p14:creationId xmlns:p14="http://schemas.microsoft.com/office/powerpoint/2010/main" val="136988644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pPr eaLnBrk="1" hangingPunct="1"/>
            <a:endParaRPr lang="es-ES" dirty="0" smtClean="0">
              <a:cs typeface="Arial" panose="020B0604020202020204" pitchFamily="34" charset="0"/>
            </a:endParaRPr>
          </a:p>
        </p:txBody>
      </p:sp>
    </p:spTree>
    <p:extLst>
      <p:ext uri="{BB962C8B-B14F-4D97-AF65-F5344CB8AC3E}">
        <p14:creationId xmlns:p14="http://schemas.microsoft.com/office/powerpoint/2010/main" val="136988644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ES" dirty="0" smtClean="0"/>
          </a:p>
        </p:txBody>
      </p:sp>
    </p:spTree>
    <p:extLst>
      <p:ext uri="{BB962C8B-B14F-4D97-AF65-F5344CB8AC3E}">
        <p14:creationId xmlns:p14="http://schemas.microsoft.com/office/powerpoint/2010/main" val="136988644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ES" dirty="0" smtClean="0"/>
          </a:p>
        </p:txBody>
      </p:sp>
    </p:spTree>
    <p:extLst>
      <p:ext uri="{BB962C8B-B14F-4D97-AF65-F5344CB8AC3E}">
        <p14:creationId xmlns:p14="http://schemas.microsoft.com/office/powerpoint/2010/main" val="136988644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ES" dirty="0" smtClean="0"/>
          </a:p>
        </p:txBody>
      </p:sp>
    </p:spTree>
    <p:extLst>
      <p:ext uri="{BB962C8B-B14F-4D97-AF65-F5344CB8AC3E}">
        <p14:creationId xmlns:p14="http://schemas.microsoft.com/office/powerpoint/2010/main" val="1369886449"/>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ES" dirty="0" smtClean="0"/>
          </a:p>
        </p:txBody>
      </p:sp>
    </p:spTree>
    <p:extLst>
      <p:ext uri="{BB962C8B-B14F-4D97-AF65-F5344CB8AC3E}">
        <p14:creationId xmlns:p14="http://schemas.microsoft.com/office/powerpoint/2010/main" val="1369886449"/>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ES" dirty="0" smtClean="0"/>
          </a:p>
        </p:txBody>
      </p:sp>
    </p:spTree>
    <p:extLst>
      <p:ext uri="{BB962C8B-B14F-4D97-AF65-F5344CB8AC3E}">
        <p14:creationId xmlns:p14="http://schemas.microsoft.com/office/powerpoint/2010/main" val="1369886449"/>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r>
              <a:rPr lang="es-ES" dirty="0" smtClean="0"/>
              <a:t>En las arquitecturas tradicionales, se utiliza el mismo modelo de datos para consultar y actualizar una base de datos. Es sencillo y funciona bien para las operaciones CRUD básicas. Sin embargo, en aplicaciones más complejas, este enfoque puede resultar difícil de manejar. Por ejemplo, en el lado de lectura, la aplicación puede realizar muchas consultas diferentes y devolver objetos de transferencia de datos (DTO) con distintas formas. La asignación de objetos puede llegar a ser algo complicado. En el lado de escritura, el modelo puede implementar una validación y una lógica de negocios complejas. En</a:t>
            </a:r>
          </a:p>
          <a:p>
            <a:r>
              <a:rPr lang="es-ES" dirty="0" smtClean="0"/>
              <a:t>consecuencia, puede acabar con un modelo excesivamente complejo que haga demasiado. Las cargas de trabajo de lectura y escritura suelen ser asimétricas, con requisitos de rendimiento y escalabilidad muy diferentes.</a:t>
            </a:r>
          </a:p>
        </p:txBody>
      </p:sp>
    </p:spTree>
    <p:extLst>
      <p:ext uri="{BB962C8B-B14F-4D97-AF65-F5344CB8AC3E}">
        <p14:creationId xmlns:p14="http://schemas.microsoft.com/office/powerpoint/2010/main" val="1369886449"/>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r>
              <a:rPr lang="es-ES" dirty="0" smtClean="0"/>
              <a:t>Los comandos se deben basar en tareas, en lugar de centrarse en los datos. ("Book</a:t>
            </a:r>
          </a:p>
          <a:p>
            <a:r>
              <a:rPr lang="es-ES" dirty="0" smtClean="0"/>
              <a:t>hotel </a:t>
            </a:r>
            <a:r>
              <a:rPr lang="es-ES" dirty="0" err="1" smtClean="0"/>
              <a:t>room</a:t>
            </a:r>
            <a:r>
              <a:rPr lang="es-ES" dirty="0" smtClean="0"/>
              <a:t>", no "set </a:t>
            </a:r>
            <a:r>
              <a:rPr lang="es-ES" dirty="0" err="1" smtClean="0"/>
              <a:t>ReservationStatus</a:t>
            </a:r>
            <a:r>
              <a:rPr lang="es-ES" dirty="0" smtClean="0"/>
              <a:t> </a:t>
            </a:r>
            <a:r>
              <a:rPr lang="es-ES" dirty="0" err="1" smtClean="0"/>
              <a:t>to</a:t>
            </a:r>
            <a:r>
              <a:rPr lang="es-ES" dirty="0" smtClean="0"/>
              <a:t> </a:t>
            </a:r>
            <a:r>
              <a:rPr lang="es-ES" dirty="0" err="1" smtClean="0"/>
              <a:t>Reserved</a:t>
            </a:r>
            <a:r>
              <a:rPr lang="es-ES" dirty="0" smtClean="0"/>
              <a:t>"). Esto puede requerir algunos</a:t>
            </a:r>
          </a:p>
          <a:p>
            <a:r>
              <a:rPr lang="es-ES" dirty="0" smtClean="0"/>
              <a:t>cambios correspondientes en el estilo de interacción del usuario. La otra parte de esto</a:t>
            </a:r>
          </a:p>
          <a:p>
            <a:r>
              <a:rPr lang="es-ES" dirty="0" smtClean="0"/>
              <a:t>es examinar la modificación de la lógica de negocios que procesa esos comandos</a:t>
            </a:r>
          </a:p>
          <a:p>
            <a:r>
              <a:rPr lang="es-ES" dirty="0" smtClean="0"/>
              <a:t>para que se realicen correctamente con más frecuencia. Una técnica que admite esto</a:t>
            </a:r>
          </a:p>
          <a:p>
            <a:r>
              <a:rPr lang="es-ES" dirty="0" smtClean="0"/>
              <a:t>es ejecutar algunas reglas de validación en el cliente incluso antes de enviar el</a:t>
            </a:r>
          </a:p>
          <a:p>
            <a:r>
              <a:rPr lang="es-ES" dirty="0" smtClean="0"/>
              <a:t>comando, posiblemente deshabilitar botones, explicando por qué en la interfaz de</a:t>
            </a:r>
          </a:p>
          <a:p>
            <a:r>
              <a:rPr lang="es-ES" dirty="0" smtClean="0"/>
              <a:t>usuario ("no quedan salas"). De esta manera, la causa de los errores de comandos del</a:t>
            </a:r>
          </a:p>
          <a:p>
            <a:r>
              <a:rPr lang="es-ES" dirty="0" smtClean="0"/>
              <a:t>lado servidor se puede restringir a las condiciones de carrera (dos usuarios que</a:t>
            </a:r>
          </a:p>
          <a:p>
            <a:r>
              <a:rPr lang="es-ES" dirty="0" smtClean="0"/>
              <a:t>intentan reservar la última sala), e incluso las que a veces se pueden solucionar con</a:t>
            </a:r>
          </a:p>
          <a:p>
            <a:r>
              <a:rPr lang="es-ES" dirty="0" smtClean="0"/>
              <a:t>algunos datos y lógicas más (colocando a un invitado en una lista de espera).</a:t>
            </a:r>
          </a:p>
          <a:p>
            <a:endParaRPr lang="es-ES" dirty="0" smtClean="0"/>
          </a:p>
          <a:p>
            <a:r>
              <a:rPr lang="es-ES" dirty="0" smtClean="0"/>
              <a:t>Tener modelos de consulta y de actualización independientes simplifica el diseño y la</a:t>
            </a:r>
          </a:p>
          <a:p>
            <a:r>
              <a:rPr lang="es-ES" dirty="0" smtClean="0"/>
              <a:t>implementación. Sin embargo, una desventaja es que el código CQRS no se puede generar</a:t>
            </a:r>
          </a:p>
          <a:p>
            <a:r>
              <a:rPr lang="es-ES" dirty="0" smtClean="0"/>
              <a:t>automáticamente a partir de un esquema de base de datos mediante mecanismos de</a:t>
            </a:r>
          </a:p>
          <a:p>
            <a:r>
              <a:rPr lang="es-ES" dirty="0" err="1" smtClean="0"/>
              <a:t>scaffolding</a:t>
            </a:r>
            <a:r>
              <a:rPr lang="es-ES" dirty="0" smtClean="0"/>
              <a:t> como herramientas de O/RM (sin embargo, podrá crear la personalización</a:t>
            </a:r>
          </a:p>
          <a:p>
            <a:r>
              <a:rPr lang="es-ES" dirty="0" smtClean="0"/>
              <a:t>sobre el código generado).</a:t>
            </a:r>
          </a:p>
        </p:txBody>
      </p:sp>
    </p:spTree>
    <p:extLst>
      <p:ext uri="{BB962C8B-B14F-4D97-AF65-F5344CB8AC3E}">
        <p14:creationId xmlns:p14="http://schemas.microsoft.com/office/powerpoint/2010/main" val="1369886449"/>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r>
              <a:rPr lang="es-ES" dirty="0" smtClean="0"/>
              <a:t>Para lograr un mayor aislamiento, puede separar físicamente los datos de lectura de los</a:t>
            </a:r>
          </a:p>
          <a:p>
            <a:r>
              <a:rPr lang="es-ES" dirty="0" smtClean="0"/>
              <a:t>datos de escritura. En ese caso, la base de datos de lectura puede utilizar su propio</a:t>
            </a:r>
          </a:p>
          <a:p>
            <a:r>
              <a:rPr lang="es-ES" dirty="0" smtClean="0"/>
              <a:t>esquema de datos que está optimizado para las consultas. Por ejemplo, puede almacenar</a:t>
            </a:r>
          </a:p>
          <a:p>
            <a:r>
              <a:rPr lang="es-ES" dirty="0" smtClean="0"/>
              <a:t>una vista materializada de los datos para evitar combinaciones complejas o asignaciones</a:t>
            </a:r>
          </a:p>
          <a:p>
            <a:r>
              <a:rPr lang="es-ES" dirty="0" smtClean="0"/>
              <a:t>del </a:t>
            </a:r>
            <a:r>
              <a:rPr lang="es-ES" dirty="0" err="1" smtClean="0"/>
              <a:t>asignador</a:t>
            </a:r>
            <a:r>
              <a:rPr lang="es-ES" dirty="0" smtClean="0"/>
              <a:t> relacional de objetos complejas. Incluso puede usar un tipo de almacén de</a:t>
            </a:r>
          </a:p>
          <a:p>
            <a:r>
              <a:rPr lang="es-ES" dirty="0" smtClean="0"/>
              <a:t>datos diferente. Por ejemplo, la base de datos de escritura puede ser relacional, mientras</a:t>
            </a:r>
          </a:p>
          <a:p>
            <a:r>
              <a:rPr lang="es-ES" dirty="0" smtClean="0"/>
              <a:t>que la base de datos de lectura es una base de datos de documentos.</a:t>
            </a:r>
          </a:p>
          <a:p>
            <a:r>
              <a:rPr lang="es-ES" dirty="0" smtClean="0"/>
              <a:t>Si se utilizan bases de datos de escritura y de lectura independientes, se deben mantener</a:t>
            </a:r>
          </a:p>
          <a:p>
            <a:r>
              <a:rPr lang="es-ES" dirty="0" smtClean="0"/>
              <a:t>sincronizados. Normalmente esto se consigue haciendo que el modelo de escritura</a:t>
            </a:r>
          </a:p>
          <a:p>
            <a:r>
              <a:rPr lang="es-ES" dirty="0" smtClean="0"/>
              <a:t>publique un evento cada vez que actualiza la base de datos. Para más información sobre el</a:t>
            </a:r>
          </a:p>
          <a:p>
            <a:r>
              <a:rPr lang="es-ES" dirty="0" smtClean="0"/>
              <a:t>uso de eventos, consulte Estilo de arquitectura basada en eventos. Dado que los agentes</a:t>
            </a:r>
          </a:p>
          <a:p>
            <a:r>
              <a:rPr lang="es-ES" dirty="0" smtClean="0"/>
              <a:t>de mensajes y las bases de datos normalmente no se pueden inscribir en una sola</a:t>
            </a:r>
          </a:p>
          <a:p>
            <a:r>
              <a:rPr lang="es-ES" dirty="0" smtClean="0"/>
              <a:t>transacción distribuida, puede haber desafíos para garantizar la coherencia al actualizar la</a:t>
            </a:r>
          </a:p>
          <a:p>
            <a:r>
              <a:rPr lang="es-ES" dirty="0" smtClean="0"/>
              <a:t>base de datos y publicar eventos. Para obtener más información, consulte la guía sobre el</a:t>
            </a:r>
          </a:p>
          <a:p>
            <a:r>
              <a:rPr lang="es-ES" dirty="0" smtClean="0"/>
              <a:t>procesamiento de mensajes </a:t>
            </a:r>
            <a:r>
              <a:rPr lang="es-ES" dirty="0" err="1" smtClean="0"/>
              <a:t>idempotentes</a:t>
            </a:r>
            <a:endParaRPr lang="es-ES" dirty="0" smtClean="0"/>
          </a:p>
          <a:p>
            <a:r>
              <a:rPr lang="es-ES" dirty="0" smtClean="0"/>
              <a:t>El almacén de lectura puede ser una réplica de solo lectura del almacén de escritura o los</a:t>
            </a:r>
          </a:p>
          <a:p>
            <a:r>
              <a:rPr lang="es-ES" dirty="0" smtClean="0"/>
              <a:t>almacenes de lectura y escritura pueden tener una estructura diferente por completo. El</a:t>
            </a:r>
          </a:p>
          <a:p>
            <a:r>
              <a:rPr lang="es-ES" dirty="0" smtClean="0"/>
              <a:t>uso de varias réplicas de solo lectura puede aumentar el rendimiento de las consultas,</a:t>
            </a:r>
          </a:p>
          <a:p>
            <a:r>
              <a:rPr lang="es-ES" dirty="0" smtClean="0"/>
              <a:t>especialmente en escenarios distribuidos en los que las réplicas de solo lectura se</a:t>
            </a:r>
          </a:p>
          <a:p>
            <a:r>
              <a:rPr lang="es-ES" dirty="0" smtClean="0"/>
              <a:t>encuentran cerca de las instancias de la aplicación.</a:t>
            </a:r>
          </a:p>
          <a:p>
            <a:r>
              <a:rPr lang="es-ES" dirty="0" smtClean="0"/>
              <a:t>La separación de los almacenes de lectura y escritura permite también que cada uno de</a:t>
            </a:r>
          </a:p>
          <a:p>
            <a:r>
              <a:rPr lang="es-ES" dirty="0" smtClean="0"/>
              <a:t>ellos pueda escalarse adecuadamente para adaptarse a la carga. Por ejemplo, los</a:t>
            </a:r>
          </a:p>
          <a:p>
            <a:r>
              <a:rPr lang="es-ES" dirty="0" smtClean="0"/>
              <a:t>almacenes de lectura normalmente se encuentran con una carga mayor que los de</a:t>
            </a:r>
          </a:p>
          <a:p>
            <a:r>
              <a:rPr lang="es-ES" dirty="0" smtClean="0"/>
              <a:t>escritura.</a:t>
            </a:r>
          </a:p>
        </p:txBody>
      </p:sp>
    </p:spTree>
    <p:extLst>
      <p:ext uri="{BB962C8B-B14F-4D97-AF65-F5344CB8AC3E}">
        <p14:creationId xmlns:p14="http://schemas.microsoft.com/office/powerpoint/2010/main" val="1369886449"/>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ES" sz="1200" b="0" i="0" u="none" strike="noStrike" kern="1200" baseline="0" dirty="0" smtClean="0">
              <a:solidFill>
                <a:schemeClr val="tx1"/>
              </a:solidFill>
              <a:latin typeface="+mn-lt"/>
              <a:ea typeface="+mn-ea"/>
              <a:cs typeface="+mn-cs"/>
            </a:endParaRPr>
          </a:p>
          <a:p>
            <a:r>
              <a:rPr lang="es-ES" sz="1200" b="0" i="0" u="none" strike="noStrike" kern="1200" baseline="0" dirty="0" smtClean="0">
                <a:solidFill>
                  <a:schemeClr val="tx1"/>
                </a:solidFill>
                <a:latin typeface="+mn-lt"/>
                <a:ea typeface="+mn-ea"/>
                <a:cs typeface="+mn-cs"/>
              </a:rPr>
              <a:t>El código siguiente muestra algunos extractos de un ejemplo de una implementación CQRS que usa definiciones diferentes para los modelos de lectura y de escritura. Las interfaces de los modelos no dictan ninguna característica de los almacenes de datos subyacentes, y pueden evolucionar y adaptarse de forma independiente ya que estas interfaces están separadas.</a:t>
            </a:r>
          </a:p>
          <a:p>
            <a:r>
              <a:rPr lang="es-ES" sz="1200" b="0" i="0" u="none" strike="noStrike" kern="1200" baseline="0" dirty="0" smtClean="0">
                <a:solidFill>
                  <a:schemeClr val="tx1"/>
                </a:solidFill>
                <a:latin typeface="+mn-lt"/>
                <a:ea typeface="+mn-ea"/>
                <a:cs typeface="+mn-cs"/>
              </a:rPr>
              <a:t>El código siguiente muestra la definición del modelo de lectura.</a:t>
            </a:r>
            <a:endParaRPr lang="es-ES" dirty="0" smtClean="0"/>
          </a:p>
        </p:txBody>
      </p:sp>
    </p:spTree>
    <p:extLst>
      <p:ext uri="{BB962C8B-B14F-4D97-AF65-F5344CB8AC3E}">
        <p14:creationId xmlns:p14="http://schemas.microsoft.com/office/powerpoint/2010/main" val="1369886449"/>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ES" sz="1200" b="0" i="0" u="none" strike="noStrike" kern="1200" baseline="0" dirty="0" smtClean="0">
              <a:solidFill>
                <a:schemeClr val="tx1"/>
              </a:solidFill>
              <a:latin typeface="+mn-lt"/>
              <a:ea typeface="+mn-ea"/>
              <a:cs typeface="+mn-cs"/>
            </a:endParaRPr>
          </a:p>
          <a:p>
            <a:r>
              <a:rPr lang="es-ES" sz="1200" b="0" i="0" u="none" strike="noStrike" kern="1200" baseline="0" dirty="0" smtClean="0">
                <a:solidFill>
                  <a:schemeClr val="tx1"/>
                </a:solidFill>
                <a:latin typeface="+mn-lt"/>
                <a:ea typeface="+mn-ea"/>
                <a:cs typeface="+mn-cs"/>
              </a:rPr>
              <a:t>El sistema permite a los usuarios valorar los productos. El código de la aplicación hace esto mediante el comando </a:t>
            </a:r>
            <a:r>
              <a:rPr lang="es-ES" sz="1200" b="0" i="0" u="none" strike="noStrike" kern="1200" baseline="0" dirty="0" err="1" smtClean="0">
                <a:solidFill>
                  <a:schemeClr val="tx1"/>
                </a:solidFill>
                <a:latin typeface="+mn-lt"/>
                <a:ea typeface="+mn-ea"/>
                <a:cs typeface="+mn-cs"/>
              </a:rPr>
              <a:t>RateProduct</a:t>
            </a:r>
            <a:r>
              <a:rPr lang="es-ES" sz="1200" b="0" i="0" u="none" strike="noStrike" kern="1200" baseline="0" dirty="0" smtClean="0">
                <a:solidFill>
                  <a:schemeClr val="tx1"/>
                </a:solidFill>
                <a:latin typeface="+mn-lt"/>
                <a:ea typeface="+mn-ea"/>
                <a:cs typeface="+mn-cs"/>
              </a:rPr>
              <a:t> que aparece en el código siguiente.</a:t>
            </a:r>
          </a:p>
        </p:txBody>
      </p:sp>
    </p:spTree>
    <p:extLst>
      <p:ext uri="{BB962C8B-B14F-4D97-AF65-F5344CB8AC3E}">
        <p14:creationId xmlns:p14="http://schemas.microsoft.com/office/powerpoint/2010/main" val="1369886449"/>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r>
              <a:rPr lang="es-ES" dirty="0" smtClean="0"/>
              <a:t>El sistema usa la clase </a:t>
            </a:r>
            <a:r>
              <a:rPr lang="es-ES" dirty="0" err="1" smtClean="0"/>
              <a:t>ProductsCommandHandler</a:t>
            </a:r>
            <a:r>
              <a:rPr lang="es-ES" dirty="0" smtClean="0"/>
              <a:t> para controlar los comandos enviados por</a:t>
            </a:r>
          </a:p>
          <a:p>
            <a:r>
              <a:rPr lang="es-ES" dirty="0" smtClean="0"/>
              <a:t>la aplicación. Normalmente, los clientes envían comandos al dominio a través de un</a:t>
            </a:r>
          </a:p>
          <a:p>
            <a:r>
              <a:rPr lang="es-ES" dirty="0" smtClean="0"/>
              <a:t>sistema de mensajería como, por ejemplo, una cola. El controlador de comandos acepta</a:t>
            </a:r>
          </a:p>
          <a:p>
            <a:r>
              <a:rPr lang="es-ES" dirty="0" smtClean="0"/>
              <a:t>estos comandos e invoca los métodos de la interfaz de dominio. La granularidad de cada</a:t>
            </a:r>
          </a:p>
          <a:p>
            <a:r>
              <a:rPr lang="es-ES" dirty="0" smtClean="0"/>
              <a:t>comando está diseñada para reducir la posibilidad de que haya solicitudes en conflicto. El</a:t>
            </a:r>
          </a:p>
          <a:p>
            <a:r>
              <a:rPr lang="es-ES" dirty="0" smtClean="0"/>
              <a:t>código siguiente muestra un esquema de la clase </a:t>
            </a:r>
            <a:r>
              <a:rPr lang="es-ES" dirty="0" err="1" smtClean="0"/>
              <a:t>ProductsCommandHandler</a:t>
            </a:r>
            <a:r>
              <a:rPr lang="es-ES" dirty="0" smtClean="0"/>
              <a:t> .</a:t>
            </a:r>
          </a:p>
        </p:txBody>
      </p:sp>
    </p:spTree>
    <p:extLst>
      <p:ext uri="{BB962C8B-B14F-4D97-AF65-F5344CB8AC3E}">
        <p14:creationId xmlns:p14="http://schemas.microsoft.com/office/powerpoint/2010/main" val="1369886449"/>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ES" sz="1200" b="0" i="0" u="none" strike="noStrike" kern="1200" baseline="0" dirty="0" smtClean="0">
              <a:solidFill>
                <a:schemeClr val="tx1"/>
              </a:solidFill>
              <a:latin typeface="+mn-lt"/>
              <a:ea typeface="+mn-ea"/>
              <a:cs typeface="+mn-cs"/>
            </a:endParaRPr>
          </a:p>
          <a:p>
            <a:endParaRPr lang="es-ES" dirty="0" smtClean="0"/>
          </a:p>
        </p:txBody>
      </p:sp>
    </p:spTree>
    <p:extLst>
      <p:ext uri="{BB962C8B-B14F-4D97-AF65-F5344CB8AC3E}">
        <p14:creationId xmlns:p14="http://schemas.microsoft.com/office/powerpoint/2010/main" val="1369886449"/>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ES" sz="1200" b="0" i="0" u="none" strike="noStrike" kern="1200" baseline="0" dirty="0" smtClean="0">
              <a:solidFill>
                <a:schemeClr val="tx1"/>
              </a:solidFill>
              <a:latin typeface="+mn-lt"/>
              <a:ea typeface="+mn-ea"/>
              <a:cs typeface="+mn-cs"/>
            </a:endParaRPr>
          </a:p>
          <a:p>
            <a:endParaRPr lang="es-ES" dirty="0" smtClean="0"/>
          </a:p>
        </p:txBody>
      </p:sp>
    </p:spTree>
    <p:extLst>
      <p:ext uri="{BB962C8B-B14F-4D97-AF65-F5344CB8AC3E}">
        <p14:creationId xmlns:p14="http://schemas.microsoft.com/office/powerpoint/2010/main" val="1369886449"/>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ES" sz="1200" b="0" i="0" u="none" strike="noStrike" kern="1200" baseline="0" dirty="0" smtClean="0">
              <a:solidFill>
                <a:schemeClr val="tx1"/>
              </a:solidFill>
              <a:latin typeface="+mn-lt"/>
              <a:ea typeface="+mn-ea"/>
              <a:cs typeface="+mn-cs"/>
            </a:endParaRPr>
          </a:p>
          <a:p>
            <a:endParaRPr lang="es-ES" dirty="0" smtClean="0"/>
          </a:p>
        </p:txBody>
      </p:sp>
    </p:spTree>
    <p:extLst>
      <p:ext uri="{BB962C8B-B14F-4D97-AF65-F5344CB8AC3E}">
        <p14:creationId xmlns:p14="http://schemas.microsoft.com/office/powerpoint/2010/main" val="1369886449"/>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ES" sz="1200" b="0" i="0" u="none" strike="noStrike" kern="1200" baseline="0" dirty="0" smtClean="0">
              <a:solidFill>
                <a:schemeClr val="tx1"/>
              </a:solidFill>
              <a:latin typeface="+mn-lt"/>
              <a:ea typeface="+mn-ea"/>
              <a:cs typeface="+mn-cs"/>
            </a:endParaRPr>
          </a:p>
          <a:p>
            <a:endParaRPr lang="es-ES" dirty="0" smtClean="0"/>
          </a:p>
        </p:txBody>
      </p:sp>
    </p:spTree>
    <p:extLst>
      <p:ext uri="{BB962C8B-B14F-4D97-AF65-F5344CB8AC3E}">
        <p14:creationId xmlns:p14="http://schemas.microsoft.com/office/powerpoint/2010/main" val="1369886449"/>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ES" sz="1200" b="0" i="0" u="none" strike="noStrike" kern="1200" baseline="0" dirty="0" smtClean="0">
              <a:solidFill>
                <a:schemeClr val="tx1"/>
              </a:solidFill>
              <a:latin typeface="+mn-lt"/>
              <a:ea typeface="+mn-ea"/>
              <a:cs typeface="+mn-cs"/>
            </a:endParaRPr>
          </a:p>
          <a:p>
            <a:endParaRPr lang="es-ES" dirty="0" smtClean="0"/>
          </a:p>
        </p:txBody>
      </p:sp>
    </p:spTree>
    <p:extLst>
      <p:ext uri="{BB962C8B-B14F-4D97-AF65-F5344CB8AC3E}">
        <p14:creationId xmlns:p14="http://schemas.microsoft.com/office/powerpoint/2010/main" val="1369886449"/>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r>
              <a:rPr lang="es-ES" dirty="0" smtClean="0"/>
              <a:t>El termino ORM significa </a:t>
            </a:r>
            <a:r>
              <a:rPr lang="es-ES" baseline="0" dirty="0" smtClean="0"/>
              <a:t>mapeo relacional de objetos, por su traducción en español </a:t>
            </a:r>
          </a:p>
          <a:p>
            <a:endParaRPr lang="es-ES" baseline="0" dirty="0" smtClean="0"/>
          </a:p>
          <a:p>
            <a:r>
              <a:rPr lang="es-ES" baseline="0" dirty="0" smtClean="0"/>
              <a:t>Es una técnica que permite abstraer el código en un lenguaje orientado a objeto de la representación en base de datos.</a:t>
            </a:r>
          </a:p>
          <a:p>
            <a:endParaRPr lang="es-ES" baseline="0" dirty="0" smtClean="0"/>
          </a:p>
          <a:p>
            <a:r>
              <a:rPr lang="es-ES" baseline="0" dirty="0" smtClean="0"/>
              <a:t>Usualmente es implementado como </a:t>
            </a:r>
            <a:r>
              <a:rPr lang="es-ES" baseline="0" dirty="0" err="1" smtClean="0"/>
              <a:t>framework</a:t>
            </a:r>
            <a:r>
              <a:rPr lang="es-ES" baseline="0" dirty="0" smtClean="0"/>
              <a:t> </a:t>
            </a:r>
          </a:p>
          <a:p>
            <a:r>
              <a:rPr lang="es-ES" baseline="0" dirty="0" smtClean="0"/>
              <a:t>Ejemplo de algunos conocidos son</a:t>
            </a:r>
          </a:p>
          <a:p>
            <a:r>
              <a:rPr lang="es-ES" baseline="0" dirty="0" err="1" smtClean="0"/>
              <a:t>Hybernate</a:t>
            </a:r>
            <a:r>
              <a:rPr lang="es-ES" baseline="0" dirty="0" smtClean="0"/>
              <a:t> en Java</a:t>
            </a:r>
          </a:p>
          <a:p>
            <a:r>
              <a:rPr lang="es-ES" baseline="0" dirty="0" err="1" smtClean="0"/>
              <a:t>Entiy</a:t>
            </a:r>
            <a:r>
              <a:rPr lang="es-ES" baseline="0" dirty="0" smtClean="0"/>
              <a:t> Framework, </a:t>
            </a:r>
            <a:r>
              <a:rPr lang="es-ES" baseline="0" dirty="0" err="1" smtClean="0"/>
              <a:t>Dapper</a:t>
            </a:r>
            <a:r>
              <a:rPr lang="es-ES" baseline="0" dirty="0" smtClean="0"/>
              <a:t> ORM y </a:t>
            </a:r>
            <a:r>
              <a:rPr lang="es-ES" baseline="0" dirty="0" err="1" smtClean="0"/>
              <a:t>NHybernate</a:t>
            </a:r>
            <a:r>
              <a:rPr lang="es-ES" baseline="0" dirty="0" smtClean="0"/>
              <a:t> en .NET</a:t>
            </a:r>
          </a:p>
          <a:p>
            <a:r>
              <a:rPr lang="es-ES" baseline="0" dirty="0" smtClean="0"/>
              <a:t>SQL </a:t>
            </a:r>
            <a:r>
              <a:rPr lang="es-ES" baseline="0" dirty="0" err="1" smtClean="0"/>
              <a:t>Alchemy</a:t>
            </a:r>
            <a:r>
              <a:rPr lang="es-ES" baseline="0" dirty="0" smtClean="0"/>
              <a:t> y Django ORM en </a:t>
            </a:r>
            <a:r>
              <a:rPr lang="es-ES" baseline="0" dirty="0" err="1" smtClean="0"/>
              <a:t>Python</a:t>
            </a:r>
            <a:endParaRPr lang="es-ES" baseline="0" dirty="0" smtClean="0"/>
          </a:p>
          <a:p>
            <a:r>
              <a:rPr lang="es-ES" baseline="0" dirty="0" smtClean="0"/>
              <a:t>Hay algunos otros</a:t>
            </a:r>
          </a:p>
          <a:p>
            <a:endParaRPr lang="es-ES" baseline="0" dirty="0" smtClean="0"/>
          </a:p>
          <a:p>
            <a:r>
              <a:rPr lang="es-ES" baseline="0" dirty="0" smtClean="0"/>
              <a:t>Cada uno de ellos puede hacer uso de los diferentes patrones de datos que hemos visto</a:t>
            </a:r>
          </a:p>
          <a:p>
            <a:endParaRPr lang="es-ES" baseline="0" dirty="0" smtClean="0"/>
          </a:p>
          <a:p>
            <a:r>
              <a:rPr lang="es-ES" baseline="0" dirty="0" smtClean="0"/>
              <a:t>No es necesario que los usen todos a la vez y alguno de ellos dan la posibilidad de encender o apagar el uso de determinados patrones</a:t>
            </a:r>
          </a:p>
          <a:p>
            <a:endParaRPr lang="es-ES" baseline="0" dirty="0" smtClean="0"/>
          </a:p>
          <a:p>
            <a:r>
              <a:rPr lang="es-ES" baseline="0" dirty="0" smtClean="0"/>
              <a:t>Es importante no confundir los ORM con el patrón Data </a:t>
            </a:r>
            <a:r>
              <a:rPr lang="es-ES" baseline="0" dirty="0" err="1" smtClean="0"/>
              <a:t>Mapper</a:t>
            </a:r>
            <a:r>
              <a:rPr lang="es-ES" baseline="0" dirty="0" smtClean="0"/>
              <a:t> directamente, </a:t>
            </a:r>
          </a:p>
          <a:p>
            <a:r>
              <a:rPr lang="es-ES" baseline="0" dirty="0" smtClean="0"/>
              <a:t>aunque el principio de su funcionamiento de forma muy general es basado en este patrón</a:t>
            </a:r>
          </a:p>
          <a:p>
            <a:r>
              <a:rPr lang="es-ES" baseline="0" dirty="0" smtClean="0"/>
              <a:t>Un ORM es mucho mas que un patrón Data </a:t>
            </a:r>
            <a:r>
              <a:rPr lang="es-ES" baseline="0" dirty="0" err="1" smtClean="0"/>
              <a:t>Mapper</a:t>
            </a:r>
            <a:endParaRPr lang="es-ES" dirty="0" smtClean="0"/>
          </a:p>
        </p:txBody>
      </p:sp>
    </p:spTree>
    <p:extLst>
      <p:ext uri="{BB962C8B-B14F-4D97-AF65-F5344CB8AC3E}">
        <p14:creationId xmlns:p14="http://schemas.microsoft.com/office/powerpoint/2010/main" val="1369886449"/>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ES" dirty="0" smtClean="0"/>
          </a:p>
          <a:p>
            <a:r>
              <a:rPr lang="es-ES" dirty="0" smtClean="0"/>
              <a:t>Existen escenarios en los que el uso de procedimientos almacenados pudiera resultar beneficioso como en el caso de consultas muy complejas y pesadas</a:t>
            </a:r>
          </a:p>
          <a:p>
            <a:endParaRPr lang="es-ES" dirty="0" smtClean="0"/>
          </a:p>
          <a:p>
            <a:r>
              <a:rPr lang="es-ES" dirty="0" smtClean="0"/>
              <a:t>Los </a:t>
            </a:r>
            <a:r>
              <a:rPr lang="es-ES" dirty="0" err="1" smtClean="0"/>
              <a:t>orms</a:t>
            </a:r>
            <a:r>
              <a:rPr lang="es-ES" dirty="0" smtClean="0"/>
              <a:t> traen al lado del cliente todos los datos involucrados para realizar las consultas, </a:t>
            </a:r>
          </a:p>
          <a:p>
            <a:pPr marL="0" marR="0" indent="0" algn="l" defTabSz="914400" rtl="0" eaLnBrk="1" fontAlgn="auto" latinLnBrk="0" hangingPunct="1">
              <a:lnSpc>
                <a:spcPct val="100000"/>
              </a:lnSpc>
              <a:spcBef>
                <a:spcPts val="0"/>
              </a:spcBef>
              <a:spcAft>
                <a:spcPts val="0"/>
              </a:spcAft>
              <a:buClrTx/>
              <a:buSzTx/>
              <a:buFontTx/>
              <a:buNone/>
              <a:tabLst/>
              <a:defRPr/>
            </a:pPr>
            <a:r>
              <a:rPr lang="es-ES" dirty="0" smtClean="0"/>
              <a:t>en el caso</a:t>
            </a:r>
            <a:r>
              <a:rPr lang="es-ES" baseline="0" dirty="0" smtClean="0"/>
              <a:t> de consultas complejas (</a:t>
            </a:r>
            <a:r>
              <a:rPr lang="es-ES" dirty="0" smtClean="0"/>
              <a:t>que involucran la unión de muchas tablas y/o grandes cantidades de datos</a:t>
            </a:r>
            <a:r>
              <a:rPr lang="es-ES" baseline="0" dirty="0" smtClean="0"/>
              <a:t>), </a:t>
            </a:r>
          </a:p>
          <a:p>
            <a:pPr marL="0" marR="0" indent="0" algn="l" defTabSz="914400" rtl="0" eaLnBrk="1" fontAlgn="auto" latinLnBrk="0" hangingPunct="1">
              <a:lnSpc>
                <a:spcPct val="100000"/>
              </a:lnSpc>
              <a:spcBef>
                <a:spcPts val="0"/>
              </a:spcBef>
              <a:spcAft>
                <a:spcPts val="0"/>
              </a:spcAft>
              <a:buClrTx/>
              <a:buSzTx/>
              <a:buFontTx/>
              <a:buNone/>
              <a:tabLst/>
              <a:defRPr/>
            </a:pPr>
            <a:r>
              <a:rPr lang="es-ES" baseline="0" dirty="0" smtClean="0"/>
              <a:t>el manejo que hacen los </a:t>
            </a:r>
            <a:r>
              <a:rPr lang="es-ES" baseline="0" dirty="0" err="1" smtClean="0"/>
              <a:t>orm</a:t>
            </a:r>
            <a:r>
              <a:rPr lang="es-ES" baseline="0" dirty="0" smtClean="0"/>
              <a:t> puede llegar a que la operación no llegue a terminarse nunca, </a:t>
            </a:r>
          </a:p>
          <a:p>
            <a:r>
              <a:rPr lang="es-ES" baseline="0" dirty="0" smtClean="0"/>
              <a:t>o que simplemente se acaben los recursos del cliente (memoria) antes de empezar a hacer la operación</a:t>
            </a:r>
          </a:p>
          <a:p>
            <a:endParaRPr lang="es-ES" dirty="0" smtClean="0"/>
          </a:p>
          <a:p>
            <a:r>
              <a:rPr lang="es-ES" dirty="0" smtClean="0"/>
              <a:t>mientras que en este mismo caso de las consultas complejas los procedimientos almacenados realizan las consultas dentro del mismo motor de base de datos devolviendo solamente el resultado, </a:t>
            </a:r>
          </a:p>
          <a:p>
            <a:r>
              <a:rPr lang="es-ES" dirty="0" smtClean="0"/>
              <a:t>duele decirlo pero,</a:t>
            </a:r>
            <a:r>
              <a:rPr lang="es-ES" baseline="0" dirty="0" smtClean="0"/>
              <a:t> los motores de BD están hecho precisamente para eso, para ejecutar consultas extremadamente complejas con un nivel de eficiencia extremadamente alto</a:t>
            </a:r>
          </a:p>
          <a:p>
            <a:r>
              <a:rPr lang="es-ES" baseline="0" dirty="0" smtClean="0"/>
              <a:t>No hay </a:t>
            </a:r>
            <a:r>
              <a:rPr lang="es-ES" baseline="0" dirty="0" err="1" smtClean="0"/>
              <a:t>orm</a:t>
            </a:r>
            <a:r>
              <a:rPr lang="es-ES" baseline="0" dirty="0" smtClean="0"/>
              <a:t> que pueda competir contra eso.</a:t>
            </a:r>
            <a:endParaRPr lang="es-ES" dirty="0" smtClean="0"/>
          </a:p>
          <a:p>
            <a:endParaRPr lang="es-ES" dirty="0" smtClean="0"/>
          </a:p>
          <a:p>
            <a:r>
              <a:rPr lang="es-ES" dirty="0" smtClean="0"/>
              <a:t>Conocemos casos en los que el </a:t>
            </a:r>
            <a:r>
              <a:rPr lang="es-ES" dirty="0" err="1" smtClean="0"/>
              <a:t>orm</a:t>
            </a:r>
            <a:r>
              <a:rPr lang="es-ES" dirty="0" smtClean="0"/>
              <a:t> no es capaz de realizar la tarea, </a:t>
            </a:r>
          </a:p>
          <a:p>
            <a:r>
              <a:rPr lang="es-ES" dirty="0" smtClean="0"/>
              <a:t>mientras que el motor de base de datos es capaz de realizarla de forma relativamente rápida y eficiente</a:t>
            </a:r>
          </a:p>
          <a:p>
            <a:endParaRPr lang="es-ES" dirty="0" smtClean="0"/>
          </a:p>
          <a:p>
            <a:r>
              <a:rPr lang="es-ES" dirty="0" smtClean="0"/>
              <a:t>Por otro lado los procedimientos almacenados pueden utilizarse para encapsular procesos que requieren de unos pocos parámetros </a:t>
            </a:r>
          </a:p>
          <a:p>
            <a:r>
              <a:rPr lang="es-ES" dirty="0" smtClean="0"/>
              <a:t>y que al mismo tiempo ejecutan una gran cantidad de acciones, aun cuando estas sean acciones simples</a:t>
            </a:r>
          </a:p>
          <a:p>
            <a:endParaRPr lang="es-ES" dirty="0" smtClean="0"/>
          </a:p>
          <a:p>
            <a:r>
              <a:rPr lang="es-ES" dirty="0" smtClean="0"/>
              <a:t>Por lo que las preguntas que nos hicimos al</a:t>
            </a:r>
            <a:r>
              <a:rPr lang="es-ES" baseline="0" dirty="0" smtClean="0"/>
              <a:t> principio de esta diapositiva tienen una respuesta muy simple, los procedimientos almacenados se usan cuando sea conveniente usarlos si el </a:t>
            </a:r>
            <a:r>
              <a:rPr lang="es-ES" baseline="0" dirty="0" err="1" smtClean="0"/>
              <a:t>orm</a:t>
            </a:r>
            <a:r>
              <a:rPr lang="es-ES" baseline="0" dirty="0" smtClean="0"/>
              <a:t> que estas utilizando te permite hacerlo.</a:t>
            </a:r>
            <a:endParaRPr lang="en-US" dirty="0" smtClean="0"/>
          </a:p>
          <a:p>
            <a:endParaRPr lang="es-ES" dirty="0" smtClean="0"/>
          </a:p>
        </p:txBody>
      </p:sp>
    </p:spTree>
    <p:extLst>
      <p:ext uri="{BB962C8B-B14F-4D97-AF65-F5344CB8AC3E}">
        <p14:creationId xmlns:p14="http://schemas.microsoft.com/office/powerpoint/2010/main" val="1369886449"/>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r>
              <a:rPr lang="es-ES" noProof="0" dirty="0" smtClean="0"/>
              <a:t>Los patrones de acceso a datos son soluciones reutilizables que abordan la forma en que las aplicaciones interactúan con las fuentes de datos, como bases de datos, servicios web o archivos. Estos patrones ayudan a estructurar el código para que sea más fácil de mantener, escalar y probar. Algunos de los patrones más comunes incluyen:</a:t>
            </a:r>
          </a:p>
          <a:p>
            <a:endParaRPr lang="es-ES" noProof="0" dirty="0" smtClean="0"/>
          </a:p>
          <a:p>
            <a:r>
              <a:rPr lang="es-ES" noProof="0" dirty="0" smtClean="0"/>
              <a:t>1. Data Access </a:t>
            </a:r>
            <a:r>
              <a:rPr lang="es-ES" noProof="0" dirty="0" err="1" smtClean="0"/>
              <a:t>Object</a:t>
            </a:r>
            <a:r>
              <a:rPr lang="es-ES" noProof="0" dirty="0" smtClean="0"/>
              <a:t> (DAO):</a:t>
            </a:r>
          </a:p>
          <a:p>
            <a:endParaRPr lang="es-ES" noProof="0" dirty="0" smtClean="0"/>
          </a:p>
          <a:p>
            <a:r>
              <a:rPr lang="es-ES" noProof="0" dirty="0" smtClean="0"/>
              <a:t>   • Separa la lógica de acceso a datos de la lógica de negocio.</a:t>
            </a:r>
          </a:p>
          <a:p>
            <a:endParaRPr lang="es-ES" noProof="0" dirty="0" smtClean="0"/>
          </a:p>
          <a:p>
            <a:r>
              <a:rPr lang="es-ES" noProof="0" dirty="0" smtClean="0"/>
              <a:t>   • Proporciona una interfaz para realizar operaciones CRUD (Crear, Leer, Actualizar, Eliminar) sobre los datos.</a:t>
            </a:r>
          </a:p>
          <a:p>
            <a:endParaRPr lang="es-ES" noProof="0" dirty="0" smtClean="0"/>
          </a:p>
          <a:p>
            <a:r>
              <a:rPr lang="es-ES" noProof="0" dirty="0" smtClean="0"/>
              <a:t>2. </a:t>
            </a:r>
            <a:r>
              <a:rPr lang="es-ES" noProof="0" dirty="0" err="1" smtClean="0"/>
              <a:t>Repository</a:t>
            </a:r>
            <a:r>
              <a:rPr lang="es-ES" noProof="0" dirty="0" smtClean="0"/>
              <a:t>:</a:t>
            </a:r>
          </a:p>
          <a:p>
            <a:endParaRPr lang="es-ES" noProof="0" dirty="0" smtClean="0"/>
          </a:p>
          <a:p>
            <a:r>
              <a:rPr lang="es-ES" noProof="0" dirty="0" smtClean="0"/>
              <a:t>   • Actúa como una colección de objetos de dominio y encapsula la lógica necesaria para acceder a los datos.</a:t>
            </a:r>
          </a:p>
          <a:p>
            <a:endParaRPr lang="es-ES" noProof="0" dirty="0" smtClean="0"/>
          </a:p>
          <a:p>
            <a:r>
              <a:rPr lang="es-ES" noProof="0" dirty="0" smtClean="0"/>
              <a:t>   • Permite trabajar con los datos como si fueran una colección en memoria, facilitando la implementación de pruebas.</a:t>
            </a:r>
          </a:p>
          <a:p>
            <a:endParaRPr lang="es-ES" noProof="0" dirty="0" smtClean="0"/>
          </a:p>
          <a:p>
            <a:r>
              <a:rPr lang="es-ES" noProof="0" dirty="0" smtClean="0"/>
              <a:t>3. </a:t>
            </a:r>
            <a:r>
              <a:rPr lang="es-ES" noProof="0" dirty="0" err="1" smtClean="0"/>
              <a:t>Unit</a:t>
            </a:r>
            <a:r>
              <a:rPr lang="es-ES" noProof="0" dirty="0" smtClean="0"/>
              <a:t> of </a:t>
            </a:r>
            <a:r>
              <a:rPr lang="es-ES" noProof="0" dirty="0" err="1" smtClean="0"/>
              <a:t>Work</a:t>
            </a:r>
            <a:r>
              <a:rPr lang="es-ES" noProof="0" dirty="0" smtClean="0"/>
              <a:t>:</a:t>
            </a:r>
          </a:p>
          <a:p>
            <a:endParaRPr lang="es-ES" noProof="0" dirty="0" smtClean="0"/>
          </a:p>
          <a:p>
            <a:r>
              <a:rPr lang="es-ES" noProof="0" dirty="0" smtClean="0"/>
              <a:t>   • Mantiene un registro de las operaciones que se realizan en un conjunto de objetos durante una transacción.</a:t>
            </a:r>
          </a:p>
          <a:p>
            <a:endParaRPr lang="es-ES" noProof="0" dirty="0" smtClean="0"/>
          </a:p>
          <a:p>
            <a:r>
              <a:rPr lang="es-ES" noProof="0" dirty="0" smtClean="0"/>
              <a:t>   • Permite coordinar la escritura de cambios en la base de datos para asegurar la consistencia.</a:t>
            </a:r>
          </a:p>
          <a:p>
            <a:endParaRPr lang="es-ES" noProof="0" dirty="0" smtClean="0"/>
          </a:p>
          <a:p>
            <a:r>
              <a:rPr lang="es-ES" noProof="0" dirty="0" smtClean="0"/>
              <a:t>4. Active Record:</a:t>
            </a:r>
          </a:p>
          <a:p>
            <a:endParaRPr lang="es-ES" noProof="0" dirty="0" smtClean="0"/>
          </a:p>
          <a:p>
            <a:r>
              <a:rPr lang="es-ES" noProof="0" dirty="0" smtClean="0"/>
              <a:t>   • Combina el modelo de datos y la lógica de acceso a datos en una sola clase.</a:t>
            </a:r>
          </a:p>
          <a:p>
            <a:endParaRPr lang="es-ES" noProof="0" dirty="0" smtClean="0"/>
          </a:p>
          <a:p>
            <a:r>
              <a:rPr lang="es-ES" noProof="0" dirty="0" smtClean="0"/>
              <a:t>   • Cada instancia de una clase representa una fila en la base de datos y proporciona métodos para manipular los datos.</a:t>
            </a:r>
          </a:p>
          <a:p>
            <a:endParaRPr lang="es-ES" noProof="0" dirty="0" smtClean="0"/>
          </a:p>
          <a:p>
            <a:r>
              <a:rPr lang="es-ES" noProof="0" dirty="0" smtClean="0"/>
              <a:t>5. </a:t>
            </a:r>
            <a:r>
              <a:rPr lang="es-ES" noProof="0" dirty="0" err="1" smtClean="0"/>
              <a:t>Service</a:t>
            </a:r>
            <a:r>
              <a:rPr lang="es-ES" noProof="0" dirty="0" smtClean="0"/>
              <a:t> </a:t>
            </a:r>
            <a:r>
              <a:rPr lang="es-ES" noProof="0" dirty="0" err="1" smtClean="0"/>
              <a:t>Layer</a:t>
            </a:r>
            <a:r>
              <a:rPr lang="es-ES" noProof="0" dirty="0" smtClean="0"/>
              <a:t>:</a:t>
            </a:r>
          </a:p>
          <a:p>
            <a:endParaRPr lang="es-ES" noProof="0" dirty="0" smtClean="0"/>
          </a:p>
          <a:p>
            <a:r>
              <a:rPr lang="es-ES" noProof="0" dirty="0" smtClean="0"/>
              <a:t>   • Define una capa de servicios que encapsula la lógica de negocio y el acceso a datos.</a:t>
            </a:r>
          </a:p>
          <a:p>
            <a:endParaRPr lang="es-ES" noProof="0" dirty="0" smtClean="0"/>
          </a:p>
          <a:p>
            <a:r>
              <a:rPr lang="es-ES" noProof="0" dirty="0" smtClean="0"/>
              <a:t>   • Facilita la reutilización y la organización del código al proporcionar una interfaz clara para las operaciones.</a:t>
            </a:r>
          </a:p>
          <a:p>
            <a:endParaRPr lang="es-ES" noProof="0" dirty="0" smtClean="0"/>
          </a:p>
          <a:p>
            <a:endParaRPr lang="es-ES" noProof="0" dirty="0" smtClean="0"/>
          </a:p>
          <a:p>
            <a:r>
              <a:rPr lang="es-ES" noProof="0" dirty="0" smtClean="0"/>
              <a:t>▎Conclusiones</a:t>
            </a:r>
          </a:p>
          <a:p>
            <a:endParaRPr lang="es-ES" noProof="0" dirty="0" smtClean="0"/>
          </a:p>
          <a:p>
            <a:r>
              <a:rPr lang="es-ES" noProof="0" dirty="0" smtClean="0"/>
              <a:t>Los patrones de acceso a datos son fundamentales para el desarrollo de software bien estructurado y </a:t>
            </a:r>
            <a:r>
              <a:rPr lang="es-ES" noProof="0" dirty="0" err="1" smtClean="0"/>
              <a:t>mantenible</a:t>
            </a:r>
            <a:r>
              <a:rPr lang="es-ES" noProof="0" dirty="0" smtClean="0"/>
              <a:t>. Los primeros facilitan la interacción con las fuentes de datos. Al aplicar estos patrones, los desarrolladores pueden crear aplicaciones más robustas, escalables y fáciles de probar.</a:t>
            </a:r>
          </a:p>
        </p:txBody>
      </p:sp>
    </p:spTree>
    <p:extLst>
      <p:ext uri="{BB962C8B-B14F-4D97-AF65-F5344CB8AC3E}">
        <p14:creationId xmlns:p14="http://schemas.microsoft.com/office/powerpoint/2010/main" val="136988644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 y="6334316"/>
            <a:ext cx="12192000"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1100051" y="4455621"/>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p:txBody>
          <a:bodyPr/>
          <a:lstStyle/>
          <a:p>
            <a:r>
              <a:rPr lang="es-ES"/>
              <a:t>MSc. Aracelys García Armenteros</a:t>
            </a:r>
          </a:p>
        </p:txBody>
      </p:sp>
      <p:sp>
        <p:nvSpPr>
          <p:cNvPr id="5" name="Footer Placeholder 4"/>
          <p:cNvSpPr>
            <a:spLocks noGrp="1"/>
          </p:cNvSpPr>
          <p:nvPr>
            <p:ph type="ftr" sz="quarter" idx="11"/>
          </p:nvPr>
        </p:nvSpPr>
        <p:spPr/>
        <p:txBody>
          <a:bodyPr/>
          <a:lstStyle/>
          <a:p>
            <a:r>
              <a:rPr lang="es-ES"/>
              <a:t>Gestión de Proyectos. Planificación y estimación.</a:t>
            </a:r>
          </a:p>
        </p:txBody>
      </p:sp>
      <p:sp>
        <p:nvSpPr>
          <p:cNvPr id="6" name="Slide Number Placeholder 5"/>
          <p:cNvSpPr>
            <a:spLocks noGrp="1"/>
          </p:cNvSpPr>
          <p:nvPr>
            <p:ph type="sldNum" sz="quarter" idx="12"/>
          </p:nvPr>
        </p:nvSpPr>
        <p:spPr/>
        <p:txBody>
          <a:bodyPr/>
          <a:lstStyle/>
          <a:p>
            <a:fld id="{BC4EE0E4-9C8A-4542-A491-318C3530755B}" type="slidenum">
              <a:rPr lang="es-ES" smtClean="0"/>
              <a:t>‹Nº›</a:t>
            </a:fld>
            <a:endParaRPr lang="es-E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13096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r>
              <a:rPr lang="es-ES"/>
              <a:t>MSc. Aracelys García Armenteros</a:t>
            </a:r>
          </a:p>
        </p:txBody>
      </p:sp>
      <p:sp>
        <p:nvSpPr>
          <p:cNvPr id="5" name="Footer Placeholder 4"/>
          <p:cNvSpPr>
            <a:spLocks noGrp="1"/>
          </p:cNvSpPr>
          <p:nvPr>
            <p:ph type="ftr" sz="quarter" idx="11"/>
          </p:nvPr>
        </p:nvSpPr>
        <p:spPr/>
        <p:txBody>
          <a:bodyPr/>
          <a:lstStyle/>
          <a:p>
            <a:r>
              <a:rPr lang="es-ES"/>
              <a:t>Gestión de Proyectos. Planificación y estimación.</a:t>
            </a:r>
          </a:p>
        </p:txBody>
      </p:sp>
      <p:sp>
        <p:nvSpPr>
          <p:cNvPr id="6" name="Slide Number Placeholder 5"/>
          <p:cNvSpPr>
            <a:spLocks noGrp="1"/>
          </p:cNvSpPr>
          <p:nvPr>
            <p:ph type="sldNum" sz="quarter" idx="12"/>
          </p:nvPr>
        </p:nvSpPr>
        <p:spPr/>
        <p:txBody>
          <a:bodyPr/>
          <a:lstStyle/>
          <a:p>
            <a:fld id="{BC4EE0E4-9C8A-4542-A491-318C3530755B}" type="slidenum">
              <a:rPr lang="es-ES" smtClean="0"/>
              <a:t>‹Nº›</a:t>
            </a:fld>
            <a:endParaRPr lang="es-ES"/>
          </a:p>
        </p:txBody>
      </p:sp>
    </p:spTree>
    <p:extLst>
      <p:ext uri="{BB962C8B-B14F-4D97-AF65-F5344CB8AC3E}">
        <p14:creationId xmlns:p14="http://schemas.microsoft.com/office/powerpoint/2010/main" val="8719534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Encabezado de sección">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el estilo de texto del patrón</a:t>
            </a:r>
          </a:p>
        </p:txBody>
      </p:sp>
      <p:sp>
        <p:nvSpPr>
          <p:cNvPr id="4" name="Date Placeholder 3"/>
          <p:cNvSpPr>
            <a:spLocks noGrp="1"/>
          </p:cNvSpPr>
          <p:nvPr>
            <p:ph type="dt" sz="half" idx="10"/>
          </p:nvPr>
        </p:nvSpPr>
        <p:spPr/>
        <p:txBody>
          <a:bodyPr/>
          <a:lstStyle/>
          <a:p>
            <a:r>
              <a:rPr lang="es-ES"/>
              <a:t>MSc. Aracelys García Armenteros</a:t>
            </a:r>
          </a:p>
        </p:txBody>
      </p:sp>
      <p:sp>
        <p:nvSpPr>
          <p:cNvPr id="5" name="Footer Placeholder 4"/>
          <p:cNvSpPr>
            <a:spLocks noGrp="1"/>
          </p:cNvSpPr>
          <p:nvPr>
            <p:ph type="ftr" sz="quarter" idx="11"/>
          </p:nvPr>
        </p:nvSpPr>
        <p:spPr/>
        <p:txBody>
          <a:bodyPr/>
          <a:lstStyle/>
          <a:p>
            <a:r>
              <a:rPr lang="es-ES"/>
              <a:t>Gestión de Proyectos. Planificación y estimación.</a:t>
            </a:r>
          </a:p>
        </p:txBody>
      </p:sp>
      <p:sp>
        <p:nvSpPr>
          <p:cNvPr id="6" name="Slide Number Placeholder 5"/>
          <p:cNvSpPr>
            <a:spLocks noGrp="1"/>
          </p:cNvSpPr>
          <p:nvPr>
            <p:ph type="sldNum" sz="quarter" idx="12"/>
          </p:nvPr>
        </p:nvSpPr>
        <p:spPr/>
        <p:txBody>
          <a:bodyPr/>
          <a:lstStyle/>
          <a:p>
            <a:fld id="{BC4EE0E4-9C8A-4542-A491-318C3530755B}" type="slidenum">
              <a:rPr lang="es-ES" smtClean="0"/>
              <a:t>‹Nº›</a:t>
            </a:fld>
            <a:endParaRPr lang="es-E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461419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1097280" y="1845734"/>
            <a:ext cx="4937760" cy="4023359"/>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r>
              <a:rPr lang="es-ES"/>
              <a:t>MSc. Aracelys García Armenteros</a:t>
            </a:r>
          </a:p>
        </p:txBody>
      </p:sp>
      <p:sp>
        <p:nvSpPr>
          <p:cNvPr id="6" name="Footer Placeholder 5"/>
          <p:cNvSpPr>
            <a:spLocks noGrp="1"/>
          </p:cNvSpPr>
          <p:nvPr>
            <p:ph type="ftr" sz="quarter" idx="11"/>
          </p:nvPr>
        </p:nvSpPr>
        <p:spPr/>
        <p:txBody>
          <a:bodyPr/>
          <a:lstStyle/>
          <a:p>
            <a:r>
              <a:rPr lang="es-ES"/>
              <a:t>Gestión de Proyectos. Planificación y estimación.</a:t>
            </a:r>
          </a:p>
        </p:txBody>
      </p:sp>
      <p:sp>
        <p:nvSpPr>
          <p:cNvPr id="7" name="Slide Number Placeholder 6"/>
          <p:cNvSpPr>
            <a:spLocks noGrp="1"/>
          </p:cNvSpPr>
          <p:nvPr>
            <p:ph type="sldNum" sz="quarter" idx="12"/>
          </p:nvPr>
        </p:nvSpPr>
        <p:spPr/>
        <p:txBody>
          <a:bodyPr/>
          <a:lstStyle/>
          <a:p>
            <a:fld id="{BC4EE0E4-9C8A-4542-A491-318C3530755B}" type="slidenum">
              <a:rPr lang="es-ES" smtClean="0"/>
              <a:t>‹Nº›</a:t>
            </a:fld>
            <a:endParaRPr lang="es-ES"/>
          </a:p>
        </p:txBody>
      </p:sp>
    </p:spTree>
    <p:extLst>
      <p:ext uri="{BB962C8B-B14F-4D97-AF65-F5344CB8AC3E}">
        <p14:creationId xmlns:p14="http://schemas.microsoft.com/office/powerpoint/2010/main" val="2902200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4" name="Content Placeholder 3"/>
          <p:cNvSpPr>
            <a:spLocks noGrp="1"/>
          </p:cNvSpPr>
          <p:nvPr>
            <p:ph sz="half" idx="2"/>
          </p:nvPr>
        </p:nvSpPr>
        <p:spPr>
          <a:xfrm>
            <a:off x="1097280" y="2582335"/>
            <a:ext cx="4937760" cy="3286760"/>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6" name="Content Placeholder 5"/>
          <p:cNvSpPr>
            <a:spLocks noGrp="1"/>
          </p:cNvSpPr>
          <p:nvPr>
            <p:ph sz="quarter" idx="4"/>
          </p:nvPr>
        </p:nvSpPr>
        <p:spPr>
          <a:xfrm>
            <a:off x="6217920" y="2582334"/>
            <a:ext cx="4937760" cy="3286760"/>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r>
              <a:rPr lang="es-ES"/>
              <a:t>MSc. Aracelys García Armenteros</a:t>
            </a:r>
          </a:p>
        </p:txBody>
      </p:sp>
      <p:sp>
        <p:nvSpPr>
          <p:cNvPr id="8" name="Footer Placeholder 7"/>
          <p:cNvSpPr>
            <a:spLocks noGrp="1"/>
          </p:cNvSpPr>
          <p:nvPr>
            <p:ph type="ftr" sz="quarter" idx="11"/>
          </p:nvPr>
        </p:nvSpPr>
        <p:spPr/>
        <p:txBody>
          <a:bodyPr/>
          <a:lstStyle/>
          <a:p>
            <a:r>
              <a:rPr lang="es-ES"/>
              <a:t>Gestión de Proyectos. Planificación y estimación.</a:t>
            </a:r>
          </a:p>
        </p:txBody>
      </p:sp>
      <p:sp>
        <p:nvSpPr>
          <p:cNvPr id="9" name="Slide Number Placeholder 8"/>
          <p:cNvSpPr>
            <a:spLocks noGrp="1"/>
          </p:cNvSpPr>
          <p:nvPr>
            <p:ph type="sldNum" sz="quarter" idx="12"/>
          </p:nvPr>
        </p:nvSpPr>
        <p:spPr/>
        <p:txBody>
          <a:bodyPr/>
          <a:lstStyle/>
          <a:p>
            <a:fld id="{BC4EE0E4-9C8A-4542-A491-318C3530755B}" type="slidenum">
              <a:rPr lang="es-ES" smtClean="0"/>
              <a:t>‹Nº›</a:t>
            </a:fld>
            <a:endParaRPr lang="es-ES"/>
          </a:p>
        </p:txBody>
      </p:sp>
    </p:spTree>
    <p:extLst>
      <p:ext uri="{BB962C8B-B14F-4D97-AF65-F5344CB8AC3E}">
        <p14:creationId xmlns:p14="http://schemas.microsoft.com/office/powerpoint/2010/main" val="24048083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r>
              <a:rPr lang="es-ES"/>
              <a:t>MSc. Aracelys García Armenteros</a:t>
            </a:r>
          </a:p>
        </p:txBody>
      </p:sp>
      <p:sp>
        <p:nvSpPr>
          <p:cNvPr id="4" name="Footer Placeholder 3"/>
          <p:cNvSpPr>
            <a:spLocks noGrp="1"/>
          </p:cNvSpPr>
          <p:nvPr>
            <p:ph type="ftr" sz="quarter" idx="11"/>
          </p:nvPr>
        </p:nvSpPr>
        <p:spPr/>
        <p:txBody>
          <a:bodyPr/>
          <a:lstStyle/>
          <a:p>
            <a:r>
              <a:rPr lang="es-ES"/>
              <a:t>Gestión de Proyectos. Planificación y estimación.</a:t>
            </a:r>
          </a:p>
        </p:txBody>
      </p:sp>
      <p:sp>
        <p:nvSpPr>
          <p:cNvPr id="5" name="Slide Number Placeholder 4"/>
          <p:cNvSpPr>
            <a:spLocks noGrp="1"/>
          </p:cNvSpPr>
          <p:nvPr>
            <p:ph type="sldNum" sz="quarter" idx="12"/>
          </p:nvPr>
        </p:nvSpPr>
        <p:spPr/>
        <p:txBody>
          <a:bodyPr/>
          <a:lstStyle/>
          <a:p>
            <a:fld id="{BC4EE0E4-9C8A-4542-A491-318C3530755B}" type="slidenum">
              <a:rPr lang="es-ES" smtClean="0"/>
              <a:t>‹Nº›</a:t>
            </a:fld>
            <a:endParaRPr lang="es-ES"/>
          </a:p>
        </p:txBody>
      </p:sp>
    </p:spTree>
    <p:extLst>
      <p:ext uri="{BB962C8B-B14F-4D97-AF65-F5344CB8AC3E}">
        <p14:creationId xmlns:p14="http://schemas.microsoft.com/office/powerpoint/2010/main" val="8821518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En blanco">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r>
              <a:rPr lang="es-ES"/>
              <a:t>MSc. Aracelys García Armenteros</a:t>
            </a:r>
          </a:p>
        </p:txBody>
      </p:sp>
      <p:sp>
        <p:nvSpPr>
          <p:cNvPr id="8" name="Footer Placeholder 7"/>
          <p:cNvSpPr>
            <a:spLocks noGrp="1"/>
          </p:cNvSpPr>
          <p:nvPr>
            <p:ph type="ftr" sz="quarter" idx="11"/>
          </p:nvPr>
        </p:nvSpPr>
        <p:spPr/>
        <p:txBody>
          <a:bodyPr/>
          <a:lstStyle>
            <a:lvl1pPr>
              <a:defRPr>
                <a:solidFill>
                  <a:srgbClr val="FFFFFF"/>
                </a:solidFill>
              </a:defRPr>
            </a:lvl1pPr>
          </a:lstStyle>
          <a:p>
            <a:r>
              <a:rPr lang="es-ES"/>
              <a:t>Gestión de Proyectos. Planificación y estimación.</a:t>
            </a:r>
          </a:p>
        </p:txBody>
      </p:sp>
      <p:sp>
        <p:nvSpPr>
          <p:cNvPr id="9" name="Slide Number Placeholder 8"/>
          <p:cNvSpPr>
            <a:spLocks noGrp="1"/>
          </p:cNvSpPr>
          <p:nvPr>
            <p:ph type="sldNum" sz="quarter" idx="12"/>
          </p:nvPr>
        </p:nvSpPr>
        <p:spPr/>
        <p:txBody>
          <a:bodyPr/>
          <a:lstStyle/>
          <a:p>
            <a:fld id="{BC4EE0E4-9C8A-4542-A491-318C3530755B}" type="slidenum">
              <a:rPr lang="es-ES" smtClean="0"/>
              <a:t>‹Nº›</a:t>
            </a:fld>
            <a:endParaRPr lang="es-ES"/>
          </a:p>
        </p:txBody>
      </p:sp>
    </p:spTree>
    <p:extLst>
      <p:ext uri="{BB962C8B-B14F-4D97-AF65-F5344CB8AC3E}">
        <p14:creationId xmlns:p14="http://schemas.microsoft.com/office/powerpoint/2010/main" val="97941349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ido con título">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s-ES"/>
              <a:t>Haga clic para modificar el estilo de título del patrón</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r>
              <a:rPr lang="es-ES"/>
              <a:t>MSc. Aracelys García Armenteros</a:t>
            </a:r>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r>
              <a:rPr lang="es-ES"/>
              <a:t>Gestión de Proyectos. Planificación y estimación.</a:t>
            </a:r>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BC4EE0E4-9C8A-4542-A491-318C3530755B}" type="slidenum">
              <a:rPr lang="es-ES" smtClean="0"/>
              <a:t>‹Nº›</a:t>
            </a:fld>
            <a:endParaRPr lang="es-ES"/>
          </a:p>
        </p:txBody>
      </p:sp>
    </p:spTree>
    <p:extLst>
      <p:ext uri="{BB962C8B-B14F-4D97-AF65-F5344CB8AC3E}">
        <p14:creationId xmlns:p14="http://schemas.microsoft.com/office/powerpoint/2010/main" val="23468659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Imagen con título">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645" cy="822960"/>
          </a:xfrm>
        </p:spPr>
        <p:txBody>
          <a:bodyPr tIns="0" bIns="0" anchor="b">
            <a:noAutofit/>
          </a:bodyPr>
          <a:lstStyle>
            <a:lvl1pPr>
              <a:defRPr sz="3600" b="0">
                <a:solidFill>
                  <a:srgbClr val="FFFFFF"/>
                </a:solidFill>
              </a:defRPr>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15" y="0"/>
            <a:ext cx="12191985" cy="4915076"/>
          </a:xfrm>
          <a:solidFill>
            <a:schemeClr val="bg2">
              <a:lumMod val="90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1097280" y="5907024"/>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
        <p:nvSpPr>
          <p:cNvPr id="5" name="Date Placeholder 4"/>
          <p:cNvSpPr>
            <a:spLocks noGrp="1"/>
          </p:cNvSpPr>
          <p:nvPr>
            <p:ph type="dt" sz="half" idx="10"/>
          </p:nvPr>
        </p:nvSpPr>
        <p:spPr/>
        <p:txBody>
          <a:bodyPr/>
          <a:lstStyle/>
          <a:p>
            <a:r>
              <a:rPr lang="es-ES"/>
              <a:t>MSc. Aracelys García Armenteros</a:t>
            </a:r>
          </a:p>
        </p:txBody>
      </p:sp>
      <p:sp>
        <p:nvSpPr>
          <p:cNvPr id="6" name="Footer Placeholder 5"/>
          <p:cNvSpPr>
            <a:spLocks noGrp="1"/>
          </p:cNvSpPr>
          <p:nvPr>
            <p:ph type="ftr" sz="quarter" idx="11"/>
          </p:nvPr>
        </p:nvSpPr>
        <p:spPr/>
        <p:txBody>
          <a:bodyPr/>
          <a:lstStyle/>
          <a:p>
            <a:r>
              <a:rPr lang="es-ES"/>
              <a:t>Gestión de Proyectos. Planificación y estimación.</a:t>
            </a:r>
          </a:p>
        </p:txBody>
      </p:sp>
      <p:sp>
        <p:nvSpPr>
          <p:cNvPr id="7" name="Slide Number Placeholder 6"/>
          <p:cNvSpPr>
            <a:spLocks noGrp="1"/>
          </p:cNvSpPr>
          <p:nvPr>
            <p:ph type="sldNum" sz="quarter" idx="12"/>
          </p:nvPr>
        </p:nvSpPr>
        <p:spPr/>
        <p:txBody>
          <a:bodyPr/>
          <a:lstStyle/>
          <a:p>
            <a:fld id="{BC4EE0E4-9C8A-4542-A491-318C3530755B}" type="slidenum">
              <a:rPr lang="es-ES" smtClean="0"/>
              <a:t>‹Nº›</a:t>
            </a:fld>
            <a:endParaRPr lang="es-ES"/>
          </a:p>
        </p:txBody>
      </p:sp>
    </p:spTree>
    <p:extLst>
      <p:ext uri="{BB962C8B-B14F-4D97-AF65-F5344CB8AC3E}">
        <p14:creationId xmlns:p14="http://schemas.microsoft.com/office/powerpoint/2010/main" val="37656021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r>
              <a:rPr lang="es-ES"/>
              <a:t>MSc. Aracelys García Armenteros</a:t>
            </a:r>
          </a:p>
        </p:txBody>
      </p:sp>
      <p:sp>
        <p:nvSpPr>
          <p:cNvPr id="5" name="Footer Placeholder 4"/>
          <p:cNvSpPr>
            <a:spLocks noGrp="1"/>
          </p:cNvSpPr>
          <p:nvPr>
            <p:ph type="ftr" sz="quarter" idx="11"/>
          </p:nvPr>
        </p:nvSpPr>
        <p:spPr/>
        <p:txBody>
          <a:bodyPr/>
          <a:lstStyle/>
          <a:p>
            <a:r>
              <a:rPr lang="es-ES"/>
              <a:t>Gestión de Proyectos. Planificación y estimación.</a:t>
            </a:r>
          </a:p>
        </p:txBody>
      </p:sp>
      <p:sp>
        <p:nvSpPr>
          <p:cNvPr id="6" name="Slide Number Placeholder 5"/>
          <p:cNvSpPr>
            <a:spLocks noGrp="1"/>
          </p:cNvSpPr>
          <p:nvPr>
            <p:ph type="sldNum" sz="quarter" idx="12"/>
          </p:nvPr>
        </p:nvSpPr>
        <p:spPr/>
        <p:txBody>
          <a:bodyPr/>
          <a:lstStyle/>
          <a:p>
            <a:fld id="{BC4EE0E4-9C8A-4542-A491-318C3530755B}" type="slidenum">
              <a:rPr lang="es-ES" smtClean="0"/>
              <a:t>‹Nº›</a:t>
            </a:fld>
            <a:endParaRPr lang="es-ES"/>
          </a:p>
        </p:txBody>
      </p:sp>
    </p:spTree>
    <p:extLst>
      <p:ext uri="{BB962C8B-B14F-4D97-AF65-F5344CB8AC3E}">
        <p14:creationId xmlns:p14="http://schemas.microsoft.com/office/powerpoint/2010/main" val="37378714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Título vertical y texto">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2302"/>
            <a:ext cx="2628900" cy="5759898"/>
          </a:xfrm>
        </p:spPr>
        <p:txBody>
          <a:bodyPr vert="eaVert"/>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838200" y="412302"/>
            <a:ext cx="7734300" cy="5759898"/>
          </a:xfrm>
        </p:spPr>
        <p:txBody>
          <a:bodyPr vert="eaVert" lIns="45720" tIns="0" rIns="45720" bIns="0"/>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r>
              <a:rPr lang="es-ES"/>
              <a:t>MSc. Aracelys García Armenteros</a:t>
            </a:r>
          </a:p>
        </p:txBody>
      </p:sp>
      <p:sp>
        <p:nvSpPr>
          <p:cNvPr id="5" name="Footer Placeholder 4"/>
          <p:cNvSpPr>
            <a:spLocks noGrp="1"/>
          </p:cNvSpPr>
          <p:nvPr>
            <p:ph type="ftr" sz="quarter" idx="11"/>
          </p:nvPr>
        </p:nvSpPr>
        <p:spPr/>
        <p:txBody>
          <a:bodyPr/>
          <a:lstStyle/>
          <a:p>
            <a:r>
              <a:rPr lang="es-ES"/>
              <a:t>Gestión de Proyectos. Planificación y estimación.</a:t>
            </a:r>
          </a:p>
        </p:txBody>
      </p:sp>
      <p:sp>
        <p:nvSpPr>
          <p:cNvPr id="6" name="Slide Number Placeholder 5"/>
          <p:cNvSpPr>
            <a:spLocks noGrp="1"/>
          </p:cNvSpPr>
          <p:nvPr>
            <p:ph type="sldNum" sz="quarter" idx="12"/>
          </p:nvPr>
        </p:nvSpPr>
        <p:spPr/>
        <p:txBody>
          <a:bodyPr/>
          <a:lstStyle/>
          <a:p>
            <a:fld id="{BC4EE0E4-9C8A-4542-A491-318C3530755B}" type="slidenum">
              <a:rPr lang="es-ES" smtClean="0"/>
              <a:t>‹Nº›</a:t>
            </a:fld>
            <a:endParaRPr lang="es-ES"/>
          </a:p>
        </p:txBody>
      </p:sp>
    </p:spTree>
    <p:extLst>
      <p:ext uri="{BB962C8B-B14F-4D97-AF65-F5344CB8AC3E}">
        <p14:creationId xmlns:p14="http://schemas.microsoft.com/office/powerpoint/2010/main" val="113650087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iseño personalizado">
    <p:spTree>
      <p:nvGrpSpPr>
        <p:cNvPr id="1" name=""/>
        <p:cNvGrpSpPr/>
        <p:nvPr/>
      </p:nvGrpSpPr>
      <p:grpSpPr>
        <a:xfrm>
          <a:off x="0" y="0"/>
          <a:ext cx="0" cy="0"/>
          <a:chOff x="0" y="0"/>
          <a:chExt cx="0" cy="0"/>
        </a:xfrm>
      </p:grpSpPr>
      <p:sp>
        <p:nvSpPr>
          <p:cNvPr id="2" name="1 Título"/>
          <p:cNvSpPr>
            <a:spLocks noGrp="1"/>
          </p:cNvSpPr>
          <p:nvPr>
            <p:ph type="title"/>
          </p:nvPr>
        </p:nvSpPr>
        <p:spPr>
          <a:xfrm>
            <a:off x="1826685" y="252414"/>
            <a:ext cx="9749367" cy="1189037"/>
          </a:xfrm>
        </p:spPr>
        <p:txBody>
          <a:bodyPr/>
          <a:lstStyle/>
          <a:p>
            <a:r>
              <a:rPr lang="es-ES"/>
              <a:t>Haga clic para modificar el estilo de título del patrón</a:t>
            </a:r>
            <a:endParaRPr lang="en-US"/>
          </a:p>
        </p:txBody>
      </p:sp>
      <p:sp>
        <p:nvSpPr>
          <p:cNvPr id="3" name="Rectangle 7"/>
          <p:cNvSpPr>
            <a:spLocks noGrp="1" noChangeArrowheads="1"/>
          </p:cNvSpPr>
          <p:nvPr>
            <p:ph type="dt" idx="10"/>
          </p:nvPr>
        </p:nvSpPr>
        <p:spPr>
          <a:ln/>
        </p:spPr>
        <p:txBody>
          <a:bodyPr/>
          <a:lstStyle>
            <a:lvl1pPr>
              <a:defRPr/>
            </a:lvl1pPr>
          </a:lstStyle>
          <a:p>
            <a:pPr>
              <a:defRPr/>
            </a:pPr>
            <a:r>
              <a:rPr lang="es-ES"/>
              <a:t>MSc. Aracelys García Armenteros</a:t>
            </a:r>
            <a:endParaRPr lang="es-ES_tradnl"/>
          </a:p>
        </p:txBody>
      </p:sp>
      <p:sp>
        <p:nvSpPr>
          <p:cNvPr id="4" name="Rectangle 8"/>
          <p:cNvSpPr>
            <a:spLocks noGrp="1" noChangeArrowheads="1"/>
          </p:cNvSpPr>
          <p:nvPr>
            <p:ph type="ftr" idx="11"/>
          </p:nvPr>
        </p:nvSpPr>
        <p:spPr>
          <a:ln/>
        </p:spPr>
        <p:txBody>
          <a:bodyPr/>
          <a:lstStyle>
            <a:lvl1pPr>
              <a:defRPr/>
            </a:lvl1pPr>
          </a:lstStyle>
          <a:p>
            <a:pPr>
              <a:defRPr/>
            </a:pPr>
            <a:r>
              <a:rPr lang="es-ES"/>
              <a:t>Gestión de Proyectos. Planificación y estimación.</a:t>
            </a:r>
            <a:endParaRPr lang="en-US"/>
          </a:p>
        </p:txBody>
      </p:sp>
      <p:sp>
        <p:nvSpPr>
          <p:cNvPr id="5" name="Rectangle 9"/>
          <p:cNvSpPr>
            <a:spLocks noGrp="1" noChangeArrowheads="1"/>
          </p:cNvSpPr>
          <p:nvPr>
            <p:ph type="sldNum" idx="12"/>
          </p:nvPr>
        </p:nvSpPr>
        <p:spPr>
          <a:ln/>
        </p:spPr>
        <p:txBody>
          <a:bodyPr/>
          <a:lstStyle>
            <a:lvl1pPr>
              <a:defRPr/>
            </a:lvl1pPr>
          </a:lstStyle>
          <a:p>
            <a:fld id="{263DA378-A288-4DEE-B6C0-5484F297BAE2}" type="slidenum">
              <a:rPr lang="en-US"/>
              <a:pPr/>
              <a:t>‹Nº›</a:t>
            </a:fld>
            <a:endParaRPr lang="en-US"/>
          </a:p>
        </p:txBody>
      </p:sp>
    </p:spTree>
    <p:extLst>
      <p:ext uri="{BB962C8B-B14F-4D97-AF65-F5344CB8AC3E}">
        <p14:creationId xmlns:p14="http://schemas.microsoft.com/office/powerpoint/2010/main" val="14497056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r>
              <a:rPr lang="es-ES"/>
              <a:t>MSc. Aracelys García Armenteros</a:t>
            </a:r>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r>
              <a:rPr lang="es-ES"/>
              <a:t>Gestión de Proyectos. Planificación y estimación.</a:t>
            </a:r>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BC4EE0E4-9C8A-4542-A491-318C3530755B}" type="slidenum">
              <a:rPr lang="es-ES" smtClean="0"/>
              <a:t>‹Nº›</a:t>
            </a:fld>
            <a:endParaRPr lang="es-ES"/>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83470030"/>
      </p:ext>
    </p:extLst>
  </p:cSld>
  <p:clrMap bg1="lt1" tx1="dk1" bg2="lt2" tx2="dk2" accent1="accent1" accent2="accent2" accent3="accent3" accent4="accent4" accent5="accent5" accent6="accent6" hlink="hlink" folHlink="folHlink"/>
  <p:sldLayoutIdLst>
    <p:sldLayoutId id="2147483771" r:id="rId1"/>
    <p:sldLayoutId id="2147483772" r:id="rId2"/>
    <p:sldLayoutId id="2147483773" r:id="rId3"/>
    <p:sldLayoutId id="2147483774" r:id="rId4"/>
    <p:sldLayoutId id="2147483775" r:id="rId5"/>
    <p:sldLayoutId id="2147483776" r:id="rId6"/>
    <p:sldLayoutId id="2147483777" r:id="rId7"/>
    <p:sldLayoutId id="2147483778" r:id="rId8"/>
    <p:sldLayoutId id="2147483779" r:id="rId9"/>
    <p:sldLayoutId id="2147483780" r:id="rId10"/>
    <p:sldLayoutId id="2147483781" r:id="rId11"/>
    <p:sldLayoutId id="2147483782" r:id="rId12"/>
  </p:sldLayoutIdLst>
  <p:hf sldNum="0" hdr="0"/>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gif"/><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image" Target="../media/image6.gif"/><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3.gif"/><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7.gif"/><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8.xml"/><Relationship Id="rId1" Type="http://schemas.openxmlformats.org/officeDocument/2006/relationships/slideLayout" Target="../slideLayouts/slideLayout2.xml"/><Relationship Id="rId5" Type="http://schemas.openxmlformats.org/officeDocument/2006/relationships/image" Target="../media/image19.PNG"/><Relationship Id="rId4" Type="http://schemas.microsoft.com/office/2007/relationships/hdphoto" Target="../media/hdphoto1.wdp"/></Relationships>
</file>

<file path=ppt/slides/_rels/slide1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2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2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5.gif"/><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8.gif"/><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8.xml"/><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29.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9.xml"/><Relationship Id="rId1" Type="http://schemas.openxmlformats.org/officeDocument/2006/relationships/slideLayout" Target="../slideLayouts/slideLayout2.xml"/><Relationship Id="rId4" Type="http://schemas.openxmlformats.org/officeDocument/2006/relationships/image" Target="../media/image32.PNG"/></Relationships>
</file>

<file path=ppt/slides/_rels/slide30.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33.xml"/><Relationship Id="rId1" Type="http://schemas.openxmlformats.org/officeDocument/2006/relationships/slideLayout" Target="../slideLayouts/slideLayout2.xml"/><Relationship Id="rId5" Type="http://schemas.openxmlformats.org/officeDocument/2006/relationships/image" Target="../media/image37.png"/><Relationship Id="rId4" Type="http://schemas.openxmlformats.org/officeDocument/2006/relationships/image" Target="../media/image36.png"/></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36.xml"/><Relationship Id="rId1" Type="http://schemas.openxmlformats.org/officeDocument/2006/relationships/slideLayout" Target="../slideLayouts/slideLayout2.xml"/><Relationship Id="rId5" Type="http://schemas.openxmlformats.org/officeDocument/2006/relationships/image" Target="../media/image40.PNG"/><Relationship Id="rId4" Type="http://schemas.openxmlformats.org/officeDocument/2006/relationships/image" Target="../media/image39.PNG"/></Relationships>
</file>

<file path=ppt/slides/_rels/slide37.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37.xml"/><Relationship Id="rId1" Type="http://schemas.openxmlformats.org/officeDocument/2006/relationships/slideLayout" Target="../slideLayouts/slideLayout2.xml"/><Relationship Id="rId4" Type="http://schemas.openxmlformats.org/officeDocument/2006/relationships/image" Target="../media/image42.PNG"/></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43.xml"/><Relationship Id="rId1" Type="http://schemas.openxmlformats.org/officeDocument/2006/relationships/slideLayout" Target="../slideLayouts/slideLayout2.xml"/><Relationship Id="rId4" Type="http://schemas.openxmlformats.org/officeDocument/2006/relationships/image" Target="../media/image47.png"/></Relationships>
</file>

<file path=ppt/slides/_rels/slide44.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44.xml"/><Relationship Id="rId1" Type="http://schemas.openxmlformats.org/officeDocument/2006/relationships/slideLayout" Target="../slideLayouts/slideLayout2.xml"/><Relationship Id="rId4" Type="http://schemas.openxmlformats.org/officeDocument/2006/relationships/image" Target="../media/image49.png"/></Relationships>
</file>

<file path=ppt/slides/_rels/slide45.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45.xml"/><Relationship Id="rId1" Type="http://schemas.openxmlformats.org/officeDocument/2006/relationships/slideLayout" Target="../slideLayouts/slideLayout2.xml"/><Relationship Id="rId5" Type="http://schemas.openxmlformats.org/officeDocument/2006/relationships/image" Target="../media/image52.png"/><Relationship Id="rId4" Type="http://schemas.openxmlformats.org/officeDocument/2006/relationships/image" Target="../media/image51.png"/></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7" name="Rectangle 1"/>
          <p:cNvSpPr>
            <a:spLocks noGrp="1" noChangeArrowheads="1"/>
          </p:cNvSpPr>
          <p:nvPr>
            <p:ph type="title"/>
          </p:nvPr>
        </p:nvSpPr>
        <p:spPr>
          <a:xfrm>
            <a:off x="815009" y="2168338"/>
            <a:ext cx="11072191" cy="1752600"/>
          </a:xfrm>
        </p:spPr>
        <p:txBody>
          <a:bodyPr>
            <a:normAutofit fontScale="90000"/>
          </a:bodyPr>
          <a:lstStyle/>
          <a:p>
            <a:pPr algn="ct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s-ES" dirty="0" smtClean="0"/>
              <a:t>Patrones </a:t>
            </a:r>
            <a:r>
              <a:rPr lang="es-ES" dirty="0"/>
              <a:t>de la capa de acceso a datos</a:t>
            </a:r>
            <a:r>
              <a:rPr lang="es-ES" dirty="0" smtClean="0"/>
              <a:t>.</a:t>
            </a:r>
            <a:br>
              <a:rPr lang="es-ES" dirty="0" smtClean="0"/>
            </a:br>
            <a:r>
              <a:rPr lang="es-ES" dirty="0" smtClean="0"/>
              <a:t>Patrones </a:t>
            </a:r>
            <a:r>
              <a:rPr lang="es-ES" dirty="0"/>
              <a:t>de Presentación de Interfaz usuario (UI) </a:t>
            </a:r>
          </a:p>
        </p:txBody>
      </p:sp>
      <p:sp>
        <p:nvSpPr>
          <p:cNvPr id="3" name="CuadroTexto 2"/>
          <p:cNvSpPr txBox="1"/>
          <p:nvPr/>
        </p:nvSpPr>
        <p:spPr>
          <a:xfrm>
            <a:off x="4604510" y="4601224"/>
            <a:ext cx="2963375" cy="461665"/>
          </a:xfrm>
          <a:prstGeom prst="rect">
            <a:avLst/>
          </a:prstGeom>
          <a:noFill/>
        </p:spPr>
        <p:txBody>
          <a:bodyPr wrap="none" rtlCol="0">
            <a:spAutoFit/>
          </a:bodyPr>
          <a:lstStyle/>
          <a:p>
            <a:pPr algn="ctr"/>
            <a:r>
              <a:rPr lang="es-ES" sz="2400" dirty="0">
                <a:latin typeface="+mj-lt"/>
              </a:rPr>
              <a:t>Ingeniería de </a:t>
            </a:r>
            <a:r>
              <a:rPr lang="es-ES" sz="2400" dirty="0" smtClean="0">
                <a:latin typeface="+mj-lt"/>
              </a:rPr>
              <a:t>Software</a:t>
            </a:r>
            <a:endParaRPr lang="es-ES" sz="2400" dirty="0">
              <a:latin typeface="+mj-lt"/>
            </a:endParaRPr>
          </a:p>
        </p:txBody>
      </p:sp>
    </p:spTree>
    <p:extLst>
      <p:ext uri="{BB962C8B-B14F-4D97-AF65-F5344CB8AC3E}">
        <p14:creationId xmlns:p14="http://schemas.microsoft.com/office/powerpoint/2010/main" val="3810362731"/>
      </p:ext>
    </p:extLst>
  </p:cSld>
  <p:clrMapOvr>
    <a:masterClrMapping/>
  </p:clrMapOvr>
  <p:transition spd="med"/>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idx="1"/>
          </p:nvPr>
        </p:nvSpPr>
        <p:spPr>
          <a:xfrm>
            <a:off x="1255350" y="1918772"/>
            <a:ext cx="10472823" cy="4421187"/>
          </a:xfrm>
        </p:spPr>
        <p:txBody>
          <a:bodyPr>
            <a:normAutofit/>
          </a:bodyPr>
          <a:lstStyle/>
          <a:p>
            <a:pPr marL="552450" indent="-552450">
              <a:buFont typeface="Wingdings" panose="05000000000000000000" pitchFamily="2" charset="2"/>
              <a:buAutoNum type="arabicPeriod"/>
              <a:tabLst>
                <a:tab pos="341313" algn="l"/>
                <a:tab pos="911225" algn="l"/>
                <a:tab pos="1825625" algn="l"/>
                <a:tab pos="2740025" algn="l"/>
                <a:tab pos="3654425" algn="l"/>
                <a:tab pos="4568825" algn="l"/>
                <a:tab pos="5483225" algn="l"/>
                <a:tab pos="6397625" algn="l"/>
                <a:tab pos="7312025" algn="l"/>
                <a:tab pos="8226425" algn="l"/>
                <a:tab pos="9140825" algn="l"/>
                <a:tab pos="10055225" algn="l"/>
              </a:tabLst>
            </a:pPr>
            <a:r>
              <a:rPr lang="es-ES" sz="2800" dirty="0" smtClean="0"/>
              <a:t>Patrones </a:t>
            </a:r>
            <a:r>
              <a:rPr lang="es-ES" sz="2800" dirty="0"/>
              <a:t>de acceso a datos </a:t>
            </a:r>
            <a:endParaRPr lang="es-ES" sz="2800" dirty="0" smtClean="0"/>
          </a:p>
          <a:p>
            <a:pPr marL="845058" lvl="1" indent="-552450">
              <a:buFont typeface="Wingdings" pitchFamily="2" charset="2"/>
              <a:buChar char="ü"/>
              <a:tabLst>
                <a:tab pos="341313" algn="l"/>
                <a:tab pos="911225" algn="l"/>
                <a:tab pos="1825625" algn="l"/>
                <a:tab pos="2740025" algn="l"/>
                <a:tab pos="3654425" algn="l"/>
                <a:tab pos="4568825" algn="l"/>
                <a:tab pos="5483225" algn="l"/>
                <a:tab pos="6397625" algn="l"/>
                <a:tab pos="7312025" algn="l"/>
                <a:tab pos="8226425" algn="l"/>
                <a:tab pos="9140825" algn="l"/>
                <a:tab pos="10055225" algn="l"/>
              </a:tabLst>
            </a:pPr>
            <a:r>
              <a:rPr lang="en-US" sz="2400" dirty="0" smtClean="0"/>
              <a:t>Origen </a:t>
            </a:r>
            <a:r>
              <a:rPr lang="en-US" sz="2400" dirty="0"/>
              <a:t>de </a:t>
            </a:r>
            <a:r>
              <a:rPr lang="en-US" sz="2400" dirty="0" err="1"/>
              <a:t>datos</a:t>
            </a:r>
            <a:r>
              <a:rPr lang="en-US" sz="2400" dirty="0"/>
              <a:t> :Active </a:t>
            </a:r>
            <a:r>
              <a:rPr lang="en-US" sz="2400" dirty="0" err="1" smtClean="0"/>
              <a:t>Record,Table</a:t>
            </a:r>
            <a:r>
              <a:rPr lang="en-US" sz="2400" dirty="0" smtClean="0"/>
              <a:t> </a:t>
            </a:r>
            <a:r>
              <a:rPr lang="en-US" sz="2400" dirty="0"/>
              <a:t>Data </a:t>
            </a:r>
            <a:r>
              <a:rPr lang="en-US" sz="2400" dirty="0" err="1" smtClean="0"/>
              <a:t>Gateway,Data</a:t>
            </a:r>
            <a:r>
              <a:rPr lang="en-US" sz="2400" dirty="0" smtClean="0"/>
              <a:t> </a:t>
            </a:r>
            <a:r>
              <a:rPr lang="en-US" sz="2400" dirty="0" err="1" smtClean="0"/>
              <a:t>Mapper,Row</a:t>
            </a:r>
            <a:r>
              <a:rPr lang="en-US" sz="2400" dirty="0" smtClean="0"/>
              <a:t> </a:t>
            </a:r>
            <a:r>
              <a:rPr lang="en-US" sz="2400" dirty="0"/>
              <a:t>Data Gateway</a:t>
            </a:r>
          </a:p>
          <a:p>
            <a:pPr marL="845058" lvl="1" indent="-552450">
              <a:buFont typeface="Wingdings" pitchFamily="2" charset="2"/>
              <a:buChar char="ü"/>
              <a:tabLst>
                <a:tab pos="341313" algn="l"/>
                <a:tab pos="911225" algn="l"/>
                <a:tab pos="1825625" algn="l"/>
                <a:tab pos="2740025" algn="l"/>
                <a:tab pos="3654425" algn="l"/>
                <a:tab pos="4568825" algn="l"/>
                <a:tab pos="5483225" algn="l"/>
                <a:tab pos="6397625" algn="l"/>
                <a:tab pos="7312025" algn="l"/>
                <a:tab pos="8226425" algn="l"/>
                <a:tab pos="9140825" algn="l"/>
                <a:tab pos="10055225" algn="l"/>
              </a:tabLst>
            </a:pPr>
            <a:r>
              <a:rPr lang="es-ES" sz="2400" dirty="0" smtClean="0"/>
              <a:t>Comportamiento Objeto-Relacional:</a:t>
            </a:r>
            <a:r>
              <a:rPr lang="en-US" sz="2400" dirty="0"/>
              <a:t>Unit of </a:t>
            </a:r>
            <a:r>
              <a:rPr lang="en-US" sz="2400" dirty="0" err="1" smtClean="0"/>
              <a:t>Work,Identity</a:t>
            </a:r>
            <a:r>
              <a:rPr lang="en-US" sz="2400" dirty="0" smtClean="0"/>
              <a:t> </a:t>
            </a:r>
            <a:r>
              <a:rPr lang="en-US" sz="2400" dirty="0" err="1" smtClean="0"/>
              <a:t>Map,Lazy</a:t>
            </a:r>
            <a:r>
              <a:rPr lang="en-US" sz="2400" dirty="0" smtClean="0"/>
              <a:t> Load</a:t>
            </a:r>
          </a:p>
          <a:p>
            <a:pPr marL="845058" lvl="1" indent="-552450">
              <a:buFont typeface="Wingdings" pitchFamily="2" charset="2"/>
              <a:buChar char="ü"/>
              <a:tabLst>
                <a:tab pos="341313" algn="l"/>
                <a:tab pos="911225" algn="l"/>
                <a:tab pos="1825625" algn="l"/>
                <a:tab pos="2740025" algn="l"/>
                <a:tab pos="3654425" algn="l"/>
                <a:tab pos="4568825" algn="l"/>
                <a:tab pos="5483225" algn="l"/>
                <a:tab pos="6397625" algn="l"/>
                <a:tab pos="7312025" algn="l"/>
                <a:tab pos="8226425" algn="l"/>
                <a:tab pos="9140825" algn="l"/>
                <a:tab pos="10055225" algn="l"/>
              </a:tabLst>
            </a:pPr>
            <a:r>
              <a:rPr lang="en-US" sz="2400" dirty="0" err="1" smtClean="0"/>
              <a:t>Estructura</a:t>
            </a:r>
            <a:r>
              <a:rPr lang="en-US" sz="2400" dirty="0"/>
              <a:t> </a:t>
            </a:r>
            <a:r>
              <a:rPr lang="en-US" sz="2400" dirty="0" err="1"/>
              <a:t>Objecto-Relacional</a:t>
            </a:r>
            <a:r>
              <a:rPr lang="en-US" sz="2400" dirty="0" smtClean="0"/>
              <a:t>: Repository  </a:t>
            </a:r>
          </a:p>
          <a:p>
            <a:pPr marL="845058" lvl="1" indent="-552450">
              <a:buFont typeface="Wingdings" pitchFamily="2" charset="2"/>
              <a:buChar char="ü"/>
              <a:tabLst>
                <a:tab pos="341313" algn="l"/>
                <a:tab pos="911225" algn="l"/>
                <a:tab pos="1825625" algn="l"/>
                <a:tab pos="2740025" algn="l"/>
                <a:tab pos="3654425" algn="l"/>
                <a:tab pos="4568825" algn="l"/>
                <a:tab pos="5483225" algn="l"/>
                <a:tab pos="6397625" algn="l"/>
                <a:tab pos="7312025" algn="l"/>
                <a:tab pos="8226425" algn="l"/>
                <a:tab pos="9140825" algn="l"/>
                <a:tab pos="10055225" algn="l"/>
              </a:tabLst>
            </a:pPr>
            <a:r>
              <a:rPr lang="en-US" sz="2400" dirty="0" smtClean="0"/>
              <a:t>CQRS</a:t>
            </a:r>
          </a:p>
          <a:p>
            <a:pPr marL="845058" lvl="1" indent="-552450">
              <a:buFont typeface="Wingdings" pitchFamily="2" charset="2"/>
              <a:buChar char="ü"/>
              <a:tabLst>
                <a:tab pos="341313" algn="l"/>
                <a:tab pos="911225" algn="l"/>
                <a:tab pos="1825625" algn="l"/>
                <a:tab pos="2740025" algn="l"/>
                <a:tab pos="3654425" algn="l"/>
                <a:tab pos="4568825" algn="l"/>
                <a:tab pos="5483225" algn="l"/>
                <a:tab pos="6397625" algn="l"/>
                <a:tab pos="7312025" algn="l"/>
                <a:tab pos="8226425" algn="l"/>
                <a:tab pos="9140825" algn="l"/>
                <a:tab pos="10055225" algn="l"/>
              </a:tabLst>
            </a:pPr>
            <a:r>
              <a:rPr lang="es-ES" sz="2400"/>
              <a:t>ORM</a:t>
            </a:r>
          </a:p>
          <a:p>
            <a:pPr marL="845058" lvl="1" indent="-552450">
              <a:buFont typeface="Wingdings" pitchFamily="2" charset="2"/>
              <a:buChar char="ü"/>
              <a:tabLst>
                <a:tab pos="341313" algn="l"/>
                <a:tab pos="911225" algn="l"/>
                <a:tab pos="1825625" algn="l"/>
                <a:tab pos="2740025" algn="l"/>
                <a:tab pos="3654425" algn="l"/>
                <a:tab pos="4568825" algn="l"/>
                <a:tab pos="5483225" algn="l"/>
                <a:tab pos="6397625" algn="l"/>
                <a:tab pos="7312025" algn="l"/>
                <a:tab pos="8226425" algn="l"/>
                <a:tab pos="9140825" algn="l"/>
                <a:tab pos="10055225" algn="l"/>
              </a:tabLst>
            </a:pPr>
            <a:endParaRPr lang="es-ES" sz="2400" dirty="0" smtClean="0"/>
          </a:p>
          <a:p>
            <a:pPr marL="845058" lvl="1" indent="-552450">
              <a:buFont typeface="Wingdings" pitchFamily="2" charset="2"/>
              <a:buChar char="ü"/>
              <a:tabLst>
                <a:tab pos="341313" algn="l"/>
                <a:tab pos="911225" algn="l"/>
                <a:tab pos="1825625" algn="l"/>
                <a:tab pos="2740025" algn="l"/>
                <a:tab pos="3654425" algn="l"/>
                <a:tab pos="4568825" algn="l"/>
                <a:tab pos="5483225" algn="l"/>
                <a:tab pos="6397625" algn="l"/>
                <a:tab pos="7312025" algn="l"/>
                <a:tab pos="8226425" algn="l"/>
                <a:tab pos="9140825" algn="l"/>
                <a:tab pos="10055225" algn="l"/>
              </a:tabLst>
            </a:pPr>
            <a:endParaRPr lang="es-ES" sz="2400" dirty="0" smtClean="0"/>
          </a:p>
          <a:p>
            <a:pPr marL="552450" indent="-552450">
              <a:buFont typeface="Wingdings" pitchFamily="2" charset="2"/>
              <a:buChar char="ü"/>
              <a:tabLst>
                <a:tab pos="341313" algn="l"/>
                <a:tab pos="911225" algn="l"/>
                <a:tab pos="1825625" algn="l"/>
                <a:tab pos="2740025" algn="l"/>
                <a:tab pos="3654425" algn="l"/>
                <a:tab pos="4568825" algn="l"/>
                <a:tab pos="5483225" algn="l"/>
                <a:tab pos="6397625" algn="l"/>
                <a:tab pos="7312025" algn="l"/>
                <a:tab pos="8226425" algn="l"/>
                <a:tab pos="9140825" algn="l"/>
                <a:tab pos="10055225" algn="l"/>
              </a:tabLst>
            </a:pPr>
            <a:endParaRPr lang="es-ES" sz="2600" dirty="0" smtClean="0"/>
          </a:p>
          <a:p>
            <a:pPr marL="845058" lvl="1" indent="-552450">
              <a:buFont typeface="Wingdings" pitchFamily="2" charset="2"/>
              <a:buChar char="ü"/>
              <a:tabLst>
                <a:tab pos="341313" algn="l"/>
                <a:tab pos="911225" algn="l"/>
                <a:tab pos="1825625" algn="l"/>
                <a:tab pos="2740025" algn="l"/>
                <a:tab pos="3654425" algn="l"/>
                <a:tab pos="4568825" algn="l"/>
                <a:tab pos="5483225" algn="l"/>
                <a:tab pos="6397625" algn="l"/>
                <a:tab pos="7312025" algn="l"/>
                <a:tab pos="8226425" algn="l"/>
                <a:tab pos="9140825" algn="l"/>
                <a:tab pos="10055225" algn="l"/>
              </a:tabLst>
            </a:pPr>
            <a:endParaRPr lang="en-US" sz="2400" dirty="0"/>
          </a:p>
          <a:p>
            <a:pPr marL="552450" indent="-552450">
              <a:buFont typeface="Wingdings" panose="05000000000000000000" pitchFamily="2" charset="2"/>
              <a:buAutoNum type="arabicPeriod"/>
              <a:tabLst>
                <a:tab pos="341313" algn="l"/>
                <a:tab pos="911225" algn="l"/>
                <a:tab pos="1825625" algn="l"/>
                <a:tab pos="2740025" algn="l"/>
                <a:tab pos="3654425" algn="l"/>
                <a:tab pos="4568825" algn="l"/>
                <a:tab pos="5483225" algn="l"/>
                <a:tab pos="6397625" algn="l"/>
                <a:tab pos="7312025" algn="l"/>
                <a:tab pos="8226425" algn="l"/>
                <a:tab pos="9140825" algn="l"/>
                <a:tab pos="10055225" algn="l"/>
              </a:tabLst>
            </a:pPr>
            <a:endParaRPr lang="es-ES" sz="2800" dirty="0" smtClean="0">
              <a:cs typeface="Times New Roman" panose="02020603050405020304" pitchFamily="18" charset="0"/>
            </a:endParaRPr>
          </a:p>
          <a:p>
            <a:pPr marL="552450" indent="-552450">
              <a:buFont typeface="Wingdings" panose="05000000000000000000" pitchFamily="2" charset="2"/>
              <a:buAutoNum type="arabicPeriod"/>
              <a:tabLst>
                <a:tab pos="341313" algn="l"/>
                <a:tab pos="911225" algn="l"/>
                <a:tab pos="1825625" algn="l"/>
                <a:tab pos="2740025" algn="l"/>
                <a:tab pos="3654425" algn="l"/>
                <a:tab pos="4568825" algn="l"/>
                <a:tab pos="5483225" algn="l"/>
                <a:tab pos="6397625" algn="l"/>
                <a:tab pos="7312025" algn="l"/>
                <a:tab pos="8226425" algn="l"/>
                <a:tab pos="9140825" algn="l"/>
                <a:tab pos="10055225" algn="l"/>
              </a:tabLst>
            </a:pPr>
            <a:endParaRPr lang="es-ES_tradnl" sz="2800" dirty="0">
              <a:cs typeface="Times New Roman" panose="02020603050405020304" pitchFamily="18" charset="0"/>
            </a:endParaRPr>
          </a:p>
          <a:p>
            <a:pPr marL="552450" indent="-552450">
              <a:buNone/>
              <a:tabLst>
                <a:tab pos="341313" algn="l"/>
                <a:tab pos="911225" algn="l"/>
                <a:tab pos="1825625" algn="l"/>
                <a:tab pos="2740025" algn="l"/>
                <a:tab pos="3654425" algn="l"/>
                <a:tab pos="4568825" algn="l"/>
                <a:tab pos="5483225" algn="l"/>
                <a:tab pos="6397625" algn="l"/>
                <a:tab pos="7312025" algn="l"/>
                <a:tab pos="8226425" algn="l"/>
                <a:tab pos="9140825" algn="l"/>
                <a:tab pos="10055225" algn="l"/>
              </a:tabLst>
            </a:pPr>
            <a:endParaRPr lang="es-ES_tradnl" sz="2600" dirty="0">
              <a:cs typeface="Times New Roman" panose="02020603050405020304" pitchFamily="18" charset="0"/>
            </a:endParaRPr>
          </a:p>
        </p:txBody>
      </p:sp>
      <p:sp>
        <p:nvSpPr>
          <p:cNvPr id="2" name="Título 1"/>
          <p:cNvSpPr>
            <a:spLocks noGrp="1"/>
          </p:cNvSpPr>
          <p:nvPr>
            <p:ph type="title"/>
          </p:nvPr>
        </p:nvSpPr>
        <p:spPr/>
        <p:txBody>
          <a:bodyPr/>
          <a:lstStyle/>
          <a:p>
            <a:r>
              <a:rPr lang="es-ES" dirty="0"/>
              <a:t>Sumario:</a:t>
            </a:r>
          </a:p>
        </p:txBody>
      </p:sp>
    </p:spTree>
    <p:extLst>
      <p:ext uri="{BB962C8B-B14F-4D97-AF65-F5344CB8AC3E}">
        <p14:creationId xmlns:p14="http://schemas.microsoft.com/office/powerpoint/2010/main" val="3576632108"/>
      </p:ext>
    </p:extLst>
  </p:cSld>
  <p:clrMapOvr>
    <a:masterClrMapping/>
  </p:clrMapOvr>
  <p:transition spd="med"/>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idx="1"/>
          </p:nvPr>
        </p:nvSpPr>
        <p:spPr>
          <a:xfrm>
            <a:off x="1255350" y="1918772"/>
            <a:ext cx="10472823" cy="4421187"/>
          </a:xfrm>
        </p:spPr>
        <p:txBody>
          <a:bodyPr>
            <a:normAutofit/>
          </a:bodyPr>
          <a:lstStyle/>
          <a:p>
            <a:pPr>
              <a:buFont typeface="Wingdings" pitchFamily="2" charset="2"/>
              <a:buChar char="Ø"/>
            </a:pPr>
            <a:r>
              <a:rPr lang="es-ES" sz="2800" dirty="0" err="1" smtClean="0"/>
              <a:t>Patterns</a:t>
            </a:r>
            <a:r>
              <a:rPr lang="es-ES" sz="2800" dirty="0" smtClean="0"/>
              <a:t> </a:t>
            </a:r>
            <a:r>
              <a:rPr lang="es-ES" sz="2800" dirty="0"/>
              <a:t>of Enterprise </a:t>
            </a:r>
            <a:r>
              <a:rPr lang="es-ES" sz="2800" dirty="0" err="1"/>
              <a:t>Application</a:t>
            </a:r>
            <a:r>
              <a:rPr lang="es-ES" sz="2800" dirty="0"/>
              <a:t> </a:t>
            </a:r>
            <a:r>
              <a:rPr lang="es-ES" sz="2800" dirty="0" err="1"/>
              <a:t>Architecture</a:t>
            </a:r>
            <a:r>
              <a:rPr lang="es-ES" sz="2800" dirty="0"/>
              <a:t>”, Martin </a:t>
            </a:r>
            <a:r>
              <a:rPr lang="es-ES" sz="2800" dirty="0" err="1"/>
              <a:t>Fowler</a:t>
            </a:r>
            <a:r>
              <a:rPr lang="es-ES" sz="2800" dirty="0"/>
              <a:t> et al, Addison Wesley, 2002</a:t>
            </a:r>
          </a:p>
          <a:p>
            <a:pPr>
              <a:buFont typeface="Wingdings" pitchFamily="2" charset="2"/>
              <a:buChar char="Ø"/>
            </a:pPr>
            <a:r>
              <a:rPr lang="es-ES" sz="2800" dirty="0" err="1"/>
              <a:t>Website</a:t>
            </a:r>
            <a:r>
              <a:rPr lang="es-ES" sz="2800" dirty="0"/>
              <a:t> de Martin </a:t>
            </a:r>
            <a:r>
              <a:rPr lang="es-ES" sz="2800" dirty="0" err="1"/>
              <a:t>Fowler</a:t>
            </a:r>
            <a:r>
              <a:rPr lang="es-ES" sz="2800" dirty="0"/>
              <a:t> donde encontrarán numerosos artículos referidos a </a:t>
            </a:r>
            <a:r>
              <a:rPr lang="es-ES" sz="2800" dirty="0" smtClean="0"/>
              <a:t>patrones</a:t>
            </a:r>
          </a:p>
          <a:p>
            <a:pPr>
              <a:buFont typeface="Wingdings" pitchFamily="2" charset="2"/>
              <a:buChar char="Ø"/>
            </a:pPr>
            <a:r>
              <a:rPr lang="es-ES" sz="2800" dirty="0"/>
              <a:t>https://learn.microsoft.com/es-es/azure/architecture/patterns/cqrs </a:t>
            </a:r>
          </a:p>
          <a:p>
            <a:pPr marL="552450" indent="-552450">
              <a:buFont typeface="Wingdings" panose="05000000000000000000" pitchFamily="2" charset="2"/>
              <a:buAutoNum type="arabicPeriod" startAt="2"/>
              <a:tabLst>
                <a:tab pos="341313" algn="l"/>
                <a:tab pos="911225" algn="l"/>
                <a:tab pos="1825625" algn="l"/>
                <a:tab pos="2740025" algn="l"/>
                <a:tab pos="3654425" algn="l"/>
                <a:tab pos="4568825" algn="l"/>
                <a:tab pos="5483225" algn="l"/>
                <a:tab pos="6397625" algn="l"/>
                <a:tab pos="7312025" algn="l"/>
                <a:tab pos="8226425" algn="l"/>
                <a:tab pos="9140825" algn="l"/>
                <a:tab pos="10055225" algn="l"/>
              </a:tabLst>
            </a:pPr>
            <a:endParaRPr lang="es-ES" sz="2800" dirty="0" smtClean="0">
              <a:cs typeface="Times New Roman" panose="02020603050405020304" pitchFamily="18" charset="0"/>
            </a:endParaRPr>
          </a:p>
          <a:p>
            <a:pPr marL="552450" indent="-552450">
              <a:buFont typeface="Wingdings" panose="05000000000000000000" pitchFamily="2" charset="2"/>
              <a:buAutoNum type="arabicPeriod" startAt="2"/>
              <a:tabLst>
                <a:tab pos="341313" algn="l"/>
                <a:tab pos="911225" algn="l"/>
                <a:tab pos="1825625" algn="l"/>
                <a:tab pos="2740025" algn="l"/>
                <a:tab pos="3654425" algn="l"/>
                <a:tab pos="4568825" algn="l"/>
                <a:tab pos="5483225" algn="l"/>
                <a:tab pos="6397625" algn="l"/>
                <a:tab pos="7312025" algn="l"/>
                <a:tab pos="8226425" algn="l"/>
                <a:tab pos="9140825" algn="l"/>
                <a:tab pos="10055225" algn="l"/>
              </a:tabLst>
            </a:pPr>
            <a:endParaRPr lang="es-ES_tradnl" sz="2800" dirty="0">
              <a:cs typeface="Times New Roman" panose="02020603050405020304" pitchFamily="18" charset="0"/>
            </a:endParaRPr>
          </a:p>
          <a:p>
            <a:pPr marL="552450" indent="-552450">
              <a:buNone/>
              <a:tabLst>
                <a:tab pos="341313" algn="l"/>
                <a:tab pos="911225" algn="l"/>
                <a:tab pos="1825625" algn="l"/>
                <a:tab pos="2740025" algn="l"/>
                <a:tab pos="3654425" algn="l"/>
                <a:tab pos="4568825" algn="l"/>
                <a:tab pos="5483225" algn="l"/>
                <a:tab pos="6397625" algn="l"/>
                <a:tab pos="7312025" algn="l"/>
                <a:tab pos="8226425" algn="l"/>
                <a:tab pos="9140825" algn="l"/>
                <a:tab pos="10055225" algn="l"/>
              </a:tabLst>
            </a:pPr>
            <a:endParaRPr lang="es-ES_tradnl" sz="2600" dirty="0">
              <a:cs typeface="Times New Roman" panose="02020603050405020304" pitchFamily="18" charset="0"/>
            </a:endParaRPr>
          </a:p>
        </p:txBody>
      </p:sp>
      <p:sp>
        <p:nvSpPr>
          <p:cNvPr id="2" name="Título 1"/>
          <p:cNvSpPr>
            <a:spLocks noGrp="1"/>
          </p:cNvSpPr>
          <p:nvPr>
            <p:ph type="title"/>
          </p:nvPr>
        </p:nvSpPr>
        <p:spPr/>
        <p:txBody>
          <a:bodyPr/>
          <a:lstStyle/>
          <a:p>
            <a:r>
              <a:rPr lang="es-ES" dirty="0" smtClean="0"/>
              <a:t>Bibliografía:</a:t>
            </a:r>
            <a:endParaRPr lang="es-ES" dirty="0"/>
          </a:p>
        </p:txBody>
      </p:sp>
    </p:spTree>
    <p:extLst>
      <p:ext uri="{BB962C8B-B14F-4D97-AF65-F5344CB8AC3E}">
        <p14:creationId xmlns:p14="http://schemas.microsoft.com/office/powerpoint/2010/main" val="2195849711"/>
      </p:ext>
    </p:extLst>
  </p:cSld>
  <p:clrMapOvr>
    <a:masterClrMapping/>
  </p:clrMapOvr>
  <p:transition spd="med"/>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97280" y="286603"/>
            <a:ext cx="10058400" cy="1263901"/>
          </a:xfrm>
        </p:spPr>
        <p:txBody>
          <a:bodyPr>
            <a:normAutofit fontScale="90000"/>
          </a:bodyPr>
          <a:lstStyle/>
          <a:p>
            <a:r>
              <a:rPr lang="es-ES" dirty="0" smtClean="0"/>
              <a:t>¿Qué son los </a:t>
            </a:r>
            <a:r>
              <a:rPr lang="en-US" dirty="0" err="1"/>
              <a:t>Patrones</a:t>
            </a:r>
            <a:r>
              <a:rPr lang="en-US" dirty="0"/>
              <a:t> de </a:t>
            </a:r>
            <a:r>
              <a:rPr lang="en-US" dirty="0" err="1"/>
              <a:t>Acceso</a:t>
            </a:r>
            <a:r>
              <a:rPr lang="en-US" dirty="0"/>
              <a:t> a </a:t>
            </a:r>
            <a:r>
              <a:rPr lang="en-US" dirty="0" err="1"/>
              <a:t>Datos</a:t>
            </a:r>
            <a:r>
              <a:rPr lang="es-ES" dirty="0" smtClean="0"/>
              <a:t>? </a:t>
            </a:r>
            <a:endParaRPr lang="es-ES" dirty="0"/>
          </a:p>
        </p:txBody>
      </p:sp>
      <p:sp>
        <p:nvSpPr>
          <p:cNvPr id="3" name="Marcador de contenido 2"/>
          <p:cNvSpPr>
            <a:spLocks noGrp="1"/>
          </p:cNvSpPr>
          <p:nvPr>
            <p:ph idx="1"/>
          </p:nvPr>
        </p:nvSpPr>
        <p:spPr>
          <a:xfrm>
            <a:off x="965143" y="1744266"/>
            <a:ext cx="10058400" cy="4159577"/>
          </a:xfrm>
        </p:spPr>
        <p:txBody>
          <a:bodyPr>
            <a:noAutofit/>
          </a:bodyPr>
          <a:lstStyle/>
          <a:p>
            <a:pPr>
              <a:spcBef>
                <a:spcPts val="625"/>
              </a:spcBef>
              <a:buSzPct val="70000"/>
              <a:buFont typeface="Wingdings" pitchFamily="2" charset="2"/>
              <a:buChar char="Ø"/>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s-ES" sz="3600" dirty="0"/>
              <a:t>Sirven como orígenes de datos</a:t>
            </a:r>
          </a:p>
          <a:p>
            <a:pPr>
              <a:spcBef>
                <a:spcPts val="625"/>
              </a:spcBef>
              <a:buSzPct val="70000"/>
              <a:buFont typeface="Wingdings" pitchFamily="2" charset="2"/>
              <a:buChar char="Ø"/>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s-ES" sz="3600" dirty="0"/>
              <a:t>Independizan al resto del software del origen</a:t>
            </a:r>
          </a:p>
          <a:p>
            <a:pPr>
              <a:spcBef>
                <a:spcPts val="625"/>
              </a:spcBef>
              <a:buSzPct val="70000"/>
              <a:buFont typeface="Wingdings" pitchFamily="2" charset="2"/>
              <a:buChar char="Ø"/>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s-ES" sz="3600" dirty="0"/>
              <a:t>Disminuyen la impedancia objeto-relacional</a:t>
            </a:r>
          </a:p>
          <a:p>
            <a:pPr>
              <a:spcBef>
                <a:spcPts val="625"/>
              </a:spcBef>
              <a:buSzPct val="70000"/>
              <a:buFont typeface="Wingdings" pitchFamily="2" charset="2"/>
              <a:buChar char="Ø"/>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s-ES" sz="3600" dirty="0"/>
              <a:t>Garantizan </a:t>
            </a:r>
            <a:r>
              <a:rPr lang="es-ES" sz="3600" dirty="0" err="1"/>
              <a:t>distributividad</a:t>
            </a:r>
            <a:r>
              <a:rPr lang="es-ES" sz="3600" dirty="0"/>
              <a:t> y/o concurrencia</a:t>
            </a:r>
          </a:p>
          <a:p>
            <a:pPr marL="0" indent="0">
              <a:spcBef>
                <a:spcPts val="625"/>
              </a:spcBef>
              <a:buSzPct val="70000"/>
              <a:buNone/>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s-ES" sz="3200" i="1" dirty="0"/>
              <a:t>(Observación: no todos lo garantizan todo!)</a:t>
            </a:r>
          </a:p>
        </p:txBody>
      </p:sp>
    </p:spTree>
    <p:extLst>
      <p:ext uri="{BB962C8B-B14F-4D97-AF65-F5344CB8AC3E}">
        <p14:creationId xmlns:p14="http://schemas.microsoft.com/office/powerpoint/2010/main" val="3805793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599608" y="286603"/>
            <a:ext cx="10658006" cy="1263901"/>
          </a:xfrm>
        </p:spPr>
        <p:txBody>
          <a:bodyPr>
            <a:normAutofit fontScale="90000"/>
          </a:bodyPr>
          <a:lstStyle/>
          <a:p>
            <a:r>
              <a:rPr lang="en-US" dirty="0" err="1"/>
              <a:t>Patrones</a:t>
            </a:r>
            <a:r>
              <a:rPr lang="en-US" dirty="0"/>
              <a:t> </a:t>
            </a:r>
            <a:r>
              <a:rPr lang="en-US" dirty="0" err="1"/>
              <a:t>arquitectónicos</a:t>
            </a:r>
            <a:r>
              <a:rPr lang="en-US" dirty="0"/>
              <a:t> de </a:t>
            </a:r>
            <a:r>
              <a:rPr lang="en-US" dirty="0" err="1"/>
              <a:t>fuentes</a:t>
            </a:r>
            <a:r>
              <a:rPr lang="en-US" dirty="0"/>
              <a:t> de </a:t>
            </a:r>
            <a:r>
              <a:rPr lang="en-US" dirty="0" err="1" smtClean="0"/>
              <a:t>datos</a:t>
            </a:r>
            <a:r>
              <a:rPr lang="en-US" dirty="0" smtClean="0"/>
              <a:t> (</a:t>
            </a:r>
            <a:r>
              <a:rPr lang="es-ES" b="1" dirty="0"/>
              <a:t>Data </a:t>
            </a:r>
            <a:r>
              <a:rPr lang="es-ES" b="1" dirty="0" err="1"/>
              <a:t>Source</a:t>
            </a:r>
            <a:r>
              <a:rPr lang="es-ES" b="1" dirty="0"/>
              <a:t> </a:t>
            </a:r>
            <a:r>
              <a:rPr lang="es-ES" b="1" dirty="0" err="1"/>
              <a:t>Architectural</a:t>
            </a:r>
            <a:r>
              <a:rPr lang="es-ES" b="1" dirty="0"/>
              <a:t> </a:t>
            </a:r>
            <a:r>
              <a:rPr lang="es-ES" b="1" dirty="0" err="1"/>
              <a:t>Patterns</a:t>
            </a:r>
            <a:r>
              <a:rPr lang="en-US" dirty="0" smtClean="0"/>
              <a:t>)*</a:t>
            </a:r>
            <a:endParaRPr lang="es-ES" dirty="0"/>
          </a:p>
        </p:txBody>
      </p:sp>
      <p:sp>
        <p:nvSpPr>
          <p:cNvPr id="3" name="Marcador de contenido 2"/>
          <p:cNvSpPr>
            <a:spLocks noGrp="1"/>
          </p:cNvSpPr>
          <p:nvPr>
            <p:ph idx="1"/>
          </p:nvPr>
        </p:nvSpPr>
        <p:spPr>
          <a:xfrm>
            <a:off x="278296" y="1744266"/>
            <a:ext cx="11569147" cy="4537264"/>
          </a:xfrm>
        </p:spPr>
        <p:txBody>
          <a:bodyPr>
            <a:noAutofit/>
          </a:bodyPr>
          <a:lstStyle/>
          <a:p>
            <a:pPr>
              <a:spcBef>
                <a:spcPts val="625"/>
              </a:spcBef>
              <a:buSzPct val="70000"/>
              <a:buFont typeface="Wingdings" pitchFamily="2" charset="2"/>
              <a:buChar char="Ø"/>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n-US" sz="3600" b="1" dirty="0" smtClean="0"/>
              <a:t>Row </a:t>
            </a:r>
            <a:r>
              <a:rPr lang="en-US" sz="3600" b="1" dirty="0"/>
              <a:t>Data Gateway:</a:t>
            </a:r>
            <a:r>
              <a:rPr lang="es-ES" sz="3600" dirty="0"/>
              <a:t>Un objeto que actúa como puerta de enlace a un único registro en una fuente de datos. Hay una instancia por fila.</a:t>
            </a:r>
            <a:endParaRPr lang="en-US" sz="3600" dirty="0"/>
          </a:p>
          <a:p>
            <a:pPr marL="0" indent="0">
              <a:spcBef>
                <a:spcPts val="625"/>
              </a:spcBef>
              <a:buSzPct val="70000"/>
              <a:buNone/>
              <a:tabLst>
                <a:tab pos="911225" algn="l"/>
                <a:tab pos="1825625" algn="l"/>
                <a:tab pos="2740025" algn="l"/>
                <a:tab pos="3654425" algn="l"/>
                <a:tab pos="4568825" algn="l"/>
                <a:tab pos="5483225" algn="l"/>
                <a:tab pos="6397625" algn="l"/>
                <a:tab pos="7312025" algn="l"/>
                <a:tab pos="8226425" algn="l"/>
                <a:tab pos="9140825" algn="l"/>
                <a:tab pos="10055225" algn="l"/>
              </a:tabLst>
              <a:defRPr/>
            </a:pPr>
            <a:endParaRPr lang="es-ES" sz="3600" dirty="0" smtClean="0"/>
          </a:p>
          <a:p>
            <a:pPr>
              <a:spcBef>
                <a:spcPts val="625"/>
              </a:spcBef>
              <a:buSzPct val="70000"/>
              <a:buFont typeface="Wingdings" pitchFamily="2" charset="2"/>
              <a:buChar char="Ø"/>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n-US" sz="3600" b="1" dirty="0" smtClean="0"/>
              <a:t>Table </a:t>
            </a:r>
            <a:r>
              <a:rPr lang="en-US" sz="3600" b="1" dirty="0"/>
              <a:t>Data </a:t>
            </a:r>
            <a:r>
              <a:rPr lang="en-US" sz="3600" b="1" dirty="0" smtClean="0"/>
              <a:t>Gateway:</a:t>
            </a:r>
            <a:r>
              <a:rPr lang="es-ES" sz="3600" dirty="0"/>
              <a:t>Un objeto que actúa como puerta de enlace </a:t>
            </a:r>
            <a:r>
              <a:rPr lang="es-ES" sz="3600" dirty="0" smtClean="0"/>
              <a:t>a </a:t>
            </a:r>
            <a:r>
              <a:rPr lang="es-ES" sz="3600" dirty="0"/>
              <a:t>una tabla de base de datos</a:t>
            </a:r>
            <a:r>
              <a:rPr lang="es-ES" sz="3600" dirty="0" smtClean="0"/>
              <a:t>. Una </a:t>
            </a:r>
            <a:r>
              <a:rPr lang="es-ES" sz="3600" dirty="0"/>
              <a:t>instancia maneja todas las filas de la tabla.</a:t>
            </a:r>
            <a:endParaRPr lang="en-US" sz="3600" dirty="0" smtClean="0"/>
          </a:p>
          <a:p>
            <a:pPr>
              <a:spcBef>
                <a:spcPts val="625"/>
              </a:spcBef>
              <a:buSzPct val="70000"/>
              <a:buFont typeface="Wingdings" pitchFamily="2" charset="2"/>
              <a:buChar char="Ø"/>
              <a:tabLst>
                <a:tab pos="911225" algn="l"/>
                <a:tab pos="1825625" algn="l"/>
                <a:tab pos="2740025" algn="l"/>
                <a:tab pos="3654425" algn="l"/>
                <a:tab pos="4568825" algn="l"/>
                <a:tab pos="5483225" algn="l"/>
                <a:tab pos="6397625" algn="l"/>
                <a:tab pos="7312025" algn="l"/>
                <a:tab pos="8226425" algn="l"/>
                <a:tab pos="9140825" algn="l"/>
                <a:tab pos="10055225" algn="l"/>
              </a:tabLst>
              <a:defRPr/>
            </a:pPr>
            <a:endParaRPr lang="en-US" sz="3600" dirty="0"/>
          </a:p>
        </p:txBody>
      </p:sp>
    </p:spTree>
    <p:extLst>
      <p:ext uri="{BB962C8B-B14F-4D97-AF65-F5344CB8AC3E}">
        <p14:creationId xmlns:p14="http://schemas.microsoft.com/office/powerpoint/2010/main" val="8390137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97280" y="286603"/>
            <a:ext cx="10058400" cy="1263901"/>
          </a:xfrm>
        </p:spPr>
        <p:txBody>
          <a:bodyPr>
            <a:normAutofit/>
          </a:bodyPr>
          <a:lstStyle/>
          <a:p>
            <a:pPr algn="ctr"/>
            <a:r>
              <a:rPr lang="en-US" dirty="0"/>
              <a:t>Row Data </a:t>
            </a:r>
            <a:r>
              <a:rPr lang="en-US" dirty="0" smtClean="0"/>
              <a:t>Gateway</a:t>
            </a:r>
            <a:endParaRPr lang="es-ES" dirty="0"/>
          </a:p>
        </p:txBody>
      </p:sp>
      <p:sp>
        <p:nvSpPr>
          <p:cNvPr id="3" name="Marcador de contenido 2"/>
          <p:cNvSpPr>
            <a:spLocks noGrp="1"/>
          </p:cNvSpPr>
          <p:nvPr>
            <p:ph idx="1"/>
          </p:nvPr>
        </p:nvSpPr>
        <p:spPr>
          <a:xfrm>
            <a:off x="5049079" y="1697081"/>
            <a:ext cx="6937514" cy="4656534"/>
          </a:xfrm>
        </p:spPr>
        <p:txBody>
          <a:bodyPr>
            <a:noAutofit/>
          </a:bodyPr>
          <a:lstStyle/>
          <a:p>
            <a:pPr>
              <a:spcBef>
                <a:spcPts val="625"/>
              </a:spcBef>
              <a:buSzPct val="70000"/>
              <a:buFont typeface="Wingdings" pitchFamily="2" charset="2"/>
              <a:buChar char="Ø"/>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s-ES" sz="2400" dirty="0"/>
              <a:t>Cada instancia de la clase que implementa el patrón </a:t>
            </a:r>
            <a:r>
              <a:rPr lang="es-ES" sz="2400" dirty="0" err="1"/>
              <a:t>Row</a:t>
            </a:r>
            <a:r>
              <a:rPr lang="es-ES" sz="2400" dirty="0"/>
              <a:t> Data Gateway representa una fila en una tabla de la base de datos.</a:t>
            </a:r>
          </a:p>
          <a:p>
            <a:pPr>
              <a:spcBef>
                <a:spcPts val="625"/>
              </a:spcBef>
              <a:buSzPct val="70000"/>
              <a:buFont typeface="Wingdings" pitchFamily="2" charset="2"/>
              <a:buChar char="Ø"/>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s-ES" sz="2400" dirty="0"/>
              <a:t> Los atributos del objeto corresponden a las columnas de la fila en la tabla. </a:t>
            </a:r>
            <a:endParaRPr lang="es-ES" sz="2400" dirty="0" smtClean="0"/>
          </a:p>
          <a:p>
            <a:pPr>
              <a:spcBef>
                <a:spcPts val="625"/>
              </a:spcBef>
              <a:buSzPct val="70000"/>
              <a:buFont typeface="Wingdings" pitchFamily="2" charset="2"/>
              <a:buChar char="Ø"/>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s-ES" sz="2400" dirty="0"/>
              <a:t>El </a:t>
            </a:r>
            <a:r>
              <a:rPr lang="es-ES" sz="2400" dirty="0" err="1"/>
              <a:t>Row</a:t>
            </a:r>
            <a:r>
              <a:rPr lang="es-ES" sz="2400" dirty="0"/>
              <a:t> Data Gateway proporciona métodos para realizar operaciones CRUD </a:t>
            </a:r>
            <a:r>
              <a:rPr lang="es-ES" sz="2400" dirty="0" smtClean="0"/>
              <a:t>sobre </a:t>
            </a:r>
            <a:r>
              <a:rPr lang="es-ES" sz="2400" dirty="0"/>
              <a:t>esa fila específica. Estos métodos encapsulan la lógica necesaria para interactuar con la base de datos, como la construcción de consultas SQL.</a:t>
            </a:r>
            <a:endParaRPr lang="es-ES" sz="2400" dirty="0" smtClean="0"/>
          </a:p>
          <a:p>
            <a:pPr>
              <a:spcBef>
                <a:spcPts val="625"/>
              </a:spcBef>
              <a:buSzPct val="70000"/>
              <a:buFont typeface="Wingdings" pitchFamily="2" charset="2"/>
              <a:buChar char="Ø"/>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s-ES" sz="2400" dirty="0"/>
              <a:t> El </a:t>
            </a:r>
            <a:r>
              <a:rPr lang="es-ES" sz="2400" dirty="0" err="1"/>
              <a:t>Row</a:t>
            </a:r>
            <a:r>
              <a:rPr lang="es-ES" sz="2400" dirty="0"/>
              <a:t> Data Gateway no mantiene estado sobre las filas, lo que significa que cada objeto es independiente y no tiene conocimiento de otras filas o instancias. </a:t>
            </a:r>
          </a:p>
        </p:txBody>
      </p:sp>
      <p:pic>
        <p:nvPicPr>
          <p:cNvPr id="3074" name="Picture 2" descr="https://martinfowler.com/eaaCatalog/index/dbgateRow.gif"/>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 y="1928191"/>
            <a:ext cx="4770782" cy="397565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628453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97280" y="286603"/>
            <a:ext cx="10058400" cy="1263901"/>
          </a:xfrm>
        </p:spPr>
        <p:txBody>
          <a:bodyPr>
            <a:normAutofit fontScale="90000"/>
          </a:bodyPr>
          <a:lstStyle/>
          <a:p>
            <a:pPr algn="ctr"/>
            <a:r>
              <a:rPr lang="en-US" dirty="0"/>
              <a:t>Row Data Gateway</a:t>
            </a:r>
            <a:r>
              <a:rPr lang="en-US" dirty="0" smtClean="0"/>
              <a:t>: </a:t>
            </a:r>
            <a:r>
              <a:rPr lang="en-US" dirty="0" err="1" smtClean="0"/>
              <a:t>Ejemplo</a:t>
            </a:r>
            <a:r>
              <a:rPr lang="en-US" dirty="0" smtClean="0"/>
              <a:t/>
            </a:r>
            <a:br>
              <a:rPr lang="en-US" dirty="0" smtClean="0"/>
            </a:br>
            <a:endParaRPr lang="es-ES" dirty="0">
              <a:solidFill>
                <a:srgbClr val="FF0000"/>
              </a:solidFill>
            </a:endParaRPr>
          </a:p>
        </p:txBody>
      </p:sp>
      <p:pic>
        <p:nvPicPr>
          <p:cNvPr id="3" name="2 Imagen"/>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 y="989351"/>
            <a:ext cx="6565691" cy="5351488"/>
          </a:xfrm>
          <a:prstGeom prst="rect">
            <a:avLst/>
          </a:prstGeom>
        </p:spPr>
      </p:pic>
      <p:pic>
        <p:nvPicPr>
          <p:cNvPr id="4" name="3 Imagen"/>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565692" y="989351"/>
            <a:ext cx="5626307" cy="5351488"/>
          </a:xfrm>
          <a:prstGeom prst="rect">
            <a:avLst/>
          </a:prstGeom>
        </p:spPr>
      </p:pic>
    </p:spTree>
    <p:extLst>
      <p:ext uri="{BB962C8B-B14F-4D97-AF65-F5344CB8AC3E}">
        <p14:creationId xmlns:p14="http://schemas.microsoft.com/office/powerpoint/2010/main" val="914643727"/>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97280" y="286603"/>
            <a:ext cx="10058400" cy="1263901"/>
          </a:xfrm>
        </p:spPr>
        <p:txBody>
          <a:bodyPr>
            <a:normAutofit fontScale="90000"/>
          </a:bodyPr>
          <a:lstStyle/>
          <a:p>
            <a:pPr algn="ctr"/>
            <a:r>
              <a:rPr lang="en-US" dirty="0"/>
              <a:t>Row Data </a:t>
            </a:r>
            <a:r>
              <a:rPr lang="en-US" dirty="0" err="1"/>
              <a:t>Gateway:Ejemplo</a:t>
            </a:r>
            <a:r>
              <a:rPr lang="en-US" dirty="0" smtClean="0"/>
              <a:t/>
            </a:r>
            <a:br>
              <a:rPr lang="en-US" dirty="0" smtClean="0"/>
            </a:br>
            <a:endParaRPr lang="es-ES" dirty="0">
              <a:solidFill>
                <a:srgbClr val="FF0000"/>
              </a:solidFill>
            </a:endParaRPr>
          </a:p>
        </p:txBody>
      </p:sp>
      <p:pic>
        <p:nvPicPr>
          <p:cNvPr id="3" name="2 Imagen"/>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064301"/>
            <a:ext cx="6865495" cy="5255939"/>
          </a:xfrm>
          <a:prstGeom prst="rect">
            <a:avLst/>
          </a:prstGeom>
        </p:spPr>
      </p:pic>
      <p:pic>
        <p:nvPicPr>
          <p:cNvPr id="4" name="3 Imagen"/>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565692" y="1064302"/>
            <a:ext cx="5626307" cy="5342132"/>
          </a:xfrm>
          <a:prstGeom prst="rect">
            <a:avLst/>
          </a:prstGeom>
        </p:spPr>
      </p:pic>
    </p:spTree>
    <p:extLst>
      <p:ext uri="{BB962C8B-B14F-4D97-AF65-F5344CB8AC3E}">
        <p14:creationId xmlns:p14="http://schemas.microsoft.com/office/powerpoint/2010/main" val="1361197271"/>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97280" y="286603"/>
            <a:ext cx="10058400" cy="1263901"/>
          </a:xfrm>
        </p:spPr>
        <p:txBody>
          <a:bodyPr>
            <a:normAutofit/>
          </a:bodyPr>
          <a:lstStyle/>
          <a:p>
            <a:pPr algn="ctr"/>
            <a:r>
              <a:rPr lang="en-US" dirty="0" smtClean="0"/>
              <a:t>Table Data Gateway</a:t>
            </a:r>
            <a:endParaRPr lang="es-ES" dirty="0"/>
          </a:p>
        </p:txBody>
      </p:sp>
      <p:sp>
        <p:nvSpPr>
          <p:cNvPr id="3" name="Marcador de contenido 2"/>
          <p:cNvSpPr>
            <a:spLocks noGrp="1"/>
          </p:cNvSpPr>
          <p:nvPr>
            <p:ph idx="1"/>
          </p:nvPr>
        </p:nvSpPr>
        <p:spPr>
          <a:xfrm>
            <a:off x="5049079" y="1697081"/>
            <a:ext cx="6937514" cy="4656534"/>
          </a:xfrm>
        </p:spPr>
        <p:txBody>
          <a:bodyPr>
            <a:noAutofit/>
          </a:bodyPr>
          <a:lstStyle/>
          <a:p>
            <a:pPr>
              <a:spcBef>
                <a:spcPts val="625"/>
              </a:spcBef>
              <a:buSzPct val="70000"/>
              <a:buFont typeface="Wingdings" pitchFamily="2" charset="2"/>
              <a:buChar char="Ø"/>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s-ES" sz="2400" dirty="0" smtClean="0"/>
              <a:t>Tiene </a:t>
            </a:r>
            <a:r>
              <a:rPr lang="es-ES" sz="2400" dirty="0"/>
              <a:t>una interfaz simple, que generalmente consta de varios métodos de búsqueda para obtener datos de la base de datos y métodos de actualización, inserción y eliminación</a:t>
            </a:r>
            <a:r>
              <a:rPr lang="es-ES" sz="2400" dirty="0" smtClean="0"/>
              <a:t>.</a:t>
            </a:r>
          </a:p>
          <a:p>
            <a:pPr>
              <a:spcBef>
                <a:spcPts val="625"/>
              </a:spcBef>
              <a:buSzPct val="70000"/>
              <a:buFont typeface="Wingdings" pitchFamily="2" charset="2"/>
              <a:buChar char="Ø"/>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s-ES" sz="2400" dirty="0" smtClean="0"/>
              <a:t> </a:t>
            </a:r>
            <a:r>
              <a:rPr lang="es-ES" sz="2400" dirty="0"/>
              <a:t>El </a:t>
            </a:r>
            <a:r>
              <a:rPr lang="es-ES" sz="2400" dirty="0" err="1"/>
              <a:t>Table</a:t>
            </a:r>
            <a:r>
              <a:rPr lang="es-ES" sz="2400" dirty="0"/>
              <a:t> Data Gateway generalmente no tiene estado, ya que su función es enviar datos de un lado a otro</a:t>
            </a:r>
            <a:r>
              <a:rPr lang="es-ES" sz="2400" dirty="0" smtClean="0"/>
              <a:t>.</a:t>
            </a:r>
          </a:p>
          <a:p>
            <a:pPr>
              <a:spcBef>
                <a:spcPts val="625"/>
              </a:spcBef>
              <a:buSzPct val="70000"/>
              <a:buFont typeface="Wingdings" pitchFamily="2" charset="2"/>
              <a:buChar char="Ø"/>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s-ES" sz="2400" dirty="0" smtClean="0"/>
              <a:t>Los métodos de lectura devuelven una colección de filas  inclusive para el método  </a:t>
            </a:r>
            <a:r>
              <a:rPr lang="es-ES" sz="2400" dirty="0" err="1" smtClean="0"/>
              <a:t>find</a:t>
            </a:r>
            <a:r>
              <a:rPr lang="es-ES" sz="2400" dirty="0" smtClean="0"/>
              <a:t>(id)</a:t>
            </a:r>
          </a:p>
          <a:p>
            <a:pPr>
              <a:spcBef>
                <a:spcPts val="625"/>
              </a:spcBef>
              <a:buSzPct val="70000"/>
              <a:buFont typeface="Wingdings" pitchFamily="2" charset="2"/>
              <a:buChar char="Ø"/>
              <a:tabLst>
                <a:tab pos="911225" algn="l"/>
                <a:tab pos="1825625" algn="l"/>
                <a:tab pos="2740025" algn="l"/>
                <a:tab pos="3654425" algn="l"/>
                <a:tab pos="4568825" algn="l"/>
                <a:tab pos="5483225" algn="l"/>
                <a:tab pos="6397625" algn="l"/>
                <a:tab pos="7312025" algn="l"/>
                <a:tab pos="8226425" algn="l"/>
                <a:tab pos="9140825" algn="l"/>
                <a:tab pos="10055225" algn="l"/>
              </a:tabLst>
              <a:defRPr/>
            </a:pPr>
            <a:endParaRPr lang="es-ES" sz="2400" dirty="0"/>
          </a:p>
        </p:txBody>
      </p:sp>
      <p:pic>
        <p:nvPicPr>
          <p:cNvPr id="6146" name="Picture 2" descr="https://martinfowler.com/eaaCatalog/index/dbgateTable.gif"/>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5222" y="2008681"/>
            <a:ext cx="3576975" cy="31629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147987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97280" y="286603"/>
            <a:ext cx="10058400" cy="1263901"/>
          </a:xfrm>
        </p:spPr>
        <p:txBody>
          <a:bodyPr>
            <a:normAutofit fontScale="90000"/>
          </a:bodyPr>
          <a:lstStyle/>
          <a:p>
            <a:pPr algn="ctr"/>
            <a:r>
              <a:rPr lang="en-US" dirty="0" smtClean="0"/>
              <a:t>Table Data </a:t>
            </a:r>
            <a:r>
              <a:rPr lang="en-US" dirty="0"/>
              <a:t>Gateway</a:t>
            </a:r>
            <a:r>
              <a:rPr lang="en-US" dirty="0" smtClean="0"/>
              <a:t>: </a:t>
            </a:r>
            <a:r>
              <a:rPr lang="en-US" dirty="0" err="1" smtClean="0"/>
              <a:t>Ejemplo</a:t>
            </a:r>
            <a:r>
              <a:rPr lang="en-US" dirty="0" smtClean="0"/>
              <a:t/>
            </a:r>
            <a:br>
              <a:rPr lang="en-US" dirty="0" smtClean="0"/>
            </a:br>
            <a:endParaRPr lang="es-ES" dirty="0">
              <a:solidFill>
                <a:srgbClr val="FF0000"/>
              </a:solidFill>
            </a:endParaRPr>
          </a:p>
        </p:txBody>
      </p:sp>
      <p:pic>
        <p:nvPicPr>
          <p:cNvPr id="3" name="2 Imagen"/>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6837" y="929390"/>
            <a:ext cx="6408835" cy="5396459"/>
          </a:xfrm>
          <a:prstGeom prst="rect">
            <a:avLst/>
          </a:prstGeom>
        </p:spPr>
      </p:pic>
      <p:pic>
        <p:nvPicPr>
          <p:cNvPr id="4" name="3 Imagen"/>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742725" y="929389"/>
            <a:ext cx="6249406" cy="5396459"/>
          </a:xfrm>
          <a:prstGeom prst="rect">
            <a:avLst/>
          </a:prstGeom>
        </p:spPr>
      </p:pic>
    </p:spTree>
    <p:extLst>
      <p:ext uri="{BB962C8B-B14F-4D97-AF65-F5344CB8AC3E}">
        <p14:creationId xmlns:p14="http://schemas.microsoft.com/office/powerpoint/2010/main" val="1128857743"/>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97280" y="286603"/>
            <a:ext cx="10058400" cy="1263901"/>
          </a:xfrm>
        </p:spPr>
        <p:txBody>
          <a:bodyPr>
            <a:normAutofit fontScale="90000"/>
          </a:bodyPr>
          <a:lstStyle/>
          <a:p>
            <a:pPr algn="ctr"/>
            <a:r>
              <a:rPr lang="en-US" dirty="0" smtClean="0"/>
              <a:t>Table Data </a:t>
            </a:r>
            <a:r>
              <a:rPr lang="en-US" dirty="0" err="1"/>
              <a:t>Gateway:Ejemplo</a:t>
            </a:r>
            <a:r>
              <a:rPr lang="en-US" dirty="0" smtClean="0"/>
              <a:t/>
            </a:r>
            <a:br>
              <a:rPr lang="en-US" dirty="0" smtClean="0"/>
            </a:br>
            <a:endParaRPr lang="es-ES" dirty="0">
              <a:solidFill>
                <a:srgbClr val="FF0000"/>
              </a:solidFill>
            </a:endParaRPr>
          </a:p>
        </p:txBody>
      </p:sp>
      <p:pic>
        <p:nvPicPr>
          <p:cNvPr id="3" name="2 Imagen"/>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58200" y="1004342"/>
            <a:ext cx="5548922" cy="5246556"/>
          </a:xfrm>
          <a:prstGeom prst="rect">
            <a:avLst/>
          </a:prstGeom>
        </p:spPr>
      </p:pic>
      <p:pic>
        <p:nvPicPr>
          <p:cNvPr id="4" name="3 Imagen"/>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84813" y="1004342"/>
            <a:ext cx="6173386" cy="5246556"/>
          </a:xfrm>
          <a:prstGeom prst="rect">
            <a:avLst/>
          </a:prstGeom>
        </p:spPr>
      </p:pic>
    </p:spTree>
    <p:extLst>
      <p:ext uri="{BB962C8B-B14F-4D97-AF65-F5344CB8AC3E}">
        <p14:creationId xmlns:p14="http://schemas.microsoft.com/office/powerpoint/2010/main" val="3748598936"/>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97280" y="286603"/>
            <a:ext cx="10058400" cy="1263901"/>
          </a:xfrm>
        </p:spPr>
        <p:txBody>
          <a:bodyPr>
            <a:normAutofit fontScale="90000"/>
          </a:bodyPr>
          <a:lstStyle/>
          <a:p>
            <a:pPr algn="ctr"/>
            <a:r>
              <a:rPr lang="en-US" dirty="0" smtClean="0"/>
              <a:t>Table Data </a:t>
            </a:r>
            <a:r>
              <a:rPr lang="en-US" dirty="0" err="1"/>
              <a:t>Gateway:Ejemplo</a:t>
            </a:r>
            <a:r>
              <a:rPr lang="en-US" dirty="0" smtClean="0"/>
              <a:t/>
            </a:r>
            <a:br>
              <a:rPr lang="en-US" dirty="0" smtClean="0"/>
            </a:br>
            <a:endParaRPr lang="es-ES" dirty="0">
              <a:solidFill>
                <a:srgbClr val="FF0000"/>
              </a:solidFill>
            </a:endParaRPr>
          </a:p>
        </p:txBody>
      </p:sp>
      <p:pic>
        <p:nvPicPr>
          <p:cNvPr id="5" name="4 Imagen"/>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4870" y="910396"/>
            <a:ext cx="5455859" cy="5295532"/>
          </a:xfrm>
          <a:prstGeom prst="rect">
            <a:avLst/>
          </a:prstGeom>
        </p:spPr>
      </p:pic>
      <p:pic>
        <p:nvPicPr>
          <p:cNvPr id="6" name="5 Imagen"/>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650731" y="910396"/>
            <a:ext cx="6281439" cy="5295532"/>
          </a:xfrm>
          <a:prstGeom prst="rect">
            <a:avLst/>
          </a:prstGeom>
        </p:spPr>
      </p:pic>
    </p:spTree>
    <p:extLst>
      <p:ext uri="{BB962C8B-B14F-4D97-AF65-F5344CB8AC3E}">
        <p14:creationId xmlns:p14="http://schemas.microsoft.com/office/powerpoint/2010/main" val="3630944284"/>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97280" y="286603"/>
            <a:ext cx="10058400" cy="1263901"/>
          </a:xfrm>
        </p:spPr>
        <p:txBody>
          <a:bodyPr>
            <a:normAutofit/>
          </a:bodyPr>
          <a:lstStyle/>
          <a:p>
            <a:r>
              <a:rPr lang="en-US" dirty="0"/>
              <a:t>Origen de </a:t>
            </a:r>
            <a:r>
              <a:rPr lang="en-US" dirty="0" err="1"/>
              <a:t>datos</a:t>
            </a:r>
            <a:r>
              <a:rPr lang="en-US" dirty="0"/>
              <a:t> (</a:t>
            </a:r>
            <a:r>
              <a:rPr lang="en-US" dirty="0" err="1"/>
              <a:t>DataSource</a:t>
            </a:r>
            <a:r>
              <a:rPr lang="en-US" dirty="0"/>
              <a:t> )*</a:t>
            </a:r>
            <a:endParaRPr lang="es-ES" dirty="0"/>
          </a:p>
        </p:txBody>
      </p:sp>
      <p:sp>
        <p:nvSpPr>
          <p:cNvPr id="3" name="Marcador de contenido 2"/>
          <p:cNvSpPr>
            <a:spLocks noGrp="1"/>
          </p:cNvSpPr>
          <p:nvPr>
            <p:ph idx="1"/>
          </p:nvPr>
        </p:nvSpPr>
        <p:spPr>
          <a:xfrm>
            <a:off x="278296" y="1744266"/>
            <a:ext cx="11569147" cy="4537264"/>
          </a:xfrm>
        </p:spPr>
        <p:txBody>
          <a:bodyPr>
            <a:noAutofit/>
          </a:bodyPr>
          <a:lstStyle/>
          <a:p>
            <a:pPr>
              <a:spcBef>
                <a:spcPts val="625"/>
              </a:spcBef>
              <a:buSzPct val="70000"/>
              <a:buFont typeface="Wingdings" pitchFamily="2" charset="2"/>
              <a:buChar char="Ø"/>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n-US" sz="3600" b="1" dirty="0" smtClean="0"/>
              <a:t>Data Mapper</a:t>
            </a:r>
            <a:r>
              <a:rPr lang="en-US" sz="3600" dirty="0" smtClean="0"/>
              <a:t>: </a:t>
            </a:r>
            <a:r>
              <a:rPr lang="es-ES" sz="3600" dirty="0" smtClean="0"/>
              <a:t>Capa </a:t>
            </a:r>
            <a:r>
              <a:rPr lang="es-ES" sz="3600" dirty="0"/>
              <a:t>de </a:t>
            </a:r>
            <a:r>
              <a:rPr lang="es-ES" sz="3600" dirty="0" err="1"/>
              <a:t>Mappers</a:t>
            </a:r>
            <a:r>
              <a:rPr lang="es-ES" sz="3600" dirty="0"/>
              <a:t> </a:t>
            </a:r>
            <a:r>
              <a:rPr lang="es-ES" sz="3600" dirty="0" smtClean="0"/>
              <a:t>que </a:t>
            </a:r>
            <a:r>
              <a:rPr lang="es-ES" sz="3600" dirty="0"/>
              <a:t>mueve datos entre </a:t>
            </a:r>
            <a:r>
              <a:rPr lang="es-ES" sz="3600" dirty="0" smtClean="0"/>
              <a:t>objetos y </a:t>
            </a:r>
            <a:r>
              <a:rPr lang="es-ES" sz="3600" dirty="0"/>
              <a:t>una base de datos manteniéndolos independientes </a:t>
            </a:r>
            <a:r>
              <a:rPr lang="es-ES" sz="3600" dirty="0" smtClean="0"/>
              <a:t>de entre </a:t>
            </a:r>
            <a:r>
              <a:rPr lang="es-ES" sz="3600" dirty="0"/>
              <a:t>sí y el propio </a:t>
            </a:r>
            <a:r>
              <a:rPr lang="es-ES" sz="3600" dirty="0" err="1"/>
              <a:t>mapeador</a:t>
            </a:r>
            <a:r>
              <a:rPr lang="es-ES" sz="3600" dirty="0" smtClean="0"/>
              <a:t>.</a:t>
            </a:r>
          </a:p>
          <a:p>
            <a:pPr>
              <a:spcBef>
                <a:spcPts val="625"/>
              </a:spcBef>
              <a:buSzPct val="70000"/>
              <a:buFont typeface="Wingdings" pitchFamily="2" charset="2"/>
              <a:buChar char="Ø"/>
              <a:tabLst>
                <a:tab pos="911225" algn="l"/>
                <a:tab pos="1825625" algn="l"/>
                <a:tab pos="2740025" algn="l"/>
                <a:tab pos="3654425" algn="l"/>
                <a:tab pos="4568825" algn="l"/>
                <a:tab pos="5483225" algn="l"/>
                <a:tab pos="6397625" algn="l"/>
                <a:tab pos="7312025" algn="l"/>
                <a:tab pos="8226425" algn="l"/>
                <a:tab pos="9140825" algn="l"/>
                <a:tab pos="10055225" algn="l"/>
              </a:tabLst>
              <a:defRPr/>
            </a:pPr>
            <a:endParaRPr lang="en-US" sz="3600" dirty="0"/>
          </a:p>
          <a:p>
            <a:pPr>
              <a:spcBef>
                <a:spcPts val="625"/>
              </a:spcBef>
              <a:buSzPct val="70000"/>
              <a:buFont typeface="Wingdings" pitchFamily="2" charset="2"/>
              <a:buChar char="Ø"/>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n-US" sz="3600" b="1" dirty="0"/>
              <a:t>Active Record</a:t>
            </a:r>
            <a:r>
              <a:rPr lang="es-ES" sz="3600" dirty="0"/>
              <a:t>: Un objeto que envuelve una fila en una tabla o vista de base de datos, encapsula el acceso a la base de datos y agrega lógica de dominio a esos datos.</a:t>
            </a:r>
          </a:p>
        </p:txBody>
      </p:sp>
    </p:spTree>
    <p:extLst>
      <p:ext uri="{BB962C8B-B14F-4D97-AF65-F5344CB8AC3E}">
        <p14:creationId xmlns:p14="http://schemas.microsoft.com/office/powerpoint/2010/main" val="2246069405"/>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97280" y="286603"/>
            <a:ext cx="10058400" cy="1263901"/>
          </a:xfrm>
        </p:spPr>
        <p:txBody>
          <a:bodyPr>
            <a:normAutofit/>
          </a:bodyPr>
          <a:lstStyle/>
          <a:p>
            <a:pPr algn="ctr"/>
            <a:r>
              <a:rPr lang="en-US" dirty="0" err="1"/>
              <a:t>ActiveRecord</a:t>
            </a:r>
            <a:endParaRPr lang="es-ES" dirty="0"/>
          </a:p>
        </p:txBody>
      </p:sp>
      <p:sp>
        <p:nvSpPr>
          <p:cNvPr id="3" name="Marcador de contenido 2"/>
          <p:cNvSpPr>
            <a:spLocks noGrp="1"/>
          </p:cNvSpPr>
          <p:nvPr>
            <p:ph idx="1"/>
          </p:nvPr>
        </p:nvSpPr>
        <p:spPr>
          <a:xfrm>
            <a:off x="5049079" y="1697081"/>
            <a:ext cx="6937514" cy="4656534"/>
          </a:xfrm>
        </p:spPr>
        <p:txBody>
          <a:bodyPr>
            <a:noAutofit/>
          </a:bodyPr>
          <a:lstStyle/>
          <a:p>
            <a:pPr>
              <a:spcBef>
                <a:spcPts val="625"/>
              </a:spcBef>
              <a:buSzPct val="70000"/>
              <a:buFont typeface="Wingdings" pitchFamily="2" charset="2"/>
              <a:buChar char="Ø"/>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s-ES" sz="2400" dirty="0" smtClean="0"/>
              <a:t>Construir </a:t>
            </a:r>
            <a:r>
              <a:rPr lang="es-ES" sz="2400" dirty="0"/>
              <a:t>una instancia del registro activo a partir de una fila del conjunto de resultados </a:t>
            </a:r>
            <a:r>
              <a:rPr lang="es-ES" sz="2400" dirty="0" smtClean="0"/>
              <a:t>SQL</a:t>
            </a:r>
          </a:p>
          <a:p>
            <a:pPr>
              <a:spcBef>
                <a:spcPts val="625"/>
              </a:spcBef>
              <a:buSzPct val="70000"/>
              <a:buFont typeface="Wingdings" pitchFamily="2" charset="2"/>
              <a:buChar char="Ø"/>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s-ES" sz="2400" dirty="0" smtClean="0"/>
              <a:t> </a:t>
            </a:r>
            <a:r>
              <a:rPr lang="es-ES" sz="2400" dirty="0"/>
              <a:t>Construir una nueva instancia para insertarla más tarde en la </a:t>
            </a:r>
            <a:r>
              <a:rPr lang="es-ES" sz="2400" dirty="0" smtClean="0"/>
              <a:t>tabla</a:t>
            </a:r>
          </a:p>
          <a:p>
            <a:pPr>
              <a:spcBef>
                <a:spcPts val="625"/>
              </a:spcBef>
              <a:buSzPct val="70000"/>
              <a:buFont typeface="Wingdings" pitchFamily="2" charset="2"/>
              <a:buChar char="Ø"/>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s-ES" sz="2400" dirty="0" smtClean="0"/>
              <a:t>Métodos </a:t>
            </a:r>
            <a:r>
              <a:rPr lang="es-ES" sz="2400" dirty="0"/>
              <a:t>de búsqueda estáticos para encapsular consultas SQL de uso común y </a:t>
            </a:r>
            <a:r>
              <a:rPr lang="es-ES" sz="2400" dirty="0" smtClean="0"/>
              <a:t>devolver objetos </a:t>
            </a:r>
            <a:r>
              <a:rPr lang="es-ES" sz="2400" dirty="0"/>
              <a:t>del registro </a:t>
            </a:r>
            <a:r>
              <a:rPr lang="es-ES" sz="2400" dirty="0" smtClean="0"/>
              <a:t>activo</a:t>
            </a:r>
          </a:p>
          <a:p>
            <a:pPr>
              <a:spcBef>
                <a:spcPts val="625"/>
              </a:spcBef>
              <a:buSzPct val="70000"/>
              <a:buFont typeface="Wingdings" pitchFamily="2" charset="2"/>
              <a:buChar char="Ø"/>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s-ES" sz="2400" dirty="0" smtClean="0"/>
              <a:t> </a:t>
            </a:r>
            <a:r>
              <a:rPr lang="es-ES" sz="2400" dirty="0"/>
              <a:t>Actualizar la base de datos e insertar en ella los datos del registro </a:t>
            </a:r>
            <a:r>
              <a:rPr lang="es-ES" sz="2400" dirty="0" smtClean="0"/>
              <a:t>activo</a:t>
            </a:r>
          </a:p>
          <a:p>
            <a:pPr>
              <a:spcBef>
                <a:spcPts val="625"/>
              </a:spcBef>
              <a:buSzPct val="70000"/>
              <a:buFont typeface="Wingdings" pitchFamily="2" charset="2"/>
              <a:buChar char="Ø"/>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s-ES" sz="2400" dirty="0" smtClean="0"/>
              <a:t>Leer y </a:t>
            </a:r>
            <a:r>
              <a:rPr lang="es-ES" sz="2400" dirty="0" err="1" smtClean="0"/>
              <a:t>setear</a:t>
            </a:r>
            <a:r>
              <a:rPr lang="es-ES" sz="2400" dirty="0" smtClean="0"/>
              <a:t> las propiedades (tienen que coincidir en nombre y tipo con las columnas de la tabla )</a:t>
            </a:r>
          </a:p>
          <a:p>
            <a:pPr>
              <a:spcBef>
                <a:spcPts val="625"/>
              </a:spcBef>
              <a:buSzPct val="70000"/>
              <a:buFont typeface="Wingdings" pitchFamily="2" charset="2"/>
              <a:buChar char="Ø"/>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s-ES" sz="2400" dirty="0" smtClean="0"/>
              <a:t> </a:t>
            </a:r>
            <a:r>
              <a:rPr lang="es-ES" sz="2400" dirty="0"/>
              <a:t>Implementar algunas piezas de lógica empresarial</a:t>
            </a:r>
          </a:p>
        </p:txBody>
      </p:sp>
      <p:pic>
        <p:nvPicPr>
          <p:cNvPr id="1026" name="Picture 2" descr="https://martinfowler.com/eaaCatalog/index/activeRecordSketch.gif"/>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808922"/>
            <a:ext cx="4805846" cy="443285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241427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97280" y="286603"/>
            <a:ext cx="10058400" cy="1263901"/>
          </a:xfrm>
        </p:spPr>
        <p:txBody>
          <a:bodyPr>
            <a:normAutofit fontScale="90000"/>
          </a:bodyPr>
          <a:lstStyle/>
          <a:p>
            <a:pPr algn="ctr"/>
            <a:r>
              <a:rPr lang="en-US" dirty="0" err="1" smtClean="0"/>
              <a:t>ActiveRecord</a:t>
            </a:r>
            <a:r>
              <a:rPr lang="en-US" dirty="0" smtClean="0"/>
              <a:t> :</a:t>
            </a:r>
            <a:r>
              <a:rPr lang="en-US" dirty="0" err="1" smtClean="0"/>
              <a:t>Ejemplo</a:t>
            </a:r>
            <a:r>
              <a:rPr lang="en-US" dirty="0" smtClean="0"/>
              <a:t/>
            </a:r>
            <a:br>
              <a:rPr lang="en-US" dirty="0" smtClean="0"/>
            </a:br>
            <a:endParaRPr lang="es-ES" dirty="0">
              <a:solidFill>
                <a:srgbClr val="FF0000"/>
              </a:solidFill>
            </a:endParaRPr>
          </a:p>
        </p:txBody>
      </p:sp>
      <p:pic>
        <p:nvPicPr>
          <p:cNvPr id="8" name="7 Imagen"/>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419858"/>
            <a:ext cx="6520721" cy="4876011"/>
          </a:xfrm>
          <a:prstGeom prst="rect">
            <a:avLst/>
          </a:prstGeom>
        </p:spPr>
      </p:pic>
      <p:pic>
        <p:nvPicPr>
          <p:cNvPr id="9" name="8 Imagen"/>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520721" y="1419858"/>
            <a:ext cx="5671279" cy="4876011"/>
          </a:xfrm>
          <a:prstGeom prst="rect">
            <a:avLst/>
          </a:prstGeom>
        </p:spPr>
      </p:pic>
    </p:spTree>
    <p:extLst>
      <p:ext uri="{BB962C8B-B14F-4D97-AF65-F5344CB8AC3E}">
        <p14:creationId xmlns:p14="http://schemas.microsoft.com/office/powerpoint/2010/main" val="121126812"/>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97280" y="286603"/>
            <a:ext cx="10058400" cy="1263901"/>
          </a:xfrm>
        </p:spPr>
        <p:txBody>
          <a:bodyPr>
            <a:normAutofit fontScale="90000"/>
          </a:bodyPr>
          <a:lstStyle/>
          <a:p>
            <a:pPr algn="ctr"/>
            <a:r>
              <a:rPr lang="en-US" dirty="0" err="1" smtClean="0"/>
              <a:t>ActiveRecord</a:t>
            </a:r>
            <a:r>
              <a:rPr lang="en-US" dirty="0" smtClean="0"/>
              <a:t> :</a:t>
            </a:r>
            <a:r>
              <a:rPr lang="en-US" dirty="0" err="1" smtClean="0"/>
              <a:t>Ejemplo</a:t>
            </a:r>
            <a:r>
              <a:rPr lang="en-US" dirty="0" smtClean="0"/>
              <a:t/>
            </a:r>
            <a:br>
              <a:rPr lang="en-US" dirty="0" smtClean="0"/>
            </a:br>
            <a:endParaRPr lang="es-ES" dirty="0">
              <a:solidFill>
                <a:srgbClr val="FF0000"/>
              </a:solidFill>
            </a:endParaRPr>
          </a:p>
        </p:txBody>
      </p:sp>
      <p:pic>
        <p:nvPicPr>
          <p:cNvPr id="8" name="7 Imagen"/>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92306" y="2435899"/>
            <a:ext cx="3560165" cy="2660757"/>
          </a:xfrm>
          <a:prstGeom prst="rect">
            <a:avLst/>
          </a:prstGeom>
        </p:spPr>
      </p:pic>
      <p:sp>
        <p:nvSpPr>
          <p:cNvPr id="5" name="Marcador de contenido 2"/>
          <p:cNvSpPr>
            <a:spLocks noGrp="1"/>
          </p:cNvSpPr>
          <p:nvPr>
            <p:ph idx="1"/>
          </p:nvPr>
        </p:nvSpPr>
        <p:spPr>
          <a:xfrm>
            <a:off x="4167266" y="1858775"/>
            <a:ext cx="7789347" cy="4385667"/>
          </a:xfrm>
        </p:spPr>
        <p:txBody>
          <a:bodyPr>
            <a:noAutofit/>
          </a:bodyPr>
          <a:lstStyle/>
          <a:p>
            <a:pPr marL="0" indent="0">
              <a:spcBef>
                <a:spcPts val="625"/>
              </a:spcBef>
              <a:buSzPct val="70000"/>
              <a:buNone/>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s-ES" sz="2400" b="1" dirty="0"/>
              <a:t> </a:t>
            </a:r>
            <a:r>
              <a:rPr lang="es-ES" sz="3200" b="1" dirty="0"/>
              <a:t>ASP.NET </a:t>
            </a:r>
            <a:r>
              <a:rPr lang="es-ES" sz="3200" b="1" dirty="0" err="1" smtClean="0"/>
              <a:t>Identity</a:t>
            </a:r>
            <a:endParaRPr lang="es-ES" sz="3200" b="1" dirty="0"/>
          </a:p>
          <a:p>
            <a:pPr>
              <a:spcBef>
                <a:spcPts val="625"/>
              </a:spcBef>
              <a:buSzPct val="70000"/>
              <a:buFont typeface="Wingdings" pitchFamily="2" charset="2"/>
              <a:buChar char="Ø"/>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s-ES" sz="2800" dirty="0" smtClean="0"/>
              <a:t>Las </a:t>
            </a:r>
            <a:r>
              <a:rPr lang="es-ES" sz="2800" dirty="0"/>
              <a:t>clases como </a:t>
            </a:r>
            <a:r>
              <a:rPr lang="es-ES" sz="2800" i="1" dirty="0" err="1"/>
              <a:t>IdentityUser</a:t>
            </a:r>
            <a:r>
              <a:rPr lang="es-ES" sz="2800" dirty="0"/>
              <a:t> en ASP.NET </a:t>
            </a:r>
            <a:r>
              <a:rPr lang="es-ES" sz="2800" dirty="0" err="1"/>
              <a:t>Identity</a:t>
            </a:r>
            <a:r>
              <a:rPr lang="es-ES" sz="2800" dirty="0"/>
              <a:t> pueden considerarse ejemplos de Active Record, ya que estas clases contienen propiedades y métodos que permiten realizar </a:t>
            </a:r>
            <a:r>
              <a:rPr lang="es-ES" sz="2800" dirty="0" smtClean="0"/>
              <a:t>operaciones </a:t>
            </a:r>
            <a:r>
              <a:rPr lang="es-ES" sz="2800" dirty="0"/>
              <a:t>sobre los usuarios, como crear, actualizar y eliminar</a:t>
            </a:r>
            <a:r>
              <a:rPr lang="es-ES" sz="2800" dirty="0" smtClean="0"/>
              <a:t>.</a:t>
            </a:r>
          </a:p>
          <a:p>
            <a:pPr>
              <a:spcBef>
                <a:spcPts val="625"/>
              </a:spcBef>
              <a:buSzPct val="70000"/>
              <a:buFont typeface="Wingdings" pitchFamily="2" charset="2"/>
              <a:buChar char="Ø"/>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s-ES" sz="2800" dirty="0"/>
              <a:t>El patrón Active Record no está estrictamente definido en términos de clases específicas en .NET, sino que se puede implementar utilizando varias bibliotecas y enfoques. </a:t>
            </a:r>
          </a:p>
        </p:txBody>
      </p:sp>
    </p:spTree>
    <p:extLst>
      <p:ext uri="{BB962C8B-B14F-4D97-AF65-F5344CB8AC3E}">
        <p14:creationId xmlns:p14="http://schemas.microsoft.com/office/powerpoint/2010/main" val="28001483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97280" y="286603"/>
            <a:ext cx="10058400" cy="1263901"/>
          </a:xfrm>
        </p:spPr>
        <p:txBody>
          <a:bodyPr>
            <a:normAutofit/>
          </a:bodyPr>
          <a:lstStyle/>
          <a:p>
            <a:pPr algn="ctr"/>
            <a:r>
              <a:rPr lang="en-US" dirty="0"/>
              <a:t>Data Mapper</a:t>
            </a:r>
            <a:endParaRPr lang="es-ES" dirty="0"/>
          </a:p>
        </p:txBody>
      </p:sp>
      <p:sp>
        <p:nvSpPr>
          <p:cNvPr id="3" name="Marcador de contenido 2"/>
          <p:cNvSpPr>
            <a:spLocks noGrp="1"/>
          </p:cNvSpPr>
          <p:nvPr>
            <p:ph idx="1"/>
          </p:nvPr>
        </p:nvSpPr>
        <p:spPr>
          <a:xfrm>
            <a:off x="5049079" y="1697081"/>
            <a:ext cx="6937514" cy="4656534"/>
          </a:xfrm>
        </p:spPr>
        <p:txBody>
          <a:bodyPr>
            <a:noAutofit/>
          </a:bodyPr>
          <a:lstStyle/>
          <a:p>
            <a:pPr>
              <a:spcBef>
                <a:spcPts val="625"/>
              </a:spcBef>
              <a:buSzPct val="70000"/>
              <a:buFont typeface="Wingdings" pitchFamily="2" charset="2"/>
              <a:buChar char="Ø"/>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s-ES" dirty="0"/>
              <a:t>Clase que se ubica entre la lógica del negocio y el origen de datos, sirviendo de “mapa” entre ambos mundos</a:t>
            </a:r>
          </a:p>
          <a:p>
            <a:pPr>
              <a:spcBef>
                <a:spcPts val="625"/>
              </a:spcBef>
              <a:buSzPct val="70000"/>
              <a:buFont typeface="Wingdings" pitchFamily="2" charset="2"/>
              <a:buChar char="Ø"/>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s-ES" dirty="0" smtClean="0"/>
              <a:t> </a:t>
            </a:r>
            <a:r>
              <a:rPr lang="es-ES" dirty="0"/>
              <a:t>Tiene como objetivo separar el mundo OO del mundo relacional y comunicar ambos</a:t>
            </a:r>
          </a:p>
          <a:p>
            <a:pPr>
              <a:spcBef>
                <a:spcPts val="625"/>
              </a:spcBef>
              <a:buSzPct val="70000"/>
              <a:buFont typeface="Wingdings" pitchFamily="2" charset="2"/>
              <a:buChar char="Ø"/>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s-ES" dirty="0"/>
              <a:t>Los objetos no se relacionan directamente con la BD ni dependen de SQL</a:t>
            </a:r>
          </a:p>
          <a:p>
            <a:pPr>
              <a:spcBef>
                <a:spcPts val="625"/>
              </a:spcBef>
              <a:buSzPct val="70000"/>
              <a:buFont typeface="Wingdings" pitchFamily="2" charset="2"/>
              <a:buChar char="Ø"/>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s-ES" dirty="0"/>
              <a:t> Permite cambiar la implementación de la base de datos (por ejemplo, cambiar de SQL a </a:t>
            </a:r>
            <a:r>
              <a:rPr lang="es-ES" dirty="0" err="1"/>
              <a:t>NoSQL</a:t>
            </a:r>
            <a:r>
              <a:rPr lang="es-ES" dirty="0"/>
              <a:t>) sin afectar el modelo de </a:t>
            </a:r>
            <a:r>
              <a:rPr lang="es-ES" dirty="0" smtClean="0"/>
              <a:t>dominio</a:t>
            </a:r>
          </a:p>
          <a:p>
            <a:pPr>
              <a:spcBef>
                <a:spcPts val="625"/>
              </a:spcBef>
              <a:buSzPct val="70000"/>
              <a:buFont typeface="Wingdings" pitchFamily="2" charset="2"/>
              <a:buChar char="Ø"/>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s-ES" dirty="0"/>
              <a:t>Un mismo objeto puede ser mapeado a diferentes representaciones en la base de datos, lo que permite manejar diferentes contextos o necesidades</a:t>
            </a:r>
          </a:p>
        </p:txBody>
      </p:sp>
      <p:pic>
        <p:nvPicPr>
          <p:cNvPr id="8194" name="Picture 2" descr="https://martinfowler.com/eaaCatalog/index/databaseMapperSketch.gif"/>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0467" y="2038662"/>
            <a:ext cx="4429125" cy="334280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673977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97280" y="496466"/>
            <a:ext cx="10058400" cy="1263901"/>
          </a:xfrm>
        </p:spPr>
        <p:txBody>
          <a:bodyPr>
            <a:normAutofit fontScale="90000"/>
          </a:bodyPr>
          <a:lstStyle/>
          <a:p>
            <a:pPr algn="ctr"/>
            <a:r>
              <a:rPr lang="en-US" dirty="0"/>
              <a:t>Data Mapper</a:t>
            </a:r>
            <a:r>
              <a:rPr lang="en-US" dirty="0" smtClean="0"/>
              <a:t>: </a:t>
            </a:r>
            <a:r>
              <a:rPr lang="en-US" dirty="0" err="1" smtClean="0"/>
              <a:t>Ejemplo</a:t>
            </a:r>
            <a:r>
              <a:rPr lang="en-US" dirty="0" smtClean="0"/>
              <a:t/>
            </a:r>
            <a:br>
              <a:rPr lang="en-US" dirty="0" smtClean="0"/>
            </a:br>
            <a:endParaRPr lang="es-ES" dirty="0">
              <a:solidFill>
                <a:srgbClr val="FF0000"/>
              </a:solidFill>
            </a:endParaRPr>
          </a:p>
        </p:txBody>
      </p:sp>
      <p:pic>
        <p:nvPicPr>
          <p:cNvPr id="3" name="2 Imagen"/>
          <p:cNvPicPr>
            <a:picLocks noChangeAspect="1"/>
          </p:cNvPicPr>
          <p:nvPr/>
        </p:nvPicPr>
        <p:blipFill>
          <a:blip r:embed="rId3">
            <a:extLst>
              <a:ext uri="{BEBA8EAE-BF5A-486C-A8C5-ECC9F3942E4B}">
                <a14:imgProps xmlns:a14="http://schemas.microsoft.com/office/drawing/2010/main">
                  <a14:imgLayer r:embed="rId4">
                    <a14:imgEffect>
                      <a14:saturation sat="0"/>
                    </a14:imgEffect>
                  </a14:imgLayer>
                </a14:imgProps>
              </a:ext>
              <a:ext uri="{28A0092B-C50C-407E-A947-70E740481C1C}">
                <a14:useLocalDpi xmlns:a14="http://schemas.microsoft.com/office/drawing/2010/main" val="0"/>
              </a:ext>
            </a:extLst>
          </a:blip>
          <a:stretch>
            <a:fillRect/>
          </a:stretch>
        </p:blipFill>
        <p:spPr>
          <a:xfrm>
            <a:off x="373302" y="1918740"/>
            <a:ext cx="6477203" cy="4287187"/>
          </a:xfrm>
          <a:prstGeom prst="rect">
            <a:avLst/>
          </a:prstGeom>
          <a:ln>
            <a:solidFill>
              <a:schemeClr val="tx2">
                <a:lumMod val="60000"/>
                <a:lumOff val="40000"/>
              </a:schemeClr>
            </a:solidFill>
          </a:ln>
        </p:spPr>
      </p:pic>
      <p:pic>
        <p:nvPicPr>
          <p:cNvPr id="4" name="3 Imagen"/>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955436" y="1918740"/>
            <a:ext cx="5066675" cy="4287188"/>
          </a:xfrm>
          <a:prstGeom prst="rect">
            <a:avLst/>
          </a:prstGeom>
          <a:ln>
            <a:solidFill>
              <a:schemeClr val="tx2">
                <a:lumMod val="75000"/>
              </a:schemeClr>
            </a:solidFill>
          </a:ln>
        </p:spPr>
      </p:pic>
    </p:spTree>
    <p:extLst>
      <p:ext uri="{BB962C8B-B14F-4D97-AF65-F5344CB8AC3E}">
        <p14:creationId xmlns:p14="http://schemas.microsoft.com/office/powerpoint/2010/main" val="1629748938"/>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97280" y="0"/>
            <a:ext cx="10058400" cy="1263901"/>
          </a:xfrm>
        </p:spPr>
        <p:txBody>
          <a:bodyPr>
            <a:normAutofit fontScale="90000"/>
          </a:bodyPr>
          <a:lstStyle/>
          <a:p>
            <a:pPr algn="ctr"/>
            <a:r>
              <a:rPr lang="en-US" dirty="0"/>
              <a:t>Data </a:t>
            </a:r>
            <a:r>
              <a:rPr lang="en-US" dirty="0" err="1"/>
              <a:t>Mapper:Ejemplo</a:t>
            </a:r>
            <a:r>
              <a:rPr lang="en-US" dirty="0" smtClean="0"/>
              <a:t/>
            </a:r>
            <a:br>
              <a:rPr lang="en-US" dirty="0" smtClean="0"/>
            </a:br>
            <a:endParaRPr lang="es-ES" dirty="0">
              <a:solidFill>
                <a:srgbClr val="FF0000"/>
              </a:solidFill>
            </a:endParaRPr>
          </a:p>
        </p:txBody>
      </p:sp>
      <p:pic>
        <p:nvPicPr>
          <p:cNvPr id="4" name="3 Imagen"/>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9745" y="876926"/>
            <a:ext cx="11152681" cy="1678843"/>
          </a:xfrm>
          <a:prstGeom prst="rect">
            <a:avLst/>
          </a:prstGeom>
        </p:spPr>
      </p:pic>
      <p:pic>
        <p:nvPicPr>
          <p:cNvPr id="5" name="4 Imagen"/>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89746" y="2578309"/>
            <a:ext cx="11152680" cy="3597641"/>
          </a:xfrm>
          <a:prstGeom prst="rect">
            <a:avLst/>
          </a:prstGeom>
        </p:spPr>
      </p:pic>
    </p:spTree>
    <p:extLst>
      <p:ext uri="{BB962C8B-B14F-4D97-AF65-F5344CB8AC3E}">
        <p14:creationId xmlns:p14="http://schemas.microsoft.com/office/powerpoint/2010/main" val="408616748"/>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97280" y="286603"/>
            <a:ext cx="10058400" cy="1263901"/>
          </a:xfrm>
        </p:spPr>
        <p:txBody>
          <a:bodyPr>
            <a:normAutofit fontScale="90000"/>
          </a:bodyPr>
          <a:lstStyle/>
          <a:p>
            <a:pPr algn="ctr"/>
            <a:r>
              <a:rPr lang="en-US" dirty="0"/>
              <a:t>Data </a:t>
            </a:r>
            <a:r>
              <a:rPr lang="en-US" dirty="0" err="1"/>
              <a:t>Mapper:Ejemplo</a:t>
            </a:r>
            <a:r>
              <a:rPr lang="en-US" dirty="0" smtClean="0"/>
              <a:t/>
            </a:r>
            <a:br>
              <a:rPr lang="en-US" dirty="0" smtClean="0"/>
            </a:br>
            <a:endParaRPr lang="es-ES" dirty="0">
              <a:solidFill>
                <a:srgbClr val="FF0000"/>
              </a:solidFill>
            </a:endParaRPr>
          </a:p>
        </p:txBody>
      </p:sp>
      <p:pic>
        <p:nvPicPr>
          <p:cNvPr id="3" name="2 Imagen"/>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004341"/>
            <a:ext cx="6592220" cy="5502359"/>
          </a:xfrm>
          <a:prstGeom prst="rect">
            <a:avLst/>
          </a:prstGeom>
        </p:spPr>
      </p:pic>
      <p:pic>
        <p:nvPicPr>
          <p:cNvPr id="4" name="3 Imagen"/>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592220" y="1004342"/>
            <a:ext cx="5444882" cy="5502358"/>
          </a:xfrm>
          <a:prstGeom prst="rect">
            <a:avLst/>
          </a:prstGeom>
        </p:spPr>
      </p:pic>
    </p:spTree>
    <p:extLst>
      <p:ext uri="{BB962C8B-B14F-4D97-AF65-F5344CB8AC3E}">
        <p14:creationId xmlns:p14="http://schemas.microsoft.com/office/powerpoint/2010/main" val="3506341780"/>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97280" y="286603"/>
            <a:ext cx="10058400" cy="1263901"/>
          </a:xfrm>
        </p:spPr>
        <p:txBody>
          <a:bodyPr>
            <a:normAutofit fontScale="90000"/>
          </a:bodyPr>
          <a:lstStyle/>
          <a:p>
            <a:pPr algn="ctr"/>
            <a:r>
              <a:rPr lang="en-US" dirty="0"/>
              <a:t>Data </a:t>
            </a:r>
            <a:r>
              <a:rPr lang="en-US" dirty="0" err="1"/>
              <a:t>Mapper:Ejemplo</a:t>
            </a:r>
            <a:r>
              <a:rPr lang="en-US" dirty="0" smtClean="0"/>
              <a:t/>
            </a:r>
            <a:br>
              <a:rPr lang="en-US" dirty="0" smtClean="0"/>
            </a:br>
            <a:endParaRPr lang="es-ES" dirty="0">
              <a:solidFill>
                <a:srgbClr val="FF0000"/>
              </a:solidFill>
            </a:endParaRPr>
          </a:p>
        </p:txBody>
      </p:sp>
      <p:pic>
        <p:nvPicPr>
          <p:cNvPr id="3" name="2 Imagen"/>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944381"/>
            <a:ext cx="7015397" cy="5418730"/>
          </a:xfrm>
          <a:prstGeom prst="rect">
            <a:avLst/>
          </a:prstGeom>
        </p:spPr>
      </p:pic>
      <p:sp>
        <p:nvSpPr>
          <p:cNvPr id="4" name="Marcador de contenido 2"/>
          <p:cNvSpPr>
            <a:spLocks noGrp="1"/>
          </p:cNvSpPr>
          <p:nvPr>
            <p:ph idx="1"/>
          </p:nvPr>
        </p:nvSpPr>
        <p:spPr>
          <a:xfrm>
            <a:off x="7015397" y="1169233"/>
            <a:ext cx="5001176" cy="4385667"/>
          </a:xfrm>
          <a:solidFill>
            <a:schemeClr val="bg1"/>
          </a:solidFill>
        </p:spPr>
        <p:txBody>
          <a:bodyPr>
            <a:noAutofit/>
          </a:bodyPr>
          <a:lstStyle/>
          <a:p>
            <a:pPr marL="0" indent="0">
              <a:spcBef>
                <a:spcPts val="625"/>
              </a:spcBef>
              <a:buSzPct val="70000"/>
              <a:buNone/>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s-ES" sz="2400" b="1" dirty="0"/>
              <a:t> </a:t>
            </a:r>
            <a:r>
              <a:rPr lang="es-ES" sz="3200" b="1" dirty="0"/>
              <a:t> </a:t>
            </a:r>
            <a:r>
              <a:rPr lang="es-ES" b="1" dirty="0" err="1" smtClean="0"/>
              <a:t>Dapper</a:t>
            </a:r>
            <a:endParaRPr lang="es-ES" b="1" dirty="0" smtClean="0"/>
          </a:p>
          <a:p>
            <a:pPr>
              <a:spcBef>
                <a:spcPts val="625"/>
              </a:spcBef>
              <a:buSzPct val="70000"/>
              <a:buFont typeface="Wingdings" pitchFamily="2" charset="2"/>
              <a:buChar char="Ø"/>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s-ES" dirty="0" err="1"/>
              <a:t>SqlMapper</a:t>
            </a:r>
            <a:r>
              <a:rPr lang="es-ES" dirty="0"/>
              <a:t>: Esta clase proporciona métodos para ejecutar consultas y mapear los resultados a objetos, permitiendo una fácil conversión entre filas de la base de datos y objetos en memoria</a:t>
            </a:r>
            <a:r>
              <a:rPr lang="es-ES" dirty="0" smtClean="0"/>
              <a:t>.</a:t>
            </a:r>
          </a:p>
          <a:p>
            <a:pPr marL="0" indent="0">
              <a:spcBef>
                <a:spcPts val="625"/>
              </a:spcBef>
              <a:buSzPct val="70000"/>
              <a:buNone/>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s-ES" b="1" dirty="0" err="1"/>
              <a:t>NHibernate</a:t>
            </a:r>
            <a:endParaRPr lang="es-ES" b="1" dirty="0"/>
          </a:p>
          <a:p>
            <a:pPr>
              <a:spcBef>
                <a:spcPts val="625"/>
              </a:spcBef>
              <a:buSzPct val="70000"/>
              <a:buFont typeface="Wingdings" pitchFamily="2" charset="2"/>
              <a:buChar char="Ø"/>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s-ES" dirty="0"/>
              <a:t> </a:t>
            </a:r>
            <a:r>
              <a:rPr lang="es-ES" dirty="0" err="1"/>
              <a:t>ISession</a:t>
            </a:r>
            <a:r>
              <a:rPr lang="es-ES" dirty="0"/>
              <a:t>: La interfaz </a:t>
            </a:r>
            <a:r>
              <a:rPr lang="es-ES" dirty="0" err="1"/>
              <a:t>ISession</a:t>
            </a:r>
            <a:r>
              <a:rPr lang="es-ES" dirty="0"/>
              <a:t> en </a:t>
            </a:r>
            <a:r>
              <a:rPr lang="es-ES" dirty="0" err="1"/>
              <a:t>NHibernate</a:t>
            </a:r>
            <a:r>
              <a:rPr lang="es-ES" dirty="0"/>
              <a:t> maneja la interacción con la base de datos y el mapeo </a:t>
            </a:r>
            <a:r>
              <a:rPr lang="es-ES" dirty="0" smtClean="0"/>
              <a:t>de </a:t>
            </a:r>
            <a:r>
              <a:rPr lang="es-ES" dirty="0"/>
              <a:t>entidades a tablas</a:t>
            </a:r>
            <a:r>
              <a:rPr lang="es-ES" dirty="0" smtClean="0"/>
              <a:t>.</a:t>
            </a:r>
          </a:p>
          <a:p>
            <a:pPr marL="0" indent="0">
              <a:spcBef>
                <a:spcPts val="625"/>
              </a:spcBef>
              <a:buSzPct val="70000"/>
              <a:buNone/>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s-ES" b="1" dirty="0"/>
              <a:t>LINQ </a:t>
            </a:r>
            <a:r>
              <a:rPr lang="es-ES" b="1" dirty="0" err="1"/>
              <a:t>to</a:t>
            </a:r>
            <a:r>
              <a:rPr lang="es-ES" b="1" dirty="0"/>
              <a:t> </a:t>
            </a:r>
            <a:r>
              <a:rPr lang="es-ES" b="1" dirty="0" smtClean="0"/>
              <a:t>SQL</a:t>
            </a:r>
          </a:p>
          <a:p>
            <a:pPr>
              <a:spcBef>
                <a:spcPts val="625"/>
              </a:spcBef>
              <a:buSzPct val="70000"/>
              <a:buFont typeface="Wingdings" pitchFamily="2" charset="2"/>
              <a:buChar char="Ø"/>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s-ES" dirty="0" err="1" smtClean="0"/>
              <a:t>DataContext</a:t>
            </a:r>
            <a:r>
              <a:rPr lang="es-ES" dirty="0"/>
              <a:t>: La clase </a:t>
            </a:r>
            <a:r>
              <a:rPr lang="es-ES" dirty="0" err="1"/>
              <a:t>DataContext</a:t>
            </a:r>
            <a:r>
              <a:rPr lang="es-ES" dirty="0"/>
              <a:t> actúa como un intermediario entre las tablas de la base de datos y las clases del modelo, realizando el mapeo de manera similar a cómo lo hacen otros ORM.</a:t>
            </a:r>
          </a:p>
        </p:txBody>
      </p:sp>
    </p:spTree>
    <p:extLst>
      <p:ext uri="{BB962C8B-B14F-4D97-AF65-F5344CB8AC3E}">
        <p14:creationId xmlns:p14="http://schemas.microsoft.com/office/powerpoint/2010/main" val="3506341780"/>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599608" y="286603"/>
            <a:ext cx="10658006" cy="1263901"/>
          </a:xfrm>
        </p:spPr>
        <p:txBody>
          <a:bodyPr>
            <a:normAutofit fontScale="90000"/>
          </a:bodyPr>
          <a:lstStyle/>
          <a:p>
            <a:pPr algn="ctr"/>
            <a:r>
              <a:rPr lang="en-US" dirty="0" err="1"/>
              <a:t>Patrones</a:t>
            </a:r>
            <a:r>
              <a:rPr lang="en-US" dirty="0"/>
              <a:t> </a:t>
            </a:r>
            <a:r>
              <a:rPr lang="en-US" dirty="0" err="1"/>
              <a:t>arquitectónicos</a:t>
            </a:r>
            <a:r>
              <a:rPr lang="en-US" dirty="0"/>
              <a:t> de </a:t>
            </a:r>
            <a:r>
              <a:rPr lang="en-US" dirty="0" err="1"/>
              <a:t>fuentes</a:t>
            </a:r>
            <a:r>
              <a:rPr lang="en-US" dirty="0"/>
              <a:t> de </a:t>
            </a:r>
            <a:r>
              <a:rPr lang="en-US" dirty="0" err="1" smtClean="0"/>
              <a:t>datos</a:t>
            </a:r>
            <a:r>
              <a:rPr lang="en-US" dirty="0" smtClean="0"/>
              <a:t>:</a:t>
            </a:r>
            <a:r>
              <a:rPr lang="en-US" dirty="0"/>
              <a:t/>
            </a:r>
            <a:br>
              <a:rPr lang="en-US" dirty="0"/>
            </a:br>
            <a:r>
              <a:rPr lang="en-US" dirty="0" err="1"/>
              <a:t>Inconvenientes</a:t>
            </a:r>
            <a:endParaRPr lang="es-ES" dirty="0"/>
          </a:p>
        </p:txBody>
      </p:sp>
      <p:sp>
        <p:nvSpPr>
          <p:cNvPr id="3" name="Marcador de contenido 2"/>
          <p:cNvSpPr>
            <a:spLocks noGrp="1"/>
          </p:cNvSpPr>
          <p:nvPr>
            <p:ph idx="1"/>
          </p:nvPr>
        </p:nvSpPr>
        <p:spPr>
          <a:xfrm>
            <a:off x="119921" y="1744266"/>
            <a:ext cx="11917181" cy="4537264"/>
          </a:xfrm>
        </p:spPr>
        <p:txBody>
          <a:bodyPr>
            <a:noAutofit/>
          </a:bodyPr>
          <a:lstStyle/>
          <a:p>
            <a:pPr>
              <a:spcBef>
                <a:spcPts val="625"/>
              </a:spcBef>
              <a:buSzPct val="70000"/>
              <a:buFont typeface="Wingdings" pitchFamily="2" charset="2"/>
              <a:buChar char="Ø"/>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s-ES" sz="2400" dirty="0" smtClean="0"/>
              <a:t>Fuerte </a:t>
            </a:r>
            <a:r>
              <a:rPr lang="es-ES" sz="2400" dirty="0"/>
              <a:t>acoplamiento entre la lógica de negocio y la capa de acceso a datos, lo que dificulta la reutilización y el mantenimiento del </a:t>
            </a:r>
            <a:r>
              <a:rPr lang="es-ES" sz="2400" dirty="0" smtClean="0"/>
              <a:t>código</a:t>
            </a:r>
          </a:p>
          <a:p>
            <a:pPr>
              <a:spcBef>
                <a:spcPts val="625"/>
              </a:spcBef>
              <a:buSzPct val="70000"/>
              <a:buFont typeface="Wingdings" pitchFamily="2" charset="2"/>
              <a:buChar char="Ø"/>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s-ES" sz="2400" dirty="0" smtClean="0"/>
              <a:t>La </a:t>
            </a:r>
            <a:r>
              <a:rPr lang="es-ES" sz="2400" dirty="0"/>
              <a:t>prueba de unidades puede complicarse debido a las dependencias entre la lógica de negocio y la base de datos, lo que puede llevar a la necesidad de realizar pruebas más integradas en lugar de pruebas unitarias puras</a:t>
            </a:r>
            <a:r>
              <a:rPr lang="es-ES" sz="2400" dirty="0" smtClean="0"/>
              <a:t>.</a:t>
            </a:r>
          </a:p>
          <a:p>
            <a:pPr>
              <a:spcBef>
                <a:spcPts val="625"/>
              </a:spcBef>
              <a:buSzPct val="70000"/>
              <a:buFont typeface="Wingdings" pitchFamily="2" charset="2"/>
              <a:buChar char="Ø"/>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s-ES" sz="2400" dirty="0"/>
              <a:t>Cambios en el modelo de datos o en la estructura de la base de datos pueden requerir modificaciones significativas en el código, lo que puede ser un obstáculo para la adaptabilidad del </a:t>
            </a:r>
            <a:r>
              <a:rPr lang="es-ES" sz="2400" dirty="0" smtClean="0"/>
              <a:t>sistema</a:t>
            </a:r>
          </a:p>
          <a:p>
            <a:pPr>
              <a:spcBef>
                <a:spcPts val="625"/>
              </a:spcBef>
              <a:buSzPct val="70000"/>
              <a:buFont typeface="Wingdings" pitchFamily="2" charset="2"/>
              <a:buChar char="Ø"/>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s-ES" sz="2400" dirty="0"/>
              <a:t>La escalabilidad puede ser un problema, ya que algunos patrones no manejan bien el crecimiento en la complejidad del modelo de datos o en el volumen de </a:t>
            </a:r>
            <a:r>
              <a:rPr lang="es-ES" sz="2400" dirty="0" smtClean="0"/>
              <a:t>datos</a:t>
            </a:r>
          </a:p>
          <a:p>
            <a:pPr>
              <a:spcBef>
                <a:spcPts val="625"/>
              </a:spcBef>
              <a:buSzPct val="70000"/>
              <a:buFont typeface="Wingdings" pitchFamily="2" charset="2"/>
              <a:buChar char="Ø"/>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s-ES" sz="2400" dirty="0"/>
              <a:t>En aplicaciones con modelos de datos ricos y relaciones complejas, algunos patrones pueden volverse difíciles de implementar y mantener adecuadamente.</a:t>
            </a:r>
          </a:p>
          <a:p>
            <a:pPr>
              <a:spcBef>
                <a:spcPts val="625"/>
              </a:spcBef>
              <a:buSzPct val="70000"/>
              <a:buFont typeface="Wingdings" pitchFamily="2" charset="2"/>
              <a:buChar char="Ø"/>
              <a:tabLst>
                <a:tab pos="911225" algn="l"/>
                <a:tab pos="1825625" algn="l"/>
                <a:tab pos="2740025" algn="l"/>
                <a:tab pos="3654425" algn="l"/>
                <a:tab pos="4568825" algn="l"/>
                <a:tab pos="5483225" algn="l"/>
                <a:tab pos="6397625" algn="l"/>
                <a:tab pos="7312025" algn="l"/>
                <a:tab pos="8226425" algn="l"/>
                <a:tab pos="9140825" algn="l"/>
                <a:tab pos="10055225" algn="l"/>
              </a:tabLst>
              <a:defRPr/>
            </a:pPr>
            <a:endParaRPr lang="es-ES" sz="1800" dirty="0" smtClean="0"/>
          </a:p>
          <a:p>
            <a:pPr>
              <a:spcBef>
                <a:spcPts val="625"/>
              </a:spcBef>
              <a:buSzPct val="70000"/>
              <a:buFont typeface="Wingdings" pitchFamily="2" charset="2"/>
              <a:buChar char="Ø"/>
              <a:tabLst>
                <a:tab pos="911225" algn="l"/>
                <a:tab pos="1825625" algn="l"/>
                <a:tab pos="2740025" algn="l"/>
                <a:tab pos="3654425" algn="l"/>
                <a:tab pos="4568825" algn="l"/>
                <a:tab pos="5483225" algn="l"/>
                <a:tab pos="6397625" algn="l"/>
                <a:tab pos="7312025" algn="l"/>
                <a:tab pos="8226425" algn="l"/>
                <a:tab pos="9140825" algn="l"/>
                <a:tab pos="10055225" algn="l"/>
              </a:tabLst>
              <a:defRPr/>
            </a:pPr>
            <a:endParaRPr lang="es-ES" sz="1800" dirty="0"/>
          </a:p>
          <a:p>
            <a:pPr>
              <a:spcBef>
                <a:spcPts val="625"/>
              </a:spcBef>
              <a:buSzPct val="70000"/>
              <a:buFont typeface="Wingdings" pitchFamily="2" charset="2"/>
              <a:buChar char="Ø"/>
              <a:tabLst>
                <a:tab pos="911225" algn="l"/>
                <a:tab pos="1825625" algn="l"/>
                <a:tab pos="2740025" algn="l"/>
                <a:tab pos="3654425" algn="l"/>
                <a:tab pos="4568825" algn="l"/>
                <a:tab pos="5483225" algn="l"/>
                <a:tab pos="6397625" algn="l"/>
                <a:tab pos="7312025" algn="l"/>
                <a:tab pos="8226425" algn="l"/>
                <a:tab pos="9140825" algn="l"/>
                <a:tab pos="10055225" algn="l"/>
              </a:tabLst>
              <a:defRPr/>
            </a:pPr>
            <a:endParaRPr lang="es-ES" sz="3600" dirty="0"/>
          </a:p>
          <a:p>
            <a:pPr>
              <a:spcBef>
                <a:spcPts val="625"/>
              </a:spcBef>
              <a:buSzPct val="70000"/>
              <a:buFont typeface="Wingdings" pitchFamily="2" charset="2"/>
              <a:buChar char="Ø"/>
              <a:tabLst>
                <a:tab pos="911225" algn="l"/>
                <a:tab pos="1825625" algn="l"/>
                <a:tab pos="2740025" algn="l"/>
                <a:tab pos="3654425" algn="l"/>
                <a:tab pos="4568825" algn="l"/>
                <a:tab pos="5483225" algn="l"/>
                <a:tab pos="6397625" algn="l"/>
                <a:tab pos="7312025" algn="l"/>
                <a:tab pos="8226425" algn="l"/>
                <a:tab pos="9140825" algn="l"/>
                <a:tab pos="10055225" algn="l"/>
              </a:tabLst>
              <a:defRPr/>
            </a:pPr>
            <a:endParaRPr lang="es-ES" sz="3600" dirty="0" smtClean="0"/>
          </a:p>
          <a:p>
            <a:pPr>
              <a:spcBef>
                <a:spcPts val="625"/>
              </a:spcBef>
              <a:buSzPct val="70000"/>
              <a:buFont typeface="Wingdings" pitchFamily="2" charset="2"/>
              <a:buChar char="Ø"/>
              <a:tabLst>
                <a:tab pos="911225" algn="l"/>
                <a:tab pos="1825625" algn="l"/>
                <a:tab pos="2740025" algn="l"/>
                <a:tab pos="3654425" algn="l"/>
                <a:tab pos="4568825" algn="l"/>
                <a:tab pos="5483225" algn="l"/>
                <a:tab pos="6397625" algn="l"/>
                <a:tab pos="7312025" algn="l"/>
                <a:tab pos="8226425" algn="l"/>
                <a:tab pos="9140825" algn="l"/>
                <a:tab pos="10055225" algn="l"/>
              </a:tabLst>
              <a:defRPr/>
            </a:pPr>
            <a:endParaRPr lang="en-US" sz="3600" dirty="0"/>
          </a:p>
        </p:txBody>
      </p:sp>
    </p:spTree>
    <p:extLst>
      <p:ext uri="{BB962C8B-B14F-4D97-AF65-F5344CB8AC3E}">
        <p14:creationId xmlns:p14="http://schemas.microsoft.com/office/powerpoint/2010/main" val="1420239188"/>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97280" y="286603"/>
            <a:ext cx="10819900" cy="1263901"/>
          </a:xfrm>
        </p:spPr>
        <p:txBody>
          <a:bodyPr>
            <a:normAutofit fontScale="90000"/>
          </a:bodyPr>
          <a:lstStyle/>
          <a:p>
            <a:r>
              <a:rPr lang="en-US" dirty="0" err="1"/>
              <a:t>Patrones</a:t>
            </a:r>
            <a:r>
              <a:rPr lang="en-US" dirty="0"/>
              <a:t> de </a:t>
            </a:r>
            <a:r>
              <a:rPr lang="en-US" dirty="0" err="1"/>
              <a:t>comportamiento</a:t>
            </a:r>
            <a:r>
              <a:rPr lang="en-US" dirty="0"/>
              <a:t> </a:t>
            </a:r>
            <a:r>
              <a:rPr lang="en-US" dirty="0" err="1"/>
              <a:t>relacional</a:t>
            </a:r>
            <a:r>
              <a:rPr lang="en-US" dirty="0"/>
              <a:t> de </a:t>
            </a:r>
            <a:r>
              <a:rPr lang="en-US" dirty="0" err="1" smtClean="0"/>
              <a:t>objetos</a:t>
            </a:r>
            <a:r>
              <a:rPr lang="en-US" dirty="0"/>
              <a:t> (Object-Relational Behavioral Patterns</a:t>
            </a:r>
            <a:r>
              <a:rPr lang="en-US" dirty="0" smtClean="0"/>
              <a:t>)*</a:t>
            </a:r>
            <a:endParaRPr lang="es-ES" dirty="0"/>
          </a:p>
        </p:txBody>
      </p:sp>
      <p:sp>
        <p:nvSpPr>
          <p:cNvPr id="3" name="Marcador de contenido 2"/>
          <p:cNvSpPr>
            <a:spLocks noGrp="1"/>
          </p:cNvSpPr>
          <p:nvPr>
            <p:ph idx="1"/>
          </p:nvPr>
        </p:nvSpPr>
        <p:spPr>
          <a:xfrm>
            <a:off x="278296" y="1744266"/>
            <a:ext cx="11569147" cy="4537264"/>
          </a:xfrm>
        </p:spPr>
        <p:txBody>
          <a:bodyPr>
            <a:noAutofit/>
          </a:bodyPr>
          <a:lstStyle/>
          <a:p>
            <a:pPr>
              <a:lnSpc>
                <a:spcPct val="100000"/>
              </a:lnSpc>
              <a:spcAft>
                <a:spcPts val="600"/>
              </a:spcAft>
              <a:buFont typeface="Wingdings" pitchFamily="2" charset="2"/>
              <a:buChar char="Ø"/>
            </a:pPr>
            <a:r>
              <a:rPr lang="en-US" sz="3200" b="1" dirty="0"/>
              <a:t>Unit of Work:</a:t>
            </a:r>
            <a:r>
              <a:rPr lang="es-ES" sz="3200" dirty="0"/>
              <a:t>Clase que mantiene una lista de objetos afectados durante una transacción y coordina su actualización en la base de datos y los problemas de concurrencia asociados</a:t>
            </a:r>
          </a:p>
          <a:p>
            <a:pPr>
              <a:lnSpc>
                <a:spcPct val="100000"/>
              </a:lnSpc>
              <a:spcAft>
                <a:spcPts val="600"/>
              </a:spcAft>
              <a:buFont typeface="Wingdings" pitchFamily="2" charset="2"/>
              <a:buChar char="Ø"/>
            </a:pPr>
            <a:r>
              <a:rPr lang="en-US" sz="3200" b="1" dirty="0" smtClean="0"/>
              <a:t>Identity Map:</a:t>
            </a:r>
            <a:r>
              <a:rPr lang="es-ES" sz="3200" dirty="0"/>
              <a:t>Asegura que cada objeto sea cargado una </a:t>
            </a:r>
            <a:r>
              <a:rPr lang="es-ES" sz="3200" dirty="0" smtClean="0"/>
              <a:t>única </a:t>
            </a:r>
            <a:r>
              <a:rPr lang="es-ES" sz="3200" dirty="0"/>
              <a:t>vez manteniendo cada objeto cargado en un </a:t>
            </a:r>
            <a:r>
              <a:rPr lang="es-ES" sz="3200" dirty="0" smtClean="0"/>
              <a:t>mapa. Busca </a:t>
            </a:r>
            <a:r>
              <a:rPr lang="es-ES" sz="3200" dirty="0"/>
              <a:t>los objetos usando el mapa cada vez que necesita una referencia a el</a:t>
            </a:r>
            <a:r>
              <a:rPr lang="es-ES" sz="3200" dirty="0" smtClean="0"/>
              <a:t>.</a:t>
            </a:r>
            <a:endParaRPr lang="es-ES" sz="3200" dirty="0"/>
          </a:p>
          <a:p>
            <a:pPr>
              <a:lnSpc>
                <a:spcPct val="100000"/>
              </a:lnSpc>
              <a:spcBef>
                <a:spcPts val="625"/>
              </a:spcBef>
              <a:spcAft>
                <a:spcPts val="600"/>
              </a:spcAft>
              <a:buSzPct val="70000"/>
              <a:buFont typeface="Wingdings" pitchFamily="2" charset="2"/>
              <a:buChar char="Ø"/>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s-ES" sz="3200" b="1" dirty="0" err="1" smtClean="0"/>
              <a:t>Lazy</a:t>
            </a:r>
            <a:r>
              <a:rPr lang="es-ES" sz="3200" b="1" dirty="0" smtClean="0"/>
              <a:t> Load:</a:t>
            </a:r>
            <a:r>
              <a:rPr lang="en-US" sz="3200" dirty="0">
                <a:latin typeface="Arial" pitchFamily="34" charset="0"/>
                <a:cs typeface="Arial" pitchFamily="34" charset="0"/>
              </a:rPr>
              <a:t> </a:t>
            </a:r>
            <a:r>
              <a:rPr lang="en-US" sz="3200" dirty="0" err="1">
                <a:cs typeface="Arial" pitchFamily="34" charset="0"/>
              </a:rPr>
              <a:t>Una</a:t>
            </a:r>
            <a:r>
              <a:rPr lang="en-US" sz="3200" dirty="0">
                <a:cs typeface="Arial" pitchFamily="34" charset="0"/>
              </a:rPr>
              <a:t> </a:t>
            </a:r>
            <a:r>
              <a:rPr lang="en-US" sz="3200" dirty="0" err="1">
                <a:cs typeface="Arial" pitchFamily="34" charset="0"/>
              </a:rPr>
              <a:t>clase</a:t>
            </a:r>
            <a:r>
              <a:rPr lang="en-US" sz="3200" dirty="0">
                <a:cs typeface="Arial" pitchFamily="34" charset="0"/>
              </a:rPr>
              <a:t> </a:t>
            </a:r>
            <a:r>
              <a:rPr lang="en-US" sz="3200" dirty="0" err="1">
                <a:cs typeface="Arial" pitchFamily="34" charset="0"/>
              </a:rPr>
              <a:t>que</a:t>
            </a:r>
            <a:r>
              <a:rPr lang="en-US" sz="3200" dirty="0">
                <a:cs typeface="Arial" pitchFamily="34" charset="0"/>
              </a:rPr>
              <a:t> </a:t>
            </a:r>
            <a:r>
              <a:rPr lang="en-US" sz="3200" dirty="0" err="1">
                <a:cs typeface="Arial" pitchFamily="34" charset="0"/>
              </a:rPr>
              <a:t>recupera</a:t>
            </a:r>
            <a:r>
              <a:rPr lang="en-US" sz="3200" dirty="0">
                <a:cs typeface="Arial" pitchFamily="34" charset="0"/>
              </a:rPr>
              <a:t> del </a:t>
            </a:r>
            <a:r>
              <a:rPr lang="en-US" sz="3200" dirty="0" err="1">
                <a:cs typeface="Arial" pitchFamily="34" charset="0"/>
              </a:rPr>
              <a:t>origen</a:t>
            </a:r>
            <a:r>
              <a:rPr lang="en-US" sz="3200" dirty="0">
                <a:cs typeface="Arial" pitchFamily="34" charset="0"/>
              </a:rPr>
              <a:t> de </a:t>
            </a:r>
            <a:r>
              <a:rPr lang="en-US" sz="3200" dirty="0" err="1">
                <a:cs typeface="Arial" pitchFamily="34" charset="0"/>
              </a:rPr>
              <a:t>datos</a:t>
            </a:r>
            <a:r>
              <a:rPr lang="en-US" sz="3200" dirty="0">
                <a:cs typeface="Arial" pitchFamily="34" charset="0"/>
              </a:rPr>
              <a:t> </a:t>
            </a:r>
            <a:r>
              <a:rPr lang="en-US" sz="3200" dirty="0" err="1">
                <a:cs typeface="Arial" pitchFamily="34" charset="0"/>
              </a:rPr>
              <a:t>justamente</a:t>
            </a:r>
            <a:r>
              <a:rPr lang="en-US" sz="3200" dirty="0">
                <a:cs typeface="Arial" pitchFamily="34" charset="0"/>
              </a:rPr>
              <a:t> lo </a:t>
            </a:r>
            <a:r>
              <a:rPr lang="en-US" sz="3200" dirty="0" err="1">
                <a:cs typeface="Arial" pitchFamily="34" charset="0"/>
              </a:rPr>
              <a:t>que</a:t>
            </a:r>
            <a:r>
              <a:rPr lang="en-US" sz="3200" dirty="0">
                <a:cs typeface="Arial" pitchFamily="34" charset="0"/>
              </a:rPr>
              <a:t> se </a:t>
            </a:r>
            <a:r>
              <a:rPr lang="en-US" sz="3200" dirty="0" err="1">
                <a:cs typeface="Arial" pitchFamily="34" charset="0"/>
              </a:rPr>
              <a:t>necesita</a:t>
            </a:r>
            <a:endParaRPr lang="en-US" sz="3200" b="1" dirty="0" smtClean="0"/>
          </a:p>
          <a:p>
            <a:pPr>
              <a:spcBef>
                <a:spcPts val="625"/>
              </a:spcBef>
              <a:buSzPct val="70000"/>
              <a:buFont typeface="Wingdings" pitchFamily="2" charset="2"/>
              <a:buChar char="Ø"/>
              <a:tabLst>
                <a:tab pos="911225" algn="l"/>
                <a:tab pos="1825625" algn="l"/>
                <a:tab pos="2740025" algn="l"/>
                <a:tab pos="3654425" algn="l"/>
                <a:tab pos="4568825" algn="l"/>
                <a:tab pos="5483225" algn="l"/>
                <a:tab pos="6397625" algn="l"/>
                <a:tab pos="7312025" algn="l"/>
                <a:tab pos="8226425" algn="l"/>
                <a:tab pos="9140825" algn="l"/>
                <a:tab pos="10055225" algn="l"/>
              </a:tabLst>
              <a:defRPr/>
            </a:pPr>
            <a:endParaRPr lang="en-US" sz="3600" dirty="0"/>
          </a:p>
        </p:txBody>
      </p:sp>
    </p:spTree>
    <p:extLst>
      <p:ext uri="{BB962C8B-B14F-4D97-AF65-F5344CB8AC3E}">
        <p14:creationId xmlns:p14="http://schemas.microsoft.com/office/powerpoint/2010/main" val="553080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97280" y="286603"/>
            <a:ext cx="10819900" cy="1263901"/>
          </a:xfrm>
        </p:spPr>
        <p:txBody>
          <a:bodyPr>
            <a:normAutofit/>
          </a:bodyPr>
          <a:lstStyle/>
          <a:p>
            <a:pPr algn="ctr"/>
            <a:r>
              <a:rPr lang="en-US" dirty="0" smtClean="0"/>
              <a:t>Unit of Work</a:t>
            </a:r>
            <a:endParaRPr lang="es-ES" dirty="0"/>
          </a:p>
        </p:txBody>
      </p:sp>
      <p:sp>
        <p:nvSpPr>
          <p:cNvPr id="3" name="Marcador de contenido 2"/>
          <p:cNvSpPr>
            <a:spLocks noGrp="1"/>
          </p:cNvSpPr>
          <p:nvPr>
            <p:ph idx="1"/>
          </p:nvPr>
        </p:nvSpPr>
        <p:spPr>
          <a:xfrm>
            <a:off x="3327817" y="1783831"/>
            <a:ext cx="8739265" cy="4616970"/>
          </a:xfrm>
        </p:spPr>
        <p:txBody>
          <a:bodyPr>
            <a:noAutofit/>
          </a:bodyPr>
          <a:lstStyle/>
          <a:p>
            <a:pPr>
              <a:buFont typeface="Wingdings" pitchFamily="2" charset="2"/>
              <a:buChar char="Ø"/>
            </a:pPr>
            <a:r>
              <a:rPr lang="es-ES" sz="1600" dirty="0"/>
              <a:t> </a:t>
            </a:r>
            <a:r>
              <a:rPr lang="es-ES" sz="1600" dirty="0" smtClean="0"/>
              <a:t>Actúa </a:t>
            </a:r>
            <a:r>
              <a:rPr lang="es-ES" sz="1600" dirty="0"/>
              <a:t>como un contexto que mantiene un registro de todas las operaciones que se deben realizar en la base de datos durante una transacción</a:t>
            </a:r>
            <a:r>
              <a:rPr lang="es-ES" sz="1600" dirty="0" smtClean="0"/>
              <a:t>.</a:t>
            </a:r>
          </a:p>
          <a:p>
            <a:pPr>
              <a:buFont typeface="Wingdings" pitchFamily="2" charset="2"/>
              <a:buChar char="Ø"/>
            </a:pPr>
            <a:r>
              <a:rPr lang="es-ES" sz="1600" dirty="0" smtClean="0"/>
              <a:t>Rastrea </a:t>
            </a:r>
            <a:r>
              <a:rPr lang="es-ES" sz="1600" dirty="0"/>
              <a:t>los cambios realizados en los objetos durante su ciclo de vida. Esto incluye inserciones, actualizaciones y eliminaciones. Al final, se pueden aplicar todos estos cambios a la base de datos en una sola operación</a:t>
            </a:r>
            <a:r>
              <a:rPr lang="es-ES" sz="1600" dirty="0" smtClean="0"/>
              <a:t>.</a:t>
            </a:r>
          </a:p>
          <a:p>
            <a:pPr>
              <a:buFont typeface="Wingdings" pitchFamily="2" charset="2"/>
              <a:buChar char="Ø"/>
            </a:pPr>
            <a:r>
              <a:rPr lang="es-ES" sz="1600" dirty="0"/>
              <a:t>Las operaciones realizadas a través de la Unidad de Trabajo se agrupan en una transacción. Esto significa que si alguna parte de la operación falla, se puede revertir todo el conjunto de cambios, asegurando la consistencia de los </a:t>
            </a:r>
            <a:r>
              <a:rPr lang="es-ES" sz="1600" dirty="0" smtClean="0"/>
              <a:t>datos</a:t>
            </a:r>
          </a:p>
          <a:p>
            <a:pPr>
              <a:buFont typeface="Wingdings" pitchFamily="2" charset="2"/>
              <a:buChar char="Ø"/>
            </a:pPr>
            <a:r>
              <a:rPr lang="es-ES" sz="1600" dirty="0"/>
              <a:t>Funcionamiento del Patrón</a:t>
            </a:r>
            <a:r>
              <a:rPr lang="es-ES" sz="1600" dirty="0" smtClean="0"/>
              <a:t>: </a:t>
            </a:r>
          </a:p>
          <a:p>
            <a:pPr marL="544068" lvl="1" indent="-342900">
              <a:buFont typeface="+mj-lt"/>
              <a:buAutoNum type="arabicPeriod"/>
            </a:pPr>
            <a:r>
              <a:rPr lang="es-ES" sz="1600" dirty="0" smtClean="0"/>
              <a:t>Se </a:t>
            </a:r>
            <a:r>
              <a:rPr lang="es-ES" sz="1600" dirty="0"/>
              <a:t>crea una instancia de la Unidad de Trabajo al comienzo de una operación </a:t>
            </a:r>
            <a:r>
              <a:rPr lang="es-ES" sz="1600" dirty="0" smtClean="0"/>
              <a:t>. </a:t>
            </a:r>
          </a:p>
          <a:p>
            <a:pPr marL="544068" lvl="1" indent="-342900">
              <a:buFont typeface="+mj-lt"/>
              <a:buAutoNum type="arabicPeriod"/>
            </a:pPr>
            <a:r>
              <a:rPr lang="es-ES" sz="1600" dirty="0" smtClean="0"/>
              <a:t>A </a:t>
            </a:r>
            <a:r>
              <a:rPr lang="es-ES" sz="1600" dirty="0"/>
              <a:t>medida que se realizan cambios en los objetos </a:t>
            </a:r>
            <a:r>
              <a:rPr lang="es-ES" sz="1600" dirty="0" smtClean="0"/>
              <a:t>, </a:t>
            </a:r>
            <a:r>
              <a:rPr lang="es-ES" sz="1600" dirty="0"/>
              <a:t>la Unidad de Trabajo registra estos cambios en su contexto </a:t>
            </a:r>
            <a:r>
              <a:rPr lang="es-ES" sz="1600" dirty="0" smtClean="0"/>
              <a:t>interno</a:t>
            </a:r>
          </a:p>
          <a:p>
            <a:pPr marL="544068" lvl="1" indent="-342900">
              <a:buFont typeface="+mj-lt"/>
              <a:buAutoNum type="arabicPeriod"/>
            </a:pPr>
            <a:r>
              <a:rPr lang="es-ES" sz="1600" dirty="0" smtClean="0"/>
              <a:t>Una </a:t>
            </a:r>
            <a:r>
              <a:rPr lang="es-ES" sz="1600" dirty="0"/>
              <a:t>vez que se han realizado todos los cambios necesarios, se llama al método </a:t>
            </a:r>
            <a:r>
              <a:rPr lang="es-ES" sz="1600" dirty="0" err="1"/>
              <a:t>Commit</a:t>
            </a:r>
            <a:r>
              <a:rPr lang="es-ES" sz="1600" dirty="0"/>
              <a:t> </a:t>
            </a:r>
            <a:r>
              <a:rPr lang="es-ES" sz="1600" dirty="0" smtClean="0"/>
              <a:t>Este </a:t>
            </a:r>
            <a:r>
              <a:rPr lang="es-ES" sz="1600" dirty="0"/>
              <a:t>método se encarga de aplicar todos los cambios registrados a la base de datos en una única </a:t>
            </a:r>
            <a:r>
              <a:rPr lang="es-ES" sz="1600" dirty="0" smtClean="0"/>
              <a:t>transacción  </a:t>
            </a:r>
          </a:p>
          <a:p>
            <a:pPr marL="544068" lvl="1" indent="-342900">
              <a:buFont typeface="+mj-lt"/>
              <a:buAutoNum type="arabicPeriod"/>
            </a:pPr>
            <a:r>
              <a:rPr lang="es-ES" sz="1600" dirty="0" smtClean="0"/>
              <a:t>Si </a:t>
            </a:r>
            <a:r>
              <a:rPr lang="es-ES" sz="1600" dirty="0"/>
              <a:t>ocurre un error durante el proceso, se puede llamar a un método </a:t>
            </a:r>
            <a:r>
              <a:rPr lang="es-ES" sz="1600" dirty="0" err="1"/>
              <a:t>Rollback</a:t>
            </a:r>
            <a:r>
              <a:rPr lang="es-ES" sz="1600" dirty="0"/>
              <a:t>, que deshace todos los cambios realizados desde el </a:t>
            </a:r>
            <a:r>
              <a:rPr lang="es-ES" sz="1600" dirty="0" smtClean="0"/>
              <a:t>inicio</a:t>
            </a:r>
            <a:endParaRPr lang="es-ES" sz="1600" dirty="0"/>
          </a:p>
        </p:txBody>
      </p:sp>
      <p:pic>
        <p:nvPicPr>
          <p:cNvPr id="8194" name="Picture 2" descr="https://martinfowler.com/eaaCatalog/index/unitOfWorkInterface.gif"/>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2023673"/>
            <a:ext cx="3222886" cy="334280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98508490"/>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97280" y="286603"/>
            <a:ext cx="10819900" cy="1263901"/>
          </a:xfrm>
        </p:spPr>
        <p:txBody>
          <a:bodyPr>
            <a:normAutofit/>
          </a:bodyPr>
          <a:lstStyle/>
          <a:p>
            <a:pPr algn="ctr"/>
            <a:r>
              <a:rPr lang="en-US" dirty="0" smtClean="0"/>
              <a:t>Unit of Work: </a:t>
            </a:r>
            <a:r>
              <a:rPr lang="en-US" dirty="0" err="1" smtClean="0"/>
              <a:t>ejemplo</a:t>
            </a:r>
            <a:r>
              <a:rPr lang="en-US" dirty="0" smtClean="0"/>
              <a:t> </a:t>
            </a:r>
            <a:endParaRPr lang="es-ES" dirty="0"/>
          </a:p>
        </p:txBody>
      </p:sp>
      <p:pic>
        <p:nvPicPr>
          <p:cNvPr id="4" name="3 Imagen"/>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52699" y="1789069"/>
            <a:ext cx="5010850" cy="4476819"/>
          </a:xfrm>
          <a:prstGeom prst="rect">
            <a:avLst/>
          </a:prstGeom>
        </p:spPr>
      </p:pic>
      <p:pic>
        <p:nvPicPr>
          <p:cNvPr id="7" name="6 Imagen"/>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531370" y="1903751"/>
            <a:ext cx="6128049" cy="4362137"/>
          </a:xfrm>
          <a:prstGeom prst="rect">
            <a:avLst/>
          </a:prstGeom>
        </p:spPr>
      </p:pic>
    </p:spTree>
    <p:extLst>
      <p:ext uri="{BB962C8B-B14F-4D97-AF65-F5344CB8AC3E}">
        <p14:creationId xmlns:p14="http://schemas.microsoft.com/office/powerpoint/2010/main" val="1405057203"/>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97280" y="286603"/>
            <a:ext cx="10819900" cy="1263901"/>
          </a:xfrm>
        </p:spPr>
        <p:txBody>
          <a:bodyPr>
            <a:normAutofit/>
          </a:bodyPr>
          <a:lstStyle/>
          <a:p>
            <a:pPr algn="ctr"/>
            <a:r>
              <a:rPr lang="en-US" dirty="0" smtClean="0"/>
              <a:t>Unit of Work: </a:t>
            </a:r>
            <a:r>
              <a:rPr lang="en-US" dirty="0" err="1" smtClean="0"/>
              <a:t>ejemplo</a:t>
            </a:r>
            <a:r>
              <a:rPr lang="en-US" dirty="0" smtClean="0"/>
              <a:t> </a:t>
            </a:r>
            <a:endParaRPr lang="es-ES" dirty="0"/>
          </a:p>
        </p:txBody>
      </p:sp>
      <p:sp>
        <p:nvSpPr>
          <p:cNvPr id="3" name="Marcador de contenido 2"/>
          <p:cNvSpPr>
            <a:spLocks noGrp="1"/>
          </p:cNvSpPr>
          <p:nvPr>
            <p:ph idx="1"/>
          </p:nvPr>
        </p:nvSpPr>
        <p:spPr>
          <a:xfrm>
            <a:off x="419726" y="1744266"/>
            <a:ext cx="11427718" cy="3697164"/>
          </a:xfrm>
        </p:spPr>
        <p:txBody>
          <a:bodyPr>
            <a:noAutofit/>
          </a:bodyPr>
          <a:lstStyle/>
          <a:p>
            <a:pPr>
              <a:buFont typeface="Wingdings" pitchFamily="2" charset="2"/>
              <a:buChar char="Ø"/>
            </a:pPr>
            <a:r>
              <a:rPr lang="es-ES" dirty="0"/>
              <a:t> </a:t>
            </a:r>
            <a:r>
              <a:rPr lang="es-ES" sz="2400" dirty="0" err="1"/>
              <a:t>Entity</a:t>
            </a:r>
            <a:r>
              <a:rPr lang="es-ES" sz="2400" dirty="0"/>
              <a:t> </a:t>
            </a:r>
            <a:r>
              <a:rPr lang="es-ES" sz="2400" dirty="0" smtClean="0"/>
              <a:t>Framework</a:t>
            </a:r>
          </a:p>
          <a:p>
            <a:pPr lvl="1">
              <a:buFont typeface="Wingdings" pitchFamily="2" charset="2"/>
              <a:buChar char="Ø"/>
            </a:pPr>
            <a:r>
              <a:rPr lang="es-ES" sz="2400" dirty="0"/>
              <a:t> </a:t>
            </a:r>
            <a:r>
              <a:rPr lang="es-ES" sz="2400" dirty="0" err="1"/>
              <a:t>DbContext</a:t>
            </a:r>
            <a:r>
              <a:rPr lang="es-ES" sz="2400" dirty="0"/>
              <a:t>: Esta clase representa una unidad de trabajo en </a:t>
            </a:r>
            <a:r>
              <a:rPr lang="es-ES" sz="2400" dirty="0" err="1"/>
              <a:t>Entity</a:t>
            </a:r>
            <a:r>
              <a:rPr lang="es-ES" sz="2400" dirty="0"/>
              <a:t> Framework. Cuando realizas operaciones de inserción, actualización o eliminación a través del </a:t>
            </a:r>
            <a:r>
              <a:rPr lang="es-ES" sz="2400" dirty="0" err="1"/>
              <a:t>DbContext</a:t>
            </a:r>
            <a:r>
              <a:rPr lang="es-ES" sz="2400" dirty="0"/>
              <a:t>, todas estas operaciones se agrupan y se pueden guardar en la base de datos con un solo método </a:t>
            </a:r>
            <a:r>
              <a:rPr lang="es-ES" sz="2400" dirty="0" err="1"/>
              <a:t>SaveChanges</a:t>
            </a:r>
            <a:r>
              <a:rPr lang="es-ES" sz="2400" dirty="0"/>
              <a:t>(). El </a:t>
            </a:r>
            <a:r>
              <a:rPr lang="es-ES" sz="2400" dirty="0" err="1"/>
              <a:t>DbContext</a:t>
            </a:r>
            <a:r>
              <a:rPr lang="es-ES" sz="2400" dirty="0"/>
              <a:t> también mantiene un seguimiento de las entidades que han sido modificadas</a:t>
            </a:r>
            <a:r>
              <a:rPr lang="es-ES" sz="2400" dirty="0" smtClean="0"/>
              <a:t>.</a:t>
            </a:r>
          </a:p>
          <a:p>
            <a:pPr>
              <a:buFont typeface="Wingdings" pitchFamily="2" charset="2"/>
              <a:buChar char="Ø"/>
            </a:pPr>
            <a:r>
              <a:rPr lang="es-ES" sz="2400" dirty="0" err="1" smtClean="0"/>
              <a:t>Nhibernate</a:t>
            </a:r>
            <a:endParaRPr lang="es-ES" sz="2400" dirty="0" smtClean="0"/>
          </a:p>
          <a:p>
            <a:pPr lvl="1">
              <a:buFont typeface="Wingdings" pitchFamily="2" charset="2"/>
              <a:buChar char="Ø"/>
            </a:pPr>
            <a:r>
              <a:rPr lang="es-ES" sz="2400" dirty="0"/>
              <a:t> </a:t>
            </a:r>
            <a:r>
              <a:rPr lang="es-ES" sz="2400" dirty="0" err="1"/>
              <a:t>ISession</a:t>
            </a:r>
            <a:r>
              <a:rPr lang="es-ES" sz="2400" dirty="0"/>
              <a:t>: En </a:t>
            </a:r>
            <a:r>
              <a:rPr lang="es-ES" sz="2400" dirty="0" err="1"/>
              <a:t>NHibernate</a:t>
            </a:r>
            <a:r>
              <a:rPr lang="es-ES" sz="2400" dirty="0"/>
              <a:t>, la interfaz </a:t>
            </a:r>
            <a:r>
              <a:rPr lang="es-ES" sz="2400" dirty="0" err="1"/>
              <a:t>ISession</a:t>
            </a:r>
            <a:r>
              <a:rPr lang="es-ES" sz="2400" dirty="0"/>
              <a:t> actúa como una unidad de trabajo. Maneja las operaciones de persistencia y permite realizar transacciones a través de métodos como </a:t>
            </a:r>
            <a:r>
              <a:rPr lang="es-ES" sz="2400" dirty="0" err="1"/>
              <a:t>BeginTransaction</a:t>
            </a:r>
            <a:r>
              <a:rPr lang="es-ES" sz="2400" dirty="0"/>
              <a:t>() y </a:t>
            </a:r>
            <a:r>
              <a:rPr lang="es-ES" sz="2400" dirty="0" err="1"/>
              <a:t>Flush</a:t>
            </a:r>
            <a:r>
              <a:rPr lang="es-ES" sz="2400" dirty="0" smtClean="0"/>
              <a:t>().</a:t>
            </a:r>
          </a:p>
        </p:txBody>
      </p:sp>
    </p:spTree>
    <p:extLst>
      <p:ext uri="{BB962C8B-B14F-4D97-AF65-F5344CB8AC3E}">
        <p14:creationId xmlns:p14="http://schemas.microsoft.com/office/powerpoint/2010/main" val="472797379"/>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97280" y="286603"/>
            <a:ext cx="10819900" cy="1263901"/>
          </a:xfrm>
        </p:spPr>
        <p:txBody>
          <a:bodyPr>
            <a:normAutofit/>
          </a:bodyPr>
          <a:lstStyle/>
          <a:p>
            <a:pPr algn="ctr"/>
            <a:r>
              <a:rPr lang="en-US" dirty="0" smtClean="0"/>
              <a:t>Identity Map</a:t>
            </a:r>
            <a:endParaRPr lang="es-ES" dirty="0"/>
          </a:p>
        </p:txBody>
      </p:sp>
      <p:sp>
        <p:nvSpPr>
          <p:cNvPr id="3" name="Marcador de contenido 2"/>
          <p:cNvSpPr>
            <a:spLocks noGrp="1"/>
          </p:cNvSpPr>
          <p:nvPr>
            <p:ph idx="1"/>
          </p:nvPr>
        </p:nvSpPr>
        <p:spPr>
          <a:xfrm>
            <a:off x="4781862" y="1744266"/>
            <a:ext cx="7065581" cy="4537264"/>
          </a:xfrm>
        </p:spPr>
        <p:txBody>
          <a:bodyPr>
            <a:noAutofit/>
          </a:bodyPr>
          <a:lstStyle/>
          <a:p>
            <a:pPr>
              <a:buFont typeface="Wingdings" pitchFamily="2" charset="2"/>
              <a:buChar char="Ø"/>
            </a:pPr>
            <a:r>
              <a:rPr lang="es-ES" dirty="0"/>
              <a:t> El patrón utiliza una estructura de datos (como un mapa o un diccionario) para almacenar referencias a los objetos que han sido cargados desde la base de datos. La clave de este mapa suele ser el identificador único del objeto (por ejemplo, su ID en la base de datos</a:t>
            </a:r>
            <a:r>
              <a:rPr lang="es-ES" dirty="0" smtClean="0"/>
              <a:t>).</a:t>
            </a:r>
          </a:p>
          <a:p>
            <a:pPr>
              <a:buFont typeface="Wingdings" pitchFamily="2" charset="2"/>
              <a:buChar char="Ø"/>
            </a:pPr>
            <a:r>
              <a:rPr lang="es-ES" dirty="0"/>
              <a:t>Cuando se solicita un objeto, el sistema primero verifica si ya existe en el </a:t>
            </a:r>
            <a:r>
              <a:rPr lang="es-ES" dirty="0" err="1"/>
              <a:t>Identity</a:t>
            </a:r>
            <a:r>
              <a:rPr lang="es-ES" dirty="0"/>
              <a:t> </a:t>
            </a:r>
            <a:r>
              <a:rPr lang="es-ES" dirty="0" err="1"/>
              <a:t>Map</a:t>
            </a:r>
            <a:r>
              <a:rPr lang="es-ES" dirty="0"/>
              <a:t>. Si el objeto está presente, se devuelve esa instancia. Si no está presente, se carga desde la base de datos, se almacena en el </a:t>
            </a:r>
            <a:r>
              <a:rPr lang="es-ES" dirty="0" err="1"/>
              <a:t>Identity</a:t>
            </a:r>
            <a:r>
              <a:rPr lang="es-ES" dirty="0"/>
              <a:t> </a:t>
            </a:r>
            <a:r>
              <a:rPr lang="es-ES" dirty="0" err="1"/>
              <a:t>Map</a:t>
            </a:r>
            <a:r>
              <a:rPr lang="es-ES" dirty="0"/>
              <a:t> y luego se devuelve al solicitante</a:t>
            </a:r>
            <a:r>
              <a:rPr lang="es-ES" dirty="0" smtClean="0"/>
              <a:t>.</a:t>
            </a:r>
          </a:p>
          <a:p>
            <a:pPr>
              <a:buFont typeface="Wingdings" pitchFamily="2" charset="2"/>
              <a:buChar char="Ø"/>
            </a:pPr>
            <a:r>
              <a:rPr lang="es-ES" dirty="0"/>
              <a:t>Si un objeto se modifica, es importante asegurarse de que cualquier referencia a ese objeto refleje los cambios. Dado que todos los accesos al objeto pasan por el </a:t>
            </a:r>
            <a:r>
              <a:rPr lang="es-ES" dirty="0" err="1"/>
              <a:t>Identity</a:t>
            </a:r>
            <a:r>
              <a:rPr lang="es-ES" dirty="0"/>
              <a:t> </a:t>
            </a:r>
            <a:r>
              <a:rPr lang="es-ES" dirty="0" err="1"/>
              <a:t>Map</a:t>
            </a:r>
            <a:r>
              <a:rPr lang="es-ES" dirty="0"/>
              <a:t>, cualquier actualización se verá reflejada automáticamente en todas las partes del sistema que usan ese objeto.</a:t>
            </a:r>
          </a:p>
        </p:txBody>
      </p:sp>
      <p:pic>
        <p:nvPicPr>
          <p:cNvPr id="1026" name="Picture 2" descr="https://martinfowler.com/eaaCatalog/index/idMapperSketch.gif"/>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858416"/>
            <a:ext cx="4581525" cy="377788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99256620"/>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97280" y="286603"/>
            <a:ext cx="10819900" cy="1263901"/>
          </a:xfrm>
        </p:spPr>
        <p:txBody>
          <a:bodyPr>
            <a:normAutofit/>
          </a:bodyPr>
          <a:lstStyle/>
          <a:p>
            <a:pPr algn="ctr"/>
            <a:r>
              <a:rPr lang="en-US" dirty="0" smtClean="0"/>
              <a:t>Identity Map: </a:t>
            </a:r>
            <a:r>
              <a:rPr lang="en-US" dirty="0" err="1" smtClean="0"/>
              <a:t>ejemplo</a:t>
            </a:r>
            <a:r>
              <a:rPr lang="en-US" dirty="0" smtClean="0"/>
              <a:t> </a:t>
            </a:r>
            <a:endParaRPr lang="es-ES" dirty="0"/>
          </a:p>
        </p:txBody>
      </p:sp>
      <p:pic>
        <p:nvPicPr>
          <p:cNvPr id="5" name="4 Marcador de contenido"/>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299079" y="1869412"/>
            <a:ext cx="4039164" cy="2057687"/>
          </a:xfrm>
        </p:spPr>
      </p:pic>
      <p:pic>
        <p:nvPicPr>
          <p:cNvPr id="6" name="5 Imagen"/>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606084" y="1738859"/>
            <a:ext cx="6876382" cy="4586990"/>
          </a:xfrm>
          <a:prstGeom prst="rect">
            <a:avLst/>
          </a:prstGeom>
        </p:spPr>
      </p:pic>
    </p:spTree>
    <p:extLst>
      <p:ext uri="{BB962C8B-B14F-4D97-AF65-F5344CB8AC3E}">
        <p14:creationId xmlns:p14="http://schemas.microsoft.com/office/powerpoint/2010/main" val="2689404179"/>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52310" y="0"/>
            <a:ext cx="10819900" cy="889147"/>
          </a:xfrm>
        </p:spPr>
        <p:txBody>
          <a:bodyPr>
            <a:normAutofit/>
          </a:bodyPr>
          <a:lstStyle/>
          <a:p>
            <a:pPr algn="ctr"/>
            <a:r>
              <a:rPr lang="en-US" dirty="0" smtClean="0"/>
              <a:t>Identity Map: </a:t>
            </a:r>
            <a:r>
              <a:rPr lang="en-US" dirty="0" err="1" smtClean="0"/>
              <a:t>ejemplo</a:t>
            </a:r>
            <a:r>
              <a:rPr lang="en-US" dirty="0" smtClean="0"/>
              <a:t> </a:t>
            </a:r>
            <a:endParaRPr lang="es-ES" dirty="0"/>
          </a:p>
        </p:txBody>
      </p:sp>
      <p:pic>
        <p:nvPicPr>
          <p:cNvPr id="4" name="3 Imagen"/>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4488" y="1004341"/>
            <a:ext cx="6960809" cy="5276538"/>
          </a:xfrm>
          <a:prstGeom prst="rect">
            <a:avLst/>
          </a:prstGeom>
        </p:spPr>
      </p:pic>
      <p:pic>
        <p:nvPicPr>
          <p:cNvPr id="7" name="6 Imagen"/>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087847" y="1004341"/>
            <a:ext cx="4781864" cy="5276538"/>
          </a:xfrm>
          <a:prstGeom prst="rect">
            <a:avLst/>
          </a:prstGeom>
        </p:spPr>
      </p:pic>
    </p:spTree>
    <p:extLst>
      <p:ext uri="{BB962C8B-B14F-4D97-AF65-F5344CB8AC3E}">
        <p14:creationId xmlns:p14="http://schemas.microsoft.com/office/powerpoint/2010/main" val="3602886834"/>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52310" y="0"/>
            <a:ext cx="10819900" cy="889147"/>
          </a:xfrm>
        </p:spPr>
        <p:txBody>
          <a:bodyPr>
            <a:normAutofit/>
          </a:bodyPr>
          <a:lstStyle/>
          <a:p>
            <a:pPr algn="ctr"/>
            <a:r>
              <a:rPr lang="en-US" dirty="0" smtClean="0"/>
              <a:t>Identity Map: </a:t>
            </a:r>
            <a:r>
              <a:rPr lang="en-US" dirty="0" err="1" smtClean="0"/>
              <a:t>ejemplo</a:t>
            </a:r>
            <a:r>
              <a:rPr lang="en-US" dirty="0" smtClean="0"/>
              <a:t> </a:t>
            </a:r>
            <a:endParaRPr lang="es-ES" dirty="0"/>
          </a:p>
        </p:txBody>
      </p:sp>
      <p:pic>
        <p:nvPicPr>
          <p:cNvPr id="3" name="2 Imagen"/>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89351" y="1064302"/>
            <a:ext cx="10283251" cy="5241098"/>
          </a:xfrm>
          <a:prstGeom prst="rect">
            <a:avLst/>
          </a:prstGeom>
        </p:spPr>
      </p:pic>
    </p:spTree>
    <p:extLst>
      <p:ext uri="{BB962C8B-B14F-4D97-AF65-F5344CB8AC3E}">
        <p14:creationId xmlns:p14="http://schemas.microsoft.com/office/powerpoint/2010/main" val="2106796774"/>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97280" y="286603"/>
            <a:ext cx="10819900" cy="1263901"/>
          </a:xfrm>
        </p:spPr>
        <p:txBody>
          <a:bodyPr>
            <a:normAutofit/>
          </a:bodyPr>
          <a:lstStyle/>
          <a:p>
            <a:pPr algn="ctr"/>
            <a:r>
              <a:rPr lang="en-US" dirty="0" smtClean="0"/>
              <a:t>Identity Map: </a:t>
            </a:r>
            <a:r>
              <a:rPr lang="en-US" dirty="0" err="1" smtClean="0"/>
              <a:t>ejemplo</a:t>
            </a:r>
            <a:r>
              <a:rPr lang="en-US" dirty="0" smtClean="0"/>
              <a:t> </a:t>
            </a:r>
            <a:endParaRPr lang="es-ES" dirty="0"/>
          </a:p>
        </p:txBody>
      </p:sp>
      <p:sp>
        <p:nvSpPr>
          <p:cNvPr id="3" name="Marcador de contenido 2"/>
          <p:cNvSpPr>
            <a:spLocks noGrp="1"/>
          </p:cNvSpPr>
          <p:nvPr>
            <p:ph idx="1"/>
          </p:nvPr>
        </p:nvSpPr>
        <p:spPr>
          <a:xfrm>
            <a:off x="419726" y="1744266"/>
            <a:ext cx="11427718" cy="4537264"/>
          </a:xfrm>
        </p:spPr>
        <p:txBody>
          <a:bodyPr>
            <a:noAutofit/>
          </a:bodyPr>
          <a:lstStyle/>
          <a:p>
            <a:pPr>
              <a:buFont typeface="Wingdings" pitchFamily="2" charset="2"/>
              <a:buChar char="Ø"/>
            </a:pPr>
            <a:r>
              <a:rPr lang="es-ES" dirty="0"/>
              <a:t> </a:t>
            </a:r>
            <a:r>
              <a:rPr lang="es-ES" dirty="0" err="1"/>
              <a:t>Entity</a:t>
            </a:r>
            <a:r>
              <a:rPr lang="es-ES" dirty="0"/>
              <a:t> </a:t>
            </a:r>
            <a:r>
              <a:rPr lang="es-ES" dirty="0" smtClean="0"/>
              <a:t>Framework</a:t>
            </a:r>
          </a:p>
          <a:p>
            <a:pPr lvl="1">
              <a:buFont typeface="Wingdings" pitchFamily="2" charset="2"/>
              <a:buChar char="Ø"/>
            </a:pPr>
            <a:r>
              <a:rPr lang="es-ES" dirty="0"/>
              <a:t> </a:t>
            </a:r>
            <a:r>
              <a:rPr lang="es-ES" dirty="0" err="1"/>
              <a:t>DbContext</a:t>
            </a:r>
            <a:r>
              <a:rPr lang="es-ES" dirty="0"/>
              <a:t>: Este es el núcleo del </a:t>
            </a:r>
            <a:r>
              <a:rPr lang="es-ES" dirty="0" err="1"/>
              <a:t>Entity</a:t>
            </a:r>
            <a:r>
              <a:rPr lang="es-ES" dirty="0"/>
              <a:t> Framework donde se gestiona el ciclo de vida de las entidades. Al cargar entidades, se almacenan en el contexto y se garantiza que se devuelvan instancias únicas.</a:t>
            </a:r>
          </a:p>
          <a:p>
            <a:pPr>
              <a:buFont typeface="Wingdings" pitchFamily="2" charset="2"/>
              <a:buChar char="Ø"/>
            </a:pPr>
            <a:r>
              <a:rPr lang="es-ES" dirty="0" err="1" smtClean="0"/>
              <a:t>Nhibernate</a:t>
            </a:r>
            <a:endParaRPr lang="es-ES" dirty="0" smtClean="0"/>
          </a:p>
          <a:p>
            <a:pPr lvl="1">
              <a:buFont typeface="Wingdings" pitchFamily="2" charset="2"/>
              <a:buChar char="Ø"/>
            </a:pPr>
            <a:r>
              <a:rPr lang="es-ES" dirty="0"/>
              <a:t> </a:t>
            </a:r>
            <a:r>
              <a:rPr lang="es-ES" dirty="0" err="1"/>
              <a:t>ISession</a:t>
            </a:r>
            <a:r>
              <a:rPr lang="es-ES" dirty="0"/>
              <a:t>: En </a:t>
            </a:r>
            <a:r>
              <a:rPr lang="es-ES" dirty="0" err="1"/>
              <a:t>NHibernate</a:t>
            </a:r>
            <a:r>
              <a:rPr lang="es-ES" dirty="0"/>
              <a:t>, la interfaz </a:t>
            </a:r>
            <a:r>
              <a:rPr lang="es-ES" dirty="0" err="1"/>
              <a:t>ISession</a:t>
            </a:r>
            <a:r>
              <a:rPr lang="es-ES" dirty="0"/>
              <a:t> actúa como un contenedor para las entidades que han sido cargadas desde la base de datos. Las instancias de entidad son almacenadas en la sesión y se reutilizan durante el tiempo que la sesión está activa.</a:t>
            </a:r>
          </a:p>
          <a:p>
            <a:pPr>
              <a:buFont typeface="Wingdings" pitchFamily="2" charset="2"/>
              <a:buChar char="Ø"/>
            </a:pPr>
            <a:r>
              <a:rPr lang="es-ES" dirty="0"/>
              <a:t>ASP.NET </a:t>
            </a:r>
            <a:r>
              <a:rPr lang="es-ES" dirty="0" err="1"/>
              <a:t>Core</a:t>
            </a:r>
            <a:r>
              <a:rPr lang="es-ES" dirty="0"/>
              <a:t> </a:t>
            </a:r>
            <a:r>
              <a:rPr lang="es-ES" dirty="0" err="1" smtClean="0"/>
              <a:t>Identity</a:t>
            </a:r>
            <a:endParaRPr lang="es-ES" dirty="0"/>
          </a:p>
          <a:p>
            <a:pPr lvl="1">
              <a:buFont typeface="Wingdings" pitchFamily="2" charset="2"/>
              <a:buChar char="Ø"/>
            </a:pPr>
            <a:r>
              <a:rPr lang="es-ES" dirty="0"/>
              <a:t>En el contexto de ASP.NET </a:t>
            </a:r>
            <a:r>
              <a:rPr lang="es-ES" dirty="0" err="1"/>
              <a:t>Core</a:t>
            </a:r>
            <a:r>
              <a:rPr lang="es-ES" dirty="0"/>
              <a:t>, el sistema de identidad también puede hacer uso de un enfoque similar al </a:t>
            </a:r>
            <a:r>
              <a:rPr lang="es-ES" dirty="0" err="1"/>
              <a:t>Identity</a:t>
            </a:r>
            <a:r>
              <a:rPr lang="es-ES" dirty="0"/>
              <a:t> </a:t>
            </a:r>
            <a:r>
              <a:rPr lang="es-ES" dirty="0" err="1"/>
              <a:t>Map</a:t>
            </a:r>
            <a:r>
              <a:rPr lang="es-ES" dirty="0"/>
              <a:t> al gestionar usuarios y roles. Cuando se consulta información sobre usuarios, la implementación puede mantener instancias únicas </a:t>
            </a:r>
            <a:r>
              <a:rPr lang="es-ES" dirty="0" smtClean="0"/>
              <a:t>en </a:t>
            </a:r>
            <a:r>
              <a:rPr lang="es-ES" dirty="0"/>
              <a:t>memoria durante una sesión o ciclo de vida específico</a:t>
            </a:r>
            <a:r>
              <a:rPr lang="es-ES" dirty="0" smtClean="0"/>
              <a:t>.</a:t>
            </a:r>
          </a:p>
          <a:p>
            <a:pPr>
              <a:buFont typeface="Wingdings" pitchFamily="2" charset="2"/>
              <a:buChar char="Ø"/>
            </a:pPr>
            <a:r>
              <a:rPr lang="es-ES" dirty="0"/>
              <a:t>LINQ </a:t>
            </a:r>
            <a:r>
              <a:rPr lang="es-ES" dirty="0" err="1"/>
              <a:t>to</a:t>
            </a:r>
            <a:r>
              <a:rPr lang="es-ES" dirty="0"/>
              <a:t> SQL</a:t>
            </a:r>
          </a:p>
          <a:p>
            <a:pPr lvl="1">
              <a:buFont typeface="Wingdings" pitchFamily="2" charset="2"/>
              <a:buChar char="Ø"/>
            </a:pPr>
            <a:r>
              <a:rPr lang="es-ES" dirty="0" err="1" smtClean="0"/>
              <a:t>DataContext</a:t>
            </a:r>
            <a:r>
              <a:rPr lang="es-ES" dirty="0"/>
              <a:t>: </a:t>
            </a:r>
            <a:r>
              <a:rPr lang="es-ES" dirty="0" smtClean="0"/>
              <a:t>mantiene </a:t>
            </a:r>
            <a:r>
              <a:rPr lang="es-ES" dirty="0"/>
              <a:t>un registro de las entidades cargadas y asegura que se devuelvan instancias únicas.</a:t>
            </a:r>
          </a:p>
        </p:txBody>
      </p:sp>
    </p:spTree>
    <p:extLst>
      <p:ext uri="{BB962C8B-B14F-4D97-AF65-F5344CB8AC3E}">
        <p14:creationId xmlns:p14="http://schemas.microsoft.com/office/powerpoint/2010/main" val="2689404179"/>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97280" y="286603"/>
            <a:ext cx="10819900" cy="1263901"/>
          </a:xfrm>
        </p:spPr>
        <p:txBody>
          <a:bodyPr>
            <a:normAutofit/>
          </a:bodyPr>
          <a:lstStyle/>
          <a:p>
            <a:pPr algn="ctr"/>
            <a:r>
              <a:rPr lang="en-US" dirty="0" smtClean="0"/>
              <a:t>Lazy Load</a:t>
            </a:r>
            <a:endParaRPr lang="es-ES" dirty="0"/>
          </a:p>
        </p:txBody>
      </p:sp>
      <p:sp>
        <p:nvSpPr>
          <p:cNvPr id="3" name="Marcador de contenido 2"/>
          <p:cNvSpPr>
            <a:spLocks noGrp="1"/>
          </p:cNvSpPr>
          <p:nvPr>
            <p:ph idx="1"/>
          </p:nvPr>
        </p:nvSpPr>
        <p:spPr>
          <a:xfrm>
            <a:off x="4706911" y="1693888"/>
            <a:ext cx="7350394" cy="4721902"/>
          </a:xfrm>
        </p:spPr>
        <p:txBody>
          <a:bodyPr>
            <a:noAutofit/>
          </a:bodyPr>
          <a:lstStyle/>
          <a:p>
            <a:pPr>
              <a:buFont typeface="Wingdings" pitchFamily="2" charset="2"/>
              <a:buChar char="Ø"/>
            </a:pPr>
            <a:r>
              <a:rPr lang="es-ES" dirty="0" smtClean="0"/>
              <a:t>Funcionamiento</a:t>
            </a:r>
          </a:p>
          <a:p>
            <a:pPr marL="544068" lvl="1" indent="-342900">
              <a:buFont typeface="+mj-lt"/>
              <a:buAutoNum type="arabicPeriod"/>
            </a:pPr>
            <a:r>
              <a:rPr lang="es-ES" sz="2000" dirty="0" smtClean="0"/>
              <a:t>Inicialización </a:t>
            </a:r>
            <a:r>
              <a:rPr lang="es-ES" sz="2000" dirty="0"/>
              <a:t>Diferida: En lugar de cargar todos los datos o recursos de inmediato al crear un objeto, el </a:t>
            </a:r>
            <a:r>
              <a:rPr lang="es-ES" sz="2000" dirty="0" err="1"/>
              <a:t>Lazy</a:t>
            </a:r>
            <a:r>
              <a:rPr lang="es-ES" sz="2000" dirty="0"/>
              <a:t> </a:t>
            </a:r>
            <a:r>
              <a:rPr lang="es-ES" sz="2000" dirty="0" smtClean="0"/>
              <a:t>Load </a:t>
            </a:r>
            <a:r>
              <a:rPr lang="es-ES" sz="2000" dirty="0"/>
              <a:t>permite que la carga se realice solo cuando se accede a esos datos o recursos por primera vez. Esto significa que si un objeto tiene propiedades o colecciones que no siempre se necesitan, estas no se cargarán hasta que se soliciten.</a:t>
            </a:r>
          </a:p>
          <a:p>
            <a:pPr marL="544068" lvl="1" indent="-342900">
              <a:buFont typeface="+mj-lt"/>
              <a:buAutoNum type="arabicPeriod"/>
            </a:pPr>
            <a:r>
              <a:rPr lang="es-ES" sz="2000" dirty="0" err="1" smtClean="0"/>
              <a:t>Proxies</a:t>
            </a:r>
            <a:r>
              <a:rPr lang="es-ES" sz="2000" dirty="0" smtClean="0"/>
              <a:t> </a:t>
            </a:r>
            <a:r>
              <a:rPr lang="es-ES" sz="2000" dirty="0"/>
              <a:t>o Representaciones: A menudo, el </a:t>
            </a:r>
            <a:r>
              <a:rPr lang="es-ES" sz="2000" dirty="0" err="1"/>
              <a:t>Lazy</a:t>
            </a:r>
            <a:r>
              <a:rPr lang="es-ES" sz="2000" dirty="0"/>
              <a:t> </a:t>
            </a:r>
            <a:r>
              <a:rPr lang="es-ES" sz="2000" dirty="0" smtClean="0"/>
              <a:t>Load </a:t>
            </a:r>
            <a:r>
              <a:rPr lang="es-ES" sz="2000" dirty="0"/>
              <a:t>se implementa utilizando un proxy o una representación ligera del objeto real. Este proxy intercepta las llamadas a métodos o propiedades y, cuando se accede a una propiedad que aún no ha sido cargada, el proxy carga el objeto real en ese momento.</a:t>
            </a:r>
          </a:p>
          <a:p>
            <a:pPr marL="544068" lvl="1" indent="-342900">
              <a:buFont typeface="+mj-lt"/>
              <a:buAutoNum type="arabicPeriod"/>
            </a:pPr>
            <a:r>
              <a:rPr lang="es-ES" sz="2000" dirty="0" smtClean="0"/>
              <a:t>Control </a:t>
            </a:r>
            <a:r>
              <a:rPr lang="es-ES" sz="2000" dirty="0"/>
              <a:t>de Carga: El patrón permite un control más granular sobre qué datos se cargan y cuándo, lo que puede resultar en una mejora significativa del rendimiento, especialmente en aplicaciones que manejan grandes conjuntos de datos.</a:t>
            </a:r>
            <a:endParaRPr lang="es-ES" sz="2000" dirty="0" smtClean="0"/>
          </a:p>
        </p:txBody>
      </p:sp>
      <p:pic>
        <p:nvPicPr>
          <p:cNvPr id="5" name="Picture 2"/>
          <p:cNvPicPr>
            <a:picLocks noChangeAspect="1" noChangeArrowheads="1"/>
          </p:cNvPicPr>
          <p:nvPr/>
        </p:nvPicPr>
        <p:blipFill>
          <a:blip r:embed="rId3" cstate="print"/>
          <a:srcRect/>
          <a:stretch>
            <a:fillRect/>
          </a:stretch>
        </p:blipFill>
        <p:spPr bwMode="auto">
          <a:xfrm>
            <a:off x="0" y="1828800"/>
            <a:ext cx="4706911" cy="4137285"/>
          </a:xfrm>
          <a:prstGeom prst="rect">
            <a:avLst/>
          </a:prstGeom>
          <a:noFill/>
          <a:ln w="9525">
            <a:noFill/>
            <a:miter lim="800000"/>
            <a:headEnd/>
            <a:tailEnd/>
          </a:ln>
          <a:effectLst/>
        </p:spPr>
      </p:pic>
    </p:spTree>
    <p:extLst>
      <p:ext uri="{BB962C8B-B14F-4D97-AF65-F5344CB8AC3E}">
        <p14:creationId xmlns:p14="http://schemas.microsoft.com/office/powerpoint/2010/main" val="1846277653"/>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97280" y="286603"/>
            <a:ext cx="10819900" cy="1263901"/>
          </a:xfrm>
        </p:spPr>
        <p:txBody>
          <a:bodyPr>
            <a:normAutofit/>
          </a:bodyPr>
          <a:lstStyle/>
          <a:p>
            <a:pPr algn="ctr"/>
            <a:r>
              <a:rPr lang="en-US" dirty="0"/>
              <a:t>Lazy Load</a:t>
            </a:r>
            <a:r>
              <a:rPr lang="en-US" dirty="0" smtClean="0"/>
              <a:t>: </a:t>
            </a:r>
            <a:r>
              <a:rPr lang="en-US" dirty="0" err="1" smtClean="0"/>
              <a:t>ejemplo</a:t>
            </a:r>
            <a:r>
              <a:rPr lang="en-US" dirty="0" smtClean="0"/>
              <a:t> </a:t>
            </a:r>
            <a:endParaRPr lang="es-ES" dirty="0"/>
          </a:p>
        </p:txBody>
      </p:sp>
      <p:sp>
        <p:nvSpPr>
          <p:cNvPr id="3" name="Marcador de contenido 2"/>
          <p:cNvSpPr>
            <a:spLocks noGrp="1"/>
          </p:cNvSpPr>
          <p:nvPr>
            <p:ph idx="1"/>
          </p:nvPr>
        </p:nvSpPr>
        <p:spPr>
          <a:xfrm>
            <a:off x="419726" y="1744266"/>
            <a:ext cx="4691920" cy="4537264"/>
          </a:xfrm>
        </p:spPr>
        <p:txBody>
          <a:bodyPr>
            <a:noAutofit/>
          </a:bodyPr>
          <a:lstStyle/>
          <a:p>
            <a:pPr>
              <a:buFont typeface="Wingdings" pitchFamily="2" charset="2"/>
              <a:buChar char="Ø"/>
            </a:pPr>
            <a:r>
              <a:rPr lang="es-ES" dirty="0" err="1" smtClean="0"/>
              <a:t>Entity</a:t>
            </a:r>
            <a:r>
              <a:rPr lang="es-ES" dirty="0" smtClean="0"/>
              <a:t> </a:t>
            </a:r>
            <a:r>
              <a:rPr lang="es-ES" dirty="0"/>
              <a:t>Framework </a:t>
            </a:r>
            <a:r>
              <a:rPr lang="es-ES" dirty="0" smtClean="0"/>
              <a:t>utiliza </a:t>
            </a:r>
            <a:r>
              <a:rPr lang="es-ES" dirty="0"/>
              <a:t>carga diferida para cargar entidades relacionadas. Cuando se navega por una propiedad de navegación (por ejemplo, una colección de </a:t>
            </a:r>
            <a:r>
              <a:rPr lang="es-ES" dirty="0" err="1"/>
              <a:t>Posts</a:t>
            </a:r>
            <a:r>
              <a:rPr lang="es-ES" dirty="0"/>
              <a:t> en un Blog), EF carga esos datos desde la base de datos solo cuando se accede a ellos por primera vez</a:t>
            </a:r>
            <a:r>
              <a:rPr lang="es-ES" dirty="0" smtClean="0"/>
              <a:t>.</a:t>
            </a:r>
          </a:p>
          <a:p>
            <a:pPr>
              <a:buFont typeface="Wingdings" pitchFamily="2" charset="2"/>
              <a:buChar char="Ø"/>
            </a:pPr>
            <a:r>
              <a:rPr lang="es-ES" dirty="0" smtClean="0"/>
              <a:t>LINQ </a:t>
            </a:r>
            <a:r>
              <a:rPr lang="es-ES" dirty="0" err="1"/>
              <a:t>to</a:t>
            </a:r>
            <a:r>
              <a:rPr lang="es-ES" dirty="0"/>
              <a:t> </a:t>
            </a:r>
            <a:r>
              <a:rPr lang="es-ES" dirty="0" err="1"/>
              <a:t>Entities</a:t>
            </a:r>
            <a:r>
              <a:rPr lang="es-ES" dirty="0"/>
              <a:t> también utiliza carga diferida. Las consultas a la base de datos no se ejecutan hasta que se itera sobre los resultados</a:t>
            </a:r>
            <a:r>
              <a:rPr lang="es-ES" dirty="0" smtClean="0"/>
              <a:t>.</a:t>
            </a:r>
          </a:p>
          <a:p>
            <a:pPr>
              <a:buFont typeface="Wingdings" pitchFamily="2" charset="2"/>
              <a:buChar char="Ø"/>
            </a:pPr>
            <a:r>
              <a:rPr lang="es-ES" dirty="0" smtClean="0"/>
              <a:t>La </a:t>
            </a:r>
            <a:r>
              <a:rPr lang="es-ES" dirty="0"/>
              <a:t>clase </a:t>
            </a:r>
            <a:r>
              <a:rPr lang="es-ES" dirty="0" err="1"/>
              <a:t>Lazy</a:t>
            </a:r>
            <a:r>
              <a:rPr lang="es-ES" dirty="0"/>
              <a:t>&lt;T&gt; en .NET proporciona una implementación sencilla del patrón de carga diferida. Permite inicializar un objeto de forma perezosa, es decir, solo cuando se necesita.</a:t>
            </a:r>
          </a:p>
        </p:txBody>
      </p:sp>
      <p:pic>
        <p:nvPicPr>
          <p:cNvPr id="4" name="3 Imagen"/>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20438" y="1798816"/>
            <a:ext cx="5896939" cy="1678901"/>
          </a:xfrm>
          <a:prstGeom prst="rect">
            <a:avLst/>
          </a:prstGeom>
        </p:spPr>
      </p:pic>
      <p:pic>
        <p:nvPicPr>
          <p:cNvPr id="5" name="4 Imagen"/>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720439" y="3600036"/>
            <a:ext cx="5896938" cy="1377497"/>
          </a:xfrm>
          <a:prstGeom prst="rect">
            <a:avLst/>
          </a:prstGeom>
        </p:spPr>
      </p:pic>
      <p:pic>
        <p:nvPicPr>
          <p:cNvPr id="6" name="5 Imagen"/>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720438" y="5127434"/>
            <a:ext cx="5896939" cy="1213405"/>
          </a:xfrm>
          <a:prstGeom prst="rect">
            <a:avLst/>
          </a:prstGeom>
        </p:spPr>
      </p:pic>
      <p:sp>
        <p:nvSpPr>
          <p:cNvPr id="7" name="6 Flecha derecha"/>
          <p:cNvSpPr/>
          <p:nvPr/>
        </p:nvSpPr>
        <p:spPr>
          <a:xfrm>
            <a:off x="4976735" y="2320996"/>
            <a:ext cx="743703" cy="4846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8" name="7 Flecha derecha"/>
          <p:cNvSpPr/>
          <p:nvPr/>
        </p:nvSpPr>
        <p:spPr>
          <a:xfrm>
            <a:off x="4943852" y="4288784"/>
            <a:ext cx="743703" cy="4846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9" name="8 Flecha derecha"/>
          <p:cNvSpPr/>
          <p:nvPr/>
        </p:nvSpPr>
        <p:spPr>
          <a:xfrm>
            <a:off x="4909279" y="5721613"/>
            <a:ext cx="743703" cy="4846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Tree>
    <p:extLst>
      <p:ext uri="{BB962C8B-B14F-4D97-AF65-F5344CB8AC3E}">
        <p14:creationId xmlns:p14="http://schemas.microsoft.com/office/powerpoint/2010/main" val="2388763074"/>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509666" y="286603"/>
            <a:ext cx="11407514" cy="1263901"/>
          </a:xfrm>
        </p:spPr>
        <p:txBody>
          <a:bodyPr>
            <a:normAutofit fontScale="90000"/>
          </a:bodyPr>
          <a:lstStyle/>
          <a:p>
            <a:pPr algn="ctr"/>
            <a:r>
              <a:rPr lang="en-US" dirty="0" err="1"/>
              <a:t>Patrones</a:t>
            </a:r>
            <a:r>
              <a:rPr lang="en-US" dirty="0"/>
              <a:t> de </a:t>
            </a:r>
            <a:r>
              <a:rPr lang="en-US" dirty="0" err="1"/>
              <a:t>comportamiento</a:t>
            </a:r>
            <a:r>
              <a:rPr lang="en-US" dirty="0"/>
              <a:t> </a:t>
            </a:r>
            <a:r>
              <a:rPr lang="en-US" dirty="0" err="1"/>
              <a:t>relacional</a:t>
            </a:r>
            <a:r>
              <a:rPr lang="en-US" dirty="0"/>
              <a:t> de </a:t>
            </a:r>
            <a:r>
              <a:rPr lang="en-US" dirty="0" err="1"/>
              <a:t>objetos</a:t>
            </a:r>
            <a:r>
              <a:rPr lang="en-US" dirty="0"/>
              <a:t> : </a:t>
            </a:r>
            <a:r>
              <a:rPr lang="en-US" dirty="0" err="1" smtClean="0"/>
              <a:t>Inconvenientes</a:t>
            </a:r>
            <a:endParaRPr lang="es-ES" dirty="0"/>
          </a:p>
        </p:txBody>
      </p:sp>
      <p:sp>
        <p:nvSpPr>
          <p:cNvPr id="3" name="Marcador de contenido 2"/>
          <p:cNvSpPr>
            <a:spLocks noGrp="1"/>
          </p:cNvSpPr>
          <p:nvPr>
            <p:ph idx="1"/>
          </p:nvPr>
        </p:nvSpPr>
        <p:spPr>
          <a:xfrm>
            <a:off x="1079292" y="1744266"/>
            <a:ext cx="10768151" cy="4537264"/>
          </a:xfrm>
        </p:spPr>
        <p:txBody>
          <a:bodyPr>
            <a:noAutofit/>
          </a:bodyPr>
          <a:lstStyle/>
          <a:p>
            <a:pPr>
              <a:buFont typeface="Wingdings" pitchFamily="2" charset="2"/>
              <a:buChar char="Ø"/>
            </a:pPr>
            <a:r>
              <a:rPr lang="es-ES" dirty="0"/>
              <a:t>  Mantener estados en memoria (como en el caso de </a:t>
            </a:r>
            <a:r>
              <a:rPr lang="es-ES" dirty="0" err="1"/>
              <a:t>Identity</a:t>
            </a:r>
            <a:r>
              <a:rPr lang="es-ES" dirty="0"/>
              <a:t> </a:t>
            </a:r>
            <a:r>
              <a:rPr lang="es-ES" dirty="0" err="1"/>
              <a:t>Map</a:t>
            </a:r>
            <a:r>
              <a:rPr lang="es-ES" dirty="0"/>
              <a:t>) o gestionar unidades de trabajo puede llevar a un mayor consumo de memoria y recursos del sistema, afectando el rendimiento, especialmente en aplicaciones grandes</a:t>
            </a:r>
            <a:r>
              <a:rPr lang="es-ES" dirty="0" smtClean="0"/>
              <a:t>.</a:t>
            </a:r>
          </a:p>
          <a:p>
            <a:pPr>
              <a:buFont typeface="Wingdings" pitchFamily="2" charset="2"/>
              <a:buChar char="Ø"/>
            </a:pPr>
            <a:r>
              <a:rPr lang="es-ES" dirty="0"/>
              <a:t>Aunque algunos patrones están diseñados para optimizar el acceso a datos, su uso ineficiente puede resultar en un rendimiento deficiente, por ejemplo, debido a múltiples consultas innecesarias (</a:t>
            </a:r>
            <a:r>
              <a:rPr lang="es-ES" dirty="0" err="1"/>
              <a:t>Lazy</a:t>
            </a:r>
            <a:r>
              <a:rPr lang="es-ES" dirty="0"/>
              <a:t> Load) o transacciones masivas (</a:t>
            </a:r>
            <a:r>
              <a:rPr lang="es-ES" dirty="0" err="1"/>
              <a:t>Unit</a:t>
            </a:r>
            <a:r>
              <a:rPr lang="es-ES" dirty="0"/>
              <a:t> of </a:t>
            </a:r>
            <a:r>
              <a:rPr lang="es-ES" dirty="0" err="1"/>
              <a:t>Work</a:t>
            </a:r>
            <a:r>
              <a:rPr lang="es-ES" dirty="0" smtClean="0"/>
              <a:t>).</a:t>
            </a:r>
          </a:p>
          <a:p>
            <a:pPr>
              <a:buFont typeface="Wingdings" pitchFamily="2" charset="2"/>
              <a:buChar char="Ø"/>
            </a:pPr>
            <a:r>
              <a:rPr lang="es-ES" dirty="0" smtClean="0">
                <a:cs typeface="Arial" panose="020B0604020202020204" pitchFamily="34" charset="0"/>
              </a:rPr>
              <a:t>La </a:t>
            </a:r>
            <a:r>
              <a:rPr lang="es-ES" dirty="0">
                <a:cs typeface="Arial" panose="020B0604020202020204" pitchFamily="34" charset="0"/>
              </a:rPr>
              <a:t>gestión de errores puede complicarse, especialmente cuando se trabaja con múltiples entidades y transacciones, lo que puede hacer que la reversión de cambios sea un desafío</a:t>
            </a:r>
            <a:r>
              <a:rPr lang="es-ES" dirty="0" smtClean="0">
                <a:cs typeface="Arial" panose="020B0604020202020204" pitchFamily="34" charset="0"/>
              </a:rPr>
              <a:t>.</a:t>
            </a:r>
          </a:p>
          <a:p>
            <a:pPr>
              <a:buFont typeface="Wingdings" pitchFamily="2" charset="2"/>
              <a:buChar char="Ø"/>
            </a:pPr>
            <a:r>
              <a:rPr lang="es-ES" dirty="0">
                <a:cs typeface="Arial" panose="020B0604020202020204" pitchFamily="34" charset="0"/>
              </a:rPr>
              <a:t>La sincronización y la consistencia de los datos pueden verse comprometidas, especialmente en entornos concurrentes donde múltiples hilos o procesos acceden y modifican los mismos datos</a:t>
            </a:r>
          </a:p>
          <a:p>
            <a:pPr>
              <a:buFont typeface="Wingdings" pitchFamily="2" charset="2"/>
              <a:buChar char="Ø"/>
            </a:pPr>
            <a:endParaRPr lang="es-ES" dirty="0" smtClean="0"/>
          </a:p>
          <a:p>
            <a:pPr>
              <a:buFont typeface="Wingdings" pitchFamily="2" charset="2"/>
              <a:buChar char="Ø"/>
            </a:pPr>
            <a:endParaRPr lang="es-ES" dirty="0"/>
          </a:p>
          <a:p>
            <a:pPr lvl="1">
              <a:buFont typeface="Wingdings" pitchFamily="2" charset="2"/>
              <a:buChar char="ü"/>
            </a:pPr>
            <a:endParaRPr lang="es-ES" dirty="0" smtClean="0"/>
          </a:p>
          <a:p>
            <a:pPr>
              <a:buFont typeface="Wingdings" pitchFamily="2" charset="2"/>
              <a:buChar char="Ø"/>
            </a:pPr>
            <a:endParaRPr lang="es-ES" dirty="0"/>
          </a:p>
          <a:p>
            <a:pPr>
              <a:buFont typeface="Wingdings" pitchFamily="2" charset="2"/>
              <a:buChar char="Ø"/>
            </a:pPr>
            <a:endParaRPr lang="es-ES" dirty="0"/>
          </a:p>
        </p:txBody>
      </p:sp>
    </p:spTree>
    <p:extLst>
      <p:ext uri="{BB962C8B-B14F-4D97-AF65-F5344CB8AC3E}">
        <p14:creationId xmlns:p14="http://schemas.microsoft.com/office/powerpoint/2010/main" val="25675858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209862" y="286603"/>
            <a:ext cx="11982138" cy="1263901"/>
          </a:xfrm>
        </p:spPr>
        <p:txBody>
          <a:bodyPr>
            <a:normAutofit fontScale="90000"/>
          </a:bodyPr>
          <a:lstStyle/>
          <a:p>
            <a:r>
              <a:rPr lang="en-US" dirty="0" err="1"/>
              <a:t>Patrones</a:t>
            </a:r>
            <a:r>
              <a:rPr lang="en-US" dirty="0"/>
              <a:t> de </a:t>
            </a:r>
            <a:r>
              <a:rPr lang="en-US" dirty="0" err="1" smtClean="0"/>
              <a:t>mapeo</a:t>
            </a:r>
            <a:r>
              <a:rPr lang="en-US" dirty="0" smtClean="0"/>
              <a:t> de </a:t>
            </a:r>
            <a:r>
              <a:rPr lang="en-US" dirty="0" err="1" smtClean="0"/>
              <a:t>metadatos</a:t>
            </a:r>
            <a:r>
              <a:rPr lang="en-US" dirty="0" smtClean="0"/>
              <a:t> </a:t>
            </a:r>
            <a:r>
              <a:rPr lang="en-US" dirty="0" err="1"/>
              <a:t>relacional</a:t>
            </a:r>
            <a:r>
              <a:rPr lang="en-US" dirty="0"/>
              <a:t> de </a:t>
            </a:r>
            <a:r>
              <a:rPr lang="en-US" dirty="0" err="1" smtClean="0"/>
              <a:t>objetos</a:t>
            </a:r>
            <a:r>
              <a:rPr lang="en-US" dirty="0"/>
              <a:t> (Object-Relational Metadata Mapping Patterns</a:t>
            </a:r>
            <a:r>
              <a:rPr lang="en-US" dirty="0" smtClean="0"/>
              <a:t>)*</a:t>
            </a:r>
            <a:endParaRPr lang="es-ES" dirty="0"/>
          </a:p>
        </p:txBody>
      </p:sp>
      <p:sp>
        <p:nvSpPr>
          <p:cNvPr id="3" name="Marcador de contenido 2"/>
          <p:cNvSpPr>
            <a:spLocks noGrp="1"/>
          </p:cNvSpPr>
          <p:nvPr>
            <p:ph idx="1"/>
          </p:nvPr>
        </p:nvSpPr>
        <p:spPr>
          <a:xfrm>
            <a:off x="458178" y="2553735"/>
            <a:ext cx="11569147" cy="2288088"/>
          </a:xfrm>
        </p:spPr>
        <p:txBody>
          <a:bodyPr>
            <a:noAutofit/>
          </a:bodyPr>
          <a:lstStyle/>
          <a:p>
            <a:pPr>
              <a:lnSpc>
                <a:spcPct val="100000"/>
              </a:lnSpc>
              <a:spcAft>
                <a:spcPts val="600"/>
              </a:spcAft>
              <a:buFont typeface="Wingdings" pitchFamily="2" charset="2"/>
              <a:buChar char="Ø"/>
            </a:pPr>
            <a:r>
              <a:rPr lang="en-US" sz="3200" b="1" dirty="0" smtClean="0"/>
              <a:t>Repository: </a:t>
            </a:r>
            <a:r>
              <a:rPr lang="es-ES" sz="3200" dirty="0" smtClean="0"/>
              <a:t>Este </a:t>
            </a:r>
            <a:r>
              <a:rPr lang="es-ES" sz="3200" dirty="0"/>
              <a:t>patrón es un mediador entre las capas de modelo de dominio y la de mapa de datos utilizando interfaces semejantes a colecciones para el acceso a los objetos de dominio.</a:t>
            </a:r>
          </a:p>
          <a:p>
            <a:pPr>
              <a:lnSpc>
                <a:spcPct val="100000"/>
              </a:lnSpc>
              <a:spcAft>
                <a:spcPts val="600"/>
              </a:spcAft>
              <a:buFont typeface="Wingdings" pitchFamily="2" charset="2"/>
              <a:buChar char="Ø"/>
            </a:pPr>
            <a:endParaRPr lang="es-ES" sz="3200" dirty="0"/>
          </a:p>
          <a:p>
            <a:pPr>
              <a:spcBef>
                <a:spcPts val="625"/>
              </a:spcBef>
              <a:buSzPct val="70000"/>
              <a:buFont typeface="Wingdings" pitchFamily="2" charset="2"/>
              <a:buChar char="Ø"/>
              <a:tabLst>
                <a:tab pos="911225" algn="l"/>
                <a:tab pos="1825625" algn="l"/>
                <a:tab pos="2740025" algn="l"/>
                <a:tab pos="3654425" algn="l"/>
                <a:tab pos="4568825" algn="l"/>
                <a:tab pos="5483225" algn="l"/>
                <a:tab pos="6397625" algn="l"/>
                <a:tab pos="7312025" algn="l"/>
                <a:tab pos="8226425" algn="l"/>
                <a:tab pos="9140825" algn="l"/>
                <a:tab pos="10055225" algn="l"/>
              </a:tabLst>
              <a:defRPr/>
            </a:pPr>
            <a:endParaRPr lang="en-US" sz="3600" dirty="0"/>
          </a:p>
        </p:txBody>
      </p:sp>
    </p:spTree>
    <p:extLst>
      <p:ext uri="{BB962C8B-B14F-4D97-AF65-F5344CB8AC3E}">
        <p14:creationId xmlns:p14="http://schemas.microsoft.com/office/powerpoint/2010/main" val="2906775294"/>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209862" y="286603"/>
            <a:ext cx="11982138" cy="1263901"/>
          </a:xfrm>
        </p:spPr>
        <p:txBody>
          <a:bodyPr>
            <a:normAutofit/>
          </a:bodyPr>
          <a:lstStyle/>
          <a:p>
            <a:pPr algn="ctr"/>
            <a:r>
              <a:rPr lang="en-US" dirty="0" smtClean="0"/>
              <a:t>Repository: </a:t>
            </a:r>
            <a:r>
              <a:rPr lang="en-US" dirty="0" err="1" smtClean="0"/>
              <a:t>ejemplo</a:t>
            </a:r>
            <a:endParaRPr lang="es-ES" dirty="0"/>
          </a:p>
        </p:txBody>
      </p:sp>
      <p:pic>
        <p:nvPicPr>
          <p:cNvPr id="5" name="4 Marcador de contenido"/>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908070" y="1783830"/>
            <a:ext cx="3810532" cy="2308485"/>
          </a:xfrm>
        </p:spPr>
      </p:pic>
      <p:pic>
        <p:nvPicPr>
          <p:cNvPr id="6" name="5 Imagen"/>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84420" y="4231129"/>
            <a:ext cx="3897442" cy="2094720"/>
          </a:xfrm>
          <a:prstGeom prst="rect">
            <a:avLst/>
          </a:prstGeom>
        </p:spPr>
      </p:pic>
      <p:pic>
        <p:nvPicPr>
          <p:cNvPr id="9" name="8 Imagen"/>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915002" y="1955202"/>
            <a:ext cx="7097116" cy="4419520"/>
          </a:xfrm>
          <a:prstGeom prst="rect">
            <a:avLst/>
          </a:prstGeom>
        </p:spPr>
      </p:pic>
    </p:spTree>
    <p:extLst>
      <p:ext uri="{BB962C8B-B14F-4D97-AF65-F5344CB8AC3E}">
        <p14:creationId xmlns:p14="http://schemas.microsoft.com/office/powerpoint/2010/main" val="3338499964"/>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209862" y="286603"/>
            <a:ext cx="11982138" cy="1263901"/>
          </a:xfrm>
        </p:spPr>
        <p:txBody>
          <a:bodyPr>
            <a:normAutofit/>
          </a:bodyPr>
          <a:lstStyle/>
          <a:p>
            <a:pPr algn="ctr"/>
            <a:r>
              <a:rPr lang="en-US" dirty="0"/>
              <a:t>Repository: </a:t>
            </a:r>
            <a:r>
              <a:rPr lang="en-US" dirty="0" err="1"/>
              <a:t>ejemplo</a:t>
            </a:r>
            <a:endParaRPr lang="es-ES" dirty="0"/>
          </a:p>
        </p:txBody>
      </p:sp>
      <p:pic>
        <p:nvPicPr>
          <p:cNvPr id="5" name="4 Imagen"/>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225258" y="1996270"/>
            <a:ext cx="4392119" cy="3939835"/>
          </a:xfrm>
          <a:prstGeom prst="rect">
            <a:avLst/>
          </a:prstGeom>
        </p:spPr>
      </p:pic>
      <p:pic>
        <p:nvPicPr>
          <p:cNvPr id="8" name="7 Imagen"/>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93563" y="1783831"/>
            <a:ext cx="6761874" cy="4542018"/>
          </a:xfrm>
          <a:prstGeom prst="rect">
            <a:avLst/>
          </a:prstGeom>
        </p:spPr>
      </p:pic>
    </p:spTree>
    <p:extLst>
      <p:ext uri="{BB962C8B-B14F-4D97-AF65-F5344CB8AC3E}">
        <p14:creationId xmlns:p14="http://schemas.microsoft.com/office/powerpoint/2010/main" val="2003900208"/>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209862" y="286603"/>
            <a:ext cx="11982138" cy="1263901"/>
          </a:xfrm>
        </p:spPr>
        <p:txBody>
          <a:bodyPr>
            <a:normAutofit/>
          </a:bodyPr>
          <a:lstStyle/>
          <a:p>
            <a:pPr algn="ctr"/>
            <a:r>
              <a:rPr lang="en-US" dirty="0"/>
              <a:t>Repository: </a:t>
            </a:r>
            <a:r>
              <a:rPr lang="en-US" dirty="0" err="1" smtClean="0"/>
              <a:t>Inconvenientes</a:t>
            </a:r>
            <a:endParaRPr lang="es-ES" dirty="0"/>
          </a:p>
        </p:txBody>
      </p:sp>
      <p:sp>
        <p:nvSpPr>
          <p:cNvPr id="3" name="Marcador de contenido 2"/>
          <p:cNvSpPr>
            <a:spLocks noGrp="1"/>
          </p:cNvSpPr>
          <p:nvPr>
            <p:ph idx="1"/>
          </p:nvPr>
        </p:nvSpPr>
        <p:spPr>
          <a:xfrm>
            <a:off x="1184223" y="1753850"/>
            <a:ext cx="10843102" cy="4557010"/>
          </a:xfrm>
        </p:spPr>
        <p:txBody>
          <a:bodyPr>
            <a:noAutofit/>
          </a:bodyPr>
          <a:lstStyle/>
          <a:p>
            <a:pPr>
              <a:lnSpc>
                <a:spcPct val="100000"/>
              </a:lnSpc>
              <a:spcAft>
                <a:spcPts val="600"/>
              </a:spcAft>
              <a:buFont typeface="Wingdings" pitchFamily="2" charset="2"/>
              <a:buChar char="Ø"/>
            </a:pPr>
            <a:r>
              <a:rPr lang="es-ES" dirty="0"/>
              <a:t> Rendimiento</a:t>
            </a:r>
          </a:p>
          <a:p>
            <a:pPr lvl="1">
              <a:lnSpc>
                <a:spcPct val="100000"/>
              </a:lnSpc>
              <a:spcAft>
                <a:spcPts val="600"/>
              </a:spcAft>
              <a:buFont typeface="Wingdings" pitchFamily="2" charset="2"/>
              <a:buChar char="ü"/>
            </a:pPr>
            <a:r>
              <a:rPr lang="es-ES" dirty="0" smtClean="0"/>
              <a:t>Costos </a:t>
            </a:r>
            <a:r>
              <a:rPr lang="es-ES" dirty="0"/>
              <a:t>de Abstracción: La capa de abstracción puede introducir una sobrecarga en términos de rendimiento, especialmente si se realizan múltiples llamadas a través de la interfaz del repositorio.</a:t>
            </a:r>
          </a:p>
          <a:p>
            <a:pPr lvl="1">
              <a:lnSpc>
                <a:spcPct val="100000"/>
              </a:lnSpc>
              <a:spcAft>
                <a:spcPts val="600"/>
              </a:spcAft>
              <a:buFont typeface="Wingdings" pitchFamily="2" charset="2"/>
              <a:buChar char="ü"/>
            </a:pPr>
            <a:r>
              <a:rPr lang="es-ES" dirty="0" smtClean="0"/>
              <a:t>Consultas </a:t>
            </a:r>
            <a:r>
              <a:rPr lang="es-ES" dirty="0"/>
              <a:t>Ineficientes: Si no se tiene cuidado al diseñar las consultas en los repositorios, se pueden generar consultas SQL ineficientes que afecten el rendimiento de la aplicación.</a:t>
            </a:r>
          </a:p>
          <a:p>
            <a:pPr>
              <a:lnSpc>
                <a:spcPct val="100000"/>
              </a:lnSpc>
              <a:spcAft>
                <a:spcPts val="600"/>
              </a:spcAft>
              <a:buFont typeface="Wingdings" pitchFamily="2" charset="2"/>
              <a:buChar char="Ø"/>
            </a:pPr>
            <a:r>
              <a:rPr lang="es-ES" dirty="0">
                <a:cs typeface="Arial" pitchFamily="34" charset="0"/>
              </a:rPr>
              <a:t>Acoplamiento</a:t>
            </a:r>
          </a:p>
          <a:p>
            <a:pPr lvl="1">
              <a:lnSpc>
                <a:spcPct val="100000"/>
              </a:lnSpc>
              <a:spcAft>
                <a:spcPts val="600"/>
              </a:spcAft>
              <a:buFont typeface="Wingdings" pitchFamily="2" charset="2"/>
              <a:buChar char="ü"/>
            </a:pPr>
            <a:r>
              <a:rPr lang="es-ES" dirty="0" smtClean="0">
                <a:cs typeface="Arial" pitchFamily="34" charset="0"/>
              </a:rPr>
              <a:t> </a:t>
            </a:r>
            <a:r>
              <a:rPr lang="es-ES" dirty="0">
                <a:cs typeface="Arial" pitchFamily="34" charset="0"/>
              </a:rPr>
              <a:t>Acoplamiento a la Implementación: Si los repositorios no están bien diseñados, las clases que los consumen pueden volverse demasiado dependientes de la implementación específica del repositorio, lo que dificulta su reutilización y prueba</a:t>
            </a:r>
            <a:r>
              <a:rPr lang="es-ES" dirty="0" smtClean="0">
                <a:cs typeface="Arial" pitchFamily="34" charset="0"/>
              </a:rPr>
              <a:t>.</a:t>
            </a:r>
          </a:p>
          <a:p>
            <a:pPr>
              <a:lnSpc>
                <a:spcPct val="100000"/>
              </a:lnSpc>
              <a:spcAft>
                <a:spcPts val="600"/>
              </a:spcAft>
              <a:buFont typeface="Wingdings" pitchFamily="2" charset="2"/>
              <a:buChar char="Ø"/>
            </a:pPr>
            <a:r>
              <a:rPr lang="es-ES" dirty="0">
                <a:cs typeface="Arial" pitchFamily="34" charset="0"/>
              </a:rPr>
              <a:t>. No Siempre Necesario</a:t>
            </a:r>
          </a:p>
          <a:p>
            <a:pPr lvl="1">
              <a:lnSpc>
                <a:spcPct val="100000"/>
              </a:lnSpc>
              <a:spcAft>
                <a:spcPts val="600"/>
              </a:spcAft>
              <a:buFont typeface="Wingdings" pitchFamily="2" charset="2"/>
              <a:buChar char="ü"/>
            </a:pPr>
            <a:r>
              <a:rPr lang="es-ES" dirty="0" smtClean="0">
                <a:cs typeface="Arial" pitchFamily="34" charset="0"/>
              </a:rPr>
              <a:t> </a:t>
            </a:r>
            <a:r>
              <a:rPr lang="es-ES" dirty="0">
                <a:cs typeface="Arial" pitchFamily="34" charset="0"/>
              </a:rPr>
              <a:t>Simplicidad en Proyectos Pequeños: En aplicaciones pequeñas o proyectos donde el acceso a datos es simple, implementar el patrón </a:t>
            </a:r>
            <a:r>
              <a:rPr lang="es-ES" dirty="0" err="1">
                <a:cs typeface="Arial" pitchFamily="34" charset="0"/>
              </a:rPr>
              <a:t>Repository</a:t>
            </a:r>
            <a:r>
              <a:rPr lang="es-ES" dirty="0">
                <a:cs typeface="Arial" pitchFamily="34" charset="0"/>
              </a:rPr>
              <a:t> puede ser innecesario y agregar complejidad sin beneficios claros.</a:t>
            </a:r>
          </a:p>
          <a:p>
            <a:pPr>
              <a:lnSpc>
                <a:spcPct val="100000"/>
              </a:lnSpc>
              <a:spcAft>
                <a:spcPts val="600"/>
              </a:spcAft>
              <a:buFont typeface="Wingdings" pitchFamily="2" charset="2"/>
              <a:buChar char="Ø"/>
            </a:pPr>
            <a:endParaRPr lang="es-ES" dirty="0" smtClean="0">
              <a:cs typeface="Arial" pitchFamily="34" charset="0"/>
            </a:endParaRPr>
          </a:p>
          <a:p>
            <a:pPr>
              <a:lnSpc>
                <a:spcPct val="100000"/>
              </a:lnSpc>
              <a:spcAft>
                <a:spcPts val="600"/>
              </a:spcAft>
              <a:buFont typeface="Wingdings" pitchFamily="2" charset="2"/>
              <a:buChar char="Ø"/>
            </a:pPr>
            <a:endParaRPr lang="es-ES" dirty="0"/>
          </a:p>
          <a:p>
            <a:pPr>
              <a:lnSpc>
                <a:spcPct val="100000"/>
              </a:lnSpc>
              <a:spcAft>
                <a:spcPts val="600"/>
              </a:spcAft>
              <a:buFont typeface="Wingdings" pitchFamily="2" charset="2"/>
              <a:buChar char="Ø"/>
            </a:pPr>
            <a:endParaRPr lang="es-ES" dirty="0" smtClean="0"/>
          </a:p>
          <a:p>
            <a:pPr>
              <a:lnSpc>
                <a:spcPct val="100000"/>
              </a:lnSpc>
              <a:spcAft>
                <a:spcPts val="600"/>
              </a:spcAft>
              <a:buFont typeface="Wingdings" pitchFamily="2" charset="2"/>
              <a:buChar char="Ø"/>
            </a:pPr>
            <a:endParaRPr lang="es-ES" dirty="0"/>
          </a:p>
          <a:p>
            <a:pPr>
              <a:lnSpc>
                <a:spcPct val="100000"/>
              </a:lnSpc>
              <a:spcAft>
                <a:spcPts val="600"/>
              </a:spcAft>
              <a:buFont typeface="Wingdings" pitchFamily="2" charset="2"/>
              <a:buChar char="Ø"/>
            </a:pPr>
            <a:endParaRPr lang="es-ES" sz="3200" dirty="0"/>
          </a:p>
          <a:p>
            <a:pPr>
              <a:spcBef>
                <a:spcPts val="625"/>
              </a:spcBef>
              <a:buSzPct val="70000"/>
              <a:buFont typeface="Wingdings" pitchFamily="2" charset="2"/>
              <a:buChar char="Ø"/>
              <a:tabLst>
                <a:tab pos="911225" algn="l"/>
                <a:tab pos="1825625" algn="l"/>
                <a:tab pos="2740025" algn="l"/>
                <a:tab pos="3654425" algn="l"/>
                <a:tab pos="4568825" algn="l"/>
                <a:tab pos="5483225" algn="l"/>
                <a:tab pos="6397625" algn="l"/>
                <a:tab pos="7312025" algn="l"/>
                <a:tab pos="8226425" algn="l"/>
                <a:tab pos="9140825" algn="l"/>
                <a:tab pos="10055225" algn="l"/>
              </a:tabLst>
              <a:defRPr/>
            </a:pPr>
            <a:endParaRPr lang="en-US" sz="3600" dirty="0"/>
          </a:p>
        </p:txBody>
      </p:sp>
    </p:spTree>
    <p:extLst>
      <p:ext uri="{BB962C8B-B14F-4D97-AF65-F5344CB8AC3E}">
        <p14:creationId xmlns:p14="http://schemas.microsoft.com/office/powerpoint/2010/main" val="2003900208"/>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209862" y="286603"/>
            <a:ext cx="11982138" cy="1263901"/>
          </a:xfrm>
        </p:spPr>
        <p:txBody>
          <a:bodyPr>
            <a:normAutofit fontScale="90000"/>
          </a:bodyPr>
          <a:lstStyle/>
          <a:p>
            <a:r>
              <a:rPr lang="en-US" dirty="0" err="1"/>
              <a:t>Patrón</a:t>
            </a:r>
            <a:r>
              <a:rPr lang="en-US" dirty="0"/>
              <a:t> </a:t>
            </a:r>
            <a:r>
              <a:rPr lang="en-US" dirty="0" smtClean="0"/>
              <a:t>CQRS(Command-Query Responsibility Segregation Patterns)*</a:t>
            </a:r>
            <a:endParaRPr lang="es-ES" dirty="0"/>
          </a:p>
        </p:txBody>
      </p:sp>
      <p:sp>
        <p:nvSpPr>
          <p:cNvPr id="3" name="Marcador de contenido 2"/>
          <p:cNvSpPr>
            <a:spLocks noGrp="1"/>
          </p:cNvSpPr>
          <p:nvPr>
            <p:ph idx="1"/>
          </p:nvPr>
        </p:nvSpPr>
        <p:spPr>
          <a:xfrm>
            <a:off x="353247" y="2029079"/>
            <a:ext cx="11569147" cy="4296770"/>
          </a:xfrm>
        </p:spPr>
        <p:txBody>
          <a:bodyPr>
            <a:noAutofit/>
          </a:bodyPr>
          <a:lstStyle/>
          <a:p>
            <a:pPr>
              <a:lnSpc>
                <a:spcPct val="100000"/>
              </a:lnSpc>
              <a:spcAft>
                <a:spcPts val="600"/>
              </a:spcAft>
              <a:buFont typeface="Wingdings" pitchFamily="2" charset="2"/>
              <a:buChar char="Ø"/>
            </a:pPr>
            <a:r>
              <a:rPr lang="en-US" sz="3200" b="1" dirty="0" smtClean="0"/>
              <a:t>CQRS: </a:t>
            </a:r>
            <a:r>
              <a:rPr lang="es-ES" sz="3200" dirty="0"/>
              <a:t> </a:t>
            </a:r>
            <a:r>
              <a:rPr lang="es-ES" sz="3200" dirty="0" smtClean="0"/>
              <a:t>Patrón que separa </a:t>
            </a:r>
            <a:r>
              <a:rPr lang="es-ES" sz="3200" dirty="0"/>
              <a:t>las operaciones de lectura y actualización de un almacén de datos</a:t>
            </a:r>
            <a:r>
              <a:rPr lang="es-ES" sz="3200" dirty="0" smtClean="0"/>
              <a:t>.</a:t>
            </a:r>
          </a:p>
          <a:p>
            <a:pPr>
              <a:lnSpc>
                <a:spcPct val="100000"/>
              </a:lnSpc>
              <a:spcAft>
                <a:spcPts val="600"/>
              </a:spcAft>
              <a:buFont typeface="Wingdings" pitchFamily="2" charset="2"/>
              <a:buChar char="Ø"/>
            </a:pPr>
            <a:r>
              <a:rPr lang="es-ES" sz="3200" dirty="0" smtClean="0"/>
              <a:t> La implementación </a:t>
            </a:r>
            <a:r>
              <a:rPr lang="es-ES" sz="3200" dirty="0"/>
              <a:t>de CQRS en la aplicación puede maximizar el rendimiento, la </a:t>
            </a:r>
            <a:r>
              <a:rPr lang="es-ES" sz="3200" dirty="0" smtClean="0"/>
              <a:t>escalabilidad y </a:t>
            </a:r>
            <a:r>
              <a:rPr lang="es-ES" sz="3200" dirty="0"/>
              <a:t>la seguridad</a:t>
            </a:r>
            <a:r>
              <a:rPr lang="es-ES" sz="3200" dirty="0" smtClean="0"/>
              <a:t>.</a:t>
            </a:r>
          </a:p>
          <a:p>
            <a:pPr>
              <a:lnSpc>
                <a:spcPct val="100000"/>
              </a:lnSpc>
              <a:spcAft>
                <a:spcPts val="600"/>
              </a:spcAft>
              <a:buFont typeface="Wingdings" pitchFamily="2" charset="2"/>
              <a:buChar char="Ø"/>
            </a:pPr>
            <a:r>
              <a:rPr lang="es-ES" sz="3200" dirty="0" smtClean="0"/>
              <a:t> </a:t>
            </a:r>
            <a:r>
              <a:rPr lang="es-ES" sz="3200" dirty="0"/>
              <a:t>La flexibilidad creada al migrar a CQRS permite que un </a:t>
            </a:r>
            <a:r>
              <a:rPr lang="es-ES" sz="3200" dirty="0" smtClean="0"/>
              <a:t>sistema evolucione mejor </a:t>
            </a:r>
            <a:r>
              <a:rPr lang="es-ES" sz="3200" dirty="0"/>
              <a:t>con el tiempo y evita que los comandos de actualización provoquen conflictos </a:t>
            </a:r>
            <a:r>
              <a:rPr lang="es-ES" sz="3200" dirty="0" smtClean="0"/>
              <a:t>de combinación </a:t>
            </a:r>
            <a:r>
              <a:rPr lang="es-ES" sz="3200" dirty="0"/>
              <a:t>en el nivel de dominio.</a:t>
            </a:r>
          </a:p>
          <a:p>
            <a:pPr>
              <a:lnSpc>
                <a:spcPct val="100000"/>
              </a:lnSpc>
              <a:spcAft>
                <a:spcPts val="600"/>
              </a:spcAft>
              <a:buFont typeface="Wingdings" pitchFamily="2" charset="2"/>
              <a:buChar char="Ø"/>
            </a:pPr>
            <a:endParaRPr lang="es-ES" sz="3200" dirty="0"/>
          </a:p>
          <a:p>
            <a:pPr>
              <a:spcBef>
                <a:spcPts val="625"/>
              </a:spcBef>
              <a:buSzPct val="70000"/>
              <a:buFont typeface="Wingdings" pitchFamily="2" charset="2"/>
              <a:buChar char="Ø"/>
              <a:tabLst>
                <a:tab pos="911225" algn="l"/>
                <a:tab pos="1825625" algn="l"/>
                <a:tab pos="2740025" algn="l"/>
                <a:tab pos="3654425" algn="l"/>
                <a:tab pos="4568825" algn="l"/>
                <a:tab pos="5483225" algn="l"/>
                <a:tab pos="6397625" algn="l"/>
                <a:tab pos="7312025" algn="l"/>
                <a:tab pos="8226425" algn="l"/>
                <a:tab pos="9140825" algn="l"/>
                <a:tab pos="10055225" algn="l"/>
              </a:tabLst>
              <a:defRPr/>
            </a:pPr>
            <a:endParaRPr lang="en-US" sz="3600" dirty="0"/>
          </a:p>
        </p:txBody>
      </p:sp>
    </p:spTree>
    <p:extLst>
      <p:ext uri="{BB962C8B-B14F-4D97-AF65-F5344CB8AC3E}">
        <p14:creationId xmlns:p14="http://schemas.microsoft.com/office/powerpoint/2010/main" val="3917409611"/>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209862" y="286603"/>
            <a:ext cx="11982138" cy="1263901"/>
          </a:xfrm>
        </p:spPr>
        <p:txBody>
          <a:bodyPr>
            <a:normAutofit/>
          </a:bodyPr>
          <a:lstStyle/>
          <a:p>
            <a:r>
              <a:rPr lang="en-US" dirty="0" err="1" smtClean="0"/>
              <a:t>Patrón</a:t>
            </a:r>
            <a:r>
              <a:rPr lang="en-US" dirty="0"/>
              <a:t> CQRS</a:t>
            </a:r>
            <a:r>
              <a:rPr lang="en-US" dirty="0" smtClean="0"/>
              <a:t>: </a:t>
            </a:r>
            <a:r>
              <a:rPr lang="en-US" dirty="0" err="1" smtClean="0"/>
              <a:t>Contexto</a:t>
            </a:r>
            <a:r>
              <a:rPr lang="en-US" dirty="0" smtClean="0"/>
              <a:t> </a:t>
            </a:r>
            <a:r>
              <a:rPr lang="en-US" dirty="0"/>
              <a:t>y </a:t>
            </a:r>
            <a:r>
              <a:rPr lang="en-US" dirty="0" err="1"/>
              <a:t>problema</a:t>
            </a:r>
            <a:endParaRPr lang="es-ES" dirty="0"/>
          </a:p>
        </p:txBody>
      </p:sp>
      <p:sp>
        <p:nvSpPr>
          <p:cNvPr id="3" name="Marcador de contenido 2"/>
          <p:cNvSpPr>
            <a:spLocks noGrp="1"/>
          </p:cNvSpPr>
          <p:nvPr>
            <p:ph idx="1"/>
          </p:nvPr>
        </p:nvSpPr>
        <p:spPr>
          <a:xfrm>
            <a:off x="4407108" y="1819217"/>
            <a:ext cx="7659974" cy="4611564"/>
          </a:xfrm>
        </p:spPr>
        <p:txBody>
          <a:bodyPr>
            <a:noAutofit/>
          </a:bodyPr>
          <a:lstStyle/>
          <a:p>
            <a:pPr>
              <a:lnSpc>
                <a:spcPct val="100000"/>
              </a:lnSpc>
              <a:spcBef>
                <a:spcPts val="400"/>
              </a:spcBef>
              <a:spcAft>
                <a:spcPts val="400"/>
              </a:spcAft>
              <a:buFont typeface="Wingdings" pitchFamily="2" charset="2"/>
              <a:buChar char="Ø"/>
            </a:pPr>
            <a:r>
              <a:rPr lang="es-ES" dirty="0" smtClean="0"/>
              <a:t>Incoherencia </a:t>
            </a:r>
            <a:r>
              <a:rPr lang="es-ES" dirty="0"/>
              <a:t>entre las representaciones de lectura y escritura </a:t>
            </a:r>
            <a:r>
              <a:rPr lang="es-ES" dirty="0" smtClean="0"/>
              <a:t>de los </a:t>
            </a:r>
            <a:r>
              <a:rPr lang="es-ES" dirty="0"/>
              <a:t>datos, como columnas o propiedades adicionales que se deben </a:t>
            </a:r>
            <a:r>
              <a:rPr lang="es-ES" dirty="0" smtClean="0"/>
              <a:t>actualizar correctamente </a:t>
            </a:r>
            <a:r>
              <a:rPr lang="es-ES" dirty="0"/>
              <a:t>incluso aunque no sean necesarias como parte de una </a:t>
            </a:r>
            <a:r>
              <a:rPr lang="es-ES" dirty="0" smtClean="0"/>
              <a:t>operación.</a:t>
            </a:r>
          </a:p>
          <a:p>
            <a:pPr>
              <a:lnSpc>
                <a:spcPct val="100000"/>
              </a:lnSpc>
              <a:spcBef>
                <a:spcPts val="400"/>
              </a:spcBef>
              <a:spcAft>
                <a:spcPts val="400"/>
              </a:spcAft>
              <a:buFont typeface="Wingdings" pitchFamily="2" charset="2"/>
              <a:buChar char="Ø"/>
            </a:pPr>
            <a:r>
              <a:rPr lang="es-ES" dirty="0"/>
              <a:t>La contención de datos puede producirse cuando las operaciones se realizan </a:t>
            </a:r>
            <a:r>
              <a:rPr lang="es-ES" dirty="0" smtClean="0"/>
              <a:t>en paralelo </a:t>
            </a:r>
            <a:r>
              <a:rPr lang="es-ES" dirty="0"/>
              <a:t>en el mismo conjunto de </a:t>
            </a:r>
            <a:r>
              <a:rPr lang="es-ES" dirty="0" smtClean="0"/>
              <a:t>datos</a:t>
            </a:r>
          </a:p>
          <a:p>
            <a:pPr>
              <a:lnSpc>
                <a:spcPct val="100000"/>
              </a:lnSpc>
              <a:spcBef>
                <a:spcPts val="400"/>
              </a:spcBef>
              <a:spcAft>
                <a:spcPts val="400"/>
              </a:spcAft>
              <a:buFont typeface="Wingdings" pitchFamily="2" charset="2"/>
              <a:buChar char="Ø"/>
            </a:pPr>
            <a:r>
              <a:rPr lang="es-ES" dirty="0"/>
              <a:t>El enfoque tradicional puede tener un impacto negativo en el rendimiento debido a </a:t>
            </a:r>
            <a:r>
              <a:rPr lang="es-ES" dirty="0" smtClean="0"/>
              <a:t>la carga </a:t>
            </a:r>
            <a:r>
              <a:rPr lang="es-ES" dirty="0"/>
              <a:t>en el almacén de datos y al nivel de acceso a los datos, y la complejidad de </a:t>
            </a:r>
            <a:r>
              <a:rPr lang="es-ES" dirty="0" smtClean="0"/>
              <a:t>las consultas </a:t>
            </a:r>
            <a:r>
              <a:rPr lang="es-ES" dirty="0"/>
              <a:t>necesarias para recuperar la </a:t>
            </a:r>
            <a:r>
              <a:rPr lang="es-ES" dirty="0" smtClean="0"/>
              <a:t>información.</a:t>
            </a:r>
          </a:p>
          <a:p>
            <a:pPr>
              <a:lnSpc>
                <a:spcPct val="100000"/>
              </a:lnSpc>
              <a:spcBef>
                <a:spcPts val="400"/>
              </a:spcBef>
              <a:spcAft>
                <a:spcPts val="400"/>
              </a:spcAft>
              <a:buFont typeface="Wingdings" pitchFamily="2" charset="2"/>
              <a:buChar char="Ø"/>
            </a:pPr>
            <a:r>
              <a:rPr lang="es-ES" dirty="0"/>
              <a:t> la administración de la seguridad y los permisos se vuelva </a:t>
            </a:r>
            <a:r>
              <a:rPr lang="es-ES" dirty="0" smtClean="0"/>
              <a:t>más compleja </a:t>
            </a:r>
            <a:r>
              <a:rPr lang="es-ES" dirty="0"/>
              <a:t>ya que cada entidad está sujeta a operaciones de lectura y de escritura, </a:t>
            </a:r>
            <a:r>
              <a:rPr lang="es-ES" dirty="0" smtClean="0"/>
              <a:t>lo cual </a:t>
            </a:r>
            <a:r>
              <a:rPr lang="es-ES" dirty="0"/>
              <a:t>podría exponer los datos en el contexto equivocado.</a:t>
            </a:r>
          </a:p>
          <a:p>
            <a:pPr>
              <a:spcBef>
                <a:spcPts val="625"/>
              </a:spcBef>
              <a:buSzPct val="70000"/>
              <a:buFont typeface="Wingdings" pitchFamily="2" charset="2"/>
              <a:buChar char="Ø"/>
              <a:tabLst>
                <a:tab pos="911225" algn="l"/>
                <a:tab pos="1825625" algn="l"/>
                <a:tab pos="2740025" algn="l"/>
                <a:tab pos="3654425" algn="l"/>
                <a:tab pos="4568825" algn="l"/>
                <a:tab pos="5483225" algn="l"/>
                <a:tab pos="6397625" algn="l"/>
                <a:tab pos="7312025" algn="l"/>
                <a:tab pos="8226425" algn="l"/>
                <a:tab pos="9140825" algn="l"/>
                <a:tab pos="10055225" algn="l"/>
              </a:tabLst>
              <a:defRPr/>
            </a:pPr>
            <a:endParaRPr lang="en-US" sz="3600" dirty="0"/>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7488" y="1989867"/>
            <a:ext cx="4149620" cy="2638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166800607"/>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209862" y="286603"/>
            <a:ext cx="11982138" cy="1263901"/>
          </a:xfrm>
        </p:spPr>
        <p:txBody>
          <a:bodyPr>
            <a:normAutofit/>
          </a:bodyPr>
          <a:lstStyle/>
          <a:p>
            <a:r>
              <a:rPr lang="en-US" dirty="0" err="1" smtClean="0"/>
              <a:t>Patrón</a:t>
            </a:r>
            <a:r>
              <a:rPr lang="en-US" dirty="0"/>
              <a:t> CQRS: </a:t>
            </a:r>
            <a:r>
              <a:rPr lang="en-US" dirty="0" err="1"/>
              <a:t>Solución</a:t>
            </a:r>
            <a:endParaRPr lang="es-ES" dirty="0"/>
          </a:p>
        </p:txBody>
      </p:sp>
      <p:sp>
        <p:nvSpPr>
          <p:cNvPr id="3" name="Marcador de contenido 2"/>
          <p:cNvSpPr>
            <a:spLocks noGrp="1"/>
          </p:cNvSpPr>
          <p:nvPr>
            <p:ph idx="1"/>
          </p:nvPr>
        </p:nvSpPr>
        <p:spPr>
          <a:xfrm>
            <a:off x="4407108" y="1819217"/>
            <a:ext cx="7659974" cy="4611564"/>
          </a:xfrm>
        </p:spPr>
        <p:txBody>
          <a:bodyPr>
            <a:noAutofit/>
          </a:bodyPr>
          <a:lstStyle/>
          <a:p>
            <a:pPr>
              <a:lnSpc>
                <a:spcPct val="100000"/>
              </a:lnSpc>
              <a:spcBef>
                <a:spcPts val="400"/>
              </a:spcBef>
              <a:spcAft>
                <a:spcPts val="400"/>
              </a:spcAft>
              <a:buFont typeface="Wingdings" pitchFamily="2" charset="2"/>
              <a:buChar char="Ø"/>
            </a:pPr>
            <a:r>
              <a:rPr lang="es-ES" dirty="0" smtClean="0"/>
              <a:t>Los comandos se deben basar en tareas, en lugar de centrarse en los datos. </a:t>
            </a:r>
            <a:r>
              <a:rPr lang="en-US" dirty="0"/>
              <a:t>("</a:t>
            </a:r>
            <a:r>
              <a:rPr lang="en-US" dirty="0" smtClean="0"/>
              <a:t>Book hotel </a:t>
            </a:r>
            <a:r>
              <a:rPr lang="en-US" dirty="0"/>
              <a:t>room", no "set </a:t>
            </a:r>
            <a:r>
              <a:rPr lang="en-US" dirty="0" err="1"/>
              <a:t>ReservationStatus</a:t>
            </a:r>
            <a:r>
              <a:rPr lang="en-US" dirty="0"/>
              <a:t> to Reserved</a:t>
            </a:r>
            <a:r>
              <a:rPr lang="en-US" dirty="0" smtClean="0"/>
              <a:t>")</a:t>
            </a:r>
          </a:p>
          <a:p>
            <a:pPr>
              <a:lnSpc>
                <a:spcPct val="100000"/>
              </a:lnSpc>
              <a:spcBef>
                <a:spcPts val="400"/>
              </a:spcBef>
              <a:spcAft>
                <a:spcPts val="400"/>
              </a:spcAft>
              <a:buFont typeface="Wingdings" pitchFamily="2" charset="2"/>
              <a:buChar char="Ø"/>
            </a:pPr>
            <a:endParaRPr lang="es-ES" dirty="0" smtClean="0"/>
          </a:p>
          <a:p>
            <a:pPr>
              <a:lnSpc>
                <a:spcPct val="100000"/>
              </a:lnSpc>
              <a:spcBef>
                <a:spcPts val="400"/>
              </a:spcBef>
              <a:spcAft>
                <a:spcPts val="400"/>
              </a:spcAft>
              <a:buFont typeface="Wingdings" pitchFamily="2" charset="2"/>
              <a:buChar char="Ø"/>
            </a:pPr>
            <a:r>
              <a:rPr lang="es-ES" dirty="0" smtClean="0"/>
              <a:t>Los </a:t>
            </a:r>
            <a:r>
              <a:rPr lang="es-ES" dirty="0"/>
              <a:t>comandos se pueden colocar en una cola para su procesamiento asincrónico, </a:t>
            </a:r>
            <a:r>
              <a:rPr lang="es-ES" dirty="0" smtClean="0"/>
              <a:t>en lugar </a:t>
            </a:r>
            <a:r>
              <a:rPr lang="es-ES" dirty="0"/>
              <a:t>de procesarse sincrónicamente</a:t>
            </a:r>
            <a:r>
              <a:rPr lang="es-ES" dirty="0" smtClean="0"/>
              <a:t>.</a:t>
            </a:r>
          </a:p>
          <a:p>
            <a:pPr>
              <a:lnSpc>
                <a:spcPct val="100000"/>
              </a:lnSpc>
              <a:spcBef>
                <a:spcPts val="400"/>
              </a:spcBef>
              <a:spcAft>
                <a:spcPts val="400"/>
              </a:spcAft>
              <a:buFont typeface="Wingdings" pitchFamily="2" charset="2"/>
              <a:buChar char="Ø"/>
            </a:pPr>
            <a:endParaRPr lang="es-ES" dirty="0" smtClean="0"/>
          </a:p>
          <a:p>
            <a:pPr>
              <a:lnSpc>
                <a:spcPct val="100000"/>
              </a:lnSpc>
              <a:spcBef>
                <a:spcPts val="400"/>
              </a:spcBef>
              <a:spcAft>
                <a:spcPts val="400"/>
              </a:spcAft>
              <a:buFont typeface="Wingdings" pitchFamily="2" charset="2"/>
              <a:buChar char="Ø"/>
            </a:pPr>
            <a:r>
              <a:rPr lang="es-ES" dirty="0"/>
              <a:t>Las consultas nunca modifican la base de datos. Una consulta devuelve un DTO </a:t>
            </a:r>
            <a:r>
              <a:rPr lang="es-ES" dirty="0" smtClean="0"/>
              <a:t>que no </a:t>
            </a:r>
            <a:r>
              <a:rPr lang="es-ES" dirty="0"/>
              <a:t>encapsula ningún conocimiento del dominio</a:t>
            </a:r>
            <a:r>
              <a:rPr lang="es-ES" dirty="0" smtClean="0"/>
              <a:t>.</a:t>
            </a:r>
          </a:p>
          <a:p>
            <a:pPr>
              <a:lnSpc>
                <a:spcPct val="100000"/>
              </a:lnSpc>
              <a:spcBef>
                <a:spcPts val="400"/>
              </a:spcBef>
              <a:spcAft>
                <a:spcPts val="400"/>
              </a:spcAft>
              <a:buFont typeface="Wingdings" pitchFamily="2" charset="2"/>
              <a:buChar char="Ø"/>
            </a:pPr>
            <a:r>
              <a:rPr lang="es-ES" dirty="0" smtClean="0"/>
              <a:t>Se </a:t>
            </a:r>
            <a:r>
              <a:rPr lang="es-ES" dirty="0"/>
              <a:t>pueden aislar los </a:t>
            </a:r>
            <a:r>
              <a:rPr lang="es-ES" dirty="0" smtClean="0"/>
              <a:t>modelos teniendo un modelo de lectura(consulta) y otro de escritura (actualización)</a:t>
            </a:r>
            <a:endParaRPr lang="es-ES" dirty="0"/>
          </a:p>
          <a:p>
            <a:pPr>
              <a:lnSpc>
                <a:spcPct val="100000"/>
              </a:lnSpc>
              <a:spcBef>
                <a:spcPts val="400"/>
              </a:spcBef>
              <a:spcAft>
                <a:spcPts val="400"/>
              </a:spcAft>
              <a:buFont typeface="Wingdings" pitchFamily="2" charset="2"/>
              <a:buChar char="Ø"/>
            </a:pPr>
            <a:endParaRPr lang="es-ES" dirty="0" smtClean="0"/>
          </a:p>
          <a:p>
            <a:pPr>
              <a:spcBef>
                <a:spcPts val="625"/>
              </a:spcBef>
              <a:buSzPct val="70000"/>
              <a:buFont typeface="Wingdings" pitchFamily="2" charset="2"/>
              <a:buChar char="Ø"/>
              <a:tabLst>
                <a:tab pos="911225" algn="l"/>
                <a:tab pos="1825625" algn="l"/>
                <a:tab pos="2740025" algn="l"/>
                <a:tab pos="3654425" algn="l"/>
                <a:tab pos="4568825" algn="l"/>
                <a:tab pos="5483225" algn="l"/>
                <a:tab pos="6397625" algn="l"/>
                <a:tab pos="7312025" algn="l"/>
                <a:tab pos="8226425" algn="l"/>
                <a:tab pos="9140825" algn="l"/>
                <a:tab pos="10055225" algn="l"/>
              </a:tabLst>
              <a:defRPr/>
            </a:pPr>
            <a:endParaRPr lang="en-US" sz="3600" dirty="0"/>
          </a:p>
        </p:txBody>
      </p:sp>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4872" y="1790855"/>
            <a:ext cx="4152275" cy="4010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588593681"/>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209862" y="286603"/>
            <a:ext cx="11982138" cy="1263901"/>
          </a:xfrm>
        </p:spPr>
        <p:txBody>
          <a:bodyPr>
            <a:normAutofit/>
          </a:bodyPr>
          <a:lstStyle/>
          <a:p>
            <a:r>
              <a:rPr lang="en-US" dirty="0" err="1" smtClean="0"/>
              <a:t>Patrón</a:t>
            </a:r>
            <a:r>
              <a:rPr lang="en-US" dirty="0"/>
              <a:t> CQRS: </a:t>
            </a:r>
            <a:r>
              <a:rPr lang="en-US" dirty="0" smtClean="0"/>
              <a:t>mayor </a:t>
            </a:r>
            <a:r>
              <a:rPr lang="en-US" dirty="0" err="1" smtClean="0"/>
              <a:t>aislamiento</a:t>
            </a:r>
            <a:endParaRPr lang="es-ES" dirty="0"/>
          </a:p>
        </p:txBody>
      </p:sp>
      <p:sp>
        <p:nvSpPr>
          <p:cNvPr id="3" name="Marcador de contenido 2"/>
          <p:cNvSpPr>
            <a:spLocks noGrp="1"/>
          </p:cNvSpPr>
          <p:nvPr>
            <p:ph idx="1"/>
          </p:nvPr>
        </p:nvSpPr>
        <p:spPr>
          <a:xfrm>
            <a:off x="5396460" y="1882164"/>
            <a:ext cx="6795540" cy="4323764"/>
          </a:xfrm>
        </p:spPr>
        <p:txBody>
          <a:bodyPr>
            <a:noAutofit/>
          </a:bodyPr>
          <a:lstStyle/>
          <a:p>
            <a:pPr>
              <a:lnSpc>
                <a:spcPct val="100000"/>
              </a:lnSpc>
              <a:spcBef>
                <a:spcPts val="400"/>
              </a:spcBef>
              <a:spcAft>
                <a:spcPts val="400"/>
              </a:spcAft>
              <a:buFont typeface="Wingdings" pitchFamily="2" charset="2"/>
              <a:buChar char="Ø"/>
            </a:pPr>
            <a:r>
              <a:rPr lang="es-ES" dirty="0" smtClean="0"/>
              <a:t>Separación  </a:t>
            </a:r>
            <a:r>
              <a:rPr lang="es-ES" dirty="0"/>
              <a:t>físicamente los datos de lectura de </a:t>
            </a:r>
            <a:r>
              <a:rPr lang="es-ES" dirty="0" smtClean="0"/>
              <a:t>los datos </a:t>
            </a:r>
            <a:r>
              <a:rPr lang="es-ES" dirty="0"/>
              <a:t>de escritura. Por ejemplo, la base de datos de escritura puede ser relacional, </a:t>
            </a:r>
            <a:r>
              <a:rPr lang="es-ES" dirty="0" smtClean="0"/>
              <a:t>mientras que </a:t>
            </a:r>
            <a:r>
              <a:rPr lang="es-ES" dirty="0"/>
              <a:t>la base de datos de lectura es una base de datos de documentos</a:t>
            </a:r>
            <a:r>
              <a:rPr lang="es-ES" dirty="0" smtClean="0"/>
              <a:t>.</a:t>
            </a:r>
          </a:p>
          <a:p>
            <a:pPr>
              <a:lnSpc>
                <a:spcPct val="100000"/>
              </a:lnSpc>
              <a:spcBef>
                <a:spcPts val="400"/>
              </a:spcBef>
              <a:spcAft>
                <a:spcPts val="400"/>
              </a:spcAft>
              <a:buFont typeface="Wingdings" pitchFamily="2" charset="2"/>
              <a:buChar char="Ø"/>
            </a:pPr>
            <a:r>
              <a:rPr lang="es-ES" dirty="0" smtClean="0"/>
              <a:t>Mantener sincronizados ambas bases </a:t>
            </a:r>
            <a:r>
              <a:rPr lang="es-ES" dirty="0"/>
              <a:t>de datos, haciendo que el modelo de </a:t>
            </a:r>
            <a:r>
              <a:rPr lang="es-ES" dirty="0" smtClean="0"/>
              <a:t>escritura publique </a:t>
            </a:r>
            <a:r>
              <a:rPr lang="es-ES" dirty="0"/>
              <a:t>un evento cada vez que actualiza la base de datos (Estilo de arquitectura basada en eventos</a:t>
            </a:r>
            <a:r>
              <a:rPr lang="es-ES" dirty="0" smtClean="0"/>
              <a:t>)</a:t>
            </a:r>
          </a:p>
          <a:p>
            <a:pPr>
              <a:lnSpc>
                <a:spcPct val="100000"/>
              </a:lnSpc>
              <a:spcBef>
                <a:spcPts val="400"/>
              </a:spcBef>
              <a:spcAft>
                <a:spcPts val="400"/>
              </a:spcAft>
              <a:buFont typeface="Wingdings" pitchFamily="2" charset="2"/>
              <a:buChar char="Ø"/>
            </a:pPr>
            <a:r>
              <a:rPr lang="es-ES" dirty="0"/>
              <a:t>El almacén de lectura puede ser una réplica de solo lectura del almacén de escritura o </a:t>
            </a:r>
            <a:r>
              <a:rPr lang="es-ES" dirty="0" smtClean="0"/>
              <a:t>los almacenes </a:t>
            </a:r>
            <a:r>
              <a:rPr lang="es-ES" dirty="0"/>
              <a:t>de lectura y escritura pueden tener una estructura diferente por completo</a:t>
            </a:r>
            <a:r>
              <a:rPr lang="es-ES" dirty="0" smtClean="0"/>
              <a:t>.</a:t>
            </a:r>
          </a:p>
          <a:p>
            <a:pPr>
              <a:buFont typeface="Wingdings" pitchFamily="2" charset="2"/>
              <a:buChar char="Ø"/>
            </a:pPr>
            <a:r>
              <a:rPr lang="es-ES" dirty="0"/>
              <a:t>La separación de los almacenes de lectura y escritura permite también que cada uno </a:t>
            </a:r>
            <a:r>
              <a:rPr lang="es-ES" dirty="0" smtClean="0"/>
              <a:t>de ellos </a:t>
            </a:r>
            <a:r>
              <a:rPr lang="es-ES" dirty="0"/>
              <a:t>pueda escalarse adecuadamente para adaptarse a la carga</a:t>
            </a:r>
            <a:endParaRPr lang="es-ES" dirty="0" smtClean="0"/>
          </a:p>
          <a:p>
            <a:pPr>
              <a:spcBef>
                <a:spcPts val="625"/>
              </a:spcBef>
              <a:buSzPct val="70000"/>
              <a:buFont typeface="Wingdings" pitchFamily="2" charset="2"/>
              <a:buChar char="Ø"/>
              <a:tabLst>
                <a:tab pos="911225" algn="l"/>
                <a:tab pos="1825625" algn="l"/>
                <a:tab pos="2740025" algn="l"/>
                <a:tab pos="3654425" algn="l"/>
                <a:tab pos="4568825" algn="l"/>
                <a:tab pos="5483225" algn="l"/>
                <a:tab pos="6397625" algn="l"/>
                <a:tab pos="7312025" algn="l"/>
                <a:tab pos="8226425" algn="l"/>
                <a:tab pos="9140825" algn="l"/>
                <a:tab pos="10055225" algn="l"/>
              </a:tabLst>
              <a:defRPr/>
            </a:pPr>
            <a:endParaRPr lang="en-US" sz="3600" dirty="0"/>
          </a:p>
        </p:txBody>
      </p:sp>
      <p:pic>
        <p:nvPicPr>
          <p:cNvPr id="307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5970" y="1903750"/>
            <a:ext cx="4910527" cy="41672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095709615"/>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209862" y="286603"/>
            <a:ext cx="11982138" cy="1263901"/>
          </a:xfrm>
        </p:spPr>
        <p:txBody>
          <a:bodyPr>
            <a:normAutofit/>
          </a:bodyPr>
          <a:lstStyle/>
          <a:p>
            <a:r>
              <a:rPr lang="en-US" dirty="0" err="1"/>
              <a:t>Patrón</a:t>
            </a:r>
            <a:r>
              <a:rPr lang="en-US" dirty="0"/>
              <a:t> CQRS: </a:t>
            </a:r>
            <a:r>
              <a:rPr lang="en-US" dirty="0" err="1"/>
              <a:t>Ejemplo</a:t>
            </a:r>
            <a:endParaRPr lang="es-ES" dirty="0"/>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991" y="1813810"/>
            <a:ext cx="7071220" cy="45556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7"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540051" y="2128603"/>
            <a:ext cx="4482059" cy="26382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317271313"/>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209862" y="286603"/>
            <a:ext cx="11982138" cy="1263901"/>
          </a:xfrm>
        </p:spPr>
        <p:txBody>
          <a:bodyPr>
            <a:normAutofit/>
          </a:bodyPr>
          <a:lstStyle/>
          <a:p>
            <a:r>
              <a:rPr lang="en-US" dirty="0" err="1"/>
              <a:t>Patrón</a:t>
            </a:r>
            <a:r>
              <a:rPr lang="en-US" dirty="0"/>
              <a:t> CQRS: </a:t>
            </a:r>
            <a:r>
              <a:rPr lang="en-US" dirty="0" err="1"/>
              <a:t>Ejemplo</a:t>
            </a:r>
            <a:endParaRPr lang="es-ES" dirty="0"/>
          </a:p>
        </p:txBody>
      </p:sp>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3257" y="1790700"/>
            <a:ext cx="4973299" cy="29761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1"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14883" y="2280847"/>
            <a:ext cx="6637208" cy="33404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184178426"/>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733158"/>
            <a:ext cx="6056027" cy="49725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ítulo 1"/>
          <p:cNvSpPr>
            <a:spLocks noGrp="1"/>
          </p:cNvSpPr>
          <p:nvPr>
            <p:ph type="title"/>
          </p:nvPr>
        </p:nvSpPr>
        <p:spPr>
          <a:xfrm>
            <a:off x="209862" y="286603"/>
            <a:ext cx="11982138" cy="1263901"/>
          </a:xfrm>
        </p:spPr>
        <p:txBody>
          <a:bodyPr>
            <a:normAutofit/>
          </a:bodyPr>
          <a:lstStyle/>
          <a:p>
            <a:r>
              <a:rPr lang="en-US" dirty="0" err="1"/>
              <a:t>Patrón</a:t>
            </a:r>
            <a:r>
              <a:rPr lang="en-US" dirty="0"/>
              <a:t> CQRS: </a:t>
            </a:r>
            <a:r>
              <a:rPr lang="en-US" dirty="0" err="1"/>
              <a:t>Ejemplo</a:t>
            </a:r>
            <a:endParaRPr lang="es-ES" dirty="0"/>
          </a:p>
        </p:txBody>
      </p:sp>
      <p:pic>
        <p:nvPicPr>
          <p:cNvPr id="3074"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50720" y="1733159"/>
            <a:ext cx="7231349" cy="1952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75"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850721" y="3779394"/>
            <a:ext cx="7231348" cy="29263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937298706"/>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209862" y="286603"/>
            <a:ext cx="11982138" cy="1263901"/>
          </a:xfrm>
        </p:spPr>
        <p:txBody>
          <a:bodyPr>
            <a:normAutofit/>
          </a:bodyPr>
          <a:lstStyle/>
          <a:p>
            <a:r>
              <a:rPr lang="en-US" dirty="0" err="1"/>
              <a:t>Patrón</a:t>
            </a:r>
            <a:r>
              <a:rPr lang="en-US" dirty="0"/>
              <a:t> CQRS: </a:t>
            </a:r>
            <a:r>
              <a:rPr lang="en-US" dirty="0" err="1" smtClean="0"/>
              <a:t>Ventajas</a:t>
            </a:r>
            <a:endParaRPr lang="es-ES" dirty="0"/>
          </a:p>
        </p:txBody>
      </p:sp>
      <p:sp>
        <p:nvSpPr>
          <p:cNvPr id="3" name="Marcador de contenido 2"/>
          <p:cNvSpPr>
            <a:spLocks noGrp="1"/>
          </p:cNvSpPr>
          <p:nvPr>
            <p:ph idx="1"/>
          </p:nvPr>
        </p:nvSpPr>
        <p:spPr>
          <a:xfrm>
            <a:off x="284813" y="1882164"/>
            <a:ext cx="11907187" cy="4323764"/>
          </a:xfrm>
        </p:spPr>
        <p:txBody>
          <a:bodyPr>
            <a:noAutofit/>
          </a:bodyPr>
          <a:lstStyle/>
          <a:p>
            <a:pPr>
              <a:lnSpc>
                <a:spcPct val="100000"/>
              </a:lnSpc>
              <a:spcBef>
                <a:spcPts val="400"/>
              </a:spcBef>
              <a:spcAft>
                <a:spcPts val="400"/>
              </a:spcAft>
              <a:buFont typeface="Wingdings" pitchFamily="2" charset="2"/>
              <a:buChar char="Ø"/>
            </a:pPr>
            <a:r>
              <a:rPr lang="es-ES" sz="2200" b="1" dirty="0"/>
              <a:t>Escalado </a:t>
            </a:r>
            <a:r>
              <a:rPr lang="es-ES" sz="2200" b="1" dirty="0" smtClean="0"/>
              <a:t>independiente</a:t>
            </a:r>
            <a:r>
              <a:rPr lang="es-ES" sz="2200" dirty="0" smtClean="0"/>
              <a:t>: </a:t>
            </a:r>
            <a:r>
              <a:rPr lang="es-ES" sz="2200" dirty="0">
                <a:solidFill>
                  <a:schemeClr val="tx1"/>
                </a:solidFill>
              </a:rPr>
              <a:t>permite las cargas de trabajo de lectura y </a:t>
            </a:r>
            <a:r>
              <a:rPr lang="es-ES" sz="2200" dirty="0" smtClean="0">
                <a:solidFill>
                  <a:schemeClr val="tx1"/>
                </a:solidFill>
              </a:rPr>
              <a:t>escritura que </a:t>
            </a:r>
            <a:r>
              <a:rPr lang="es-ES" sz="2200" dirty="0">
                <a:solidFill>
                  <a:schemeClr val="tx1"/>
                </a:solidFill>
              </a:rPr>
              <a:t>se escalen de forma independiente, lo que puede dar lugar a </a:t>
            </a:r>
            <a:r>
              <a:rPr lang="es-ES" sz="2200" dirty="0" smtClean="0">
                <a:solidFill>
                  <a:schemeClr val="tx1"/>
                </a:solidFill>
              </a:rPr>
              <a:t>menos contenciones </a:t>
            </a:r>
            <a:r>
              <a:rPr lang="es-ES" sz="2200" dirty="0">
                <a:solidFill>
                  <a:schemeClr val="tx1"/>
                </a:solidFill>
              </a:rPr>
              <a:t>de bloqueo.</a:t>
            </a:r>
            <a:endParaRPr lang="es-ES" sz="2200" dirty="0" smtClean="0"/>
          </a:p>
          <a:p>
            <a:pPr>
              <a:lnSpc>
                <a:spcPct val="100000"/>
              </a:lnSpc>
              <a:spcBef>
                <a:spcPts val="400"/>
              </a:spcBef>
              <a:spcAft>
                <a:spcPts val="400"/>
              </a:spcAft>
              <a:buFont typeface="Wingdings" pitchFamily="2" charset="2"/>
              <a:buChar char="Ø"/>
            </a:pPr>
            <a:r>
              <a:rPr lang="es-ES" sz="2200" b="1" dirty="0"/>
              <a:t>Esquemas de datos </a:t>
            </a:r>
            <a:r>
              <a:rPr lang="es-ES" sz="2200" b="1" dirty="0" smtClean="0"/>
              <a:t>optimizados</a:t>
            </a:r>
            <a:r>
              <a:rPr lang="es-ES" sz="2200" dirty="0" smtClean="0"/>
              <a:t>: </a:t>
            </a:r>
            <a:r>
              <a:rPr lang="es-ES" sz="2200" dirty="0" smtClean="0">
                <a:solidFill>
                  <a:schemeClr val="tx1"/>
                </a:solidFill>
              </a:rPr>
              <a:t>el </a:t>
            </a:r>
            <a:r>
              <a:rPr lang="es-ES" sz="2200" dirty="0">
                <a:solidFill>
                  <a:schemeClr val="tx1"/>
                </a:solidFill>
              </a:rPr>
              <a:t>lado de lectura puede usar un esquema que está optimizado para las consultas, mientras que el lado de escritura utiliza un esquema que está optimizado para las actualizaciones</a:t>
            </a:r>
            <a:endParaRPr lang="es-ES" sz="2200" dirty="0" smtClean="0"/>
          </a:p>
          <a:p>
            <a:pPr>
              <a:lnSpc>
                <a:spcPct val="100000"/>
              </a:lnSpc>
              <a:spcBef>
                <a:spcPts val="400"/>
              </a:spcBef>
              <a:spcAft>
                <a:spcPts val="400"/>
              </a:spcAft>
              <a:buFont typeface="Wingdings" pitchFamily="2" charset="2"/>
              <a:buChar char="Ø"/>
            </a:pPr>
            <a:r>
              <a:rPr lang="es-ES" sz="2200" b="1" dirty="0" smtClean="0"/>
              <a:t>Seguridad: </a:t>
            </a:r>
            <a:r>
              <a:rPr lang="es-ES" sz="2200" dirty="0" smtClean="0">
                <a:solidFill>
                  <a:schemeClr val="tx1"/>
                </a:solidFill>
              </a:rPr>
              <a:t>es </a:t>
            </a:r>
            <a:r>
              <a:rPr lang="es-ES" sz="2200" dirty="0">
                <a:solidFill>
                  <a:schemeClr val="tx1"/>
                </a:solidFill>
              </a:rPr>
              <a:t>más fácil asegurarse de que solo las entidades de dominio correctas realicen escrituras en los datos</a:t>
            </a:r>
            <a:r>
              <a:rPr lang="es-ES" sz="2200" dirty="0" smtClean="0">
                <a:solidFill>
                  <a:schemeClr val="tx1"/>
                </a:solidFill>
              </a:rPr>
              <a:t>.</a:t>
            </a:r>
            <a:endParaRPr lang="es-ES" sz="2200" b="1" dirty="0" smtClean="0"/>
          </a:p>
          <a:p>
            <a:pPr>
              <a:lnSpc>
                <a:spcPct val="100000"/>
              </a:lnSpc>
              <a:spcBef>
                <a:spcPts val="400"/>
              </a:spcBef>
              <a:spcAft>
                <a:spcPts val="400"/>
              </a:spcAft>
              <a:buFont typeface="Wingdings" pitchFamily="2" charset="2"/>
              <a:buChar char="Ø"/>
            </a:pPr>
            <a:r>
              <a:rPr lang="es-ES" sz="2200" b="1" dirty="0"/>
              <a:t>Separación de </a:t>
            </a:r>
            <a:r>
              <a:rPr lang="es-ES" sz="2200" b="1" dirty="0" smtClean="0"/>
              <a:t>cuestiones: </a:t>
            </a:r>
            <a:r>
              <a:rPr lang="es-ES" sz="2200" dirty="0" smtClean="0">
                <a:solidFill>
                  <a:schemeClr val="tx1"/>
                </a:solidFill>
              </a:rPr>
              <a:t>la </a:t>
            </a:r>
            <a:r>
              <a:rPr lang="es-ES" sz="2200" dirty="0">
                <a:solidFill>
                  <a:schemeClr val="tx1"/>
                </a:solidFill>
              </a:rPr>
              <a:t>separación de los lados de lectura y escritura puede dar lugar a modelos que sean más flexibles y fáciles de mantener. La mayor parte de la lógica de negocios compleja entra en el modelo de escritura. El modelo de lectura puede ser relativamente sencillo</a:t>
            </a:r>
            <a:endParaRPr lang="es-ES" sz="2200" b="1" dirty="0" smtClean="0"/>
          </a:p>
          <a:p>
            <a:pPr>
              <a:lnSpc>
                <a:spcPct val="100000"/>
              </a:lnSpc>
              <a:spcBef>
                <a:spcPts val="400"/>
              </a:spcBef>
              <a:spcAft>
                <a:spcPts val="400"/>
              </a:spcAft>
              <a:buFont typeface="Wingdings" pitchFamily="2" charset="2"/>
              <a:buChar char="Ø"/>
            </a:pPr>
            <a:r>
              <a:rPr lang="es-ES" sz="2200" b="1" dirty="0"/>
              <a:t>Consultas más </a:t>
            </a:r>
            <a:r>
              <a:rPr lang="es-ES" sz="2200" b="1" dirty="0" smtClean="0"/>
              <a:t>sencillas: </a:t>
            </a:r>
            <a:r>
              <a:rPr lang="es-ES" sz="2200" dirty="0" smtClean="0">
                <a:solidFill>
                  <a:schemeClr val="tx1"/>
                </a:solidFill>
              </a:rPr>
              <a:t>al </a:t>
            </a:r>
            <a:r>
              <a:rPr lang="es-ES" sz="2200" dirty="0">
                <a:solidFill>
                  <a:schemeClr val="tx1"/>
                </a:solidFill>
              </a:rPr>
              <a:t>almacenar una vista materializada en la base de datos de lectura, la aplicación puede evitar combinaciones complejas cuando realiza consultas</a:t>
            </a:r>
          </a:p>
          <a:p>
            <a:pPr>
              <a:lnSpc>
                <a:spcPct val="100000"/>
              </a:lnSpc>
              <a:spcBef>
                <a:spcPts val="400"/>
              </a:spcBef>
              <a:spcAft>
                <a:spcPts val="400"/>
              </a:spcAft>
              <a:buFont typeface="Wingdings" pitchFamily="2" charset="2"/>
              <a:buChar char="Ø"/>
            </a:pPr>
            <a:endParaRPr lang="es-ES" b="1" dirty="0" smtClean="0"/>
          </a:p>
          <a:p>
            <a:pPr>
              <a:lnSpc>
                <a:spcPct val="100000"/>
              </a:lnSpc>
              <a:spcBef>
                <a:spcPts val="400"/>
              </a:spcBef>
              <a:spcAft>
                <a:spcPts val="400"/>
              </a:spcAft>
              <a:buFont typeface="Wingdings" pitchFamily="2" charset="2"/>
              <a:buChar char="Ø"/>
            </a:pPr>
            <a:endParaRPr lang="es-ES" dirty="0" smtClean="0"/>
          </a:p>
          <a:p>
            <a:pPr>
              <a:spcBef>
                <a:spcPts val="625"/>
              </a:spcBef>
              <a:buSzPct val="70000"/>
              <a:buFont typeface="Wingdings" pitchFamily="2" charset="2"/>
              <a:buChar char="Ø"/>
              <a:tabLst>
                <a:tab pos="911225" algn="l"/>
                <a:tab pos="1825625" algn="l"/>
                <a:tab pos="2740025" algn="l"/>
                <a:tab pos="3654425" algn="l"/>
                <a:tab pos="4568825" algn="l"/>
                <a:tab pos="5483225" algn="l"/>
                <a:tab pos="6397625" algn="l"/>
                <a:tab pos="7312025" algn="l"/>
                <a:tab pos="8226425" algn="l"/>
                <a:tab pos="9140825" algn="l"/>
                <a:tab pos="10055225" algn="l"/>
              </a:tabLst>
              <a:defRPr/>
            </a:pPr>
            <a:endParaRPr lang="en-US" sz="3600" dirty="0"/>
          </a:p>
        </p:txBody>
      </p:sp>
    </p:spTree>
    <p:extLst>
      <p:ext uri="{BB962C8B-B14F-4D97-AF65-F5344CB8AC3E}">
        <p14:creationId xmlns:p14="http://schemas.microsoft.com/office/powerpoint/2010/main" val="913663753"/>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209862" y="286603"/>
            <a:ext cx="11982138" cy="1263901"/>
          </a:xfrm>
        </p:spPr>
        <p:txBody>
          <a:bodyPr>
            <a:normAutofit/>
          </a:bodyPr>
          <a:lstStyle/>
          <a:p>
            <a:r>
              <a:rPr lang="en-US" dirty="0" err="1"/>
              <a:t>Patrón</a:t>
            </a:r>
            <a:r>
              <a:rPr lang="en-US" dirty="0"/>
              <a:t> CQRS: </a:t>
            </a:r>
            <a:r>
              <a:rPr lang="en-US" dirty="0" err="1" smtClean="0"/>
              <a:t>Desventajas</a:t>
            </a:r>
            <a:endParaRPr lang="es-ES" dirty="0"/>
          </a:p>
        </p:txBody>
      </p:sp>
      <p:sp>
        <p:nvSpPr>
          <p:cNvPr id="3" name="Marcador de contenido 2"/>
          <p:cNvSpPr>
            <a:spLocks noGrp="1"/>
          </p:cNvSpPr>
          <p:nvPr>
            <p:ph idx="1"/>
          </p:nvPr>
        </p:nvSpPr>
        <p:spPr>
          <a:xfrm>
            <a:off x="284813" y="1882164"/>
            <a:ext cx="11907187" cy="4323764"/>
          </a:xfrm>
        </p:spPr>
        <p:txBody>
          <a:bodyPr>
            <a:noAutofit/>
          </a:bodyPr>
          <a:lstStyle/>
          <a:p>
            <a:pPr>
              <a:lnSpc>
                <a:spcPct val="100000"/>
              </a:lnSpc>
              <a:spcBef>
                <a:spcPts val="400"/>
              </a:spcBef>
              <a:spcAft>
                <a:spcPts val="400"/>
              </a:spcAft>
              <a:buFont typeface="Wingdings" pitchFamily="2" charset="2"/>
              <a:buChar char="Ø"/>
            </a:pPr>
            <a:r>
              <a:rPr lang="es-ES" sz="2400" b="1" dirty="0" smtClean="0"/>
              <a:t>Complejidad . </a:t>
            </a:r>
            <a:r>
              <a:rPr lang="es-ES" sz="2400" dirty="0"/>
              <a:t>La idea básica de CQRS es sencilla. Pero puede generar un diseño </a:t>
            </a:r>
            <a:r>
              <a:rPr lang="es-ES" sz="2400" dirty="0" smtClean="0"/>
              <a:t>de aplicación </a:t>
            </a:r>
            <a:r>
              <a:rPr lang="es-ES" sz="2400" dirty="0"/>
              <a:t>más complejo, especialmente si incluye el patrón </a:t>
            </a:r>
            <a:r>
              <a:rPr lang="es-ES" sz="2400" dirty="0" err="1"/>
              <a:t>Event</a:t>
            </a:r>
            <a:r>
              <a:rPr lang="es-ES" sz="2400" dirty="0"/>
              <a:t> </a:t>
            </a:r>
            <a:r>
              <a:rPr lang="es-ES" sz="2400" dirty="0" err="1"/>
              <a:t>Sourcing</a:t>
            </a:r>
            <a:r>
              <a:rPr lang="es-ES" sz="2400" dirty="0" smtClean="0"/>
              <a:t>.</a:t>
            </a:r>
          </a:p>
          <a:p>
            <a:pPr>
              <a:lnSpc>
                <a:spcPct val="100000"/>
              </a:lnSpc>
              <a:spcBef>
                <a:spcPts val="400"/>
              </a:spcBef>
              <a:spcAft>
                <a:spcPts val="400"/>
              </a:spcAft>
              <a:buFont typeface="Wingdings" pitchFamily="2" charset="2"/>
              <a:buChar char="Ø"/>
            </a:pPr>
            <a:r>
              <a:rPr lang="es-ES" sz="2400" b="1" dirty="0" smtClean="0"/>
              <a:t>Mensajería</a:t>
            </a:r>
            <a:r>
              <a:rPr lang="es-ES" sz="2400" dirty="0"/>
              <a:t> . Aunque CQRS no requiere mensajería, es normal usarla para procesar comandos y publicar eventos de actualización. En ese caso, la aplicación debe gestionar errores de mensaje o mensajes duplicados</a:t>
            </a:r>
            <a:r>
              <a:rPr lang="es-ES" sz="2400" dirty="0" smtClean="0"/>
              <a:t>.</a:t>
            </a:r>
          </a:p>
          <a:p>
            <a:pPr>
              <a:lnSpc>
                <a:spcPct val="100000"/>
              </a:lnSpc>
              <a:spcBef>
                <a:spcPts val="400"/>
              </a:spcBef>
              <a:spcAft>
                <a:spcPts val="400"/>
              </a:spcAft>
              <a:buFont typeface="Wingdings" pitchFamily="2" charset="2"/>
              <a:buChar char="Ø"/>
            </a:pPr>
            <a:r>
              <a:rPr lang="es-ES" sz="2400" dirty="0" smtClean="0"/>
              <a:t> </a:t>
            </a:r>
            <a:r>
              <a:rPr lang="es-ES" sz="2400" b="1" dirty="0"/>
              <a:t>Coherencia </a:t>
            </a:r>
            <a:r>
              <a:rPr lang="es-ES" sz="2400" b="1" dirty="0" smtClean="0"/>
              <a:t>final</a:t>
            </a:r>
            <a:r>
              <a:rPr lang="es-ES" sz="2400" dirty="0" smtClean="0"/>
              <a:t>. </a:t>
            </a:r>
            <a:r>
              <a:rPr lang="es-ES" sz="2400" dirty="0"/>
              <a:t>Si separa las bases de datos de lectura y escritura, los datos </a:t>
            </a:r>
            <a:r>
              <a:rPr lang="es-ES" sz="2400" dirty="0" smtClean="0"/>
              <a:t>de lectura </a:t>
            </a:r>
            <a:r>
              <a:rPr lang="es-ES" sz="2400" dirty="0"/>
              <a:t>pueden estar obsoletos. El almacén de modelos de lectura debe </a:t>
            </a:r>
            <a:r>
              <a:rPr lang="es-ES" sz="2400" dirty="0" smtClean="0"/>
              <a:t>actualizar separa </a:t>
            </a:r>
            <a:r>
              <a:rPr lang="es-ES" sz="2400" dirty="0"/>
              <a:t>reflejar los cambios del almacén de modelos de escritura, y puede ser </a:t>
            </a:r>
            <a:r>
              <a:rPr lang="es-ES" sz="2400" dirty="0" smtClean="0"/>
              <a:t>difícil detectar </a:t>
            </a:r>
            <a:r>
              <a:rPr lang="es-ES" sz="2400" dirty="0"/>
              <a:t>cuándo un usuario ha emitido una solicitud basada en datos de </a:t>
            </a:r>
            <a:r>
              <a:rPr lang="es-ES" sz="2400" dirty="0" smtClean="0"/>
              <a:t>lectura obsoletos</a:t>
            </a:r>
            <a:r>
              <a:rPr lang="es-ES" sz="2400" dirty="0"/>
              <a:t>.</a:t>
            </a:r>
          </a:p>
          <a:p>
            <a:pPr>
              <a:lnSpc>
                <a:spcPct val="100000"/>
              </a:lnSpc>
              <a:spcBef>
                <a:spcPts val="400"/>
              </a:spcBef>
              <a:spcAft>
                <a:spcPts val="400"/>
              </a:spcAft>
              <a:buFont typeface="Wingdings" pitchFamily="2" charset="2"/>
              <a:buChar char="Ø"/>
            </a:pPr>
            <a:endParaRPr lang="es-ES" dirty="0"/>
          </a:p>
          <a:p>
            <a:pPr>
              <a:lnSpc>
                <a:spcPct val="100000"/>
              </a:lnSpc>
              <a:spcBef>
                <a:spcPts val="400"/>
              </a:spcBef>
              <a:spcAft>
                <a:spcPts val="400"/>
              </a:spcAft>
              <a:buFont typeface="Wingdings" pitchFamily="2" charset="2"/>
              <a:buChar char="Ø"/>
            </a:pPr>
            <a:endParaRPr lang="es-ES" dirty="0" smtClean="0"/>
          </a:p>
          <a:p>
            <a:pPr>
              <a:spcBef>
                <a:spcPts val="625"/>
              </a:spcBef>
              <a:buSzPct val="70000"/>
              <a:buFont typeface="Wingdings" pitchFamily="2" charset="2"/>
              <a:buChar char="Ø"/>
              <a:tabLst>
                <a:tab pos="911225" algn="l"/>
                <a:tab pos="1825625" algn="l"/>
                <a:tab pos="2740025" algn="l"/>
                <a:tab pos="3654425" algn="l"/>
                <a:tab pos="4568825" algn="l"/>
                <a:tab pos="5483225" algn="l"/>
                <a:tab pos="6397625" algn="l"/>
                <a:tab pos="7312025" algn="l"/>
                <a:tab pos="8226425" algn="l"/>
                <a:tab pos="9140825" algn="l"/>
                <a:tab pos="10055225" algn="l"/>
              </a:tabLst>
              <a:defRPr/>
            </a:pPr>
            <a:endParaRPr lang="en-US" sz="3600" dirty="0"/>
          </a:p>
        </p:txBody>
      </p:sp>
    </p:spTree>
    <p:extLst>
      <p:ext uri="{BB962C8B-B14F-4D97-AF65-F5344CB8AC3E}">
        <p14:creationId xmlns:p14="http://schemas.microsoft.com/office/powerpoint/2010/main" val="369174547"/>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209862" y="286603"/>
            <a:ext cx="11982138" cy="1263901"/>
          </a:xfrm>
        </p:spPr>
        <p:txBody>
          <a:bodyPr>
            <a:normAutofit/>
          </a:bodyPr>
          <a:lstStyle/>
          <a:p>
            <a:r>
              <a:rPr lang="en-US" dirty="0" err="1"/>
              <a:t>Patrón</a:t>
            </a:r>
            <a:r>
              <a:rPr lang="en-US" dirty="0"/>
              <a:t> CQRS: </a:t>
            </a:r>
            <a:r>
              <a:rPr lang="en-US" dirty="0" err="1" smtClean="0"/>
              <a:t>Escenarios</a:t>
            </a:r>
            <a:endParaRPr lang="es-ES" dirty="0"/>
          </a:p>
        </p:txBody>
      </p:sp>
      <p:sp>
        <p:nvSpPr>
          <p:cNvPr id="3" name="Marcador de contenido 2"/>
          <p:cNvSpPr>
            <a:spLocks noGrp="1"/>
          </p:cNvSpPr>
          <p:nvPr>
            <p:ph idx="1"/>
          </p:nvPr>
        </p:nvSpPr>
        <p:spPr>
          <a:xfrm>
            <a:off x="284813" y="1882164"/>
            <a:ext cx="11907187" cy="4323764"/>
          </a:xfrm>
        </p:spPr>
        <p:txBody>
          <a:bodyPr>
            <a:noAutofit/>
          </a:bodyPr>
          <a:lstStyle/>
          <a:p>
            <a:pPr>
              <a:lnSpc>
                <a:spcPct val="100000"/>
              </a:lnSpc>
              <a:spcBef>
                <a:spcPts val="400"/>
              </a:spcBef>
              <a:spcAft>
                <a:spcPts val="400"/>
              </a:spcAft>
              <a:buFont typeface="Wingdings" pitchFamily="2" charset="2"/>
              <a:buChar char="Ø"/>
            </a:pPr>
            <a:r>
              <a:rPr lang="es-ES" sz="2200" dirty="0"/>
              <a:t>Dominios colaborativos en los que muchos usuarios acceden a los mismos datos </a:t>
            </a:r>
            <a:r>
              <a:rPr lang="es-ES" sz="2200" dirty="0" smtClean="0"/>
              <a:t>en paralelo</a:t>
            </a:r>
            <a:r>
              <a:rPr lang="es-ES" sz="2200" dirty="0"/>
              <a:t>. CQRS permite definir comandos con la suficiente granularidad </a:t>
            </a:r>
            <a:r>
              <a:rPr lang="es-ES" sz="2200" dirty="0" smtClean="0"/>
              <a:t>para minimizar </a:t>
            </a:r>
            <a:r>
              <a:rPr lang="es-ES" sz="2200" dirty="0"/>
              <a:t>los conflictos de combinación en el nivel de dominio (cualquier </a:t>
            </a:r>
            <a:r>
              <a:rPr lang="es-ES" sz="2200" dirty="0" smtClean="0"/>
              <a:t>conflicto que </a:t>
            </a:r>
            <a:r>
              <a:rPr lang="es-ES" sz="2200" dirty="0"/>
              <a:t>surja se podrá combinar mediante el comando</a:t>
            </a:r>
            <a:r>
              <a:rPr lang="es-ES" sz="2200" dirty="0" smtClean="0"/>
              <a:t>).</a:t>
            </a:r>
          </a:p>
          <a:p>
            <a:pPr>
              <a:lnSpc>
                <a:spcPct val="100000"/>
              </a:lnSpc>
              <a:spcBef>
                <a:spcPts val="400"/>
              </a:spcBef>
              <a:spcAft>
                <a:spcPts val="400"/>
              </a:spcAft>
              <a:buFont typeface="Wingdings" pitchFamily="2" charset="2"/>
              <a:buChar char="Ø"/>
            </a:pPr>
            <a:endParaRPr lang="es-ES" sz="2200" dirty="0" smtClean="0"/>
          </a:p>
          <a:p>
            <a:pPr>
              <a:lnSpc>
                <a:spcPct val="100000"/>
              </a:lnSpc>
              <a:spcBef>
                <a:spcPts val="400"/>
              </a:spcBef>
              <a:spcAft>
                <a:spcPts val="400"/>
              </a:spcAft>
              <a:buFont typeface="Wingdings" pitchFamily="2" charset="2"/>
              <a:buChar char="Ø"/>
            </a:pPr>
            <a:r>
              <a:rPr lang="es-ES" sz="2200" dirty="0"/>
              <a:t>Interfaces de usuario basadas en tareas en las que se guía al usuario a través de </a:t>
            </a:r>
            <a:r>
              <a:rPr lang="es-ES" sz="2200" dirty="0" smtClean="0"/>
              <a:t>un complejo </a:t>
            </a:r>
            <a:r>
              <a:rPr lang="es-ES" sz="2200" dirty="0"/>
              <a:t>proceso como una serie de pasos o con modelos de dominio complejos. El modelo de escritura tiene una pila de procesamiento de comandos completa </a:t>
            </a:r>
            <a:r>
              <a:rPr lang="es-ES" sz="2200" dirty="0" smtClean="0"/>
              <a:t>con lógica </a:t>
            </a:r>
            <a:r>
              <a:rPr lang="es-ES" sz="2200" dirty="0"/>
              <a:t>de negocios, validación de entrada y validación empresarial. El modelo </a:t>
            </a:r>
            <a:r>
              <a:rPr lang="es-ES" sz="2200" dirty="0" smtClean="0"/>
              <a:t>de escritura </a:t>
            </a:r>
            <a:r>
              <a:rPr lang="es-ES" sz="2200" dirty="0"/>
              <a:t>puede tratar un conjunto de objetos asociados como una única unidad </a:t>
            </a:r>
            <a:r>
              <a:rPr lang="es-ES" sz="2200" dirty="0" smtClean="0"/>
              <a:t>para los </a:t>
            </a:r>
            <a:r>
              <a:rPr lang="es-ES" sz="2200" dirty="0"/>
              <a:t>cambios de datos (un agregado, en la terminología de DDD) y asegurarse de </a:t>
            </a:r>
            <a:r>
              <a:rPr lang="es-ES" sz="2200" dirty="0" smtClean="0"/>
              <a:t>que estos </a:t>
            </a:r>
            <a:r>
              <a:rPr lang="es-ES" sz="2200" dirty="0"/>
              <a:t>objetos siempre estén en un estado coherente. El modelo de lectura no </a:t>
            </a:r>
            <a:r>
              <a:rPr lang="es-ES" sz="2200" dirty="0" smtClean="0"/>
              <a:t>tiene ninguna </a:t>
            </a:r>
            <a:r>
              <a:rPr lang="es-ES" sz="2200" dirty="0"/>
              <a:t>lógica de negocios ni pila de validación y solo devuelve un DTO para su </a:t>
            </a:r>
            <a:r>
              <a:rPr lang="es-ES" sz="2200" dirty="0" smtClean="0"/>
              <a:t>uso en </a:t>
            </a:r>
            <a:r>
              <a:rPr lang="es-ES" sz="2200" dirty="0"/>
              <a:t>un modelo de vista. El modelo de lectura tiene coherencia final con el modelo </a:t>
            </a:r>
            <a:r>
              <a:rPr lang="es-ES" sz="2200" dirty="0" smtClean="0"/>
              <a:t>de escritura</a:t>
            </a:r>
            <a:r>
              <a:rPr lang="es-ES" sz="2200" dirty="0"/>
              <a:t>.</a:t>
            </a:r>
          </a:p>
          <a:p>
            <a:pPr>
              <a:lnSpc>
                <a:spcPct val="100000"/>
              </a:lnSpc>
              <a:spcBef>
                <a:spcPts val="400"/>
              </a:spcBef>
              <a:spcAft>
                <a:spcPts val="400"/>
              </a:spcAft>
              <a:buFont typeface="Wingdings" pitchFamily="2" charset="2"/>
              <a:buChar char="Ø"/>
            </a:pPr>
            <a:endParaRPr lang="es-ES" dirty="0" smtClean="0"/>
          </a:p>
          <a:p>
            <a:pPr>
              <a:spcBef>
                <a:spcPts val="625"/>
              </a:spcBef>
              <a:buSzPct val="70000"/>
              <a:buFont typeface="Wingdings" pitchFamily="2" charset="2"/>
              <a:buChar char="Ø"/>
              <a:tabLst>
                <a:tab pos="911225" algn="l"/>
                <a:tab pos="1825625" algn="l"/>
                <a:tab pos="2740025" algn="l"/>
                <a:tab pos="3654425" algn="l"/>
                <a:tab pos="4568825" algn="l"/>
                <a:tab pos="5483225" algn="l"/>
                <a:tab pos="6397625" algn="l"/>
                <a:tab pos="7312025" algn="l"/>
                <a:tab pos="8226425" algn="l"/>
                <a:tab pos="9140825" algn="l"/>
                <a:tab pos="10055225" algn="l"/>
              </a:tabLst>
              <a:defRPr/>
            </a:pPr>
            <a:endParaRPr lang="en-US" sz="3600" dirty="0"/>
          </a:p>
        </p:txBody>
      </p:sp>
    </p:spTree>
    <p:extLst>
      <p:ext uri="{BB962C8B-B14F-4D97-AF65-F5344CB8AC3E}">
        <p14:creationId xmlns:p14="http://schemas.microsoft.com/office/powerpoint/2010/main" val="141266069"/>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209862" y="286603"/>
            <a:ext cx="11982138" cy="1263901"/>
          </a:xfrm>
        </p:spPr>
        <p:txBody>
          <a:bodyPr>
            <a:normAutofit/>
          </a:bodyPr>
          <a:lstStyle/>
          <a:p>
            <a:r>
              <a:rPr lang="en-US" dirty="0" err="1"/>
              <a:t>Patrón</a:t>
            </a:r>
            <a:r>
              <a:rPr lang="en-US" dirty="0"/>
              <a:t> CQRS: </a:t>
            </a:r>
            <a:r>
              <a:rPr lang="en-US" dirty="0" err="1" smtClean="0"/>
              <a:t>Escenarios</a:t>
            </a:r>
            <a:endParaRPr lang="es-ES" dirty="0"/>
          </a:p>
        </p:txBody>
      </p:sp>
      <p:sp>
        <p:nvSpPr>
          <p:cNvPr id="3" name="Marcador de contenido 2"/>
          <p:cNvSpPr>
            <a:spLocks noGrp="1"/>
          </p:cNvSpPr>
          <p:nvPr>
            <p:ph idx="1"/>
          </p:nvPr>
        </p:nvSpPr>
        <p:spPr>
          <a:xfrm>
            <a:off x="284813" y="1882164"/>
            <a:ext cx="11907187" cy="4323764"/>
          </a:xfrm>
        </p:spPr>
        <p:txBody>
          <a:bodyPr>
            <a:noAutofit/>
          </a:bodyPr>
          <a:lstStyle/>
          <a:p>
            <a:pPr>
              <a:lnSpc>
                <a:spcPct val="100000"/>
              </a:lnSpc>
              <a:spcBef>
                <a:spcPts val="400"/>
              </a:spcBef>
              <a:spcAft>
                <a:spcPts val="400"/>
              </a:spcAft>
              <a:buFont typeface="Wingdings" pitchFamily="2" charset="2"/>
              <a:buChar char="Ø"/>
            </a:pPr>
            <a:r>
              <a:rPr lang="es-ES" sz="2200" dirty="0"/>
              <a:t>Escenarios en los que el rendimiento de las lecturas de datos se debe ajustar </a:t>
            </a:r>
            <a:r>
              <a:rPr lang="es-ES" sz="2200" dirty="0" smtClean="0"/>
              <a:t>por separado </a:t>
            </a:r>
            <a:r>
              <a:rPr lang="es-ES" sz="2200" dirty="0"/>
              <a:t>del rendimiento de las escrituras de datos, especialmente cuando el </a:t>
            </a:r>
            <a:r>
              <a:rPr lang="es-ES" sz="2200" dirty="0" smtClean="0"/>
              <a:t>número de </a:t>
            </a:r>
            <a:r>
              <a:rPr lang="es-ES" sz="2200" dirty="0"/>
              <a:t>lecturas es mucho mayor que el número de escrituras. En este escenario, </a:t>
            </a:r>
            <a:r>
              <a:rPr lang="es-ES" sz="2200" dirty="0" smtClean="0"/>
              <a:t>puede escalar </a:t>
            </a:r>
            <a:r>
              <a:rPr lang="es-ES" sz="2200" dirty="0"/>
              <a:t>horizontalmente el modelo de lectura, pero ejecutar el modelo de </a:t>
            </a:r>
            <a:r>
              <a:rPr lang="es-ES" sz="2200" dirty="0" smtClean="0"/>
              <a:t>escritura solo </a:t>
            </a:r>
            <a:r>
              <a:rPr lang="es-ES" sz="2200" dirty="0"/>
              <a:t>en algunas instancias. Un número reducido de instancias de modelo de </a:t>
            </a:r>
            <a:r>
              <a:rPr lang="es-ES" sz="2200" dirty="0" smtClean="0"/>
              <a:t>escritura también </a:t>
            </a:r>
            <a:r>
              <a:rPr lang="es-ES" sz="2200" dirty="0"/>
              <a:t>ayuda a minimizar la aparición de conflictos de combinación</a:t>
            </a:r>
            <a:r>
              <a:rPr lang="es-ES" sz="2200" dirty="0" smtClean="0"/>
              <a:t>.</a:t>
            </a:r>
          </a:p>
          <a:p>
            <a:pPr>
              <a:lnSpc>
                <a:spcPct val="100000"/>
              </a:lnSpc>
              <a:spcBef>
                <a:spcPts val="400"/>
              </a:spcBef>
              <a:spcAft>
                <a:spcPts val="400"/>
              </a:spcAft>
              <a:buFont typeface="Wingdings" pitchFamily="2" charset="2"/>
              <a:buChar char="Ø"/>
            </a:pPr>
            <a:endParaRPr lang="en-US" sz="2200" dirty="0"/>
          </a:p>
          <a:p>
            <a:pPr>
              <a:lnSpc>
                <a:spcPct val="100000"/>
              </a:lnSpc>
              <a:spcBef>
                <a:spcPts val="400"/>
              </a:spcBef>
              <a:spcAft>
                <a:spcPts val="400"/>
              </a:spcAft>
              <a:buFont typeface="Wingdings" pitchFamily="2" charset="2"/>
              <a:buChar char="Ø"/>
            </a:pPr>
            <a:endParaRPr lang="es-ES" sz="2200" dirty="0" smtClean="0"/>
          </a:p>
          <a:p>
            <a:pPr>
              <a:lnSpc>
                <a:spcPct val="100000"/>
              </a:lnSpc>
              <a:spcBef>
                <a:spcPts val="400"/>
              </a:spcBef>
              <a:spcAft>
                <a:spcPts val="400"/>
              </a:spcAft>
              <a:buFont typeface="Wingdings" pitchFamily="2" charset="2"/>
              <a:buChar char="Ø"/>
            </a:pPr>
            <a:r>
              <a:rPr lang="es-ES" sz="2200" dirty="0"/>
              <a:t>Escenarios en los que un equipo de desarrolladores pueda centrarse en el modelo </a:t>
            </a:r>
            <a:r>
              <a:rPr lang="es-ES" sz="2200" dirty="0" smtClean="0"/>
              <a:t>de dominio </a:t>
            </a:r>
            <a:r>
              <a:rPr lang="es-ES" sz="2200" dirty="0"/>
              <a:t>complejo que forma parte del modelo de escritura, y otro equipo </a:t>
            </a:r>
            <a:r>
              <a:rPr lang="es-ES" sz="2200" dirty="0" smtClean="0"/>
              <a:t>pueda centrarse </a:t>
            </a:r>
            <a:r>
              <a:rPr lang="es-ES" sz="2200" dirty="0"/>
              <a:t>en el modelo de lectura y en las interfaces de </a:t>
            </a:r>
            <a:r>
              <a:rPr lang="es-ES" sz="2200" dirty="0" smtClean="0"/>
              <a:t>usuario.</a:t>
            </a:r>
          </a:p>
          <a:p>
            <a:pPr>
              <a:lnSpc>
                <a:spcPct val="100000"/>
              </a:lnSpc>
              <a:spcBef>
                <a:spcPts val="400"/>
              </a:spcBef>
              <a:spcAft>
                <a:spcPts val="400"/>
              </a:spcAft>
              <a:buFont typeface="Wingdings" pitchFamily="2" charset="2"/>
              <a:buChar char="Ø"/>
            </a:pPr>
            <a:endParaRPr lang="es-ES" sz="2200" dirty="0"/>
          </a:p>
          <a:p>
            <a:pPr>
              <a:lnSpc>
                <a:spcPct val="100000"/>
              </a:lnSpc>
              <a:spcBef>
                <a:spcPts val="400"/>
              </a:spcBef>
              <a:spcAft>
                <a:spcPts val="400"/>
              </a:spcAft>
              <a:buFont typeface="Wingdings" pitchFamily="2" charset="2"/>
              <a:buChar char="Ø"/>
            </a:pPr>
            <a:endParaRPr lang="es-ES" sz="2200" dirty="0"/>
          </a:p>
          <a:p>
            <a:pPr>
              <a:lnSpc>
                <a:spcPct val="100000"/>
              </a:lnSpc>
              <a:spcBef>
                <a:spcPts val="400"/>
              </a:spcBef>
              <a:spcAft>
                <a:spcPts val="400"/>
              </a:spcAft>
              <a:buFont typeface="Wingdings" pitchFamily="2" charset="2"/>
              <a:buChar char="Ø"/>
            </a:pPr>
            <a:endParaRPr lang="es-ES" dirty="0" smtClean="0"/>
          </a:p>
          <a:p>
            <a:pPr>
              <a:spcBef>
                <a:spcPts val="625"/>
              </a:spcBef>
              <a:buSzPct val="70000"/>
              <a:buFont typeface="Wingdings" pitchFamily="2" charset="2"/>
              <a:buChar char="Ø"/>
              <a:tabLst>
                <a:tab pos="911225" algn="l"/>
                <a:tab pos="1825625" algn="l"/>
                <a:tab pos="2740025" algn="l"/>
                <a:tab pos="3654425" algn="l"/>
                <a:tab pos="4568825" algn="l"/>
                <a:tab pos="5483225" algn="l"/>
                <a:tab pos="6397625" algn="l"/>
                <a:tab pos="7312025" algn="l"/>
                <a:tab pos="8226425" algn="l"/>
                <a:tab pos="9140825" algn="l"/>
                <a:tab pos="10055225" algn="l"/>
              </a:tabLst>
              <a:defRPr/>
            </a:pPr>
            <a:endParaRPr lang="en-US" sz="3600" dirty="0"/>
          </a:p>
        </p:txBody>
      </p:sp>
    </p:spTree>
    <p:extLst>
      <p:ext uri="{BB962C8B-B14F-4D97-AF65-F5344CB8AC3E}">
        <p14:creationId xmlns:p14="http://schemas.microsoft.com/office/powerpoint/2010/main" val="3843799842"/>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209862" y="286603"/>
            <a:ext cx="11982138" cy="1263901"/>
          </a:xfrm>
        </p:spPr>
        <p:txBody>
          <a:bodyPr>
            <a:normAutofit/>
          </a:bodyPr>
          <a:lstStyle/>
          <a:p>
            <a:r>
              <a:rPr lang="en-US" dirty="0" err="1"/>
              <a:t>Patrón</a:t>
            </a:r>
            <a:r>
              <a:rPr lang="en-US" dirty="0"/>
              <a:t> CQRS: </a:t>
            </a:r>
            <a:r>
              <a:rPr lang="en-US" dirty="0" err="1" smtClean="0"/>
              <a:t>Escenarios</a:t>
            </a:r>
            <a:endParaRPr lang="es-ES" dirty="0"/>
          </a:p>
        </p:txBody>
      </p:sp>
      <p:sp>
        <p:nvSpPr>
          <p:cNvPr id="3" name="Marcador de contenido 2"/>
          <p:cNvSpPr>
            <a:spLocks noGrp="1"/>
          </p:cNvSpPr>
          <p:nvPr>
            <p:ph idx="1"/>
          </p:nvPr>
        </p:nvSpPr>
        <p:spPr>
          <a:xfrm>
            <a:off x="284813" y="1882164"/>
            <a:ext cx="11907187" cy="4323764"/>
          </a:xfrm>
        </p:spPr>
        <p:txBody>
          <a:bodyPr>
            <a:noAutofit/>
          </a:bodyPr>
          <a:lstStyle/>
          <a:p>
            <a:pPr>
              <a:lnSpc>
                <a:spcPct val="100000"/>
              </a:lnSpc>
              <a:spcBef>
                <a:spcPts val="400"/>
              </a:spcBef>
              <a:spcAft>
                <a:spcPts val="400"/>
              </a:spcAft>
              <a:buFont typeface="Wingdings" pitchFamily="2" charset="2"/>
              <a:buChar char="Ø"/>
            </a:pPr>
            <a:r>
              <a:rPr lang="es-ES" sz="2200" dirty="0"/>
              <a:t>Escenarios en los que se espera que el sistema evolucione con el tiempo y que podrían contener varias versiones del modelo, o en los que las reglas de negocio cambian con regularidad.</a:t>
            </a:r>
          </a:p>
          <a:p>
            <a:pPr>
              <a:lnSpc>
                <a:spcPct val="100000"/>
              </a:lnSpc>
              <a:spcBef>
                <a:spcPts val="400"/>
              </a:spcBef>
              <a:spcAft>
                <a:spcPts val="400"/>
              </a:spcAft>
              <a:buFont typeface="Wingdings" pitchFamily="2" charset="2"/>
              <a:buChar char="Ø"/>
            </a:pPr>
            <a:r>
              <a:rPr lang="es-ES" sz="2200" dirty="0"/>
              <a:t>Integración con otros sistemas, especialmente en combinación con </a:t>
            </a:r>
            <a:r>
              <a:rPr lang="es-ES" sz="2200" dirty="0" err="1"/>
              <a:t>Event</a:t>
            </a:r>
            <a:r>
              <a:rPr lang="es-ES" sz="2200" dirty="0"/>
              <a:t> </a:t>
            </a:r>
            <a:r>
              <a:rPr lang="es-ES" sz="2200" dirty="0" err="1"/>
              <a:t>Sourcing</a:t>
            </a:r>
            <a:r>
              <a:rPr lang="es-ES" sz="2200" dirty="0"/>
              <a:t>, </a:t>
            </a:r>
            <a:r>
              <a:rPr lang="es-ES" sz="2200" dirty="0" smtClean="0"/>
              <a:t>en los </a:t>
            </a:r>
            <a:r>
              <a:rPr lang="es-ES" sz="2200" dirty="0"/>
              <a:t>que el error temporal de un subsistema no debería afectar a la disponibilidad delos demás.</a:t>
            </a:r>
          </a:p>
          <a:p>
            <a:pPr>
              <a:lnSpc>
                <a:spcPct val="100000"/>
              </a:lnSpc>
              <a:spcBef>
                <a:spcPts val="400"/>
              </a:spcBef>
              <a:spcAft>
                <a:spcPts val="400"/>
              </a:spcAft>
              <a:buFont typeface="Wingdings" pitchFamily="2" charset="2"/>
              <a:buChar char="Ø"/>
            </a:pPr>
            <a:endParaRPr lang="es-ES" sz="2200" dirty="0" smtClean="0"/>
          </a:p>
          <a:p>
            <a:pPr marL="0" indent="0">
              <a:lnSpc>
                <a:spcPct val="100000"/>
              </a:lnSpc>
              <a:spcBef>
                <a:spcPts val="400"/>
              </a:spcBef>
              <a:spcAft>
                <a:spcPts val="400"/>
              </a:spcAft>
              <a:buNone/>
            </a:pPr>
            <a:r>
              <a:rPr lang="es-ES" sz="2400" dirty="0"/>
              <a:t>No se recomienda este patrón si</a:t>
            </a:r>
            <a:r>
              <a:rPr lang="es-ES" sz="2400" dirty="0" smtClean="0"/>
              <a:t>:</a:t>
            </a:r>
          </a:p>
          <a:p>
            <a:pPr>
              <a:lnSpc>
                <a:spcPct val="100000"/>
              </a:lnSpc>
              <a:spcBef>
                <a:spcPts val="400"/>
              </a:spcBef>
              <a:spcAft>
                <a:spcPts val="400"/>
              </a:spcAft>
              <a:buFont typeface="Wingdings" pitchFamily="2" charset="2"/>
              <a:buChar char="Ø"/>
            </a:pPr>
            <a:r>
              <a:rPr lang="es-ES" sz="2200" dirty="0" smtClean="0"/>
              <a:t>El dominio o las reglas de negocio son simples.</a:t>
            </a:r>
          </a:p>
          <a:p>
            <a:pPr>
              <a:lnSpc>
                <a:spcPct val="100000"/>
              </a:lnSpc>
              <a:spcBef>
                <a:spcPts val="400"/>
              </a:spcBef>
              <a:spcAft>
                <a:spcPts val="400"/>
              </a:spcAft>
              <a:buFont typeface="Wingdings" pitchFamily="2" charset="2"/>
              <a:buChar char="Ø"/>
            </a:pPr>
            <a:r>
              <a:rPr lang="es-ES" sz="2200" dirty="0" smtClean="0"/>
              <a:t>Es </a:t>
            </a:r>
            <a:r>
              <a:rPr lang="es-ES" sz="2200" dirty="0"/>
              <a:t>suficiente con una interfaz de usuario simple, de estilo CRUD, y las </a:t>
            </a:r>
            <a:r>
              <a:rPr lang="es-ES" sz="2200" dirty="0" smtClean="0"/>
              <a:t>operaciones relacionadas </a:t>
            </a:r>
            <a:r>
              <a:rPr lang="es-ES" sz="2200" dirty="0"/>
              <a:t>de acceso a datos.</a:t>
            </a:r>
          </a:p>
          <a:p>
            <a:pPr>
              <a:lnSpc>
                <a:spcPct val="100000"/>
              </a:lnSpc>
              <a:spcBef>
                <a:spcPts val="400"/>
              </a:spcBef>
              <a:spcAft>
                <a:spcPts val="400"/>
              </a:spcAft>
              <a:buFont typeface="Wingdings" pitchFamily="2" charset="2"/>
              <a:buChar char="Ø"/>
            </a:pPr>
            <a:endParaRPr lang="es-ES" sz="2200" dirty="0"/>
          </a:p>
          <a:p>
            <a:pPr>
              <a:lnSpc>
                <a:spcPct val="100000"/>
              </a:lnSpc>
              <a:spcBef>
                <a:spcPts val="400"/>
              </a:spcBef>
              <a:spcAft>
                <a:spcPts val="400"/>
              </a:spcAft>
              <a:buFont typeface="Wingdings" pitchFamily="2" charset="2"/>
              <a:buChar char="Ø"/>
            </a:pPr>
            <a:endParaRPr lang="es-ES" dirty="0" smtClean="0"/>
          </a:p>
          <a:p>
            <a:pPr>
              <a:spcBef>
                <a:spcPts val="625"/>
              </a:spcBef>
              <a:buSzPct val="70000"/>
              <a:buFont typeface="Wingdings" pitchFamily="2" charset="2"/>
              <a:buChar char="Ø"/>
              <a:tabLst>
                <a:tab pos="911225" algn="l"/>
                <a:tab pos="1825625" algn="l"/>
                <a:tab pos="2740025" algn="l"/>
                <a:tab pos="3654425" algn="l"/>
                <a:tab pos="4568825" algn="l"/>
                <a:tab pos="5483225" algn="l"/>
                <a:tab pos="6397625" algn="l"/>
                <a:tab pos="7312025" algn="l"/>
                <a:tab pos="8226425" algn="l"/>
                <a:tab pos="9140825" algn="l"/>
                <a:tab pos="10055225" algn="l"/>
              </a:tabLst>
              <a:defRPr/>
            </a:pPr>
            <a:endParaRPr lang="en-US" sz="3600" dirty="0"/>
          </a:p>
        </p:txBody>
      </p:sp>
    </p:spTree>
    <p:extLst>
      <p:ext uri="{BB962C8B-B14F-4D97-AF65-F5344CB8AC3E}">
        <p14:creationId xmlns:p14="http://schemas.microsoft.com/office/powerpoint/2010/main" val="3031917717"/>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209862" y="286603"/>
            <a:ext cx="11982138" cy="1263901"/>
          </a:xfrm>
        </p:spPr>
        <p:txBody>
          <a:bodyPr>
            <a:normAutofit/>
          </a:bodyPr>
          <a:lstStyle/>
          <a:p>
            <a:pPr algn="ctr"/>
            <a:r>
              <a:rPr lang="en-US" dirty="0"/>
              <a:t>ORM (Object–relational mapping)</a:t>
            </a:r>
          </a:p>
        </p:txBody>
      </p:sp>
      <p:sp>
        <p:nvSpPr>
          <p:cNvPr id="3" name="Marcador de contenido 2"/>
          <p:cNvSpPr>
            <a:spLocks noGrp="1"/>
          </p:cNvSpPr>
          <p:nvPr>
            <p:ph idx="1"/>
          </p:nvPr>
        </p:nvSpPr>
        <p:spPr>
          <a:xfrm>
            <a:off x="1184223" y="1753850"/>
            <a:ext cx="10843102" cy="4557010"/>
          </a:xfrm>
        </p:spPr>
        <p:txBody>
          <a:bodyPr>
            <a:noAutofit/>
          </a:bodyPr>
          <a:lstStyle/>
          <a:p>
            <a:pPr>
              <a:lnSpc>
                <a:spcPct val="100000"/>
              </a:lnSpc>
              <a:spcAft>
                <a:spcPts val="600"/>
              </a:spcAft>
              <a:buFont typeface="Wingdings" pitchFamily="2" charset="2"/>
              <a:buChar char="Ø"/>
            </a:pPr>
            <a:r>
              <a:rPr lang="es-ES" dirty="0"/>
              <a:t> Es una técnica de programación que nos permite consultar y manipular datos en una base de datos utilizando un paradigma orientado a objetos.</a:t>
            </a:r>
          </a:p>
          <a:p>
            <a:pPr>
              <a:lnSpc>
                <a:spcPct val="100000"/>
              </a:lnSpc>
              <a:spcAft>
                <a:spcPts val="600"/>
              </a:spcAft>
              <a:buFont typeface="Wingdings" pitchFamily="2" charset="2"/>
              <a:buChar char="Ø"/>
            </a:pPr>
            <a:r>
              <a:rPr lang="es-ES" dirty="0"/>
              <a:t>Crea una "base de datos de objetos virtuales" que se puede utilizar desde dentro de un lenguaje de programación</a:t>
            </a:r>
            <a:r>
              <a:rPr lang="es-ES" dirty="0" smtClean="0"/>
              <a:t>.</a:t>
            </a:r>
          </a:p>
          <a:p>
            <a:pPr>
              <a:lnSpc>
                <a:spcPct val="100000"/>
              </a:lnSpc>
              <a:spcAft>
                <a:spcPts val="600"/>
              </a:spcAft>
              <a:buFont typeface="Wingdings" pitchFamily="2" charset="2"/>
              <a:buChar char="Ø"/>
            </a:pPr>
            <a:r>
              <a:rPr lang="es-ES" dirty="0"/>
              <a:t>M</a:t>
            </a:r>
            <a:r>
              <a:rPr lang="es-ES" dirty="0" smtClean="0"/>
              <a:t>apea </a:t>
            </a:r>
            <a:r>
              <a:rPr lang="es-ES" dirty="0"/>
              <a:t>tablas de bases de datos a clases y filas a instancias de esas clases. Esto permite que los desarrolladores trabajen con objetos en lugar de registros de base de datos</a:t>
            </a:r>
            <a:r>
              <a:rPr lang="es-ES" dirty="0" smtClean="0"/>
              <a:t>.</a:t>
            </a:r>
          </a:p>
          <a:p>
            <a:pPr>
              <a:lnSpc>
                <a:spcPct val="100000"/>
              </a:lnSpc>
              <a:spcAft>
                <a:spcPts val="600"/>
              </a:spcAft>
              <a:buFont typeface="Wingdings" pitchFamily="2" charset="2"/>
              <a:buChar char="Ø"/>
            </a:pPr>
            <a:r>
              <a:rPr lang="es-ES" dirty="0" smtClean="0"/>
              <a:t>Pueden </a:t>
            </a:r>
            <a:r>
              <a:rPr lang="es-ES" dirty="0"/>
              <a:t>realizar operaciones </a:t>
            </a:r>
            <a:r>
              <a:rPr lang="es-ES" dirty="0" smtClean="0"/>
              <a:t>CRUD (Crear, Leer, Actualizar, Eliminar) en </a:t>
            </a:r>
            <a:r>
              <a:rPr lang="es-ES" dirty="0"/>
              <a:t>objetos, y </a:t>
            </a:r>
            <a:r>
              <a:rPr lang="es-ES" dirty="0" smtClean="0"/>
              <a:t>se </a:t>
            </a:r>
            <a:r>
              <a:rPr lang="es-ES" dirty="0"/>
              <a:t>encarga de traducir esas operaciones en las correspondientes consultas SQL</a:t>
            </a:r>
            <a:r>
              <a:rPr lang="es-ES" dirty="0" smtClean="0"/>
              <a:t>.</a:t>
            </a:r>
          </a:p>
          <a:p>
            <a:pPr>
              <a:lnSpc>
                <a:spcPct val="100000"/>
              </a:lnSpc>
              <a:spcAft>
                <a:spcPts val="600"/>
              </a:spcAft>
              <a:buFont typeface="Wingdings" pitchFamily="2" charset="2"/>
              <a:buChar char="Ø"/>
            </a:pPr>
            <a:r>
              <a:rPr lang="es-ES" dirty="0" smtClean="0"/>
              <a:t>Manejo </a:t>
            </a:r>
            <a:r>
              <a:rPr lang="es-ES" dirty="0"/>
              <a:t>automático de relaciones entre entidades (uno a uno, uno a muchos, muchos a muchos).</a:t>
            </a:r>
          </a:p>
          <a:p>
            <a:pPr>
              <a:lnSpc>
                <a:spcPct val="100000"/>
              </a:lnSpc>
              <a:spcAft>
                <a:spcPts val="600"/>
              </a:spcAft>
              <a:buFont typeface="Wingdings" pitchFamily="2" charset="2"/>
              <a:buChar char="Ø"/>
            </a:pPr>
            <a:endParaRPr lang="es-ES" dirty="0"/>
          </a:p>
          <a:p>
            <a:pPr>
              <a:lnSpc>
                <a:spcPct val="100000"/>
              </a:lnSpc>
              <a:spcAft>
                <a:spcPts val="600"/>
              </a:spcAft>
              <a:buFont typeface="Wingdings" pitchFamily="2" charset="2"/>
              <a:buChar char="Ø"/>
            </a:pPr>
            <a:endParaRPr lang="es-ES" dirty="0" smtClean="0">
              <a:cs typeface="Arial" pitchFamily="34" charset="0"/>
            </a:endParaRPr>
          </a:p>
          <a:p>
            <a:pPr>
              <a:lnSpc>
                <a:spcPct val="100000"/>
              </a:lnSpc>
              <a:spcAft>
                <a:spcPts val="600"/>
              </a:spcAft>
              <a:buFont typeface="Wingdings" pitchFamily="2" charset="2"/>
              <a:buChar char="Ø"/>
            </a:pPr>
            <a:endParaRPr lang="es-ES" dirty="0"/>
          </a:p>
          <a:p>
            <a:pPr>
              <a:lnSpc>
                <a:spcPct val="100000"/>
              </a:lnSpc>
              <a:spcAft>
                <a:spcPts val="600"/>
              </a:spcAft>
              <a:buFont typeface="Wingdings" pitchFamily="2" charset="2"/>
              <a:buChar char="Ø"/>
            </a:pPr>
            <a:endParaRPr lang="es-ES" dirty="0" smtClean="0"/>
          </a:p>
          <a:p>
            <a:pPr>
              <a:lnSpc>
                <a:spcPct val="100000"/>
              </a:lnSpc>
              <a:spcAft>
                <a:spcPts val="600"/>
              </a:spcAft>
              <a:buFont typeface="Wingdings" pitchFamily="2" charset="2"/>
              <a:buChar char="Ø"/>
            </a:pPr>
            <a:endParaRPr lang="es-ES" dirty="0"/>
          </a:p>
          <a:p>
            <a:pPr>
              <a:lnSpc>
                <a:spcPct val="100000"/>
              </a:lnSpc>
              <a:spcAft>
                <a:spcPts val="600"/>
              </a:spcAft>
              <a:buFont typeface="Wingdings" pitchFamily="2" charset="2"/>
              <a:buChar char="Ø"/>
            </a:pPr>
            <a:endParaRPr lang="es-ES" sz="3200" dirty="0"/>
          </a:p>
          <a:p>
            <a:pPr>
              <a:spcBef>
                <a:spcPts val="625"/>
              </a:spcBef>
              <a:buSzPct val="70000"/>
              <a:buFont typeface="Wingdings" pitchFamily="2" charset="2"/>
              <a:buChar char="Ø"/>
              <a:tabLst>
                <a:tab pos="911225" algn="l"/>
                <a:tab pos="1825625" algn="l"/>
                <a:tab pos="2740025" algn="l"/>
                <a:tab pos="3654425" algn="l"/>
                <a:tab pos="4568825" algn="l"/>
                <a:tab pos="5483225" algn="l"/>
                <a:tab pos="6397625" algn="l"/>
                <a:tab pos="7312025" algn="l"/>
                <a:tab pos="8226425" algn="l"/>
                <a:tab pos="9140825" algn="l"/>
                <a:tab pos="10055225" algn="l"/>
              </a:tabLst>
              <a:defRPr/>
            </a:pPr>
            <a:endParaRPr lang="en-US" sz="3600" dirty="0"/>
          </a:p>
        </p:txBody>
      </p:sp>
    </p:spTree>
    <p:extLst>
      <p:ext uri="{BB962C8B-B14F-4D97-AF65-F5344CB8AC3E}">
        <p14:creationId xmlns:p14="http://schemas.microsoft.com/office/powerpoint/2010/main" val="3859953066"/>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209862" y="286603"/>
            <a:ext cx="11982138" cy="1263901"/>
          </a:xfrm>
        </p:spPr>
        <p:txBody>
          <a:bodyPr>
            <a:normAutofit/>
          </a:bodyPr>
          <a:lstStyle/>
          <a:p>
            <a:pPr algn="ctr"/>
            <a:r>
              <a:rPr lang="en-US" dirty="0"/>
              <a:t>ORM </a:t>
            </a:r>
            <a:r>
              <a:rPr lang="en-US" dirty="0" smtClean="0"/>
              <a:t>:</a:t>
            </a:r>
            <a:r>
              <a:rPr lang="en-US" dirty="0"/>
              <a:t>¿</a:t>
            </a:r>
            <a:r>
              <a:rPr lang="en-US" dirty="0" err="1"/>
              <a:t>Cuando</a:t>
            </a:r>
            <a:r>
              <a:rPr lang="en-US" dirty="0"/>
              <a:t> </a:t>
            </a:r>
            <a:r>
              <a:rPr lang="en-US" dirty="0" err="1"/>
              <a:t>usarlos</a:t>
            </a:r>
            <a:r>
              <a:rPr lang="en-US" dirty="0"/>
              <a:t>? o ¿</a:t>
            </a:r>
            <a:r>
              <a:rPr lang="en-US" dirty="0" err="1"/>
              <a:t>Mejor</a:t>
            </a:r>
            <a:r>
              <a:rPr lang="en-US" dirty="0"/>
              <a:t> no </a:t>
            </a:r>
            <a:r>
              <a:rPr lang="en-US" dirty="0" err="1"/>
              <a:t>usarlos</a:t>
            </a:r>
            <a:r>
              <a:rPr lang="en-US" dirty="0"/>
              <a:t>?</a:t>
            </a:r>
          </a:p>
        </p:txBody>
      </p:sp>
      <p:sp>
        <p:nvSpPr>
          <p:cNvPr id="3" name="Marcador de contenido 2"/>
          <p:cNvSpPr>
            <a:spLocks noGrp="1"/>
          </p:cNvSpPr>
          <p:nvPr>
            <p:ph idx="1"/>
          </p:nvPr>
        </p:nvSpPr>
        <p:spPr>
          <a:xfrm>
            <a:off x="1184223" y="1753850"/>
            <a:ext cx="9803567" cy="3987383"/>
          </a:xfrm>
        </p:spPr>
        <p:txBody>
          <a:bodyPr>
            <a:noAutofit/>
          </a:bodyPr>
          <a:lstStyle/>
          <a:p>
            <a:pPr>
              <a:lnSpc>
                <a:spcPct val="100000"/>
              </a:lnSpc>
              <a:spcAft>
                <a:spcPts val="600"/>
              </a:spcAft>
              <a:buFont typeface="Wingdings" pitchFamily="2" charset="2"/>
              <a:buChar char="Ø"/>
            </a:pPr>
            <a:r>
              <a:rPr lang="es-ES" dirty="0" smtClean="0"/>
              <a:t>Hacer </a:t>
            </a:r>
            <a:r>
              <a:rPr lang="es-ES" dirty="0"/>
              <a:t>uso de </a:t>
            </a:r>
            <a:r>
              <a:rPr lang="es-ES" dirty="0" err="1"/>
              <a:t>ORMs</a:t>
            </a:r>
            <a:r>
              <a:rPr lang="es-ES" dirty="0"/>
              <a:t> por regla general</a:t>
            </a:r>
          </a:p>
          <a:p>
            <a:pPr>
              <a:lnSpc>
                <a:spcPct val="100000"/>
              </a:lnSpc>
              <a:spcAft>
                <a:spcPts val="600"/>
              </a:spcAft>
              <a:buFont typeface="Wingdings" pitchFamily="2" charset="2"/>
              <a:buChar char="Ø"/>
            </a:pPr>
            <a:r>
              <a:rPr lang="es-ES" dirty="0"/>
              <a:t>Usar procedimientos almacenados para  consultas muy complejas y pesadas (pueden ser afinadas por expertos en SQL sin conocer el código de las aplicaciones)</a:t>
            </a:r>
          </a:p>
          <a:p>
            <a:pPr>
              <a:lnSpc>
                <a:spcPct val="100000"/>
              </a:lnSpc>
              <a:spcAft>
                <a:spcPts val="600"/>
              </a:spcAft>
              <a:buFont typeface="Wingdings" pitchFamily="2" charset="2"/>
              <a:buChar char="Ø"/>
            </a:pPr>
            <a:r>
              <a:rPr lang="es-ES" dirty="0"/>
              <a:t>Usar para encapsular procesos que requieren pocos parámetros y ejecutan gran cantidad de acciones, aun cuando sean simples</a:t>
            </a:r>
          </a:p>
          <a:p>
            <a:pPr>
              <a:lnSpc>
                <a:spcPct val="100000"/>
              </a:lnSpc>
              <a:spcAft>
                <a:spcPts val="600"/>
              </a:spcAft>
              <a:buFont typeface="Wingdings" pitchFamily="2" charset="2"/>
              <a:buChar char="Ø"/>
            </a:pPr>
            <a:endParaRPr lang="es-ES" dirty="0"/>
          </a:p>
          <a:p>
            <a:pPr>
              <a:lnSpc>
                <a:spcPct val="100000"/>
              </a:lnSpc>
              <a:spcAft>
                <a:spcPts val="600"/>
              </a:spcAft>
              <a:buFont typeface="Wingdings" pitchFamily="2" charset="2"/>
              <a:buChar char="Ø"/>
            </a:pPr>
            <a:endParaRPr lang="es-ES" dirty="0" smtClean="0">
              <a:cs typeface="Arial" pitchFamily="34" charset="0"/>
            </a:endParaRPr>
          </a:p>
          <a:p>
            <a:pPr>
              <a:lnSpc>
                <a:spcPct val="100000"/>
              </a:lnSpc>
              <a:spcAft>
                <a:spcPts val="600"/>
              </a:spcAft>
              <a:buFont typeface="Wingdings" pitchFamily="2" charset="2"/>
              <a:buChar char="Ø"/>
            </a:pPr>
            <a:endParaRPr lang="es-ES" dirty="0"/>
          </a:p>
          <a:p>
            <a:pPr>
              <a:lnSpc>
                <a:spcPct val="100000"/>
              </a:lnSpc>
              <a:spcAft>
                <a:spcPts val="600"/>
              </a:spcAft>
              <a:buFont typeface="Wingdings" pitchFamily="2" charset="2"/>
              <a:buChar char="Ø"/>
            </a:pPr>
            <a:endParaRPr lang="es-ES" dirty="0" smtClean="0"/>
          </a:p>
          <a:p>
            <a:pPr>
              <a:lnSpc>
                <a:spcPct val="100000"/>
              </a:lnSpc>
              <a:spcAft>
                <a:spcPts val="600"/>
              </a:spcAft>
              <a:buFont typeface="Wingdings" pitchFamily="2" charset="2"/>
              <a:buChar char="Ø"/>
            </a:pPr>
            <a:endParaRPr lang="es-ES" dirty="0"/>
          </a:p>
          <a:p>
            <a:pPr>
              <a:lnSpc>
                <a:spcPct val="100000"/>
              </a:lnSpc>
              <a:spcAft>
                <a:spcPts val="600"/>
              </a:spcAft>
              <a:buFont typeface="Wingdings" pitchFamily="2" charset="2"/>
              <a:buChar char="Ø"/>
            </a:pPr>
            <a:endParaRPr lang="es-ES" sz="3200" dirty="0"/>
          </a:p>
          <a:p>
            <a:pPr>
              <a:spcBef>
                <a:spcPts val="625"/>
              </a:spcBef>
              <a:buSzPct val="70000"/>
              <a:buFont typeface="Wingdings" pitchFamily="2" charset="2"/>
              <a:buChar char="Ø"/>
              <a:tabLst>
                <a:tab pos="911225" algn="l"/>
                <a:tab pos="1825625" algn="l"/>
                <a:tab pos="2740025" algn="l"/>
                <a:tab pos="3654425" algn="l"/>
                <a:tab pos="4568825" algn="l"/>
                <a:tab pos="5483225" algn="l"/>
                <a:tab pos="6397625" algn="l"/>
                <a:tab pos="7312025" algn="l"/>
                <a:tab pos="8226425" algn="l"/>
                <a:tab pos="9140825" algn="l"/>
                <a:tab pos="10055225" algn="l"/>
              </a:tabLst>
              <a:defRPr/>
            </a:pPr>
            <a:endParaRPr lang="en-US" sz="3600" dirty="0"/>
          </a:p>
        </p:txBody>
      </p:sp>
    </p:spTree>
    <p:extLst>
      <p:ext uri="{BB962C8B-B14F-4D97-AF65-F5344CB8AC3E}">
        <p14:creationId xmlns:p14="http://schemas.microsoft.com/office/powerpoint/2010/main" val="3379259390"/>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97280" y="286603"/>
            <a:ext cx="10058400" cy="1263901"/>
          </a:xfrm>
        </p:spPr>
        <p:txBody>
          <a:bodyPr>
            <a:normAutofit/>
          </a:bodyPr>
          <a:lstStyle/>
          <a:p>
            <a:pPr algn="ctr"/>
            <a:r>
              <a:rPr lang="es-ES_tradnl" dirty="0" smtClean="0"/>
              <a:t>Resumen</a:t>
            </a:r>
            <a:endParaRPr lang="es-ES" dirty="0"/>
          </a:p>
        </p:txBody>
      </p:sp>
      <p:sp>
        <p:nvSpPr>
          <p:cNvPr id="3" name="Marcador de contenido 2"/>
          <p:cNvSpPr>
            <a:spLocks noGrp="1"/>
          </p:cNvSpPr>
          <p:nvPr>
            <p:ph idx="1"/>
          </p:nvPr>
        </p:nvSpPr>
        <p:spPr>
          <a:xfrm>
            <a:off x="329038" y="1624996"/>
            <a:ext cx="11697310" cy="4875195"/>
          </a:xfrm>
        </p:spPr>
        <p:txBody>
          <a:bodyPr>
            <a:noAutofit/>
          </a:bodyPr>
          <a:lstStyle/>
          <a:p>
            <a:pPr marL="552450" indent="-552450">
              <a:buFont typeface="Wingdings" panose="05000000000000000000" pitchFamily="2" charset="2"/>
              <a:buAutoNum type="arabicPeriod"/>
              <a:tabLst>
                <a:tab pos="341313" algn="l"/>
                <a:tab pos="911225" algn="l"/>
                <a:tab pos="1825625" algn="l"/>
                <a:tab pos="2740025" algn="l"/>
                <a:tab pos="3654425" algn="l"/>
                <a:tab pos="4568825" algn="l"/>
                <a:tab pos="5483225" algn="l"/>
                <a:tab pos="6397625" algn="l"/>
                <a:tab pos="7312025" algn="l"/>
                <a:tab pos="8226425" algn="l"/>
                <a:tab pos="9140825" algn="l"/>
                <a:tab pos="10055225" algn="l"/>
              </a:tabLst>
            </a:pPr>
            <a:r>
              <a:rPr lang="es-ES" sz="2800" dirty="0"/>
              <a:t>Los patrones de acceso a datos son soluciones reutilizables que abordan la forma en que las aplicaciones interactúan con las fuentes de datos, como bases de datos, servicios web o archivos. Estos patrones ayudan a estructurar el código para que sea más fácil de mantener, escalar y probar. Algunos de los patrones más comunes </a:t>
            </a:r>
            <a:r>
              <a:rPr lang="es-ES" sz="2800" dirty="0" smtClean="0"/>
              <a:t>son:</a:t>
            </a:r>
            <a:r>
              <a:rPr lang="es-ES" sz="2800" dirty="0"/>
              <a:t> </a:t>
            </a:r>
            <a:r>
              <a:rPr lang="es-ES" sz="2800" dirty="0" err="1" smtClean="0"/>
              <a:t>Repository</a:t>
            </a:r>
            <a:r>
              <a:rPr lang="es-ES" sz="2800" dirty="0" smtClean="0"/>
              <a:t>, </a:t>
            </a:r>
            <a:r>
              <a:rPr lang="es-ES" sz="2800" dirty="0" err="1"/>
              <a:t>Unit</a:t>
            </a:r>
            <a:r>
              <a:rPr lang="es-ES" sz="2800" dirty="0"/>
              <a:t> of </a:t>
            </a:r>
            <a:r>
              <a:rPr lang="es-ES" sz="2800" dirty="0" err="1" smtClean="0"/>
              <a:t>Work</a:t>
            </a:r>
            <a:r>
              <a:rPr lang="es-ES" sz="2800" dirty="0" smtClean="0"/>
              <a:t>,</a:t>
            </a:r>
            <a:r>
              <a:rPr lang="es-ES" sz="2800" dirty="0"/>
              <a:t> Active </a:t>
            </a:r>
            <a:r>
              <a:rPr lang="es-ES" sz="2800" dirty="0" err="1" smtClean="0"/>
              <a:t>Record,Identity</a:t>
            </a:r>
            <a:r>
              <a:rPr lang="es-ES" sz="2800" dirty="0" smtClean="0"/>
              <a:t> </a:t>
            </a:r>
            <a:r>
              <a:rPr lang="es-ES" sz="2800" dirty="0" err="1" smtClean="0"/>
              <a:t>Map</a:t>
            </a:r>
            <a:r>
              <a:rPr lang="es-ES" sz="2800" dirty="0" smtClean="0"/>
              <a:t>, Data </a:t>
            </a:r>
            <a:r>
              <a:rPr lang="es-ES" sz="2800" dirty="0" err="1" smtClean="0"/>
              <a:t>Mapper</a:t>
            </a:r>
            <a:r>
              <a:rPr lang="es-ES" sz="2800" dirty="0" smtClean="0"/>
              <a:t> ,</a:t>
            </a:r>
            <a:r>
              <a:rPr lang="es-ES" sz="2800" dirty="0" err="1" smtClean="0"/>
              <a:t>CQRS,etc</a:t>
            </a:r>
            <a:r>
              <a:rPr lang="es-ES" sz="2800" dirty="0" smtClean="0"/>
              <a:t>.</a:t>
            </a:r>
            <a:endParaRPr lang="es-ES" sz="2800" dirty="0"/>
          </a:p>
        </p:txBody>
      </p:sp>
    </p:spTree>
    <p:extLst>
      <p:ext uri="{BB962C8B-B14F-4D97-AF65-F5344CB8AC3E}">
        <p14:creationId xmlns:p14="http://schemas.microsoft.com/office/powerpoint/2010/main" val="422595721"/>
      </p:ext>
    </p:extLst>
  </p:cSld>
  <p:clrMapOvr>
    <a:masterClrMapping/>
  </p:clrMapOvr>
  <p:timing>
    <p:tnLst>
      <p:par>
        <p:cTn id="1" dur="indefinite" restart="never" nodeType="tmRoot"/>
      </p:par>
    </p:tnLst>
  </p:timing>
</p:sld>
</file>

<file path=ppt/theme/theme1.xml><?xml version="1.0" encoding="utf-8"?>
<a:theme xmlns:a="http://schemas.openxmlformats.org/drawingml/2006/main" name="Retrospección">
  <a:themeElements>
    <a:clrScheme name="Retrospección">
      <a:dk1>
        <a:sysClr val="windowText" lastClr="000000"/>
      </a:dk1>
      <a:lt1>
        <a:sysClr val="window" lastClr="FFFFFF"/>
      </a:lt1>
      <a:dk2>
        <a:srgbClr val="344068"/>
      </a:dk2>
      <a:lt2>
        <a:srgbClr val="D9E0E6"/>
      </a:lt2>
      <a:accent1>
        <a:srgbClr val="1CADE4"/>
      </a:accent1>
      <a:accent2>
        <a:srgbClr val="2683C6"/>
      </a:accent2>
      <a:accent3>
        <a:srgbClr val="28C4CC"/>
      </a:accent3>
      <a:accent4>
        <a:srgbClr val="42BA97"/>
      </a:accent4>
      <a:accent5>
        <a:srgbClr val="3E8853"/>
      </a:accent5>
      <a:accent6>
        <a:srgbClr val="62A39F"/>
      </a:accent6>
      <a:hlink>
        <a:srgbClr val="6EAC1C"/>
      </a:hlink>
      <a:folHlink>
        <a:srgbClr val="B26B02"/>
      </a:folHlink>
    </a:clrScheme>
    <a:fontScheme name="Retrospección">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ción">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xmlns="" name="Retrospect" id="{5F128B03-DCCA-4EEB-AB3B-CF2899314A46}" vid="{9CC26709-368C-4D72-9060-94E5B3FF3CD6}"/>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Retrospect</Template>
  <TotalTime>15206</TotalTime>
  <Words>10360</Words>
  <Application>Microsoft Office PowerPoint</Application>
  <PresentationFormat>Personalizado</PresentationFormat>
  <Paragraphs>896</Paragraphs>
  <Slides>53</Slides>
  <Notes>53</Notes>
  <HiddenSlides>0</HiddenSlides>
  <MMClips>0</MMClips>
  <ScaleCrop>false</ScaleCrop>
  <HeadingPairs>
    <vt:vector size="4" baseType="variant">
      <vt:variant>
        <vt:lpstr>Tema</vt:lpstr>
      </vt:variant>
      <vt:variant>
        <vt:i4>1</vt:i4>
      </vt:variant>
      <vt:variant>
        <vt:lpstr>Títulos de diapositiva</vt:lpstr>
      </vt:variant>
      <vt:variant>
        <vt:i4>53</vt:i4>
      </vt:variant>
    </vt:vector>
  </HeadingPairs>
  <TitlesOfParts>
    <vt:vector size="54" baseType="lpstr">
      <vt:lpstr>Retrospección</vt:lpstr>
      <vt:lpstr>Patrones de la capa de acceso a datos. Patrones de Presentación de Interfaz usuario (UI) </vt:lpstr>
      <vt:lpstr>Sumario:</vt:lpstr>
      <vt:lpstr>Bibliografía:</vt:lpstr>
      <vt:lpstr>¿Qué son los Patrones de Acceso a Datos? </vt:lpstr>
      <vt:lpstr>Patrones arquitectónicos de fuentes de datos (Data Source Architectural Patterns)*</vt:lpstr>
      <vt:lpstr>Row Data Gateway</vt:lpstr>
      <vt:lpstr>Row Data Gateway: Ejemplo </vt:lpstr>
      <vt:lpstr>Row Data Gateway:Ejemplo </vt:lpstr>
      <vt:lpstr>Table Data Gateway</vt:lpstr>
      <vt:lpstr>Table Data Gateway: Ejemplo </vt:lpstr>
      <vt:lpstr>Table Data Gateway:Ejemplo </vt:lpstr>
      <vt:lpstr>Table Data Gateway:Ejemplo </vt:lpstr>
      <vt:lpstr>Origen de datos (DataSource )*</vt:lpstr>
      <vt:lpstr>ActiveRecord</vt:lpstr>
      <vt:lpstr>ActiveRecord :Ejemplo </vt:lpstr>
      <vt:lpstr>ActiveRecord :Ejemplo </vt:lpstr>
      <vt:lpstr>Data Mapper</vt:lpstr>
      <vt:lpstr>Data Mapper: Ejemplo </vt:lpstr>
      <vt:lpstr>Data Mapper:Ejemplo </vt:lpstr>
      <vt:lpstr>Data Mapper:Ejemplo </vt:lpstr>
      <vt:lpstr>Data Mapper:Ejemplo </vt:lpstr>
      <vt:lpstr>Patrones arquitectónicos de fuentes de datos: Inconvenientes</vt:lpstr>
      <vt:lpstr>Patrones de comportamiento relacional de objetos (Object-Relational Behavioral Patterns)*</vt:lpstr>
      <vt:lpstr>Unit of Work</vt:lpstr>
      <vt:lpstr>Unit of Work: ejemplo </vt:lpstr>
      <vt:lpstr>Unit of Work: ejemplo </vt:lpstr>
      <vt:lpstr>Identity Map</vt:lpstr>
      <vt:lpstr>Identity Map: ejemplo </vt:lpstr>
      <vt:lpstr>Identity Map: ejemplo </vt:lpstr>
      <vt:lpstr>Identity Map: ejemplo </vt:lpstr>
      <vt:lpstr>Identity Map: ejemplo </vt:lpstr>
      <vt:lpstr>Lazy Load</vt:lpstr>
      <vt:lpstr>Lazy Load: ejemplo </vt:lpstr>
      <vt:lpstr>Patrones de comportamiento relacional de objetos : Inconvenientes</vt:lpstr>
      <vt:lpstr>Patrones de mapeo de metadatos relacional de objetos (Object-Relational Metadata Mapping Patterns)*</vt:lpstr>
      <vt:lpstr>Repository: ejemplo</vt:lpstr>
      <vt:lpstr>Repository: ejemplo</vt:lpstr>
      <vt:lpstr>Repository: Inconvenientes</vt:lpstr>
      <vt:lpstr>Patrón CQRS(Command-Query Responsibility Segregation Patterns)*</vt:lpstr>
      <vt:lpstr>Patrón CQRS: Contexto y problema</vt:lpstr>
      <vt:lpstr>Patrón CQRS: Solución</vt:lpstr>
      <vt:lpstr>Patrón CQRS: mayor aislamiento</vt:lpstr>
      <vt:lpstr>Patrón CQRS: Ejemplo</vt:lpstr>
      <vt:lpstr>Patrón CQRS: Ejemplo</vt:lpstr>
      <vt:lpstr>Patrón CQRS: Ejemplo</vt:lpstr>
      <vt:lpstr>Patrón CQRS: Ventajas</vt:lpstr>
      <vt:lpstr>Patrón CQRS: Desventajas</vt:lpstr>
      <vt:lpstr>Patrón CQRS: Escenarios</vt:lpstr>
      <vt:lpstr>Patrón CQRS: Escenarios</vt:lpstr>
      <vt:lpstr>Patrón CQRS: Escenarios</vt:lpstr>
      <vt:lpstr>ORM (Object–relational mapping)</vt:lpstr>
      <vt:lpstr>ORM :¿Cuando usarlos? o ¿Mejor no usarlos?</vt:lpstr>
      <vt:lpstr>Resumen</vt:lpstr>
    </vt:vector>
  </TitlesOfParts>
  <Company>Universidad de Málaga</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Gestión de Proyectos Software</dc:title>
  <dc:creator>Aracelys</dc:creator>
  <cp:lastModifiedBy>Admin</cp:lastModifiedBy>
  <cp:revision>509</cp:revision>
  <dcterms:created xsi:type="dcterms:W3CDTF">2016-09-19T15:25:44Z</dcterms:created>
  <dcterms:modified xsi:type="dcterms:W3CDTF">2025-10-05T00:09:54Z</dcterms:modified>
</cp:coreProperties>
</file>