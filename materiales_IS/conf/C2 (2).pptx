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66"/>
  </p:notesMasterIdLst>
  <p:handoutMasterIdLst>
    <p:handoutMasterId r:id="rId67"/>
  </p:handoutMasterIdLst>
  <p:sldIdLst>
    <p:sldId id="446" r:id="rId2"/>
    <p:sldId id="258" r:id="rId3"/>
    <p:sldId id="745" r:id="rId4"/>
    <p:sldId id="751" r:id="rId5"/>
    <p:sldId id="809" r:id="rId6"/>
    <p:sldId id="716" r:id="rId7"/>
    <p:sldId id="746" r:id="rId8"/>
    <p:sldId id="717" r:id="rId9"/>
    <p:sldId id="747" r:id="rId10"/>
    <p:sldId id="749" r:id="rId11"/>
    <p:sldId id="748" r:id="rId12"/>
    <p:sldId id="750" r:id="rId13"/>
    <p:sldId id="719" r:id="rId14"/>
    <p:sldId id="752" r:id="rId15"/>
    <p:sldId id="753" r:id="rId16"/>
    <p:sldId id="754" r:id="rId17"/>
    <p:sldId id="755" r:id="rId18"/>
    <p:sldId id="791" r:id="rId19"/>
    <p:sldId id="756" r:id="rId20"/>
    <p:sldId id="758" r:id="rId21"/>
    <p:sldId id="757" r:id="rId22"/>
    <p:sldId id="759" r:id="rId23"/>
    <p:sldId id="760" r:id="rId24"/>
    <p:sldId id="761" r:id="rId25"/>
    <p:sldId id="762" r:id="rId26"/>
    <p:sldId id="763" r:id="rId27"/>
    <p:sldId id="768" r:id="rId28"/>
    <p:sldId id="769" r:id="rId29"/>
    <p:sldId id="770" r:id="rId30"/>
    <p:sldId id="771" r:id="rId31"/>
    <p:sldId id="772" r:id="rId32"/>
    <p:sldId id="773" r:id="rId33"/>
    <p:sldId id="774" r:id="rId34"/>
    <p:sldId id="775" r:id="rId35"/>
    <p:sldId id="776" r:id="rId36"/>
    <p:sldId id="777" r:id="rId37"/>
    <p:sldId id="778" r:id="rId38"/>
    <p:sldId id="779" r:id="rId39"/>
    <p:sldId id="780" r:id="rId40"/>
    <p:sldId id="781" r:id="rId41"/>
    <p:sldId id="782" r:id="rId42"/>
    <p:sldId id="783" r:id="rId43"/>
    <p:sldId id="784" r:id="rId44"/>
    <p:sldId id="785" r:id="rId45"/>
    <p:sldId id="786" r:id="rId46"/>
    <p:sldId id="787" r:id="rId47"/>
    <p:sldId id="788" r:id="rId48"/>
    <p:sldId id="789" r:id="rId49"/>
    <p:sldId id="808" r:id="rId50"/>
    <p:sldId id="792" r:id="rId51"/>
    <p:sldId id="793" r:id="rId52"/>
    <p:sldId id="794" r:id="rId53"/>
    <p:sldId id="795" r:id="rId54"/>
    <p:sldId id="797" r:id="rId55"/>
    <p:sldId id="798" r:id="rId56"/>
    <p:sldId id="799" r:id="rId57"/>
    <p:sldId id="800" r:id="rId58"/>
    <p:sldId id="801" r:id="rId59"/>
    <p:sldId id="802" r:id="rId60"/>
    <p:sldId id="804" r:id="rId61"/>
    <p:sldId id="805" r:id="rId62"/>
    <p:sldId id="806" r:id="rId63"/>
    <p:sldId id="520" r:id="rId64"/>
    <p:sldId id="796" r:id="rId6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6748" autoAdjust="0"/>
  </p:normalViewPr>
  <p:slideViewPr>
    <p:cSldViewPr snapToGrid="0">
      <p:cViewPr>
        <p:scale>
          <a:sx n="68" d="100"/>
          <a:sy n="68" d="100"/>
        </p:scale>
        <p:origin x="-810" y="27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E54A35-C587-4D9E-88EB-28625A5AAE59}" type="datetimeFigureOut">
              <a:rPr lang="es-ES" smtClean="0"/>
              <a:t>09/09/2025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FB20A4-F458-406D-8DAC-3B8EE176367F}" type="slidenum">
              <a:rPr lang="es-ES" smtClean="0"/>
              <a:t>‹Nº›</a:t>
            </a:fld>
            <a:endParaRPr lang="es-ES"/>
          </a:p>
        </p:txBody>
      </p:sp>
    </p:spTree>
    <p:extLst>
      <p:ext uri="{BB962C8B-B14F-4D97-AF65-F5344CB8AC3E}">
        <p14:creationId xmlns:p14="http://schemas.microsoft.com/office/powerpoint/2010/main" val="28207225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2E9DD-9C30-4075-A3B5-08E83A83D8F0}" type="datetimeFigureOut">
              <a:rPr lang="es-ES" smtClean="0"/>
              <a:t>09/09/2025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236AF-7B77-41A3-9722-60AF9BD7B607}" type="slidenum">
              <a:rPr lang="es-ES" smtClean="0"/>
              <a:t>‹Nº›</a:t>
            </a:fld>
            <a:endParaRPr lang="es-ES"/>
          </a:p>
        </p:txBody>
      </p:sp>
    </p:spTree>
    <p:extLst>
      <p:ext uri="{BB962C8B-B14F-4D97-AF65-F5344CB8AC3E}">
        <p14:creationId xmlns:p14="http://schemas.microsoft.com/office/powerpoint/2010/main" val="26528592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7"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a:p>
        </p:txBody>
      </p:sp>
      <p:sp>
        <p:nvSpPr>
          <p:cNvPr id="108548" name="Rectangle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110984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3194977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Cuando se piensa por primera vez, no parece tan difícil desarrollar un entendimiento claro de los requerimientos. Después de todo, ¿acaso no sabe el</a:t>
            </a:r>
          </a:p>
          <a:p>
            <a:r>
              <a:rPr lang="es-ES" sz="1200" b="0" i="0" u="none" strike="noStrike" kern="1200" baseline="0" dirty="0" smtClean="0">
                <a:solidFill>
                  <a:schemeClr val="tx1"/>
                </a:solidFill>
                <a:latin typeface="+mn-lt"/>
                <a:ea typeface="+mn-ea"/>
                <a:cs typeface="+mn-cs"/>
              </a:rPr>
              <a:t>cliente lo que se necesita? ¿No deberían tener los usuarios finales una buena comprensión de las características y funciones que le darán un beneficio? Sorprendentemente, en muchas instancias la respuesta a estas preguntas es “no”. E incluso si los clientes y los usuarios finales explican sus necesidades, éstas cambiarán mientras se desarrolla el proyecto.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1" i="0" u="none" strike="noStrike" kern="1200" baseline="0" dirty="0" smtClean="0">
                <a:solidFill>
                  <a:schemeClr val="tx1"/>
                </a:solidFill>
                <a:latin typeface="+mn-lt"/>
                <a:ea typeface="+mn-ea"/>
                <a:cs typeface="+mn-cs"/>
              </a:rPr>
              <a:t>¿Qué es? </a:t>
            </a:r>
            <a:r>
              <a:rPr lang="es-ES" sz="1200" b="0" i="0" u="none" strike="noStrike" kern="1200" baseline="0" dirty="0" smtClean="0">
                <a:solidFill>
                  <a:schemeClr val="tx1"/>
                </a:solidFill>
                <a:latin typeface="+mn-lt"/>
                <a:ea typeface="+mn-ea"/>
                <a:cs typeface="+mn-cs"/>
              </a:rPr>
              <a:t>Antes de comenzar cualquier trabajo técnico es una buena idea aplicar un conjunto de tareas de ingeniería a los requerimientos. Éstas llevarán a la comprensión de cuál será el efecto que tendrá el software en el negocio, qué es lo que quiere el cliente y cómo interactuarán los usuarios finales con el software.</a:t>
            </a:r>
          </a:p>
          <a:p>
            <a:r>
              <a:rPr lang="es-ES" sz="1200" b="1" i="0" u="none" strike="noStrike" kern="1200" baseline="0" dirty="0" smtClean="0">
                <a:solidFill>
                  <a:schemeClr val="tx1"/>
                </a:solidFill>
                <a:latin typeface="+mn-lt"/>
                <a:ea typeface="+mn-ea"/>
                <a:cs typeface="+mn-cs"/>
              </a:rPr>
              <a:t>¿Quién lo hace? </a:t>
            </a:r>
            <a:r>
              <a:rPr lang="es-ES" sz="1200" b="0" i="0" u="none" strike="noStrike" kern="1200" baseline="0" dirty="0" smtClean="0">
                <a:solidFill>
                  <a:schemeClr val="tx1"/>
                </a:solidFill>
                <a:latin typeface="+mn-lt"/>
                <a:ea typeface="+mn-ea"/>
                <a:cs typeface="+mn-cs"/>
              </a:rPr>
              <a:t>Los ingenieros de software (que en el mundo de las tecnologías de información a veces son llamados </a:t>
            </a:r>
            <a:r>
              <a:rPr lang="es-ES" sz="1200" b="0" i="1" u="none" strike="noStrike" kern="1200" baseline="0" dirty="0" smtClean="0">
                <a:solidFill>
                  <a:schemeClr val="tx1"/>
                </a:solidFill>
                <a:latin typeface="+mn-lt"/>
                <a:ea typeface="+mn-ea"/>
                <a:cs typeface="+mn-cs"/>
              </a:rPr>
              <a:t>ingenieros de sistemas </a:t>
            </a:r>
            <a:r>
              <a:rPr lang="es-ES" sz="1200" b="0" i="0" u="none" strike="noStrike" kern="1200" baseline="0" dirty="0" smtClean="0">
                <a:solidFill>
                  <a:schemeClr val="tx1"/>
                </a:solidFill>
                <a:latin typeface="+mn-lt"/>
                <a:ea typeface="+mn-ea"/>
                <a:cs typeface="+mn-cs"/>
              </a:rPr>
              <a:t>o </a:t>
            </a:r>
            <a:r>
              <a:rPr lang="es-ES" sz="1200" b="0" i="1" u="none" strike="noStrike" kern="1200" baseline="0" dirty="0" smtClean="0">
                <a:solidFill>
                  <a:schemeClr val="tx1"/>
                </a:solidFill>
                <a:latin typeface="+mn-lt"/>
                <a:ea typeface="+mn-ea"/>
                <a:cs typeface="+mn-cs"/>
              </a:rPr>
              <a:t>analistas</a:t>
            </a:r>
            <a:r>
              <a:rPr lang="es-ES" sz="1200" b="0" i="0" u="none" strike="noStrike" kern="1200" baseline="0" dirty="0" smtClean="0">
                <a:solidFill>
                  <a:schemeClr val="tx1"/>
                </a:solidFill>
                <a:latin typeface="+mn-lt"/>
                <a:ea typeface="+mn-ea"/>
                <a:cs typeface="+mn-cs"/>
              </a:rPr>
              <a:t>) y todos los demás participantes del proyecto (gerentes, clientes y usuarios) intervienen en la ingeniería de requerimientos.</a:t>
            </a:r>
          </a:p>
          <a:p>
            <a:r>
              <a:rPr lang="es-ES" sz="1200" b="1" i="0" u="none" strike="noStrike" kern="1200" baseline="0" dirty="0" smtClean="0">
                <a:solidFill>
                  <a:schemeClr val="tx1"/>
                </a:solidFill>
                <a:latin typeface="+mn-lt"/>
                <a:ea typeface="+mn-ea"/>
                <a:cs typeface="+mn-cs"/>
              </a:rPr>
              <a:t>¿Por qué es importante? </a:t>
            </a:r>
            <a:r>
              <a:rPr lang="es-ES" sz="1200" b="0" i="0" u="none" strike="noStrike" kern="1200" baseline="0" dirty="0" smtClean="0">
                <a:solidFill>
                  <a:schemeClr val="tx1"/>
                </a:solidFill>
                <a:latin typeface="+mn-lt"/>
                <a:ea typeface="+mn-ea"/>
                <a:cs typeface="+mn-cs"/>
              </a:rPr>
              <a:t>Diseñar y construir un elegante programa de cómputo que resuelva el problema equivocado no satisface las necesidades de nadie. Por eso es importante entender lo que el cliente desea antes de comenzar a diseñar y a construir un sistema basado en computadora.</a:t>
            </a:r>
          </a:p>
          <a:p>
            <a:r>
              <a:rPr lang="es-ES" sz="1200" b="1" i="0" u="none" strike="noStrike" kern="1200" baseline="0" dirty="0" smtClean="0">
                <a:solidFill>
                  <a:schemeClr val="tx1"/>
                </a:solidFill>
                <a:latin typeface="+mn-lt"/>
                <a:ea typeface="+mn-ea"/>
                <a:cs typeface="+mn-cs"/>
              </a:rPr>
              <a:t>¿Cuáles son los pasos? </a:t>
            </a:r>
            <a:r>
              <a:rPr lang="es-ES" sz="1200" b="0" i="0" u="none" strike="noStrike" kern="1200" baseline="0" dirty="0" smtClean="0">
                <a:solidFill>
                  <a:schemeClr val="tx1"/>
                </a:solidFill>
                <a:latin typeface="+mn-lt"/>
                <a:ea typeface="+mn-ea"/>
                <a:cs typeface="+mn-cs"/>
              </a:rPr>
              <a:t>La ingeniería de requerimientos comienza con la concepción, tarea que define el alcance y la naturaleza del problema que se va a resolver. Va seguida de la indagación, labor que ayuda a los participantes a definir lo que se requiere. Después sigue la elaboración, </a:t>
            </a:r>
          </a:p>
          <a:p>
            <a:r>
              <a:rPr lang="es-ES" sz="1200" b="0" i="0" u="none" strike="noStrike" kern="1200" baseline="0" dirty="0" smtClean="0">
                <a:solidFill>
                  <a:schemeClr val="tx1"/>
                </a:solidFill>
                <a:latin typeface="+mn-lt"/>
                <a:ea typeface="+mn-ea"/>
                <a:cs typeface="+mn-cs"/>
              </a:rPr>
              <a:t>donde se refinan y modifican los requerimientos básicos. Cuando los participantes definen el problema, tiene lugar una negociación: ¿cuáles son las prioridades, qué es lo esencial, cuándo se requiere? Por último, se especifica el problema de algún modo y luego se revisa o valida para garantizar que hay coincidencia entre la comprensión que usted tiene del problema y la que tienen los participantes.</a:t>
            </a:r>
          </a:p>
          <a:p>
            <a:r>
              <a:rPr lang="es-ES" sz="1200" b="1" i="0" u="none" strike="noStrike" kern="1200" baseline="0" dirty="0" smtClean="0">
                <a:solidFill>
                  <a:schemeClr val="tx1"/>
                </a:solidFill>
                <a:latin typeface="+mn-lt"/>
                <a:ea typeface="+mn-ea"/>
                <a:cs typeface="+mn-cs"/>
              </a:rPr>
              <a:t>¿Cuál es el producto final? </a:t>
            </a:r>
            <a:r>
              <a:rPr lang="es-ES" sz="1200" b="0" i="0" u="none" strike="noStrike" kern="1200" baseline="0" dirty="0" smtClean="0">
                <a:solidFill>
                  <a:schemeClr val="tx1"/>
                </a:solidFill>
                <a:latin typeface="+mn-lt"/>
                <a:ea typeface="+mn-ea"/>
                <a:cs typeface="+mn-cs"/>
              </a:rPr>
              <a:t>El objetivo de los requerimientos de ingeniería es proporcionar a todas las partes un entendimiento escrito del problema. Esto se logra por medio de varios productos del trabajo: escenarios de </a:t>
            </a:r>
            <a:r>
              <a:rPr lang="es-ES" sz="1200" b="0" i="0" u="none" strike="noStrike" kern="1200" baseline="0" dirty="0" err="1" smtClean="0">
                <a:solidFill>
                  <a:schemeClr val="tx1"/>
                </a:solidFill>
                <a:latin typeface="+mn-lt"/>
                <a:ea typeface="+mn-ea"/>
                <a:cs typeface="+mn-cs"/>
              </a:rPr>
              <a:t>uso,listas</a:t>
            </a:r>
            <a:r>
              <a:rPr lang="es-ES" sz="1200" b="0" i="0" u="none" strike="noStrike" kern="1200" baseline="0" dirty="0" smtClean="0">
                <a:solidFill>
                  <a:schemeClr val="tx1"/>
                </a:solidFill>
                <a:latin typeface="+mn-lt"/>
                <a:ea typeface="+mn-ea"/>
                <a:cs typeface="+mn-cs"/>
              </a:rPr>
              <a:t> de funciones y de características, modelos de requerimientos o especificaciones.</a:t>
            </a:r>
          </a:p>
          <a:p>
            <a:r>
              <a:rPr lang="es-ES" sz="1200" b="1" i="0" u="none" strike="noStrike" kern="1200" baseline="0" dirty="0" smtClean="0">
                <a:solidFill>
                  <a:schemeClr val="tx1"/>
                </a:solidFill>
                <a:latin typeface="+mn-lt"/>
                <a:ea typeface="+mn-ea"/>
                <a:cs typeface="+mn-cs"/>
              </a:rPr>
              <a:t>¿Cómo me aseguro de que lo hice bien? </a:t>
            </a:r>
            <a:r>
              <a:rPr lang="es-ES" sz="1200" b="0" i="0" u="none" strike="noStrike" kern="1200" baseline="0" dirty="0" smtClean="0">
                <a:solidFill>
                  <a:schemeClr val="tx1"/>
                </a:solidFill>
                <a:latin typeface="+mn-lt"/>
                <a:ea typeface="+mn-ea"/>
                <a:cs typeface="+mn-cs"/>
              </a:rPr>
              <a:t>Se revisan con los participantes los productos del trabajo de la ingeniería de requerimientos a fin de asegurar que lo que se aprendió es lo que ellos quieren decir en realidad. Aquí cabe una advertencia: las cosas cambiarán aun después de que todas las partes estén de acuerdo, y seguirán cambiando durante todo el proyecto.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lvl="0"/>
            <a:r>
              <a:rPr lang="es-ES" sz="1200" kern="1200" dirty="0" smtClean="0">
                <a:solidFill>
                  <a:schemeClr val="tx1"/>
                </a:solidFill>
                <a:effectLst/>
                <a:latin typeface="+mn-lt"/>
                <a:ea typeface="+mn-ea"/>
                <a:cs typeface="+mn-cs"/>
              </a:rPr>
              <a:t>Argumentos Comunes en Contra de la Ingeniería de Requerimientos</a:t>
            </a:r>
            <a:endParaRPr lang="es-ES" sz="1200" b="1" kern="1200" dirty="0" smtClean="0">
              <a:solidFill>
                <a:schemeClr val="tx1"/>
              </a:solidFill>
              <a:effectLst/>
              <a:latin typeface="+mn-lt"/>
              <a:ea typeface="+mn-ea"/>
              <a:cs typeface="+mn-cs"/>
            </a:endParaRPr>
          </a:p>
          <a:p>
            <a:pPr lvl="0"/>
            <a:r>
              <a:rPr lang="es-ES" sz="1200" b="1" kern="1200" dirty="0" smtClean="0">
                <a:solidFill>
                  <a:schemeClr val="tx1"/>
                </a:solidFill>
                <a:effectLst/>
                <a:latin typeface="+mn-lt"/>
                <a:ea typeface="+mn-ea"/>
                <a:cs typeface="+mn-cs"/>
              </a:rPr>
              <a:t>"Las cosas se aclararán durante el desarrollo"</a:t>
            </a:r>
            <a:r>
              <a:rPr lang="es-ES" sz="1200" kern="1200" dirty="0" smtClean="0">
                <a:solidFill>
                  <a:schemeClr val="tx1"/>
                </a:solidFill>
                <a:effectLst/>
                <a:latin typeface="+mn-lt"/>
                <a:ea typeface="+mn-ea"/>
                <a:cs typeface="+mn-cs"/>
              </a:rPr>
              <a:t>: Esta creencia puede llevar a un malentendido de las necesidades del cliente.</a:t>
            </a:r>
          </a:p>
          <a:p>
            <a:pPr lvl="0"/>
            <a:r>
              <a:rPr lang="es-ES" sz="1200" b="1" kern="1200" dirty="0" smtClean="0">
                <a:solidFill>
                  <a:schemeClr val="tx1"/>
                </a:solidFill>
                <a:effectLst/>
                <a:latin typeface="+mn-lt"/>
                <a:ea typeface="+mn-ea"/>
                <a:cs typeface="+mn-cs"/>
              </a:rPr>
              <a:t>"Los requerimientos cambian rápidamente"</a:t>
            </a:r>
            <a:r>
              <a:rPr lang="es-ES" sz="1200" kern="1200" dirty="0" smtClean="0">
                <a:solidFill>
                  <a:schemeClr val="tx1"/>
                </a:solidFill>
                <a:effectLst/>
                <a:latin typeface="+mn-lt"/>
                <a:ea typeface="+mn-ea"/>
                <a:cs typeface="+mn-cs"/>
              </a:rPr>
              <a:t>: Aunque esto es cierto, una buena ingeniería de requerimientos permite adaptarse a los cambios de manera efectiva.</a:t>
            </a:r>
          </a:p>
          <a:p>
            <a:pPr lvl="0"/>
            <a:r>
              <a:rPr lang="es-ES" sz="1200" b="1" kern="1200" dirty="0" smtClean="0">
                <a:solidFill>
                  <a:schemeClr val="tx1"/>
                </a:solidFill>
                <a:effectLst/>
                <a:latin typeface="+mn-lt"/>
                <a:ea typeface="+mn-ea"/>
                <a:cs typeface="+mn-cs"/>
              </a:rPr>
              <a:t>"Lo importante es que el software funcione"</a:t>
            </a:r>
            <a:r>
              <a:rPr lang="es-ES" sz="1200" kern="1200" dirty="0" smtClean="0">
                <a:solidFill>
                  <a:schemeClr val="tx1"/>
                </a:solidFill>
                <a:effectLst/>
                <a:latin typeface="+mn-lt"/>
                <a:ea typeface="+mn-ea"/>
                <a:cs typeface="+mn-cs"/>
              </a:rPr>
              <a:t>: Ignorar la planificación puede resultar en un producto que no satisface las necesidades del usuario.</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Pero, ¿dónde se origina el puente? Podría argumentarse que principia en los pies de los participantes en el proyecto (por ejemplo, gerentes, clientes y usuarios), donde se definen las necesidades del negocio, se describen los escenarios de uso, se delinean las funciones y características y se</a:t>
            </a:r>
          </a:p>
          <a:p>
            <a:r>
              <a:rPr lang="es-ES" sz="1200" b="0" i="0" u="none" strike="noStrike" kern="1200" baseline="0" dirty="0" smtClean="0">
                <a:solidFill>
                  <a:schemeClr val="tx1"/>
                </a:solidFill>
                <a:latin typeface="+mn-lt"/>
                <a:ea typeface="+mn-ea"/>
                <a:cs typeface="+mn-cs"/>
              </a:rPr>
              <a:t>identifican las restricciones del proyecto. Otros tal vez sugieran que empieza con una definición más amplia del sistema, donde el software no es más que un componente del dominio del sistema mayor. Pero sin importar el punto de arranque, el recorrido por el puente lo lleva a uno muy alto sobre el proyecto, lo que le permite examinar el contexto del trabajo de software que debe realizarse; las necesidades específicas que deben abordar el diseño y la construcción; las prioridades que guían el orden en el que se efectúa el trabajo, y la información, las funciones y los comportamientos que tendrán un profundo efecto en el diseño resultante</a:t>
            </a:r>
          </a:p>
          <a:p>
            <a:pPr>
              <a:buFont typeface="Wingdings" pitchFamily="2" charset="2"/>
              <a:buChar char="Ø"/>
            </a:pPr>
            <a:endParaRPr lang="es-ES_tradnl" sz="1200" kern="1200" dirty="0" smtClean="0">
              <a:solidFill>
                <a:srgbClr val="000000"/>
              </a:solidFill>
              <a:latin typeface="+mn-lt"/>
              <a:ea typeface="+mn-ea"/>
              <a:cs typeface="+mn-cs"/>
            </a:endParaRP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a:p>
            <a:pPr>
              <a:buFont typeface="Wingdings" pitchFamily="2" charset="2"/>
              <a:buChar char="Ø"/>
            </a:pPr>
            <a:endParaRPr lang="es-ES_tradnl" sz="1200" kern="1200" dirty="0" smtClean="0">
              <a:solidFill>
                <a:srgbClr val="000000"/>
              </a:solidFill>
              <a:latin typeface="+mn-lt"/>
              <a:ea typeface="+mn-ea"/>
              <a:cs typeface="+mn-cs"/>
            </a:endParaRP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a:buFont typeface="Wingdings" pitchFamily="2" charset="2"/>
              <a:buChar char="Ø"/>
            </a:pPr>
            <a:endParaRPr lang="es-ES_tradnl" sz="1200" kern="1200" dirty="0" smtClean="0">
              <a:solidFill>
                <a:srgbClr val="000000"/>
              </a:solidFill>
              <a:latin typeface="+mn-lt"/>
              <a:ea typeface="+mn-ea"/>
              <a:cs typeface="+mn-cs"/>
            </a:endParaRPr>
          </a:p>
          <a:p>
            <a:pPr lvl="0"/>
            <a:r>
              <a:rPr lang="es-ES" sz="1200" b="1" kern="1200" dirty="0" smtClean="0">
                <a:solidFill>
                  <a:schemeClr val="tx1"/>
                </a:solidFill>
                <a:effectLst/>
                <a:latin typeface="+mn-lt"/>
                <a:ea typeface="+mn-ea"/>
                <a:cs typeface="+mn-cs"/>
              </a:rPr>
              <a:t>Base del Desarrollo</a:t>
            </a:r>
            <a:r>
              <a:rPr lang="es-ES" sz="1200" kern="1200" dirty="0" smtClean="0">
                <a:solidFill>
                  <a:schemeClr val="tx1"/>
                </a:solidFill>
                <a:effectLst/>
                <a:latin typeface="+mn-lt"/>
                <a:ea typeface="+mn-ea"/>
                <a:cs typeface="+mn-cs"/>
              </a:rPr>
              <a:t>: Los requisitos bien definidos son la base sobre la cual se construye el software. Sin ellos, el desarrollo puede desviarse de las expectativas del cliente.</a:t>
            </a:r>
          </a:p>
          <a:p>
            <a:pPr lvl="0"/>
            <a:r>
              <a:rPr lang="es-ES" sz="1200" b="1" kern="1200" dirty="0" smtClean="0">
                <a:solidFill>
                  <a:schemeClr val="tx1"/>
                </a:solidFill>
                <a:effectLst/>
                <a:latin typeface="+mn-lt"/>
                <a:ea typeface="+mn-ea"/>
                <a:cs typeface="+mn-cs"/>
              </a:rPr>
              <a:t>Reducción de Riesgos</a:t>
            </a:r>
            <a:r>
              <a:rPr lang="es-ES" sz="1200" kern="1200" dirty="0" smtClean="0">
                <a:solidFill>
                  <a:schemeClr val="tx1"/>
                </a:solidFill>
                <a:effectLst/>
                <a:latin typeface="+mn-lt"/>
                <a:ea typeface="+mn-ea"/>
                <a:cs typeface="+mn-cs"/>
              </a:rPr>
              <a:t>: Identificar y gestionar los requisitos desde el inicio ayuda a minimizar riesgos y costos asociados a cambios tardíos en el proyecto.</a:t>
            </a:r>
          </a:p>
          <a:p>
            <a:pPr lvl="0"/>
            <a:r>
              <a:rPr lang="es-ES" sz="1200" b="1" kern="1200" dirty="0" smtClean="0">
                <a:solidFill>
                  <a:schemeClr val="tx1"/>
                </a:solidFill>
                <a:effectLst/>
                <a:latin typeface="+mn-lt"/>
                <a:ea typeface="+mn-ea"/>
                <a:cs typeface="+mn-cs"/>
              </a:rPr>
              <a:t>Mejora de la Comunicación</a:t>
            </a:r>
            <a:r>
              <a:rPr lang="es-ES" sz="1200" kern="1200" dirty="0" smtClean="0">
                <a:solidFill>
                  <a:schemeClr val="tx1"/>
                </a:solidFill>
                <a:effectLst/>
                <a:latin typeface="+mn-lt"/>
                <a:ea typeface="+mn-ea"/>
                <a:cs typeface="+mn-cs"/>
              </a:rPr>
              <a:t>: Facilita la comunicación entre los </a:t>
            </a:r>
            <a:r>
              <a:rPr lang="es-ES" sz="1200" kern="1200" dirty="0" err="1" smtClean="0">
                <a:solidFill>
                  <a:schemeClr val="tx1"/>
                </a:solidFill>
                <a:effectLst/>
                <a:latin typeface="+mn-lt"/>
                <a:ea typeface="+mn-ea"/>
                <a:cs typeface="+mn-cs"/>
              </a:rPr>
              <a:t>stakeholders</a:t>
            </a:r>
            <a:r>
              <a:rPr lang="es-ES" sz="1200" kern="1200" dirty="0" smtClean="0">
                <a:solidFill>
                  <a:schemeClr val="tx1"/>
                </a:solidFill>
                <a:effectLst/>
                <a:latin typeface="+mn-lt"/>
                <a:ea typeface="+mn-ea"/>
                <a:cs typeface="+mn-cs"/>
              </a:rPr>
              <a:t>, desarrolladores y usuarios finales, asegurando que todos estén alineados.</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lvl="0"/>
            <a:r>
              <a:rPr lang="es-ES" sz="1200" kern="1200" dirty="0" smtClean="0">
                <a:solidFill>
                  <a:schemeClr val="tx1"/>
                </a:solidFill>
                <a:effectLst/>
                <a:latin typeface="+mn-lt"/>
                <a:ea typeface="+mn-ea"/>
                <a:cs typeface="+mn-cs"/>
              </a:rPr>
              <a:t>La ingeniería de requerimientos es esencial para el desarrollo de software exitoso.</a:t>
            </a:r>
          </a:p>
          <a:p>
            <a:pPr lvl="0"/>
            <a:r>
              <a:rPr lang="es-ES" sz="1200" kern="1200" dirty="0" smtClean="0">
                <a:solidFill>
                  <a:schemeClr val="tx1"/>
                </a:solidFill>
                <a:effectLst/>
                <a:latin typeface="+mn-lt"/>
                <a:ea typeface="+mn-ea"/>
                <a:cs typeface="+mn-cs"/>
              </a:rPr>
              <a:t>Proporciona un marco para entender y gestionar las necesidades del cliente.</a:t>
            </a:r>
          </a:p>
          <a:p>
            <a:pPr lvl="0"/>
            <a:r>
              <a:rPr lang="es-ES" sz="1200" kern="1200" dirty="0" smtClean="0">
                <a:solidFill>
                  <a:schemeClr val="tx1"/>
                </a:solidFill>
                <a:effectLst/>
                <a:latin typeface="+mn-lt"/>
                <a:ea typeface="+mn-ea"/>
                <a:cs typeface="+mn-cs"/>
              </a:rPr>
              <a:t>Invertir tiempo en esta fase puede prevenir problemas significativos en etapas posteriores del desarrollo.</a:t>
            </a:r>
          </a:p>
          <a:p>
            <a:pPr lvl="0"/>
            <a:r>
              <a:rPr lang="es-ES" sz="1200" kern="1200" dirty="0" smtClean="0">
                <a:solidFill>
                  <a:schemeClr val="tx1"/>
                </a:solidFill>
                <a:effectLst/>
                <a:latin typeface="+mn-lt"/>
                <a:ea typeface="+mn-ea"/>
                <a:cs typeface="+mn-cs"/>
              </a:rPr>
              <a:t>Adaptar las tareas de ingeniería de requerimientos a las necesidades específicas del proyecto es clave para su efectividad.</a:t>
            </a:r>
          </a:p>
          <a:p>
            <a:pPr>
              <a:buFont typeface="Wingdings" pitchFamily="2" charset="2"/>
              <a:buChar char="Ø"/>
            </a:pPr>
            <a:endParaRPr lang="es-ES_tradnl" sz="1200" kern="1200" dirty="0" smtClean="0">
              <a:solidFill>
                <a:srgbClr val="000000"/>
              </a:solidFill>
              <a:latin typeface="+mn-lt"/>
              <a:ea typeface="+mn-ea"/>
              <a:cs typeface="+mn-cs"/>
            </a:endParaRPr>
          </a:p>
        </p:txBody>
      </p:sp>
    </p:spTree>
    <p:extLst>
      <p:ext uri="{BB962C8B-B14F-4D97-AF65-F5344CB8AC3E}">
        <p14:creationId xmlns:p14="http://schemas.microsoft.com/office/powerpoint/2010/main" val="3194977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Incluye siete tareas diferentes: concepción, indagación, elaboración, negociación, especificación, validación y administración.</a:t>
            </a:r>
          </a:p>
          <a:p>
            <a:r>
              <a:rPr lang="es-ES" sz="1200" b="0" i="0" u="none" strike="noStrike" kern="1200" baseline="0" dirty="0" smtClean="0">
                <a:solidFill>
                  <a:schemeClr val="tx1"/>
                </a:solidFill>
                <a:latin typeface="+mn-lt"/>
                <a:ea typeface="+mn-ea"/>
                <a:cs typeface="+mn-cs"/>
              </a:rPr>
              <a:t>Es importante notar que algunas de estas tareas ocurren en paralelo y que todas se adaptan a las necesidades del proyecto.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¿Cómo inicia un proyecto de software? ¿Existe un solo evento que se convierte en el catalizador de un nuevo sistema o producto basado en computadora o la necesidad evoluciona en el tiempo? No hay respuestas definitivas a estas preguntas. En ciertos casos, una conversación casual es todo lo que se necesita para desencadenar un trabajo grande de ingeniería de software. Pero en general, la mayor parte de proyectos comienzan cuando se identifica</a:t>
            </a:r>
          </a:p>
          <a:p>
            <a:r>
              <a:rPr lang="es-ES" sz="1200" b="0" i="0" u="none" strike="noStrike" kern="1200" baseline="0" dirty="0" smtClean="0">
                <a:solidFill>
                  <a:schemeClr val="tx1"/>
                </a:solidFill>
                <a:latin typeface="+mn-lt"/>
                <a:ea typeface="+mn-ea"/>
                <a:cs typeface="+mn-cs"/>
              </a:rPr>
              <a:t>una necesidad del negocio o se descubre un nuevo mercado o servicio potencial. Los participantes de la comunidad del negocio (por ejemplo, los directivos, personal de </a:t>
            </a:r>
            <a:r>
              <a:rPr lang="es-ES" sz="1200" b="0" i="0" u="none" strike="noStrike" kern="1200" baseline="0" dirty="0" err="1" smtClean="0">
                <a:solidFill>
                  <a:schemeClr val="tx1"/>
                </a:solidFill>
                <a:latin typeface="+mn-lt"/>
                <a:ea typeface="+mn-ea"/>
                <a:cs typeface="+mn-cs"/>
              </a:rPr>
              <a:t>mercadotecnia,gerentes</a:t>
            </a:r>
            <a:r>
              <a:rPr lang="es-ES" sz="1200" b="0" i="0" u="none" strike="noStrike" kern="1200" baseline="0" dirty="0" smtClean="0">
                <a:solidFill>
                  <a:schemeClr val="tx1"/>
                </a:solidFill>
                <a:latin typeface="+mn-lt"/>
                <a:ea typeface="+mn-ea"/>
                <a:cs typeface="+mn-cs"/>
              </a:rPr>
              <a:t> de producto, etc.) definen un caso de negocios para la idea, tratan de identificar el ritmo y profundidad del mercado, hacen un análisis de gran visión de la factibilidad e identifican una descripción funcional del alcance del proyecto. Toda esta información está sujeta a cambio, pero es suficiente para desencadenar análisis con la organización de ingeniería de software.2</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1" kern="1200" dirty="0" smtClean="0">
                <a:solidFill>
                  <a:schemeClr val="tx1"/>
                </a:solidFill>
                <a:effectLst/>
                <a:latin typeface="+mn-lt"/>
                <a:ea typeface="+mn-ea"/>
                <a:cs typeface="+mn-cs"/>
              </a:rPr>
              <a:t>Problemas de Alcance</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La frontera de los sistemas está mal definida.</a:t>
            </a:r>
          </a:p>
          <a:p>
            <a:r>
              <a:rPr lang="es-ES" sz="1200" kern="1200" dirty="0" smtClean="0">
                <a:solidFill>
                  <a:schemeClr val="tx1"/>
                </a:solidFill>
                <a:effectLst/>
                <a:latin typeface="+mn-lt"/>
                <a:ea typeface="+mn-ea"/>
                <a:cs typeface="+mn-cs"/>
              </a:rPr>
              <a:t>Los clientes o usuarios finales especifican detalles técnicos innecesarios que confunden los objetivos generales del sistema.</a:t>
            </a:r>
          </a:p>
          <a:p>
            <a:r>
              <a:rPr lang="es-ES" sz="1200" b="1" kern="1200" dirty="0" smtClean="0">
                <a:solidFill>
                  <a:schemeClr val="tx1"/>
                </a:solidFill>
                <a:effectLst/>
                <a:latin typeface="+mn-lt"/>
                <a:ea typeface="+mn-ea"/>
                <a:cs typeface="+mn-cs"/>
              </a:rPr>
              <a:t>Problemas de Entendimiento</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Los clientes o usuarios no están completamente seguros de lo que se necesita.</a:t>
            </a:r>
          </a:p>
          <a:p>
            <a:r>
              <a:rPr lang="es-ES" sz="1200" kern="1200" dirty="0" smtClean="0">
                <a:solidFill>
                  <a:schemeClr val="tx1"/>
                </a:solidFill>
                <a:effectLst/>
                <a:latin typeface="+mn-lt"/>
                <a:ea typeface="+mn-ea"/>
                <a:cs typeface="+mn-cs"/>
              </a:rPr>
              <a:t>Comprensión errónea de las capacidades y limitaciones del ambiente de computación.</a:t>
            </a:r>
          </a:p>
          <a:p>
            <a:r>
              <a:rPr lang="es-ES" sz="1200" kern="1200" dirty="0" smtClean="0">
                <a:solidFill>
                  <a:schemeClr val="tx1"/>
                </a:solidFill>
                <a:effectLst/>
                <a:latin typeface="+mn-lt"/>
                <a:ea typeface="+mn-ea"/>
                <a:cs typeface="+mn-cs"/>
              </a:rPr>
              <a:t>Dificultades para comunicar las necesidades al ingeniero de sistemas.</a:t>
            </a:r>
          </a:p>
          <a:p>
            <a:r>
              <a:rPr lang="es-ES" sz="1200" kern="1200" dirty="0" smtClean="0">
                <a:solidFill>
                  <a:schemeClr val="tx1"/>
                </a:solidFill>
                <a:effectLst/>
                <a:latin typeface="+mn-lt"/>
                <a:ea typeface="+mn-ea"/>
                <a:cs typeface="+mn-cs"/>
              </a:rPr>
              <a:t>Omisión de información que se considera "obvia".</a:t>
            </a:r>
          </a:p>
          <a:p>
            <a:r>
              <a:rPr lang="es-ES" sz="1200" kern="1200" dirty="0" smtClean="0">
                <a:solidFill>
                  <a:schemeClr val="tx1"/>
                </a:solidFill>
                <a:effectLst/>
                <a:latin typeface="+mn-lt"/>
                <a:ea typeface="+mn-ea"/>
                <a:cs typeface="+mn-cs"/>
              </a:rPr>
              <a:t>Especificación de requerimientos en conflicto con las necesidades de otros clientes o usuarios.</a:t>
            </a:r>
          </a:p>
          <a:p>
            <a:r>
              <a:rPr lang="es-ES" sz="1200" kern="1200" dirty="0" smtClean="0">
                <a:solidFill>
                  <a:schemeClr val="tx1"/>
                </a:solidFill>
                <a:effectLst/>
                <a:latin typeface="+mn-lt"/>
                <a:ea typeface="+mn-ea"/>
                <a:cs typeface="+mn-cs"/>
              </a:rPr>
              <a:t>Solicitud de requerimientos ambiguos o no verificables.</a:t>
            </a:r>
          </a:p>
          <a:p>
            <a:r>
              <a:rPr lang="es-ES" sz="1200" b="1" kern="1200" dirty="0" smtClean="0">
                <a:solidFill>
                  <a:schemeClr val="tx1"/>
                </a:solidFill>
                <a:effectLst/>
                <a:latin typeface="+mn-lt"/>
                <a:ea typeface="+mn-ea"/>
                <a:cs typeface="+mn-cs"/>
              </a:rPr>
              <a:t>Problemas de Volatilidad</a:t>
            </a:r>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Los requerimientos cambian con el tiempo, lo que puede complicar el proceso de desarrollo.</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levantamiento de requerimientos es un proceso crítico en el desarrollo de software, y existen varias técnicas que pueden utilizarse para recopilar información de manera efectiva. Aquí te presento algunas de las más comunes:</a:t>
            </a:r>
          </a:p>
          <a:p>
            <a:endParaRPr lang="es-ES" dirty="0" smtClean="0"/>
          </a:p>
          <a:p>
            <a:r>
              <a:rPr lang="es-ES" dirty="0" smtClean="0"/>
              <a:t>▎1. Entrevistas</a:t>
            </a:r>
          </a:p>
          <a:p>
            <a:endParaRPr lang="es-ES" dirty="0" smtClean="0"/>
          </a:p>
          <a:p>
            <a:r>
              <a:rPr lang="es-ES" dirty="0" smtClean="0"/>
              <a:t>• Descripción: Conversaciones uno a uno con los </a:t>
            </a:r>
            <a:r>
              <a:rPr lang="es-ES" dirty="0" err="1" smtClean="0"/>
              <a:t>stakeholders</a:t>
            </a:r>
            <a:r>
              <a:rPr lang="es-ES" dirty="0" smtClean="0"/>
              <a:t> para obtener información detallada.</a:t>
            </a:r>
          </a:p>
          <a:p>
            <a:endParaRPr lang="es-ES" dirty="0" smtClean="0"/>
          </a:p>
          <a:p>
            <a:r>
              <a:rPr lang="es-ES" dirty="0" smtClean="0"/>
              <a:t>• Ventajas: Permiten profundizar en temas específicos y aclarar dudas.</a:t>
            </a:r>
          </a:p>
          <a:p>
            <a:endParaRPr lang="es-ES" dirty="0" smtClean="0"/>
          </a:p>
          <a:p>
            <a:r>
              <a:rPr lang="es-ES" dirty="0" smtClean="0"/>
              <a:t>• Desventajas: Pueden ser subjetivas y depender de la habilidad del entrevistador.</a:t>
            </a:r>
          </a:p>
          <a:p>
            <a:endParaRPr lang="es-ES" dirty="0" smtClean="0"/>
          </a:p>
          <a:p>
            <a:r>
              <a:rPr lang="es-ES" dirty="0" smtClean="0"/>
              <a:t>▎2. Encuestas y Cuestionarios</a:t>
            </a:r>
          </a:p>
          <a:p>
            <a:endParaRPr lang="es-ES" dirty="0" smtClean="0"/>
          </a:p>
          <a:p>
            <a:r>
              <a:rPr lang="es-ES" dirty="0" smtClean="0"/>
              <a:t>• Descripción: Herramientas estructuradas que permiten recopilar información de un grupo más amplio.</a:t>
            </a:r>
          </a:p>
          <a:p>
            <a:endParaRPr lang="es-ES" dirty="0" smtClean="0"/>
          </a:p>
          <a:p>
            <a:r>
              <a:rPr lang="es-ES" dirty="0" smtClean="0"/>
              <a:t>• Ventajas: Permiten obtener datos de muchos usuarios a la vez y son fáciles de analizar.</a:t>
            </a:r>
          </a:p>
          <a:p>
            <a:endParaRPr lang="es-ES" dirty="0" smtClean="0"/>
          </a:p>
          <a:p>
            <a:r>
              <a:rPr lang="es-ES" dirty="0" smtClean="0"/>
              <a:t>• Desventajas: Pueden no capturar la profundidad de las necesidades.</a:t>
            </a:r>
          </a:p>
          <a:p>
            <a:endParaRPr lang="es-ES" dirty="0" smtClean="0"/>
          </a:p>
          <a:p>
            <a:r>
              <a:rPr lang="es-ES" dirty="0" smtClean="0"/>
              <a:t>▎3. Talleres (</a:t>
            </a:r>
            <a:r>
              <a:rPr lang="es-ES" dirty="0" err="1" smtClean="0"/>
              <a:t>Workshops</a:t>
            </a:r>
            <a:r>
              <a:rPr lang="es-ES" dirty="0" smtClean="0"/>
              <a:t>)</a:t>
            </a:r>
          </a:p>
          <a:p>
            <a:endParaRPr lang="es-ES" dirty="0" smtClean="0"/>
          </a:p>
          <a:p>
            <a:r>
              <a:rPr lang="es-ES" dirty="0" smtClean="0"/>
              <a:t>• Descripción: Reuniones grupales donde se discuten y generan ideas sobre los requerimientos.</a:t>
            </a:r>
          </a:p>
          <a:p>
            <a:endParaRPr lang="es-ES" dirty="0" smtClean="0"/>
          </a:p>
          <a:p>
            <a:r>
              <a:rPr lang="es-ES" dirty="0" smtClean="0"/>
              <a:t>• Ventajas: Fomentan la colaboración y el intercambio de ideas entre diferentes </a:t>
            </a:r>
            <a:r>
              <a:rPr lang="es-ES" dirty="0" err="1" smtClean="0"/>
              <a:t>stakeholders</a:t>
            </a:r>
            <a:r>
              <a:rPr lang="es-ES" dirty="0" smtClean="0"/>
              <a:t>.</a:t>
            </a:r>
          </a:p>
          <a:p>
            <a:endParaRPr lang="es-ES" dirty="0" smtClean="0"/>
          </a:p>
          <a:p>
            <a:r>
              <a:rPr lang="es-ES" dirty="0" smtClean="0"/>
              <a:t>• Desventajas: Pueden ser difíciles de facilitar y requerir más tiempo.</a:t>
            </a:r>
          </a:p>
          <a:p>
            <a:endParaRPr lang="es-ES" dirty="0" smtClean="0"/>
          </a:p>
          <a:p>
            <a:r>
              <a:rPr lang="es-ES" dirty="0" smtClean="0"/>
              <a:t>▎4. Observación Directa</a:t>
            </a:r>
          </a:p>
          <a:p>
            <a:endParaRPr lang="es-ES" dirty="0" smtClean="0"/>
          </a:p>
          <a:p>
            <a:r>
              <a:rPr lang="es-ES" dirty="0" smtClean="0"/>
              <a:t>• Descripción: Observar a los usuarios en su entorno natural mientras realizan tareas relacionadas con el sistema.</a:t>
            </a:r>
          </a:p>
          <a:p>
            <a:endParaRPr lang="es-ES" dirty="0" smtClean="0"/>
          </a:p>
          <a:p>
            <a:r>
              <a:rPr lang="es-ES" dirty="0" smtClean="0"/>
              <a:t>• Ventajas: Proporciona una comprensión realista de cómo se utilizan los sistemas actuales.</a:t>
            </a:r>
          </a:p>
          <a:p>
            <a:endParaRPr lang="es-ES" dirty="0" smtClean="0"/>
          </a:p>
          <a:p>
            <a:r>
              <a:rPr lang="es-ES" dirty="0" smtClean="0"/>
              <a:t>• Desventajas: Puede ser intrusivo y no siempre se pueden observar todas las interacciones.</a:t>
            </a:r>
          </a:p>
          <a:p>
            <a:endParaRPr lang="es-ES" dirty="0" smtClean="0"/>
          </a:p>
          <a:p>
            <a:r>
              <a:rPr lang="es-ES" dirty="0" smtClean="0"/>
              <a:t>▎5. Análisis de Documentos</a:t>
            </a:r>
          </a:p>
          <a:p>
            <a:endParaRPr lang="es-ES" dirty="0" smtClean="0"/>
          </a:p>
          <a:p>
            <a:r>
              <a:rPr lang="es-ES" dirty="0" smtClean="0"/>
              <a:t>• Descripción: Revisar documentación existente, como manuales, informes o especificaciones anteriores.</a:t>
            </a:r>
          </a:p>
          <a:p>
            <a:endParaRPr lang="es-ES" dirty="0" smtClean="0"/>
          </a:p>
          <a:p>
            <a:r>
              <a:rPr lang="es-ES" dirty="0" smtClean="0"/>
              <a:t>• Ventajas: Ayuda a entender el contexto y los requisitos previos.</a:t>
            </a:r>
          </a:p>
          <a:p>
            <a:endParaRPr lang="es-ES" dirty="0" smtClean="0"/>
          </a:p>
          <a:p>
            <a:r>
              <a:rPr lang="es-ES" dirty="0" smtClean="0"/>
              <a:t>• Desventajas: Puede no reflejar las necesidades actuales.</a:t>
            </a:r>
          </a:p>
          <a:p>
            <a:endParaRPr lang="es-ES" dirty="0" smtClean="0"/>
          </a:p>
          <a:p>
            <a:r>
              <a:rPr lang="es-ES" dirty="0" smtClean="0"/>
              <a:t>▎6. Prototipos</a:t>
            </a:r>
          </a:p>
          <a:p>
            <a:endParaRPr lang="es-ES" dirty="0" smtClean="0"/>
          </a:p>
          <a:p>
            <a:r>
              <a:rPr lang="es-ES" dirty="0" smtClean="0"/>
              <a:t>• Descripción: Creación de versiones preliminares del software para visualizar funciones y características.</a:t>
            </a:r>
          </a:p>
          <a:p>
            <a:endParaRPr lang="es-ES" dirty="0" smtClean="0"/>
          </a:p>
          <a:p>
            <a:r>
              <a:rPr lang="es-ES" dirty="0" smtClean="0"/>
              <a:t>• Ventajas: Facilita la retroalimentación temprana y ayuda a identificar requerimientos no considerados.</a:t>
            </a:r>
          </a:p>
          <a:p>
            <a:endParaRPr lang="es-ES" dirty="0" smtClean="0"/>
          </a:p>
          <a:p>
            <a:r>
              <a:rPr lang="es-ES" dirty="0" smtClean="0"/>
              <a:t>• Desventajas: Puede llevar tiempo y recursos adicionales.</a:t>
            </a:r>
          </a:p>
          <a:p>
            <a:endParaRPr lang="es-ES" dirty="0" smtClean="0"/>
          </a:p>
          <a:p>
            <a:r>
              <a:rPr lang="es-ES" dirty="0" smtClean="0"/>
              <a:t>▎7. Casos de Uso</a:t>
            </a:r>
          </a:p>
          <a:p>
            <a:endParaRPr lang="es-ES" dirty="0" smtClean="0"/>
          </a:p>
          <a:p>
            <a:r>
              <a:rPr lang="es-ES" dirty="0" smtClean="0"/>
              <a:t>• Descripción: Describir interacciones entre usuarios y el sistema en situaciones específicas.</a:t>
            </a:r>
          </a:p>
          <a:p>
            <a:endParaRPr lang="es-ES" dirty="0" smtClean="0"/>
          </a:p>
          <a:p>
            <a:r>
              <a:rPr lang="es-ES" dirty="0" smtClean="0"/>
              <a:t>• Ventajas: Ayudan a visualizar cómo se espera que funcione el sistema desde la perspectiva del usuario.</a:t>
            </a:r>
          </a:p>
          <a:p>
            <a:endParaRPr lang="es-ES" dirty="0" smtClean="0"/>
          </a:p>
          <a:p>
            <a:r>
              <a:rPr lang="es-ES" dirty="0" smtClean="0"/>
              <a:t>• Desventajas: Pueden ser complejos si no se gestionan adecuadamente.</a:t>
            </a:r>
          </a:p>
          <a:p>
            <a:endParaRPr lang="es-ES" dirty="0" smtClean="0"/>
          </a:p>
          <a:p>
            <a:r>
              <a:rPr lang="es-ES" dirty="0" smtClean="0"/>
              <a:t>▎8. Historias de Usuario</a:t>
            </a:r>
          </a:p>
          <a:p>
            <a:endParaRPr lang="es-ES" dirty="0" smtClean="0"/>
          </a:p>
          <a:p>
            <a:r>
              <a:rPr lang="es-ES" dirty="0" smtClean="0"/>
              <a:t>• Descripción: Descripciones breves de funcionalidades desde la perspectiva del usuario final.</a:t>
            </a:r>
          </a:p>
          <a:p>
            <a:endParaRPr lang="es-ES" dirty="0" smtClean="0"/>
          </a:p>
          <a:p>
            <a:r>
              <a:rPr lang="es-ES" dirty="0" smtClean="0"/>
              <a:t>• Ventajas: Fomentan un enfoque centrado en el usuario y son fáciles de entender.</a:t>
            </a:r>
          </a:p>
          <a:p>
            <a:endParaRPr lang="es-ES" dirty="0" smtClean="0"/>
          </a:p>
          <a:p>
            <a:r>
              <a:rPr lang="es-ES" dirty="0" smtClean="0"/>
              <a:t>• Desventajas: Pueden carecer de detalles técnicos si no se complementan con otros métodos.</a:t>
            </a:r>
          </a:p>
          <a:p>
            <a:endParaRPr lang="es-ES" dirty="0" smtClean="0"/>
          </a:p>
          <a:p>
            <a:r>
              <a:rPr lang="es-ES" dirty="0" smtClean="0"/>
              <a:t>▎9. </a:t>
            </a:r>
            <a:r>
              <a:rPr lang="es-ES" dirty="0" err="1" smtClean="0"/>
              <a:t>Brainstorming</a:t>
            </a:r>
            <a:endParaRPr lang="es-ES" dirty="0" smtClean="0"/>
          </a:p>
          <a:p>
            <a:endParaRPr lang="es-ES" dirty="0" smtClean="0"/>
          </a:p>
          <a:p>
            <a:r>
              <a:rPr lang="es-ES" dirty="0" smtClean="0"/>
              <a:t>• Descripción: Sesiones creativas donde los participantes generan ideas sin restricciones.</a:t>
            </a:r>
          </a:p>
          <a:p>
            <a:endParaRPr lang="es-ES" dirty="0" smtClean="0"/>
          </a:p>
          <a:p>
            <a:r>
              <a:rPr lang="es-ES" dirty="0" smtClean="0"/>
              <a:t>• Ventajas: Fomenta la creatividad y puede generar soluciones innovadoras.</a:t>
            </a:r>
          </a:p>
          <a:p>
            <a:endParaRPr lang="es-ES" dirty="0" smtClean="0"/>
          </a:p>
          <a:p>
            <a:r>
              <a:rPr lang="es-ES" dirty="0" smtClean="0"/>
              <a:t>• Desventajas: Puede resultar en una gran cantidad de ideas irrelevantes si no se modera adecuadamente.</a:t>
            </a:r>
          </a:p>
          <a:p>
            <a:endParaRPr lang="es-ES" dirty="0" smtClean="0"/>
          </a:p>
          <a:p>
            <a:r>
              <a:rPr lang="es-ES" dirty="0" smtClean="0"/>
              <a:t>▎10. Revisión de Prototipos Existentes o Sistemas Anteriores</a:t>
            </a:r>
          </a:p>
          <a:p>
            <a:endParaRPr lang="es-ES" dirty="0" smtClean="0"/>
          </a:p>
          <a:p>
            <a:r>
              <a:rPr lang="es-ES" dirty="0" smtClean="0"/>
              <a:t>• Descripción: Evaluar sistemas anteriores o prototipos para identificar qué funcionó bien y qué no.</a:t>
            </a:r>
          </a:p>
          <a:p>
            <a:endParaRPr lang="es-ES" dirty="0" smtClean="0"/>
          </a:p>
          <a:p>
            <a:r>
              <a:rPr lang="es-ES" dirty="0" smtClean="0"/>
              <a:t>• Ventajas: Proporciona lecciones aprendidas y puntos de mejora.</a:t>
            </a:r>
          </a:p>
          <a:p>
            <a:endParaRPr lang="es-ES" dirty="0" smtClean="0"/>
          </a:p>
          <a:p>
            <a:r>
              <a:rPr lang="es-ES" dirty="0" smtClean="0"/>
              <a:t>• Desventajas: Puede limitarse a lo que ya existe, impidiendo pensar en nuevas soluciones.</a:t>
            </a:r>
          </a:p>
          <a:p>
            <a:endParaRPr lang="es-ES" dirty="0" smtClean="0"/>
          </a:p>
          <a:p>
            <a:r>
              <a:rPr lang="es-ES" dirty="0" smtClean="0"/>
              <a:t>▎Conclusión</a:t>
            </a:r>
          </a:p>
          <a:p>
            <a:endParaRPr lang="es-ES" dirty="0" smtClean="0"/>
          </a:p>
          <a:p>
            <a:r>
              <a:rPr lang="es-ES" dirty="0" smtClean="0"/>
              <a:t>La elección de la técnica o combinación de técnicas dependerá del contexto del proyecto, los recursos disponibles, el tipo de </a:t>
            </a:r>
            <a:r>
              <a:rPr lang="es-ES" dirty="0" err="1" smtClean="0"/>
              <a:t>stakeholders</a:t>
            </a:r>
            <a:r>
              <a:rPr lang="es-ES" dirty="0" smtClean="0"/>
              <a:t> involucrados y la naturaleza de los requerimientos. Es fundamental adaptar el enfoque según las necesidades específicas del proyecto para asegurar una captura efectiva de requerimientos.</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smtClean="0">
                <a:solidFill>
                  <a:schemeClr val="tx1"/>
                </a:solidFill>
                <a:effectLst/>
                <a:latin typeface="+mn-lt"/>
                <a:ea typeface="+mn-ea"/>
                <a:cs typeface="+mn-cs"/>
              </a:rPr>
              <a:t>La elaboración está motivada por la creación y mejora de escenarios de usuario que describan cómo interactuará el usuario final (y otros actores) con el sistema. Cada escenario de usuario se enuncia con sintaxis apropiada para extraer clases de análisis, que son entidades del dominio del negocio visibles para el usuario final. Se definen los atributos de cada clase de análisis y se identifican los servicios4 que requiere cada una de ellas. Se identifican las relaciones y colaboración entre clases, y se producen varios diagramas adicionales</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No es raro que los clientes y usuarios pidan más de lo que puede lograrse dado lo limitado de los recursos del negocio. También es relativamente común que distintos clientes o usuarios propongan requerimientos conflictivos con el argumento de que su versión es “esencial para nuestras necesidades especiales”.</a:t>
            </a:r>
          </a:p>
          <a:p>
            <a:r>
              <a:rPr lang="es-ES" sz="1200" b="0" i="0" u="none" strike="noStrike" kern="1200" baseline="0" dirty="0" smtClean="0">
                <a:solidFill>
                  <a:schemeClr val="tx1"/>
                </a:solidFill>
                <a:latin typeface="+mn-lt"/>
                <a:ea typeface="+mn-ea"/>
                <a:cs typeface="+mn-cs"/>
              </a:rPr>
              <a:t>Estos conflictos deben reconciliarse por medio de un proceso de negociación. Se pide a clientes, usuarios y otros participantes que ordenen sus requerimientos según su prioridad y que después analicen los conflictos. Con el empleo de un enfoque iterativo que da prioridad a los requerimientos, se evalúa su costo y riesgo, y se enfrentan los conflictos internos; algunos requerimientos se eliminan, se combinan o se modifican de modo que cada parte logre cierto grado de satisfacción.</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1" dirty="0" smtClean="0">
                <a:effectLst/>
              </a:rPr>
              <a:t>Tareas Clave en la Negociación</a:t>
            </a:r>
          </a:p>
          <a:p>
            <a:pPr marL="228600" indent="-228600">
              <a:buAutoNum type="arabicPeriod"/>
            </a:pPr>
            <a:r>
              <a:rPr lang="es-ES" b="1" dirty="0" smtClean="0">
                <a:effectLst/>
              </a:rPr>
              <a:t>Identificación de conflictos: </a:t>
            </a:r>
            <a:r>
              <a:rPr lang="es-ES" dirty="0" smtClean="0">
                <a:effectLst/>
              </a:rPr>
              <a:t>Detectar requisitos contradictorios o técnicamente inviables.</a:t>
            </a:r>
            <a:r>
              <a:rPr lang="es-ES" i="1" dirty="0" smtClean="0">
                <a:effectLst/>
              </a:rPr>
              <a:t>“</a:t>
            </a:r>
          </a:p>
          <a:p>
            <a:pPr marL="228600" indent="-228600">
              <a:buAutoNum type="arabicPeriod"/>
            </a:pPr>
            <a:r>
              <a:rPr lang="es-ES" b="1" dirty="0" smtClean="0">
                <a:effectLst/>
              </a:rPr>
              <a:t>Evaluación de alternativas: </a:t>
            </a:r>
            <a:r>
              <a:rPr lang="es-ES" dirty="0" smtClean="0">
                <a:effectLst/>
              </a:rPr>
              <a:t>Analizar costos, riesgos y impacto de cada opción. </a:t>
            </a:r>
          </a:p>
          <a:p>
            <a:pPr marL="228600" indent="-228600">
              <a:buAutoNum type="arabicPeriod"/>
            </a:pPr>
            <a:r>
              <a:rPr lang="es-ES" b="1" dirty="0" smtClean="0">
                <a:effectLst/>
              </a:rPr>
              <a:t>Priorización: </a:t>
            </a:r>
            <a:r>
              <a:rPr lang="es-ES" dirty="0" smtClean="0">
                <a:effectLst/>
              </a:rPr>
              <a:t>Clasificar requisitos con técnicas como </a:t>
            </a:r>
            <a:r>
              <a:rPr lang="es-ES" b="1" dirty="0" err="1" smtClean="0">
                <a:effectLst/>
              </a:rPr>
              <a:t>MoSCoW</a:t>
            </a:r>
            <a:r>
              <a:rPr lang="es-ES" dirty="0" smtClean="0">
                <a:effectLst/>
              </a:rPr>
              <a:t> (</a:t>
            </a:r>
            <a:r>
              <a:rPr lang="es-ES" dirty="0" err="1" smtClean="0">
                <a:effectLst/>
              </a:rPr>
              <a:t>Must</a:t>
            </a:r>
            <a:r>
              <a:rPr lang="es-ES" dirty="0" smtClean="0">
                <a:effectLst/>
              </a:rPr>
              <a:t>, </a:t>
            </a:r>
            <a:r>
              <a:rPr lang="es-ES" dirty="0" err="1" smtClean="0">
                <a:effectLst/>
              </a:rPr>
              <a:t>Should</a:t>
            </a:r>
            <a:r>
              <a:rPr lang="es-ES" dirty="0" smtClean="0">
                <a:effectLst/>
              </a:rPr>
              <a:t>, </a:t>
            </a:r>
            <a:r>
              <a:rPr lang="es-ES" dirty="0" err="1" smtClean="0">
                <a:effectLst/>
              </a:rPr>
              <a:t>Could</a:t>
            </a:r>
            <a:r>
              <a:rPr lang="es-ES" dirty="0" smtClean="0">
                <a:effectLst/>
              </a:rPr>
              <a:t>, </a:t>
            </a:r>
            <a:r>
              <a:rPr lang="es-ES" dirty="0" err="1" smtClean="0">
                <a:effectLst/>
              </a:rPr>
              <a:t>Won’t</a:t>
            </a:r>
            <a:r>
              <a:rPr lang="es-ES" dirty="0" smtClean="0">
                <a:effectLst/>
              </a:rPr>
              <a:t>).</a:t>
            </a:r>
          </a:p>
          <a:p>
            <a:pPr marL="228600" indent="-228600">
              <a:buAutoNum type="arabicPeriod"/>
            </a:pPr>
            <a:r>
              <a:rPr lang="es-ES" b="1" dirty="0" smtClean="0">
                <a:effectLst/>
              </a:rPr>
              <a:t>Acuerdo colaborativo :</a:t>
            </a:r>
            <a:r>
              <a:rPr lang="es-ES" dirty="0" smtClean="0">
                <a:effectLst/>
              </a:rPr>
              <a:t>Documentar decisiones con aceptación explícita de </a:t>
            </a:r>
            <a:r>
              <a:rPr lang="es-ES" dirty="0" err="1" smtClean="0">
                <a:effectLst/>
              </a:rPr>
              <a:t>stakeholders</a:t>
            </a:r>
            <a:r>
              <a:rPr lang="es-ES" dirty="0" smtClean="0">
                <a:effectLst/>
              </a:rPr>
              <a:t>. </a:t>
            </a:r>
          </a:p>
        </p:txBody>
      </p:sp>
    </p:spTree>
    <p:extLst>
      <p:ext uri="{BB962C8B-B14F-4D97-AF65-F5344CB8AC3E}">
        <p14:creationId xmlns:p14="http://schemas.microsoft.com/office/powerpoint/2010/main" val="31949778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228600" indent="-228600">
              <a:buAutoNum type="arabicPeriod"/>
            </a:pPr>
            <a:endParaRPr lang="es-ES" b="1" dirty="0" smtClean="0">
              <a:effectLst/>
            </a:endParaRPr>
          </a:p>
        </p:txBody>
      </p:sp>
    </p:spTree>
    <p:extLst>
      <p:ext uri="{BB962C8B-B14F-4D97-AF65-F5344CB8AC3E}">
        <p14:creationId xmlns:p14="http://schemas.microsoft.com/office/powerpoint/2010/main" val="31949778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En el contexto de los sistemas basados en computadora (y software), el término</a:t>
            </a:r>
          </a:p>
          <a:p>
            <a:r>
              <a:rPr lang="es-ES" sz="1200" b="0" i="1" u="none" strike="noStrike" kern="1200" baseline="0" dirty="0" smtClean="0">
                <a:solidFill>
                  <a:schemeClr val="tx1"/>
                </a:solidFill>
                <a:latin typeface="+mn-lt"/>
                <a:ea typeface="+mn-ea"/>
                <a:cs typeface="+mn-cs"/>
              </a:rPr>
              <a:t>especificación </a:t>
            </a:r>
            <a:r>
              <a:rPr lang="es-ES" sz="1200" b="0" i="0" u="none" strike="noStrike" kern="1200" baseline="0" dirty="0" smtClean="0">
                <a:solidFill>
                  <a:schemeClr val="tx1"/>
                </a:solidFill>
                <a:latin typeface="+mn-lt"/>
                <a:ea typeface="+mn-ea"/>
                <a:cs typeface="+mn-cs"/>
              </a:rPr>
              <a:t>tiene diferentes significados para distintas personas. Una especificación</a:t>
            </a:r>
          </a:p>
          <a:p>
            <a:r>
              <a:rPr lang="es-ES" sz="1200" b="0" i="0" u="none" strike="noStrike" kern="1200" baseline="0" dirty="0" smtClean="0">
                <a:solidFill>
                  <a:schemeClr val="tx1"/>
                </a:solidFill>
                <a:latin typeface="+mn-lt"/>
                <a:ea typeface="+mn-ea"/>
                <a:cs typeface="+mn-cs"/>
              </a:rPr>
              <a:t>puede ser un documento escrito, un conjunto de modelos gráficos, un modelo matemático formal,</a:t>
            </a:r>
          </a:p>
          <a:p>
            <a:r>
              <a:rPr lang="es-ES" sz="1200" b="0" i="0" u="none" strike="noStrike" kern="1200" baseline="0" dirty="0" smtClean="0">
                <a:solidFill>
                  <a:schemeClr val="tx1"/>
                </a:solidFill>
                <a:latin typeface="+mn-lt"/>
                <a:ea typeface="+mn-ea"/>
                <a:cs typeface="+mn-cs"/>
              </a:rPr>
              <a:t>un conjunto de escenarios de uso, un prototipo o cualquier combinación de éstos.</a:t>
            </a:r>
          </a:p>
          <a:p>
            <a:r>
              <a:rPr lang="es-ES" sz="1200" b="0" i="0" u="none" strike="noStrike" kern="1200" baseline="0" dirty="0" smtClean="0">
                <a:solidFill>
                  <a:schemeClr val="tx1"/>
                </a:solidFill>
                <a:latin typeface="+mn-lt"/>
                <a:ea typeface="+mn-ea"/>
                <a:cs typeface="+mn-cs"/>
              </a:rPr>
              <a:t>Algunos sugieren que para una especificación debe desarrollarse y utilizarse una “plantilla</a:t>
            </a:r>
          </a:p>
          <a:p>
            <a:r>
              <a:rPr lang="es-ES" sz="1200" b="0" i="0" u="none" strike="noStrike" kern="1200" baseline="0" dirty="0" smtClean="0">
                <a:solidFill>
                  <a:schemeClr val="tx1"/>
                </a:solidFill>
                <a:latin typeface="+mn-lt"/>
                <a:ea typeface="+mn-ea"/>
                <a:cs typeface="+mn-cs"/>
              </a:rPr>
              <a:t>estándar” [Som97], con el argumento de que esto conduce a requerimientos presentados en</a:t>
            </a:r>
          </a:p>
          <a:p>
            <a:r>
              <a:rPr lang="es-ES" sz="1200" b="0" i="0" u="none" strike="noStrike" kern="1200" baseline="0" dirty="0" smtClean="0">
                <a:solidFill>
                  <a:schemeClr val="tx1"/>
                </a:solidFill>
                <a:latin typeface="+mn-lt"/>
                <a:ea typeface="+mn-ea"/>
                <a:cs typeface="+mn-cs"/>
              </a:rPr>
              <a:t>forma consistente y por ello más comprensible. Sin embargo, en ocasiones es necesario ser</a:t>
            </a:r>
          </a:p>
          <a:p>
            <a:r>
              <a:rPr lang="es-ES" sz="1200" b="0" i="0" u="none" strike="noStrike" kern="1200" baseline="0" dirty="0" smtClean="0">
                <a:solidFill>
                  <a:schemeClr val="tx1"/>
                </a:solidFill>
                <a:latin typeface="+mn-lt"/>
                <a:ea typeface="+mn-ea"/>
                <a:cs typeface="+mn-cs"/>
              </a:rPr>
              <a:t>flexible cuando se desarrolla una especificación. Para sistemas grandes, el mejor enfoque puede</a:t>
            </a:r>
          </a:p>
          <a:p>
            <a:r>
              <a:rPr lang="es-ES" sz="1200" b="0" i="0" u="none" strike="noStrike" kern="1200" baseline="0" dirty="0" smtClean="0">
                <a:solidFill>
                  <a:schemeClr val="tx1"/>
                </a:solidFill>
                <a:latin typeface="+mn-lt"/>
                <a:ea typeface="+mn-ea"/>
                <a:cs typeface="+mn-cs"/>
              </a:rPr>
              <a:t>ser un documento escrito que combine descripciones en un lenguaje natural con modelos gráficos.</a:t>
            </a:r>
          </a:p>
          <a:p>
            <a:r>
              <a:rPr lang="es-ES" sz="1200" b="0" i="0" u="none" strike="noStrike" kern="1200" baseline="0" dirty="0" smtClean="0">
                <a:solidFill>
                  <a:schemeClr val="tx1"/>
                </a:solidFill>
                <a:latin typeface="+mn-lt"/>
                <a:ea typeface="+mn-ea"/>
                <a:cs typeface="+mn-cs"/>
              </a:rPr>
              <a:t>No obstante, para productos o sistemas pequeños que residan en ambientes bien entendidos,</a:t>
            </a:r>
          </a:p>
          <a:p>
            <a:r>
              <a:rPr lang="es-ES" sz="1200" b="0" i="0" u="none" strike="noStrike" kern="1200" baseline="0" dirty="0" smtClean="0">
                <a:solidFill>
                  <a:schemeClr val="tx1"/>
                </a:solidFill>
                <a:latin typeface="+mn-lt"/>
                <a:ea typeface="+mn-ea"/>
                <a:cs typeface="+mn-cs"/>
              </a:rPr>
              <a:t>quizá todo lo que se requiera sea escenarios de uso.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documento de </a:t>
            </a:r>
            <a:r>
              <a:rPr lang="es-ES" dirty="0" err="1" smtClean="0"/>
              <a:t>Sommerville</a:t>
            </a:r>
            <a:r>
              <a:rPr lang="es-ES" dirty="0" smtClean="0"/>
              <a:t>, que se refiere a "Software </a:t>
            </a:r>
            <a:r>
              <a:rPr lang="es-ES" dirty="0" err="1" smtClean="0"/>
              <a:t>Engineering</a:t>
            </a:r>
            <a:r>
              <a:rPr lang="es-ES" dirty="0" smtClean="0"/>
              <a:t>" de </a:t>
            </a:r>
            <a:r>
              <a:rPr lang="es-ES" dirty="0" err="1" smtClean="0"/>
              <a:t>Ian</a:t>
            </a:r>
            <a:r>
              <a:rPr lang="es-ES" dirty="0" smtClean="0"/>
              <a:t> </a:t>
            </a:r>
            <a:r>
              <a:rPr lang="es-ES" dirty="0" err="1" smtClean="0"/>
              <a:t>Sommerville</a:t>
            </a:r>
            <a:r>
              <a:rPr lang="es-ES" dirty="0" smtClean="0"/>
              <a:t>, aborda varios aspectos del desarrollo de software, incluyendo el alcance del producto. El alcance del producto define las funcionalidades y características que se incluirán en un proyecto de software, así como las limitaciones y exclusiones.</a:t>
            </a:r>
          </a:p>
          <a:p>
            <a:endParaRPr lang="es-ES" dirty="0" smtClean="0"/>
          </a:p>
          <a:p>
            <a:r>
              <a:rPr lang="es-ES" dirty="0" smtClean="0"/>
              <a:t>▎Alcance del Producto</a:t>
            </a:r>
          </a:p>
          <a:p>
            <a:endParaRPr lang="es-ES" dirty="0" smtClean="0"/>
          </a:p>
          <a:p>
            <a:r>
              <a:rPr lang="es-ES" dirty="0" smtClean="0"/>
              <a:t>1. Definición: El alcance del producto es una descripción clara de lo que se va a entregar en el proyecto. Esto incluye las funcionalidades específicas, los requisitos del usuario y las expectativas del cliente.</a:t>
            </a:r>
          </a:p>
          <a:p>
            <a:endParaRPr lang="es-ES" dirty="0" smtClean="0"/>
          </a:p>
          <a:p>
            <a:r>
              <a:rPr lang="es-ES" dirty="0" smtClean="0"/>
              <a:t>2. Elementos Clave:</a:t>
            </a:r>
          </a:p>
          <a:p>
            <a:endParaRPr lang="es-ES" dirty="0" smtClean="0"/>
          </a:p>
          <a:p>
            <a:r>
              <a:rPr lang="es-ES" dirty="0" smtClean="0"/>
              <a:t>   • Requisitos Funcionales: Lo que el sistema debe hacer (por ejemplo, procesos, cálculos, etc.).</a:t>
            </a:r>
          </a:p>
          <a:p>
            <a:endParaRPr lang="es-ES" dirty="0" smtClean="0"/>
          </a:p>
          <a:p>
            <a:r>
              <a:rPr lang="es-ES" dirty="0" smtClean="0"/>
              <a:t>   • Requisitos No Funcionales: Criterios que afectan la operación del sistema (por ejemplo, rendimiento, seguridad, usabilidad).</a:t>
            </a:r>
          </a:p>
          <a:p>
            <a:endParaRPr lang="es-ES" dirty="0" smtClean="0"/>
          </a:p>
          <a:p>
            <a:r>
              <a:rPr lang="es-ES" dirty="0" smtClean="0"/>
              <a:t>   • Limitaciones: Aspectos que no se incluirán en el proyecto (por ejemplo, ciertas características o plataformas).</a:t>
            </a:r>
          </a:p>
          <a:p>
            <a:endParaRPr lang="es-ES" dirty="0" smtClean="0"/>
          </a:p>
          <a:p>
            <a:r>
              <a:rPr lang="es-ES" dirty="0" smtClean="0"/>
              <a:t>   • Suposiciones: Condiciones que se consideran verdaderas para el desarrollo del proyecto (por ejemplo, disponibilidad de recursos).</a:t>
            </a:r>
          </a:p>
          <a:p>
            <a:endParaRPr lang="es-ES" dirty="0" smtClean="0"/>
          </a:p>
          <a:p>
            <a:r>
              <a:rPr lang="es-ES" dirty="0" smtClean="0"/>
              <a:t>3. Importancia:</a:t>
            </a:r>
          </a:p>
          <a:p>
            <a:endParaRPr lang="es-ES" dirty="0" smtClean="0"/>
          </a:p>
          <a:p>
            <a:r>
              <a:rPr lang="es-ES" dirty="0" smtClean="0"/>
              <a:t>   • Gestión de Expectativas: Ayuda a alinear las expectativas del cliente y del equipo de desarrollo.</a:t>
            </a:r>
          </a:p>
          <a:p>
            <a:endParaRPr lang="es-ES" dirty="0" smtClean="0"/>
          </a:p>
          <a:p>
            <a:r>
              <a:rPr lang="es-ES" dirty="0" smtClean="0"/>
              <a:t>   • Control de Cambios: Facilita la gestión de cambios y evita la expansión no controlada del alcance (</a:t>
            </a:r>
            <a:r>
              <a:rPr lang="es-ES" dirty="0" err="1" smtClean="0"/>
              <a:t>scope</a:t>
            </a:r>
            <a:r>
              <a:rPr lang="es-ES" dirty="0" smtClean="0"/>
              <a:t> </a:t>
            </a:r>
            <a:r>
              <a:rPr lang="es-ES" dirty="0" err="1" smtClean="0"/>
              <a:t>creep</a:t>
            </a:r>
            <a:r>
              <a:rPr lang="es-ES" dirty="0" smtClean="0"/>
              <a:t>).</a:t>
            </a:r>
          </a:p>
          <a:p>
            <a:endParaRPr lang="es-ES" dirty="0" smtClean="0"/>
          </a:p>
          <a:p>
            <a:r>
              <a:rPr lang="es-ES" dirty="0" smtClean="0"/>
              <a:t>   • Planificación: Permite establecer un cronograma y presupuesto realistas.</a:t>
            </a:r>
          </a:p>
          <a:p>
            <a:endParaRPr lang="es-ES" dirty="0" smtClean="0"/>
          </a:p>
          <a:p>
            <a:r>
              <a:rPr lang="es-ES" dirty="0" smtClean="0"/>
              <a:t>4. Técnicas para Definir el Alcance:</a:t>
            </a:r>
          </a:p>
          <a:p>
            <a:endParaRPr lang="es-ES" dirty="0" smtClean="0"/>
          </a:p>
          <a:p>
            <a:r>
              <a:rPr lang="es-ES" dirty="0" smtClean="0"/>
              <a:t>   • Entrevistas con </a:t>
            </a:r>
            <a:r>
              <a:rPr lang="es-ES" dirty="0" err="1" smtClean="0"/>
              <a:t>Stakeholders</a:t>
            </a:r>
            <a:r>
              <a:rPr lang="es-ES" dirty="0" smtClean="0"/>
              <a:t>: Recopilar información directa de los interesados.</a:t>
            </a:r>
          </a:p>
          <a:p>
            <a:endParaRPr lang="es-ES" dirty="0" smtClean="0"/>
          </a:p>
          <a:p>
            <a:r>
              <a:rPr lang="es-ES" dirty="0" smtClean="0"/>
              <a:t>   • Prototipos: Crear modelos preliminares para visualizar funcionalidades.</a:t>
            </a:r>
          </a:p>
          <a:p>
            <a:endParaRPr lang="es-ES" dirty="0" smtClean="0"/>
          </a:p>
          <a:p>
            <a:r>
              <a:rPr lang="es-ES" dirty="0" smtClean="0"/>
              <a:t>   • Historias de Usuario: Describir requisitos desde la perspectiva del usuario.</a:t>
            </a:r>
          </a:p>
          <a:p>
            <a:endParaRPr lang="es-ES" dirty="0" smtClean="0"/>
          </a:p>
          <a:p>
            <a:r>
              <a:rPr lang="es-ES" dirty="0" smtClean="0"/>
              <a:t>5. Documentación: Es fundamental documentar el alcance del producto de manera clara y accesible para todos los involucrados en el proyecto.</a:t>
            </a:r>
          </a:p>
          <a:p>
            <a:endParaRPr lang="es-ES" dirty="0" smtClean="0"/>
          </a:p>
          <a:p>
            <a:r>
              <a:rPr lang="es-ES" dirty="0" smtClean="0"/>
              <a:t>▎Conclusión</a:t>
            </a:r>
          </a:p>
          <a:p>
            <a:endParaRPr lang="es-ES" dirty="0" smtClean="0"/>
          </a:p>
          <a:p>
            <a:r>
              <a:rPr lang="es-ES" dirty="0" smtClean="0"/>
              <a:t>Definir el alcance del producto es un paso crítico en el desarrollo de software, ya que establece una base sólida para todas las fases posteriores del proyecto. Un alcance bien definido ayuda a garantizar que el producto final cumpla con las expectativas y necesidades de los usuarios y </a:t>
            </a:r>
            <a:r>
              <a:rPr lang="es-ES" dirty="0" err="1" smtClean="0"/>
              <a:t>stakeholders</a:t>
            </a:r>
            <a:r>
              <a:rPr lang="es-ES" dirty="0" smtClean="0"/>
              <a:t>.</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En el contexto del libro "Software </a:t>
            </a:r>
            <a:r>
              <a:rPr lang="es-ES" dirty="0" err="1" smtClean="0"/>
              <a:t>Engineering</a:t>
            </a:r>
            <a:r>
              <a:rPr lang="es-ES" dirty="0" smtClean="0"/>
              <a:t>" de </a:t>
            </a:r>
            <a:r>
              <a:rPr lang="es-ES" dirty="0" err="1" smtClean="0"/>
              <a:t>Ian</a:t>
            </a:r>
            <a:r>
              <a:rPr lang="es-ES" dirty="0" smtClean="0"/>
              <a:t> </a:t>
            </a:r>
            <a:r>
              <a:rPr lang="es-ES" dirty="0" err="1" smtClean="0"/>
              <a:t>Sommerville</a:t>
            </a:r>
            <a:r>
              <a:rPr lang="es-ES" dirty="0" smtClean="0"/>
              <a:t>, la perspectiva del producto y el alcance del producto son conceptos interrelacionados, pero tienen enfoques diferentes en el desarrollo de software. A continuación, se explican cada uno de ellos y sus diferencias:</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Diferencias Clave</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Perspectiva vs. Límites: La perspectiva del producto se enfoca en cómo será el software (sus características y funcionalidades), mientras que el alcance del producto se centra en lo que se incluirá o excluirá en el proyecto.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Enfoque en Requisitos: La perspectiva del producto implica una comprensión profunda de los requisitos, mientras que el alcance se ocupa más de la gestión y control de esos requisitos a lo largo del ciclo de vida del desarrollo.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Impacto en el Desarrollo: La perspectiva del producto influye en el diseño y la arquitectura del software, mientras que el alcance impacta en la planificación y ejecución del proyecto.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▎Conclusión</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Ambos conceptos son fundamentales para el éxito de un proyecto de software. La perspectiva del producto asegura que el software desarrollado sea útil y relevante para los usuarios, mientras que el alcance del producto ayuda a gestionar las expectativas y los recursos, garantizando que el proyecto se complete dentro de los límites establecidos. Una buena comunicación entre ambos aspectos es esencial para lograr un resultado exitoso.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Ejemplos de Requerimientos Funcionales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1. Sistema de Gestión de Biblioteca: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permitir a los usuarios buscar libros por título, autor o ISBN.</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Los usuarios deben poder reservar libros disponibles.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enviar un recordatorio por correo electrónico a los usuarios sobre las fechas de devolución.</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2. Aplicación de Comercio Electrónico: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Los usuarios deben poder crear y gestionar su cuenta.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permitir a los usuarios agregar productos al carrito de compras.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Debe procesar pagos utilizando tarjetas de crédito y PayPal.</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3. Sistema de Control de Inventario: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permitir la entrada y salida de productos del inventario.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Debe generar informes sobre el stock disponible y las ventas realizadas.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▎Importancia de los Requerimientos Funcionales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Guía para el Desarrollo: Proporcionan una base sobre la cual se diseñará y construirá el sistema.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Base para Pruebas: Sirven como criterio para validar que el sistema cumpla con las expectativas del cliente.</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Comunicación: Facilitan la comunicación entre los </a:t>
            </a:r>
            <a:r>
              <a:rPr lang="es-ES" dirty="0" err="1" smtClean="0"/>
              <a:t>stakeholders</a:t>
            </a:r>
            <a:r>
              <a:rPr lang="es-ES" dirty="0" smtClean="0"/>
              <a:t> (clientes, desarrolladores, </a:t>
            </a:r>
            <a:r>
              <a:rPr lang="es-ES" dirty="0" err="1" smtClean="0"/>
              <a:t>testers</a:t>
            </a:r>
            <a:r>
              <a:rPr lang="es-ES" dirty="0" smtClean="0"/>
              <a:t>) sobre lo que se espera del sistema.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▎Conclusión</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Los requerimientos funcionales son fundamentales para el éxito del desarrollo de software, ya que establecen las expectativas sobre lo que el sistema debe lograr. Un enfoque claro y estructurado para definir estos requerimientos ayuda a asegurar que el producto final sea útil y cumpla con las necesidades del usuario.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Los requerimientos no funcionales son aspectos del sistema que no están relacionados directamente con las funciones específicas que debe realizar, sino que se centran en cómo debe comportarse el sistema. En el contexto del libro "Software </a:t>
            </a:r>
            <a:r>
              <a:rPr lang="es-ES" dirty="0" err="1" smtClean="0"/>
              <a:t>Engineering</a:t>
            </a:r>
            <a:r>
              <a:rPr lang="es-ES" dirty="0" smtClean="0"/>
              <a:t>" de </a:t>
            </a:r>
            <a:r>
              <a:rPr lang="es-ES" dirty="0" err="1" smtClean="0"/>
              <a:t>Ian</a:t>
            </a:r>
            <a:r>
              <a:rPr lang="es-ES" dirty="0" smtClean="0"/>
              <a:t> </a:t>
            </a:r>
            <a:r>
              <a:rPr lang="es-ES" dirty="0" err="1" smtClean="0"/>
              <a:t>Sommerville</a:t>
            </a:r>
            <a:r>
              <a:rPr lang="es-ES" dirty="0" smtClean="0"/>
              <a:t>, estos requerimientos son cruciales para definir las cualidades y restricciones del sistema.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▎Definición de Requerimientos No Funcionales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Descripción: Son especificaciones que definen criterios que pueden ser utilizados para juzgar la operación de un sistema, en lugar de las funciones específicas que debe realizar.</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▎Características de los Requerimientos No Funcionales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1. Atributos de Calidad: Se relacionan con la calidad del sistema, como rendimiento, usabilidad, fiabilidad, etc.</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2. Restricciones: Pueden incluir limitaciones técnicas, como plataformas de hardware o software específicas.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3. Medibles: Deben ser cuantificables para poder evaluarlos y verificarlos.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▎Ejemplos de Requerimientos No Funcionales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1. Rendimiento: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ser capaz de procesar 1000 transacciones por segundo.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La respuesta del sistema a una consulta de usuario no debe exceder los 2 segundos.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2. Usabilidad:</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La interfaz de usuario debe permitir a los usuarios completar una tarea en menos de 3 clics.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ser accesible para usuarios con discapacidades, cumpliendo con las pautas WCAG 2.1.</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3. Fiabilidad:</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tener un tiempo de actividad del 99.9% durante un mes.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En caso de fallo, el sistema debe ser capaz de recuperarse en menos de 5 minutos.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4. Seguridad:</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Todos los datos sensibles deben ser cifrados tanto en reposo como en tránsito.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implementar autenticación </a:t>
            </a:r>
            <a:r>
              <a:rPr lang="es-ES" dirty="0" err="1" smtClean="0"/>
              <a:t>multifactor</a:t>
            </a:r>
            <a:r>
              <a:rPr lang="es-ES" dirty="0" smtClean="0"/>
              <a:t> para todos los usuarios.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5. </a:t>
            </a:r>
            <a:r>
              <a:rPr lang="es-ES" dirty="0" err="1" smtClean="0"/>
              <a:t>Mantenibilidad</a:t>
            </a:r>
            <a:r>
              <a:rPr lang="es-ES"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código fuente del sistema debe estar documentado y seguir estándares de codificación específicos para facilitar su mantenimiento.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Las actualizaciones del sistema deben poder realizarse sin interrumpir el servicio.</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6. Portabilidad:</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El sistema debe poder ejecutarse en al menos tres plataformas diferentes (Windows, Linux, </a:t>
            </a:r>
            <a:r>
              <a:rPr lang="es-ES" dirty="0" err="1" smtClean="0"/>
              <a:t>macOS</a:t>
            </a:r>
            <a:r>
              <a:rPr lang="es-ES"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 Debe ser fácil migrar la base de datos a un nuevo servidor sin pérdida de datos.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▎Importancia de los Requerimientos No Funcionales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Satisfacción del Usuario: A menudo, la satisfacción del usuario depende más de los atributos no funcionales que de las funcionalidades mismas.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Costo y Tiempo: Los requerimientos no funcionales pueden afectar significativamente el costo y el tiempo de desarrollo; por ejemplo, un alto nivel de seguridad puede requerir más tiempo y recursos.</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 Riesgos: Ayudan a identificar riesgos potenciales asociados con la calidad y el rendimiento del sistema.</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▎Conclusión</a:t>
            </a:r>
          </a:p>
          <a:p>
            <a:pPr marL="0" marR="0" indent="0" algn="l" defTabSz="9144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Los requerimientos no funcionales son esenciales para el desarrollo de software exitoso, ya que garantizan que el sistema no solo funcione correctamente, sino que también cumpla con las expectativas en términos de calidad, rendimiento y otras características críticas. Un enfoque equilibrado entre requerimientos funcionales y no funcionales es clave para crear sistemas robustos y satisfactorios para los usuarios.</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u="none" strike="noStrike" kern="1200" baseline="0" dirty="0" err="1" smtClean="0">
                <a:solidFill>
                  <a:schemeClr val="tx1"/>
                </a:solidFill>
                <a:latin typeface="+mn-lt"/>
                <a:ea typeface="+mn-ea"/>
                <a:cs typeface="+mn-cs"/>
              </a:rPr>
              <a:t>Sommerville</a:t>
            </a:r>
            <a:r>
              <a:rPr lang="es-ES" sz="1200" b="0" i="0" u="none" strike="noStrike" kern="1200" baseline="0" dirty="0" smtClean="0">
                <a:solidFill>
                  <a:schemeClr val="tx1"/>
                </a:solidFill>
                <a:latin typeface="+mn-lt"/>
                <a:ea typeface="+mn-ea"/>
                <a:cs typeface="+mn-cs"/>
              </a:rPr>
              <a:t> y </a:t>
            </a:r>
            <a:r>
              <a:rPr lang="es-ES" sz="1200" b="0" i="0" u="none" strike="noStrike" kern="1200" baseline="0" dirty="0" err="1" smtClean="0">
                <a:solidFill>
                  <a:schemeClr val="tx1"/>
                </a:solidFill>
                <a:latin typeface="+mn-lt"/>
                <a:ea typeface="+mn-ea"/>
                <a:cs typeface="+mn-cs"/>
              </a:rPr>
              <a:t>Sawyer</a:t>
            </a:r>
            <a:r>
              <a:rPr lang="es-ES" sz="1200" b="0" i="0" u="none" strike="noStrike" kern="1200" baseline="0" dirty="0" smtClean="0">
                <a:solidFill>
                  <a:schemeClr val="tx1"/>
                </a:solidFill>
                <a:latin typeface="+mn-lt"/>
                <a:ea typeface="+mn-ea"/>
                <a:cs typeface="+mn-cs"/>
              </a:rPr>
              <a:t> [Som97] definen </a:t>
            </a:r>
            <a:r>
              <a:rPr lang="es-ES" sz="1200" b="0" i="1" u="none" strike="noStrike" kern="1200" baseline="0" dirty="0" smtClean="0">
                <a:solidFill>
                  <a:schemeClr val="tx1"/>
                </a:solidFill>
                <a:latin typeface="+mn-lt"/>
                <a:ea typeface="+mn-ea"/>
                <a:cs typeface="+mn-cs"/>
              </a:rPr>
              <a:t>participante </a:t>
            </a:r>
            <a:r>
              <a:rPr lang="es-ES" sz="1200" b="0" i="0" u="none" strike="noStrike" kern="1200" baseline="0" dirty="0" smtClean="0">
                <a:solidFill>
                  <a:schemeClr val="tx1"/>
                </a:solidFill>
                <a:latin typeface="+mn-lt"/>
                <a:ea typeface="+mn-ea"/>
                <a:cs typeface="+mn-cs"/>
              </a:rPr>
              <a:t>como “cualquier persona que se beneficie en forma directa o indirecta del sistema en desarrollo”. Cada participante tiene un punto de vista diferente respecto del sistema, obtiene distintos beneficios cuando éste se desarrolla con éxito y corre distintos riesgos si fracasa el esfuerzo de construcción. Durante la concepción, debe hacerse la lista de personas que harán aportes cuando se recaben los requerimientos .La lista inicial crecerá cuando se haga contacto con los participantes porque a cada uno se le hará la pregunta: “¿A quién más piensa que debe consultarse?”</a:t>
            </a:r>
          </a:p>
          <a:p>
            <a:endParaRPr lang="en-U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Debido a que existen muchos participantes distintos, los requerimientos del sistema se explorarán desde muchos puntos de vista diferentes. Por ejemplo, el grupo de mercadotecnia se interesa en funciones y características que estimularán el mercado potencial, lo que hará que el nuevo sistema sea fácil de vender. Los gerentes del negocio tienen interés en un conjunto de características para que se elabore dentro del presupuesto y que esté listo para ocupar  nichos de mercado definidos. Los usuarios finales tal vez quieran características que les resulten familiares y que sean fáciles de aprender y usar. Los  ingenieros de software quizá piensen en funciones invisibles para los participantes sin formación técnica, pero que permitan una infraestructura que dé apoyo a funciones y características más vendibles. Los ingenieros de apoyo tal vez se centren en la facilidad del software para recibir mantenimiento.</a:t>
            </a:r>
          </a:p>
          <a:p>
            <a:r>
              <a:rPr lang="es-ES" sz="1200" b="0" i="0" u="none" strike="noStrike" kern="1200" baseline="0" dirty="0" smtClean="0">
                <a:solidFill>
                  <a:schemeClr val="tx1"/>
                </a:solidFill>
                <a:latin typeface="+mn-lt"/>
                <a:ea typeface="+mn-ea"/>
                <a:cs typeface="+mn-cs"/>
              </a:rPr>
              <a:t>A medida que se recaba información procedente de múltiples puntos de vista, los requerimientos que surjan tal vez sean inconsistentes o estén en conflicto uno con otro. Debe clasificarse toda la información de los participantes (incluso los requerimientos inconsistentes y conflictivos) en forma que permita a quienes toman las decisiones escoger para el sistema un conjunto de requerimientos que tenga coherencia interna</a:t>
            </a:r>
          </a:p>
          <a:p>
            <a:endParaRPr lang="en-U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La colaboración no significa necesariamente que todos los requerimientos los defina un comité. En muchos casos, los participantes colaboran con la aportación de su punto de vista respecto de los requerimientos, pero un influyente “campeón del proyecto” (por ejemplo, el </a:t>
            </a:r>
            <a:r>
              <a:rPr lang="es-ES" sz="1200" b="0" i="0" u="none" strike="noStrike" kern="1200" baseline="0" dirty="0" err="1" smtClean="0">
                <a:solidFill>
                  <a:schemeClr val="tx1"/>
                </a:solidFill>
                <a:latin typeface="+mn-lt"/>
                <a:ea typeface="+mn-ea"/>
                <a:cs typeface="+mn-cs"/>
              </a:rPr>
              <a:t>directordel</a:t>
            </a:r>
            <a:r>
              <a:rPr lang="es-ES" sz="1200" b="0" i="0" u="none" strike="noStrike" kern="1200" baseline="0" dirty="0" smtClean="0">
                <a:solidFill>
                  <a:schemeClr val="tx1"/>
                </a:solidFill>
                <a:latin typeface="+mn-lt"/>
                <a:ea typeface="+mn-ea"/>
                <a:cs typeface="+mn-cs"/>
              </a:rPr>
              <a:t> negocio o un tecnólogo experimentado) toma la decisión final sobre los requerimientos que lo integrarán.</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Estas preguntas ayudan a identificar a todos los participantes con interés en el software que se</a:t>
            </a:r>
          </a:p>
          <a:p>
            <a:r>
              <a:rPr lang="es-ES" sz="1200" b="0" i="0" u="none" strike="noStrike" kern="1200" baseline="0" dirty="0" smtClean="0">
                <a:solidFill>
                  <a:schemeClr val="tx1"/>
                </a:solidFill>
                <a:latin typeface="+mn-lt"/>
                <a:ea typeface="+mn-ea"/>
                <a:cs typeface="+mn-cs"/>
              </a:rPr>
              <a:t>va a elaborar. Además, las preguntas identifican el beneficio mensurable de una implementación</a:t>
            </a:r>
          </a:p>
          <a:p>
            <a:r>
              <a:rPr lang="es-ES" sz="1200" b="0" i="0" u="none" strike="noStrike" kern="1200" baseline="0" dirty="0" smtClean="0">
                <a:solidFill>
                  <a:schemeClr val="tx1"/>
                </a:solidFill>
                <a:latin typeface="+mn-lt"/>
                <a:ea typeface="+mn-ea"/>
                <a:cs typeface="+mn-cs"/>
              </a:rPr>
              <a:t>exitosa y las posibles alternativas para el desarrollo de software personalizado.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b="1" i="0" kern="1200" dirty="0" smtClean="0">
                <a:solidFill>
                  <a:schemeClr val="tx1"/>
                </a:solidFill>
                <a:effectLst/>
                <a:latin typeface="+mn-lt"/>
                <a:ea typeface="+mn-ea"/>
                <a:cs typeface="+mn-cs"/>
              </a:rPr>
              <a:t>Problema:</a:t>
            </a:r>
            <a:r>
              <a:rPr lang="es-ES" sz="1200" b="0" i="0" kern="1200" dirty="0" smtClean="0">
                <a:solidFill>
                  <a:schemeClr val="tx1"/>
                </a:solidFill>
                <a:effectLst/>
                <a:latin typeface="+mn-lt"/>
                <a:ea typeface="+mn-ea"/>
                <a:cs typeface="+mn-cs"/>
              </a:rPr>
              <a:t> ¿Qué significa "rápida"? ¿Qué estándares de seguridad aplicar?</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b="0" i="0" kern="1200" dirty="0" smtClean="0">
                <a:solidFill>
                  <a:schemeClr val="tx1"/>
                </a:solidFill>
                <a:effectLst/>
                <a:latin typeface="+mn-lt"/>
                <a:ea typeface="+mn-ea"/>
                <a:cs typeface="+mn-cs"/>
              </a:rPr>
              <a:t>Redactar una versión mejorada (</a:t>
            </a:r>
            <a:r>
              <a:rPr lang="es-ES" sz="1200" b="0" i="0" kern="1200" dirty="0" err="1" smtClean="0">
                <a:solidFill>
                  <a:schemeClr val="tx1"/>
                </a:solidFill>
                <a:effectLst/>
                <a:latin typeface="+mn-lt"/>
                <a:ea typeface="+mn-ea"/>
                <a:cs typeface="+mn-cs"/>
              </a:rPr>
              <a:t>ej</a:t>
            </a:r>
            <a:r>
              <a:rPr lang="es-ES" sz="1200" b="0" i="0" kern="1200" dirty="0" smtClean="0">
                <a:solidFill>
                  <a:schemeClr val="tx1"/>
                </a:solidFill>
                <a:effectLst/>
                <a:latin typeface="+mn-lt"/>
                <a:ea typeface="+mn-ea"/>
                <a:cs typeface="+mn-cs"/>
              </a:rPr>
              <a:t>: *"La </a:t>
            </a:r>
            <a:r>
              <a:rPr lang="es-ES" sz="1200" b="0" i="0" kern="1200" dirty="0" err="1" smtClean="0">
                <a:solidFill>
                  <a:schemeClr val="tx1"/>
                </a:solidFill>
                <a:effectLst/>
                <a:latin typeface="+mn-lt"/>
                <a:ea typeface="+mn-ea"/>
                <a:cs typeface="+mn-cs"/>
              </a:rPr>
              <a:t>app</a:t>
            </a:r>
            <a:r>
              <a:rPr lang="es-ES" sz="1200" b="0" i="0" kern="1200" dirty="0" smtClean="0">
                <a:solidFill>
                  <a:schemeClr val="tx1"/>
                </a:solidFill>
                <a:effectLst/>
                <a:latin typeface="+mn-lt"/>
                <a:ea typeface="+mn-ea"/>
                <a:cs typeface="+mn-cs"/>
              </a:rPr>
              <a:t> debe procesar transacciones en &lt;2 segundos y usar encriptación AES-256"*).</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1" i="0" kern="1200" dirty="0" smtClean="0">
                <a:solidFill>
                  <a:schemeClr val="tx1"/>
                </a:solidFill>
                <a:effectLst/>
                <a:latin typeface="+mn-lt"/>
                <a:ea typeface="+mn-ea"/>
                <a:cs typeface="+mn-cs"/>
              </a:rPr>
              <a:t>a) JIRA (</a:t>
            </a:r>
            <a:r>
              <a:rPr lang="es-ES" sz="1200" b="1" i="0" kern="1200" dirty="0" err="1" smtClean="0">
                <a:solidFill>
                  <a:schemeClr val="tx1"/>
                </a:solidFill>
                <a:effectLst/>
                <a:latin typeface="+mn-lt"/>
                <a:ea typeface="+mn-ea"/>
                <a:cs typeface="+mn-cs"/>
              </a:rPr>
              <a:t>Atlassian</a:t>
            </a:r>
            <a:r>
              <a:rPr lang="es-ES" sz="1200" b="1" i="0" kern="1200" dirty="0" smtClean="0">
                <a:solidFill>
                  <a:schemeClr val="tx1"/>
                </a:solidFill>
                <a:effectLst/>
                <a:latin typeface="+mn-lt"/>
                <a:ea typeface="+mn-ea"/>
                <a:cs typeface="+mn-cs"/>
              </a:rPr>
              <a:t>)</a:t>
            </a:r>
          </a:p>
          <a:p>
            <a:r>
              <a:rPr lang="es-ES" sz="1200" b="1" i="0" kern="1200" dirty="0" smtClean="0">
                <a:solidFill>
                  <a:schemeClr val="tx1"/>
                </a:solidFill>
                <a:effectLst/>
                <a:latin typeface="+mn-lt"/>
                <a:ea typeface="+mn-ea"/>
                <a:cs typeface="+mn-cs"/>
              </a:rPr>
              <a:t>Uso principal:</a:t>
            </a:r>
            <a:r>
              <a:rPr lang="es-ES" sz="1200" b="0" i="0" kern="1200" dirty="0" smtClean="0">
                <a:solidFill>
                  <a:schemeClr val="tx1"/>
                </a:solidFill>
                <a:effectLst/>
                <a:latin typeface="+mn-lt"/>
                <a:ea typeface="+mn-ea"/>
                <a:cs typeface="+mn-cs"/>
              </a:rPr>
              <a:t> Gestión ágil de requerimientos (SCRUM, </a:t>
            </a:r>
            <a:r>
              <a:rPr lang="es-ES" sz="1200" b="0" i="0" kern="1200" dirty="0" err="1" smtClean="0">
                <a:solidFill>
                  <a:schemeClr val="tx1"/>
                </a:solidFill>
                <a:effectLst/>
                <a:latin typeface="+mn-lt"/>
                <a:ea typeface="+mn-ea"/>
                <a:cs typeface="+mn-cs"/>
              </a:rPr>
              <a:t>Kanban</a:t>
            </a:r>
            <a:r>
              <a:rPr lang="es-ES" sz="1200" b="0" i="0" kern="1200" dirty="0" smtClean="0">
                <a:solidFill>
                  <a:schemeClr val="tx1"/>
                </a:solidFill>
                <a:effectLst/>
                <a:latin typeface="+mn-lt"/>
                <a:ea typeface="+mn-ea"/>
                <a:cs typeface="+mn-cs"/>
              </a:rPr>
              <a:t>).</a:t>
            </a:r>
          </a:p>
          <a:p>
            <a:r>
              <a:rPr lang="es-ES" sz="1200" b="1" i="0" kern="1200" dirty="0" smtClean="0">
                <a:solidFill>
                  <a:schemeClr val="tx1"/>
                </a:solidFill>
                <a:effectLst/>
                <a:latin typeface="+mn-lt"/>
                <a:ea typeface="+mn-ea"/>
                <a:cs typeface="+mn-cs"/>
              </a:rPr>
              <a:t>Funcionalidades clave:</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Creación de </a:t>
            </a:r>
            <a:r>
              <a:rPr lang="es-ES" sz="1200" b="0" i="1" kern="1200" dirty="0" err="1" smtClean="0">
                <a:solidFill>
                  <a:schemeClr val="tx1"/>
                </a:solidFill>
                <a:effectLst/>
                <a:latin typeface="+mn-lt"/>
                <a:ea typeface="+mn-ea"/>
                <a:cs typeface="+mn-cs"/>
              </a:rPr>
              <a:t>user</a:t>
            </a:r>
            <a:r>
              <a:rPr lang="es-ES" sz="1200" b="0" i="1" kern="1200" dirty="0" smtClean="0">
                <a:solidFill>
                  <a:schemeClr val="tx1"/>
                </a:solidFill>
                <a:effectLst/>
                <a:latin typeface="+mn-lt"/>
                <a:ea typeface="+mn-ea"/>
                <a:cs typeface="+mn-cs"/>
              </a:rPr>
              <a:t> </a:t>
            </a:r>
            <a:r>
              <a:rPr lang="es-ES" sz="1200" b="0" i="1" kern="1200" dirty="0" err="1" smtClean="0">
                <a:solidFill>
                  <a:schemeClr val="tx1"/>
                </a:solidFill>
                <a:effectLst/>
                <a:latin typeface="+mn-lt"/>
                <a:ea typeface="+mn-ea"/>
                <a:cs typeface="+mn-cs"/>
              </a:rPr>
              <a:t>stories</a:t>
            </a:r>
            <a:r>
              <a:rPr lang="es-ES" sz="1200" b="0" i="0" kern="1200" dirty="0" smtClean="0">
                <a:solidFill>
                  <a:schemeClr val="tx1"/>
                </a:solidFill>
                <a:effectLst/>
                <a:latin typeface="+mn-lt"/>
                <a:ea typeface="+mn-ea"/>
                <a:cs typeface="+mn-cs"/>
              </a:rPr>
              <a:t> y </a:t>
            </a:r>
            <a:r>
              <a:rPr lang="es-ES" sz="1200" b="0" i="0" kern="1200" dirty="0" err="1" smtClean="0">
                <a:solidFill>
                  <a:schemeClr val="tx1"/>
                </a:solidFill>
                <a:effectLst/>
                <a:latin typeface="+mn-lt"/>
                <a:ea typeface="+mn-ea"/>
                <a:cs typeface="+mn-cs"/>
              </a:rPr>
              <a:t>epics</a:t>
            </a:r>
            <a:r>
              <a:rPr lang="es-ES" sz="1200" b="0" i="0" kern="1200" dirty="0" smtClean="0">
                <a:solidFill>
                  <a:schemeClr val="tx1"/>
                </a:solidFill>
                <a:effectLst/>
                <a:latin typeface="+mn-lt"/>
                <a:ea typeface="+mn-ea"/>
                <a:cs typeface="+mn-cs"/>
              </a:rPr>
              <a:t>.</a:t>
            </a:r>
          </a:p>
          <a:p>
            <a:pPr lvl="1"/>
            <a:r>
              <a:rPr lang="es-ES" sz="1200" b="0" i="0" kern="1200" dirty="0" smtClean="0">
                <a:solidFill>
                  <a:schemeClr val="tx1"/>
                </a:solidFill>
                <a:effectLst/>
                <a:latin typeface="+mn-lt"/>
                <a:ea typeface="+mn-ea"/>
                <a:cs typeface="+mn-cs"/>
              </a:rPr>
              <a:t>Integración con </a:t>
            </a:r>
            <a:r>
              <a:rPr lang="es-ES" sz="1200" b="1" i="0" kern="1200" dirty="0" err="1" smtClean="0">
                <a:solidFill>
                  <a:schemeClr val="tx1"/>
                </a:solidFill>
                <a:effectLst/>
                <a:latin typeface="+mn-lt"/>
                <a:ea typeface="+mn-ea"/>
                <a:cs typeface="+mn-cs"/>
              </a:rPr>
              <a:t>Confluence</a:t>
            </a:r>
            <a:r>
              <a:rPr lang="es-ES" sz="1200" b="0" i="0" kern="1200" dirty="0" smtClean="0">
                <a:solidFill>
                  <a:schemeClr val="tx1"/>
                </a:solidFill>
                <a:effectLst/>
                <a:latin typeface="+mn-lt"/>
                <a:ea typeface="+mn-ea"/>
                <a:cs typeface="+mn-cs"/>
              </a:rPr>
              <a:t> para documentación.</a:t>
            </a:r>
          </a:p>
          <a:p>
            <a:pPr lvl="1"/>
            <a:r>
              <a:rPr lang="es-ES" sz="1200" b="0" i="0" kern="1200" dirty="0" err="1" smtClean="0">
                <a:solidFill>
                  <a:schemeClr val="tx1"/>
                </a:solidFill>
                <a:effectLst/>
                <a:latin typeface="+mn-lt"/>
                <a:ea typeface="+mn-ea"/>
                <a:cs typeface="+mn-cs"/>
              </a:rPr>
              <a:t>Plugins</a:t>
            </a:r>
            <a:r>
              <a:rPr lang="es-ES" sz="1200" b="0" i="0" kern="1200" dirty="0" smtClean="0">
                <a:solidFill>
                  <a:schemeClr val="tx1"/>
                </a:solidFill>
                <a:effectLst/>
                <a:latin typeface="+mn-lt"/>
                <a:ea typeface="+mn-ea"/>
                <a:cs typeface="+mn-cs"/>
              </a:rPr>
              <a:t> como </a:t>
            </a:r>
            <a:r>
              <a:rPr lang="es-ES" sz="1200" b="1" i="0" kern="1200" dirty="0" smtClean="0">
                <a:solidFill>
                  <a:schemeClr val="tx1"/>
                </a:solidFill>
                <a:effectLst/>
                <a:latin typeface="+mn-lt"/>
                <a:ea typeface="+mn-ea"/>
                <a:cs typeface="+mn-cs"/>
              </a:rPr>
              <a:t>JIRA </a:t>
            </a:r>
            <a:r>
              <a:rPr lang="es-ES" sz="1200" b="1" i="0" kern="1200" dirty="0" err="1" smtClean="0">
                <a:solidFill>
                  <a:schemeClr val="tx1"/>
                </a:solidFill>
                <a:effectLst/>
                <a:latin typeface="+mn-lt"/>
                <a:ea typeface="+mn-ea"/>
                <a:cs typeface="+mn-cs"/>
              </a:rPr>
              <a:t>Requirements</a:t>
            </a:r>
            <a:r>
              <a:rPr lang="es-ES" sz="1200" b="1" i="0" kern="1200" dirty="0" smtClean="0">
                <a:solidFill>
                  <a:schemeClr val="tx1"/>
                </a:solidFill>
                <a:effectLst/>
                <a:latin typeface="+mn-lt"/>
                <a:ea typeface="+mn-ea"/>
                <a:cs typeface="+mn-cs"/>
              </a:rPr>
              <a:t> Management</a:t>
            </a:r>
            <a:r>
              <a:rPr lang="es-ES" sz="1200" b="0" i="0" kern="1200" dirty="0" smtClean="0">
                <a:solidFill>
                  <a:schemeClr val="tx1"/>
                </a:solidFill>
                <a:effectLst/>
                <a:latin typeface="+mn-lt"/>
                <a:ea typeface="+mn-ea"/>
                <a:cs typeface="+mn-cs"/>
              </a:rPr>
              <a:t> para trazabilidad avanzada.</a:t>
            </a:r>
          </a:p>
          <a:p>
            <a:r>
              <a:rPr lang="es-ES" sz="1200" b="1" i="0" kern="1200" dirty="0" smtClean="0">
                <a:solidFill>
                  <a:schemeClr val="tx1"/>
                </a:solidFill>
                <a:effectLst/>
                <a:latin typeface="+mn-lt"/>
                <a:ea typeface="+mn-ea"/>
                <a:cs typeface="+mn-cs"/>
              </a:rPr>
              <a:t>Ventajas:</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Ideal para </a:t>
            </a:r>
            <a:r>
              <a:rPr lang="es-ES" sz="1200" b="0" i="0" kern="1200" dirty="0" err="1" smtClean="0">
                <a:solidFill>
                  <a:schemeClr val="tx1"/>
                </a:solidFill>
                <a:effectLst/>
                <a:latin typeface="+mn-lt"/>
                <a:ea typeface="+mn-ea"/>
                <a:cs typeface="+mn-cs"/>
              </a:rPr>
              <a:t>startups</a:t>
            </a:r>
            <a:r>
              <a:rPr lang="es-ES" sz="1200" b="0" i="0" kern="1200" dirty="0" smtClean="0">
                <a:solidFill>
                  <a:schemeClr val="tx1"/>
                </a:solidFill>
                <a:effectLst/>
                <a:latin typeface="+mn-lt"/>
                <a:ea typeface="+mn-ea"/>
                <a:cs typeface="+mn-cs"/>
              </a:rPr>
              <a:t> y equipos ágiles.</a:t>
            </a:r>
          </a:p>
          <a:p>
            <a:pPr lvl="1"/>
            <a:r>
              <a:rPr lang="es-ES" sz="1200" b="0" i="0" kern="1200" dirty="0" smtClean="0">
                <a:solidFill>
                  <a:schemeClr val="tx1"/>
                </a:solidFill>
                <a:effectLst/>
                <a:latin typeface="+mn-lt"/>
                <a:ea typeface="+mn-ea"/>
                <a:cs typeface="+mn-cs"/>
              </a:rPr>
              <a:t>Personalizable con </a:t>
            </a:r>
            <a:r>
              <a:rPr lang="es-ES" sz="1200" b="0" i="0" kern="1200" dirty="0" err="1" smtClean="0">
                <a:solidFill>
                  <a:schemeClr val="tx1"/>
                </a:solidFill>
                <a:effectLst/>
                <a:latin typeface="+mn-lt"/>
                <a:ea typeface="+mn-ea"/>
                <a:cs typeface="+mn-cs"/>
              </a:rPr>
              <a:t>add-ons</a:t>
            </a:r>
            <a:r>
              <a:rPr lang="es-ES" sz="1200" b="0" i="0" kern="1200" dirty="0" smtClean="0">
                <a:solidFill>
                  <a:schemeClr val="tx1"/>
                </a:solidFill>
                <a:effectLst/>
                <a:latin typeface="+mn-lt"/>
                <a:ea typeface="+mn-ea"/>
                <a:cs typeface="+mn-cs"/>
              </a:rPr>
              <a:t>.</a:t>
            </a:r>
          </a:p>
          <a:p>
            <a:r>
              <a:rPr lang="es-ES" sz="1200" b="1" i="0" kern="1200" dirty="0" smtClean="0">
                <a:solidFill>
                  <a:schemeClr val="tx1"/>
                </a:solidFill>
                <a:effectLst/>
                <a:latin typeface="+mn-lt"/>
                <a:ea typeface="+mn-ea"/>
                <a:cs typeface="+mn-cs"/>
              </a:rPr>
              <a:t>Limitaciones:</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Requiere configuración avanzada para proyectos complejos.</a:t>
            </a:r>
          </a:p>
          <a:p>
            <a:r>
              <a:rPr lang="es-ES" sz="1200" b="1" i="0" kern="1200" dirty="0" smtClean="0">
                <a:solidFill>
                  <a:schemeClr val="tx1"/>
                </a:solidFill>
                <a:effectLst/>
                <a:latin typeface="+mn-lt"/>
                <a:ea typeface="+mn-ea"/>
                <a:cs typeface="+mn-cs"/>
              </a:rPr>
              <a:t>b) IBM </a:t>
            </a:r>
            <a:r>
              <a:rPr lang="es-ES" sz="1200" b="1" i="0" kern="1200" dirty="0" err="1" smtClean="0">
                <a:solidFill>
                  <a:schemeClr val="tx1"/>
                </a:solidFill>
                <a:effectLst/>
                <a:latin typeface="+mn-lt"/>
                <a:ea typeface="+mn-ea"/>
                <a:cs typeface="+mn-cs"/>
              </a:rPr>
              <a:t>Rational</a:t>
            </a:r>
            <a:r>
              <a:rPr lang="es-ES" sz="1200" b="1" i="0" kern="1200" dirty="0" smtClean="0">
                <a:solidFill>
                  <a:schemeClr val="tx1"/>
                </a:solidFill>
                <a:effectLst/>
                <a:latin typeface="+mn-lt"/>
                <a:ea typeface="+mn-ea"/>
                <a:cs typeface="+mn-cs"/>
              </a:rPr>
              <a:t> DOORS</a:t>
            </a:r>
          </a:p>
          <a:p>
            <a:r>
              <a:rPr lang="es-ES" sz="1200" b="1" i="0" kern="1200" dirty="0" smtClean="0">
                <a:solidFill>
                  <a:schemeClr val="tx1"/>
                </a:solidFill>
                <a:effectLst/>
                <a:latin typeface="+mn-lt"/>
                <a:ea typeface="+mn-ea"/>
                <a:cs typeface="+mn-cs"/>
              </a:rPr>
              <a:t>Uso principal:</a:t>
            </a:r>
            <a:r>
              <a:rPr lang="es-ES" sz="1200" b="0" i="0" kern="1200" dirty="0" smtClean="0">
                <a:solidFill>
                  <a:schemeClr val="tx1"/>
                </a:solidFill>
                <a:effectLst/>
                <a:latin typeface="+mn-lt"/>
                <a:ea typeface="+mn-ea"/>
                <a:cs typeface="+mn-cs"/>
              </a:rPr>
              <a:t> Proyectos críticos (aeroespacial, automotriz, médico).</a:t>
            </a:r>
          </a:p>
          <a:p>
            <a:r>
              <a:rPr lang="es-ES" sz="1200" b="1" i="0" kern="1200" dirty="0" smtClean="0">
                <a:solidFill>
                  <a:schemeClr val="tx1"/>
                </a:solidFill>
                <a:effectLst/>
                <a:latin typeface="+mn-lt"/>
                <a:ea typeface="+mn-ea"/>
                <a:cs typeface="+mn-cs"/>
              </a:rPr>
              <a:t>Funcionalidades clave:</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Trazabilidad </a:t>
            </a:r>
            <a:r>
              <a:rPr lang="es-ES" sz="1200" b="0" i="0" kern="1200" dirty="0" err="1" smtClean="0">
                <a:solidFill>
                  <a:schemeClr val="tx1"/>
                </a:solidFill>
                <a:effectLst/>
                <a:latin typeface="+mn-lt"/>
                <a:ea typeface="+mn-ea"/>
                <a:cs typeface="+mn-cs"/>
              </a:rPr>
              <a:t>end-to-end</a:t>
            </a:r>
            <a:r>
              <a:rPr lang="es-ES" sz="1200" b="0" i="0" kern="1200" dirty="0" smtClean="0">
                <a:solidFill>
                  <a:schemeClr val="tx1"/>
                </a:solidFill>
                <a:effectLst/>
                <a:latin typeface="+mn-lt"/>
                <a:ea typeface="+mn-ea"/>
                <a:cs typeface="+mn-cs"/>
              </a:rPr>
              <a:t> con matrices de impacto.</a:t>
            </a:r>
          </a:p>
          <a:p>
            <a:pPr lvl="1"/>
            <a:r>
              <a:rPr lang="es-ES" sz="1200" b="0" i="0" kern="1200" dirty="0" smtClean="0">
                <a:solidFill>
                  <a:schemeClr val="tx1"/>
                </a:solidFill>
                <a:effectLst/>
                <a:latin typeface="+mn-lt"/>
                <a:ea typeface="+mn-ea"/>
                <a:cs typeface="+mn-cs"/>
              </a:rPr>
              <a:t>Cumplimiento de estándares (ISO 26262, DO-178C).</a:t>
            </a:r>
          </a:p>
          <a:p>
            <a:pPr lvl="1"/>
            <a:r>
              <a:rPr lang="es-ES" sz="1200" b="0" i="0" kern="1200" dirty="0" smtClean="0">
                <a:solidFill>
                  <a:schemeClr val="tx1"/>
                </a:solidFill>
                <a:effectLst/>
                <a:latin typeface="+mn-lt"/>
                <a:ea typeface="+mn-ea"/>
                <a:cs typeface="+mn-cs"/>
              </a:rPr>
              <a:t>Soporte para requisitos jerárquicos y basados en modelos (MBSE).</a:t>
            </a:r>
          </a:p>
          <a:p>
            <a:r>
              <a:rPr lang="es-ES" sz="1200" b="1" i="0" kern="1200" dirty="0" smtClean="0">
                <a:solidFill>
                  <a:schemeClr val="tx1"/>
                </a:solidFill>
                <a:effectLst/>
                <a:latin typeface="+mn-lt"/>
                <a:ea typeface="+mn-ea"/>
                <a:cs typeface="+mn-cs"/>
              </a:rPr>
              <a:t>Ventajas:</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Robustez para sistemas de alta seguridad.</a:t>
            </a:r>
          </a:p>
          <a:p>
            <a:r>
              <a:rPr lang="es-ES" sz="1200" b="1" i="0" kern="1200" dirty="0" smtClean="0">
                <a:solidFill>
                  <a:schemeClr val="tx1"/>
                </a:solidFill>
                <a:effectLst/>
                <a:latin typeface="+mn-lt"/>
                <a:ea typeface="+mn-ea"/>
                <a:cs typeface="+mn-cs"/>
              </a:rPr>
              <a:t>Limitaciones:</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Curva de aprendizaje pronunciada.</a:t>
            </a:r>
          </a:p>
          <a:p>
            <a:pPr lvl="1"/>
            <a:r>
              <a:rPr lang="es-ES" sz="1200" b="0" i="0" kern="1200" dirty="0" smtClean="0">
                <a:solidFill>
                  <a:schemeClr val="tx1"/>
                </a:solidFill>
                <a:effectLst/>
                <a:latin typeface="+mn-lt"/>
                <a:ea typeface="+mn-ea"/>
                <a:cs typeface="+mn-cs"/>
              </a:rPr>
              <a:t>Costo elevado (para grandes empresas).</a:t>
            </a:r>
          </a:p>
          <a:p>
            <a:r>
              <a:rPr lang="es-ES" sz="1200" b="1" i="0" kern="1200" dirty="0" smtClean="0">
                <a:solidFill>
                  <a:schemeClr val="tx1"/>
                </a:solidFill>
                <a:effectLst/>
                <a:latin typeface="+mn-lt"/>
                <a:ea typeface="+mn-ea"/>
                <a:cs typeface="+mn-cs"/>
              </a:rPr>
              <a:t>c) </a:t>
            </a:r>
            <a:r>
              <a:rPr lang="es-ES" sz="1200" b="1" i="0" kern="1200" dirty="0" err="1" smtClean="0">
                <a:solidFill>
                  <a:schemeClr val="tx1"/>
                </a:solidFill>
                <a:effectLst/>
                <a:latin typeface="+mn-lt"/>
                <a:ea typeface="+mn-ea"/>
                <a:cs typeface="+mn-cs"/>
              </a:rPr>
              <a:t>Trello</a:t>
            </a:r>
            <a:endParaRPr lang="es-ES" sz="1200" b="1" i="0" kern="1200" dirty="0" smtClean="0">
              <a:solidFill>
                <a:schemeClr val="tx1"/>
              </a:solidFill>
              <a:effectLst/>
              <a:latin typeface="+mn-lt"/>
              <a:ea typeface="+mn-ea"/>
              <a:cs typeface="+mn-cs"/>
            </a:endParaRPr>
          </a:p>
          <a:p>
            <a:r>
              <a:rPr lang="es-ES" sz="1200" b="1" i="0" kern="1200" dirty="0" smtClean="0">
                <a:solidFill>
                  <a:schemeClr val="tx1"/>
                </a:solidFill>
                <a:effectLst/>
                <a:latin typeface="+mn-lt"/>
                <a:ea typeface="+mn-ea"/>
                <a:cs typeface="+mn-cs"/>
              </a:rPr>
              <a:t>Uso principal:</a:t>
            </a:r>
            <a:r>
              <a:rPr lang="es-ES" sz="1200" b="0" i="0" kern="1200" dirty="0" smtClean="0">
                <a:solidFill>
                  <a:schemeClr val="tx1"/>
                </a:solidFill>
                <a:effectLst/>
                <a:latin typeface="+mn-lt"/>
                <a:ea typeface="+mn-ea"/>
                <a:cs typeface="+mn-cs"/>
              </a:rPr>
              <a:t> Equipos pequeños o proyectos simples.</a:t>
            </a:r>
          </a:p>
          <a:p>
            <a:r>
              <a:rPr lang="es-ES" sz="1200" b="1" i="0" kern="1200" dirty="0" smtClean="0">
                <a:solidFill>
                  <a:schemeClr val="tx1"/>
                </a:solidFill>
                <a:effectLst/>
                <a:latin typeface="+mn-lt"/>
                <a:ea typeface="+mn-ea"/>
                <a:cs typeface="+mn-cs"/>
              </a:rPr>
              <a:t>Funcionalidades clave:</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Tableros visuales con tarjetas (</a:t>
            </a:r>
            <a:r>
              <a:rPr lang="es-ES" sz="1200" b="0" i="0" kern="1200" dirty="0" err="1" smtClean="0">
                <a:solidFill>
                  <a:schemeClr val="tx1"/>
                </a:solidFill>
                <a:effectLst/>
                <a:latin typeface="+mn-lt"/>
                <a:ea typeface="+mn-ea"/>
                <a:cs typeface="+mn-cs"/>
              </a:rPr>
              <a:t>drag</a:t>
            </a:r>
            <a:r>
              <a:rPr lang="es-ES" sz="1200" b="0" i="0" kern="1200" dirty="0" smtClean="0">
                <a:solidFill>
                  <a:schemeClr val="tx1"/>
                </a:solidFill>
                <a:effectLst/>
                <a:latin typeface="+mn-lt"/>
                <a:ea typeface="+mn-ea"/>
                <a:cs typeface="+mn-cs"/>
              </a:rPr>
              <a:t>-and-</a:t>
            </a:r>
            <a:r>
              <a:rPr lang="es-ES" sz="1200" b="0" i="0" kern="1200" dirty="0" err="1" smtClean="0">
                <a:solidFill>
                  <a:schemeClr val="tx1"/>
                </a:solidFill>
                <a:effectLst/>
                <a:latin typeface="+mn-lt"/>
                <a:ea typeface="+mn-ea"/>
                <a:cs typeface="+mn-cs"/>
              </a:rPr>
              <a:t>drop</a:t>
            </a:r>
            <a:r>
              <a:rPr lang="es-ES" sz="1200" b="0" i="0" kern="1200" dirty="0" smtClean="0">
                <a:solidFill>
                  <a:schemeClr val="tx1"/>
                </a:solidFill>
                <a:effectLst/>
                <a:latin typeface="+mn-lt"/>
                <a:ea typeface="+mn-ea"/>
                <a:cs typeface="+mn-cs"/>
              </a:rPr>
              <a:t>).</a:t>
            </a:r>
          </a:p>
          <a:p>
            <a:pPr lvl="1"/>
            <a:r>
              <a:rPr lang="es-ES" sz="1200" b="0" i="0" kern="1200" dirty="0" smtClean="0">
                <a:solidFill>
                  <a:schemeClr val="tx1"/>
                </a:solidFill>
                <a:effectLst/>
                <a:latin typeface="+mn-lt"/>
                <a:ea typeface="+mn-ea"/>
                <a:cs typeface="+mn-cs"/>
              </a:rPr>
              <a:t>Integración con </a:t>
            </a:r>
            <a:r>
              <a:rPr lang="es-ES" sz="1200" b="0" i="0" kern="1200" dirty="0" err="1" smtClean="0">
                <a:solidFill>
                  <a:schemeClr val="tx1"/>
                </a:solidFill>
                <a:effectLst/>
                <a:latin typeface="+mn-lt"/>
                <a:ea typeface="+mn-ea"/>
                <a:cs typeface="+mn-cs"/>
              </a:rPr>
              <a:t>Slack</a:t>
            </a:r>
            <a:r>
              <a:rPr lang="es-ES" sz="1200" b="0" i="0" kern="1200" dirty="0" smtClean="0">
                <a:solidFill>
                  <a:schemeClr val="tx1"/>
                </a:solidFill>
                <a:effectLst/>
                <a:latin typeface="+mn-lt"/>
                <a:ea typeface="+mn-ea"/>
                <a:cs typeface="+mn-cs"/>
              </a:rPr>
              <a:t> y Google Drive.</a:t>
            </a:r>
          </a:p>
          <a:p>
            <a:r>
              <a:rPr lang="es-ES" sz="1200" b="1" i="0" kern="1200" dirty="0" smtClean="0">
                <a:solidFill>
                  <a:schemeClr val="tx1"/>
                </a:solidFill>
                <a:effectLst/>
                <a:latin typeface="+mn-lt"/>
                <a:ea typeface="+mn-ea"/>
                <a:cs typeface="+mn-cs"/>
              </a:rPr>
              <a:t>Ventajas:</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Intuitivo y rápido de implementar.</a:t>
            </a:r>
          </a:p>
          <a:p>
            <a:r>
              <a:rPr lang="es-ES" sz="1200" b="1" i="0" kern="1200" dirty="0" smtClean="0">
                <a:solidFill>
                  <a:schemeClr val="tx1"/>
                </a:solidFill>
                <a:effectLst/>
                <a:latin typeface="+mn-lt"/>
                <a:ea typeface="+mn-ea"/>
                <a:cs typeface="+mn-cs"/>
              </a:rPr>
              <a:t>Limitaciones:</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Falta de trazabilidad avanzada.</a:t>
            </a:r>
          </a:p>
          <a:p>
            <a:r>
              <a:rPr lang="es-ES" sz="1200" b="1" i="0" kern="1200" dirty="0" smtClean="0">
                <a:solidFill>
                  <a:schemeClr val="tx1"/>
                </a:solidFill>
                <a:effectLst/>
                <a:latin typeface="+mn-lt"/>
                <a:ea typeface="+mn-ea"/>
                <a:cs typeface="+mn-cs"/>
              </a:rPr>
              <a:t>d) Modern Requirements4DevOps</a:t>
            </a:r>
          </a:p>
          <a:p>
            <a:r>
              <a:rPr lang="es-ES" sz="1200" b="1" i="0" kern="1200" dirty="0" smtClean="0">
                <a:solidFill>
                  <a:schemeClr val="tx1"/>
                </a:solidFill>
                <a:effectLst/>
                <a:latin typeface="+mn-lt"/>
                <a:ea typeface="+mn-ea"/>
                <a:cs typeface="+mn-cs"/>
              </a:rPr>
              <a:t>Uso principal:</a:t>
            </a:r>
            <a:r>
              <a:rPr lang="es-ES" sz="1200" b="0" i="0" kern="1200" dirty="0" smtClean="0">
                <a:solidFill>
                  <a:schemeClr val="tx1"/>
                </a:solidFill>
                <a:effectLst/>
                <a:latin typeface="+mn-lt"/>
                <a:ea typeface="+mn-ea"/>
                <a:cs typeface="+mn-cs"/>
              </a:rPr>
              <a:t> Equipos que usan </a:t>
            </a:r>
            <a:r>
              <a:rPr lang="es-ES" sz="1200" b="0" i="0" kern="1200" dirty="0" err="1" smtClean="0">
                <a:solidFill>
                  <a:schemeClr val="tx1"/>
                </a:solidFill>
                <a:effectLst/>
                <a:latin typeface="+mn-lt"/>
                <a:ea typeface="+mn-ea"/>
                <a:cs typeface="+mn-cs"/>
              </a:rPr>
              <a:t>Azure</a:t>
            </a:r>
            <a:r>
              <a:rPr lang="es-ES" sz="1200" b="0" i="0" kern="1200" dirty="0" smtClean="0">
                <a:solidFill>
                  <a:schemeClr val="tx1"/>
                </a:solidFill>
                <a:effectLst/>
                <a:latin typeface="+mn-lt"/>
                <a:ea typeface="+mn-ea"/>
                <a:cs typeface="+mn-cs"/>
              </a:rPr>
              <a:t> </a:t>
            </a:r>
            <a:r>
              <a:rPr lang="es-ES" sz="1200" b="0" i="0" kern="1200" dirty="0" err="1" smtClean="0">
                <a:solidFill>
                  <a:schemeClr val="tx1"/>
                </a:solidFill>
                <a:effectLst/>
                <a:latin typeface="+mn-lt"/>
                <a:ea typeface="+mn-ea"/>
                <a:cs typeface="+mn-cs"/>
              </a:rPr>
              <a:t>DevOps</a:t>
            </a:r>
            <a:r>
              <a:rPr lang="es-ES" sz="1200" b="0" i="0" kern="1200" dirty="0" smtClean="0">
                <a:solidFill>
                  <a:schemeClr val="tx1"/>
                </a:solidFill>
                <a:effectLst/>
                <a:latin typeface="+mn-lt"/>
                <a:ea typeface="+mn-ea"/>
                <a:cs typeface="+mn-cs"/>
              </a:rPr>
              <a:t>.</a:t>
            </a:r>
          </a:p>
          <a:p>
            <a:r>
              <a:rPr lang="es-ES" sz="1200" b="1" i="0" kern="1200" dirty="0" smtClean="0">
                <a:solidFill>
                  <a:schemeClr val="tx1"/>
                </a:solidFill>
                <a:effectLst/>
                <a:latin typeface="+mn-lt"/>
                <a:ea typeface="+mn-ea"/>
                <a:cs typeface="+mn-cs"/>
              </a:rPr>
              <a:t>Funcionalidades clave:</a:t>
            </a:r>
            <a:endParaRPr lang="es-ES" sz="1200" b="0" i="0" kern="1200" dirty="0" smtClean="0">
              <a:solidFill>
                <a:schemeClr val="tx1"/>
              </a:solidFill>
              <a:effectLst/>
              <a:latin typeface="+mn-lt"/>
              <a:ea typeface="+mn-ea"/>
              <a:cs typeface="+mn-cs"/>
            </a:endParaRPr>
          </a:p>
          <a:p>
            <a:pPr lvl="1"/>
            <a:r>
              <a:rPr lang="es-ES" sz="1200" b="0" i="0" kern="1200" dirty="0" smtClean="0">
                <a:solidFill>
                  <a:schemeClr val="tx1"/>
                </a:solidFill>
                <a:effectLst/>
                <a:latin typeface="+mn-lt"/>
                <a:ea typeface="+mn-ea"/>
                <a:cs typeface="+mn-cs"/>
              </a:rPr>
              <a:t>Captura de requisitos mediante IA (análisis de texto natural).</a:t>
            </a:r>
          </a:p>
          <a:p>
            <a:pPr lvl="1"/>
            <a:r>
              <a:rPr lang="es-ES" sz="1200" b="0" i="0" kern="1200" dirty="0" smtClean="0">
                <a:solidFill>
                  <a:schemeClr val="tx1"/>
                </a:solidFill>
                <a:effectLst/>
                <a:latin typeface="+mn-lt"/>
                <a:ea typeface="+mn-ea"/>
                <a:cs typeface="+mn-cs"/>
              </a:rPr>
              <a:t>Generación automática de diagramas (flujos, UML).</a:t>
            </a:r>
          </a:p>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b="0" i="0" kern="1200" dirty="0" smtClean="0">
                <a:solidFill>
                  <a:schemeClr val="tx1"/>
                </a:solidFill>
                <a:effectLst/>
                <a:latin typeface="+mn-lt"/>
                <a:ea typeface="+mn-ea"/>
                <a:cs typeface="+mn-cs"/>
              </a:rPr>
              <a:t>El </a:t>
            </a:r>
            <a:r>
              <a:rPr lang="es-ES" sz="1200" b="1" i="0" kern="1200" dirty="0" smtClean="0">
                <a:solidFill>
                  <a:schemeClr val="tx1"/>
                </a:solidFill>
                <a:effectLst/>
                <a:latin typeface="+mn-lt"/>
                <a:ea typeface="+mn-ea"/>
                <a:cs typeface="+mn-cs"/>
              </a:rPr>
              <a:t>NPL</a:t>
            </a:r>
            <a:r>
              <a:rPr lang="es-ES" sz="1200" b="0" i="0" kern="1200" dirty="0" smtClean="0">
                <a:solidFill>
                  <a:schemeClr val="tx1"/>
                </a:solidFill>
                <a:effectLst/>
                <a:latin typeface="+mn-lt"/>
                <a:ea typeface="+mn-ea"/>
                <a:cs typeface="+mn-cs"/>
              </a:rPr>
              <a:t> (</a:t>
            </a:r>
            <a:r>
              <a:rPr lang="es-ES" sz="1200" b="0" i="1" kern="1200" dirty="0" smtClean="0">
                <a:solidFill>
                  <a:schemeClr val="tx1"/>
                </a:solidFill>
                <a:effectLst/>
                <a:latin typeface="+mn-lt"/>
                <a:ea typeface="+mn-ea"/>
                <a:cs typeface="+mn-cs"/>
              </a:rPr>
              <a:t>Natural </a:t>
            </a:r>
            <a:r>
              <a:rPr lang="es-ES" sz="1200" b="0" i="1" kern="1200" dirty="0" err="1" smtClean="0">
                <a:solidFill>
                  <a:schemeClr val="tx1"/>
                </a:solidFill>
                <a:effectLst/>
                <a:latin typeface="+mn-lt"/>
                <a:ea typeface="+mn-ea"/>
                <a:cs typeface="+mn-cs"/>
              </a:rPr>
              <a:t>Language</a:t>
            </a:r>
            <a:r>
              <a:rPr lang="es-ES" sz="1200" b="0" i="1" kern="1200" dirty="0" smtClean="0">
                <a:solidFill>
                  <a:schemeClr val="tx1"/>
                </a:solidFill>
                <a:effectLst/>
                <a:latin typeface="+mn-lt"/>
                <a:ea typeface="+mn-ea"/>
                <a:cs typeface="+mn-cs"/>
              </a:rPr>
              <a:t> </a:t>
            </a:r>
            <a:r>
              <a:rPr lang="es-ES" sz="1200" b="0" i="1" kern="1200" dirty="0" err="1" smtClean="0">
                <a:solidFill>
                  <a:schemeClr val="tx1"/>
                </a:solidFill>
                <a:effectLst/>
                <a:latin typeface="+mn-lt"/>
                <a:ea typeface="+mn-ea"/>
                <a:cs typeface="+mn-cs"/>
              </a:rPr>
              <a:t>Processing</a:t>
            </a:r>
            <a:r>
              <a:rPr lang="es-ES" sz="1200" b="0" i="0" kern="1200" smtClean="0">
                <a:solidFill>
                  <a:schemeClr val="tx1"/>
                </a:solidFill>
                <a:effectLst/>
                <a:latin typeface="+mn-lt"/>
                <a:ea typeface="+mn-ea"/>
                <a:cs typeface="+mn-cs"/>
              </a:rPr>
              <a:t> o Procesamiento de Lenguaje Natural) es una rama de la </a:t>
            </a:r>
            <a:r>
              <a:rPr lang="es-ES" sz="1200" b="1" i="0" kern="1200" smtClean="0">
                <a:solidFill>
                  <a:schemeClr val="tx1"/>
                </a:solidFill>
                <a:effectLst/>
                <a:latin typeface="+mn-lt"/>
                <a:ea typeface="+mn-ea"/>
                <a:cs typeface="+mn-cs"/>
              </a:rPr>
              <a:t>IA</a:t>
            </a:r>
            <a:r>
              <a:rPr lang="es-ES" sz="1200" b="0" i="0" kern="1200" smtClean="0">
                <a:solidFill>
                  <a:schemeClr val="tx1"/>
                </a:solidFill>
                <a:effectLst/>
                <a:latin typeface="+mn-lt"/>
                <a:ea typeface="+mn-ea"/>
                <a:cs typeface="+mn-cs"/>
              </a:rPr>
              <a:t> que permite a las máquinas </a:t>
            </a:r>
            <a:r>
              <a:rPr lang="es-ES" sz="1200" b="1" i="0" kern="1200" smtClean="0">
                <a:solidFill>
                  <a:schemeClr val="tx1"/>
                </a:solidFill>
                <a:effectLst/>
                <a:latin typeface="+mn-lt"/>
                <a:ea typeface="+mn-ea"/>
                <a:cs typeface="+mn-cs"/>
              </a:rPr>
              <a:t>comprender, interpretar y generar lenguaje humano</a:t>
            </a:r>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194977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0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7195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4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9022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4048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r>
              <a:rPr lang="es-ES"/>
              <a:t>MSc. Aracelys García Armenteros</a:t>
            </a:r>
          </a:p>
        </p:txBody>
      </p:sp>
      <p:sp>
        <p:nvSpPr>
          <p:cNvPr id="4" name="Footer Placeholder 3"/>
          <p:cNvSpPr>
            <a:spLocks noGrp="1"/>
          </p:cNvSpPr>
          <p:nvPr>
            <p:ph type="ftr" sz="quarter" idx="11"/>
          </p:nvPr>
        </p:nvSpPr>
        <p:spPr/>
        <p:txBody>
          <a:bodyPr/>
          <a:lstStyle/>
          <a:p>
            <a:r>
              <a:rPr lang="es-ES"/>
              <a:t>Gestión de Proyectos. Planificación y estimación.</a:t>
            </a:r>
          </a:p>
        </p:txBody>
      </p:sp>
      <p:sp>
        <p:nvSpPr>
          <p:cNvPr id="5" name="Slide Number Placeholder 4"/>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8215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97941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s-ES"/>
              <a:t>MSc. Aracelys García Armenteros</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s-ES"/>
              <a:t>Gestión de Proyectos. Planificación y estimación.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C4EE0E4-9C8A-4542-A491-318C3530755B}" type="slidenum">
              <a:rPr lang="es-ES" smtClean="0"/>
              <a:t>‹Nº›</a:t>
            </a:fld>
            <a:endParaRPr lang="es-ES"/>
          </a:p>
        </p:txBody>
      </p:sp>
    </p:spTree>
    <p:extLst>
      <p:ext uri="{BB962C8B-B14F-4D97-AF65-F5344CB8AC3E}">
        <p14:creationId xmlns:p14="http://schemas.microsoft.com/office/powerpoint/2010/main" val="23468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6560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378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1136500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1826685" y="252414"/>
            <a:ext cx="9749367" cy="1189037"/>
          </a:xfrm>
        </p:spPr>
        <p:txBody>
          <a:bodyPr/>
          <a:lstStyle/>
          <a:p>
            <a:r>
              <a:rPr lang="es-ES"/>
              <a:t>Haga clic para modificar el estilo de título del patrón</a:t>
            </a:r>
            <a:endParaRPr lang="en-US"/>
          </a:p>
        </p:txBody>
      </p:sp>
      <p:sp>
        <p:nvSpPr>
          <p:cNvPr id="3" name="Rectangle 7"/>
          <p:cNvSpPr>
            <a:spLocks noGrp="1" noChangeArrowheads="1"/>
          </p:cNvSpPr>
          <p:nvPr>
            <p:ph type="dt" idx="10"/>
          </p:nvPr>
        </p:nvSpPr>
        <p:spPr>
          <a:ln/>
        </p:spPr>
        <p:txBody>
          <a:bodyPr/>
          <a:lstStyle>
            <a:lvl1pPr>
              <a:defRPr/>
            </a:lvl1pPr>
          </a:lstStyle>
          <a:p>
            <a:pPr>
              <a:defRPr/>
            </a:pPr>
            <a:r>
              <a:rPr lang="es-ES"/>
              <a:t>MSc. Aracelys García Armenteros</a:t>
            </a:r>
            <a:endParaRPr lang="es-ES_tradnl"/>
          </a:p>
        </p:txBody>
      </p:sp>
      <p:sp>
        <p:nvSpPr>
          <p:cNvPr id="4" name="Rectangle 8"/>
          <p:cNvSpPr>
            <a:spLocks noGrp="1" noChangeArrowheads="1"/>
          </p:cNvSpPr>
          <p:nvPr>
            <p:ph type="ftr" idx="11"/>
          </p:nvPr>
        </p:nvSpPr>
        <p:spPr>
          <a:ln/>
        </p:spPr>
        <p:txBody>
          <a:bodyPr/>
          <a:lstStyle>
            <a:lvl1pPr>
              <a:defRPr/>
            </a:lvl1pPr>
          </a:lstStyle>
          <a:p>
            <a:pPr>
              <a:defRPr/>
            </a:pPr>
            <a:r>
              <a:rPr lang="es-ES"/>
              <a:t>Gestión de Proyectos. Planificación y estimación.</a:t>
            </a:r>
            <a:endParaRPr lang="en-US"/>
          </a:p>
        </p:txBody>
      </p:sp>
      <p:sp>
        <p:nvSpPr>
          <p:cNvPr id="5" name="Rectangle 9"/>
          <p:cNvSpPr>
            <a:spLocks noGrp="1" noChangeArrowheads="1"/>
          </p:cNvSpPr>
          <p:nvPr>
            <p:ph type="sldNum" idx="12"/>
          </p:nvPr>
        </p:nvSpPr>
        <p:spPr>
          <a:ln/>
        </p:spPr>
        <p:txBody>
          <a:bodyPr/>
          <a:lstStyle>
            <a:lvl1pPr>
              <a:defRPr/>
            </a:lvl1pPr>
          </a:lstStyle>
          <a:p>
            <a:fld id="{263DA378-A288-4DEE-B6C0-5484F297BAE2}" type="slidenum">
              <a:rPr lang="en-US"/>
              <a:pPr/>
              <a:t>‹Nº›</a:t>
            </a:fld>
            <a:endParaRPr lang="en-US"/>
          </a:p>
        </p:txBody>
      </p:sp>
    </p:spTree>
    <p:extLst>
      <p:ext uri="{BB962C8B-B14F-4D97-AF65-F5344CB8AC3E}">
        <p14:creationId xmlns:p14="http://schemas.microsoft.com/office/powerpoint/2010/main" val="144970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s-ES"/>
              <a:t>MSc. Aracelys García Armenteros</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s-ES"/>
              <a:t>Gestión de Proyectos. Planificación y estimación.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C4EE0E4-9C8A-4542-A491-318C3530755B}"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47003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hf sldNum="0"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1761116" y="2168338"/>
            <a:ext cx="8418342" cy="1752600"/>
          </a:xfrm>
        </p:spPr>
        <p:txBody>
          <a:bodyPr>
            <a:norm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ES" dirty="0" smtClean="0"/>
              <a:t>Ingeniería de Requerimientos  </a:t>
            </a:r>
            <a:endParaRPr lang="es-ES_tradnl" sz="4800" dirty="0"/>
          </a:p>
        </p:txBody>
      </p:sp>
      <p:sp>
        <p:nvSpPr>
          <p:cNvPr id="3" name="CuadroTexto 2"/>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a:t>
            </a:r>
            <a:r>
              <a:rPr lang="es-ES" sz="2400" dirty="0" smtClean="0">
                <a:latin typeface="+mj-lt"/>
              </a:rPr>
              <a:t>Software</a:t>
            </a:r>
            <a:endParaRPr lang="es-ES" sz="2400" dirty="0">
              <a:latin typeface="+mj-lt"/>
            </a:endParaRPr>
          </a:p>
        </p:txBody>
      </p:sp>
    </p:spTree>
    <p:extLst>
      <p:ext uri="{BB962C8B-B14F-4D97-AF65-F5344CB8AC3E}">
        <p14:creationId xmlns:p14="http://schemas.microsoft.com/office/powerpoint/2010/main" val="3810362731"/>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576470" y="1729410"/>
            <a:ext cx="11410121" cy="4769576"/>
          </a:xfrm>
        </p:spPr>
        <p:txBody>
          <a:bodyPr>
            <a:norm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smtClean="0">
                <a:cs typeface="Times New Roman" panose="02020603050405020304" pitchFamily="18" charset="0"/>
              </a:rPr>
              <a:t>Concepto Requerimientos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smtClean="0">
                <a:cs typeface="Times New Roman" panose="02020603050405020304" pitchFamily="18" charset="0"/>
              </a:rPr>
              <a:t>Comprensión de los requerimientos</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smtClean="0">
                <a:cs typeface="Times New Roman" panose="02020603050405020304" pitchFamily="18" charset="0"/>
              </a:rPr>
              <a:t>Ingeniería de requerimientos</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smtClean="0">
                <a:cs typeface="Times New Roman" panose="02020603050405020304" pitchFamily="18" charset="0"/>
              </a:rPr>
              <a:t>Tareas de la </a:t>
            </a:r>
            <a:r>
              <a:rPr lang="es-ES_tradnl" sz="2600" dirty="0">
                <a:cs typeface="Times New Roman" panose="02020603050405020304" pitchFamily="18" charset="0"/>
              </a:rPr>
              <a:t>Ingeniería de </a:t>
            </a:r>
            <a:r>
              <a:rPr lang="es-ES_tradnl" sz="2600" dirty="0" smtClean="0">
                <a:cs typeface="Times New Roman" panose="02020603050405020304" pitchFamily="18" charset="0"/>
              </a:rPr>
              <a:t>requerimientos:</a:t>
            </a:r>
            <a:r>
              <a:rPr lang="es-ES" sz="2600" dirty="0">
                <a:cs typeface="Times New Roman" panose="02020603050405020304" pitchFamily="18" charset="0"/>
              </a:rPr>
              <a:t>concepción, indagación, elaboración, negociación, especificación, validación y administración.</a:t>
            </a:r>
            <a:endParaRPr lang="es-ES_tradnl" sz="26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smtClean="0">
                <a:cs typeface="Times New Roman" panose="02020603050405020304" pitchFamily="18" charset="0"/>
              </a:rPr>
              <a:t>Etapas requeridas para establecer </a:t>
            </a:r>
            <a:r>
              <a:rPr lang="es-ES_tradnl" sz="2600" dirty="0">
                <a:cs typeface="Times New Roman" panose="02020603050405020304" pitchFamily="18" charset="0"/>
              </a:rPr>
              <a:t>las </a:t>
            </a:r>
            <a:r>
              <a:rPr lang="es-ES_tradnl" sz="2600" dirty="0" smtClean="0">
                <a:cs typeface="Times New Roman" panose="02020603050405020304" pitchFamily="18" charset="0"/>
              </a:rPr>
              <a:t>bases: identificación </a:t>
            </a:r>
            <a:r>
              <a:rPr lang="es-ES_tradnl" sz="2600" dirty="0">
                <a:cs typeface="Times New Roman" panose="02020603050405020304" pitchFamily="18" charset="0"/>
              </a:rPr>
              <a:t>de los </a:t>
            </a:r>
            <a:r>
              <a:rPr lang="es-ES_tradnl" sz="2600" dirty="0" smtClean="0">
                <a:cs typeface="Times New Roman" panose="02020603050405020304" pitchFamily="18" charset="0"/>
              </a:rPr>
              <a:t>participantes, </a:t>
            </a:r>
            <a:r>
              <a:rPr lang="es-ES" sz="2600" dirty="0" smtClean="0">
                <a:cs typeface="Times New Roman" panose="02020603050405020304" pitchFamily="18" charset="0"/>
              </a:rPr>
              <a:t>reconocer </a:t>
            </a:r>
            <a:r>
              <a:rPr lang="es-ES" sz="2600" dirty="0">
                <a:cs typeface="Times New Roman" panose="02020603050405020304" pitchFamily="18" charset="0"/>
              </a:rPr>
              <a:t>los múltiples puntos de vista, </a:t>
            </a:r>
            <a:r>
              <a:rPr lang="es-ES" sz="2600" dirty="0" smtClean="0">
                <a:cs typeface="Times New Roman" panose="02020603050405020304" pitchFamily="18" charset="0"/>
              </a:rPr>
              <a:t>trabajar </a:t>
            </a:r>
            <a:r>
              <a:rPr lang="es-ES" sz="2600" dirty="0">
                <a:cs typeface="Times New Roman" panose="02020603050405020304" pitchFamily="18" charset="0"/>
              </a:rPr>
              <a:t>hacia la colaboración, </a:t>
            </a:r>
            <a:r>
              <a:rPr lang="es-ES" sz="2600" dirty="0" smtClean="0">
                <a:cs typeface="Times New Roman" panose="02020603050405020304" pitchFamily="18" charset="0"/>
              </a:rPr>
              <a:t>hacer </a:t>
            </a:r>
            <a:r>
              <a:rPr lang="es-ES" sz="2600" dirty="0">
                <a:cs typeface="Times New Roman" panose="02020603050405020304" pitchFamily="18" charset="0"/>
              </a:rPr>
              <a:t>las primeras </a:t>
            </a:r>
            <a:r>
              <a:rPr lang="es-ES" sz="2600" dirty="0" smtClean="0">
                <a:cs typeface="Times New Roman" panose="02020603050405020304" pitchFamily="18" charset="0"/>
              </a:rPr>
              <a:t>preguntas</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a:xfrm>
            <a:off x="1097280" y="286603"/>
            <a:ext cx="10058400" cy="1224145"/>
          </a:xfrm>
        </p:spPr>
        <p:txBody>
          <a:bodyPr/>
          <a:lstStyle/>
          <a:p>
            <a:r>
              <a:rPr lang="es-ES" dirty="0"/>
              <a:t>Sumario:</a:t>
            </a:r>
          </a:p>
        </p:txBody>
      </p:sp>
      <p:sp>
        <p:nvSpPr>
          <p:cNvPr id="3" name="Marcador de pie de página 2"/>
          <p:cNvSpPr>
            <a:spLocks noGrp="1"/>
          </p:cNvSpPr>
          <p:nvPr>
            <p:ph type="ftr" sz="quarter" idx="11"/>
          </p:nvPr>
        </p:nvSpPr>
        <p:spPr/>
        <p:txBody>
          <a:bodyPr/>
          <a:lstStyle/>
          <a:p>
            <a:r>
              <a:rPr lang="es-ES_tradnl" dirty="0" smtClean="0"/>
              <a:t>Introducción  a la IS</a:t>
            </a:r>
            <a:endParaRPr lang="es-ES" dirty="0"/>
          </a:p>
        </p:txBody>
      </p:sp>
    </p:spTree>
    <p:extLst>
      <p:ext uri="{BB962C8B-B14F-4D97-AF65-F5344CB8AC3E}">
        <p14:creationId xmlns:p14="http://schemas.microsoft.com/office/powerpoint/2010/main" val="357663210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nodeType="afterEffect">
                                  <p:stCondLst>
                                    <p:cond delay="0"/>
                                  </p:stCondLst>
                                  <p:childTnLst>
                                    <p:set>
                                      <p:cBhvr additive="repl">
                                        <p:cTn id="6" dur="1" fill="hold">
                                          <p:stCondLst>
                                            <p:cond delay="0"/>
                                          </p:stCondLst>
                                        </p:cTn>
                                        <p:tgtEl>
                                          <p:spTgt spid="5122">
                                            <p:txEl>
                                              <p:pRg st="0" end="0"/>
                                            </p:txEl>
                                          </p:spTgt>
                                        </p:tgtEl>
                                        <p:attrNameLst>
                                          <p:attrName>style.visibility</p:attrName>
                                        </p:attrNameLst>
                                      </p:cBhvr>
                                      <p:to>
                                        <p:strVal val="visible"/>
                                      </p:to>
                                    </p:set>
                                    <p:animEffect transition="in" filter="wipe(up)">
                                      <p:cBhvr additive="repl">
                                        <p:cTn id="7" dur="500"/>
                                        <p:tgtEl>
                                          <p:spTgt spid="5122">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additive="repl">
                                        <p:cTn id="10" dur="1" fill="hold">
                                          <p:stCondLst>
                                            <p:cond delay="0"/>
                                          </p:stCondLst>
                                        </p:cTn>
                                        <p:tgtEl>
                                          <p:spTgt spid="5122">
                                            <p:txEl>
                                              <p:pRg st="1" end="1"/>
                                            </p:txEl>
                                          </p:spTgt>
                                        </p:tgtEl>
                                        <p:attrNameLst>
                                          <p:attrName>style.visibility</p:attrName>
                                        </p:attrNameLst>
                                      </p:cBhvr>
                                      <p:to>
                                        <p:strVal val="visible"/>
                                      </p:to>
                                    </p:set>
                                    <p:animEffect transition="in" filter="wipe(up)">
                                      <p:cBhvr additive="repl">
                                        <p:cTn id="11" dur="500"/>
                                        <p:tgtEl>
                                          <p:spTgt spid="5122">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additive="repl">
                                        <p:cTn id="14" dur="1" fill="hold">
                                          <p:stCondLst>
                                            <p:cond delay="0"/>
                                          </p:stCondLst>
                                        </p:cTn>
                                        <p:tgtEl>
                                          <p:spTgt spid="5122">
                                            <p:txEl>
                                              <p:pRg st="2" end="2"/>
                                            </p:txEl>
                                          </p:spTgt>
                                        </p:tgtEl>
                                        <p:attrNameLst>
                                          <p:attrName>style.visibility</p:attrName>
                                        </p:attrNameLst>
                                      </p:cBhvr>
                                      <p:to>
                                        <p:strVal val="visible"/>
                                      </p:to>
                                    </p:set>
                                    <p:animEffect transition="in" filter="wipe(up)">
                                      <p:cBhvr additive="repl">
                                        <p:cTn id="15" dur="500"/>
                                        <p:tgtEl>
                                          <p:spTgt spid="5122">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additive="repl">
                                        <p:cTn id="18" dur="1" fill="hold">
                                          <p:stCondLst>
                                            <p:cond delay="0"/>
                                          </p:stCondLst>
                                        </p:cTn>
                                        <p:tgtEl>
                                          <p:spTgt spid="5122">
                                            <p:txEl>
                                              <p:pRg st="4" end="4"/>
                                            </p:txEl>
                                          </p:spTgt>
                                        </p:tgtEl>
                                        <p:attrNameLst>
                                          <p:attrName>style.visibility</p:attrName>
                                        </p:attrNameLst>
                                      </p:cBhvr>
                                      <p:to>
                                        <p:strVal val="visible"/>
                                      </p:to>
                                    </p:set>
                                    <p:animEffect transition="in" filter="wipe(up)">
                                      <p:cBhvr additive="repl">
                                        <p:cTn id="19" dur="500"/>
                                        <p:tgtEl>
                                          <p:spTgt spid="5122">
                                            <p:txEl>
                                              <p:pRg st="4" end="4"/>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additive="repl">
                                        <p:cTn id="22" dur="1" fill="hold">
                                          <p:stCondLst>
                                            <p:cond delay="0"/>
                                          </p:stCondLst>
                                        </p:cTn>
                                        <p:tgtEl>
                                          <p:spTgt spid="5122">
                                            <p:txEl>
                                              <p:pRg st="3" end="3"/>
                                            </p:txEl>
                                          </p:spTgt>
                                        </p:tgtEl>
                                        <p:attrNameLst>
                                          <p:attrName>style.visibility</p:attrName>
                                        </p:attrNameLst>
                                      </p:cBhvr>
                                      <p:to>
                                        <p:strVal val="visible"/>
                                      </p:to>
                                    </p:set>
                                    <p:animEffect transition="in" filter="wipe(up)">
                                      <p:cBhvr additive="repl">
                                        <p:cTn id="23" dur="500"/>
                                        <p:tgtEl>
                                          <p:spTgt spid="51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576470" y="1729410"/>
            <a:ext cx="11410121" cy="4769576"/>
          </a:xfrm>
        </p:spPr>
        <p:txBody>
          <a:bodyPr>
            <a:normAutofit/>
          </a:bodyPr>
          <a:lstStyle/>
          <a:p>
            <a:pPr marL="552450" indent="-552450">
              <a:buFont typeface="+mj-lt"/>
              <a:buAutoNum type="arabicPeriod" startAt="6"/>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a:cs typeface="Times New Roman" panose="02020603050405020304" pitchFamily="18" charset="0"/>
              </a:rPr>
              <a:t>Problemas Comunes en la Ingeniería de </a:t>
            </a:r>
            <a:r>
              <a:rPr lang="es-ES" sz="2600" dirty="0" smtClean="0">
                <a:cs typeface="Times New Roman" panose="02020603050405020304" pitchFamily="18" charset="0"/>
              </a:rPr>
              <a:t>Requerimientos</a:t>
            </a:r>
          </a:p>
          <a:p>
            <a:pPr marL="552450" indent="-552450">
              <a:buFont typeface="+mj-lt"/>
              <a:buAutoNum type="arabicPeriod" startAt="6"/>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a:t>Casos de Estudio </a:t>
            </a:r>
            <a:r>
              <a:rPr lang="es-ES" sz="2600" dirty="0" smtClean="0"/>
              <a:t>Reales</a:t>
            </a:r>
          </a:p>
          <a:p>
            <a:pPr marL="552450" indent="-552450">
              <a:buFont typeface="+mj-lt"/>
              <a:buAutoNum type="arabicPeriod" startAt="6"/>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a:cs typeface="Times New Roman" panose="02020603050405020304" pitchFamily="18" charset="0"/>
              </a:rPr>
              <a:t>Herramientas de Software para la Ingeniería de </a:t>
            </a:r>
            <a:r>
              <a:rPr lang="es-ES" sz="2600" dirty="0" smtClean="0">
                <a:cs typeface="Times New Roman" panose="02020603050405020304" pitchFamily="18" charset="0"/>
              </a:rPr>
              <a:t>Requerimientos</a:t>
            </a:r>
          </a:p>
          <a:p>
            <a:pPr marL="552450" indent="-552450">
              <a:buFont typeface="+mj-lt"/>
              <a:buAutoNum type="arabicPeriod" startAt="6"/>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a:cs typeface="Times New Roman" panose="02020603050405020304" pitchFamily="18" charset="0"/>
              </a:rPr>
              <a:t>Tendencias Actuales en la Ingeniería de Requerimientos</a:t>
            </a:r>
            <a:endParaRPr lang="es-ES" sz="2800" dirty="0">
              <a:cs typeface="Times New Roman" panose="02020603050405020304" pitchFamily="18" charset="0"/>
            </a:endParaRPr>
          </a:p>
          <a:p>
            <a:pPr marL="552450" indent="-552450">
              <a:buFont typeface="+mj-lt"/>
              <a:buAutoNum type="arabicPeriod" startAt="6"/>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600" dirty="0" smtClean="0">
              <a:cs typeface="Times New Roman" panose="02020603050405020304" pitchFamily="18" charset="0"/>
            </a:endParaRPr>
          </a:p>
          <a:p>
            <a:pPr marL="552450" indent="-552450">
              <a:buFont typeface="Wingdings" panose="05000000000000000000" pitchFamily="2" charset="2"/>
              <a:buAutoNum type="arabicPeriod" startAt="8"/>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startAt="8"/>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a:xfrm>
            <a:off x="1097280" y="286603"/>
            <a:ext cx="10058400" cy="1224145"/>
          </a:xfrm>
        </p:spPr>
        <p:txBody>
          <a:bodyPr/>
          <a:lstStyle/>
          <a:p>
            <a:r>
              <a:rPr lang="es-ES" dirty="0"/>
              <a:t>Sumario:</a:t>
            </a:r>
          </a:p>
        </p:txBody>
      </p:sp>
      <p:sp>
        <p:nvSpPr>
          <p:cNvPr id="3" name="Marcador de pie de página 2"/>
          <p:cNvSpPr>
            <a:spLocks noGrp="1"/>
          </p:cNvSpPr>
          <p:nvPr>
            <p:ph type="ftr" sz="quarter" idx="11"/>
          </p:nvPr>
        </p:nvSpPr>
        <p:spPr/>
        <p:txBody>
          <a:bodyPr/>
          <a:lstStyle/>
          <a:p>
            <a:r>
              <a:rPr lang="es-ES_tradnl" dirty="0" smtClean="0"/>
              <a:t>Introducción  a la IS</a:t>
            </a:r>
            <a:endParaRPr lang="es-ES" dirty="0"/>
          </a:p>
        </p:txBody>
      </p:sp>
    </p:spTree>
    <p:extLst>
      <p:ext uri="{BB962C8B-B14F-4D97-AF65-F5344CB8AC3E}">
        <p14:creationId xmlns:p14="http://schemas.microsoft.com/office/powerpoint/2010/main" val="326495910"/>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¿Qué son </a:t>
            </a:r>
            <a:r>
              <a:rPr lang="es-ES" dirty="0" smtClean="0"/>
              <a:t>requerimientos de software?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38539" y="1710187"/>
            <a:ext cx="11628783" cy="4271513"/>
          </a:xfrm>
        </p:spPr>
        <p:txBody>
          <a:bodyPr>
            <a:noAutofit/>
          </a:bodyPr>
          <a:lstStyle/>
          <a:p>
            <a:pPr>
              <a:lnSpc>
                <a:spcPct val="100000"/>
              </a:lnSpc>
              <a:buFont typeface="Wingdings" pitchFamily="2" charset="2"/>
              <a:buChar char="Ø"/>
            </a:pPr>
            <a:r>
              <a:rPr lang="es-ES" sz="2600" b="1" dirty="0">
                <a:solidFill>
                  <a:srgbClr val="000000"/>
                </a:solidFill>
                <a:latin typeface="+mj-lt"/>
              </a:rPr>
              <a:t>“Una condición o capacidad necesaria para resolver un problema o alcanzar un objetivo” (IEEE, 1983 ) </a:t>
            </a:r>
            <a:endParaRPr lang="es-ES" sz="2600" b="1" dirty="0" smtClean="0">
              <a:solidFill>
                <a:srgbClr val="000000"/>
              </a:solidFill>
              <a:latin typeface="+mj-lt"/>
            </a:endParaRPr>
          </a:p>
          <a:p>
            <a:pPr>
              <a:lnSpc>
                <a:spcPct val="100000"/>
              </a:lnSpc>
              <a:buFont typeface="Wingdings" pitchFamily="2" charset="2"/>
              <a:buChar char="Ø"/>
            </a:pPr>
            <a:r>
              <a:rPr lang="es-ES" sz="2600" dirty="0" smtClean="0">
                <a:solidFill>
                  <a:srgbClr val="000000"/>
                </a:solidFill>
                <a:latin typeface="+mj-lt"/>
              </a:rPr>
              <a:t>Dependen </a:t>
            </a:r>
            <a:r>
              <a:rPr lang="es-ES" sz="2600" dirty="0">
                <a:solidFill>
                  <a:srgbClr val="000000"/>
                </a:solidFill>
                <a:latin typeface="+mj-lt"/>
              </a:rPr>
              <a:t>de la comunicación entre el cliente, los usuarios  y el grupo de desarrollo de software</a:t>
            </a:r>
          </a:p>
          <a:p>
            <a:pPr>
              <a:lnSpc>
                <a:spcPct val="100000"/>
              </a:lnSpc>
              <a:buFont typeface="Wingdings" pitchFamily="2" charset="2"/>
              <a:buChar char="Ø"/>
            </a:pPr>
            <a:r>
              <a:rPr lang="es-ES" sz="2600" dirty="0">
                <a:solidFill>
                  <a:srgbClr val="000000"/>
                </a:solidFill>
                <a:latin typeface="+mj-lt"/>
              </a:rPr>
              <a:t>Constituyen una base para la validación, verificación y aceptación del producto </a:t>
            </a: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30814718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¿Qué son </a:t>
            </a:r>
            <a:r>
              <a:rPr lang="es-ES" dirty="0" smtClean="0"/>
              <a:t>requerimientos de software?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563217" y="1911731"/>
            <a:ext cx="4803913" cy="4250530"/>
          </a:xfrm>
        </p:spPr>
        <p:txBody>
          <a:bodyPr>
            <a:noAutofit/>
          </a:bodyPr>
          <a:lstStyle/>
          <a:p>
            <a:pPr>
              <a:lnSpc>
                <a:spcPct val="100000"/>
              </a:lnSpc>
              <a:buFont typeface="Wingdings" pitchFamily="2" charset="2"/>
              <a:buChar char="Ø"/>
            </a:pPr>
            <a:r>
              <a:rPr lang="es-ES" sz="2400" b="1" dirty="0">
                <a:solidFill>
                  <a:srgbClr val="000000"/>
                </a:solidFill>
                <a:latin typeface="+mj-lt"/>
              </a:rPr>
              <a:t>Los requerimientos de software son descripciones detalladas de las funcionalidades, características y restricciones que debe cumplir un sistema de software. Estos requerimientos son fundamentales para guiar el desarrollo del software y asegurar que el producto final satisfaga las necesidades y expectativas de los usuarios y </a:t>
            </a:r>
            <a:r>
              <a:rPr lang="es-ES" sz="2400" b="1" dirty="0" err="1">
                <a:solidFill>
                  <a:srgbClr val="000000"/>
                </a:solidFill>
                <a:latin typeface="+mj-lt"/>
              </a:rPr>
              <a:t>stakeholders</a:t>
            </a:r>
            <a:endParaRPr lang="es-ES" sz="24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pic>
        <p:nvPicPr>
          <p:cNvPr id="9" name="0 Imagen"/>
          <p:cNvPicPr/>
          <p:nvPr/>
        </p:nvPicPr>
        <p:blipFill>
          <a:blip r:embed="rId3">
            <a:extLst>
              <a:ext uri="{28A0092B-C50C-407E-A947-70E740481C1C}">
                <a14:useLocalDpi xmlns:a14="http://schemas.microsoft.com/office/drawing/2010/main" val="0"/>
              </a:ext>
            </a:extLst>
          </a:blip>
          <a:stretch>
            <a:fillRect/>
          </a:stretch>
        </p:blipFill>
        <p:spPr>
          <a:xfrm>
            <a:off x="5088835" y="2070101"/>
            <a:ext cx="6897755" cy="4290942"/>
          </a:xfrm>
          <a:prstGeom prst="rect">
            <a:avLst/>
          </a:prstGeom>
        </p:spPr>
      </p:pic>
    </p:spTree>
    <p:extLst>
      <p:ext uri="{BB962C8B-B14F-4D97-AF65-F5344CB8AC3E}">
        <p14:creationId xmlns:p14="http://schemas.microsoft.com/office/powerpoint/2010/main" val="28885047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cs typeface="Times New Roman" panose="02020603050405020304" pitchFamily="18" charset="0"/>
              </a:rPr>
              <a:t>Comprensión </a:t>
            </a:r>
            <a:r>
              <a:rPr lang="es-ES" dirty="0">
                <a:cs typeface="Times New Roman" panose="02020603050405020304" pitchFamily="18" charset="0"/>
              </a:rPr>
              <a:t>de los requerimientos</a:t>
            </a:r>
            <a:br>
              <a:rPr lang="es-ES" dirty="0">
                <a:cs typeface="Times New Roman" panose="02020603050405020304" pitchFamily="18" charset="0"/>
              </a:rPr>
            </a:b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0" y="1710187"/>
            <a:ext cx="12006470" cy="4271513"/>
          </a:xfrm>
        </p:spPr>
        <p:txBody>
          <a:bodyPr>
            <a:noAutofit/>
          </a:bodyPr>
          <a:lstStyle/>
          <a:p>
            <a:pPr>
              <a:lnSpc>
                <a:spcPct val="150000"/>
              </a:lnSpc>
              <a:buFont typeface="Wingdings" pitchFamily="2" charset="2"/>
              <a:buChar char="Ø"/>
            </a:pPr>
            <a:r>
              <a:rPr lang="es-ES" sz="2600" b="1" dirty="0">
                <a:solidFill>
                  <a:srgbClr val="000000"/>
                </a:solidFill>
                <a:latin typeface="+mj-lt"/>
              </a:rPr>
              <a:t>Entender los requerimientos de un problema es una de las tareas más difíciles que enfrenta</a:t>
            </a:r>
          </a:p>
          <a:p>
            <a:pPr>
              <a:lnSpc>
                <a:spcPct val="150000"/>
              </a:lnSpc>
              <a:buFont typeface="Wingdings" pitchFamily="2" charset="2"/>
              <a:buChar char="Ø"/>
            </a:pPr>
            <a:r>
              <a:rPr lang="es-ES" sz="2600" i="1" dirty="0" smtClean="0">
                <a:solidFill>
                  <a:srgbClr val="000000"/>
                </a:solidFill>
                <a:latin typeface="+mj-lt"/>
              </a:rPr>
              <a:t>“Es </a:t>
            </a:r>
            <a:r>
              <a:rPr lang="es-ES" sz="2600" i="1" dirty="0">
                <a:solidFill>
                  <a:srgbClr val="000000"/>
                </a:solidFill>
                <a:latin typeface="+mj-lt"/>
              </a:rPr>
              <a:t>la peor de las pesadillas. Un cliente entra a la oficina, toma asiento, lo mira a uno fijamente a </a:t>
            </a:r>
            <a:r>
              <a:rPr lang="es-ES" sz="2600" i="1" dirty="0" smtClean="0">
                <a:solidFill>
                  <a:srgbClr val="000000"/>
                </a:solidFill>
                <a:latin typeface="+mj-lt"/>
              </a:rPr>
              <a:t>los ojos </a:t>
            </a:r>
            <a:r>
              <a:rPr lang="es-ES" sz="2600" i="1" dirty="0">
                <a:solidFill>
                  <a:srgbClr val="000000"/>
                </a:solidFill>
                <a:latin typeface="+mj-lt"/>
              </a:rPr>
              <a:t>y dice: “Sé que cree que entiende lo que digo, pero lo que usted no entiende es que lo que </a:t>
            </a:r>
            <a:r>
              <a:rPr lang="es-ES" sz="2600" i="1" dirty="0" smtClean="0">
                <a:solidFill>
                  <a:srgbClr val="000000"/>
                </a:solidFill>
                <a:latin typeface="+mj-lt"/>
              </a:rPr>
              <a:t>digo no </a:t>
            </a:r>
            <a:r>
              <a:rPr lang="es-ES" sz="2600" i="1" dirty="0">
                <a:solidFill>
                  <a:srgbClr val="000000"/>
                </a:solidFill>
                <a:latin typeface="+mj-lt"/>
              </a:rPr>
              <a:t>es lo que quiero decir.” Invariablemente, esto pasa cuando ya está avanzado el proyecto, </a:t>
            </a:r>
            <a:r>
              <a:rPr lang="es-ES" sz="2600" i="1" dirty="0" smtClean="0">
                <a:solidFill>
                  <a:srgbClr val="000000"/>
                </a:solidFill>
                <a:latin typeface="+mj-lt"/>
              </a:rPr>
              <a:t>después de </a:t>
            </a:r>
            <a:r>
              <a:rPr lang="es-ES" sz="2600" i="1" dirty="0">
                <a:solidFill>
                  <a:srgbClr val="000000"/>
                </a:solidFill>
                <a:latin typeface="+mj-lt"/>
              </a:rPr>
              <a:t>que se han hecho compromisos con los plazos de entrega, que hay reputaciones en juego y </a:t>
            </a:r>
            <a:r>
              <a:rPr lang="es-ES" sz="2600" i="1" dirty="0" smtClean="0">
                <a:solidFill>
                  <a:srgbClr val="000000"/>
                </a:solidFill>
                <a:latin typeface="+mj-lt"/>
              </a:rPr>
              <a:t>mucho dinero </a:t>
            </a:r>
            <a:r>
              <a:rPr lang="es-ES" sz="2600" i="1" dirty="0">
                <a:solidFill>
                  <a:srgbClr val="000000"/>
                </a:solidFill>
                <a:latin typeface="+mj-lt"/>
              </a:rPr>
              <a:t>invertido</a:t>
            </a:r>
            <a:r>
              <a:rPr lang="es-ES" sz="2600" i="1" dirty="0" smtClean="0">
                <a:solidFill>
                  <a:srgbClr val="000000"/>
                </a:solidFill>
                <a:latin typeface="+mj-lt"/>
              </a:rPr>
              <a:t>.”</a:t>
            </a:r>
            <a:r>
              <a:rPr lang="es-ES" sz="2600" i="1" dirty="0">
                <a:solidFill>
                  <a:srgbClr val="000000"/>
                </a:solidFill>
                <a:latin typeface="+mj-lt"/>
              </a:rPr>
              <a:t> Ralph </a:t>
            </a:r>
            <a:r>
              <a:rPr lang="es-ES" sz="2600" i="1" dirty="0" smtClean="0">
                <a:solidFill>
                  <a:srgbClr val="000000"/>
                </a:solidFill>
                <a:latin typeface="+mj-lt"/>
              </a:rPr>
              <a:t>Young</a:t>
            </a: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2747028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cs typeface="Times New Roman" panose="02020603050405020304" pitchFamily="18" charset="0"/>
              </a:rPr>
              <a:t>Comprensión </a:t>
            </a:r>
            <a:r>
              <a:rPr lang="es-ES" dirty="0">
                <a:cs typeface="Times New Roman" panose="02020603050405020304" pitchFamily="18" charset="0"/>
              </a:rPr>
              <a:t>de los requerimientos</a:t>
            </a:r>
            <a:br>
              <a:rPr lang="es-ES" dirty="0">
                <a:cs typeface="Times New Roman" panose="02020603050405020304" pitchFamily="18" charset="0"/>
              </a:rPr>
            </a:b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0" y="1710187"/>
            <a:ext cx="5327374" cy="4511709"/>
          </a:xfrm>
        </p:spPr>
        <p:txBody>
          <a:bodyPr>
            <a:noAutofit/>
          </a:bodyPr>
          <a:lstStyle/>
          <a:p>
            <a:pPr>
              <a:lnSpc>
                <a:spcPct val="150000"/>
              </a:lnSpc>
              <a:buFont typeface="Wingdings" pitchFamily="2" charset="2"/>
              <a:buChar char="Ø"/>
            </a:pPr>
            <a:r>
              <a:rPr lang="es-ES" sz="2600" b="1" dirty="0" smtClean="0">
                <a:solidFill>
                  <a:srgbClr val="000000"/>
                </a:solidFill>
                <a:latin typeface="+mj-lt"/>
              </a:rPr>
              <a:t>Una mirada rápida :</a:t>
            </a:r>
          </a:p>
          <a:p>
            <a:pPr marL="514350" indent="-514350">
              <a:lnSpc>
                <a:spcPct val="150000"/>
              </a:lnSpc>
              <a:buFont typeface="+mj-lt"/>
              <a:buAutoNum type="arabicPeriod"/>
            </a:pPr>
            <a:r>
              <a:rPr lang="es-ES" sz="2800" b="1" dirty="0">
                <a:solidFill>
                  <a:schemeClr val="tx1"/>
                </a:solidFill>
              </a:rPr>
              <a:t>¿Qué es? </a:t>
            </a:r>
            <a:endParaRPr lang="es-ES" sz="2800" b="1" dirty="0" smtClean="0">
              <a:solidFill>
                <a:schemeClr val="tx1"/>
              </a:solidFill>
            </a:endParaRPr>
          </a:p>
          <a:p>
            <a:pPr marL="514350" indent="-514350">
              <a:lnSpc>
                <a:spcPct val="150000"/>
              </a:lnSpc>
              <a:buFont typeface="+mj-lt"/>
              <a:buAutoNum type="arabicPeriod"/>
            </a:pPr>
            <a:r>
              <a:rPr lang="es-ES" sz="2800" b="1" dirty="0">
                <a:solidFill>
                  <a:schemeClr val="tx1"/>
                </a:solidFill>
              </a:rPr>
              <a:t>¿Quién lo hace? </a:t>
            </a:r>
            <a:endParaRPr lang="es-ES" sz="2800" b="1" dirty="0" smtClean="0">
              <a:solidFill>
                <a:schemeClr val="tx1"/>
              </a:solidFill>
            </a:endParaRPr>
          </a:p>
          <a:p>
            <a:pPr marL="514350" indent="-514350">
              <a:lnSpc>
                <a:spcPct val="150000"/>
              </a:lnSpc>
              <a:buFont typeface="+mj-lt"/>
              <a:buAutoNum type="arabicPeriod"/>
            </a:pPr>
            <a:r>
              <a:rPr lang="es-ES" sz="2800" b="1" dirty="0">
                <a:solidFill>
                  <a:schemeClr val="tx1"/>
                </a:solidFill>
              </a:rPr>
              <a:t>¿Por qué es importante? </a:t>
            </a:r>
            <a:endParaRPr lang="es-ES" sz="2600" b="1" dirty="0" smtClean="0">
              <a:solidFill>
                <a:srgbClr val="000000"/>
              </a:solidFill>
              <a:latin typeface="+mj-lt"/>
            </a:endParaRPr>
          </a:p>
        </p:txBody>
      </p:sp>
      <p:sp>
        <p:nvSpPr>
          <p:cNvPr id="9" name="Marcador de contenido 2"/>
          <p:cNvSpPr txBox="1">
            <a:spLocks/>
          </p:cNvSpPr>
          <p:nvPr/>
        </p:nvSpPr>
        <p:spPr>
          <a:xfrm>
            <a:off x="6354417" y="1763143"/>
            <a:ext cx="5327374" cy="427151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lnSpc>
                <a:spcPct val="150000"/>
              </a:lnSpc>
              <a:buFont typeface="+mj-lt"/>
              <a:buAutoNum type="arabicPeriod"/>
            </a:pPr>
            <a:endParaRPr lang="es-ES" sz="2800" b="1" dirty="0" smtClean="0">
              <a:solidFill>
                <a:schemeClr val="tx1"/>
              </a:solidFill>
            </a:endParaRPr>
          </a:p>
          <a:p>
            <a:pPr marL="514350" indent="-514350">
              <a:lnSpc>
                <a:spcPct val="150000"/>
              </a:lnSpc>
              <a:buFont typeface="+mj-lt"/>
              <a:buAutoNum type="arabicPeriod" startAt="4"/>
            </a:pPr>
            <a:r>
              <a:rPr lang="es-ES" sz="2800" b="1" dirty="0">
                <a:solidFill>
                  <a:schemeClr val="tx1"/>
                </a:solidFill>
              </a:rPr>
              <a:t>¿Cuáles son los pasos?</a:t>
            </a:r>
            <a:endParaRPr lang="es-ES" sz="2600" b="1" dirty="0">
              <a:solidFill>
                <a:srgbClr val="000000"/>
              </a:solidFill>
            </a:endParaRPr>
          </a:p>
          <a:p>
            <a:pPr marL="514350" indent="-514350">
              <a:lnSpc>
                <a:spcPct val="150000"/>
              </a:lnSpc>
              <a:buFont typeface="+mj-lt"/>
              <a:buAutoNum type="arabicPeriod" startAt="4"/>
            </a:pPr>
            <a:r>
              <a:rPr lang="es-ES" sz="2800" b="1" dirty="0" smtClean="0">
                <a:solidFill>
                  <a:schemeClr val="tx1"/>
                </a:solidFill>
              </a:rPr>
              <a:t>¿</a:t>
            </a:r>
            <a:r>
              <a:rPr lang="es-ES" sz="2800" b="1" dirty="0">
                <a:solidFill>
                  <a:schemeClr val="tx1"/>
                </a:solidFill>
              </a:rPr>
              <a:t>Cuál es el producto final? </a:t>
            </a:r>
            <a:endParaRPr lang="es-ES" sz="2800" b="1" dirty="0" smtClean="0">
              <a:solidFill>
                <a:schemeClr val="tx1"/>
              </a:solidFill>
            </a:endParaRPr>
          </a:p>
          <a:p>
            <a:pPr marL="514350" indent="-514350">
              <a:lnSpc>
                <a:spcPct val="150000"/>
              </a:lnSpc>
              <a:buFont typeface="+mj-lt"/>
              <a:buAutoNum type="arabicPeriod" startAt="4"/>
            </a:pPr>
            <a:r>
              <a:rPr lang="es-ES" sz="2800" b="1" dirty="0">
                <a:solidFill>
                  <a:schemeClr val="tx1"/>
                </a:solidFill>
              </a:rPr>
              <a:t>¿Cómo me aseguro de que lo hice bien? </a:t>
            </a:r>
            <a:endParaRPr lang="es-ES" sz="2800" b="1" dirty="0" smtClean="0">
              <a:solidFill>
                <a:schemeClr val="tx1"/>
              </a:solidFill>
            </a:endParaRPr>
          </a:p>
        </p:txBody>
      </p:sp>
    </p:spTree>
    <p:extLst>
      <p:ext uri="{BB962C8B-B14F-4D97-AF65-F5344CB8AC3E}">
        <p14:creationId xmlns:p14="http://schemas.microsoft.com/office/powerpoint/2010/main" val="35647197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¿Qué es la ingeniería de requerimientos?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800" dirty="0"/>
              <a:t>“</a:t>
            </a:r>
            <a:r>
              <a:rPr lang="es-ES" sz="2800" i="1" dirty="0"/>
              <a:t>La parte más difícil al construir un sistema de software es decidir qué construir. Ninguna parte del trabajo invalida tanto al sistema resultante si ésta se hace mal. Nada es más difícil de corregir después.” </a:t>
            </a:r>
            <a:r>
              <a:rPr lang="es-ES" sz="2800" dirty="0"/>
              <a:t>Fred Brooks</a:t>
            </a:r>
          </a:p>
          <a:p>
            <a:pPr>
              <a:buFont typeface="Wingdings" pitchFamily="2" charset="2"/>
              <a:buChar char="Ø"/>
            </a:pPr>
            <a:r>
              <a:rPr lang="es-ES" sz="2800" dirty="0" smtClean="0">
                <a:solidFill>
                  <a:srgbClr val="000000"/>
                </a:solidFill>
                <a:latin typeface="+mj-lt"/>
              </a:rPr>
              <a:t> </a:t>
            </a:r>
            <a:r>
              <a:rPr lang="es-ES" sz="2800" b="1" dirty="0"/>
              <a:t>El espectro amplio de tareas y técnicas que llevan a entender los requerimientos </a:t>
            </a:r>
            <a:endParaRPr lang="es-ES" sz="2800" b="1" dirty="0" smtClean="0"/>
          </a:p>
          <a:p>
            <a:pPr>
              <a:buFont typeface="Wingdings" pitchFamily="2" charset="2"/>
              <a:buChar char="Ø"/>
            </a:pPr>
            <a:r>
              <a:rPr lang="es-ES" sz="2800" dirty="0" smtClean="0"/>
              <a:t>Es </a:t>
            </a:r>
            <a:r>
              <a:rPr lang="es-ES" sz="2800" dirty="0"/>
              <a:t>una de las acciones importantes de la ingeniería de software que </a:t>
            </a:r>
            <a:r>
              <a:rPr lang="es-ES" sz="2800" dirty="0" smtClean="0"/>
              <a:t>comienza durante </a:t>
            </a:r>
            <a:r>
              <a:rPr lang="es-ES" sz="2800" dirty="0"/>
              <a:t>la actividad de comunicación y continúa en la de </a:t>
            </a:r>
            <a:r>
              <a:rPr lang="es-ES" sz="2800" dirty="0" smtClean="0"/>
              <a:t>modelado</a:t>
            </a:r>
          </a:p>
          <a:p>
            <a:pPr>
              <a:buFont typeface="Wingdings" pitchFamily="2" charset="2"/>
              <a:buChar char="Ø"/>
            </a:pPr>
            <a:r>
              <a:rPr lang="es-ES" sz="2800" dirty="0"/>
              <a:t>Debe adaptarse a las </a:t>
            </a:r>
            <a:r>
              <a:rPr lang="es-ES" sz="2800" dirty="0" smtClean="0"/>
              <a:t>necesidades del </a:t>
            </a:r>
            <a:r>
              <a:rPr lang="es-ES" sz="2800" dirty="0"/>
              <a:t>proceso, del proyecto, del producto y de las personas que hacen el trabajo</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778340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¿Qué es la ingeniería de requerimientos?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91222"/>
          </a:xfrm>
        </p:spPr>
        <p:txBody>
          <a:bodyPr>
            <a:noAutofit/>
          </a:bodyPr>
          <a:lstStyle/>
          <a:p>
            <a:pPr>
              <a:buFont typeface="Wingdings" pitchFamily="2" charset="2"/>
              <a:buChar char="Ø"/>
            </a:pPr>
            <a:r>
              <a:rPr lang="es-ES" sz="2800" dirty="0" smtClean="0"/>
              <a:t>Tiende </a:t>
            </a:r>
            <a:r>
              <a:rPr lang="es-ES" sz="2800" dirty="0"/>
              <a:t>un puente para el diseño y la </a:t>
            </a:r>
            <a:r>
              <a:rPr lang="es-ES" sz="2800" dirty="0" smtClean="0"/>
              <a:t>construcción</a:t>
            </a:r>
          </a:p>
          <a:p>
            <a:pPr>
              <a:buFont typeface="Wingdings" pitchFamily="2" charset="2"/>
              <a:buChar char="Ø"/>
            </a:pPr>
            <a:endParaRPr lang="en-US" sz="2800" dirty="0" smtClean="0"/>
          </a:p>
          <a:p>
            <a:pPr>
              <a:buFont typeface="Wingdings" pitchFamily="2" charset="2"/>
              <a:buChar char="Ø"/>
            </a:pPr>
            <a:endParaRPr lang="en-US" sz="2800" dirty="0"/>
          </a:p>
          <a:p>
            <a:pPr>
              <a:buFont typeface="Wingdings" pitchFamily="2" charset="2"/>
              <a:buChar char="Ø"/>
            </a:pPr>
            <a:endParaRPr lang="en-US" sz="2800" dirty="0" smtClean="0"/>
          </a:p>
          <a:p>
            <a:pPr>
              <a:buFont typeface="Wingdings" pitchFamily="2" charset="2"/>
              <a:buChar char="Ø"/>
            </a:pPr>
            <a:endParaRPr lang="en-US" sz="2800" dirty="0"/>
          </a:p>
          <a:p>
            <a:pPr>
              <a:buFont typeface="Wingdings" pitchFamily="2" charset="2"/>
              <a:buChar char="Ø"/>
            </a:pPr>
            <a:endParaRPr lang="es-ES" sz="2800" dirty="0" smtClean="0"/>
          </a:p>
        </p:txBody>
      </p:sp>
      <p:pic>
        <p:nvPicPr>
          <p:cNvPr id="9" name="0 Imagen"/>
          <p:cNvPicPr/>
          <p:nvPr/>
        </p:nvPicPr>
        <p:blipFill>
          <a:blip r:embed="rId3">
            <a:extLst>
              <a:ext uri="{28A0092B-C50C-407E-A947-70E740481C1C}">
                <a14:useLocalDpi xmlns:a14="http://schemas.microsoft.com/office/drawing/2010/main" val="0"/>
              </a:ext>
            </a:extLst>
          </a:blip>
          <a:stretch>
            <a:fillRect/>
          </a:stretch>
        </p:blipFill>
        <p:spPr>
          <a:xfrm>
            <a:off x="982980" y="2467596"/>
            <a:ext cx="10184802" cy="3873570"/>
          </a:xfrm>
          <a:prstGeom prst="rect">
            <a:avLst/>
          </a:prstGeom>
        </p:spPr>
      </p:pic>
    </p:spTree>
    <p:extLst>
      <p:ext uri="{BB962C8B-B14F-4D97-AF65-F5344CB8AC3E}">
        <p14:creationId xmlns:p14="http://schemas.microsoft.com/office/powerpoint/2010/main" val="34092978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¿Qué es la ingeniería de requerimientos?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2484783"/>
            <a:ext cx="11933583" cy="3816626"/>
          </a:xfrm>
        </p:spPr>
        <p:txBody>
          <a:bodyPr>
            <a:noAutofit/>
          </a:bodyPr>
          <a:lstStyle/>
          <a:p>
            <a:pPr>
              <a:buFont typeface="Wingdings" pitchFamily="2" charset="2"/>
              <a:buChar char="Ø"/>
            </a:pPr>
            <a:r>
              <a:rPr lang="es-ES" sz="2800" dirty="0" smtClean="0"/>
              <a:t>“Proporciona </a:t>
            </a:r>
            <a:r>
              <a:rPr lang="es-ES" sz="2800" dirty="0"/>
              <a:t>el mecanismo apropiado para entender lo </a:t>
            </a:r>
            <a:r>
              <a:rPr lang="es-ES" sz="2800" dirty="0" smtClean="0"/>
              <a:t>que desea </a:t>
            </a:r>
            <a:r>
              <a:rPr lang="es-ES" sz="2800" dirty="0"/>
              <a:t>el cliente, </a:t>
            </a:r>
            <a:r>
              <a:rPr lang="es-ES" sz="2800" dirty="0" smtClean="0"/>
              <a:t>analizar </a:t>
            </a:r>
            <a:r>
              <a:rPr lang="es-ES" sz="2800" dirty="0"/>
              <a:t>las necesidades, evaluar la factibilidad, negociar una solución </a:t>
            </a:r>
            <a:r>
              <a:rPr lang="es-ES" sz="2800" dirty="0" smtClean="0"/>
              <a:t>razonable, especificar </a:t>
            </a:r>
            <a:r>
              <a:rPr lang="es-ES" sz="2800" dirty="0"/>
              <a:t>la solución sin ambigüedades, validar la especificación y administrar los </a:t>
            </a:r>
            <a:r>
              <a:rPr lang="es-ES" sz="2800" dirty="0" smtClean="0"/>
              <a:t>requerimientos a </a:t>
            </a:r>
            <a:r>
              <a:rPr lang="es-ES" sz="2800" dirty="0"/>
              <a:t>medida de que se transforman en un sistema </a:t>
            </a:r>
            <a:r>
              <a:rPr lang="es-ES" sz="2800" dirty="0" smtClean="0"/>
              <a:t>funcional.</a:t>
            </a:r>
          </a:p>
        </p:txBody>
      </p:sp>
    </p:spTree>
    <p:extLst>
      <p:ext uri="{BB962C8B-B14F-4D97-AF65-F5344CB8AC3E}">
        <p14:creationId xmlns:p14="http://schemas.microsoft.com/office/powerpoint/2010/main" val="26003000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¿Qué es la ingeniería de requerimientos?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8" y="1710187"/>
            <a:ext cx="6221896" cy="4591222"/>
          </a:xfrm>
        </p:spPr>
        <p:txBody>
          <a:bodyPr>
            <a:noAutofit/>
          </a:bodyPr>
          <a:lstStyle/>
          <a:p>
            <a:pPr>
              <a:buFont typeface="Wingdings" pitchFamily="2" charset="2"/>
              <a:buChar char="Ø"/>
            </a:pPr>
            <a:r>
              <a:rPr lang="es-ES" sz="2800" dirty="0" smtClean="0"/>
              <a:t>Importancia</a:t>
            </a:r>
            <a:endParaRPr lang="es-ES" sz="2800" dirty="0"/>
          </a:p>
        </p:txBody>
      </p:sp>
      <p:pic>
        <p:nvPicPr>
          <p:cNvPr id="9" name="0 Imagen"/>
          <p:cNvPicPr/>
          <p:nvPr/>
        </p:nvPicPr>
        <p:blipFill>
          <a:blip r:embed="rId3">
            <a:extLst>
              <a:ext uri="{28A0092B-C50C-407E-A947-70E740481C1C}">
                <a14:useLocalDpi xmlns:a14="http://schemas.microsoft.com/office/drawing/2010/main" val="0"/>
              </a:ext>
            </a:extLst>
          </a:blip>
          <a:stretch>
            <a:fillRect/>
          </a:stretch>
        </p:blipFill>
        <p:spPr>
          <a:xfrm>
            <a:off x="-1" y="2244487"/>
            <a:ext cx="6480313" cy="4154557"/>
          </a:xfrm>
          <a:prstGeom prst="rect">
            <a:avLst/>
          </a:prstGeom>
        </p:spPr>
      </p:pic>
      <p:sp>
        <p:nvSpPr>
          <p:cNvPr id="3" name="2 Rectángulo"/>
          <p:cNvSpPr/>
          <p:nvPr/>
        </p:nvSpPr>
        <p:spPr>
          <a:xfrm>
            <a:off x="6480313" y="2213283"/>
            <a:ext cx="5526158" cy="4185761"/>
          </a:xfrm>
          <a:prstGeom prst="rect">
            <a:avLst/>
          </a:prstGeom>
        </p:spPr>
        <p:txBody>
          <a:bodyPr wrap="square">
            <a:spAutoFit/>
          </a:bodyPr>
          <a:lstStyle/>
          <a:p>
            <a:pPr lvl="0"/>
            <a:r>
              <a:rPr lang="es-ES" sz="2200" b="1" dirty="0" smtClean="0"/>
              <a:t>Base </a:t>
            </a:r>
            <a:r>
              <a:rPr lang="es-ES" sz="2200" b="1" dirty="0"/>
              <a:t>del Desarrollo</a:t>
            </a:r>
            <a:r>
              <a:rPr lang="es-ES" sz="2200" dirty="0"/>
              <a:t>: Los requisitos bien definidos son la base sobre la cual se construye el software. Sin ellos, el desarrollo puede desviarse de las expectativas del cliente.</a:t>
            </a:r>
          </a:p>
          <a:p>
            <a:pPr lvl="0"/>
            <a:r>
              <a:rPr lang="es-ES" sz="2200" b="1" dirty="0"/>
              <a:t>Reducción de Riesgos</a:t>
            </a:r>
            <a:r>
              <a:rPr lang="es-ES" sz="2200" dirty="0"/>
              <a:t>: Identificar y gestionar los requisitos desde el inicio ayuda a minimizar riesgos y costos asociados a cambios tardíos en el proyecto.</a:t>
            </a:r>
          </a:p>
          <a:p>
            <a:pPr lvl="0"/>
            <a:r>
              <a:rPr lang="es-ES" sz="2200" b="1" dirty="0"/>
              <a:t>Mejora de la Comunicación</a:t>
            </a:r>
            <a:r>
              <a:rPr lang="es-ES" sz="2200" dirty="0"/>
              <a:t>: Facilita la comunicación entre los </a:t>
            </a:r>
            <a:r>
              <a:rPr lang="es-ES" sz="2200" dirty="0" err="1"/>
              <a:t>stakeholders</a:t>
            </a:r>
            <a:r>
              <a:rPr lang="es-ES" sz="2200" dirty="0"/>
              <a:t>, desarrolladores y usuarios finales, asegurando que todos estén alineados</a:t>
            </a:r>
            <a:r>
              <a:rPr lang="es-ES" sz="2400" dirty="0"/>
              <a:t>.</a:t>
            </a:r>
          </a:p>
        </p:txBody>
      </p:sp>
    </p:spTree>
    <p:extLst>
      <p:ext uri="{BB962C8B-B14F-4D97-AF65-F5344CB8AC3E}">
        <p14:creationId xmlns:p14="http://schemas.microsoft.com/office/powerpoint/2010/main" val="24533126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¿Qué es la ingeniería de requerimientos?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10" name="0 Imagen"/>
          <p:cNvPicPr/>
          <p:nvPr/>
        </p:nvPicPr>
        <p:blipFill>
          <a:blip r:embed="rId3">
            <a:extLst>
              <a:ext uri="{28A0092B-C50C-407E-A947-70E740481C1C}">
                <a14:useLocalDpi xmlns:a14="http://schemas.microsoft.com/office/drawing/2010/main" val="0"/>
              </a:ext>
            </a:extLst>
          </a:blip>
          <a:stretch>
            <a:fillRect/>
          </a:stretch>
        </p:blipFill>
        <p:spPr>
          <a:xfrm>
            <a:off x="1877502" y="1769164"/>
            <a:ext cx="7813040" cy="4890053"/>
          </a:xfrm>
          <a:prstGeom prst="rect">
            <a:avLst/>
          </a:prstGeom>
        </p:spPr>
      </p:pic>
    </p:spTree>
    <p:extLst>
      <p:ext uri="{BB962C8B-B14F-4D97-AF65-F5344CB8AC3E}">
        <p14:creationId xmlns:p14="http://schemas.microsoft.com/office/powerpoint/2010/main" val="634761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36104" y="457200"/>
            <a:ext cx="11111948" cy="1280160"/>
          </a:xfrm>
        </p:spPr>
        <p:txBody>
          <a:bodyPr>
            <a:normAutofit/>
          </a:bodyPr>
          <a:lstStyle/>
          <a:p>
            <a:pPr algn="ctr"/>
            <a:r>
              <a:rPr lang="es-ES_tradnl" dirty="0">
                <a:cs typeface="Times New Roman" panose="02020603050405020304" pitchFamily="18" charset="0"/>
              </a:rPr>
              <a:t>Tareas de la Ingeniería </a:t>
            </a:r>
            <a:r>
              <a:rPr lang="es-ES_tradnl" dirty="0" smtClean="0">
                <a:cs typeface="Times New Roman" panose="02020603050405020304" pitchFamily="18" charset="0"/>
              </a:rPr>
              <a:t>de requerimientos</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9" name="0 Imagen"/>
          <p:cNvPicPr/>
          <p:nvPr/>
        </p:nvPicPr>
        <p:blipFill>
          <a:blip r:embed="rId3">
            <a:extLst>
              <a:ext uri="{28A0092B-C50C-407E-A947-70E740481C1C}">
                <a14:useLocalDpi xmlns:a14="http://schemas.microsoft.com/office/drawing/2010/main" val="0"/>
              </a:ext>
            </a:extLst>
          </a:blip>
          <a:stretch>
            <a:fillRect/>
          </a:stretch>
        </p:blipFill>
        <p:spPr>
          <a:xfrm>
            <a:off x="715617" y="1848678"/>
            <a:ext cx="10893287" cy="4432851"/>
          </a:xfrm>
          <a:prstGeom prst="rect">
            <a:avLst/>
          </a:prstGeom>
        </p:spPr>
      </p:pic>
    </p:spTree>
    <p:extLst>
      <p:ext uri="{BB962C8B-B14F-4D97-AF65-F5344CB8AC3E}">
        <p14:creationId xmlns:p14="http://schemas.microsoft.com/office/powerpoint/2010/main" val="1720805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br>
              <a:rPr lang="es-ES_tradnl" dirty="0" smtClean="0">
                <a:cs typeface="Times New Roman" panose="02020603050405020304" pitchFamily="18" charset="0"/>
              </a:rPr>
            </a:br>
            <a:r>
              <a:rPr lang="es-ES_tradnl" dirty="0" smtClean="0">
                <a:cs typeface="Times New Roman" panose="02020603050405020304" pitchFamily="18" charset="0"/>
              </a:rPr>
              <a:t>Concepción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800" dirty="0"/>
              <a:t>En la concepción del proyecto se establece el entendimiento básico del problema, las personas que quieren una solución, la naturaleza de la solución que se desea, así como la eficacia de la comunicación y colaboración preliminares entre los otros participantes y el equipo de software</a:t>
            </a:r>
            <a:endParaRPr lang="es-ES_tradnl" sz="2600" dirty="0">
              <a:solidFill>
                <a:srgbClr val="000000"/>
              </a:solidFill>
              <a:latin typeface="+mj-lt"/>
            </a:endParaRPr>
          </a:p>
        </p:txBody>
      </p:sp>
    </p:spTree>
    <p:extLst>
      <p:ext uri="{BB962C8B-B14F-4D97-AF65-F5344CB8AC3E}">
        <p14:creationId xmlns:p14="http://schemas.microsoft.com/office/powerpoint/2010/main" val="30634827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br>
              <a:rPr lang="es-ES_tradnl" dirty="0" smtClean="0">
                <a:cs typeface="Times New Roman" panose="02020603050405020304" pitchFamily="18" charset="0"/>
              </a:rPr>
            </a:br>
            <a:r>
              <a:rPr lang="es-ES_tradnl" dirty="0" smtClean="0">
                <a:cs typeface="Times New Roman" panose="02020603050405020304" pitchFamily="18" charset="0"/>
              </a:rPr>
              <a:t>Concepción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9" name="0 Imagen"/>
          <p:cNvPicPr/>
          <p:nvPr/>
        </p:nvPicPr>
        <p:blipFill>
          <a:blip r:embed="rId3">
            <a:extLst>
              <a:ext uri="{28A0092B-C50C-407E-A947-70E740481C1C}">
                <a14:useLocalDpi xmlns:a14="http://schemas.microsoft.com/office/drawing/2010/main" val="0"/>
              </a:ext>
            </a:extLst>
          </a:blip>
          <a:stretch>
            <a:fillRect/>
          </a:stretch>
        </p:blipFill>
        <p:spPr>
          <a:xfrm>
            <a:off x="1391478" y="1928192"/>
            <a:ext cx="9776304" cy="4317020"/>
          </a:xfrm>
          <a:prstGeom prst="rect">
            <a:avLst/>
          </a:prstGeom>
        </p:spPr>
      </p:pic>
    </p:spTree>
    <p:extLst>
      <p:ext uri="{BB962C8B-B14F-4D97-AF65-F5344CB8AC3E}">
        <p14:creationId xmlns:p14="http://schemas.microsoft.com/office/powerpoint/2010/main" val="40038424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Indagación.</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800" dirty="0"/>
              <a:t>El propósito principal es </a:t>
            </a:r>
            <a:r>
              <a:rPr lang="es-ES" sz="2800" b="1" dirty="0"/>
              <a:t>recopilar información precisa y completa</a:t>
            </a:r>
            <a:r>
              <a:rPr lang="es-ES" sz="2800" dirty="0"/>
              <a:t> sobre las necesidades del sistema, evitando ambigüedades y malentendidos que puedan afectar el desarrollo del software.</a:t>
            </a:r>
          </a:p>
          <a:p>
            <a:pPr>
              <a:buFont typeface="Wingdings" pitchFamily="2" charset="2"/>
              <a:buChar char="Ø"/>
            </a:pPr>
            <a:r>
              <a:rPr lang="es-ES" sz="2600" i="1" dirty="0">
                <a:solidFill>
                  <a:srgbClr val="000000"/>
                </a:solidFill>
                <a:latin typeface="+mj-lt"/>
              </a:rPr>
              <a:t>¿Por qué es difícil </a:t>
            </a:r>
            <a:r>
              <a:rPr lang="es-ES" sz="2600" i="1" dirty="0" smtClean="0">
                <a:solidFill>
                  <a:srgbClr val="000000"/>
                </a:solidFill>
                <a:latin typeface="+mj-lt"/>
              </a:rPr>
              <a:t>llegar al </a:t>
            </a:r>
            <a:r>
              <a:rPr lang="es-ES" sz="2600" i="1" dirty="0">
                <a:solidFill>
                  <a:srgbClr val="000000"/>
                </a:solidFill>
                <a:latin typeface="+mj-lt"/>
              </a:rPr>
              <a:t>entendimiento </a:t>
            </a:r>
            <a:r>
              <a:rPr lang="es-ES" sz="2600" i="1" dirty="0" smtClean="0">
                <a:solidFill>
                  <a:srgbClr val="000000"/>
                </a:solidFill>
                <a:latin typeface="+mj-lt"/>
              </a:rPr>
              <a:t>claro de </a:t>
            </a:r>
            <a:r>
              <a:rPr lang="es-ES" sz="2600" i="1" dirty="0">
                <a:solidFill>
                  <a:srgbClr val="000000"/>
                </a:solidFill>
                <a:latin typeface="+mj-lt"/>
              </a:rPr>
              <a:t>lo que quiere </a:t>
            </a:r>
            <a:r>
              <a:rPr lang="es-ES" sz="2600" i="1" dirty="0" smtClean="0">
                <a:solidFill>
                  <a:srgbClr val="000000"/>
                </a:solidFill>
                <a:latin typeface="+mj-lt"/>
              </a:rPr>
              <a:t>el cliente?</a:t>
            </a:r>
          </a:p>
          <a:p>
            <a:pPr>
              <a:buFont typeface="Wingdings" pitchFamily="2" charset="2"/>
              <a:buChar char="Ø"/>
            </a:pPr>
            <a:r>
              <a:rPr lang="es-ES" sz="2800" dirty="0" err="1"/>
              <a:t>Christel</a:t>
            </a:r>
            <a:r>
              <a:rPr lang="es-ES" sz="2800" dirty="0"/>
              <a:t> y </a:t>
            </a:r>
            <a:r>
              <a:rPr lang="es-ES" sz="2800" dirty="0" err="1"/>
              <a:t>Kang</a:t>
            </a:r>
            <a:r>
              <a:rPr lang="es-ES" sz="2800" dirty="0"/>
              <a:t> </a:t>
            </a:r>
            <a:r>
              <a:rPr lang="es-ES" sz="2800" dirty="0" smtClean="0"/>
              <a:t>identificaron </a:t>
            </a:r>
            <a:r>
              <a:rPr lang="es-ES" sz="2800" dirty="0"/>
              <a:t>cierto número de problemas que se encuentran cuando ocurre la indagación</a:t>
            </a:r>
            <a:r>
              <a:rPr lang="es-ES" sz="2800" dirty="0" smtClean="0"/>
              <a:t>: problemas </a:t>
            </a:r>
            <a:r>
              <a:rPr lang="es-ES" sz="2800" dirty="0"/>
              <a:t>de alcance, </a:t>
            </a:r>
            <a:r>
              <a:rPr lang="es-ES" sz="2800" dirty="0" smtClean="0"/>
              <a:t>problemas </a:t>
            </a:r>
            <a:r>
              <a:rPr lang="es-ES" sz="2800" dirty="0"/>
              <a:t>de entendimiento, </a:t>
            </a:r>
            <a:r>
              <a:rPr lang="es-ES" sz="2800" dirty="0" smtClean="0"/>
              <a:t>problemas </a:t>
            </a:r>
            <a:r>
              <a:rPr lang="es-ES" sz="2800" dirty="0"/>
              <a:t>de </a:t>
            </a:r>
            <a:r>
              <a:rPr lang="es-ES" sz="2800" dirty="0" smtClean="0"/>
              <a:t>volatilidad,</a:t>
            </a:r>
            <a:endParaRPr lang="es-ES" sz="2800" dirty="0"/>
          </a:p>
          <a:p>
            <a:pPr>
              <a:buFont typeface="Wingdings" pitchFamily="2" charset="2"/>
              <a:buChar char="Ø"/>
            </a:pPr>
            <a:endParaRPr lang="es-ES_tradnl" sz="2600" i="1" dirty="0">
              <a:solidFill>
                <a:srgbClr val="000000"/>
              </a:solidFill>
              <a:latin typeface="+mj-lt"/>
            </a:endParaRPr>
          </a:p>
        </p:txBody>
      </p:sp>
    </p:spTree>
    <p:extLst>
      <p:ext uri="{BB962C8B-B14F-4D97-AF65-F5344CB8AC3E}">
        <p14:creationId xmlns:p14="http://schemas.microsoft.com/office/powerpoint/2010/main" val="25862612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Indagación.</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9" name="0 Imagen"/>
          <p:cNvPicPr/>
          <p:nvPr/>
        </p:nvPicPr>
        <p:blipFill>
          <a:blip r:embed="rId3">
            <a:extLst>
              <a:ext uri="{28A0092B-C50C-407E-A947-70E740481C1C}">
                <a14:useLocalDpi xmlns:a14="http://schemas.microsoft.com/office/drawing/2010/main" val="0"/>
              </a:ext>
            </a:extLst>
          </a:blip>
          <a:stretch>
            <a:fillRect/>
          </a:stretch>
        </p:blipFill>
        <p:spPr>
          <a:xfrm>
            <a:off x="1331843" y="1789044"/>
            <a:ext cx="10157792" cy="4350136"/>
          </a:xfrm>
          <a:prstGeom prst="rect">
            <a:avLst/>
          </a:prstGeom>
        </p:spPr>
      </p:pic>
    </p:spTree>
    <p:extLst>
      <p:ext uri="{BB962C8B-B14F-4D97-AF65-F5344CB8AC3E}">
        <p14:creationId xmlns:p14="http://schemas.microsoft.com/office/powerpoint/2010/main" val="22897164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¿Qué técnicas emplear en el etapa de indagación ?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2600" dirty="0">
              <a:cs typeface="Arial" panose="020B0604020202020204" pitchFamily="34" charset="0"/>
            </a:endParaRPr>
          </a:p>
        </p:txBody>
      </p:sp>
      <p:pic>
        <p:nvPicPr>
          <p:cNvPr id="4" name="3 Marcador de contenido"/>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82980" y="1846263"/>
            <a:ext cx="10924098" cy="4475024"/>
          </a:xfrm>
        </p:spPr>
      </p:pic>
    </p:spTree>
    <p:extLst>
      <p:ext uri="{BB962C8B-B14F-4D97-AF65-F5344CB8AC3E}">
        <p14:creationId xmlns:p14="http://schemas.microsoft.com/office/powerpoint/2010/main" val="15946155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Elaboración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800" dirty="0" smtClean="0"/>
              <a:t>Es </a:t>
            </a:r>
            <a:r>
              <a:rPr lang="es-ES" sz="2800" dirty="0"/>
              <a:t>una fase crítica dentro del proceso de ingeniería de requisitos que tiene como objetivo </a:t>
            </a:r>
            <a:r>
              <a:rPr lang="es-ES" sz="2800" b="1" dirty="0"/>
              <a:t>refinar, detallar y estructurar</a:t>
            </a:r>
            <a:r>
              <a:rPr lang="es-ES" sz="2800" dirty="0"/>
              <a:t> los requisitos preliminares obtenidos durante la indagación, transformándolos en especificaciones claras, completas y consistentes.</a:t>
            </a:r>
          </a:p>
          <a:p>
            <a:pPr>
              <a:buFont typeface="Wingdings" pitchFamily="2" charset="2"/>
              <a:buChar char="Ø"/>
            </a:pPr>
            <a:r>
              <a:rPr lang="es-ES" sz="2800" dirty="0" smtClean="0"/>
              <a:t>Esta </a:t>
            </a:r>
            <a:r>
              <a:rPr lang="es-ES" sz="2800" dirty="0"/>
              <a:t>tarea se centra en desarrollar un modelo refinado de los requerimientos </a:t>
            </a:r>
            <a:r>
              <a:rPr lang="es-ES" sz="2800" dirty="0" smtClean="0"/>
              <a:t>que </a:t>
            </a:r>
            <a:r>
              <a:rPr lang="es-ES" sz="2800" dirty="0"/>
              <a:t>identifique distintos aspectos de la función del software, su comportamiento e información</a:t>
            </a:r>
            <a:r>
              <a:rPr lang="es-ES" sz="2800" dirty="0" smtClean="0"/>
              <a:t>.</a:t>
            </a:r>
          </a:p>
          <a:p>
            <a:pPr>
              <a:buFont typeface="Wingdings" pitchFamily="2" charset="2"/>
              <a:buChar char="Ø"/>
            </a:pPr>
            <a:r>
              <a:rPr lang="es-ES" sz="2800" dirty="0" smtClean="0"/>
              <a:t>Está </a:t>
            </a:r>
            <a:r>
              <a:rPr lang="es-ES" sz="2800" dirty="0"/>
              <a:t>motivada por la creación y mejora de escenarios de usuario que describan cómo interactuará el usuario final (y otros actores) con el sistema</a:t>
            </a:r>
            <a:endParaRPr lang="es-ES_tradnl" sz="2600" i="1" dirty="0">
              <a:solidFill>
                <a:srgbClr val="000000"/>
              </a:solidFill>
              <a:latin typeface="+mj-lt"/>
            </a:endParaRPr>
          </a:p>
        </p:txBody>
      </p:sp>
    </p:spTree>
    <p:extLst>
      <p:ext uri="{BB962C8B-B14F-4D97-AF65-F5344CB8AC3E}">
        <p14:creationId xmlns:p14="http://schemas.microsoft.com/office/powerpoint/2010/main" val="8646183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Elaboración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800" dirty="0"/>
              <a:t>La elaboración busca:</a:t>
            </a:r>
          </a:p>
        </p:txBody>
      </p:sp>
      <p:pic>
        <p:nvPicPr>
          <p:cNvPr id="9" name="0 Imagen"/>
          <p:cNvPicPr/>
          <p:nvPr/>
        </p:nvPicPr>
        <p:blipFill>
          <a:blip r:embed="rId3">
            <a:extLst>
              <a:ext uri="{28A0092B-C50C-407E-A947-70E740481C1C}">
                <a14:useLocalDpi xmlns:a14="http://schemas.microsoft.com/office/drawing/2010/main" val="0"/>
              </a:ext>
            </a:extLst>
          </a:blip>
          <a:stretch>
            <a:fillRect/>
          </a:stretch>
        </p:blipFill>
        <p:spPr>
          <a:xfrm>
            <a:off x="755373" y="2070102"/>
            <a:ext cx="10714383" cy="4271064"/>
          </a:xfrm>
          <a:prstGeom prst="rect">
            <a:avLst/>
          </a:prstGeom>
        </p:spPr>
      </p:pic>
    </p:spTree>
    <p:extLst>
      <p:ext uri="{BB962C8B-B14F-4D97-AF65-F5344CB8AC3E}">
        <p14:creationId xmlns:p14="http://schemas.microsoft.com/office/powerpoint/2010/main" val="34377627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Negociación</a:t>
            </a:r>
            <a:r>
              <a:rPr lang="es-ES_tradnl" dirty="0" smtClean="0">
                <a:cs typeface="Times New Roman" panose="02020603050405020304" pitchFamily="18" charset="0"/>
              </a:rPr>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800" dirty="0"/>
              <a:t>Objetivo: Resolver conflictos entre </a:t>
            </a:r>
            <a:r>
              <a:rPr lang="es-ES" sz="2800" dirty="0" err="1"/>
              <a:t>stakeholders</a:t>
            </a:r>
            <a:r>
              <a:rPr lang="es-ES" sz="2800" dirty="0"/>
              <a:t> para llegar a un conjunto de requisitos viables, consistentes y priorizados.</a:t>
            </a:r>
          </a:p>
          <a:p>
            <a:pPr>
              <a:buFont typeface="Wingdings" pitchFamily="2" charset="2"/>
              <a:buChar char="Ø"/>
            </a:pPr>
            <a:r>
              <a:rPr lang="es-ES" sz="2800" dirty="0" smtClean="0"/>
              <a:t>Contexto</a:t>
            </a:r>
            <a:r>
              <a:rPr lang="es-ES" sz="2800" dirty="0"/>
              <a:t>: Ocurre durante las etapas de </a:t>
            </a:r>
            <a:r>
              <a:rPr lang="es-ES" sz="2800" dirty="0" err="1"/>
              <a:t>elicitación</a:t>
            </a:r>
            <a:r>
              <a:rPr lang="es-ES" sz="2800" dirty="0"/>
              <a:t> y validación.</a:t>
            </a:r>
          </a:p>
          <a:p>
            <a:pPr>
              <a:buFont typeface="Wingdings" pitchFamily="2" charset="2"/>
              <a:buChar char="Ø"/>
            </a:pPr>
            <a:r>
              <a:rPr lang="es-ES" sz="2800" i="1" dirty="0" smtClean="0"/>
              <a:t>"</a:t>
            </a:r>
            <a:r>
              <a:rPr lang="es-ES" sz="2800" i="1" dirty="0"/>
              <a:t>La negociación es un proceso de colaboración, no de </a:t>
            </a:r>
            <a:r>
              <a:rPr lang="es-ES" sz="2800" i="1" dirty="0" smtClean="0"/>
              <a:t>imposición“ </a:t>
            </a:r>
            <a:r>
              <a:rPr lang="es-ES" sz="2800" i="1" dirty="0" err="1" smtClean="0"/>
              <a:t>Pressman</a:t>
            </a:r>
            <a:endParaRPr lang="es-ES" sz="2800" i="1" dirty="0" smtClean="0"/>
          </a:p>
          <a:p>
            <a:pPr>
              <a:buFont typeface="Wingdings" pitchFamily="2" charset="2"/>
              <a:buChar char="Ø"/>
            </a:pPr>
            <a:r>
              <a:rPr lang="es-ES" sz="2800" dirty="0"/>
              <a:t>La negociación es iterativa y requiere</a:t>
            </a:r>
            <a:r>
              <a:rPr lang="es-ES" sz="2800" dirty="0" smtClean="0"/>
              <a:t>: </a:t>
            </a:r>
            <a:endParaRPr lang="es-ES" sz="2800" dirty="0"/>
          </a:p>
          <a:p>
            <a:pPr lvl="1">
              <a:buFont typeface="Wingdings" pitchFamily="2" charset="2"/>
              <a:buChar char="ü"/>
            </a:pPr>
            <a:r>
              <a:rPr lang="es-ES" sz="2600" dirty="0"/>
              <a:t>Transparencia (datos técnicos y comerciales visibles</a:t>
            </a:r>
            <a:r>
              <a:rPr lang="es-ES" sz="2600" dirty="0" smtClean="0"/>
              <a:t>).</a:t>
            </a:r>
            <a:endParaRPr lang="es-ES" sz="2600" dirty="0"/>
          </a:p>
          <a:p>
            <a:pPr lvl="1">
              <a:buFont typeface="Wingdings" pitchFamily="2" charset="2"/>
              <a:buChar char="ü"/>
            </a:pPr>
            <a:r>
              <a:rPr lang="es-ES" sz="2600" dirty="0"/>
              <a:t>Flexibilidad (disposición a ajustar expectativas</a:t>
            </a:r>
            <a:r>
              <a:rPr lang="es-ES" sz="2600" dirty="0" smtClean="0"/>
              <a:t>).</a:t>
            </a:r>
            <a:endParaRPr lang="es-ES" sz="2600" dirty="0"/>
          </a:p>
          <a:p>
            <a:pPr lvl="1">
              <a:buFont typeface="Wingdings" pitchFamily="2" charset="2"/>
              <a:buChar char="ü"/>
            </a:pPr>
            <a:r>
              <a:rPr lang="es-ES" sz="2600" dirty="0"/>
              <a:t>Documentación (evitar malentendidos futuros)</a:t>
            </a:r>
          </a:p>
          <a:p>
            <a:pPr>
              <a:buFont typeface="Wingdings" pitchFamily="2" charset="2"/>
              <a:buChar char="Ø"/>
            </a:pPr>
            <a:endParaRPr lang="es-ES_tradnl" sz="2600" i="1" dirty="0">
              <a:solidFill>
                <a:srgbClr val="000000"/>
              </a:solidFill>
              <a:latin typeface="+mj-lt"/>
            </a:endParaRPr>
          </a:p>
        </p:txBody>
      </p:sp>
    </p:spTree>
    <p:extLst>
      <p:ext uri="{BB962C8B-B14F-4D97-AF65-F5344CB8AC3E}">
        <p14:creationId xmlns:p14="http://schemas.microsoft.com/office/powerpoint/2010/main" val="8646183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Negociación</a:t>
            </a:r>
            <a:r>
              <a:rPr lang="es-ES_tradnl" dirty="0" smtClean="0">
                <a:cs typeface="Times New Roman" panose="02020603050405020304" pitchFamily="18" charset="0"/>
              </a:rPr>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649896"/>
            <a:ext cx="11529391" cy="4691269"/>
          </a:xfrm>
          <a:prstGeom prst="rect">
            <a:avLst/>
          </a:prstGeom>
        </p:spPr>
      </p:pic>
    </p:spTree>
    <p:extLst>
      <p:ext uri="{BB962C8B-B14F-4D97-AF65-F5344CB8AC3E}">
        <p14:creationId xmlns:p14="http://schemas.microsoft.com/office/powerpoint/2010/main" val="1756093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Negociación</a:t>
            </a:r>
            <a:r>
              <a:rPr lang="es-ES_tradnl" dirty="0" smtClean="0">
                <a:cs typeface="Times New Roman" panose="02020603050405020304" pitchFamily="18" charset="0"/>
              </a:rPr>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3" name="2 Rectángulo"/>
          <p:cNvSpPr/>
          <p:nvPr/>
        </p:nvSpPr>
        <p:spPr>
          <a:xfrm>
            <a:off x="695739" y="1911075"/>
            <a:ext cx="11092070" cy="4401205"/>
          </a:xfrm>
          <a:prstGeom prst="rect">
            <a:avLst/>
          </a:prstGeom>
        </p:spPr>
        <p:txBody>
          <a:bodyPr wrap="square">
            <a:spAutoFit/>
          </a:bodyPr>
          <a:lstStyle/>
          <a:p>
            <a:pPr marL="457200" indent="-457200">
              <a:buFont typeface="Wingdings" pitchFamily="2" charset="2"/>
              <a:buChar char="Ø"/>
            </a:pPr>
            <a:r>
              <a:rPr lang="es-ES" sz="2800" b="1" dirty="0" smtClean="0"/>
              <a:t>Ejemplo </a:t>
            </a:r>
            <a:r>
              <a:rPr lang="es-ES" sz="2800" b="1" dirty="0"/>
              <a:t>Práctico: Negociación en un Proyecto de E-Commerce</a:t>
            </a:r>
          </a:p>
          <a:p>
            <a:r>
              <a:rPr lang="es-ES" sz="2800" b="1" dirty="0"/>
              <a:t>Requerimiento conflictivo:</a:t>
            </a:r>
            <a:endParaRPr lang="es-ES" sz="2800" dirty="0"/>
          </a:p>
          <a:p>
            <a:pPr lvl="1"/>
            <a:r>
              <a:rPr lang="es-ES" sz="2800" i="1" dirty="0"/>
              <a:t>Cliente:</a:t>
            </a:r>
            <a:r>
              <a:rPr lang="es-ES" sz="2800" dirty="0"/>
              <a:t> "Quiero que el </a:t>
            </a:r>
            <a:r>
              <a:rPr lang="es-ES" sz="2800" dirty="0" err="1"/>
              <a:t>checkout</a:t>
            </a:r>
            <a:r>
              <a:rPr lang="es-ES" sz="2800" dirty="0"/>
              <a:t> cargue en menos de 1 segundo".</a:t>
            </a:r>
          </a:p>
          <a:p>
            <a:pPr lvl="1"/>
            <a:r>
              <a:rPr lang="es-ES" sz="2800" i="1" dirty="0"/>
              <a:t>Equipo técnico:</a:t>
            </a:r>
            <a:r>
              <a:rPr lang="es-ES" sz="2800" dirty="0"/>
              <a:t> "El procesamiento de pagos tarda 2 segundos por protocolos de seguridad".</a:t>
            </a:r>
          </a:p>
          <a:p>
            <a:r>
              <a:rPr lang="es-ES" sz="2800" b="1" dirty="0"/>
              <a:t>Solución negociada:</a:t>
            </a:r>
            <a:endParaRPr lang="es-ES" sz="2800" dirty="0"/>
          </a:p>
          <a:p>
            <a:pPr lvl="1"/>
            <a:r>
              <a:rPr lang="es-ES" sz="2800" dirty="0"/>
              <a:t>Priorizar optimización de otros pasos (</a:t>
            </a:r>
            <a:r>
              <a:rPr lang="es-ES" sz="2800" dirty="0" err="1"/>
              <a:t>ej</a:t>
            </a:r>
            <a:r>
              <a:rPr lang="es-ES" sz="2800" dirty="0"/>
              <a:t>: carrito de compras).</a:t>
            </a:r>
          </a:p>
          <a:p>
            <a:pPr lvl="1"/>
            <a:r>
              <a:rPr lang="es-ES" sz="2800" dirty="0"/>
              <a:t>Implementar </a:t>
            </a:r>
            <a:r>
              <a:rPr lang="es-ES" sz="2800" b="1" dirty="0"/>
              <a:t>pre-cálculo de impuestos</a:t>
            </a:r>
            <a:r>
              <a:rPr lang="es-ES" sz="2800" dirty="0"/>
              <a:t> para reducir el tiempo a 1.5 segundos.</a:t>
            </a:r>
          </a:p>
          <a:p>
            <a:pPr lvl="1"/>
            <a:r>
              <a:rPr lang="es-ES" sz="2800" dirty="0"/>
              <a:t>Documentar el compromiso en el </a:t>
            </a:r>
            <a:r>
              <a:rPr lang="es-ES" sz="2800" b="1" dirty="0"/>
              <a:t>plan de requisitos</a:t>
            </a:r>
            <a:r>
              <a:rPr lang="es-ES" sz="2800" dirty="0"/>
              <a:t>.</a:t>
            </a:r>
          </a:p>
        </p:txBody>
      </p:sp>
    </p:spTree>
    <p:extLst>
      <p:ext uri="{BB962C8B-B14F-4D97-AF65-F5344CB8AC3E}">
        <p14:creationId xmlns:p14="http://schemas.microsoft.com/office/powerpoint/2010/main" val="4488552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Especificación</a:t>
            </a:r>
            <a:r>
              <a:rPr lang="es-ES_tradnl" dirty="0" smtClean="0">
                <a:cs typeface="Times New Roman" panose="02020603050405020304" pitchFamily="18" charset="0"/>
              </a:rPr>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8"/>
            <a:ext cx="11933583" cy="1331186"/>
          </a:xfrm>
        </p:spPr>
        <p:txBody>
          <a:bodyPr>
            <a:noAutofit/>
          </a:bodyPr>
          <a:lstStyle/>
          <a:p>
            <a:pPr>
              <a:buFont typeface="Wingdings" pitchFamily="2" charset="2"/>
              <a:buChar char="Ø"/>
            </a:pPr>
            <a:r>
              <a:rPr lang="es-ES" sz="2800" i="1" dirty="0" smtClean="0"/>
              <a:t>“Un </a:t>
            </a:r>
            <a:r>
              <a:rPr lang="es-ES" sz="2800" i="1" dirty="0"/>
              <a:t>documento formal que describe detalladamente los requisitos funcionales y no funcionales del sistema, incluyendo restricciones y criterios de validación, para servir como contrato entre cliente y </a:t>
            </a:r>
            <a:r>
              <a:rPr lang="es-ES" sz="2800" i="1" dirty="0" smtClean="0"/>
              <a:t>desarrolladores” </a:t>
            </a:r>
            <a:r>
              <a:rPr lang="es-ES" sz="2800" i="1" dirty="0" err="1" smtClean="0"/>
              <a:t>Pressman</a:t>
            </a:r>
            <a:endParaRPr lang="es-ES" sz="2800" i="1" dirty="0" smtClean="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835" y="2822713"/>
            <a:ext cx="11231217" cy="3481457"/>
          </a:xfrm>
          <a:prstGeom prst="rect">
            <a:avLst/>
          </a:prstGeom>
        </p:spPr>
      </p:pic>
    </p:spTree>
    <p:extLst>
      <p:ext uri="{BB962C8B-B14F-4D97-AF65-F5344CB8AC3E}">
        <p14:creationId xmlns:p14="http://schemas.microsoft.com/office/powerpoint/2010/main" val="40275081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Especificación</a:t>
            </a:r>
            <a:r>
              <a:rPr lang="es-ES_tradnl" dirty="0" smtClean="0">
                <a:cs typeface="Times New Roman" panose="02020603050405020304" pitchFamily="18" charset="0"/>
              </a:rPr>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800" dirty="0" smtClean="0"/>
              <a:t>Características </a:t>
            </a:r>
            <a:r>
              <a:rPr lang="es-ES" sz="2800" dirty="0"/>
              <a:t>de una Buena Especificación</a:t>
            </a:r>
          </a:p>
          <a:p>
            <a:pPr lvl="1">
              <a:buFont typeface="Wingdings" pitchFamily="2" charset="2"/>
              <a:buChar char="ü"/>
            </a:pPr>
            <a:r>
              <a:rPr lang="es-ES" sz="2600" dirty="0"/>
              <a:t>Completa: Cubrir todas las necesidades sin omisiones</a:t>
            </a:r>
            <a:r>
              <a:rPr lang="es-ES" sz="2600" dirty="0" smtClean="0"/>
              <a:t>.</a:t>
            </a:r>
            <a:endParaRPr lang="es-ES" sz="2600" dirty="0"/>
          </a:p>
          <a:p>
            <a:pPr lvl="1">
              <a:buFont typeface="Wingdings" pitchFamily="2" charset="2"/>
              <a:buChar char="ü"/>
            </a:pPr>
            <a:r>
              <a:rPr lang="es-ES" sz="2600" dirty="0"/>
              <a:t>Consistente: Sin contradicciones entre requisitos</a:t>
            </a:r>
            <a:r>
              <a:rPr lang="es-ES" sz="2600" dirty="0" smtClean="0"/>
              <a:t>.</a:t>
            </a:r>
            <a:endParaRPr lang="es-ES" sz="2600" dirty="0"/>
          </a:p>
          <a:p>
            <a:pPr lvl="1">
              <a:buFont typeface="Wingdings" pitchFamily="2" charset="2"/>
              <a:buChar char="ü"/>
            </a:pPr>
            <a:r>
              <a:rPr lang="es-ES" sz="2600" dirty="0"/>
              <a:t>Modificable: Estructurada para permitir cambios</a:t>
            </a:r>
            <a:r>
              <a:rPr lang="es-ES" sz="2600" dirty="0" smtClean="0"/>
              <a:t>.</a:t>
            </a:r>
            <a:endParaRPr lang="es-ES" sz="2600" dirty="0"/>
          </a:p>
          <a:p>
            <a:pPr lvl="1">
              <a:buFont typeface="Wingdings" pitchFamily="2" charset="2"/>
              <a:buChar char="ü"/>
            </a:pPr>
            <a:r>
              <a:rPr lang="es-ES" sz="2600" dirty="0"/>
              <a:t>Trazable: Vinculada a fuentes (</a:t>
            </a:r>
            <a:r>
              <a:rPr lang="es-ES" sz="2600" dirty="0" err="1"/>
              <a:t>ej</a:t>
            </a:r>
            <a:r>
              <a:rPr lang="es-ES" sz="2600" dirty="0"/>
              <a:t>: entrevistas, regulaciones</a:t>
            </a:r>
            <a:r>
              <a:rPr lang="es-ES" sz="2600" dirty="0" smtClean="0"/>
              <a:t>).</a:t>
            </a:r>
          </a:p>
          <a:p>
            <a:pPr>
              <a:buFont typeface="Wingdings" pitchFamily="2" charset="2"/>
              <a:buChar char="Ø"/>
            </a:pPr>
            <a:r>
              <a:rPr lang="es-ES" sz="2800" dirty="0"/>
              <a:t> Errores Comunes </a:t>
            </a:r>
            <a:endParaRPr lang="es-ES" sz="2800" dirty="0" smtClean="0"/>
          </a:p>
          <a:p>
            <a:pPr lvl="1">
              <a:buFont typeface="Wingdings" pitchFamily="2" charset="2"/>
              <a:buChar char="ü"/>
            </a:pPr>
            <a:r>
              <a:rPr lang="es-ES" sz="2600" dirty="0" err="1" smtClean="0"/>
              <a:t>Ambigu</a:t>
            </a:r>
            <a:r>
              <a:rPr lang="es-ES" sz="2600" dirty="0" err="1"/>
              <a:t>̈edad</a:t>
            </a:r>
            <a:r>
              <a:rPr lang="es-ES" sz="2600" dirty="0"/>
              <a:t>: Términos como "amigable" o "rápido" sin métricas</a:t>
            </a:r>
            <a:r>
              <a:rPr lang="es-ES" sz="2600" dirty="0" smtClean="0"/>
              <a:t>.</a:t>
            </a:r>
            <a:endParaRPr lang="es-ES" sz="2600" dirty="0"/>
          </a:p>
          <a:p>
            <a:pPr lvl="1">
              <a:buFont typeface="Wingdings" pitchFamily="2" charset="2"/>
              <a:buChar char="ü"/>
            </a:pPr>
            <a:r>
              <a:rPr lang="es-ES" sz="2600" dirty="0" err="1"/>
              <a:t>Sobrespecificación</a:t>
            </a:r>
            <a:r>
              <a:rPr lang="es-ES" sz="2600" dirty="0"/>
              <a:t>: Detalles de diseño prematuros (</a:t>
            </a:r>
            <a:r>
              <a:rPr lang="es-ES" sz="2600" dirty="0" err="1"/>
              <a:t>ej</a:t>
            </a:r>
            <a:r>
              <a:rPr lang="es-ES" sz="2600" dirty="0"/>
              <a:t>: "usar botones azules</a:t>
            </a:r>
            <a:r>
              <a:rPr lang="es-ES" sz="2600" dirty="0" smtClean="0"/>
              <a:t>").</a:t>
            </a:r>
            <a:endParaRPr lang="es-ES" sz="2600" dirty="0"/>
          </a:p>
          <a:p>
            <a:pPr lvl="1">
              <a:buFont typeface="Wingdings" pitchFamily="2" charset="2"/>
              <a:buChar char="ü"/>
            </a:pPr>
            <a:r>
              <a:rPr lang="es-ES" sz="2600" dirty="0"/>
              <a:t>Falta de validación: Requisitos no verificables (</a:t>
            </a:r>
            <a:r>
              <a:rPr lang="es-ES" sz="2600" dirty="0" err="1"/>
              <a:t>ej</a:t>
            </a:r>
            <a:r>
              <a:rPr lang="es-ES" sz="2600" dirty="0"/>
              <a:t>: "el sistema debe ser seguro" sin estándares).</a:t>
            </a:r>
          </a:p>
          <a:p>
            <a:pPr>
              <a:buFont typeface="Wingdings" pitchFamily="2" charset="2"/>
              <a:buChar char="Ø"/>
            </a:pPr>
            <a:endParaRPr lang="es-ES_tradnl" sz="2600" i="1" dirty="0">
              <a:solidFill>
                <a:srgbClr val="000000"/>
              </a:solidFill>
              <a:latin typeface="+mj-lt"/>
            </a:endParaRPr>
          </a:p>
        </p:txBody>
      </p:sp>
    </p:spTree>
    <p:extLst>
      <p:ext uri="{BB962C8B-B14F-4D97-AF65-F5344CB8AC3E}">
        <p14:creationId xmlns:p14="http://schemas.microsoft.com/office/powerpoint/2010/main" val="12023243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Especificación</a:t>
            </a:r>
            <a:r>
              <a:rPr lang="es-ES_tradnl" dirty="0" smtClean="0">
                <a:cs typeface="Times New Roman" panose="02020603050405020304" pitchFamily="18" charset="0"/>
              </a:rPr>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600" dirty="0">
                <a:solidFill>
                  <a:srgbClr val="000000"/>
                </a:solidFill>
                <a:latin typeface="+mj-lt"/>
              </a:rPr>
              <a:t>Formatos Recomendados</a:t>
            </a:r>
          </a:p>
          <a:p>
            <a:pPr marL="514350" indent="-514350">
              <a:buFont typeface="+mj-lt"/>
              <a:buAutoNum type="arabicPeriod"/>
            </a:pPr>
            <a:r>
              <a:rPr lang="es-ES" sz="2600" dirty="0">
                <a:solidFill>
                  <a:srgbClr val="000000"/>
                </a:solidFill>
                <a:latin typeface="+mj-lt"/>
              </a:rPr>
              <a:t>Documento de Texto Estructurado</a:t>
            </a:r>
            <a:r>
              <a:rPr lang="es-ES" sz="2600" dirty="0" smtClean="0">
                <a:solidFill>
                  <a:srgbClr val="000000"/>
                </a:solidFill>
                <a:latin typeface="+mj-lt"/>
              </a:rPr>
              <a:t>:</a:t>
            </a:r>
            <a:endParaRPr lang="es-ES" sz="2600" dirty="0">
              <a:solidFill>
                <a:srgbClr val="000000"/>
              </a:solidFill>
              <a:latin typeface="+mj-lt"/>
            </a:endParaRPr>
          </a:p>
          <a:p>
            <a:pPr>
              <a:buFont typeface="Wingdings" pitchFamily="2" charset="2"/>
              <a:buChar char="Ø"/>
            </a:pPr>
            <a:r>
              <a:rPr lang="es-ES" sz="2600" dirty="0">
                <a:solidFill>
                  <a:srgbClr val="000000"/>
                </a:solidFill>
                <a:latin typeface="+mj-lt"/>
              </a:rPr>
              <a:t>Documento </a:t>
            </a:r>
            <a:r>
              <a:rPr lang="es-ES" sz="2600" dirty="0" err="1">
                <a:solidFill>
                  <a:srgbClr val="000000"/>
                </a:solidFill>
                <a:latin typeface="+mj-lt"/>
              </a:rPr>
              <a:t>Sommerville</a:t>
            </a:r>
            <a:endParaRPr lang="es-ES" sz="2600" dirty="0">
              <a:solidFill>
                <a:srgbClr val="000000"/>
              </a:solidFill>
              <a:latin typeface="+mj-lt"/>
            </a:endParaRPr>
          </a:p>
          <a:p>
            <a:pPr>
              <a:buFont typeface="Wingdings" pitchFamily="2" charset="2"/>
              <a:buChar char="Ø"/>
            </a:pPr>
            <a:r>
              <a:rPr lang="es-ES" sz="2600" dirty="0">
                <a:solidFill>
                  <a:srgbClr val="000000"/>
                </a:solidFill>
                <a:latin typeface="+mj-lt"/>
              </a:rPr>
              <a:t>Usado en proyectos tradicionales (</a:t>
            </a:r>
            <a:r>
              <a:rPr lang="es-ES" sz="2600" dirty="0" err="1">
                <a:solidFill>
                  <a:srgbClr val="000000"/>
                </a:solidFill>
                <a:latin typeface="+mj-lt"/>
              </a:rPr>
              <a:t>ej</a:t>
            </a:r>
            <a:r>
              <a:rPr lang="es-ES" sz="2600" dirty="0">
                <a:solidFill>
                  <a:srgbClr val="000000"/>
                </a:solidFill>
                <a:latin typeface="+mj-lt"/>
              </a:rPr>
              <a:t>: IEEE 830).</a:t>
            </a:r>
          </a:p>
          <a:p>
            <a:pPr>
              <a:buFont typeface="Wingdings" pitchFamily="2" charset="2"/>
              <a:buChar char="Ø"/>
            </a:pPr>
            <a:endParaRPr lang="es-ES" sz="2600" dirty="0">
              <a:solidFill>
                <a:srgbClr val="000000"/>
              </a:solidFill>
              <a:latin typeface="+mj-lt"/>
            </a:endParaRPr>
          </a:p>
          <a:p>
            <a:pPr marL="514350" indent="-514350">
              <a:buFont typeface="+mj-lt"/>
              <a:buAutoNum type="arabicPeriod" startAt="2"/>
            </a:pPr>
            <a:r>
              <a:rPr lang="es-ES" sz="2600" dirty="0">
                <a:solidFill>
                  <a:srgbClr val="000000"/>
                </a:solidFill>
                <a:latin typeface="+mj-lt"/>
              </a:rPr>
              <a:t>Historias de Usuario + Criterios de Aceptación</a:t>
            </a:r>
            <a:r>
              <a:rPr lang="es-ES" sz="2600" dirty="0" smtClean="0">
                <a:solidFill>
                  <a:srgbClr val="000000"/>
                </a:solidFill>
                <a:latin typeface="+mj-lt"/>
              </a:rPr>
              <a:t>:</a:t>
            </a:r>
            <a:endParaRPr lang="es-ES" sz="2600" dirty="0">
              <a:solidFill>
                <a:srgbClr val="000000"/>
              </a:solidFill>
              <a:latin typeface="+mj-lt"/>
            </a:endParaRPr>
          </a:p>
          <a:p>
            <a:pPr>
              <a:buFont typeface="Wingdings" pitchFamily="2" charset="2"/>
              <a:buChar char="Ø"/>
            </a:pPr>
            <a:r>
              <a:rPr lang="es-ES" sz="2600" dirty="0">
                <a:solidFill>
                  <a:srgbClr val="000000"/>
                </a:solidFill>
                <a:latin typeface="+mj-lt"/>
              </a:rPr>
              <a:t>Enfoque ágil (</a:t>
            </a:r>
            <a:r>
              <a:rPr lang="es-ES" sz="2600" dirty="0" err="1">
                <a:solidFill>
                  <a:srgbClr val="000000"/>
                </a:solidFill>
                <a:latin typeface="+mj-lt"/>
              </a:rPr>
              <a:t>ej</a:t>
            </a:r>
            <a:r>
              <a:rPr lang="es-ES" sz="2600" dirty="0">
                <a:solidFill>
                  <a:srgbClr val="000000"/>
                </a:solidFill>
                <a:latin typeface="+mj-lt"/>
              </a:rPr>
              <a:t>: "Como usuario, quiero filtrar productos por precio para encontrar opciones rápidamente").</a:t>
            </a:r>
            <a:endParaRPr lang="es-ES_tradnl" sz="2600" dirty="0">
              <a:solidFill>
                <a:srgbClr val="000000"/>
              </a:solidFill>
              <a:latin typeface="+mj-lt"/>
            </a:endParaRPr>
          </a:p>
        </p:txBody>
      </p:sp>
    </p:spTree>
    <p:extLst>
      <p:ext uri="{BB962C8B-B14F-4D97-AF65-F5344CB8AC3E}">
        <p14:creationId xmlns:p14="http://schemas.microsoft.com/office/powerpoint/2010/main" val="3915317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Documento </a:t>
            </a:r>
            <a:r>
              <a:rPr lang="es-ES" dirty="0" err="1" smtClean="0"/>
              <a:t>Sommerville</a:t>
            </a:r>
            <a:r>
              <a:rPr lang="es-ES" dirty="0" smtClean="0"/>
              <a:t>: Introducción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879600"/>
            <a:ext cx="10058400" cy="4190999"/>
          </a:xfrm>
        </p:spPr>
        <p:txBody>
          <a:bodyPr>
            <a:noAutofit/>
          </a:bodyPr>
          <a:lstStyle/>
          <a:p>
            <a:pPr marL="0" indent="0">
              <a:buNone/>
            </a:pPr>
            <a:r>
              <a:rPr lang="es-ES" sz="2600" i="1" dirty="0" smtClean="0">
                <a:latin typeface="+mj-lt"/>
                <a:cs typeface="Arial" charset="0"/>
              </a:rPr>
              <a:t> </a:t>
            </a:r>
            <a:r>
              <a:rPr lang="es-ES" sz="2600" i="1" dirty="0">
                <a:latin typeface="+mj-lt"/>
                <a:cs typeface="Arial" charset="0"/>
              </a:rPr>
              <a:t>1.1 Propósito del Documento</a:t>
            </a:r>
          </a:p>
          <a:p>
            <a:pPr marL="0" indent="0">
              <a:buNone/>
            </a:pPr>
            <a:r>
              <a:rPr lang="es-ES" sz="2600" i="1" dirty="0">
                <a:latin typeface="+mj-lt"/>
                <a:cs typeface="Arial" charset="0"/>
              </a:rPr>
              <a:t>  Este y algunos otros de los acápites de esta propuesta están dirigidos a ubicar el documento en el contexto de un conjunto de ellos mas </a:t>
            </a:r>
            <a:r>
              <a:rPr lang="es-ES" sz="2600" i="1" dirty="0" smtClean="0">
                <a:latin typeface="+mj-lt"/>
                <a:cs typeface="Arial" charset="0"/>
              </a:rPr>
              <a:t>extenso.</a:t>
            </a:r>
          </a:p>
          <a:p>
            <a:pPr marL="0" indent="0">
              <a:buNone/>
            </a:pPr>
            <a:r>
              <a:rPr lang="es-ES" sz="2600" i="1" dirty="0">
                <a:latin typeface="+mj-lt"/>
                <a:cs typeface="Arial" charset="0"/>
              </a:rPr>
              <a:t>1.2 Alcance del Producto</a:t>
            </a:r>
          </a:p>
          <a:p>
            <a:pPr marL="0" indent="0">
              <a:buNone/>
            </a:pPr>
            <a:r>
              <a:rPr lang="es-ES" sz="2600" i="1" dirty="0">
                <a:latin typeface="+mj-lt"/>
                <a:cs typeface="Arial" charset="0"/>
              </a:rPr>
              <a:t>El alcance del producto es una descripción clara de lo que se va a entregar en el proyecto. Esto incluye las funcionalidades específicas, los requisitos del usuario y las expectativas del </a:t>
            </a:r>
            <a:r>
              <a:rPr lang="es-ES" sz="2600" i="1" dirty="0" smtClean="0">
                <a:latin typeface="+mj-lt"/>
                <a:cs typeface="Arial" charset="0"/>
              </a:rPr>
              <a:t>cliente. Establece </a:t>
            </a:r>
            <a:r>
              <a:rPr lang="es-ES" sz="2600" i="1" dirty="0">
                <a:latin typeface="+mj-lt"/>
                <a:cs typeface="Arial" charset="0"/>
              </a:rPr>
              <a:t>una base sólida para todas las fases posteriores del proyecto. Un alcance bien definido ayuda a garantizar que el producto final cumpla con las expectativas y necesidades de los usuarios y </a:t>
            </a:r>
            <a:r>
              <a:rPr lang="es-ES" sz="2600" i="1" dirty="0" err="1">
                <a:latin typeface="+mj-lt"/>
                <a:cs typeface="Arial" charset="0"/>
              </a:rPr>
              <a:t>stakeholders</a:t>
            </a:r>
            <a:r>
              <a:rPr lang="es-ES" sz="2600" i="1" dirty="0">
                <a:latin typeface="+mj-lt"/>
                <a:cs typeface="Arial" charset="0"/>
              </a:rPr>
              <a:t>.</a:t>
            </a:r>
            <a:endParaRPr lang="es-ES" sz="2600" i="1" dirty="0" smtClean="0">
              <a:latin typeface="+mj-lt"/>
              <a:cs typeface="Arial" charset="0"/>
            </a:endParaRPr>
          </a:p>
          <a:p>
            <a:pPr marL="0" indent="0">
              <a:lnSpc>
                <a:spcPct val="100000"/>
              </a:lnSpc>
              <a:buNone/>
            </a:pPr>
            <a:endParaRPr lang="es-ES" sz="2600" b="1" dirty="0">
              <a:solidFill>
                <a:srgbClr val="000000"/>
              </a:solidFill>
              <a:latin typeface="+mj-lt"/>
            </a:endParaRP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2335850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Documento </a:t>
            </a:r>
            <a:r>
              <a:rPr lang="es-ES" dirty="0" err="1" smtClean="0"/>
              <a:t>Sommerville</a:t>
            </a:r>
            <a:r>
              <a:rPr lang="es-ES" dirty="0" smtClean="0"/>
              <a:t>: Introducción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2070100"/>
            <a:ext cx="10058400" cy="4000499"/>
          </a:xfrm>
        </p:spPr>
        <p:txBody>
          <a:bodyPr>
            <a:noAutofit/>
          </a:bodyPr>
          <a:lstStyle/>
          <a:p>
            <a:pPr marL="0" indent="0">
              <a:buNone/>
            </a:pPr>
            <a:r>
              <a:rPr lang="es-ES" sz="2600" i="1" dirty="0" smtClean="0">
                <a:latin typeface="+mj-lt"/>
                <a:cs typeface="Arial" charset="0"/>
              </a:rPr>
              <a:t>1.3 </a:t>
            </a:r>
            <a:r>
              <a:rPr lang="es-ES" sz="2600" i="1" dirty="0">
                <a:latin typeface="+mj-lt"/>
                <a:cs typeface="Arial" charset="0"/>
              </a:rPr>
              <a:t>Definiciones, acrónimos y abreviaturas</a:t>
            </a:r>
          </a:p>
          <a:p>
            <a:pPr marL="0" indent="0">
              <a:buNone/>
            </a:pPr>
            <a:r>
              <a:rPr lang="es-ES" sz="2600" i="1" dirty="0">
                <a:latin typeface="+mj-lt"/>
                <a:cs typeface="Arial" charset="0"/>
              </a:rPr>
              <a:t>Todo documento técnico escrito, especialmente cuando esta destinado a ser leído por otros, requiere que se definan los conceptos de uso común en el mismo, así como las abreviaturas utilizadas </a:t>
            </a:r>
          </a:p>
          <a:p>
            <a:pPr marL="0" indent="0">
              <a:buNone/>
            </a:pPr>
            <a:r>
              <a:rPr lang="es-ES" sz="2600" i="1" dirty="0">
                <a:latin typeface="+mj-lt"/>
                <a:cs typeface="Arial" charset="0"/>
              </a:rPr>
              <a:t>(Es un error muy frecuente asumir que otros entienden lo que uno escribe con facilidad, por ejemplo: “... El sistema deberá confeccionar Ordenes de Trabajo...”, que es una Orden de Trabajo? o “... Los especialistas de la DICT se encargarán de ...”, que es la DICT?)</a:t>
            </a:r>
          </a:p>
          <a:p>
            <a:pPr marL="0" indent="0">
              <a:buNone/>
            </a:pPr>
            <a:endParaRPr lang="es-ES" sz="2600" i="1" dirty="0" smtClean="0">
              <a:latin typeface="+mj-lt"/>
              <a:cs typeface="Arial" charset="0"/>
            </a:endParaRPr>
          </a:p>
          <a:p>
            <a:pPr marL="0" indent="0">
              <a:lnSpc>
                <a:spcPct val="100000"/>
              </a:lnSpc>
              <a:buNone/>
            </a:pPr>
            <a:endParaRPr lang="es-ES" sz="2600" b="1" dirty="0">
              <a:solidFill>
                <a:srgbClr val="000000"/>
              </a:solidFill>
              <a:latin typeface="+mj-lt"/>
            </a:endParaRP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40342347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a:t>Documento </a:t>
            </a:r>
            <a:r>
              <a:rPr lang="es-ES" dirty="0" err="1" smtClean="0"/>
              <a:t>Sommerville</a:t>
            </a:r>
            <a:r>
              <a:rPr lang="es-ES" dirty="0" smtClean="0"/>
              <a:t>: Introducción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2070100"/>
            <a:ext cx="10058400" cy="4000499"/>
          </a:xfrm>
        </p:spPr>
        <p:txBody>
          <a:bodyPr>
            <a:noAutofit/>
          </a:bodyPr>
          <a:lstStyle/>
          <a:p>
            <a:pPr marL="0" indent="0">
              <a:buNone/>
            </a:pPr>
            <a:r>
              <a:rPr lang="es-ES" sz="2600" i="1" dirty="0">
                <a:latin typeface="+mj-lt"/>
                <a:cs typeface="Arial" charset="0"/>
              </a:rPr>
              <a:t>1.4 Referencias</a:t>
            </a:r>
          </a:p>
          <a:p>
            <a:pPr marL="0" indent="0">
              <a:buNone/>
            </a:pPr>
            <a:r>
              <a:rPr lang="es-ES" sz="2600" i="1" dirty="0">
                <a:latin typeface="+mj-lt"/>
                <a:cs typeface="Arial" charset="0"/>
              </a:rPr>
              <a:t>  Si fue necesario para la confección de este documento la consulta de otros, tanto en papel como en formato electrónico disponibles en sitios accesibles, deben ofrecerse las referencias para ayudar a sus lectores a tener una información similar a la que Ud. tenía para escribirlo</a:t>
            </a:r>
          </a:p>
          <a:p>
            <a:pPr marL="0" indent="0">
              <a:buNone/>
            </a:pPr>
            <a:r>
              <a:rPr lang="es-ES" sz="2600" i="1" dirty="0">
                <a:latin typeface="+mj-lt"/>
                <a:cs typeface="Arial" charset="0"/>
              </a:rPr>
              <a:t>1.5 Resumen del resto del documento</a:t>
            </a:r>
          </a:p>
          <a:p>
            <a:pPr marL="0" indent="0">
              <a:buNone/>
            </a:pPr>
            <a:r>
              <a:rPr lang="es-ES" sz="2600" i="1" dirty="0">
                <a:latin typeface="+mj-lt"/>
                <a:cs typeface="Arial" charset="0"/>
              </a:rPr>
              <a:t>Es usual incluir una descripción breve de la estructura del resto del documento, para que el lector se ubique en lo que viene, en este caso</a:t>
            </a:r>
          </a:p>
          <a:p>
            <a:pPr marL="0" indent="0">
              <a:buNone/>
            </a:pPr>
            <a:endParaRPr lang="es-ES" sz="2600" i="1" dirty="0" smtClean="0">
              <a:latin typeface="+mj-lt"/>
              <a:cs typeface="Arial" charset="0"/>
            </a:endParaRPr>
          </a:p>
          <a:p>
            <a:pPr marL="0" indent="0">
              <a:lnSpc>
                <a:spcPct val="100000"/>
              </a:lnSpc>
              <a:buNone/>
            </a:pPr>
            <a:endParaRPr lang="es-ES" sz="2600" b="1" dirty="0">
              <a:solidFill>
                <a:srgbClr val="000000"/>
              </a:solidFill>
              <a:latin typeface="+mj-lt"/>
            </a:endParaRP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21170630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Documento </a:t>
            </a:r>
            <a:r>
              <a:rPr lang="es-ES" dirty="0" err="1"/>
              <a:t>Sommerville</a:t>
            </a:r>
            <a:r>
              <a:rPr lang="es-ES" dirty="0"/>
              <a:t>: Descripción General</a:t>
            </a:r>
            <a:br>
              <a:rPr lang="es-ES" dirty="0"/>
            </a:b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2070100"/>
            <a:ext cx="10058400" cy="4000499"/>
          </a:xfrm>
        </p:spPr>
        <p:txBody>
          <a:bodyPr>
            <a:noAutofit/>
          </a:bodyPr>
          <a:lstStyle/>
          <a:p>
            <a:pPr marL="0" indent="0">
              <a:buNone/>
            </a:pPr>
            <a:r>
              <a:rPr lang="es-ES" sz="2600" i="1" dirty="0">
                <a:latin typeface="+mj-lt"/>
                <a:cs typeface="Arial" charset="0"/>
              </a:rPr>
              <a:t> 2.1 Perspectiva del Producto</a:t>
            </a:r>
          </a:p>
          <a:p>
            <a:pPr marL="0" indent="0">
              <a:buNone/>
            </a:pPr>
            <a:r>
              <a:rPr lang="es-ES" sz="2600" i="1" dirty="0" smtClean="0">
                <a:latin typeface="+mj-lt"/>
                <a:cs typeface="Arial" charset="0"/>
              </a:rPr>
              <a:t>Se </a:t>
            </a:r>
            <a:r>
              <a:rPr lang="es-ES" sz="2600" i="1" dirty="0">
                <a:latin typeface="+mj-lt"/>
                <a:cs typeface="Arial" charset="0"/>
              </a:rPr>
              <a:t>refiere a cómo se define y se entiende el software que se va a desarrollar, incluyendo sus características, funcionalidades y cómo se relaciona con otros </a:t>
            </a:r>
            <a:r>
              <a:rPr lang="es-ES" sz="2600" i="1" dirty="0" smtClean="0">
                <a:latin typeface="+mj-lt"/>
                <a:cs typeface="Arial" charset="0"/>
              </a:rPr>
              <a:t>sistemas</a:t>
            </a:r>
          </a:p>
          <a:p>
            <a:pPr marL="0" indent="0">
              <a:buNone/>
            </a:pPr>
            <a:r>
              <a:rPr lang="es-ES" sz="2600" i="1" dirty="0" smtClean="0">
                <a:latin typeface="+mj-lt"/>
                <a:cs typeface="Arial" charset="0"/>
              </a:rPr>
              <a:t>  </a:t>
            </a:r>
            <a:r>
              <a:rPr lang="es-ES" sz="2600" i="1" dirty="0">
                <a:latin typeface="+mj-lt"/>
                <a:cs typeface="Arial" charset="0"/>
              </a:rPr>
              <a:t>2.2 Funciones del Producto</a:t>
            </a:r>
          </a:p>
          <a:p>
            <a:pPr marL="0" indent="0">
              <a:buNone/>
            </a:pPr>
            <a:r>
              <a:rPr lang="es-ES" sz="2600" i="1" dirty="0" smtClean="0">
                <a:latin typeface="+mj-lt"/>
                <a:cs typeface="Arial" charset="0"/>
              </a:rPr>
              <a:t>Enumerar </a:t>
            </a:r>
            <a:r>
              <a:rPr lang="es-ES" sz="2600" i="1" dirty="0">
                <a:latin typeface="+mj-lt"/>
                <a:cs typeface="Arial" charset="0"/>
              </a:rPr>
              <a:t>brevemente las funciones que debe realizar el producto según los deseos expresados por el cliente</a:t>
            </a:r>
          </a:p>
          <a:p>
            <a:pPr marL="0" indent="0">
              <a:lnSpc>
                <a:spcPct val="100000"/>
              </a:lnSpc>
              <a:buNone/>
            </a:pPr>
            <a:endParaRPr lang="es-ES" sz="2600" b="1" dirty="0">
              <a:solidFill>
                <a:srgbClr val="000000"/>
              </a:solidFill>
              <a:latin typeface="+mj-lt"/>
            </a:endParaRP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657724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Documento </a:t>
            </a:r>
            <a:r>
              <a:rPr lang="es-ES" dirty="0" err="1"/>
              <a:t>Sommerville</a:t>
            </a:r>
            <a:r>
              <a:rPr lang="es-ES" dirty="0"/>
              <a:t>: Descripción General</a:t>
            </a:r>
            <a:br>
              <a:rPr lang="es-ES" dirty="0"/>
            </a:b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2070100"/>
            <a:ext cx="10058400" cy="4000499"/>
          </a:xfrm>
        </p:spPr>
        <p:txBody>
          <a:bodyPr>
            <a:noAutofit/>
          </a:bodyPr>
          <a:lstStyle/>
          <a:p>
            <a:pPr marL="0" indent="0">
              <a:buNone/>
            </a:pPr>
            <a:r>
              <a:rPr lang="es-ES" sz="2600" i="1" dirty="0">
                <a:latin typeface="+mj-lt"/>
                <a:cs typeface="Arial" charset="0"/>
              </a:rPr>
              <a:t> 2.3 Características de los usuarios</a:t>
            </a:r>
          </a:p>
          <a:p>
            <a:pPr marL="0" indent="0">
              <a:buNone/>
            </a:pPr>
            <a:r>
              <a:rPr lang="es-ES" sz="2600" i="1" dirty="0">
                <a:latin typeface="+mj-lt"/>
                <a:cs typeface="Arial" charset="0"/>
              </a:rPr>
              <a:t>Como veremos mas adelante, muchas decisiones posteriores dependen de las características de los usuarios futuros del producto, por lo que es muy importante caracterizar, cuantitativa y cualitativamente a los mismos, según su grado de experiencia en la actividad que el producto asume, su identificación con los ambientes y plataformas de hardware y software previstos, </a:t>
            </a:r>
            <a:r>
              <a:rPr lang="es-ES" sz="2600" i="1" dirty="0" err="1">
                <a:latin typeface="+mj-lt"/>
                <a:cs typeface="Arial" charset="0"/>
              </a:rPr>
              <a:t>etc</a:t>
            </a:r>
            <a:endParaRPr lang="es-ES" sz="2600" i="1" dirty="0">
              <a:latin typeface="+mj-lt"/>
              <a:cs typeface="Arial" charset="0"/>
            </a:endParaRPr>
          </a:p>
          <a:p>
            <a:pPr marL="0" indent="0">
              <a:lnSpc>
                <a:spcPct val="100000"/>
              </a:lnSpc>
              <a:buNone/>
            </a:pPr>
            <a:endParaRPr lang="es-ES" sz="2600" b="1" dirty="0">
              <a:solidFill>
                <a:srgbClr val="000000"/>
              </a:solidFill>
              <a:latin typeface="+mj-lt"/>
            </a:endParaRP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29349105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Documento </a:t>
            </a:r>
            <a:r>
              <a:rPr lang="es-ES" dirty="0" err="1"/>
              <a:t>Sommerville</a:t>
            </a:r>
            <a:r>
              <a:rPr lang="es-ES" dirty="0"/>
              <a:t>: Descripción General</a:t>
            </a:r>
            <a:br>
              <a:rPr lang="es-ES" dirty="0"/>
            </a:b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2070100"/>
            <a:ext cx="10058400" cy="4000499"/>
          </a:xfrm>
        </p:spPr>
        <p:txBody>
          <a:bodyPr>
            <a:noAutofit/>
          </a:bodyPr>
          <a:lstStyle/>
          <a:p>
            <a:pPr marL="0" indent="0">
              <a:buNone/>
            </a:pPr>
            <a:r>
              <a:rPr lang="es-ES" sz="2600" i="1" dirty="0">
                <a:latin typeface="+mj-lt"/>
                <a:cs typeface="Arial" charset="0"/>
              </a:rPr>
              <a:t>2.4 Restricciones Generales</a:t>
            </a:r>
          </a:p>
          <a:p>
            <a:pPr marL="0" indent="0">
              <a:buNone/>
            </a:pPr>
            <a:r>
              <a:rPr lang="es-ES" sz="2600" i="1" dirty="0">
                <a:latin typeface="+mj-lt"/>
                <a:cs typeface="Arial" charset="0"/>
              </a:rPr>
              <a:t>En muchas ocasiones, y este caso que nos ocupa es uno de ellos, los sistemas tienen restricciones “a priori”, derivadas, por ejemplo, de la necesidad de integrarse a entornos existentes (imagen de sitios Web corporativos, identidad empresarial del cliente, </a:t>
            </a:r>
            <a:r>
              <a:rPr lang="es-ES" sz="2600" i="1" dirty="0" err="1">
                <a:latin typeface="+mj-lt"/>
                <a:cs typeface="Arial" charset="0"/>
              </a:rPr>
              <a:t>etc</a:t>
            </a:r>
            <a:r>
              <a:rPr lang="es-ES" sz="2600" i="1" dirty="0">
                <a:latin typeface="+mj-lt"/>
                <a:cs typeface="Arial" charset="0"/>
              </a:rPr>
              <a:t>). </a:t>
            </a:r>
          </a:p>
          <a:p>
            <a:pPr marL="0" indent="0">
              <a:buNone/>
            </a:pPr>
            <a:r>
              <a:rPr lang="es-ES" sz="2600" i="1" dirty="0" smtClean="0">
                <a:latin typeface="+mj-lt"/>
                <a:cs typeface="Arial" charset="0"/>
              </a:rPr>
              <a:t>En </a:t>
            </a:r>
            <a:r>
              <a:rPr lang="es-ES" sz="2600" i="1" dirty="0">
                <a:latin typeface="+mj-lt"/>
                <a:cs typeface="Arial" charset="0"/>
              </a:rPr>
              <a:t>las entrevistas debemos identificar estas restricciones generales, además de las derivadas de posibles legislaciones o indicaciones reguladoras que restrinjan las decisiones del cliente sobre el producto y su funcionalidad o apariencia</a:t>
            </a:r>
          </a:p>
          <a:p>
            <a:pPr marL="0" indent="0">
              <a:lnSpc>
                <a:spcPct val="100000"/>
              </a:lnSpc>
              <a:buNone/>
            </a:pPr>
            <a:endParaRPr lang="es-ES" sz="2600" b="1" dirty="0">
              <a:solidFill>
                <a:srgbClr val="000000"/>
              </a:solidFill>
              <a:latin typeface="+mj-lt"/>
            </a:endParaRP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335691884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Documento </a:t>
            </a:r>
            <a:r>
              <a:rPr lang="es-ES" dirty="0" err="1"/>
              <a:t>Sommerville</a:t>
            </a:r>
            <a:r>
              <a:rPr lang="es-ES" dirty="0"/>
              <a:t>: Descripción General</a:t>
            </a:r>
            <a:br>
              <a:rPr lang="es-ES" dirty="0"/>
            </a:b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837344"/>
            <a:ext cx="10058400" cy="4580082"/>
          </a:xfrm>
        </p:spPr>
        <p:txBody>
          <a:bodyPr>
            <a:noAutofit/>
          </a:bodyPr>
          <a:lstStyle/>
          <a:p>
            <a:pPr marL="0" indent="0">
              <a:buNone/>
            </a:pPr>
            <a:r>
              <a:rPr lang="es-ES" sz="2600" i="1" dirty="0">
                <a:latin typeface="+mj-lt"/>
                <a:cs typeface="Arial" charset="0"/>
              </a:rPr>
              <a:t>2.5 Dependencias y suposiciones</a:t>
            </a:r>
          </a:p>
          <a:p>
            <a:pPr marL="0" indent="0">
              <a:buNone/>
            </a:pPr>
            <a:r>
              <a:rPr lang="es-ES" sz="2600" i="1" dirty="0">
                <a:latin typeface="+mj-lt"/>
                <a:cs typeface="Arial" charset="0"/>
              </a:rPr>
              <a:t>Si el producto a desarrollar deberá comunicarse, ya sea para obtener o para ofrecer información, con otro sistema ya existente o en desarrollo, deberá investigarse la naturaleza y principales características del mismo, con el objetivo de adecuar las decisiones de diseño acorde a esta dependencia operacional</a:t>
            </a:r>
          </a:p>
          <a:p>
            <a:pPr marL="0" indent="0">
              <a:buNone/>
            </a:pPr>
            <a:r>
              <a:rPr lang="es-ES" sz="2600" i="1" dirty="0">
                <a:latin typeface="+mj-lt"/>
                <a:cs typeface="Arial" charset="0"/>
              </a:rPr>
              <a:t>      En este aspecto deberán detallarse características como:</a:t>
            </a:r>
          </a:p>
          <a:p>
            <a:pPr marL="0" indent="0">
              <a:buNone/>
            </a:pPr>
            <a:r>
              <a:rPr lang="es-ES" sz="2600" i="1" dirty="0">
                <a:latin typeface="+mj-lt"/>
                <a:cs typeface="Arial" charset="0"/>
              </a:rPr>
              <a:t>Plataforma de software (SO, </a:t>
            </a:r>
            <a:r>
              <a:rPr lang="es-ES" sz="2600" i="1" dirty="0" err="1">
                <a:latin typeface="+mj-lt"/>
                <a:cs typeface="Arial" charset="0"/>
              </a:rPr>
              <a:t>lenguaje,etc</a:t>
            </a:r>
            <a:r>
              <a:rPr lang="es-ES" sz="2600" i="1" dirty="0">
                <a:latin typeface="+mj-lt"/>
                <a:cs typeface="Arial" charset="0"/>
              </a:rPr>
              <a:t>)</a:t>
            </a:r>
          </a:p>
          <a:p>
            <a:pPr marL="0" indent="0">
              <a:buNone/>
            </a:pPr>
            <a:r>
              <a:rPr lang="es-ES" sz="2600" i="1" dirty="0">
                <a:latin typeface="+mj-lt"/>
                <a:cs typeface="Arial" charset="0"/>
              </a:rPr>
              <a:t>Formato de los datos</a:t>
            </a:r>
          </a:p>
          <a:p>
            <a:pPr marL="0" indent="0">
              <a:buNone/>
            </a:pPr>
            <a:r>
              <a:rPr lang="es-ES" sz="2600" i="1" dirty="0">
                <a:latin typeface="+mj-lt"/>
                <a:cs typeface="Arial" charset="0"/>
              </a:rPr>
              <a:t>Interfaces o dependencias previstas</a:t>
            </a:r>
          </a:p>
          <a:p>
            <a:pPr marL="0" indent="0">
              <a:lnSpc>
                <a:spcPct val="100000"/>
              </a:lnSpc>
              <a:buNone/>
            </a:pPr>
            <a:endParaRPr lang="es-ES" sz="2600" b="1" dirty="0">
              <a:solidFill>
                <a:srgbClr val="000000"/>
              </a:solidFill>
              <a:latin typeface="+mj-lt"/>
            </a:endParaRP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32865404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t>Documento </a:t>
            </a:r>
            <a:r>
              <a:rPr lang="es-ES" dirty="0" err="1"/>
              <a:t>Sommerville</a:t>
            </a:r>
            <a:r>
              <a:rPr lang="es-ES" dirty="0"/>
              <a:t>: Descripción General</a:t>
            </a:r>
            <a:br>
              <a:rPr lang="es-ES" dirty="0"/>
            </a:b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109382" y="1837344"/>
            <a:ext cx="10058400" cy="4580082"/>
          </a:xfrm>
        </p:spPr>
        <p:txBody>
          <a:bodyPr>
            <a:noAutofit/>
          </a:bodyPr>
          <a:lstStyle/>
          <a:p>
            <a:pPr marL="0" indent="0">
              <a:buNone/>
            </a:pPr>
            <a:r>
              <a:rPr lang="es-ES" sz="2600" i="1" dirty="0">
                <a:latin typeface="+mj-lt"/>
                <a:cs typeface="Arial" charset="0"/>
              </a:rPr>
              <a:t>2.5 Dependencias y </a:t>
            </a:r>
            <a:r>
              <a:rPr lang="es-ES" sz="2600" i="1" dirty="0" smtClean="0">
                <a:latin typeface="+mj-lt"/>
                <a:cs typeface="Arial" charset="0"/>
              </a:rPr>
              <a:t>suposiciones (Continuación )</a:t>
            </a:r>
            <a:endParaRPr lang="es-ES" sz="2600" i="1" dirty="0">
              <a:latin typeface="+mj-lt"/>
              <a:cs typeface="Arial" charset="0"/>
            </a:endParaRPr>
          </a:p>
          <a:p>
            <a:pPr marL="0" indent="0">
              <a:buNone/>
            </a:pPr>
            <a:r>
              <a:rPr lang="es-ES" sz="2600" i="1" dirty="0">
                <a:latin typeface="+mj-lt"/>
                <a:cs typeface="Arial" charset="0"/>
              </a:rPr>
              <a:t>Además, frecuentemente se asumen ciertas restricciones iniciales, muchas veces no derivadas de ningún razonamiento lógico, simplemente como expresión de la voluntad del cliente (“... La navegación no puede necesitar mas de tres niveles de profundidad...” o “... Los menús fijos estarán en el lateral derecho...” son ejemplos de estas restricciones arbitrarias)</a:t>
            </a:r>
          </a:p>
          <a:p>
            <a:pPr marL="0" indent="0">
              <a:buNone/>
            </a:pPr>
            <a:endParaRPr lang="es-ES" sz="2600" i="1" dirty="0">
              <a:latin typeface="+mj-lt"/>
              <a:cs typeface="Arial" charset="0"/>
            </a:endParaRPr>
          </a:p>
          <a:p>
            <a:pPr marL="0" indent="0">
              <a:lnSpc>
                <a:spcPct val="100000"/>
              </a:lnSpc>
              <a:buNone/>
            </a:pPr>
            <a:endParaRPr lang="es-ES" sz="2600" b="1" dirty="0">
              <a:solidFill>
                <a:srgbClr val="000000"/>
              </a:solidFill>
              <a:latin typeface="+mj-lt"/>
            </a:endParaRPr>
          </a:p>
          <a:p>
            <a:pPr>
              <a:lnSpc>
                <a:spcPct val="150000"/>
              </a:lnSpc>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4286273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46181" y="1754216"/>
            <a:ext cx="10058400" cy="4580082"/>
          </a:xfrm>
        </p:spPr>
        <p:txBody>
          <a:bodyPr>
            <a:noAutofit/>
          </a:bodyPr>
          <a:lstStyle/>
          <a:p>
            <a:pPr marL="0" indent="0">
              <a:buNone/>
            </a:pPr>
            <a:r>
              <a:rPr lang="es-ES" sz="2600" i="1" dirty="0">
                <a:latin typeface="+mj-lt"/>
                <a:cs typeface="Arial" charset="0"/>
              </a:rPr>
              <a:t>3.1 Requerimientos Funcionales</a:t>
            </a:r>
          </a:p>
          <a:p>
            <a:pPr marL="0" indent="0">
              <a:buNone/>
            </a:pPr>
            <a:r>
              <a:rPr lang="es-ES" sz="2600" i="1" dirty="0">
                <a:latin typeface="+mj-lt"/>
                <a:cs typeface="Arial" charset="0"/>
              </a:rPr>
              <a:t> Son declaraciones que especifican las funciones, comportamientos y capacidades que el sistema debe ofrecer. Incluyen acciones que el sistema debe realizar en respuesta a ciertas entradas o condiciones</a:t>
            </a:r>
            <a:r>
              <a:rPr lang="es-ES" sz="2600" i="1" dirty="0" smtClean="0">
                <a:latin typeface="+mj-lt"/>
                <a:cs typeface="Arial" charset="0"/>
              </a:rPr>
              <a:t>.</a:t>
            </a:r>
          </a:p>
          <a:p>
            <a:pPr marL="0" indent="0">
              <a:lnSpc>
                <a:spcPct val="100000"/>
              </a:lnSpc>
              <a:buNone/>
            </a:pPr>
            <a:r>
              <a:rPr lang="es-ES" sz="2600" i="1" dirty="0">
                <a:latin typeface="+mj-lt"/>
                <a:cs typeface="Arial" charset="0"/>
              </a:rPr>
              <a:t>Características de los Requerimientos Funcionales</a:t>
            </a:r>
          </a:p>
          <a:p>
            <a:pPr marL="0" indent="0">
              <a:lnSpc>
                <a:spcPct val="100000"/>
              </a:lnSpc>
              <a:buNone/>
            </a:pPr>
            <a:r>
              <a:rPr lang="es-ES" sz="2600" i="1" dirty="0" smtClean="0">
                <a:latin typeface="+mj-lt"/>
                <a:cs typeface="Arial" charset="0"/>
              </a:rPr>
              <a:t>1</a:t>
            </a:r>
            <a:r>
              <a:rPr lang="es-ES" sz="2600" i="1" dirty="0">
                <a:latin typeface="+mj-lt"/>
                <a:cs typeface="Arial" charset="0"/>
              </a:rPr>
              <a:t>. </a:t>
            </a:r>
            <a:r>
              <a:rPr lang="es-ES" sz="2600" b="1" i="1" dirty="0">
                <a:latin typeface="+mj-lt"/>
                <a:cs typeface="Arial" charset="0"/>
              </a:rPr>
              <a:t>Especificidad</a:t>
            </a:r>
            <a:r>
              <a:rPr lang="es-ES" sz="2600" i="1" dirty="0">
                <a:latin typeface="+mj-lt"/>
                <a:cs typeface="Arial" charset="0"/>
              </a:rPr>
              <a:t>: Deben ser claros y detallados para evitar malentendidos.</a:t>
            </a:r>
          </a:p>
          <a:p>
            <a:pPr marL="0" indent="0">
              <a:lnSpc>
                <a:spcPct val="100000"/>
              </a:lnSpc>
              <a:buNone/>
            </a:pPr>
            <a:r>
              <a:rPr lang="es-ES" sz="2600" i="1" dirty="0" smtClean="0">
                <a:latin typeface="+mj-lt"/>
                <a:cs typeface="Arial" charset="0"/>
              </a:rPr>
              <a:t>2</a:t>
            </a:r>
            <a:r>
              <a:rPr lang="es-ES" sz="2600" i="1" dirty="0">
                <a:latin typeface="+mj-lt"/>
                <a:cs typeface="Arial" charset="0"/>
              </a:rPr>
              <a:t>. </a:t>
            </a:r>
            <a:r>
              <a:rPr lang="es-ES" sz="2600" b="1" i="1" dirty="0" err="1">
                <a:latin typeface="+mj-lt"/>
                <a:cs typeface="Arial" charset="0"/>
              </a:rPr>
              <a:t>Medibilidad</a:t>
            </a:r>
            <a:r>
              <a:rPr lang="es-ES" sz="2600" i="1" dirty="0">
                <a:latin typeface="+mj-lt"/>
                <a:cs typeface="Arial" charset="0"/>
              </a:rPr>
              <a:t>: Deben ser verificables a través de pruebas o revisiones.</a:t>
            </a:r>
          </a:p>
          <a:p>
            <a:pPr marL="0" indent="0">
              <a:lnSpc>
                <a:spcPct val="100000"/>
              </a:lnSpc>
              <a:buNone/>
            </a:pPr>
            <a:r>
              <a:rPr lang="es-ES" sz="2600" i="1" dirty="0" smtClean="0">
                <a:latin typeface="+mj-lt"/>
                <a:cs typeface="Arial" charset="0"/>
              </a:rPr>
              <a:t>3</a:t>
            </a:r>
            <a:r>
              <a:rPr lang="es-ES" sz="2600" i="1" dirty="0">
                <a:latin typeface="+mj-lt"/>
                <a:cs typeface="Arial" charset="0"/>
              </a:rPr>
              <a:t>. </a:t>
            </a:r>
            <a:r>
              <a:rPr lang="es-ES" sz="2600" b="1" i="1" dirty="0">
                <a:latin typeface="+mj-lt"/>
                <a:cs typeface="Arial" charset="0"/>
              </a:rPr>
              <a:t>Consistencia</a:t>
            </a:r>
            <a:r>
              <a:rPr lang="es-ES" sz="2600" i="1" dirty="0">
                <a:latin typeface="+mj-lt"/>
                <a:cs typeface="Arial" charset="0"/>
              </a:rPr>
              <a:t>: No deben entrar en conflicto entre sí.</a:t>
            </a:r>
          </a:p>
          <a:p>
            <a:pPr marL="0" indent="0">
              <a:lnSpc>
                <a:spcPct val="100000"/>
              </a:lnSpc>
              <a:buNone/>
            </a:pPr>
            <a:r>
              <a:rPr lang="es-ES" sz="2600" i="1" dirty="0" smtClean="0">
                <a:latin typeface="+mj-lt"/>
                <a:cs typeface="Arial" charset="0"/>
              </a:rPr>
              <a:t>4</a:t>
            </a:r>
            <a:r>
              <a:rPr lang="es-ES" sz="2600" i="1" dirty="0">
                <a:latin typeface="+mj-lt"/>
                <a:cs typeface="Arial" charset="0"/>
              </a:rPr>
              <a:t>. </a:t>
            </a:r>
            <a:r>
              <a:rPr lang="es-ES" sz="2600" b="1" i="1" dirty="0">
                <a:latin typeface="+mj-lt"/>
                <a:cs typeface="Arial" charset="0"/>
              </a:rPr>
              <a:t>Completitud</a:t>
            </a:r>
            <a:r>
              <a:rPr lang="es-ES" sz="2600" i="1" dirty="0">
                <a:latin typeface="+mj-lt"/>
                <a:cs typeface="Arial" charset="0"/>
              </a:rPr>
              <a:t>: Deben cubrir todas las funcionalidades necesarias del sistema.</a:t>
            </a:r>
          </a:p>
          <a:p>
            <a:pPr marL="0" indent="0">
              <a:lnSpc>
                <a:spcPct val="100000"/>
              </a:lnSpc>
              <a:buNone/>
            </a:pPr>
            <a:endParaRPr lang="es-ES" sz="2600" i="1" dirty="0">
              <a:latin typeface="+mj-lt"/>
              <a:cs typeface="Arial" charset="0"/>
            </a:endParaRPr>
          </a:p>
          <a:p>
            <a:pPr marL="0" indent="0">
              <a:lnSpc>
                <a:spcPct val="100000"/>
              </a:lnSpc>
              <a:buNone/>
            </a:pPr>
            <a:r>
              <a:rPr lang="es-ES" sz="2600" i="1" dirty="0">
                <a:latin typeface="+mj-lt"/>
                <a:cs typeface="Arial" charset="0"/>
              </a:rPr>
              <a:t>5. </a:t>
            </a:r>
            <a:endParaRPr lang="es-ES" sz="2600" dirty="0" smtClean="0">
              <a:solidFill>
                <a:srgbClr val="000000"/>
              </a:solidFill>
              <a:latin typeface="+mj-lt"/>
            </a:endParaRP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9321263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46181" y="1754216"/>
            <a:ext cx="10058400" cy="4580082"/>
          </a:xfrm>
        </p:spPr>
        <p:txBody>
          <a:bodyPr>
            <a:noAutofit/>
          </a:bodyPr>
          <a:lstStyle/>
          <a:p>
            <a:pPr marL="0" indent="0">
              <a:buNone/>
            </a:pPr>
            <a:r>
              <a:rPr lang="es-ES" sz="2600" i="1" dirty="0">
                <a:latin typeface="+mj-lt"/>
                <a:cs typeface="Arial" charset="0"/>
              </a:rPr>
              <a:t>3.2 Requerimientos No-Funcionales</a:t>
            </a:r>
          </a:p>
          <a:p>
            <a:pPr marL="0" indent="0">
              <a:buNone/>
            </a:pPr>
            <a:r>
              <a:rPr lang="es-ES" sz="2600" i="1" dirty="0">
                <a:latin typeface="+mj-lt"/>
                <a:cs typeface="Arial" charset="0"/>
              </a:rPr>
              <a:t>Generalmente se consideran aquí elementos restrictivos generados por el cliente, no directamente relacionados con la funcionalidad del producto</a:t>
            </a:r>
          </a:p>
          <a:p>
            <a:pPr marL="0" indent="0">
              <a:buNone/>
            </a:pPr>
            <a:r>
              <a:rPr lang="es-ES" sz="2600" i="1" dirty="0">
                <a:latin typeface="+mj-lt"/>
                <a:cs typeface="Arial" charset="0"/>
              </a:rPr>
              <a:t> Características de los Requerimientos No Funcionales</a:t>
            </a:r>
          </a:p>
          <a:p>
            <a:pPr marL="0" indent="0">
              <a:buNone/>
            </a:pPr>
            <a:r>
              <a:rPr lang="es-ES" sz="2600" i="1" dirty="0" smtClean="0">
                <a:latin typeface="+mj-lt"/>
                <a:cs typeface="Arial" charset="0"/>
              </a:rPr>
              <a:t>1</a:t>
            </a:r>
            <a:r>
              <a:rPr lang="es-ES" sz="2600" i="1" dirty="0">
                <a:latin typeface="+mj-lt"/>
                <a:cs typeface="Arial" charset="0"/>
              </a:rPr>
              <a:t>. Atributos de Calidad: Se relacionan con la calidad del sistema, como rendimiento, usabilidad, fiabilidad, etc.</a:t>
            </a:r>
          </a:p>
          <a:p>
            <a:pPr marL="0" indent="0">
              <a:buNone/>
            </a:pPr>
            <a:r>
              <a:rPr lang="es-ES" sz="2600" i="1" dirty="0" smtClean="0">
                <a:latin typeface="+mj-lt"/>
                <a:cs typeface="Arial" charset="0"/>
              </a:rPr>
              <a:t>2</a:t>
            </a:r>
            <a:r>
              <a:rPr lang="es-ES" sz="2600" i="1" dirty="0">
                <a:latin typeface="+mj-lt"/>
                <a:cs typeface="Arial" charset="0"/>
              </a:rPr>
              <a:t>. Restricciones: Pueden incluir limitaciones técnicas, como plataformas de hardware o software específicas.</a:t>
            </a:r>
          </a:p>
          <a:p>
            <a:pPr marL="0" indent="0">
              <a:buNone/>
            </a:pPr>
            <a:r>
              <a:rPr lang="es-ES" sz="2600" i="1" dirty="0" smtClean="0">
                <a:latin typeface="+mj-lt"/>
                <a:cs typeface="Arial" charset="0"/>
              </a:rPr>
              <a:t>3</a:t>
            </a:r>
            <a:r>
              <a:rPr lang="es-ES" sz="2600" i="1" dirty="0">
                <a:latin typeface="+mj-lt"/>
                <a:cs typeface="Arial" charset="0"/>
              </a:rPr>
              <a:t>. Medibles: Deben ser cuantificables para poder evaluarlos y verificarlos.</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42124262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46181" y="1754216"/>
            <a:ext cx="10558386" cy="4580082"/>
          </a:xfrm>
        </p:spPr>
        <p:txBody>
          <a:bodyPr>
            <a:noAutofit/>
          </a:bodyPr>
          <a:lstStyle/>
          <a:p>
            <a:pPr marL="0" indent="0">
              <a:buNone/>
            </a:pPr>
            <a:r>
              <a:rPr lang="es-ES" sz="2600" i="1" dirty="0">
                <a:latin typeface="+mj-lt"/>
                <a:cs typeface="Arial" charset="0"/>
              </a:rPr>
              <a:t>3.2 Requerimientos No-Funcionales</a:t>
            </a:r>
          </a:p>
          <a:p>
            <a:pPr marL="0" indent="0">
              <a:buNone/>
            </a:pPr>
            <a:r>
              <a:rPr lang="es-ES_tradnl" sz="2600" dirty="0" smtClean="0">
                <a:solidFill>
                  <a:srgbClr val="000000"/>
                </a:solidFill>
                <a:latin typeface="+mj-lt"/>
              </a:rPr>
              <a:t>Preguntas cuyas respuestas pueden ser consideradas requerimientos no funcionales </a:t>
            </a:r>
          </a:p>
          <a:p>
            <a:pPr marL="0" indent="0">
              <a:buNone/>
            </a:pPr>
            <a:r>
              <a:rPr lang="es-ES" sz="2600" b="1" dirty="0">
                <a:solidFill>
                  <a:srgbClr val="000000"/>
                </a:solidFill>
                <a:latin typeface="+mj-lt"/>
              </a:rPr>
              <a:t>¿Cuáles son los requerimientos de seguridad? </a:t>
            </a:r>
          </a:p>
          <a:p>
            <a:pPr>
              <a:buFont typeface="Wingdings" pitchFamily="2" charset="2"/>
              <a:buChar char="Ø"/>
            </a:pPr>
            <a:r>
              <a:rPr lang="es-ES" sz="2600" dirty="0">
                <a:solidFill>
                  <a:srgbClr val="000000"/>
                </a:solidFill>
                <a:latin typeface="+mj-lt"/>
              </a:rPr>
              <a:t>El acceso será controlado con nombres de usuario y contraseñas.</a:t>
            </a:r>
          </a:p>
          <a:p>
            <a:pPr>
              <a:buFont typeface="Wingdings" pitchFamily="2" charset="2"/>
              <a:buChar char="Ø"/>
            </a:pPr>
            <a:r>
              <a:rPr lang="es-ES" sz="2600" dirty="0">
                <a:solidFill>
                  <a:srgbClr val="000000"/>
                </a:solidFill>
                <a:latin typeface="+mj-lt"/>
              </a:rPr>
              <a:t> </a:t>
            </a:r>
            <a:r>
              <a:rPr lang="es-ES" sz="2600" dirty="0" smtClean="0">
                <a:solidFill>
                  <a:srgbClr val="000000"/>
                </a:solidFill>
                <a:latin typeface="+mj-lt"/>
              </a:rPr>
              <a:t>Se </a:t>
            </a:r>
            <a:r>
              <a:rPr lang="es-ES" sz="2600" dirty="0">
                <a:solidFill>
                  <a:srgbClr val="000000"/>
                </a:solidFill>
                <a:latin typeface="+mj-lt"/>
              </a:rPr>
              <a:t>incluirá un módulo para las tareas administrativas, reservado a administradores</a:t>
            </a:r>
          </a:p>
          <a:p>
            <a:pPr>
              <a:buFont typeface="Wingdings" pitchFamily="2" charset="2"/>
              <a:buChar char="Ø"/>
            </a:pPr>
            <a:r>
              <a:rPr lang="es-ES" sz="2600" dirty="0">
                <a:solidFill>
                  <a:srgbClr val="000000"/>
                </a:solidFill>
                <a:latin typeface="+mj-lt"/>
              </a:rPr>
              <a:t> </a:t>
            </a:r>
            <a:r>
              <a:rPr lang="es-ES" sz="2600" dirty="0" smtClean="0">
                <a:solidFill>
                  <a:srgbClr val="000000"/>
                </a:solidFill>
                <a:latin typeface="+mj-lt"/>
              </a:rPr>
              <a:t>Cuando </a:t>
            </a:r>
            <a:r>
              <a:rPr lang="es-ES" sz="2600" dirty="0">
                <a:solidFill>
                  <a:srgbClr val="000000"/>
                </a:solidFill>
                <a:latin typeface="+mj-lt"/>
              </a:rPr>
              <a:t>sea necesario, utilizaremos comunicaciones seguras, como por ejemplo SSL</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6889824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46181" y="1754216"/>
            <a:ext cx="10558386" cy="4580082"/>
          </a:xfrm>
        </p:spPr>
        <p:txBody>
          <a:bodyPr>
            <a:noAutofit/>
          </a:bodyPr>
          <a:lstStyle/>
          <a:p>
            <a:pPr marL="0" indent="0">
              <a:buNone/>
            </a:pPr>
            <a:r>
              <a:rPr lang="es-ES" sz="2600" i="1" dirty="0">
                <a:latin typeface="+mj-lt"/>
                <a:cs typeface="Arial" charset="0"/>
              </a:rPr>
              <a:t>3.2 Requerimientos No-Funcionales</a:t>
            </a:r>
          </a:p>
          <a:p>
            <a:pPr marL="0" indent="0">
              <a:buNone/>
            </a:pPr>
            <a:r>
              <a:rPr lang="es-ES_tradnl" sz="2600" dirty="0" smtClean="0">
                <a:solidFill>
                  <a:srgbClr val="000000"/>
                </a:solidFill>
                <a:latin typeface="+mj-lt"/>
              </a:rPr>
              <a:t>Preguntas cuyas respuestas pueden ser consideradas requerimientos no funcionales </a:t>
            </a:r>
          </a:p>
          <a:p>
            <a:pPr marL="0" indent="0">
              <a:buNone/>
            </a:pPr>
            <a:r>
              <a:rPr lang="es-ES" sz="2600" b="1" dirty="0">
                <a:solidFill>
                  <a:srgbClr val="000000"/>
                </a:solidFill>
                <a:latin typeface="+mj-lt"/>
              </a:rPr>
              <a:t>¿Cuáles son los requerimientos de almacenamiento, importación y exportación de datos? </a:t>
            </a:r>
          </a:p>
          <a:p>
            <a:pPr>
              <a:buFont typeface="Wingdings" pitchFamily="2" charset="2"/>
              <a:buChar char="Ø"/>
            </a:pPr>
            <a:r>
              <a:rPr lang="es-ES" sz="2600" dirty="0" smtClean="0">
                <a:solidFill>
                  <a:srgbClr val="000000"/>
                </a:solidFill>
                <a:latin typeface="+mj-lt"/>
              </a:rPr>
              <a:t>El </a:t>
            </a:r>
            <a:r>
              <a:rPr lang="es-ES" sz="2600" dirty="0">
                <a:solidFill>
                  <a:srgbClr val="000000"/>
                </a:solidFill>
                <a:latin typeface="+mj-lt"/>
              </a:rPr>
              <a:t>sistema deberá almacenar todos los datos en una base de datos </a:t>
            </a:r>
            <a:r>
              <a:rPr lang="es-ES" sz="2600" dirty="0" err="1">
                <a:solidFill>
                  <a:srgbClr val="000000"/>
                </a:solidFill>
                <a:latin typeface="+mj-lt"/>
              </a:rPr>
              <a:t>mySQL</a:t>
            </a:r>
            <a:r>
              <a:rPr lang="es-ES" sz="2600" dirty="0">
                <a:solidFill>
                  <a:srgbClr val="000000"/>
                </a:solidFill>
                <a:latin typeface="+mj-lt"/>
              </a:rPr>
              <a:t>, donde puedan ser </a:t>
            </a:r>
            <a:r>
              <a:rPr lang="es-ES" sz="2600" dirty="0" smtClean="0">
                <a:solidFill>
                  <a:srgbClr val="000000"/>
                </a:solidFill>
                <a:latin typeface="+mj-lt"/>
              </a:rPr>
              <a:t>accedido por </a:t>
            </a:r>
            <a:r>
              <a:rPr lang="es-ES" sz="2600" dirty="0">
                <a:solidFill>
                  <a:srgbClr val="000000"/>
                </a:solidFill>
                <a:latin typeface="+mj-lt"/>
              </a:rPr>
              <a:t>otros programas </a:t>
            </a:r>
          </a:p>
          <a:p>
            <a:pPr>
              <a:buFont typeface="Wingdings" pitchFamily="2" charset="2"/>
              <a:buChar char="Ø"/>
            </a:pPr>
            <a:r>
              <a:rPr lang="es-ES" sz="2600" dirty="0">
                <a:solidFill>
                  <a:srgbClr val="000000"/>
                </a:solidFill>
                <a:latin typeface="+mj-lt"/>
              </a:rPr>
              <a:t>El sistema podrá almacenar todos los datos en un fichero XML</a:t>
            </a:r>
          </a:p>
          <a:p>
            <a:pPr>
              <a:buFont typeface="Wingdings" pitchFamily="2" charset="2"/>
              <a:buChar char="Ø"/>
            </a:pPr>
            <a:r>
              <a:rPr lang="es-ES" sz="2600" dirty="0">
                <a:solidFill>
                  <a:srgbClr val="000000"/>
                </a:solidFill>
                <a:latin typeface="+mj-lt"/>
              </a:rPr>
              <a:t>El sistema deberá ser capaz de almacenar y recuperar datos desde ficheros texto delimitados para comunicarse con otras aplicaciones</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33838595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46181" y="1754216"/>
            <a:ext cx="10558386" cy="4580082"/>
          </a:xfrm>
        </p:spPr>
        <p:txBody>
          <a:bodyPr>
            <a:noAutofit/>
          </a:bodyPr>
          <a:lstStyle/>
          <a:p>
            <a:pPr marL="0" indent="0">
              <a:buNone/>
            </a:pPr>
            <a:r>
              <a:rPr lang="es-ES" sz="2600" i="1" dirty="0">
                <a:latin typeface="+mj-lt"/>
                <a:cs typeface="Arial" charset="0"/>
              </a:rPr>
              <a:t>3.2 Requerimientos No-Funcionales</a:t>
            </a:r>
          </a:p>
          <a:p>
            <a:pPr marL="0" indent="0">
              <a:buNone/>
            </a:pPr>
            <a:r>
              <a:rPr lang="es-ES_tradnl" sz="2600" dirty="0" smtClean="0">
                <a:solidFill>
                  <a:srgbClr val="000000"/>
                </a:solidFill>
                <a:latin typeface="+mj-lt"/>
              </a:rPr>
              <a:t>Preguntas cuyas respuestas pueden ser consideradas requerimientos no funcionales </a:t>
            </a:r>
          </a:p>
          <a:p>
            <a:pPr marL="0" indent="0">
              <a:buNone/>
            </a:pPr>
            <a:r>
              <a:rPr lang="es-ES" sz="2600" b="1" dirty="0">
                <a:solidFill>
                  <a:srgbClr val="000000"/>
                </a:solidFill>
                <a:latin typeface="+mj-lt"/>
              </a:rPr>
              <a:t>¿Cuáles son los requerimientos de usabilidad? </a:t>
            </a:r>
          </a:p>
          <a:p>
            <a:pPr>
              <a:buFont typeface="Wingdings" pitchFamily="2" charset="2"/>
              <a:buChar char="Ø"/>
            </a:pPr>
            <a:r>
              <a:rPr lang="es-ES" sz="2600" dirty="0">
                <a:solidFill>
                  <a:srgbClr val="000000"/>
                </a:solidFill>
                <a:latin typeface="+mj-lt"/>
              </a:rPr>
              <a:t>La interfaz del usuario deberá ser tan familiar como sea posible a los usuarios, lo cual dependerá de la experiencia de los mismos en el uso de otras aplicaciones web y/o de escritorio. </a:t>
            </a:r>
          </a:p>
          <a:p>
            <a:pPr marL="0" indent="0">
              <a:buNone/>
            </a:pPr>
            <a:r>
              <a:rPr lang="es-ES" sz="2600" b="1" dirty="0">
                <a:solidFill>
                  <a:srgbClr val="000000"/>
                </a:solidFill>
                <a:latin typeface="+mj-lt"/>
              </a:rPr>
              <a:t> </a:t>
            </a:r>
            <a:r>
              <a:rPr lang="es-ES" sz="2600" b="1" dirty="0" smtClean="0">
                <a:solidFill>
                  <a:srgbClr val="000000"/>
                </a:solidFill>
                <a:latin typeface="+mj-lt"/>
              </a:rPr>
              <a:t>¿</a:t>
            </a:r>
            <a:r>
              <a:rPr lang="es-ES" sz="2600" b="1" dirty="0">
                <a:solidFill>
                  <a:srgbClr val="000000"/>
                </a:solidFill>
                <a:latin typeface="+mj-lt"/>
              </a:rPr>
              <a:t>Qué tipo de documentación y/o ayuda es necesaria, de acuerdo a la experiencia de los posibles usuarios?</a:t>
            </a:r>
          </a:p>
          <a:p>
            <a:pPr>
              <a:buFont typeface="Wingdings" pitchFamily="2" charset="2"/>
              <a:buChar char="Ø"/>
            </a:pPr>
            <a:r>
              <a:rPr lang="es-ES" sz="2600" dirty="0">
                <a:solidFill>
                  <a:srgbClr val="000000"/>
                </a:solidFill>
                <a:latin typeface="+mj-lt"/>
              </a:rPr>
              <a:t>Por ejemplo, el cliente puede desear ayuda en línea, pero no un manual impreso</a:t>
            </a:r>
            <a:r>
              <a:rPr lang="es-ES" sz="2600" b="1" dirty="0">
                <a:solidFill>
                  <a:srgbClr val="000000"/>
                </a:solidFill>
                <a:latin typeface="+mj-lt"/>
              </a:rPr>
              <a:t>. </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8822056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1046181" y="1754216"/>
            <a:ext cx="10558386" cy="4580082"/>
          </a:xfrm>
        </p:spPr>
        <p:txBody>
          <a:bodyPr>
            <a:noAutofit/>
          </a:bodyPr>
          <a:lstStyle/>
          <a:p>
            <a:pPr marL="0" indent="0">
              <a:buNone/>
            </a:pPr>
            <a:r>
              <a:rPr lang="es-ES" sz="2600" i="1" dirty="0">
                <a:latin typeface="+mj-lt"/>
                <a:cs typeface="Arial" charset="0"/>
              </a:rPr>
              <a:t>3.2 Requerimientos No-Funcionales</a:t>
            </a:r>
          </a:p>
          <a:p>
            <a:pPr marL="0" indent="0">
              <a:buNone/>
            </a:pPr>
            <a:r>
              <a:rPr lang="es-ES_tradnl" sz="2600" dirty="0" smtClean="0">
                <a:solidFill>
                  <a:srgbClr val="000000"/>
                </a:solidFill>
                <a:latin typeface="+mj-lt"/>
              </a:rPr>
              <a:t>Preguntas cuyas respuestas pueden ser consideradas requerimientos no funcionales </a:t>
            </a:r>
          </a:p>
          <a:p>
            <a:pPr marL="0" indent="0">
              <a:buNone/>
            </a:pPr>
            <a:r>
              <a:rPr lang="es-ES" sz="2600" b="1" dirty="0">
                <a:solidFill>
                  <a:srgbClr val="000000"/>
                </a:solidFill>
                <a:latin typeface="+mj-lt"/>
              </a:rPr>
              <a:t>¿Cuáles son los requerimientos de mantenimiento? </a:t>
            </a:r>
          </a:p>
          <a:p>
            <a:pPr>
              <a:buFont typeface="Wingdings" pitchFamily="2" charset="2"/>
              <a:buChar char="Ø"/>
            </a:pPr>
            <a:r>
              <a:rPr lang="es-ES" sz="2600" dirty="0">
                <a:solidFill>
                  <a:srgbClr val="000000"/>
                </a:solidFill>
                <a:latin typeface="+mj-lt"/>
              </a:rPr>
              <a:t>La capacidad de mantenimiento es nuestra habilidad para realizar cambios al producto en el tiempo. </a:t>
            </a:r>
          </a:p>
          <a:p>
            <a:pPr>
              <a:buFont typeface="Wingdings" pitchFamily="2" charset="2"/>
              <a:buChar char="Ø"/>
            </a:pPr>
            <a:r>
              <a:rPr lang="es-ES" sz="2600" dirty="0" smtClean="0">
                <a:solidFill>
                  <a:srgbClr val="000000"/>
                </a:solidFill>
                <a:latin typeface="+mj-lt"/>
              </a:rPr>
              <a:t>De </a:t>
            </a:r>
            <a:r>
              <a:rPr lang="es-ES" sz="2600" dirty="0">
                <a:solidFill>
                  <a:srgbClr val="000000"/>
                </a:solidFill>
                <a:latin typeface="+mj-lt"/>
              </a:rPr>
              <a:t>acuerdo a la opinión del cliente, sería conveniente determinar la posible variabilidad en el tiempo de estas especificaciones y de esta manera anticipar posibles cambios en las mismas.</a:t>
            </a:r>
          </a:p>
          <a:p>
            <a:pPr marL="0" indent="0">
              <a:buNone/>
            </a:pPr>
            <a:r>
              <a:rPr lang="es-ES" sz="2600" b="1" dirty="0">
                <a:solidFill>
                  <a:srgbClr val="000000"/>
                </a:solidFill>
                <a:latin typeface="+mj-lt"/>
              </a:rPr>
              <a:t> </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0099036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365760" y="1754216"/>
            <a:ext cx="11571316" cy="4580082"/>
          </a:xfrm>
        </p:spPr>
        <p:txBody>
          <a:bodyPr>
            <a:noAutofit/>
          </a:bodyPr>
          <a:lstStyle/>
          <a:p>
            <a:pPr marL="0" indent="0">
              <a:buNone/>
            </a:pPr>
            <a:r>
              <a:rPr lang="es-ES" sz="2600" i="1" dirty="0">
                <a:latin typeface="+mj-lt"/>
                <a:cs typeface="Arial" charset="0"/>
              </a:rPr>
              <a:t>3.2 Requerimientos No-Funcionales</a:t>
            </a:r>
          </a:p>
          <a:p>
            <a:pPr marL="0" indent="0">
              <a:buNone/>
            </a:pPr>
            <a:r>
              <a:rPr lang="es-ES_tradnl" sz="2600" dirty="0" smtClean="0">
                <a:solidFill>
                  <a:srgbClr val="000000"/>
                </a:solidFill>
                <a:latin typeface="+mj-lt"/>
              </a:rPr>
              <a:t>Preguntas cuyas respuestas pueden ser consideradas requerimientos no funcionales </a:t>
            </a:r>
          </a:p>
          <a:p>
            <a:pPr marL="0" indent="0">
              <a:buNone/>
            </a:pPr>
            <a:r>
              <a:rPr lang="es-ES" sz="2600" b="1" dirty="0">
                <a:solidFill>
                  <a:srgbClr val="000000"/>
                </a:solidFill>
                <a:latin typeface="+mj-lt"/>
              </a:rPr>
              <a:t>¿Cuáles son los requerimientos de actualización? </a:t>
            </a:r>
          </a:p>
          <a:p>
            <a:pPr>
              <a:buFont typeface="Wingdings" pitchFamily="2" charset="2"/>
              <a:buChar char="Ø"/>
            </a:pPr>
            <a:r>
              <a:rPr lang="es-ES" sz="2600" dirty="0">
                <a:solidFill>
                  <a:srgbClr val="000000"/>
                </a:solidFill>
                <a:latin typeface="+mj-lt"/>
              </a:rPr>
              <a:t>La posibilidad de mantener actualizado el producto es la capacidad para completar y entregar funcionando nuevas versiones del producto cuando sea necesario. </a:t>
            </a:r>
          </a:p>
          <a:p>
            <a:pPr>
              <a:buFont typeface="Wingdings" pitchFamily="2" charset="2"/>
              <a:buChar char="Ø"/>
            </a:pPr>
            <a:r>
              <a:rPr lang="es-ES" sz="2600" dirty="0">
                <a:solidFill>
                  <a:srgbClr val="000000"/>
                </a:solidFill>
                <a:latin typeface="+mj-lt"/>
              </a:rPr>
              <a:t>Este aspecto afecta tanto al software, como a los datos, por ejemplo, si una corrección provoca que el formato de los datos cambie (algún campo se adiciona o se divide, </a:t>
            </a:r>
            <a:r>
              <a:rPr lang="es-ES" sz="2600" dirty="0" err="1">
                <a:solidFill>
                  <a:srgbClr val="000000"/>
                </a:solidFill>
                <a:latin typeface="+mj-lt"/>
              </a:rPr>
              <a:t>etc</a:t>
            </a:r>
            <a:r>
              <a:rPr lang="es-ES" sz="2600" dirty="0">
                <a:solidFill>
                  <a:srgbClr val="000000"/>
                </a:solidFill>
                <a:latin typeface="+mj-lt"/>
              </a:rPr>
              <a:t>), la actualización incluirá el proceso de transformación de los viejos datos al nuevo formato. Los requerimientos pueden entonces incluir la inclusión de metadatos que ayuden en esta transformación</a:t>
            </a:r>
            <a:r>
              <a:rPr lang="es-ES" sz="2600" b="1" dirty="0">
                <a:solidFill>
                  <a:srgbClr val="000000"/>
                </a:solidFill>
                <a:latin typeface="+mj-lt"/>
              </a:rPr>
              <a:t>.</a:t>
            </a:r>
          </a:p>
          <a:p>
            <a:pPr marL="0" indent="0">
              <a:buNone/>
            </a:pPr>
            <a:r>
              <a:rPr lang="es-ES" sz="2600" b="1" dirty="0">
                <a:solidFill>
                  <a:srgbClr val="000000"/>
                </a:solidFill>
                <a:latin typeface="+mj-lt"/>
              </a:rPr>
              <a:t> </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41978512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365760" y="1754216"/>
            <a:ext cx="11571316" cy="4580082"/>
          </a:xfrm>
        </p:spPr>
        <p:txBody>
          <a:bodyPr>
            <a:noAutofit/>
          </a:bodyPr>
          <a:lstStyle/>
          <a:p>
            <a:pPr marL="0" indent="0">
              <a:buNone/>
            </a:pPr>
            <a:r>
              <a:rPr lang="es-ES" sz="2600" i="1" dirty="0">
                <a:latin typeface="+mj-lt"/>
                <a:cs typeface="Arial" charset="0"/>
              </a:rPr>
              <a:t>3.2 Requerimientos No-Funcionales</a:t>
            </a:r>
          </a:p>
          <a:p>
            <a:pPr marL="0" indent="0">
              <a:buNone/>
            </a:pPr>
            <a:r>
              <a:rPr lang="es-ES_tradnl" sz="2600" dirty="0" smtClean="0">
                <a:solidFill>
                  <a:srgbClr val="000000"/>
                </a:solidFill>
                <a:latin typeface="+mj-lt"/>
              </a:rPr>
              <a:t>Preguntas cuyas respuestas pueden ser consideradas requerimientos no funcionales </a:t>
            </a:r>
          </a:p>
          <a:p>
            <a:pPr marL="0" indent="0">
              <a:buNone/>
            </a:pPr>
            <a:r>
              <a:rPr lang="es-ES" sz="2600" b="1" dirty="0">
                <a:solidFill>
                  <a:srgbClr val="000000"/>
                </a:solidFill>
                <a:latin typeface="+mj-lt"/>
              </a:rPr>
              <a:t>¿Cuáles son los requerimientos de soporte técnico? </a:t>
            </a:r>
          </a:p>
          <a:p>
            <a:pPr>
              <a:buFont typeface="Wingdings" pitchFamily="2" charset="2"/>
              <a:buChar char="Ø"/>
            </a:pPr>
            <a:r>
              <a:rPr lang="es-ES" sz="2600" dirty="0">
                <a:solidFill>
                  <a:srgbClr val="000000"/>
                </a:solidFill>
                <a:latin typeface="+mj-lt"/>
              </a:rPr>
              <a:t>Debemos analizar nuestra habilidad de proveer soporte técnico eficiente y a bajo costo. </a:t>
            </a:r>
          </a:p>
          <a:p>
            <a:pPr>
              <a:buFont typeface="Wingdings" pitchFamily="2" charset="2"/>
              <a:buChar char="Ø"/>
            </a:pPr>
            <a:r>
              <a:rPr lang="es-ES" sz="2600" dirty="0">
                <a:solidFill>
                  <a:srgbClr val="000000"/>
                </a:solidFill>
                <a:latin typeface="+mj-lt"/>
              </a:rPr>
              <a:t>Valorar condiciones, como conectividad y </a:t>
            </a:r>
            <a:r>
              <a:rPr lang="es-ES" sz="2600" dirty="0" err="1">
                <a:solidFill>
                  <a:srgbClr val="000000"/>
                </a:solidFill>
                <a:latin typeface="+mj-lt"/>
              </a:rPr>
              <a:t>experticidad</a:t>
            </a:r>
            <a:r>
              <a:rPr lang="es-ES" sz="2600" dirty="0">
                <a:solidFill>
                  <a:srgbClr val="000000"/>
                </a:solidFill>
                <a:latin typeface="+mj-lt"/>
              </a:rPr>
              <a:t> del cliente para interactuar con un servicio de soporte técnico remoto. </a:t>
            </a:r>
          </a:p>
          <a:p>
            <a:pPr>
              <a:buFont typeface="Wingdings" pitchFamily="2" charset="2"/>
              <a:buChar char="Ø"/>
            </a:pPr>
            <a:r>
              <a:rPr lang="es-ES" sz="2600" dirty="0">
                <a:solidFill>
                  <a:srgbClr val="000000"/>
                </a:solidFill>
                <a:latin typeface="+mj-lt"/>
              </a:rPr>
              <a:t>Valorar y plasmar en los requerimientos la necesidad de incluir en el sitio web del producto una guía de resolución de problemas frecuentes, según las condiciones de acceso al sitio desde el cliente.</a:t>
            </a:r>
          </a:p>
          <a:p>
            <a:pPr marL="0" indent="0">
              <a:buNone/>
            </a:pPr>
            <a:r>
              <a:rPr lang="es-ES" sz="2600" b="1" dirty="0">
                <a:solidFill>
                  <a:srgbClr val="000000"/>
                </a:solidFill>
                <a:latin typeface="+mj-lt"/>
              </a:rPr>
              <a:t> </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68737305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365760" y="1754216"/>
            <a:ext cx="11571316" cy="4580082"/>
          </a:xfrm>
        </p:spPr>
        <p:txBody>
          <a:bodyPr>
            <a:noAutofit/>
          </a:bodyPr>
          <a:lstStyle/>
          <a:p>
            <a:pPr marL="0" indent="0">
              <a:buNone/>
            </a:pPr>
            <a:r>
              <a:rPr lang="es-ES" sz="2600" i="1" dirty="0">
                <a:latin typeface="+mj-lt"/>
                <a:cs typeface="Arial" charset="0"/>
              </a:rPr>
              <a:t>3.3 Requerimientos de Entorno</a:t>
            </a:r>
          </a:p>
          <a:p>
            <a:pPr marL="0" indent="0">
              <a:buNone/>
            </a:pPr>
            <a:r>
              <a:rPr lang="es-ES" sz="2600" i="1" dirty="0">
                <a:latin typeface="+mj-lt"/>
                <a:cs typeface="Arial" charset="0"/>
              </a:rPr>
              <a:t>¿Cuáles son los requerimientos de hardware del sistema? </a:t>
            </a:r>
          </a:p>
          <a:p>
            <a:pPr>
              <a:buFont typeface="Wingdings" pitchFamily="2" charset="2"/>
              <a:buChar char="Ø"/>
            </a:pPr>
            <a:r>
              <a:rPr lang="es-ES" sz="2600" i="1" dirty="0">
                <a:latin typeface="+mj-lt"/>
                <a:cs typeface="Arial" charset="0"/>
              </a:rPr>
              <a:t>Básicamente, NO se trata de decir que hardware CREEMOS que debe tener el sistema para su correcto funcionamiento, sino que hardware TIENE disponible para la operación del mismo el cliente y así condicionar otras decisiones de diseño a estas restricciones, aunque no esta negada la posibilidad de proponer cambios y mejoras en la plataforma actual, bien fundamentadas</a:t>
            </a:r>
          </a:p>
          <a:p>
            <a:pPr marL="0" indent="0">
              <a:buNone/>
            </a:pPr>
            <a:r>
              <a:rPr lang="es-ES" sz="2600" b="1" dirty="0">
                <a:solidFill>
                  <a:srgbClr val="000000"/>
                </a:solidFill>
                <a:latin typeface="+mj-lt"/>
              </a:rPr>
              <a:t> </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40034109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365760" y="1754216"/>
            <a:ext cx="11571316" cy="4580082"/>
          </a:xfrm>
        </p:spPr>
        <p:txBody>
          <a:bodyPr>
            <a:noAutofit/>
          </a:bodyPr>
          <a:lstStyle/>
          <a:p>
            <a:pPr marL="0" indent="0">
              <a:buNone/>
            </a:pPr>
            <a:r>
              <a:rPr lang="es-ES" sz="2600" i="1" dirty="0">
                <a:latin typeface="+mj-lt"/>
                <a:cs typeface="Arial" charset="0"/>
              </a:rPr>
              <a:t>3.3 Requerimientos de Entorno</a:t>
            </a:r>
          </a:p>
          <a:p>
            <a:pPr marL="0" indent="0">
              <a:buNone/>
            </a:pPr>
            <a:r>
              <a:rPr lang="es-ES" sz="2600" b="1" dirty="0">
                <a:solidFill>
                  <a:srgbClr val="000000"/>
                </a:solidFill>
                <a:latin typeface="+mj-lt"/>
              </a:rPr>
              <a:t>¿Cuáles son los requerimientos de software del sistema? </a:t>
            </a:r>
          </a:p>
          <a:p>
            <a:pPr marL="0" indent="0">
              <a:buNone/>
            </a:pPr>
            <a:r>
              <a:rPr lang="es-ES" sz="2600" dirty="0">
                <a:solidFill>
                  <a:srgbClr val="000000"/>
                </a:solidFill>
                <a:latin typeface="+mj-lt"/>
              </a:rPr>
              <a:t>Por ejemplo, proponer, de acuerdo con el cliente y sus condiciones de entorno</a:t>
            </a:r>
          </a:p>
          <a:p>
            <a:pPr marL="0" indent="0">
              <a:buNone/>
            </a:pPr>
            <a:r>
              <a:rPr lang="es-ES" sz="2600" dirty="0">
                <a:solidFill>
                  <a:srgbClr val="000000"/>
                </a:solidFill>
                <a:latin typeface="+mj-lt"/>
              </a:rPr>
              <a:t> Sistema Operativo</a:t>
            </a:r>
          </a:p>
          <a:p>
            <a:pPr marL="0" indent="0">
              <a:buNone/>
            </a:pPr>
            <a:r>
              <a:rPr lang="es-ES" sz="2600" dirty="0">
                <a:solidFill>
                  <a:srgbClr val="000000"/>
                </a:solidFill>
                <a:latin typeface="+mj-lt"/>
              </a:rPr>
              <a:t> Marco de trabajo (por ejemplo .NET o </a:t>
            </a:r>
            <a:r>
              <a:rPr lang="es-ES" sz="2600" dirty="0" smtClean="0">
                <a:solidFill>
                  <a:srgbClr val="000000"/>
                </a:solidFill>
                <a:latin typeface="+mj-lt"/>
              </a:rPr>
              <a:t>J2EE, </a:t>
            </a:r>
            <a:r>
              <a:rPr lang="es-ES" sz="2600" dirty="0" err="1" smtClean="0">
                <a:solidFill>
                  <a:srgbClr val="000000"/>
                </a:solidFill>
                <a:latin typeface="+mj-lt"/>
              </a:rPr>
              <a:t>android</a:t>
            </a:r>
            <a:r>
              <a:rPr lang="es-ES" sz="2600" dirty="0" smtClean="0">
                <a:solidFill>
                  <a:srgbClr val="000000"/>
                </a:solidFill>
                <a:latin typeface="+mj-lt"/>
              </a:rPr>
              <a:t> </a:t>
            </a:r>
            <a:r>
              <a:rPr lang="es-ES" sz="2600" dirty="0" err="1" smtClean="0">
                <a:solidFill>
                  <a:srgbClr val="000000"/>
                </a:solidFill>
                <a:latin typeface="+mj-lt"/>
              </a:rPr>
              <a:t>studio</a:t>
            </a:r>
            <a:r>
              <a:rPr lang="es-ES" sz="2600" dirty="0" smtClean="0">
                <a:solidFill>
                  <a:srgbClr val="000000"/>
                </a:solidFill>
                <a:latin typeface="+mj-lt"/>
              </a:rPr>
              <a:t>)</a:t>
            </a:r>
            <a:endParaRPr lang="es-ES" sz="2600" dirty="0">
              <a:solidFill>
                <a:srgbClr val="000000"/>
              </a:solidFill>
              <a:latin typeface="+mj-lt"/>
            </a:endParaRPr>
          </a:p>
          <a:p>
            <a:pPr marL="0" indent="0">
              <a:buNone/>
            </a:pPr>
            <a:r>
              <a:rPr lang="es-ES" sz="2600" dirty="0">
                <a:solidFill>
                  <a:srgbClr val="000000"/>
                </a:solidFill>
                <a:latin typeface="+mj-lt"/>
              </a:rPr>
              <a:t> Lenguaje de programación</a:t>
            </a:r>
          </a:p>
          <a:p>
            <a:pPr marL="0" indent="0">
              <a:buNone/>
            </a:pPr>
            <a:endParaRPr lang="es-ES" sz="2600" dirty="0">
              <a:solidFill>
                <a:srgbClr val="000000"/>
              </a:solidFill>
              <a:latin typeface="+mj-lt"/>
            </a:endParaRPr>
          </a:p>
          <a:p>
            <a:pPr marL="0" indent="0">
              <a:buNone/>
            </a:pPr>
            <a:r>
              <a:rPr lang="es-ES" sz="2600" dirty="0">
                <a:solidFill>
                  <a:srgbClr val="000000"/>
                </a:solidFill>
                <a:latin typeface="+mj-lt"/>
              </a:rPr>
              <a:t>(esto podrá condicionar la </a:t>
            </a:r>
            <a:r>
              <a:rPr lang="es-ES" sz="2600" dirty="0" err="1">
                <a:solidFill>
                  <a:srgbClr val="000000"/>
                </a:solidFill>
                <a:latin typeface="+mj-lt"/>
              </a:rPr>
              <a:t>experticidad</a:t>
            </a:r>
            <a:r>
              <a:rPr lang="es-ES" sz="2600" dirty="0">
                <a:solidFill>
                  <a:srgbClr val="000000"/>
                </a:solidFill>
                <a:latin typeface="+mj-lt"/>
              </a:rPr>
              <a:t> del personal del cliente para asumir en el futuro la actualización y mantenimiento del sistema)</a:t>
            </a:r>
          </a:p>
          <a:p>
            <a:pPr marL="0" indent="0">
              <a:buNone/>
            </a:pPr>
            <a:r>
              <a:rPr lang="es-ES" sz="2600" b="1" dirty="0">
                <a:solidFill>
                  <a:srgbClr val="000000"/>
                </a:solidFill>
                <a:latin typeface="+mj-lt"/>
              </a:rPr>
              <a:t> </a:t>
            </a:r>
          </a:p>
          <a:p>
            <a:pPr marL="0" indent="0">
              <a:buNone/>
            </a:pPr>
            <a:r>
              <a:rPr lang="es-ES" sz="2600" b="1" dirty="0" smtClean="0">
                <a:solidFill>
                  <a:srgbClr val="000000"/>
                </a:solidFill>
                <a:latin typeface="+mj-lt"/>
              </a:rPr>
              <a:t> </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3629615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smtClean="0"/>
              <a:t>Documento </a:t>
            </a:r>
            <a:r>
              <a:rPr lang="es-ES" dirty="0" err="1" smtClean="0"/>
              <a:t>Sommerville</a:t>
            </a:r>
            <a:r>
              <a:rPr lang="es-ES" dirty="0" smtClean="0"/>
              <a:t>: Requerimientos Específicos </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365760" y="1754216"/>
            <a:ext cx="11571316" cy="4580082"/>
          </a:xfrm>
        </p:spPr>
        <p:txBody>
          <a:bodyPr>
            <a:noAutofit/>
          </a:bodyPr>
          <a:lstStyle/>
          <a:p>
            <a:pPr marL="0" indent="0">
              <a:buNone/>
            </a:pPr>
            <a:r>
              <a:rPr lang="es-ES" sz="2600" i="1" dirty="0">
                <a:latin typeface="+mj-lt"/>
                <a:cs typeface="Arial" charset="0"/>
              </a:rPr>
              <a:t>3.3 Requerimientos de Entorno</a:t>
            </a:r>
          </a:p>
          <a:p>
            <a:pPr marL="0" indent="0">
              <a:buNone/>
            </a:pPr>
            <a:r>
              <a:rPr lang="es-ES" sz="2600" b="1" dirty="0">
                <a:solidFill>
                  <a:srgbClr val="000000"/>
                </a:solidFill>
                <a:latin typeface="+mj-lt"/>
              </a:rPr>
              <a:t>¿Cuáles son los requerimientos de software del sistema? </a:t>
            </a:r>
          </a:p>
          <a:p>
            <a:pPr>
              <a:buFont typeface="Wingdings" pitchFamily="2" charset="2"/>
              <a:buChar char="Ø"/>
            </a:pPr>
            <a:r>
              <a:rPr lang="es-ES" sz="2600" dirty="0">
                <a:solidFill>
                  <a:srgbClr val="000000"/>
                </a:solidFill>
                <a:latin typeface="+mj-lt"/>
              </a:rPr>
              <a:t>En este caso es </a:t>
            </a:r>
            <a:r>
              <a:rPr lang="es-ES" sz="2600" b="1" dirty="0">
                <a:solidFill>
                  <a:srgbClr val="000000"/>
                </a:solidFill>
                <a:latin typeface="+mj-lt"/>
              </a:rPr>
              <a:t>MUY IMPORTANTE </a:t>
            </a:r>
            <a:r>
              <a:rPr lang="es-ES" sz="2600" dirty="0">
                <a:solidFill>
                  <a:srgbClr val="000000"/>
                </a:solidFill>
                <a:latin typeface="+mj-lt"/>
              </a:rPr>
              <a:t>tener en cuenta las posibilidades reales de explotación del producto por parte del cliente y sus </a:t>
            </a:r>
            <a:r>
              <a:rPr lang="es-ES" sz="2600" dirty="0" smtClean="0">
                <a:solidFill>
                  <a:srgbClr val="000000"/>
                </a:solidFill>
                <a:latin typeface="+mj-lt"/>
              </a:rPr>
              <a:t>preferencias.</a:t>
            </a:r>
            <a:endParaRPr lang="es-ES" sz="2600" dirty="0">
              <a:solidFill>
                <a:srgbClr val="000000"/>
              </a:solidFill>
              <a:latin typeface="+mj-lt"/>
            </a:endParaRPr>
          </a:p>
          <a:p>
            <a:pPr>
              <a:buFont typeface="Wingdings" pitchFamily="2" charset="2"/>
              <a:buChar char="Ø"/>
            </a:pPr>
            <a:r>
              <a:rPr lang="es-ES" sz="2600" dirty="0">
                <a:solidFill>
                  <a:srgbClr val="000000"/>
                </a:solidFill>
                <a:latin typeface="+mj-lt"/>
              </a:rPr>
              <a:t> Por ejemplo, no podemos proponer simplemente un software basado en servicios Web programados en ASP.NET si el cliente no cuenta con servidores Windows y experiencia en la administración de este tipo de servidores, a no ser que se incluya una propuesta preliminar de solución a esta limitación </a:t>
            </a:r>
          </a:p>
          <a:p>
            <a:pPr marL="0" indent="0">
              <a:buNone/>
            </a:pPr>
            <a:r>
              <a:rPr lang="es-ES" sz="2600" b="1" dirty="0" smtClean="0">
                <a:solidFill>
                  <a:srgbClr val="000000"/>
                </a:solidFill>
                <a:latin typeface="+mj-lt"/>
              </a:rPr>
              <a:t> </a:t>
            </a:r>
          </a:p>
          <a:p>
            <a:pPr marL="0" indent="0">
              <a:buNone/>
            </a:pPr>
            <a:r>
              <a:rPr lang="es-ES" sz="2600" b="1" dirty="0" smtClean="0">
                <a:solidFill>
                  <a:srgbClr val="000000"/>
                </a:solidFill>
                <a:latin typeface="+mj-lt"/>
              </a:rPr>
              <a:t> </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3273847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a:bodyPr>
          <a:lstStyle/>
          <a:p>
            <a:pPr algn="ctr"/>
            <a:r>
              <a:rPr lang="es-ES" dirty="0" smtClean="0"/>
              <a:t>Documento </a:t>
            </a:r>
            <a:r>
              <a:rPr lang="es-ES" dirty="0" err="1" smtClean="0"/>
              <a:t>Sommerville</a:t>
            </a:r>
            <a:r>
              <a:rPr lang="es-ES" dirty="0" smtClean="0"/>
              <a:t>: Anexos</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365760" y="1754216"/>
            <a:ext cx="11571316" cy="4580082"/>
          </a:xfrm>
        </p:spPr>
        <p:txBody>
          <a:bodyPr>
            <a:noAutofit/>
          </a:bodyPr>
          <a:lstStyle/>
          <a:p>
            <a:pPr marL="282575" indent="-282575">
              <a:buNone/>
            </a:pPr>
            <a:r>
              <a:rPr lang="es-ES_tradnl" sz="2800" b="1" dirty="0">
                <a:latin typeface="Arial" charset="0"/>
              </a:rPr>
              <a:t>Anexos</a:t>
            </a:r>
          </a:p>
          <a:p>
            <a:pPr>
              <a:buFont typeface="Wingdings" pitchFamily="2" charset="2"/>
              <a:buChar char="Ø"/>
            </a:pPr>
            <a:r>
              <a:rPr lang="es-ES_tradnl" sz="2800" dirty="0">
                <a:latin typeface="Arial" charset="0"/>
              </a:rPr>
              <a:t> Nombre y cargo u ocupación de las personas entrevistadas</a:t>
            </a:r>
          </a:p>
          <a:p>
            <a:pPr>
              <a:buFont typeface="Wingdings" pitchFamily="2" charset="2"/>
              <a:buChar char="Ø"/>
            </a:pPr>
            <a:r>
              <a:rPr lang="es-ES_tradnl" sz="2800" dirty="0">
                <a:latin typeface="Arial" charset="0"/>
              </a:rPr>
              <a:t> Cantidad y periodicidad de los encuentros sostenidos por el equipo para producir las especificaciones </a:t>
            </a:r>
            <a:endParaRPr lang="es-ES_tradnl" sz="2800" dirty="0" smtClean="0">
              <a:latin typeface="Arial" charset="0"/>
            </a:endParaRPr>
          </a:p>
          <a:p>
            <a:pPr>
              <a:buFont typeface="Wingdings" pitchFamily="2" charset="2"/>
              <a:buChar char="Ø"/>
            </a:pPr>
            <a:r>
              <a:rPr lang="es-ES_tradnl" sz="2800" dirty="0" smtClean="0">
                <a:latin typeface="Arial" charset="0"/>
              </a:rPr>
              <a:t>Posibles </a:t>
            </a:r>
            <a:r>
              <a:rPr lang="es-ES_tradnl" sz="2800" dirty="0">
                <a:latin typeface="Arial" charset="0"/>
              </a:rPr>
              <a:t>formatos ejemplo de documentos, interfaces y otros similares, que facilite el cliente para ayudar a comprender sus ideas y necesidades</a:t>
            </a:r>
          </a:p>
          <a:p>
            <a:pPr marL="0" indent="0">
              <a:buNone/>
            </a:pPr>
            <a:r>
              <a:rPr lang="es-ES" sz="2600" b="1" dirty="0" smtClean="0">
                <a:solidFill>
                  <a:srgbClr val="000000"/>
                </a:solidFill>
                <a:latin typeface="+mj-lt"/>
              </a:rPr>
              <a:t> </a:t>
            </a:r>
          </a:p>
          <a:p>
            <a:pPr marL="0" indent="0">
              <a:buNone/>
            </a:pPr>
            <a:r>
              <a:rPr lang="es-ES" sz="2600" b="1" dirty="0" smtClean="0">
                <a:solidFill>
                  <a:srgbClr val="000000"/>
                </a:solidFill>
                <a:latin typeface="+mj-lt"/>
              </a:rPr>
              <a:t> </a:t>
            </a:r>
          </a:p>
          <a:p>
            <a:pPr>
              <a:buFont typeface="Wingdings" pitchFamily="2" charset="2"/>
              <a:buChar char="Ø"/>
            </a:pPr>
            <a:endParaRPr lang="es-ES_tradnl" sz="2600" dirty="0">
              <a:solidFill>
                <a:srgbClr val="000000"/>
              </a:solidFill>
              <a:latin typeface="+mj-lt"/>
            </a:endParaRPr>
          </a:p>
        </p:txBody>
      </p:sp>
    </p:spTree>
    <p:extLst>
      <p:ext uri="{BB962C8B-B14F-4D97-AF65-F5344CB8AC3E}">
        <p14:creationId xmlns:p14="http://schemas.microsoft.com/office/powerpoint/2010/main" val="174866199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Validación</a:t>
            </a:r>
            <a:r>
              <a:rPr lang="es-ES_tradnl" dirty="0" smtClean="0">
                <a:cs typeface="Times New Roman" panose="02020603050405020304" pitchFamily="18" charset="0"/>
              </a:rPr>
              <a:t>.</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710187"/>
            <a:ext cx="11933583" cy="4571343"/>
          </a:xfrm>
        </p:spPr>
        <p:txBody>
          <a:bodyPr>
            <a:noAutofit/>
          </a:bodyPr>
          <a:lstStyle/>
          <a:p>
            <a:pPr>
              <a:buFont typeface="Wingdings" pitchFamily="2" charset="2"/>
              <a:buChar char="Ø"/>
            </a:pPr>
            <a:r>
              <a:rPr lang="es-ES" sz="2600" dirty="0">
                <a:solidFill>
                  <a:srgbClr val="000000"/>
                </a:solidFill>
                <a:latin typeface="+mj-lt"/>
              </a:rPr>
              <a:t>La calidad de los productos del trabajo que se generan como consecuencia de </a:t>
            </a:r>
            <a:r>
              <a:rPr lang="es-ES" sz="2600" dirty="0" smtClean="0">
                <a:solidFill>
                  <a:srgbClr val="000000"/>
                </a:solidFill>
                <a:latin typeface="+mj-lt"/>
              </a:rPr>
              <a:t>la ingeniería </a:t>
            </a:r>
            <a:r>
              <a:rPr lang="es-ES" sz="2600" dirty="0">
                <a:solidFill>
                  <a:srgbClr val="000000"/>
                </a:solidFill>
                <a:latin typeface="+mj-lt"/>
              </a:rPr>
              <a:t>de los requerimientos se evalúa durante el paso de validación. </a:t>
            </a:r>
            <a:endParaRPr lang="es-ES" sz="2600" dirty="0" smtClean="0">
              <a:solidFill>
                <a:srgbClr val="000000"/>
              </a:solidFill>
              <a:latin typeface="+mj-lt"/>
            </a:endParaRPr>
          </a:p>
          <a:p>
            <a:pPr>
              <a:buFont typeface="Wingdings" pitchFamily="2" charset="2"/>
              <a:buChar char="Ø"/>
            </a:pPr>
            <a:r>
              <a:rPr lang="es-ES" sz="2600" dirty="0" smtClean="0">
                <a:solidFill>
                  <a:srgbClr val="000000"/>
                </a:solidFill>
                <a:latin typeface="+mj-lt"/>
              </a:rPr>
              <a:t>La </a:t>
            </a:r>
            <a:r>
              <a:rPr lang="es-ES" sz="2600" dirty="0">
                <a:solidFill>
                  <a:srgbClr val="000000"/>
                </a:solidFill>
                <a:latin typeface="+mj-lt"/>
              </a:rPr>
              <a:t>validación de </a:t>
            </a:r>
            <a:r>
              <a:rPr lang="es-ES" sz="2600" dirty="0" smtClean="0">
                <a:solidFill>
                  <a:srgbClr val="000000"/>
                </a:solidFill>
                <a:latin typeface="+mj-lt"/>
              </a:rPr>
              <a:t>los requerimientos </a:t>
            </a:r>
            <a:r>
              <a:rPr lang="es-ES" sz="2600" dirty="0">
                <a:solidFill>
                  <a:srgbClr val="000000"/>
                </a:solidFill>
                <a:latin typeface="+mj-lt"/>
              </a:rPr>
              <a:t>analiza la </a:t>
            </a:r>
            <a:r>
              <a:rPr lang="es-ES" sz="2600" dirty="0" smtClean="0">
                <a:solidFill>
                  <a:srgbClr val="000000"/>
                </a:solidFill>
                <a:latin typeface="+mj-lt"/>
              </a:rPr>
              <a:t>especificación a </a:t>
            </a:r>
            <a:r>
              <a:rPr lang="es-ES" sz="2600" dirty="0">
                <a:solidFill>
                  <a:srgbClr val="000000"/>
                </a:solidFill>
                <a:latin typeface="+mj-lt"/>
              </a:rPr>
              <a:t>fin de garantizar que todos ellos han sido </a:t>
            </a:r>
            <a:r>
              <a:rPr lang="es-ES" sz="2600" dirty="0" smtClean="0">
                <a:solidFill>
                  <a:srgbClr val="000000"/>
                </a:solidFill>
                <a:latin typeface="+mj-lt"/>
              </a:rPr>
              <a:t>enunciados sin </a:t>
            </a:r>
            <a:r>
              <a:rPr lang="es-ES" sz="2600" dirty="0">
                <a:solidFill>
                  <a:srgbClr val="000000"/>
                </a:solidFill>
                <a:latin typeface="+mj-lt"/>
              </a:rPr>
              <a:t>ambigüedades; que se detectaron y corrigieron las inconsistencias, las omisiones y </a:t>
            </a:r>
            <a:r>
              <a:rPr lang="es-ES" sz="2600" dirty="0" smtClean="0">
                <a:solidFill>
                  <a:srgbClr val="000000"/>
                </a:solidFill>
                <a:latin typeface="+mj-lt"/>
              </a:rPr>
              <a:t>los errores</a:t>
            </a:r>
            <a:r>
              <a:rPr lang="es-ES" sz="2600" dirty="0">
                <a:solidFill>
                  <a:srgbClr val="000000"/>
                </a:solidFill>
                <a:latin typeface="+mj-lt"/>
              </a:rPr>
              <a:t>, y que los productos del trabajo se presentan conforme a los estándares </a:t>
            </a:r>
            <a:r>
              <a:rPr lang="es-ES" sz="2600" dirty="0" smtClean="0">
                <a:solidFill>
                  <a:srgbClr val="000000"/>
                </a:solidFill>
                <a:latin typeface="+mj-lt"/>
              </a:rPr>
              <a:t>establecidos para </a:t>
            </a:r>
            <a:r>
              <a:rPr lang="es-ES" sz="2600" dirty="0">
                <a:solidFill>
                  <a:srgbClr val="000000"/>
                </a:solidFill>
                <a:latin typeface="+mj-lt"/>
              </a:rPr>
              <a:t>el proceso, el proyecto y el producto</a:t>
            </a:r>
            <a:r>
              <a:rPr lang="es-ES" sz="2600" dirty="0" smtClean="0">
                <a:solidFill>
                  <a:srgbClr val="000000"/>
                </a:solidFill>
                <a:latin typeface="+mj-lt"/>
              </a:rPr>
              <a:t>.</a:t>
            </a:r>
          </a:p>
          <a:p>
            <a:pPr>
              <a:buFont typeface="Wingdings" pitchFamily="2" charset="2"/>
              <a:buChar char="Ø"/>
            </a:pPr>
            <a:r>
              <a:rPr lang="es-ES" sz="2800" dirty="0"/>
              <a:t>El mecanismo principal de validación de los requerimientos es la revisión </a:t>
            </a:r>
            <a:r>
              <a:rPr lang="es-ES" sz="2800" dirty="0" smtClean="0"/>
              <a:t>técnica</a:t>
            </a:r>
          </a:p>
          <a:p>
            <a:pPr>
              <a:buFont typeface="Wingdings" pitchFamily="2" charset="2"/>
              <a:buChar char="Ø"/>
            </a:pPr>
            <a:r>
              <a:rPr lang="es-ES" sz="2600" dirty="0">
                <a:solidFill>
                  <a:srgbClr val="000000"/>
                </a:solidFill>
                <a:latin typeface="+mj-lt"/>
              </a:rPr>
              <a:t>El equipo de revisión que los valida incluye ingenieros de software, clientes, </a:t>
            </a:r>
            <a:r>
              <a:rPr lang="es-ES" sz="2600" dirty="0" smtClean="0">
                <a:solidFill>
                  <a:srgbClr val="000000"/>
                </a:solidFill>
                <a:latin typeface="+mj-lt"/>
              </a:rPr>
              <a:t>usuarios  y </a:t>
            </a:r>
            <a:r>
              <a:rPr lang="es-ES" sz="2600" dirty="0">
                <a:solidFill>
                  <a:srgbClr val="000000"/>
                </a:solidFill>
                <a:latin typeface="+mj-lt"/>
              </a:rPr>
              <a:t>otros participantes, que analizan la especificación en busca de errores de contenido o </a:t>
            </a:r>
            <a:r>
              <a:rPr lang="es-ES" sz="2600" dirty="0" smtClean="0">
                <a:solidFill>
                  <a:srgbClr val="000000"/>
                </a:solidFill>
                <a:latin typeface="+mj-lt"/>
              </a:rPr>
              <a:t>de interpretación</a:t>
            </a:r>
            <a:r>
              <a:rPr lang="es-ES" sz="2600" dirty="0">
                <a:solidFill>
                  <a:srgbClr val="000000"/>
                </a:solidFill>
                <a:latin typeface="+mj-lt"/>
              </a:rPr>
              <a:t>, de aspectos en los que tal vez se requiera hacer aclaraciones, falta de información</a:t>
            </a:r>
            <a:r>
              <a:rPr lang="es-ES" sz="2600" dirty="0" smtClean="0">
                <a:solidFill>
                  <a:srgbClr val="000000"/>
                </a:solidFill>
                <a:latin typeface="+mj-lt"/>
              </a:rPr>
              <a:t>, inconsistencias y </a:t>
            </a:r>
            <a:r>
              <a:rPr lang="es-ES" sz="2600" dirty="0">
                <a:solidFill>
                  <a:srgbClr val="000000"/>
                </a:solidFill>
                <a:latin typeface="+mj-lt"/>
              </a:rPr>
              <a:t>requerimientos en conflicto o </a:t>
            </a:r>
            <a:r>
              <a:rPr lang="es-ES" sz="2600" dirty="0" smtClean="0">
                <a:solidFill>
                  <a:srgbClr val="000000"/>
                </a:solidFill>
                <a:latin typeface="+mj-lt"/>
              </a:rPr>
              <a:t>irreales.</a:t>
            </a:r>
            <a:endParaRPr lang="es-ES_tradnl" sz="2600" dirty="0">
              <a:solidFill>
                <a:srgbClr val="000000"/>
              </a:solidFill>
              <a:latin typeface="+mj-lt"/>
            </a:endParaRPr>
          </a:p>
        </p:txBody>
      </p:sp>
    </p:spTree>
    <p:extLst>
      <p:ext uri="{BB962C8B-B14F-4D97-AF65-F5344CB8AC3E}">
        <p14:creationId xmlns:p14="http://schemas.microsoft.com/office/powerpoint/2010/main" val="22896916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_tradnl" dirty="0">
                <a:cs typeface="Times New Roman" panose="02020603050405020304" pitchFamily="18" charset="0"/>
              </a:rPr>
              <a:t>Tareas de la Ingeniería de </a:t>
            </a:r>
            <a:r>
              <a:rPr lang="es-ES_tradnl" dirty="0" smtClean="0">
                <a:cs typeface="Times New Roman" panose="02020603050405020304" pitchFamily="18" charset="0"/>
              </a:rPr>
              <a:t>requerimientos:</a:t>
            </a:r>
            <a:r>
              <a:rPr lang="es-ES_tradnl" dirty="0">
                <a:cs typeface="Times New Roman" panose="02020603050405020304" pitchFamily="18" charset="0"/>
              </a:rPr>
              <a:t/>
            </a:r>
            <a:br>
              <a:rPr lang="es-ES_tradnl" dirty="0">
                <a:cs typeface="Times New Roman" panose="02020603050405020304" pitchFamily="18" charset="0"/>
              </a:rPr>
            </a:br>
            <a:r>
              <a:rPr lang="es-ES_tradnl" dirty="0">
                <a:cs typeface="Times New Roman" panose="02020603050405020304" pitchFamily="18" charset="0"/>
              </a:rPr>
              <a:t>Administración de los requerimientos.</a:t>
            </a:r>
            <a:endParaRPr lang="es-ES"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2425148"/>
            <a:ext cx="11933583" cy="3856382"/>
          </a:xfrm>
        </p:spPr>
        <p:txBody>
          <a:bodyPr>
            <a:noAutofit/>
          </a:bodyPr>
          <a:lstStyle/>
          <a:p>
            <a:pPr>
              <a:buFont typeface="Wingdings" pitchFamily="2" charset="2"/>
              <a:buChar char="Ø"/>
            </a:pPr>
            <a:r>
              <a:rPr lang="es-ES" sz="2600" dirty="0" smtClean="0">
                <a:solidFill>
                  <a:srgbClr val="000000"/>
                </a:solidFill>
                <a:latin typeface="+mj-lt"/>
              </a:rPr>
              <a:t>La administración </a:t>
            </a:r>
            <a:r>
              <a:rPr lang="es-ES" sz="2600" dirty="0">
                <a:solidFill>
                  <a:srgbClr val="000000"/>
                </a:solidFill>
                <a:latin typeface="+mj-lt"/>
              </a:rPr>
              <a:t>de los requerimientos es el conjunto de actividades que ayudan al </a:t>
            </a:r>
            <a:r>
              <a:rPr lang="es-ES" sz="2600" dirty="0" smtClean="0">
                <a:solidFill>
                  <a:srgbClr val="000000"/>
                </a:solidFill>
                <a:latin typeface="+mj-lt"/>
              </a:rPr>
              <a:t>equipo del </a:t>
            </a:r>
            <a:r>
              <a:rPr lang="es-ES" sz="2600" dirty="0">
                <a:solidFill>
                  <a:srgbClr val="000000"/>
                </a:solidFill>
                <a:latin typeface="+mj-lt"/>
              </a:rPr>
              <a:t>proyecto a identificar, controlar y dar seguimiento a los requerimientos y a sus </a:t>
            </a:r>
            <a:r>
              <a:rPr lang="es-ES" sz="2600" dirty="0" smtClean="0">
                <a:solidFill>
                  <a:srgbClr val="000000"/>
                </a:solidFill>
                <a:latin typeface="+mj-lt"/>
              </a:rPr>
              <a:t>cambios en </a:t>
            </a:r>
            <a:r>
              <a:rPr lang="es-ES" sz="2600" dirty="0">
                <a:solidFill>
                  <a:srgbClr val="000000"/>
                </a:solidFill>
                <a:latin typeface="+mj-lt"/>
              </a:rPr>
              <a:t>cualquier momento del desarrollo del proyecto</a:t>
            </a:r>
            <a:endParaRPr lang="es-ES_tradnl" sz="2600" dirty="0">
              <a:solidFill>
                <a:srgbClr val="000000"/>
              </a:solidFill>
              <a:latin typeface="+mj-lt"/>
            </a:endParaRPr>
          </a:p>
        </p:txBody>
      </p:sp>
    </p:spTree>
    <p:extLst>
      <p:ext uri="{BB962C8B-B14F-4D97-AF65-F5344CB8AC3E}">
        <p14:creationId xmlns:p14="http://schemas.microsoft.com/office/powerpoint/2010/main" val="375692842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cs typeface="Times New Roman" panose="02020603050405020304" pitchFamily="18" charset="0"/>
              </a:rPr>
              <a:t>Etapas requeridas para establecer las </a:t>
            </a:r>
            <a:r>
              <a:rPr lang="es-ES" dirty="0" smtClean="0">
                <a:cs typeface="Times New Roman" panose="02020603050405020304" pitchFamily="18" charset="0"/>
              </a:rPr>
              <a:t>bases</a:t>
            </a:r>
            <a:endParaRPr lang="es-ES" dirty="0">
              <a:cs typeface="Times New Roman" panose="02020603050405020304" pitchFamily="18"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pic>
        <p:nvPicPr>
          <p:cNvPr id="4" name="3 Marcador de contenido"/>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97564" y="1846263"/>
            <a:ext cx="11270975" cy="4455146"/>
          </a:xfrm>
        </p:spPr>
      </p:pic>
    </p:spTree>
    <p:extLst>
      <p:ext uri="{BB962C8B-B14F-4D97-AF65-F5344CB8AC3E}">
        <p14:creationId xmlns:p14="http://schemas.microsoft.com/office/powerpoint/2010/main" val="17812804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cs typeface="Times New Roman" panose="02020603050405020304" pitchFamily="18" charset="0"/>
              </a:rPr>
              <a:t>Etapas requeridas para establecer las </a:t>
            </a:r>
            <a:r>
              <a:rPr lang="es-ES" dirty="0" smtClean="0">
                <a:cs typeface="Times New Roman" panose="02020603050405020304" pitchFamily="18" charset="0"/>
              </a:rPr>
              <a:t>bases</a:t>
            </a:r>
            <a:endParaRPr lang="es-ES" dirty="0">
              <a:cs typeface="Times New Roman" panose="02020603050405020304" pitchFamily="18"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669775"/>
            <a:ext cx="11933583" cy="4611756"/>
          </a:xfrm>
        </p:spPr>
        <p:txBody>
          <a:bodyPr>
            <a:noAutofit/>
          </a:bodyPr>
          <a:lstStyle/>
          <a:p>
            <a:pPr marL="0" indent="0">
              <a:buNone/>
            </a:pPr>
            <a:r>
              <a:rPr lang="es-ES" sz="2800" b="1" dirty="0" smtClean="0"/>
              <a:t>Hacer </a:t>
            </a:r>
            <a:r>
              <a:rPr lang="es-ES" sz="2800" b="1" dirty="0"/>
              <a:t>las Primeras Preguntas Clave</a:t>
            </a:r>
          </a:p>
          <a:p>
            <a:pPr marL="514350" indent="-514350">
              <a:buFont typeface="+mj-lt"/>
              <a:buAutoNum type="arabicPeriod"/>
            </a:pPr>
            <a:r>
              <a:rPr lang="es-ES" sz="2600" dirty="0">
                <a:solidFill>
                  <a:srgbClr val="000000"/>
                </a:solidFill>
                <a:latin typeface="+mj-lt"/>
              </a:rPr>
              <a:t>Las preguntas que se hacen en la concepción del proyecto deben estar “libres del contexto</a:t>
            </a:r>
            <a:r>
              <a:rPr lang="es-ES" sz="2600" dirty="0" smtClean="0">
                <a:solidFill>
                  <a:srgbClr val="000000"/>
                </a:solidFill>
                <a:latin typeface="+mj-lt"/>
              </a:rPr>
              <a:t>”</a:t>
            </a:r>
          </a:p>
          <a:p>
            <a:pPr marL="514350" indent="-514350">
              <a:buFont typeface="+mj-lt"/>
              <a:buAutoNum type="arabicPeriod"/>
            </a:pPr>
            <a:r>
              <a:rPr lang="es-ES" sz="2600" dirty="0">
                <a:solidFill>
                  <a:srgbClr val="000000"/>
                </a:solidFill>
                <a:latin typeface="+mj-lt"/>
              </a:rPr>
              <a:t>El primer conjunto de ellas se centran en el cliente y en otros participantes, en las </a:t>
            </a:r>
            <a:r>
              <a:rPr lang="es-ES" sz="2600" dirty="0" smtClean="0">
                <a:solidFill>
                  <a:srgbClr val="000000"/>
                </a:solidFill>
                <a:latin typeface="+mj-lt"/>
              </a:rPr>
              <a:t>metas y </a:t>
            </a:r>
            <a:r>
              <a:rPr lang="es-ES" sz="2600" dirty="0">
                <a:solidFill>
                  <a:srgbClr val="000000"/>
                </a:solidFill>
                <a:latin typeface="+mj-lt"/>
              </a:rPr>
              <a:t>beneficios generales. Por ejemplo, tal vez se pregunte</a:t>
            </a:r>
            <a:r>
              <a:rPr lang="es-ES" sz="2600" dirty="0" smtClean="0">
                <a:solidFill>
                  <a:srgbClr val="000000"/>
                </a:solidFill>
                <a:latin typeface="+mj-lt"/>
              </a:rPr>
              <a:t>:</a:t>
            </a:r>
          </a:p>
          <a:p>
            <a:pPr marL="292608" lvl="1" indent="0">
              <a:buNone/>
            </a:pPr>
            <a:r>
              <a:rPr lang="es-ES" sz="2400" dirty="0">
                <a:solidFill>
                  <a:srgbClr val="000000"/>
                </a:solidFill>
                <a:latin typeface="+mj-lt"/>
              </a:rPr>
              <a:t>• ¿Quién está detrás de la solicitud de este trabajo?</a:t>
            </a:r>
          </a:p>
          <a:p>
            <a:pPr marL="292608" lvl="1" indent="0">
              <a:buNone/>
            </a:pPr>
            <a:r>
              <a:rPr lang="es-ES" sz="2400" dirty="0">
                <a:solidFill>
                  <a:srgbClr val="000000"/>
                </a:solidFill>
                <a:latin typeface="+mj-lt"/>
              </a:rPr>
              <a:t>• ¿Quién usará la solución?</a:t>
            </a:r>
          </a:p>
          <a:p>
            <a:pPr marL="292608" lvl="1" indent="0">
              <a:buNone/>
            </a:pPr>
            <a:r>
              <a:rPr lang="es-ES" sz="2400" dirty="0">
                <a:solidFill>
                  <a:srgbClr val="000000"/>
                </a:solidFill>
                <a:latin typeface="+mj-lt"/>
              </a:rPr>
              <a:t>• ¿Cuál será el beneficio económico de una solución exitosa?</a:t>
            </a:r>
          </a:p>
          <a:p>
            <a:pPr marL="292608" lvl="1" indent="0">
              <a:buNone/>
            </a:pPr>
            <a:r>
              <a:rPr lang="es-ES" sz="2400" dirty="0">
                <a:solidFill>
                  <a:srgbClr val="000000"/>
                </a:solidFill>
                <a:latin typeface="+mj-lt"/>
              </a:rPr>
              <a:t>• ¿Hay otro origen para la solución que se necesita?</a:t>
            </a:r>
            <a:endParaRPr lang="es-ES_tradnl" sz="2400" dirty="0">
              <a:solidFill>
                <a:srgbClr val="000000"/>
              </a:solidFill>
              <a:latin typeface="+mj-lt"/>
            </a:endParaRPr>
          </a:p>
        </p:txBody>
      </p:sp>
    </p:spTree>
    <p:extLst>
      <p:ext uri="{BB962C8B-B14F-4D97-AF65-F5344CB8AC3E}">
        <p14:creationId xmlns:p14="http://schemas.microsoft.com/office/powerpoint/2010/main" val="3214735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cs typeface="Times New Roman" panose="02020603050405020304" pitchFamily="18" charset="0"/>
              </a:rPr>
              <a:t>Etapas requeridas para establecer las </a:t>
            </a:r>
            <a:r>
              <a:rPr lang="es-ES" dirty="0" smtClean="0">
                <a:cs typeface="Times New Roman" panose="02020603050405020304" pitchFamily="18" charset="0"/>
              </a:rPr>
              <a:t>bases</a:t>
            </a:r>
            <a:endParaRPr lang="es-ES" dirty="0">
              <a:cs typeface="Times New Roman" panose="02020603050405020304" pitchFamily="18"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669775"/>
            <a:ext cx="11933583" cy="4611756"/>
          </a:xfrm>
        </p:spPr>
        <p:txBody>
          <a:bodyPr>
            <a:noAutofit/>
          </a:bodyPr>
          <a:lstStyle/>
          <a:p>
            <a:pPr marL="0" indent="0">
              <a:buNone/>
            </a:pPr>
            <a:r>
              <a:rPr lang="es-ES" sz="2800" b="1" dirty="0" smtClean="0"/>
              <a:t>Hacer </a:t>
            </a:r>
            <a:r>
              <a:rPr lang="es-ES" sz="2800" b="1" dirty="0"/>
              <a:t>las Primeras Preguntas </a:t>
            </a:r>
            <a:r>
              <a:rPr lang="es-ES" sz="2800" b="1" dirty="0" smtClean="0"/>
              <a:t>Clave</a:t>
            </a:r>
          </a:p>
          <a:p>
            <a:pPr marL="514350" indent="-514350">
              <a:buFont typeface="+mj-lt"/>
              <a:buAutoNum type="arabicPeriod" startAt="3"/>
            </a:pPr>
            <a:r>
              <a:rPr lang="es-ES" sz="2800" dirty="0"/>
              <a:t>Las preguntas siguientes permiten entender mejor el problema y hacen que el cliente </a:t>
            </a:r>
            <a:r>
              <a:rPr lang="es-ES" sz="2800" dirty="0" smtClean="0"/>
              <a:t>exprese sus </a:t>
            </a:r>
            <a:r>
              <a:rPr lang="es-ES" sz="2800" dirty="0"/>
              <a:t>percepciones respecto de la </a:t>
            </a:r>
            <a:r>
              <a:rPr lang="es-ES" sz="2800" dirty="0" smtClean="0"/>
              <a:t>solución</a:t>
            </a:r>
          </a:p>
          <a:p>
            <a:pPr marL="292608" lvl="1" indent="0">
              <a:buNone/>
            </a:pPr>
            <a:r>
              <a:rPr lang="es-ES" sz="2600" dirty="0"/>
              <a:t>• ¿Cuál sería una “buena” salida generada por una solución exitosa?</a:t>
            </a:r>
          </a:p>
          <a:p>
            <a:pPr marL="292608" lvl="1" indent="0">
              <a:buNone/>
            </a:pPr>
            <a:r>
              <a:rPr lang="es-ES" sz="2600" dirty="0"/>
              <a:t>• ¿Qué problemas resolvería esta solución?</a:t>
            </a:r>
          </a:p>
          <a:p>
            <a:pPr marL="292608" lvl="1" indent="0">
              <a:buNone/>
            </a:pPr>
            <a:r>
              <a:rPr lang="es-ES" sz="2600" dirty="0"/>
              <a:t>• ¿Puede mostrar (o describir) el ambiente de negocios en el que se usaría la solución?</a:t>
            </a:r>
          </a:p>
          <a:p>
            <a:pPr marL="292608" lvl="1" indent="0">
              <a:buNone/>
            </a:pPr>
            <a:r>
              <a:rPr lang="es-ES" sz="2600" dirty="0"/>
              <a:t>• ¿Hay aspectos especiales del desempeño o restricciones que afecten el modo en el </a:t>
            </a:r>
            <a:r>
              <a:rPr lang="es-ES" sz="2600" dirty="0" smtClean="0"/>
              <a:t>que se </a:t>
            </a:r>
            <a:r>
              <a:rPr lang="es-ES" sz="2600" dirty="0"/>
              <a:t>enfoque la solución</a:t>
            </a:r>
            <a:r>
              <a:rPr lang="es-ES" sz="2600" dirty="0" smtClean="0"/>
              <a:t>?</a:t>
            </a:r>
            <a:endParaRPr lang="es-ES" sz="2600" dirty="0"/>
          </a:p>
        </p:txBody>
      </p:sp>
    </p:spTree>
    <p:extLst>
      <p:ext uri="{BB962C8B-B14F-4D97-AF65-F5344CB8AC3E}">
        <p14:creationId xmlns:p14="http://schemas.microsoft.com/office/powerpoint/2010/main" val="7726159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cs typeface="Times New Roman" panose="02020603050405020304" pitchFamily="18" charset="0"/>
              </a:rPr>
              <a:t>Etapas requeridas para establecer las </a:t>
            </a:r>
            <a:r>
              <a:rPr lang="es-ES" dirty="0" smtClean="0">
                <a:cs typeface="Times New Roman" panose="02020603050405020304" pitchFamily="18" charset="0"/>
              </a:rPr>
              <a:t>bases</a:t>
            </a:r>
            <a:endParaRPr lang="es-ES" dirty="0">
              <a:cs typeface="Times New Roman" panose="02020603050405020304" pitchFamily="18"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669775"/>
            <a:ext cx="11933583" cy="4611756"/>
          </a:xfrm>
        </p:spPr>
        <p:txBody>
          <a:bodyPr>
            <a:noAutofit/>
          </a:bodyPr>
          <a:lstStyle/>
          <a:p>
            <a:pPr marL="0" indent="0">
              <a:buNone/>
            </a:pPr>
            <a:r>
              <a:rPr lang="es-ES" sz="2800" b="1" dirty="0" smtClean="0"/>
              <a:t>Hacer </a:t>
            </a:r>
            <a:r>
              <a:rPr lang="es-ES" sz="2800" b="1" dirty="0"/>
              <a:t>las Primeras Preguntas </a:t>
            </a:r>
            <a:r>
              <a:rPr lang="es-ES" sz="2800" b="1" dirty="0" smtClean="0"/>
              <a:t>Clave</a:t>
            </a:r>
          </a:p>
          <a:p>
            <a:pPr marL="514350" indent="-514350">
              <a:buFont typeface="+mj-lt"/>
              <a:buAutoNum type="arabicPeriod" startAt="4"/>
            </a:pPr>
            <a:r>
              <a:rPr lang="es-ES" sz="2800" dirty="0"/>
              <a:t>Las preguntas finales se centran en la eficacia de la actividad de comunicación en sí</a:t>
            </a:r>
            <a:r>
              <a:rPr lang="es-ES" sz="2800" dirty="0" smtClean="0"/>
              <a:t>.</a:t>
            </a:r>
          </a:p>
          <a:p>
            <a:pPr marL="292608" lvl="1" indent="0">
              <a:buNone/>
            </a:pPr>
            <a:r>
              <a:rPr lang="es-ES" sz="2600" dirty="0"/>
              <a:t>• ¿Es usted la persona indicada para responder estas preguntas? ¿Sus respuestas son</a:t>
            </a:r>
          </a:p>
          <a:p>
            <a:pPr marL="292608" lvl="1" indent="0">
              <a:buNone/>
            </a:pPr>
            <a:r>
              <a:rPr lang="es-ES" sz="2600" dirty="0"/>
              <a:t>“oficiales”?</a:t>
            </a:r>
          </a:p>
          <a:p>
            <a:pPr marL="292608" lvl="1" indent="0">
              <a:buNone/>
            </a:pPr>
            <a:r>
              <a:rPr lang="es-ES" sz="2600" dirty="0"/>
              <a:t>• ¿Mis preguntas son relevantes para el problema que se tiene?</a:t>
            </a:r>
          </a:p>
          <a:p>
            <a:pPr marL="292608" lvl="1" indent="0">
              <a:buNone/>
            </a:pPr>
            <a:r>
              <a:rPr lang="es-ES" sz="2600" dirty="0"/>
              <a:t>• ¿Estoy haciendo demasiadas preguntas?</a:t>
            </a:r>
          </a:p>
          <a:p>
            <a:pPr marL="292608" lvl="1" indent="0">
              <a:buNone/>
            </a:pPr>
            <a:r>
              <a:rPr lang="es-ES" sz="2600" dirty="0"/>
              <a:t>• ¿Puede otra persona dar información adicional?</a:t>
            </a:r>
          </a:p>
          <a:p>
            <a:pPr marL="292608" lvl="1" indent="0">
              <a:buNone/>
            </a:pPr>
            <a:r>
              <a:rPr lang="es-ES" sz="2600" dirty="0"/>
              <a:t>• ¿Debería yo preguntarle algo más?</a:t>
            </a:r>
            <a:endParaRPr lang="es-ES" sz="2600" dirty="0" smtClean="0"/>
          </a:p>
        </p:txBody>
      </p:sp>
    </p:spTree>
    <p:extLst>
      <p:ext uri="{BB962C8B-B14F-4D97-AF65-F5344CB8AC3E}">
        <p14:creationId xmlns:p14="http://schemas.microsoft.com/office/powerpoint/2010/main" val="4965325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dirty="0">
                <a:cs typeface="Times New Roman" panose="02020603050405020304" pitchFamily="18" charset="0"/>
              </a:rPr>
              <a:t>Problemas Comunes en la Ingeniería de Requerimientos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0" y="2146851"/>
            <a:ext cx="5406887" cy="2802835"/>
          </a:xfrm>
        </p:spPr>
        <p:txBody>
          <a:bodyPr>
            <a:noAutofit/>
          </a:bodyPr>
          <a:lstStyle/>
          <a:p>
            <a:pPr marL="201168" lvl="1" indent="0">
              <a:buNone/>
            </a:pPr>
            <a:r>
              <a:rPr lang="es-ES" sz="2800" i="1" dirty="0" smtClean="0"/>
              <a:t>"</a:t>
            </a:r>
            <a:r>
              <a:rPr lang="es-ES" sz="2800" i="1" dirty="0"/>
              <a:t>El 60% de los errores en software se originan en requerimientos mal definidos"</a:t>
            </a:r>
            <a:r>
              <a:rPr lang="es-ES" sz="2800" dirty="0"/>
              <a:t> </a:t>
            </a:r>
            <a:r>
              <a:rPr lang="es-ES" sz="2800" dirty="0" err="1" smtClean="0"/>
              <a:t>Pressman</a:t>
            </a:r>
            <a:endParaRPr lang="es-ES" sz="2800" dirty="0"/>
          </a:p>
          <a:p>
            <a:pPr marL="0" indent="0">
              <a:buNone/>
            </a:pPr>
            <a:endParaRPr lang="es-ES" sz="2600" dirty="0" smtClean="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3583" y="1451112"/>
            <a:ext cx="7878417" cy="4870176"/>
          </a:xfrm>
          <a:prstGeom prst="rect">
            <a:avLst/>
          </a:prstGeom>
        </p:spPr>
      </p:pic>
    </p:spTree>
    <p:extLst>
      <p:ext uri="{BB962C8B-B14F-4D97-AF65-F5344CB8AC3E}">
        <p14:creationId xmlns:p14="http://schemas.microsoft.com/office/powerpoint/2010/main" val="230932210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b="1" dirty="0"/>
              <a:t>Ejemplos </a:t>
            </a:r>
            <a:r>
              <a:rPr lang="es-ES" b="1" dirty="0" smtClean="0"/>
              <a:t> Reales de Fallos </a:t>
            </a:r>
            <a:r>
              <a:rPr lang="es-ES" b="1" dirty="0"/>
              <a:t>por Mala Gestión de Requerimientos</a:t>
            </a:r>
            <a:endParaRPr lang="es-ES" dirty="0">
              <a:cs typeface="Times New Roman" panose="02020603050405020304" pitchFamily="18"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888436"/>
            <a:ext cx="11933583" cy="4611756"/>
          </a:xfrm>
        </p:spPr>
        <p:txBody>
          <a:bodyPr>
            <a:noAutofit/>
          </a:bodyPr>
          <a:lstStyle/>
          <a:p>
            <a:r>
              <a:rPr lang="es-ES" b="1" dirty="0"/>
              <a:t>a) NASA </a:t>
            </a:r>
            <a:r>
              <a:rPr lang="es-ES" b="1" dirty="0" err="1"/>
              <a:t>Mars</a:t>
            </a:r>
            <a:r>
              <a:rPr lang="es-ES" b="1" dirty="0"/>
              <a:t> </a:t>
            </a:r>
            <a:r>
              <a:rPr lang="es-ES" b="1" dirty="0" err="1"/>
              <a:t>Climate</a:t>
            </a:r>
            <a:r>
              <a:rPr lang="es-ES" b="1" dirty="0"/>
              <a:t> </a:t>
            </a:r>
            <a:r>
              <a:rPr lang="es-ES" b="1" dirty="0" err="1"/>
              <a:t>Orbiter</a:t>
            </a:r>
            <a:r>
              <a:rPr lang="es-ES" b="1" dirty="0"/>
              <a:t> (1999)</a:t>
            </a:r>
          </a:p>
          <a:p>
            <a:r>
              <a:rPr lang="es-ES" b="1" dirty="0"/>
              <a:t>Contexto:</a:t>
            </a:r>
            <a:r>
              <a:rPr lang="es-ES" dirty="0"/>
              <a:t> Misión para estudiar el clima de Marte.</a:t>
            </a:r>
          </a:p>
          <a:p>
            <a:r>
              <a:rPr lang="es-ES" b="1" dirty="0"/>
              <a:t>Error:</a:t>
            </a:r>
            <a:endParaRPr lang="es-ES" dirty="0"/>
          </a:p>
          <a:p>
            <a:pPr lvl="1"/>
            <a:r>
              <a:rPr lang="es-ES" sz="2000" dirty="0"/>
              <a:t>Un equipo (</a:t>
            </a:r>
            <a:r>
              <a:rPr lang="es-ES" sz="2000" dirty="0" err="1"/>
              <a:t>Lockheed</a:t>
            </a:r>
            <a:r>
              <a:rPr lang="es-ES" sz="2000" dirty="0"/>
              <a:t> Martin) usó </a:t>
            </a:r>
            <a:r>
              <a:rPr lang="es-ES" sz="2000" b="1" dirty="0"/>
              <a:t>unidades imperiales</a:t>
            </a:r>
            <a:r>
              <a:rPr lang="es-ES" sz="2000" dirty="0"/>
              <a:t> (libras-fuerza), mientras que la NASA esperaba </a:t>
            </a:r>
            <a:r>
              <a:rPr lang="es-ES" sz="2000" b="1" dirty="0"/>
              <a:t>unidades métricas</a:t>
            </a:r>
            <a:r>
              <a:rPr lang="es-ES" sz="2000" dirty="0"/>
              <a:t> (</a:t>
            </a:r>
            <a:r>
              <a:rPr lang="es-ES" sz="2000" dirty="0" err="1"/>
              <a:t>newtons</a:t>
            </a:r>
            <a:r>
              <a:rPr lang="es-ES" sz="2000" dirty="0"/>
              <a:t>).</a:t>
            </a:r>
          </a:p>
          <a:p>
            <a:pPr lvl="1"/>
            <a:r>
              <a:rPr lang="es-ES" sz="2000" dirty="0"/>
              <a:t>El software de navegación no validó la consistencia de los datos.</a:t>
            </a:r>
          </a:p>
          <a:p>
            <a:r>
              <a:rPr lang="es-ES" b="1" dirty="0"/>
              <a:t>Consecuencia:</a:t>
            </a:r>
            <a:endParaRPr lang="es-ES" dirty="0"/>
          </a:p>
          <a:p>
            <a:pPr lvl="1"/>
            <a:r>
              <a:rPr lang="es-ES" sz="2000" dirty="0"/>
              <a:t>La sonda se destruyó al entrar en la atmósfera de Marte por un error de altitud (pérdida de $125 millones).</a:t>
            </a:r>
          </a:p>
          <a:p>
            <a:r>
              <a:rPr lang="es-ES" b="1" dirty="0"/>
              <a:t>Lección clave:</a:t>
            </a:r>
            <a:endParaRPr lang="es-ES" dirty="0"/>
          </a:p>
          <a:p>
            <a:pPr lvl="1"/>
            <a:r>
              <a:rPr lang="es-ES" sz="2000" b="1" dirty="0"/>
              <a:t>Requerimientos técnicos deben ser explícitos y validados</a:t>
            </a:r>
            <a:r>
              <a:rPr lang="es-ES" sz="2000" dirty="0"/>
              <a:t> entre equipos.</a:t>
            </a:r>
          </a:p>
          <a:p>
            <a:pPr lvl="1"/>
            <a:r>
              <a:rPr lang="es-ES" sz="2000" dirty="0"/>
              <a:t>Importancia de los estándares de documentación y pruebas de compatibilidad.</a:t>
            </a:r>
          </a:p>
          <a:p>
            <a:pPr marL="0" indent="0">
              <a:buNone/>
            </a:pPr>
            <a:endParaRPr lang="es-ES" sz="2600" dirty="0" smtClean="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8556" y="1928190"/>
            <a:ext cx="2438400" cy="1101329"/>
          </a:xfrm>
          <a:prstGeom prst="rect">
            <a:avLst/>
          </a:prstGeom>
        </p:spPr>
      </p:pic>
    </p:spTree>
    <p:extLst>
      <p:ext uri="{BB962C8B-B14F-4D97-AF65-F5344CB8AC3E}">
        <p14:creationId xmlns:p14="http://schemas.microsoft.com/office/powerpoint/2010/main" val="130993689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b="1" dirty="0"/>
              <a:t>Ejemplos </a:t>
            </a:r>
            <a:r>
              <a:rPr lang="es-ES" b="1" dirty="0" smtClean="0"/>
              <a:t> Reales de Fallos </a:t>
            </a:r>
            <a:r>
              <a:rPr lang="es-ES" b="1" dirty="0"/>
              <a:t>por Mala Gestión de Requerimientos</a:t>
            </a:r>
            <a:endParaRPr lang="es-ES" dirty="0">
              <a:cs typeface="Times New Roman" panose="02020603050405020304" pitchFamily="18"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908314"/>
            <a:ext cx="11933583" cy="4611756"/>
          </a:xfrm>
        </p:spPr>
        <p:txBody>
          <a:bodyPr>
            <a:noAutofit/>
          </a:bodyPr>
          <a:lstStyle/>
          <a:p>
            <a:r>
              <a:rPr lang="es-ES" b="1" dirty="0"/>
              <a:t>b) Sistema de Salud del Reino Unido (</a:t>
            </a:r>
            <a:r>
              <a:rPr lang="es-ES" b="1" dirty="0" err="1"/>
              <a:t>NPfIT</a:t>
            </a:r>
            <a:r>
              <a:rPr lang="es-ES" b="1" dirty="0"/>
              <a:t> – 2002-2011)</a:t>
            </a:r>
          </a:p>
          <a:p>
            <a:r>
              <a:rPr lang="es-ES" b="1" dirty="0"/>
              <a:t>Contexto:</a:t>
            </a:r>
            <a:r>
              <a:rPr lang="es-ES" dirty="0"/>
              <a:t> Proyecto de digitalización de historiales médicos (€12.7 mil millones).</a:t>
            </a:r>
          </a:p>
          <a:p>
            <a:r>
              <a:rPr lang="es-ES" b="1" dirty="0"/>
              <a:t>Errores:</a:t>
            </a:r>
            <a:endParaRPr lang="es-ES" dirty="0"/>
          </a:p>
          <a:p>
            <a:pPr lvl="1"/>
            <a:r>
              <a:rPr lang="es-ES" dirty="0"/>
              <a:t>Requerimientos demasiado </a:t>
            </a:r>
            <a:r>
              <a:rPr lang="es-ES" b="1" dirty="0"/>
              <a:t>genéricos</a:t>
            </a:r>
            <a:r>
              <a:rPr lang="es-ES" dirty="0"/>
              <a:t> y </a:t>
            </a:r>
            <a:r>
              <a:rPr lang="es-ES" b="1" dirty="0"/>
              <a:t>cambiantes</a:t>
            </a:r>
            <a:r>
              <a:rPr lang="es-ES" dirty="0"/>
              <a:t>.</a:t>
            </a:r>
          </a:p>
          <a:p>
            <a:pPr lvl="1"/>
            <a:r>
              <a:rPr lang="es-ES" dirty="0"/>
              <a:t>Falta de participación de médicos y hospitales en la especificación.</a:t>
            </a:r>
          </a:p>
          <a:p>
            <a:pPr lvl="1"/>
            <a:r>
              <a:rPr lang="es-ES" dirty="0"/>
              <a:t>Subestimación de la complejidad legal (privacidad de datos).</a:t>
            </a:r>
          </a:p>
          <a:p>
            <a:r>
              <a:rPr lang="es-ES" b="1" dirty="0"/>
              <a:t>Consecuencia:</a:t>
            </a:r>
            <a:endParaRPr lang="es-ES" dirty="0"/>
          </a:p>
          <a:p>
            <a:pPr lvl="1"/>
            <a:r>
              <a:rPr lang="es-ES" dirty="0"/>
              <a:t>Cancelado en 2011 por incumplimiento de objetivos y sobrecostos.</a:t>
            </a:r>
          </a:p>
          <a:p>
            <a:r>
              <a:rPr lang="es-ES" b="1" dirty="0"/>
              <a:t>Lección clave:</a:t>
            </a:r>
            <a:endParaRPr lang="es-ES" dirty="0"/>
          </a:p>
          <a:p>
            <a:pPr lvl="1"/>
            <a:r>
              <a:rPr lang="es-ES" b="1" dirty="0"/>
              <a:t>Involucrar a los usuarios finales (médicos, pacientes) desde el inicio.</a:t>
            </a:r>
            <a:endParaRPr lang="es-ES" dirty="0"/>
          </a:p>
          <a:p>
            <a:pPr lvl="1"/>
            <a:r>
              <a:rPr lang="es-ES" dirty="0"/>
              <a:t>Usar enfoques iterativos (ej. prototipos) para refinamiento progresivo.</a:t>
            </a:r>
          </a:p>
          <a:p>
            <a:pPr marL="0" indent="0">
              <a:buNone/>
            </a:pPr>
            <a:endParaRPr lang="es-ES" sz="2600" dirty="0" smtClean="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7652" y="3136636"/>
            <a:ext cx="2620130" cy="2292614"/>
          </a:xfrm>
          <a:prstGeom prst="rect">
            <a:avLst/>
          </a:prstGeom>
        </p:spPr>
      </p:pic>
    </p:spTree>
    <p:extLst>
      <p:ext uri="{BB962C8B-B14F-4D97-AF65-F5344CB8AC3E}">
        <p14:creationId xmlns:p14="http://schemas.microsoft.com/office/powerpoint/2010/main" val="375435205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b="1" dirty="0"/>
              <a:t>Ejemplos </a:t>
            </a:r>
            <a:r>
              <a:rPr lang="es-ES" b="1" dirty="0" smtClean="0"/>
              <a:t> Reales de Fallos </a:t>
            </a:r>
            <a:r>
              <a:rPr lang="es-ES" b="1" dirty="0"/>
              <a:t>por Mala Gestión de Requerimientos</a:t>
            </a:r>
            <a:endParaRPr lang="es-ES" dirty="0">
              <a:cs typeface="Times New Roman" panose="02020603050405020304" pitchFamily="18"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848679"/>
            <a:ext cx="11933583" cy="4611756"/>
          </a:xfrm>
        </p:spPr>
        <p:txBody>
          <a:bodyPr>
            <a:noAutofit/>
          </a:bodyPr>
          <a:lstStyle/>
          <a:p>
            <a:r>
              <a:rPr lang="es-ES" b="1" dirty="0"/>
              <a:t>c) Boeing 737 MAX (2019)</a:t>
            </a:r>
          </a:p>
          <a:p>
            <a:r>
              <a:rPr lang="es-ES" b="1" dirty="0"/>
              <a:t>Contexto:</a:t>
            </a:r>
            <a:r>
              <a:rPr lang="es-ES" dirty="0"/>
              <a:t> Actualización del avión con nuevo software (MCAS).</a:t>
            </a:r>
          </a:p>
          <a:p>
            <a:r>
              <a:rPr lang="es-ES" b="1" dirty="0"/>
              <a:t>Error:</a:t>
            </a:r>
            <a:endParaRPr lang="es-ES" dirty="0"/>
          </a:p>
          <a:p>
            <a:pPr lvl="1"/>
            <a:r>
              <a:rPr lang="es-ES" dirty="0"/>
              <a:t>Requerimientos de seguridad </a:t>
            </a:r>
            <a:r>
              <a:rPr lang="es-ES" b="1" dirty="0"/>
              <a:t>no documentados adecuadamente</a:t>
            </a:r>
            <a:r>
              <a:rPr lang="es-ES" dirty="0"/>
              <a:t>.</a:t>
            </a:r>
          </a:p>
          <a:p>
            <a:pPr lvl="1"/>
            <a:r>
              <a:rPr lang="es-ES" dirty="0"/>
              <a:t>Falta de transparencia con pilotos sobre el funcionamiento del MCAS.</a:t>
            </a:r>
          </a:p>
          <a:p>
            <a:r>
              <a:rPr lang="es-ES" b="1" dirty="0"/>
              <a:t>Consecuencia:</a:t>
            </a:r>
            <a:endParaRPr lang="es-ES" dirty="0"/>
          </a:p>
          <a:p>
            <a:pPr lvl="1"/>
            <a:r>
              <a:rPr lang="es-ES" dirty="0"/>
              <a:t>Dos accidentes fatales (346 muertes) y </a:t>
            </a:r>
            <a:r>
              <a:rPr lang="es-ES" dirty="0" err="1"/>
              <a:t>grounding</a:t>
            </a:r>
            <a:r>
              <a:rPr lang="es-ES" dirty="0"/>
              <a:t> global del avión.</a:t>
            </a:r>
          </a:p>
          <a:p>
            <a:r>
              <a:rPr lang="es-ES" b="1" dirty="0"/>
              <a:t>Lección clave:</a:t>
            </a:r>
            <a:endParaRPr lang="es-ES" dirty="0"/>
          </a:p>
          <a:p>
            <a:pPr lvl="1"/>
            <a:r>
              <a:rPr lang="es-ES" b="1" dirty="0"/>
              <a:t>Los requerimientos de sistemas críticos deben priorizar seguridad sobre plazos.</a:t>
            </a:r>
            <a:endParaRPr lang="es-ES" dirty="0"/>
          </a:p>
          <a:p>
            <a:pPr lvl="1"/>
            <a:r>
              <a:rPr lang="es-ES" dirty="0"/>
              <a:t>Trazabilidad obligatoria entre requerimientos, diseño y pruebas.</a:t>
            </a:r>
          </a:p>
          <a:p>
            <a:pPr marL="0" indent="0">
              <a:buNone/>
            </a:pPr>
            <a:endParaRPr lang="es-ES" sz="2600" dirty="0" smtClean="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8725" y="2590800"/>
            <a:ext cx="2724150" cy="1676400"/>
          </a:xfrm>
          <a:prstGeom prst="rect">
            <a:avLst/>
          </a:prstGeom>
        </p:spPr>
      </p:pic>
    </p:spTree>
    <p:extLst>
      <p:ext uri="{BB962C8B-B14F-4D97-AF65-F5344CB8AC3E}">
        <p14:creationId xmlns:p14="http://schemas.microsoft.com/office/powerpoint/2010/main" val="31267399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pPr algn="ctr"/>
            <a:r>
              <a:rPr lang="es-ES" b="1" dirty="0"/>
              <a:t>Ejemplos </a:t>
            </a:r>
            <a:r>
              <a:rPr lang="es-ES" b="1" dirty="0" smtClean="0"/>
              <a:t> Reales de Fallos </a:t>
            </a:r>
            <a:r>
              <a:rPr lang="es-ES" b="1" dirty="0"/>
              <a:t>por Mala Gestión de Requerimientos</a:t>
            </a:r>
            <a:endParaRPr lang="es-ES" dirty="0">
              <a:cs typeface="Times New Roman" panose="02020603050405020304" pitchFamily="18" charset="0"/>
            </a:endParaRP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669775"/>
            <a:ext cx="11933583" cy="4611756"/>
          </a:xfrm>
        </p:spPr>
        <p:txBody>
          <a:bodyPr>
            <a:noAutofit/>
          </a:bodyPr>
          <a:lstStyle/>
          <a:p>
            <a:r>
              <a:rPr lang="es-ES" sz="2800" dirty="0" smtClean="0"/>
              <a:t>Ejemplo </a:t>
            </a:r>
            <a:r>
              <a:rPr lang="es-ES" sz="2800" dirty="0"/>
              <a:t>Práctico para Discusión en Clase</a:t>
            </a:r>
          </a:p>
          <a:p>
            <a:r>
              <a:rPr lang="es-ES" sz="2800" dirty="0"/>
              <a:t>Caso: Un banco quiere desarrollar una </a:t>
            </a:r>
            <a:r>
              <a:rPr lang="es-ES" sz="2800" dirty="0" err="1"/>
              <a:t>app</a:t>
            </a:r>
            <a:r>
              <a:rPr lang="es-ES" sz="2800" dirty="0"/>
              <a:t> móvil para pagos.</a:t>
            </a:r>
          </a:p>
          <a:p>
            <a:r>
              <a:rPr lang="es-ES" sz="2800" dirty="0"/>
              <a:t>Requerimiento inicial: "La </a:t>
            </a:r>
            <a:r>
              <a:rPr lang="es-ES" sz="2800" dirty="0" err="1"/>
              <a:t>app</a:t>
            </a:r>
            <a:r>
              <a:rPr lang="es-ES" sz="2800" dirty="0"/>
              <a:t> debe ser rápida y segura".</a:t>
            </a:r>
          </a:p>
          <a:p>
            <a:r>
              <a:rPr lang="es-ES" sz="2800" dirty="0" smtClean="0"/>
              <a:t>Actividad</a:t>
            </a:r>
            <a:r>
              <a:rPr lang="es-ES" sz="2800" dirty="0"/>
              <a:t>:</a:t>
            </a:r>
          </a:p>
          <a:p>
            <a:r>
              <a:rPr lang="es-ES" sz="2800" dirty="0"/>
              <a:t>Identificar ambigüedades en el requerimiento.</a:t>
            </a:r>
          </a:p>
          <a:p>
            <a:r>
              <a:rPr lang="es-ES" sz="2800" dirty="0"/>
              <a:t>Redactar una versión </a:t>
            </a:r>
            <a:r>
              <a:rPr lang="es-ES" sz="2800" dirty="0" smtClean="0"/>
              <a:t>mejorada</a:t>
            </a:r>
            <a:endParaRPr lang="es-ES" b="1" dirty="0"/>
          </a:p>
          <a:p>
            <a:pPr marL="0" indent="0">
              <a:buNone/>
            </a:pPr>
            <a:endParaRPr lang="es-ES" sz="2600" dirty="0" smtClean="0"/>
          </a:p>
        </p:txBody>
      </p:sp>
    </p:spTree>
    <p:extLst>
      <p:ext uri="{BB962C8B-B14F-4D97-AF65-F5344CB8AC3E}">
        <p14:creationId xmlns:p14="http://schemas.microsoft.com/office/powerpoint/2010/main" val="103810984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r>
              <a:rPr lang="es-ES" b="1" dirty="0"/>
              <a:t>Herramientas de Software para la Ingeniería de Requerimientos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669775"/>
            <a:ext cx="11933583" cy="735495"/>
          </a:xfrm>
        </p:spPr>
        <p:txBody>
          <a:bodyPr>
            <a:noAutofit/>
          </a:bodyPr>
          <a:lstStyle/>
          <a:p>
            <a:r>
              <a:rPr lang="es-ES" sz="2800" dirty="0"/>
              <a:t>La ingeniería de requerimientos eficiente requiere herramientas que faciliten</a:t>
            </a:r>
            <a:r>
              <a:rPr lang="es-ES" sz="2800" dirty="0" smtClean="0"/>
              <a:t>:</a:t>
            </a:r>
            <a:endParaRPr lang="es-ES" sz="2800" dirty="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0749" y="2070101"/>
            <a:ext cx="9144000" cy="4457700"/>
          </a:xfrm>
          <a:prstGeom prst="rect">
            <a:avLst/>
          </a:prstGeom>
        </p:spPr>
      </p:pic>
    </p:spTree>
    <p:extLst>
      <p:ext uri="{BB962C8B-B14F-4D97-AF65-F5344CB8AC3E}">
        <p14:creationId xmlns:p14="http://schemas.microsoft.com/office/powerpoint/2010/main" val="384863955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r>
              <a:rPr lang="es-ES" b="1" dirty="0"/>
              <a:t>Herramientas de Software para la Ingeniería de Requerimientos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graphicFrame>
        <p:nvGraphicFramePr>
          <p:cNvPr id="4" name="3 Tabla"/>
          <p:cNvGraphicFramePr>
            <a:graphicFrameLocks noGrp="1"/>
          </p:cNvGraphicFramePr>
          <p:nvPr>
            <p:extLst>
              <p:ext uri="{D42A27DB-BD31-4B8C-83A1-F6EECF244321}">
                <p14:modId xmlns:p14="http://schemas.microsoft.com/office/powerpoint/2010/main" val="1897218147"/>
              </p:ext>
            </p:extLst>
          </p:nvPr>
        </p:nvGraphicFramePr>
        <p:xfrm>
          <a:off x="198784" y="1789045"/>
          <a:ext cx="11787808" cy="4512362"/>
        </p:xfrm>
        <a:graphic>
          <a:graphicData uri="http://schemas.openxmlformats.org/drawingml/2006/table">
            <a:tbl>
              <a:tblPr/>
              <a:tblGrid>
                <a:gridCol w="1935658"/>
                <a:gridCol w="1970430"/>
                <a:gridCol w="1970430"/>
                <a:gridCol w="1970430"/>
                <a:gridCol w="1970430"/>
                <a:gridCol w="1970430"/>
              </a:tblGrid>
              <a:tr h="613038">
                <a:tc>
                  <a:txBody>
                    <a:bodyPr/>
                    <a:lstStyle/>
                    <a:p>
                      <a:pPr algn="l"/>
                      <a:r>
                        <a:rPr lang="es-ES" b="1">
                          <a:effectLst/>
                        </a:rPr>
                        <a:t>Herramienta</a:t>
                      </a:r>
                    </a:p>
                  </a:txBody>
                  <a:tcPr marR="95250" marT="95250" marB="95250" anchor="ctr">
                    <a:lnL>
                      <a:noFill/>
                    </a:lnL>
                    <a:lnR>
                      <a:noFill/>
                    </a:lnR>
                    <a:lnT>
                      <a:noFill/>
                    </a:lnT>
                    <a:lnB>
                      <a:noFill/>
                    </a:lnB>
                    <a:solidFill>
                      <a:srgbClr val="FFFFFF"/>
                    </a:solidFill>
                  </a:tcPr>
                </a:tc>
                <a:tc>
                  <a:txBody>
                    <a:bodyPr/>
                    <a:lstStyle/>
                    <a:p>
                      <a:pPr algn="l"/>
                      <a:r>
                        <a:rPr lang="es-ES" b="1">
                          <a:effectLst/>
                        </a:rPr>
                        <a:t>Trazabilidad</a:t>
                      </a:r>
                    </a:p>
                  </a:txBody>
                  <a:tcPr marL="95250" marR="95250" marT="95250" marB="95250" anchor="ctr">
                    <a:lnL>
                      <a:noFill/>
                    </a:lnL>
                    <a:lnR>
                      <a:noFill/>
                    </a:lnR>
                    <a:lnT>
                      <a:noFill/>
                    </a:lnT>
                    <a:lnB>
                      <a:noFill/>
                    </a:lnB>
                    <a:solidFill>
                      <a:srgbClr val="FFFFFF"/>
                    </a:solidFill>
                  </a:tcPr>
                </a:tc>
                <a:tc>
                  <a:txBody>
                    <a:bodyPr/>
                    <a:lstStyle/>
                    <a:p>
                      <a:pPr algn="l"/>
                      <a:r>
                        <a:rPr lang="es-ES" b="1">
                          <a:effectLst/>
                        </a:rPr>
                        <a:t>Colaboración</a:t>
                      </a:r>
                    </a:p>
                  </a:txBody>
                  <a:tcPr marL="95250" marR="95250" marT="95250" marB="95250" anchor="ctr">
                    <a:lnL>
                      <a:noFill/>
                    </a:lnL>
                    <a:lnR>
                      <a:noFill/>
                    </a:lnR>
                    <a:lnT>
                      <a:noFill/>
                    </a:lnT>
                    <a:lnB>
                      <a:noFill/>
                    </a:lnB>
                    <a:solidFill>
                      <a:srgbClr val="FFFFFF"/>
                    </a:solidFill>
                  </a:tcPr>
                </a:tc>
                <a:tc>
                  <a:txBody>
                    <a:bodyPr/>
                    <a:lstStyle/>
                    <a:p>
                      <a:pPr algn="l"/>
                      <a:r>
                        <a:rPr lang="es-ES" b="1">
                          <a:effectLst/>
                        </a:rPr>
                        <a:t>Integraciones</a:t>
                      </a:r>
                    </a:p>
                  </a:txBody>
                  <a:tcPr marL="95250" marR="95250" marT="95250" marB="95250" anchor="ctr">
                    <a:lnL>
                      <a:noFill/>
                    </a:lnL>
                    <a:lnR>
                      <a:noFill/>
                    </a:lnR>
                    <a:lnT>
                      <a:noFill/>
                    </a:lnT>
                    <a:lnB>
                      <a:noFill/>
                    </a:lnB>
                    <a:solidFill>
                      <a:srgbClr val="FFFFFF"/>
                    </a:solidFill>
                  </a:tcPr>
                </a:tc>
                <a:tc>
                  <a:txBody>
                    <a:bodyPr/>
                    <a:lstStyle/>
                    <a:p>
                      <a:pPr algn="l"/>
                      <a:r>
                        <a:rPr lang="es-ES" b="1">
                          <a:effectLst/>
                        </a:rPr>
                        <a:t>Costo</a:t>
                      </a:r>
                    </a:p>
                  </a:txBody>
                  <a:tcPr marL="95250" marR="95250" marT="95250" marB="95250" anchor="ctr">
                    <a:lnL>
                      <a:noFill/>
                    </a:lnL>
                    <a:lnR>
                      <a:noFill/>
                    </a:lnR>
                    <a:lnT>
                      <a:noFill/>
                    </a:lnT>
                    <a:lnB>
                      <a:noFill/>
                    </a:lnB>
                    <a:solidFill>
                      <a:srgbClr val="FFFFFF"/>
                    </a:solidFill>
                  </a:tcPr>
                </a:tc>
                <a:tc>
                  <a:txBody>
                    <a:bodyPr/>
                    <a:lstStyle/>
                    <a:p>
                      <a:pPr algn="l"/>
                      <a:r>
                        <a:rPr lang="es-ES" b="1">
                          <a:effectLst/>
                        </a:rPr>
                        <a:t>Mejor para</a:t>
                      </a:r>
                    </a:p>
                  </a:txBody>
                  <a:tcPr marL="95250" marR="95250" marT="95250" marB="95250" anchor="ctr">
                    <a:lnL>
                      <a:noFill/>
                    </a:lnL>
                    <a:lnR>
                      <a:noFill/>
                    </a:lnR>
                    <a:lnT>
                      <a:noFill/>
                    </a:lnT>
                    <a:lnB>
                      <a:noFill/>
                    </a:lnB>
                    <a:solidFill>
                      <a:srgbClr val="FFFFFF"/>
                    </a:solidFill>
                  </a:tcPr>
                </a:tc>
              </a:tr>
              <a:tr h="974831">
                <a:tc>
                  <a:txBody>
                    <a:bodyPr/>
                    <a:lstStyle/>
                    <a:p>
                      <a:r>
                        <a:rPr lang="es-ES" b="1">
                          <a:effectLst/>
                        </a:rPr>
                        <a:t>JIRA</a:t>
                      </a:r>
                      <a:endParaRPr lang="es-ES">
                        <a:effectLst/>
                      </a:endParaRPr>
                    </a:p>
                  </a:txBody>
                  <a:tcPr marR="95250" marT="95250" marB="95250" anchor="ctr">
                    <a:lnL>
                      <a:noFill/>
                    </a:lnL>
                    <a:lnR>
                      <a:noFill/>
                    </a:lnR>
                    <a:lnT>
                      <a:noFill/>
                    </a:lnT>
                    <a:lnB>
                      <a:noFill/>
                    </a:lnB>
                    <a:solidFill>
                      <a:srgbClr val="FFFFFF"/>
                    </a:solidFill>
                  </a:tcPr>
                </a:tc>
                <a:tc>
                  <a:txBody>
                    <a:bodyPr/>
                    <a:lstStyle/>
                    <a:p>
                      <a:r>
                        <a:rPr lang="es-ES">
                          <a:effectLst/>
                        </a:rPr>
                        <a:t>Alta (con plugins)</a:t>
                      </a:r>
                    </a:p>
                  </a:txBody>
                  <a:tcPr marL="95250" marR="95250" marT="95250" marB="95250" anchor="ctr">
                    <a:lnL>
                      <a:noFill/>
                    </a:lnL>
                    <a:lnR>
                      <a:noFill/>
                    </a:lnR>
                    <a:lnT>
                      <a:noFill/>
                    </a:lnT>
                    <a:lnB>
                      <a:noFill/>
                    </a:lnB>
                    <a:solidFill>
                      <a:srgbClr val="FFFFFF"/>
                    </a:solidFill>
                  </a:tcPr>
                </a:tc>
                <a:tc>
                  <a:txBody>
                    <a:bodyPr/>
                    <a:lstStyle/>
                    <a:p>
                      <a:r>
                        <a:rPr lang="es-ES">
                          <a:effectLst/>
                        </a:rPr>
                        <a:t>Excelente</a:t>
                      </a:r>
                    </a:p>
                  </a:txBody>
                  <a:tcPr marL="95250" marR="95250" marT="95250" marB="95250" anchor="ctr">
                    <a:lnL>
                      <a:noFill/>
                    </a:lnL>
                    <a:lnR>
                      <a:noFill/>
                    </a:lnR>
                    <a:lnT>
                      <a:noFill/>
                    </a:lnT>
                    <a:lnB>
                      <a:noFill/>
                    </a:lnB>
                    <a:solidFill>
                      <a:srgbClr val="FFFFFF"/>
                    </a:solidFill>
                  </a:tcPr>
                </a:tc>
                <a:tc>
                  <a:txBody>
                    <a:bodyPr/>
                    <a:lstStyle/>
                    <a:p>
                      <a:r>
                        <a:rPr lang="es-ES">
                          <a:effectLst/>
                        </a:rPr>
                        <a:t>Confluence, Slack, GitHub</a:t>
                      </a:r>
                    </a:p>
                  </a:txBody>
                  <a:tcPr marL="95250" marR="95250" marT="95250" marB="95250" anchor="ctr">
                    <a:lnL>
                      <a:noFill/>
                    </a:lnL>
                    <a:lnR>
                      <a:noFill/>
                    </a:lnR>
                    <a:lnT>
                      <a:noFill/>
                    </a:lnT>
                    <a:lnB>
                      <a:noFill/>
                    </a:lnB>
                    <a:solidFill>
                      <a:srgbClr val="FFFFFF"/>
                    </a:solidFill>
                  </a:tcPr>
                </a:tc>
                <a:tc>
                  <a:txBody>
                    <a:bodyPr/>
                    <a:lstStyle/>
                    <a:p>
                      <a:r>
                        <a:rPr lang="es-ES">
                          <a:effectLst/>
                        </a:rPr>
                        <a:t>$$ (por usuario)</a:t>
                      </a:r>
                    </a:p>
                  </a:txBody>
                  <a:tcPr marL="95250" marR="95250" marT="95250" marB="95250" anchor="ctr">
                    <a:lnL>
                      <a:noFill/>
                    </a:lnL>
                    <a:lnR>
                      <a:noFill/>
                    </a:lnR>
                    <a:lnT>
                      <a:noFill/>
                    </a:lnT>
                    <a:lnB>
                      <a:noFill/>
                    </a:lnB>
                    <a:solidFill>
                      <a:srgbClr val="FFFFFF"/>
                    </a:solidFill>
                  </a:tcPr>
                </a:tc>
                <a:tc>
                  <a:txBody>
                    <a:bodyPr/>
                    <a:lstStyle/>
                    <a:p>
                      <a:r>
                        <a:rPr lang="es-ES">
                          <a:effectLst/>
                        </a:rPr>
                        <a:t>Equipos ágiles/startups</a:t>
                      </a:r>
                    </a:p>
                  </a:txBody>
                  <a:tcPr marL="95250" marR="95250" marT="95250" marB="95250" anchor="ctr">
                    <a:lnL>
                      <a:noFill/>
                    </a:lnL>
                    <a:lnR>
                      <a:noFill/>
                    </a:lnR>
                    <a:lnT>
                      <a:noFill/>
                    </a:lnT>
                    <a:lnB>
                      <a:noFill/>
                    </a:lnB>
                    <a:solidFill>
                      <a:srgbClr val="FFFFFF"/>
                    </a:solidFill>
                  </a:tcPr>
                </a:tc>
              </a:tr>
              <a:tr h="974831">
                <a:tc>
                  <a:txBody>
                    <a:bodyPr/>
                    <a:lstStyle/>
                    <a:p>
                      <a:r>
                        <a:rPr lang="es-ES" b="1">
                          <a:effectLst/>
                        </a:rPr>
                        <a:t>IBM DOORS</a:t>
                      </a:r>
                      <a:endParaRPr lang="es-ES">
                        <a:effectLst/>
                      </a:endParaRPr>
                    </a:p>
                  </a:txBody>
                  <a:tcPr marR="95250" marT="95250" marB="95250" anchor="ctr">
                    <a:lnL>
                      <a:noFill/>
                    </a:lnL>
                    <a:lnR>
                      <a:noFill/>
                    </a:lnR>
                    <a:lnT>
                      <a:noFill/>
                    </a:lnT>
                    <a:lnB>
                      <a:noFill/>
                    </a:lnB>
                    <a:solidFill>
                      <a:srgbClr val="FFFFFF"/>
                    </a:solidFill>
                  </a:tcPr>
                </a:tc>
                <a:tc>
                  <a:txBody>
                    <a:bodyPr/>
                    <a:lstStyle/>
                    <a:p>
                      <a:r>
                        <a:rPr lang="es-ES">
                          <a:effectLst/>
                        </a:rPr>
                        <a:t>Muy alta</a:t>
                      </a:r>
                    </a:p>
                  </a:txBody>
                  <a:tcPr marL="95250" marR="95250" marT="95250" marB="95250" anchor="ctr">
                    <a:lnL>
                      <a:noFill/>
                    </a:lnL>
                    <a:lnR>
                      <a:noFill/>
                    </a:lnR>
                    <a:lnT>
                      <a:noFill/>
                    </a:lnT>
                    <a:lnB>
                      <a:noFill/>
                    </a:lnB>
                    <a:solidFill>
                      <a:srgbClr val="FFFFFF"/>
                    </a:solidFill>
                  </a:tcPr>
                </a:tc>
                <a:tc>
                  <a:txBody>
                    <a:bodyPr/>
                    <a:lstStyle/>
                    <a:p>
                      <a:r>
                        <a:rPr lang="es-ES">
                          <a:effectLst/>
                        </a:rPr>
                        <a:t>Moderada</a:t>
                      </a:r>
                    </a:p>
                  </a:txBody>
                  <a:tcPr marL="95250" marR="95250" marT="95250" marB="95250" anchor="ctr">
                    <a:lnL>
                      <a:noFill/>
                    </a:lnL>
                    <a:lnR>
                      <a:noFill/>
                    </a:lnR>
                    <a:lnT>
                      <a:noFill/>
                    </a:lnT>
                    <a:lnB>
                      <a:noFill/>
                    </a:lnB>
                    <a:solidFill>
                      <a:srgbClr val="FFFFFF"/>
                    </a:solidFill>
                  </a:tcPr>
                </a:tc>
                <a:tc>
                  <a:txBody>
                    <a:bodyPr/>
                    <a:lstStyle/>
                    <a:p>
                      <a:r>
                        <a:rPr lang="es-ES">
                          <a:effectLst/>
                        </a:rPr>
                        <a:t>Limited (enterprise)</a:t>
                      </a:r>
                    </a:p>
                  </a:txBody>
                  <a:tcPr marL="95250" marR="95250" marT="95250" marB="95250" anchor="ctr">
                    <a:lnL>
                      <a:noFill/>
                    </a:lnL>
                    <a:lnR>
                      <a:noFill/>
                    </a:lnR>
                    <a:lnT>
                      <a:noFill/>
                    </a:lnT>
                    <a:lnB>
                      <a:noFill/>
                    </a:lnB>
                    <a:solidFill>
                      <a:srgbClr val="FFFFFF"/>
                    </a:solidFill>
                  </a:tcPr>
                </a:tc>
                <a:tc>
                  <a:txBody>
                    <a:bodyPr/>
                    <a:lstStyle/>
                    <a:p>
                      <a:r>
                        <a:rPr lang="es-ES">
                          <a:effectLst/>
                        </a:rPr>
                        <a:t>$$$$</a:t>
                      </a:r>
                    </a:p>
                  </a:txBody>
                  <a:tcPr marL="95250" marR="95250" marT="95250" marB="95250" anchor="ctr">
                    <a:lnL>
                      <a:noFill/>
                    </a:lnL>
                    <a:lnR>
                      <a:noFill/>
                    </a:lnR>
                    <a:lnT>
                      <a:noFill/>
                    </a:lnT>
                    <a:lnB>
                      <a:noFill/>
                    </a:lnB>
                    <a:solidFill>
                      <a:srgbClr val="FFFFFF"/>
                    </a:solidFill>
                  </a:tcPr>
                </a:tc>
                <a:tc>
                  <a:txBody>
                    <a:bodyPr/>
                    <a:lstStyle/>
                    <a:p>
                      <a:r>
                        <a:rPr lang="es-ES">
                          <a:effectLst/>
                        </a:rPr>
                        <a:t>Industrias reguladas</a:t>
                      </a:r>
                    </a:p>
                  </a:txBody>
                  <a:tcPr marL="95250" marR="95250" marT="95250" marB="95250" anchor="ctr">
                    <a:lnL>
                      <a:noFill/>
                    </a:lnL>
                    <a:lnR>
                      <a:noFill/>
                    </a:lnR>
                    <a:lnT>
                      <a:noFill/>
                    </a:lnT>
                    <a:lnB>
                      <a:noFill/>
                    </a:lnB>
                    <a:solidFill>
                      <a:srgbClr val="FFFFFF"/>
                    </a:solidFill>
                  </a:tcPr>
                </a:tc>
              </a:tr>
              <a:tr h="974831">
                <a:tc>
                  <a:txBody>
                    <a:bodyPr/>
                    <a:lstStyle/>
                    <a:p>
                      <a:r>
                        <a:rPr lang="es-ES" b="1">
                          <a:effectLst/>
                        </a:rPr>
                        <a:t>Trello</a:t>
                      </a:r>
                      <a:endParaRPr lang="es-ES">
                        <a:effectLst/>
                      </a:endParaRPr>
                    </a:p>
                  </a:txBody>
                  <a:tcPr marR="95250" marT="95250" marB="95250" anchor="ctr">
                    <a:lnL>
                      <a:noFill/>
                    </a:lnL>
                    <a:lnR>
                      <a:noFill/>
                    </a:lnR>
                    <a:lnT>
                      <a:noFill/>
                    </a:lnT>
                    <a:lnB>
                      <a:noFill/>
                    </a:lnB>
                    <a:solidFill>
                      <a:srgbClr val="FFFFFF"/>
                    </a:solidFill>
                  </a:tcPr>
                </a:tc>
                <a:tc>
                  <a:txBody>
                    <a:bodyPr/>
                    <a:lstStyle/>
                    <a:p>
                      <a:r>
                        <a:rPr lang="es-ES">
                          <a:effectLst/>
                        </a:rPr>
                        <a:t>Básica</a:t>
                      </a:r>
                    </a:p>
                  </a:txBody>
                  <a:tcPr marL="95250" marR="95250" marT="95250" marB="95250" anchor="ctr">
                    <a:lnL>
                      <a:noFill/>
                    </a:lnL>
                    <a:lnR>
                      <a:noFill/>
                    </a:lnR>
                    <a:lnT>
                      <a:noFill/>
                    </a:lnT>
                    <a:lnB>
                      <a:noFill/>
                    </a:lnB>
                    <a:solidFill>
                      <a:srgbClr val="FFFFFF"/>
                    </a:solidFill>
                  </a:tcPr>
                </a:tc>
                <a:tc>
                  <a:txBody>
                    <a:bodyPr/>
                    <a:lstStyle/>
                    <a:p>
                      <a:r>
                        <a:rPr lang="es-ES">
                          <a:effectLst/>
                        </a:rPr>
                        <a:t>Buena</a:t>
                      </a:r>
                    </a:p>
                  </a:txBody>
                  <a:tcPr marL="95250" marR="95250" marT="95250" marB="95250" anchor="ctr">
                    <a:lnL>
                      <a:noFill/>
                    </a:lnL>
                    <a:lnR>
                      <a:noFill/>
                    </a:lnR>
                    <a:lnT>
                      <a:noFill/>
                    </a:lnT>
                    <a:lnB>
                      <a:noFill/>
                    </a:lnB>
                    <a:solidFill>
                      <a:srgbClr val="FFFFFF"/>
                    </a:solidFill>
                  </a:tcPr>
                </a:tc>
                <a:tc>
                  <a:txBody>
                    <a:bodyPr/>
                    <a:lstStyle/>
                    <a:p>
                      <a:r>
                        <a:rPr lang="es-ES">
                          <a:effectLst/>
                        </a:rPr>
                        <a:t>Slack, Google Drive</a:t>
                      </a:r>
                    </a:p>
                  </a:txBody>
                  <a:tcPr marL="95250" marR="95250" marT="95250" marB="95250" anchor="ctr">
                    <a:lnL>
                      <a:noFill/>
                    </a:lnL>
                    <a:lnR>
                      <a:noFill/>
                    </a:lnR>
                    <a:lnT>
                      <a:noFill/>
                    </a:lnT>
                    <a:lnB>
                      <a:noFill/>
                    </a:lnB>
                    <a:solidFill>
                      <a:srgbClr val="FFFFFF"/>
                    </a:solidFill>
                  </a:tcPr>
                </a:tc>
                <a:tc>
                  <a:txBody>
                    <a:bodyPr/>
                    <a:lstStyle/>
                    <a:p>
                      <a:r>
                        <a:rPr lang="es-ES">
                          <a:effectLst/>
                        </a:rPr>
                        <a:t>$ (gratis básico)</a:t>
                      </a:r>
                    </a:p>
                  </a:txBody>
                  <a:tcPr marL="95250" marR="95250" marT="95250" marB="95250" anchor="ctr">
                    <a:lnL>
                      <a:noFill/>
                    </a:lnL>
                    <a:lnR>
                      <a:noFill/>
                    </a:lnR>
                    <a:lnT>
                      <a:noFill/>
                    </a:lnT>
                    <a:lnB>
                      <a:noFill/>
                    </a:lnB>
                    <a:solidFill>
                      <a:srgbClr val="FFFFFF"/>
                    </a:solidFill>
                  </a:tcPr>
                </a:tc>
                <a:tc>
                  <a:txBody>
                    <a:bodyPr/>
                    <a:lstStyle/>
                    <a:p>
                      <a:r>
                        <a:rPr lang="es-ES">
                          <a:effectLst/>
                        </a:rPr>
                        <a:t>Proyectos pequeños</a:t>
                      </a:r>
                    </a:p>
                  </a:txBody>
                  <a:tcPr marL="95250" marR="95250" marT="95250" marB="95250" anchor="ctr">
                    <a:lnL>
                      <a:noFill/>
                    </a:lnL>
                    <a:lnR>
                      <a:noFill/>
                    </a:lnR>
                    <a:lnT>
                      <a:noFill/>
                    </a:lnT>
                    <a:lnB>
                      <a:noFill/>
                    </a:lnB>
                    <a:solidFill>
                      <a:srgbClr val="FFFFFF"/>
                    </a:solidFill>
                  </a:tcPr>
                </a:tc>
              </a:tr>
              <a:tr h="974831">
                <a:tc>
                  <a:txBody>
                    <a:bodyPr/>
                    <a:lstStyle/>
                    <a:p>
                      <a:r>
                        <a:rPr lang="es-ES" b="1">
                          <a:effectLst/>
                        </a:rPr>
                        <a:t>Modern Requirements</a:t>
                      </a:r>
                      <a:endParaRPr lang="es-ES">
                        <a:effectLst/>
                      </a:endParaRPr>
                    </a:p>
                  </a:txBody>
                  <a:tcPr marR="95250" marT="95250" marB="95250" anchor="ctr">
                    <a:lnL>
                      <a:noFill/>
                    </a:lnL>
                    <a:lnR>
                      <a:noFill/>
                    </a:lnR>
                    <a:lnT>
                      <a:noFill/>
                    </a:lnT>
                    <a:lnB>
                      <a:noFill/>
                    </a:lnB>
                    <a:solidFill>
                      <a:srgbClr val="FFFFFF"/>
                    </a:solidFill>
                  </a:tcPr>
                </a:tc>
                <a:tc>
                  <a:txBody>
                    <a:bodyPr/>
                    <a:lstStyle/>
                    <a:p>
                      <a:r>
                        <a:rPr lang="es-ES">
                          <a:effectLst/>
                        </a:rPr>
                        <a:t>Alta</a:t>
                      </a:r>
                    </a:p>
                  </a:txBody>
                  <a:tcPr marL="95250" marR="95250" marT="95250" marB="95250" anchor="ctr">
                    <a:lnL>
                      <a:noFill/>
                    </a:lnL>
                    <a:lnR>
                      <a:noFill/>
                    </a:lnR>
                    <a:lnT>
                      <a:noFill/>
                    </a:lnT>
                    <a:lnB>
                      <a:noFill/>
                    </a:lnB>
                    <a:solidFill>
                      <a:srgbClr val="FFFFFF"/>
                    </a:solidFill>
                  </a:tcPr>
                </a:tc>
                <a:tc>
                  <a:txBody>
                    <a:bodyPr/>
                    <a:lstStyle/>
                    <a:p>
                      <a:r>
                        <a:rPr lang="es-ES">
                          <a:effectLst/>
                        </a:rPr>
                        <a:t>Buena</a:t>
                      </a:r>
                    </a:p>
                  </a:txBody>
                  <a:tcPr marL="95250" marR="95250" marT="95250" marB="95250" anchor="ctr">
                    <a:lnL>
                      <a:noFill/>
                    </a:lnL>
                    <a:lnR>
                      <a:noFill/>
                    </a:lnR>
                    <a:lnT>
                      <a:noFill/>
                    </a:lnT>
                    <a:lnB>
                      <a:noFill/>
                    </a:lnB>
                    <a:solidFill>
                      <a:srgbClr val="FFFFFF"/>
                    </a:solidFill>
                  </a:tcPr>
                </a:tc>
                <a:tc>
                  <a:txBody>
                    <a:bodyPr/>
                    <a:lstStyle/>
                    <a:p>
                      <a:r>
                        <a:rPr lang="es-ES">
                          <a:effectLst/>
                        </a:rPr>
                        <a:t>Azure DevOps</a:t>
                      </a:r>
                    </a:p>
                  </a:txBody>
                  <a:tcPr marL="95250" marR="95250" marT="95250" marB="95250" anchor="ctr">
                    <a:lnL>
                      <a:noFill/>
                    </a:lnL>
                    <a:lnR>
                      <a:noFill/>
                    </a:lnR>
                    <a:lnT>
                      <a:noFill/>
                    </a:lnT>
                    <a:lnB>
                      <a:noFill/>
                    </a:lnB>
                    <a:solidFill>
                      <a:srgbClr val="FFFFFF"/>
                    </a:solidFill>
                  </a:tcPr>
                </a:tc>
                <a:tc>
                  <a:txBody>
                    <a:bodyPr/>
                    <a:lstStyle/>
                    <a:p>
                      <a:r>
                        <a:rPr lang="es-ES">
                          <a:effectLst/>
                        </a:rPr>
                        <a:t>$$$</a:t>
                      </a:r>
                    </a:p>
                  </a:txBody>
                  <a:tcPr marL="95250" marR="95250" marT="95250" marB="95250" anchor="ctr">
                    <a:lnL>
                      <a:noFill/>
                    </a:lnL>
                    <a:lnR>
                      <a:noFill/>
                    </a:lnR>
                    <a:lnT>
                      <a:noFill/>
                    </a:lnT>
                    <a:lnB>
                      <a:noFill/>
                    </a:lnB>
                    <a:solidFill>
                      <a:srgbClr val="FFFFFF"/>
                    </a:solidFill>
                  </a:tcPr>
                </a:tc>
                <a:tc>
                  <a:txBody>
                    <a:bodyPr/>
                    <a:lstStyle/>
                    <a:p>
                      <a:r>
                        <a:rPr lang="es-ES" dirty="0">
                          <a:effectLst/>
                        </a:rPr>
                        <a:t>Equipos Microsoft</a:t>
                      </a:r>
                    </a:p>
                  </a:txBody>
                  <a:tcPr marL="95250" marR="95250" marT="95250" marB="95250"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130881574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r>
              <a:rPr lang="es-ES" b="1" dirty="0"/>
              <a:t>Tendencias Actuales en la Ingeniería de Requerimientos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669775"/>
            <a:ext cx="11933583" cy="4611756"/>
          </a:xfrm>
        </p:spPr>
        <p:txBody>
          <a:bodyPr>
            <a:noAutofit/>
          </a:bodyPr>
          <a:lstStyle/>
          <a:p>
            <a:r>
              <a:rPr lang="es-ES" b="1" dirty="0"/>
              <a:t>1. Inteligencia Artificial (IA) en la Ingeniería de Requerimientos</a:t>
            </a:r>
          </a:p>
          <a:p>
            <a:r>
              <a:rPr lang="es-ES" b="1" dirty="0" smtClean="0"/>
              <a:t>Impacto y aplicaciones concretas:</a:t>
            </a:r>
            <a:endParaRPr lang="es-ES" dirty="0" smtClean="0"/>
          </a:p>
          <a:p>
            <a:r>
              <a:rPr lang="es-ES" b="1" dirty="0" smtClean="0"/>
              <a:t>Automatización </a:t>
            </a:r>
            <a:r>
              <a:rPr lang="es-ES" b="1" dirty="0"/>
              <a:t>de la recolección:</a:t>
            </a:r>
            <a:endParaRPr lang="es-ES" dirty="0"/>
          </a:p>
          <a:p>
            <a:pPr lvl="1"/>
            <a:r>
              <a:rPr lang="es-ES" sz="2000" b="1" dirty="0"/>
              <a:t>Herramientas como:</a:t>
            </a:r>
            <a:endParaRPr lang="es-ES" sz="2000" dirty="0"/>
          </a:p>
          <a:p>
            <a:pPr lvl="2"/>
            <a:r>
              <a:rPr lang="es-ES" sz="2000" b="1" dirty="0" err="1"/>
              <a:t>ReQMind</a:t>
            </a:r>
            <a:r>
              <a:rPr lang="es-ES" sz="2000" dirty="0"/>
              <a:t>: Usa NLP para extraer requisitos de correos, reuniones o documentos </a:t>
            </a:r>
            <a:r>
              <a:rPr lang="es-ES" sz="2000" dirty="0" err="1"/>
              <a:t>legacy</a:t>
            </a:r>
            <a:r>
              <a:rPr lang="es-ES" sz="2000" dirty="0"/>
              <a:t>.</a:t>
            </a:r>
          </a:p>
          <a:p>
            <a:pPr lvl="2"/>
            <a:r>
              <a:rPr lang="es-ES" sz="2000" b="1" dirty="0"/>
              <a:t>IBM Watson </a:t>
            </a:r>
            <a:r>
              <a:rPr lang="es-ES" sz="2000" b="1" dirty="0" err="1"/>
              <a:t>Requirements</a:t>
            </a:r>
            <a:r>
              <a:rPr lang="es-ES" sz="2000" b="1" dirty="0"/>
              <a:t> </a:t>
            </a:r>
            <a:r>
              <a:rPr lang="es-ES" sz="2000" b="1" dirty="0" err="1"/>
              <a:t>Quality</a:t>
            </a:r>
            <a:r>
              <a:rPr lang="es-ES" sz="2000" b="1" dirty="0"/>
              <a:t> </a:t>
            </a:r>
            <a:r>
              <a:rPr lang="es-ES" sz="2000" b="1" dirty="0" err="1"/>
              <a:t>Assistant</a:t>
            </a:r>
            <a:r>
              <a:rPr lang="es-ES" sz="2000" dirty="0"/>
              <a:t>: Detecta ambigüedades en requisitos naturales.</a:t>
            </a:r>
          </a:p>
          <a:p>
            <a:pPr lvl="1"/>
            <a:r>
              <a:rPr lang="es-ES" sz="2000" b="1" dirty="0"/>
              <a:t>Ejemplo práctico:</a:t>
            </a:r>
            <a:endParaRPr lang="es-ES" sz="2000" dirty="0"/>
          </a:p>
          <a:p>
            <a:pPr lvl="2"/>
            <a:r>
              <a:rPr lang="es-ES" sz="2000" dirty="0"/>
              <a:t>Un banco usa IA para analizar 500 páginas de regulaciones financieras y generar requisitos técnicos automáticamente, reduciendo un 70% el tiempo de análisis</a:t>
            </a:r>
            <a:r>
              <a:rPr lang="es-ES" sz="2000" dirty="0" smtClean="0"/>
              <a:t>.</a:t>
            </a:r>
          </a:p>
          <a:p>
            <a:r>
              <a:rPr lang="es-ES" b="1" dirty="0"/>
              <a:t>Generación de requisitos con IA conversacional:</a:t>
            </a:r>
            <a:endParaRPr lang="es-ES" dirty="0"/>
          </a:p>
          <a:p>
            <a:pPr lvl="1"/>
            <a:r>
              <a:rPr lang="es-ES" sz="2000" b="1" dirty="0" err="1"/>
              <a:t>ChatGPT</a:t>
            </a:r>
            <a:r>
              <a:rPr lang="es-ES" sz="2000" b="1" dirty="0"/>
              <a:t>/</a:t>
            </a:r>
            <a:r>
              <a:rPr lang="es-ES" sz="2000" b="1" dirty="0" err="1"/>
              <a:t>Gemini</a:t>
            </a:r>
            <a:r>
              <a:rPr lang="es-ES" sz="2000" dirty="0"/>
              <a:t>:</a:t>
            </a:r>
          </a:p>
          <a:p>
            <a:pPr lvl="2"/>
            <a:r>
              <a:rPr lang="es-ES" sz="2000" dirty="0" err="1"/>
              <a:t>Prompt</a:t>
            </a:r>
            <a:r>
              <a:rPr lang="es-ES" sz="2000" dirty="0"/>
              <a:t>: </a:t>
            </a:r>
            <a:r>
              <a:rPr lang="es-ES" sz="2000" i="1" dirty="0"/>
              <a:t>"Genera 10 requisitos no funcionales para una </a:t>
            </a:r>
            <a:r>
              <a:rPr lang="es-ES" sz="2000" i="1" dirty="0" err="1"/>
              <a:t>app</a:t>
            </a:r>
            <a:r>
              <a:rPr lang="es-ES" sz="2000" i="1" dirty="0"/>
              <a:t> de telemedicina con HIPAA </a:t>
            </a:r>
            <a:r>
              <a:rPr lang="es-ES" sz="2000" i="1" dirty="0" err="1"/>
              <a:t>compliance</a:t>
            </a:r>
            <a:r>
              <a:rPr lang="es-ES" sz="2000" i="1" dirty="0"/>
              <a:t>"</a:t>
            </a:r>
            <a:r>
              <a:rPr lang="es-ES" sz="2000" dirty="0"/>
              <a:t>.</a:t>
            </a:r>
          </a:p>
          <a:p>
            <a:pPr lvl="2"/>
            <a:r>
              <a:rPr lang="es-ES" sz="2000" dirty="0"/>
              <a:t>Resultado: Incluye seguridad </a:t>
            </a:r>
            <a:r>
              <a:rPr lang="es-ES" sz="2000" dirty="0" err="1"/>
              <a:t>end-to-end</a:t>
            </a:r>
            <a:r>
              <a:rPr lang="es-ES" sz="2000" dirty="0"/>
              <a:t>, </a:t>
            </a:r>
            <a:r>
              <a:rPr lang="es-ES" sz="2000" dirty="0" err="1"/>
              <a:t>logs</a:t>
            </a:r>
            <a:r>
              <a:rPr lang="es-ES" sz="2000" dirty="0"/>
              <a:t> de auditoría, tiempo de respuesta &lt;1s.</a:t>
            </a:r>
          </a:p>
          <a:p>
            <a:pPr lvl="2"/>
            <a:endParaRPr lang="es-ES" dirty="0"/>
          </a:p>
        </p:txBody>
      </p:sp>
    </p:spTree>
    <p:extLst>
      <p:ext uri="{BB962C8B-B14F-4D97-AF65-F5344CB8AC3E}">
        <p14:creationId xmlns:p14="http://schemas.microsoft.com/office/powerpoint/2010/main" val="55035501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r>
              <a:rPr lang="es-ES" b="1" dirty="0"/>
              <a:t>Tendencias Actuales en la Ingeniería de Requerimientos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669775"/>
            <a:ext cx="11933583" cy="4611756"/>
          </a:xfrm>
        </p:spPr>
        <p:txBody>
          <a:bodyPr>
            <a:noAutofit/>
          </a:bodyPr>
          <a:lstStyle/>
          <a:p>
            <a:r>
              <a:rPr lang="es-ES" sz="2400" b="1" dirty="0"/>
              <a:t>2. Automatización de Procesos</a:t>
            </a:r>
          </a:p>
          <a:p>
            <a:r>
              <a:rPr lang="es-ES" sz="2400" b="1" dirty="0"/>
              <a:t>Técnicas y herramientas:</a:t>
            </a:r>
            <a:endParaRPr lang="es-ES" sz="2400" dirty="0"/>
          </a:p>
          <a:p>
            <a:r>
              <a:rPr lang="es-ES" sz="2400" b="1" dirty="0"/>
              <a:t>Generación automática de documentación:</a:t>
            </a:r>
            <a:endParaRPr lang="es-ES" sz="2400" dirty="0"/>
          </a:p>
          <a:p>
            <a:pPr lvl="1"/>
            <a:r>
              <a:rPr lang="es-ES" sz="2400" b="1" dirty="0" err="1"/>
              <a:t>Swagger</a:t>
            </a:r>
            <a:r>
              <a:rPr lang="es-ES" sz="2400" b="1" dirty="0"/>
              <a:t>/</a:t>
            </a:r>
            <a:r>
              <a:rPr lang="es-ES" sz="2400" b="1" dirty="0" err="1"/>
              <a:t>OpenAPI</a:t>
            </a:r>
            <a:r>
              <a:rPr lang="es-ES" sz="2400" dirty="0"/>
              <a:t>: Transforma requisitos de </a:t>
            </a:r>
            <a:r>
              <a:rPr lang="es-ES" sz="2400" dirty="0" err="1"/>
              <a:t>APIs</a:t>
            </a:r>
            <a:r>
              <a:rPr lang="es-ES" sz="2400" dirty="0"/>
              <a:t> en documentación interactiva.</a:t>
            </a:r>
          </a:p>
          <a:p>
            <a:pPr lvl="1"/>
            <a:r>
              <a:rPr lang="es-ES" sz="2400" b="1" dirty="0"/>
              <a:t>Ejemplo:</a:t>
            </a:r>
            <a:r>
              <a:rPr lang="es-ES" sz="2400" dirty="0"/>
              <a:t> Un equipo de desarrollo usa </a:t>
            </a:r>
            <a:r>
              <a:rPr lang="es-ES" sz="2400" dirty="0" err="1"/>
              <a:t>Swagger</a:t>
            </a:r>
            <a:r>
              <a:rPr lang="es-ES" sz="2400" dirty="0"/>
              <a:t> para convertir </a:t>
            </a:r>
            <a:r>
              <a:rPr lang="es-ES" sz="2400" dirty="0" err="1"/>
              <a:t>user</a:t>
            </a:r>
            <a:r>
              <a:rPr lang="es-ES" sz="2400" dirty="0"/>
              <a:t> </a:t>
            </a:r>
            <a:r>
              <a:rPr lang="es-ES" sz="2400" dirty="0" err="1"/>
              <a:t>stories</a:t>
            </a:r>
            <a:r>
              <a:rPr lang="es-ES" sz="2400" dirty="0"/>
              <a:t> en especificaciones técnicas en minutos.</a:t>
            </a:r>
          </a:p>
          <a:p>
            <a:r>
              <a:rPr lang="es-ES" sz="2400" b="1" dirty="0"/>
              <a:t>Trazabilidad con IA:</a:t>
            </a:r>
            <a:endParaRPr lang="es-ES" sz="2400" dirty="0"/>
          </a:p>
          <a:p>
            <a:pPr lvl="1"/>
            <a:r>
              <a:rPr lang="es-ES" sz="2400" b="1" dirty="0"/>
              <a:t>Herramientas como </a:t>
            </a:r>
            <a:r>
              <a:rPr lang="es-ES" sz="2400" b="1" dirty="0" err="1"/>
              <a:t>Visure</a:t>
            </a:r>
            <a:r>
              <a:rPr lang="es-ES" sz="2400" b="1" dirty="0"/>
              <a:t> o Jama </a:t>
            </a:r>
            <a:r>
              <a:rPr lang="es-ES" sz="2400" b="1" dirty="0" err="1"/>
              <a:t>Connect</a:t>
            </a:r>
            <a:r>
              <a:rPr lang="es-ES" sz="2400" dirty="0"/>
              <a:t>:</a:t>
            </a:r>
          </a:p>
          <a:p>
            <a:pPr lvl="2"/>
            <a:r>
              <a:rPr lang="es-ES" sz="2400" dirty="0"/>
              <a:t>Vinculan requisitos con código fuente y casos de prueba automáticamente.</a:t>
            </a:r>
          </a:p>
          <a:p>
            <a:pPr lvl="2"/>
            <a:r>
              <a:rPr lang="es-ES" sz="2400" b="1" dirty="0"/>
              <a:t>Caso de estudio:</a:t>
            </a:r>
            <a:r>
              <a:rPr lang="es-ES" sz="2400" dirty="0"/>
              <a:t> Empresa automotriz reduce errores en requisitos de seguridad ISO 26262 en un 40%.</a:t>
            </a:r>
          </a:p>
          <a:p>
            <a:pPr lvl="2"/>
            <a:endParaRPr lang="es-ES" dirty="0"/>
          </a:p>
        </p:txBody>
      </p:sp>
    </p:spTree>
    <p:extLst>
      <p:ext uri="{BB962C8B-B14F-4D97-AF65-F5344CB8AC3E}">
        <p14:creationId xmlns:p14="http://schemas.microsoft.com/office/powerpoint/2010/main" val="51887785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57200"/>
            <a:ext cx="10058400" cy="1280160"/>
          </a:xfrm>
        </p:spPr>
        <p:txBody>
          <a:bodyPr>
            <a:normAutofit fontScale="90000"/>
          </a:bodyPr>
          <a:lstStyle/>
          <a:p>
            <a:r>
              <a:rPr lang="es-ES" b="1" dirty="0"/>
              <a:t>Tendencias Actuales en la Ingeniería de Requerimientos</a:t>
            </a:r>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
        <p:nvSpPr>
          <p:cNvPr id="8" name="Rectangle 2"/>
          <p:cNvSpPr txBox="1">
            <a:spLocks noChangeArrowheads="1"/>
          </p:cNvSpPr>
          <p:nvPr/>
        </p:nvSpPr>
        <p:spPr>
          <a:xfrm>
            <a:off x="982980" y="2070101"/>
            <a:ext cx="10184802" cy="36576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endParaRPr lang="es-ES" sz="1000" dirty="0" smtClean="0">
              <a:cs typeface="Arial" panose="020B0604020202020204" pitchFamily="34" charset="0"/>
            </a:endParaRPr>
          </a:p>
          <a:p>
            <a:pPr algn="just">
              <a:buFont typeface="Wingdings" panose="05000000000000000000" pitchFamily="2" charset="2"/>
              <a:buChar char="Ø"/>
            </a:pPr>
            <a:endParaRPr lang="es-ES" sz="1000" dirty="0" smtClean="0"/>
          </a:p>
          <a:p>
            <a:pPr algn="just">
              <a:buFont typeface="Wingdings" panose="05000000000000000000" pitchFamily="2" charset="2"/>
              <a:buChar char="Ø"/>
            </a:pPr>
            <a:endParaRPr lang="es-ES" sz="2600" dirty="0">
              <a:cs typeface="Arial" panose="020B0604020202020204" pitchFamily="34" charset="0"/>
            </a:endParaRPr>
          </a:p>
        </p:txBody>
      </p:sp>
      <p:sp>
        <p:nvSpPr>
          <p:cNvPr id="7" name="Marcador de contenido 2"/>
          <p:cNvSpPr>
            <a:spLocks noGrp="1"/>
          </p:cNvSpPr>
          <p:nvPr>
            <p:ph idx="1"/>
          </p:nvPr>
        </p:nvSpPr>
        <p:spPr>
          <a:xfrm>
            <a:off x="258417" y="1669775"/>
            <a:ext cx="11933583" cy="4611756"/>
          </a:xfrm>
        </p:spPr>
        <p:txBody>
          <a:bodyPr>
            <a:noAutofit/>
          </a:bodyPr>
          <a:lstStyle/>
          <a:p>
            <a:r>
              <a:rPr lang="es-ES" b="1" dirty="0"/>
              <a:t>3. Tendencias Emergentes</a:t>
            </a:r>
          </a:p>
          <a:p>
            <a:r>
              <a:rPr lang="es-ES" b="1" dirty="0"/>
              <a:t>a) Ingeniería de Requerimientos Basada en Modelos (MBRE)</a:t>
            </a:r>
            <a:endParaRPr lang="es-ES" dirty="0"/>
          </a:p>
          <a:p>
            <a:r>
              <a:rPr lang="es-ES" b="1" dirty="0"/>
              <a:t>Uso de UML/</a:t>
            </a:r>
            <a:r>
              <a:rPr lang="es-ES" b="1" dirty="0" err="1"/>
              <a:t>SysML</a:t>
            </a:r>
            <a:r>
              <a:rPr lang="es-ES" dirty="0"/>
              <a:t>:</a:t>
            </a:r>
          </a:p>
          <a:p>
            <a:pPr lvl="1"/>
            <a:r>
              <a:rPr lang="es-ES" sz="2000" dirty="0"/>
              <a:t>Diagramas de secuencia para validar flujos de requisitos complejos (</a:t>
            </a:r>
            <a:r>
              <a:rPr lang="es-ES" sz="2000" dirty="0" err="1"/>
              <a:t>ej</a:t>
            </a:r>
            <a:r>
              <a:rPr lang="es-ES" sz="2000" dirty="0"/>
              <a:t>: sistemas </a:t>
            </a:r>
            <a:r>
              <a:rPr lang="es-ES" sz="2000" dirty="0" err="1"/>
              <a:t>IoT</a:t>
            </a:r>
            <a:r>
              <a:rPr lang="es-ES" sz="2000" dirty="0"/>
              <a:t>).</a:t>
            </a:r>
          </a:p>
          <a:p>
            <a:pPr lvl="1"/>
            <a:r>
              <a:rPr lang="es-ES" sz="2000" b="1" dirty="0"/>
              <a:t>Herramienta:</a:t>
            </a:r>
            <a:r>
              <a:rPr lang="es-ES" sz="2000" dirty="0"/>
              <a:t> Cameo </a:t>
            </a:r>
            <a:r>
              <a:rPr lang="es-ES" sz="2000" dirty="0" err="1"/>
              <a:t>Systems</a:t>
            </a:r>
            <a:r>
              <a:rPr lang="es-ES" sz="2000" dirty="0"/>
              <a:t> </a:t>
            </a:r>
            <a:r>
              <a:rPr lang="es-ES" sz="2000" dirty="0" err="1"/>
              <a:t>Modeler</a:t>
            </a:r>
            <a:r>
              <a:rPr lang="es-ES" sz="2000" dirty="0"/>
              <a:t>.</a:t>
            </a:r>
          </a:p>
          <a:p>
            <a:r>
              <a:rPr lang="es-ES" b="1" dirty="0"/>
              <a:t>b) Requerimientos para Sistemas Autónomos:</a:t>
            </a:r>
            <a:endParaRPr lang="es-ES" dirty="0"/>
          </a:p>
          <a:p>
            <a:r>
              <a:rPr lang="es-ES" b="1" dirty="0"/>
              <a:t>Desafío:</a:t>
            </a:r>
            <a:r>
              <a:rPr lang="es-ES" dirty="0"/>
              <a:t> Cómo especificar requisitos éticos en IA (</a:t>
            </a:r>
            <a:r>
              <a:rPr lang="es-ES" dirty="0" err="1"/>
              <a:t>ej</a:t>
            </a:r>
            <a:r>
              <a:rPr lang="es-ES" dirty="0"/>
              <a:t>: coches autónomos ante dilemas morales).</a:t>
            </a:r>
          </a:p>
          <a:p>
            <a:r>
              <a:rPr lang="es-ES" b="1" dirty="0"/>
              <a:t>Solución:</a:t>
            </a:r>
            <a:r>
              <a:rPr lang="es-ES" dirty="0"/>
              <a:t> Marcos como </a:t>
            </a:r>
            <a:r>
              <a:rPr lang="es-ES" b="1" dirty="0"/>
              <a:t>IEEE 7000</a:t>
            </a:r>
            <a:r>
              <a:rPr lang="es-ES" dirty="0"/>
              <a:t> para requisitos éticos cuantificables.</a:t>
            </a:r>
          </a:p>
          <a:p>
            <a:r>
              <a:rPr lang="es-ES" b="1" dirty="0"/>
              <a:t>c) </a:t>
            </a:r>
            <a:r>
              <a:rPr lang="es-ES" b="1" dirty="0" err="1"/>
              <a:t>Low-Code</a:t>
            </a:r>
            <a:r>
              <a:rPr lang="es-ES" b="1" dirty="0"/>
              <a:t>/No-</a:t>
            </a:r>
            <a:r>
              <a:rPr lang="es-ES" b="1" dirty="0" err="1"/>
              <a:t>Code</a:t>
            </a:r>
            <a:r>
              <a:rPr lang="es-ES" b="1" dirty="0"/>
              <a:t> para </a:t>
            </a:r>
            <a:r>
              <a:rPr lang="es-ES" b="1" dirty="0" err="1"/>
              <a:t>Prototipado</a:t>
            </a:r>
            <a:r>
              <a:rPr lang="es-ES" b="1" dirty="0"/>
              <a:t>:</a:t>
            </a:r>
            <a:endParaRPr lang="es-ES" dirty="0"/>
          </a:p>
          <a:p>
            <a:r>
              <a:rPr lang="es-ES" b="1" dirty="0"/>
              <a:t>Plataformas como Miro o </a:t>
            </a:r>
            <a:r>
              <a:rPr lang="es-ES" b="1" dirty="0" err="1"/>
              <a:t>FigJam</a:t>
            </a:r>
            <a:r>
              <a:rPr lang="es-ES" b="1" dirty="0"/>
              <a:t>:</a:t>
            </a:r>
            <a:endParaRPr lang="es-ES" dirty="0"/>
          </a:p>
          <a:p>
            <a:pPr lvl="1"/>
            <a:r>
              <a:rPr lang="es-ES" sz="2000" dirty="0" err="1"/>
              <a:t>Stakeholders</a:t>
            </a:r>
            <a:r>
              <a:rPr lang="es-ES" sz="2000" dirty="0"/>
              <a:t> no técnicos diseñan prototipos arrastrando componentes, generando requisitos visuales.</a:t>
            </a:r>
          </a:p>
          <a:p>
            <a:pPr lvl="2"/>
            <a:endParaRPr lang="es-ES" dirty="0"/>
          </a:p>
        </p:txBody>
      </p:sp>
    </p:spTree>
    <p:extLst>
      <p:ext uri="{BB962C8B-B14F-4D97-AF65-F5344CB8AC3E}">
        <p14:creationId xmlns:p14="http://schemas.microsoft.com/office/powerpoint/2010/main" val="279075735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Resumen</a:t>
            </a:r>
          </a:p>
        </p:txBody>
      </p:sp>
      <p:sp>
        <p:nvSpPr>
          <p:cNvPr id="3" name="Marcador de contenido 2"/>
          <p:cNvSpPr>
            <a:spLocks noGrp="1"/>
          </p:cNvSpPr>
          <p:nvPr>
            <p:ph idx="1"/>
          </p:nvPr>
        </p:nvSpPr>
        <p:spPr>
          <a:xfrm>
            <a:off x="178905" y="1886075"/>
            <a:ext cx="11867322" cy="4614116"/>
          </a:xfrm>
        </p:spPr>
        <p:txBody>
          <a:bodyPr>
            <a:noAutofit/>
          </a:bodyPr>
          <a:lstStyle/>
          <a:p>
            <a:pPr>
              <a:spcBef>
                <a:spcPct val="20000"/>
              </a:spcBef>
              <a:buFont typeface="Wingdings" pitchFamily="2" charset="2"/>
              <a:buChar char="Ø"/>
            </a:pPr>
            <a:r>
              <a:rPr lang="es-ES" sz="2600" dirty="0"/>
              <a:t>Las tareas de la ingeniería de requerimientos se realizan para establecer un fundamento </a:t>
            </a:r>
            <a:r>
              <a:rPr lang="es-ES" sz="2600" dirty="0" smtClean="0"/>
              <a:t>sólido para </a:t>
            </a:r>
            <a:r>
              <a:rPr lang="es-ES" sz="2600" dirty="0"/>
              <a:t>el diseño y la construcción. </a:t>
            </a:r>
            <a:endParaRPr lang="es-ES" sz="2600" dirty="0" smtClean="0"/>
          </a:p>
          <a:p>
            <a:pPr>
              <a:spcBef>
                <a:spcPct val="20000"/>
              </a:spcBef>
              <a:buFont typeface="Wingdings" pitchFamily="2" charset="2"/>
              <a:buChar char="Ø"/>
            </a:pPr>
            <a:r>
              <a:rPr lang="es-ES" sz="2600" dirty="0" smtClean="0"/>
              <a:t>La </a:t>
            </a:r>
            <a:r>
              <a:rPr lang="es-ES" sz="2600" dirty="0"/>
              <a:t>ingeniería de requerimientos ocurre durante las </a:t>
            </a:r>
            <a:r>
              <a:rPr lang="es-ES" sz="2600" dirty="0" smtClean="0"/>
              <a:t>actividades de </a:t>
            </a:r>
            <a:r>
              <a:rPr lang="es-ES" sz="2600" dirty="0"/>
              <a:t>comunicación y modelado que se hayan definido para el proceso general del software. </a:t>
            </a:r>
            <a:endParaRPr lang="es-ES" sz="2600" dirty="0" smtClean="0"/>
          </a:p>
          <a:p>
            <a:pPr>
              <a:spcBef>
                <a:spcPct val="20000"/>
              </a:spcBef>
              <a:buFont typeface="Wingdings" pitchFamily="2" charset="2"/>
              <a:buChar char="Ø"/>
            </a:pPr>
            <a:r>
              <a:rPr lang="es-ES" sz="2600" dirty="0" smtClean="0"/>
              <a:t>Los miembros </a:t>
            </a:r>
            <a:r>
              <a:rPr lang="es-ES" sz="2600" dirty="0"/>
              <a:t>del equipo de software llevan a cabo siete funciones de ingeniería de requerimientos</a:t>
            </a:r>
            <a:r>
              <a:rPr lang="es-ES" sz="2600" dirty="0" smtClean="0"/>
              <a:t>: concepción</a:t>
            </a:r>
            <a:r>
              <a:rPr lang="es-ES" sz="2600" dirty="0"/>
              <a:t>, indagación, elaboración, negociación, especificación, validación y administración</a:t>
            </a:r>
            <a:r>
              <a:rPr lang="es-ES" sz="2600" dirty="0" smtClean="0"/>
              <a:t>.</a:t>
            </a:r>
          </a:p>
          <a:p>
            <a:pPr>
              <a:spcBef>
                <a:spcPct val="20000"/>
              </a:spcBef>
              <a:buFont typeface="Wingdings" pitchFamily="2" charset="2"/>
              <a:buChar char="Ø"/>
            </a:pPr>
            <a:r>
              <a:rPr lang="es-ES" sz="2600" dirty="0"/>
              <a:t>En la concepción del proyecto, los participantes establecen los requerimientos básicos </a:t>
            </a:r>
            <a:r>
              <a:rPr lang="es-ES" sz="2600" dirty="0" smtClean="0"/>
              <a:t>del problema</a:t>
            </a:r>
            <a:r>
              <a:rPr lang="es-ES" sz="2600" dirty="0"/>
              <a:t>, definen las restricciones generales del proyecto, así como las características y </a:t>
            </a:r>
            <a:r>
              <a:rPr lang="es-ES" sz="2600" dirty="0" smtClean="0"/>
              <a:t>funciones principales </a:t>
            </a:r>
            <a:r>
              <a:rPr lang="es-ES" sz="2600" dirty="0"/>
              <a:t>que debe presentar el sistema para cumplir sus objetivos.</a:t>
            </a:r>
            <a:endParaRPr lang="en-US" sz="2600"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Tree>
    <p:extLst>
      <p:ext uri="{BB962C8B-B14F-4D97-AF65-F5344CB8AC3E}">
        <p14:creationId xmlns:p14="http://schemas.microsoft.com/office/powerpoint/2010/main" val="315886067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Resumen</a:t>
            </a:r>
          </a:p>
        </p:txBody>
      </p:sp>
      <p:sp>
        <p:nvSpPr>
          <p:cNvPr id="3" name="Marcador de contenido 2"/>
          <p:cNvSpPr>
            <a:spLocks noGrp="1"/>
          </p:cNvSpPr>
          <p:nvPr>
            <p:ph idx="1"/>
          </p:nvPr>
        </p:nvSpPr>
        <p:spPr>
          <a:xfrm>
            <a:off x="178905" y="1886075"/>
            <a:ext cx="11867322" cy="4614116"/>
          </a:xfrm>
        </p:spPr>
        <p:txBody>
          <a:bodyPr>
            <a:noAutofit/>
          </a:bodyPr>
          <a:lstStyle/>
          <a:p>
            <a:pPr>
              <a:spcBef>
                <a:spcPct val="20000"/>
              </a:spcBef>
              <a:buFont typeface="Wingdings" pitchFamily="2" charset="2"/>
              <a:buChar char="Ø"/>
            </a:pPr>
            <a:r>
              <a:rPr lang="es-ES" sz="2600" dirty="0"/>
              <a:t>La elaboración amplía aún más los requerimientos en un modelo: una colección de </a:t>
            </a:r>
            <a:r>
              <a:rPr lang="es-ES" sz="2600" dirty="0" smtClean="0"/>
              <a:t>elementos basados </a:t>
            </a:r>
            <a:r>
              <a:rPr lang="es-ES" sz="2600" dirty="0"/>
              <a:t>en escenarios, clases y comportamiento, y orientados al flujo. </a:t>
            </a:r>
            <a:endParaRPr lang="es-ES" sz="2600" dirty="0" smtClean="0"/>
          </a:p>
          <a:p>
            <a:pPr>
              <a:spcBef>
                <a:spcPct val="20000"/>
              </a:spcBef>
              <a:buFont typeface="Wingdings" pitchFamily="2" charset="2"/>
              <a:buChar char="Ø"/>
            </a:pPr>
            <a:r>
              <a:rPr lang="es-ES" sz="2600" dirty="0" smtClean="0"/>
              <a:t>El modelo </a:t>
            </a:r>
            <a:r>
              <a:rPr lang="es-ES" sz="2600" dirty="0"/>
              <a:t>hace </a:t>
            </a:r>
            <a:r>
              <a:rPr lang="es-ES" sz="2600" dirty="0" smtClean="0"/>
              <a:t>referencia a </a:t>
            </a:r>
            <a:r>
              <a:rPr lang="es-ES" sz="2600" dirty="0"/>
              <a:t>patrones de análisis: soluciones para problemas de análisis que se ha </a:t>
            </a:r>
            <a:r>
              <a:rPr lang="es-ES" sz="2600" dirty="0" smtClean="0"/>
              <a:t>observado que son </a:t>
            </a:r>
            <a:r>
              <a:rPr lang="es-ES" sz="2600" dirty="0"/>
              <a:t>recurrentes en diferentes aplicaciones</a:t>
            </a:r>
            <a:r>
              <a:rPr lang="es-ES" sz="2600" dirty="0" smtClean="0"/>
              <a:t>.</a:t>
            </a:r>
          </a:p>
          <a:p>
            <a:pPr>
              <a:spcBef>
                <a:spcPct val="20000"/>
              </a:spcBef>
              <a:buFont typeface="Wingdings" pitchFamily="2" charset="2"/>
              <a:buChar char="Ø"/>
            </a:pPr>
            <a:r>
              <a:rPr lang="es-ES" sz="2600" dirty="0"/>
              <a:t>Conforme se identifican los requerimientos y se crea su modelo, el equipo de software y </a:t>
            </a:r>
            <a:r>
              <a:rPr lang="es-ES" sz="2600" dirty="0" smtClean="0"/>
              <a:t>otros participantes </a:t>
            </a:r>
            <a:r>
              <a:rPr lang="es-ES" sz="2600" dirty="0"/>
              <a:t>negocian la prioridad, la disponibilidad y el costo relativo de cada requerimiento.</a:t>
            </a:r>
          </a:p>
          <a:p>
            <a:pPr>
              <a:spcBef>
                <a:spcPct val="20000"/>
              </a:spcBef>
              <a:buFont typeface="Wingdings" pitchFamily="2" charset="2"/>
              <a:buChar char="Ø"/>
            </a:pPr>
            <a:r>
              <a:rPr lang="es-ES" sz="2600" dirty="0"/>
              <a:t>Además, se valida cada requerimiento y su modelo como un todo comparado con las </a:t>
            </a:r>
            <a:r>
              <a:rPr lang="es-ES" sz="2600" dirty="0" smtClean="0"/>
              <a:t>necesidades del </a:t>
            </a:r>
            <a:r>
              <a:rPr lang="es-ES" sz="2600" dirty="0"/>
              <a:t>cliente a fin de garantizar que va a construirse el sistema correcto</a:t>
            </a:r>
            <a:endParaRPr lang="en-US" sz="2600" dirty="0"/>
          </a:p>
        </p:txBody>
      </p:sp>
      <p:sp>
        <p:nvSpPr>
          <p:cNvPr id="6" name="Marcador de pie de página 2"/>
          <p:cNvSpPr>
            <a:spLocks noGrp="1"/>
          </p:cNvSpPr>
          <p:nvPr>
            <p:ph type="ftr" sz="quarter" idx="11"/>
          </p:nvPr>
        </p:nvSpPr>
        <p:spPr>
          <a:xfrm>
            <a:off x="3686185" y="6459785"/>
            <a:ext cx="4822804" cy="365125"/>
          </a:xfrm>
        </p:spPr>
        <p:txBody>
          <a:bodyPr/>
          <a:lstStyle/>
          <a:p>
            <a:r>
              <a:rPr lang="es-ES_tradnl" dirty="0" smtClean="0"/>
              <a:t>Introducción  a la IS</a:t>
            </a:r>
            <a:endParaRPr lang="es-ES" dirty="0"/>
          </a:p>
        </p:txBody>
      </p:sp>
    </p:spTree>
    <p:extLst>
      <p:ext uri="{BB962C8B-B14F-4D97-AF65-F5344CB8AC3E}">
        <p14:creationId xmlns:p14="http://schemas.microsoft.com/office/powerpoint/2010/main" val="1289256434"/>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11723</TotalTime>
  <Words>8208</Words>
  <Application>Microsoft Office PowerPoint</Application>
  <PresentationFormat>Personalizado</PresentationFormat>
  <Paragraphs>867</Paragraphs>
  <Slides>64</Slides>
  <Notes>62</Notes>
  <HiddenSlides>4</HiddenSlides>
  <MMClips>0</MMClips>
  <ScaleCrop>false</ScaleCrop>
  <HeadingPairs>
    <vt:vector size="4" baseType="variant">
      <vt:variant>
        <vt:lpstr>Tema</vt:lpstr>
      </vt:variant>
      <vt:variant>
        <vt:i4>1</vt:i4>
      </vt:variant>
      <vt:variant>
        <vt:lpstr>Títulos de diapositiva</vt:lpstr>
      </vt:variant>
      <vt:variant>
        <vt:i4>64</vt:i4>
      </vt:variant>
    </vt:vector>
  </HeadingPairs>
  <TitlesOfParts>
    <vt:vector size="65" baseType="lpstr">
      <vt:lpstr>Retrospección</vt:lpstr>
      <vt:lpstr>Ingeniería de Requerimientos  </vt:lpstr>
      <vt:lpstr>Sumario:</vt:lpstr>
      <vt:lpstr>Sumario:</vt:lpstr>
      <vt:lpstr>¿Qué son requerimientos de software? </vt:lpstr>
      <vt:lpstr>¿Qué son requerimientos de software? </vt:lpstr>
      <vt:lpstr>Comprensión de los requerimientos </vt:lpstr>
      <vt:lpstr>Comprensión de los requerimientos </vt:lpstr>
      <vt:lpstr>¿Qué es la ingeniería de requerimientos? </vt:lpstr>
      <vt:lpstr>¿Qué es la ingeniería de requerimientos? </vt:lpstr>
      <vt:lpstr>¿Qué es la ingeniería de requerimientos? </vt:lpstr>
      <vt:lpstr>¿Qué es la ingeniería de requerimientos? </vt:lpstr>
      <vt:lpstr>¿Qué es la ingeniería de requerimientos? </vt:lpstr>
      <vt:lpstr>Tareas de la Ingeniería de requerimientos</vt:lpstr>
      <vt:lpstr>Tareas de la Ingeniería de requerimientos: Concepción </vt:lpstr>
      <vt:lpstr>Tareas de la Ingeniería de requerimientos: Concepción </vt:lpstr>
      <vt:lpstr>Tareas de la Ingeniería de requerimientos: Indagación.</vt:lpstr>
      <vt:lpstr>Tareas de la Ingeniería de requerimientos: Indagación.</vt:lpstr>
      <vt:lpstr>¿Qué técnicas emplear en el etapa de indagación ? </vt:lpstr>
      <vt:lpstr>Tareas de la Ingeniería de requerimientos: Elaboración .</vt:lpstr>
      <vt:lpstr>Tareas de la Ingeniería de requerimientos: Elaboración .</vt:lpstr>
      <vt:lpstr>Tareas de la Ingeniería de requerimientos: Negociación.</vt:lpstr>
      <vt:lpstr>Tareas de la Ingeniería de requerimientos: Negociación.</vt:lpstr>
      <vt:lpstr>Tareas de la Ingeniería de requerimientos: Negociación.</vt:lpstr>
      <vt:lpstr>Tareas de la Ingeniería de requerimientos: Especificación.</vt:lpstr>
      <vt:lpstr>Tareas de la Ingeniería de requerimientos: Especificación.</vt:lpstr>
      <vt:lpstr>Tareas de la Ingeniería de requerimientos: Especificación.</vt:lpstr>
      <vt:lpstr>Documento Sommerville: Introducción  </vt:lpstr>
      <vt:lpstr>Documento Sommerville: Introducción  </vt:lpstr>
      <vt:lpstr>Documento Sommerville: Introducción  </vt:lpstr>
      <vt:lpstr>Documento Sommerville: Descripción General </vt:lpstr>
      <vt:lpstr>Documento Sommerville: Descripción General </vt:lpstr>
      <vt:lpstr>Documento Sommerville: Descripción General </vt:lpstr>
      <vt:lpstr>Documento Sommerville: Descripción General </vt:lpstr>
      <vt:lpstr>Documento Sommerville: Descripción General </vt:lpstr>
      <vt:lpstr>Documento Sommerville: Requerimientos Específicos </vt:lpstr>
      <vt:lpstr>Documento Sommerville: Requerimientos Específicos </vt:lpstr>
      <vt:lpstr>Documento Sommerville: Requerimientos Específicos </vt:lpstr>
      <vt:lpstr>Documento Sommerville: Requerimientos Específicos </vt:lpstr>
      <vt:lpstr>Documento Sommerville: Requerimientos Específicos </vt:lpstr>
      <vt:lpstr>Documento Sommerville: Requerimientos Específicos </vt:lpstr>
      <vt:lpstr>Documento Sommerville: Requerimientos Específicos </vt:lpstr>
      <vt:lpstr>Documento Sommerville: Requerimientos Específicos </vt:lpstr>
      <vt:lpstr>Documento Sommerville: Requerimientos Específicos </vt:lpstr>
      <vt:lpstr>Documento Sommerville: Requerimientos Específicos </vt:lpstr>
      <vt:lpstr>Documento Sommerville: Requerimientos Específicos </vt:lpstr>
      <vt:lpstr>Documento Sommerville: Anexos</vt:lpstr>
      <vt:lpstr>Tareas de la Ingeniería de requerimientos: Validación.</vt:lpstr>
      <vt:lpstr>Tareas de la Ingeniería de requerimientos: Administración de los requerimientos.</vt:lpstr>
      <vt:lpstr>Etapas requeridas para establecer las bases</vt:lpstr>
      <vt:lpstr>Etapas requeridas para establecer las bases</vt:lpstr>
      <vt:lpstr>Etapas requeridas para establecer las bases</vt:lpstr>
      <vt:lpstr>Etapas requeridas para establecer las bases</vt:lpstr>
      <vt:lpstr>Problemas Comunes en la Ingeniería de Requerimientos</vt:lpstr>
      <vt:lpstr>Ejemplos  Reales de Fallos por Mala Gestión de Requerimientos</vt:lpstr>
      <vt:lpstr>Ejemplos  Reales de Fallos por Mala Gestión de Requerimientos</vt:lpstr>
      <vt:lpstr>Ejemplos  Reales de Fallos por Mala Gestión de Requerimientos</vt:lpstr>
      <vt:lpstr>Ejemplos  Reales de Fallos por Mala Gestión de Requerimientos</vt:lpstr>
      <vt:lpstr>Herramientas de Software para la Ingeniería de Requerimientos</vt:lpstr>
      <vt:lpstr>Herramientas de Software para la Ingeniería de Requerimientos</vt:lpstr>
      <vt:lpstr>Tendencias Actuales en la Ingeniería de Requerimientos</vt:lpstr>
      <vt:lpstr>Tendencias Actuales en la Ingeniería de Requerimientos</vt:lpstr>
      <vt:lpstr>Tendencias Actuales en la Ingeniería de Requerimientos</vt:lpstr>
      <vt:lpstr>Resumen</vt:lpstr>
      <vt:lpstr>Resumen</vt:lpstr>
    </vt:vector>
  </TitlesOfParts>
  <Company>Universidad de Málaga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Proyectos Software</dc:title>
  <dc:creator>Aracelys</dc:creator>
  <cp:lastModifiedBy>Admin</cp:lastModifiedBy>
  <cp:revision>315</cp:revision>
  <dcterms:created xsi:type="dcterms:W3CDTF">2016-09-19T15:25:44Z</dcterms:created>
  <dcterms:modified xsi:type="dcterms:W3CDTF">2025-09-09T16:02:49Z</dcterms:modified>
</cp:coreProperties>
</file>