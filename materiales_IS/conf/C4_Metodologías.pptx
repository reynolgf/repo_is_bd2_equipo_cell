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0" r:id="rId1"/>
  </p:sldMasterIdLst>
  <p:notesMasterIdLst>
    <p:notesMasterId r:id="rId59"/>
  </p:notesMasterIdLst>
  <p:handoutMasterIdLst>
    <p:handoutMasterId r:id="rId60"/>
  </p:handoutMasterIdLst>
  <p:sldIdLst>
    <p:sldId id="446" r:id="rId2"/>
    <p:sldId id="258" r:id="rId3"/>
    <p:sldId id="763" r:id="rId4"/>
    <p:sldId id="683" r:id="rId5"/>
    <p:sldId id="764" r:id="rId6"/>
    <p:sldId id="765" r:id="rId7"/>
    <p:sldId id="766" r:id="rId8"/>
    <p:sldId id="767" r:id="rId9"/>
    <p:sldId id="768" r:id="rId10"/>
    <p:sldId id="769" r:id="rId11"/>
    <p:sldId id="770" r:id="rId12"/>
    <p:sldId id="771" r:id="rId13"/>
    <p:sldId id="772" r:id="rId14"/>
    <p:sldId id="773" r:id="rId15"/>
    <p:sldId id="775" r:id="rId16"/>
    <p:sldId id="776" r:id="rId17"/>
    <p:sldId id="777" r:id="rId18"/>
    <p:sldId id="778" r:id="rId19"/>
    <p:sldId id="779" r:id="rId20"/>
    <p:sldId id="780" r:id="rId21"/>
    <p:sldId id="781" r:id="rId22"/>
    <p:sldId id="782" r:id="rId23"/>
    <p:sldId id="783" r:id="rId24"/>
    <p:sldId id="784" r:id="rId25"/>
    <p:sldId id="785" r:id="rId26"/>
    <p:sldId id="823" r:id="rId27"/>
    <p:sldId id="786" r:id="rId28"/>
    <p:sldId id="787" r:id="rId29"/>
    <p:sldId id="788" r:id="rId30"/>
    <p:sldId id="790" r:id="rId31"/>
    <p:sldId id="791" r:id="rId32"/>
    <p:sldId id="792" r:id="rId33"/>
    <p:sldId id="793" r:id="rId34"/>
    <p:sldId id="795" r:id="rId35"/>
    <p:sldId id="796" r:id="rId36"/>
    <p:sldId id="797" r:id="rId37"/>
    <p:sldId id="801" r:id="rId38"/>
    <p:sldId id="802" r:id="rId39"/>
    <p:sldId id="803" r:id="rId40"/>
    <p:sldId id="804" r:id="rId41"/>
    <p:sldId id="805" r:id="rId42"/>
    <p:sldId id="809" r:id="rId43"/>
    <p:sldId id="810" r:id="rId44"/>
    <p:sldId id="811" r:id="rId45"/>
    <p:sldId id="819" r:id="rId46"/>
    <p:sldId id="806" r:id="rId47"/>
    <p:sldId id="807" r:id="rId48"/>
    <p:sldId id="808" r:id="rId49"/>
    <p:sldId id="821" r:id="rId50"/>
    <p:sldId id="822" r:id="rId51"/>
    <p:sldId id="812" r:id="rId52"/>
    <p:sldId id="813" r:id="rId53"/>
    <p:sldId id="814" r:id="rId54"/>
    <p:sldId id="815" r:id="rId55"/>
    <p:sldId id="817" r:id="rId56"/>
    <p:sldId id="818" r:id="rId57"/>
    <p:sldId id="520" r:id="rId5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57343" autoAdjust="0"/>
  </p:normalViewPr>
  <p:slideViewPr>
    <p:cSldViewPr snapToGrid="0">
      <p:cViewPr>
        <p:scale>
          <a:sx n="48" d="100"/>
          <a:sy n="48" d="100"/>
        </p:scale>
        <p:origin x="-1572"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E54A35-C587-4D9E-88EB-28625A5AAE59}" type="datetimeFigureOut">
              <a:rPr lang="es-ES" smtClean="0"/>
              <a:t>14/10/2025</a:t>
            </a:fld>
            <a:endParaRPr lang="es-ES"/>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FB20A4-F458-406D-8DAC-3B8EE176367F}" type="slidenum">
              <a:rPr lang="es-ES" smtClean="0"/>
              <a:t>‹Nº›</a:t>
            </a:fld>
            <a:endParaRPr lang="es-ES"/>
          </a:p>
        </p:txBody>
      </p:sp>
    </p:spTree>
    <p:extLst>
      <p:ext uri="{BB962C8B-B14F-4D97-AF65-F5344CB8AC3E}">
        <p14:creationId xmlns:p14="http://schemas.microsoft.com/office/powerpoint/2010/main" val="282072254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B2E9DD-9C30-4075-A3B5-08E83A83D8F0}" type="datetimeFigureOut">
              <a:rPr lang="es-ES" smtClean="0"/>
              <a:t>14/10/2025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D236AF-7B77-41A3-9722-60AF9BD7B607}" type="slidenum">
              <a:rPr lang="es-ES" smtClean="0"/>
              <a:t>‹Nº›</a:t>
            </a:fld>
            <a:endParaRPr lang="es-ES"/>
          </a:p>
        </p:txBody>
      </p:sp>
    </p:spTree>
    <p:extLst>
      <p:ext uri="{BB962C8B-B14F-4D97-AF65-F5344CB8AC3E}">
        <p14:creationId xmlns:p14="http://schemas.microsoft.com/office/powerpoint/2010/main" val="265285922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7"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1pPr>
            <a:lvl2pPr marL="742950" indent="-28575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2pPr>
            <a:lvl3pPr marL="11430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3pPr>
            <a:lvl4pPr marL="16002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4pPr>
            <a:lvl5pPr marL="20574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9pPr>
          </a:lstStyle>
          <a:p>
            <a:pPr eaLnBrk="1" hangingPunct="1"/>
            <a:endParaRPr lang="en-US" dirty="0"/>
          </a:p>
        </p:txBody>
      </p:sp>
      <p:sp>
        <p:nvSpPr>
          <p:cNvPr id="108548" name="Rectangle 2"/>
          <p:cNvSpPr>
            <a:spLocks noGrp="1" noChangeArrowheads="1"/>
          </p:cNvSpPr>
          <p:nvPr>
            <p:ph type="body"/>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dirty="0">
              <a:cs typeface="Arial" panose="020B0604020202020204" pitchFamily="34" charset="0"/>
            </a:endParaRPr>
          </a:p>
        </p:txBody>
      </p:sp>
    </p:spTree>
    <p:extLst>
      <p:ext uri="{BB962C8B-B14F-4D97-AF65-F5344CB8AC3E}">
        <p14:creationId xmlns:p14="http://schemas.microsoft.com/office/powerpoint/2010/main" val="1109841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1" name="Rectangle 1"/>
          <p:cNvSpPr>
            <a:spLocks noGrp="1" noRot="1" noChangeAspect="1" noChangeArrowheads="1" noTextEdit="1"/>
          </p:cNvSpPr>
          <p:nvPr>
            <p:ph type="sldImg"/>
          </p:nvPr>
        </p:nvSpPr>
        <p:spPr>
          <a:xfrm>
            <a:off x="381000" y="685800"/>
            <a:ext cx="6096000" cy="3429000"/>
          </a:xfrm>
          <a:ln/>
        </p:spPr>
      </p:sp>
      <p:sp>
        <p:nvSpPr>
          <p:cNvPr id="109572" name="Text Box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cs typeface="Arial" panose="020B0604020202020204" pitchFamily="34" charset="0"/>
            </a:endParaRPr>
          </a:p>
        </p:txBody>
      </p:sp>
    </p:spTree>
    <p:extLst>
      <p:ext uri="{BB962C8B-B14F-4D97-AF65-F5344CB8AC3E}">
        <p14:creationId xmlns:p14="http://schemas.microsoft.com/office/powerpoint/2010/main" val="979760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Entender el problema. En ocasiones es difícil de admitir, pero la mayor parte de nosotros adoptamos una actitud de orgullo desmedido cuando se nos presenta un problema. Escuchamos por unos segundos y después pensamos: Claro, sí, entiendo, resolvamos esto. Desafortunadamente, entender no siempre es fácil. Es conveniente dedicar un poco de tiempo a responder algunas preguntas sencillas:</a:t>
            </a:r>
          </a:p>
          <a:p>
            <a:r>
              <a:rPr lang="es-ES" dirty="0" smtClean="0"/>
              <a:t>Hemos visto en las conferencias anteriores que para entender el problema nos podemos valer de  hacer un levantamiento de las especificaciones, requerimientos y restricciones. Esto lo podemos  hacer tanto en lenguaje natural (usando la guía de </a:t>
            </a:r>
            <a:r>
              <a:rPr lang="es-ES" dirty="0" err="1" smtClean="0"/>
              <a:t>sommeville</a:t>
            </a:r>
            <a:r>
              <a:rPr lang="es-ES" dirty="0" smtClean="0"/>
              <a:t>) o con lenguajes de especificación. </a:t>
            </a:r>
          </a:p>
        </p:txBody>
      </p:sp>
    </p:spTree>
    <p:extLst>
      <p:ext uri="{BB962C8B-B14F-4D97-AF65-F5344CB8AC3E}">
        <p14:creationId xmlns:p14="http://schemas.microsoft.com/office/powerpoint/2010/main" val="1369886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Ahora entiende el problema (o es lo que piensa) y no puede esperar para escribir el código. Antes de hacerlo, cálmese un poco y haga un pequeño análisis respondiendo a las siguientes preguntas:</a:t>
            </a:r>
          </a:p>
          <a:p>
            <a:pPr eaLnBrk="1" hangingPunct="1">
              <a:spcBef>
                <a:spcPct val="0"/>
              </a:spcBef>
            </a:pPr>
            <a:endParaRPr lang="es-ES" altLang="es-ES" dirty="0" smtClean="0"/>
          </a:p>
          <a:p>
            <a:r>
              <a:rPr lang="es-ES" dirty="0" smtClean="0"/>
              <a:t>Aquí tienes una descripción de cada una de las técnicas que mencionaste: lluvia de ideas, juego de roles y técnicas Delphi. Estas son herramientas útiles en el proceso de generación de ideas y toma de decisiones en proyectos.</a:t>
            </a:r>
          </a:p>
          <a:p>
            <a:endParaRPr lang="es-ES" dirty="0" smtClean="0"/>
          </a:p>
          <a:p>
            <a:r>
              <a:rPr lang="es-ES" dirty="0" smtClean="0"/>
              <a:t>▎1. Lluvia de Ideas (</a:t>
            </a:r>
            <a:r>
              <a:rPr lang="es-ES" dirty="0" err="1" smtClean="0"/>
              <a:t>Brainstorming</a:t>
            </a:r>
            <a:r>
              <a:rPr lang="es-ES" dirty="0" smtClean="0"/>
              <a:t>)</a:t>
            </a:r>
          </a:p>
          <a:p>
            <a:endParaRPr lang="es-ES" dirty="0" smtClean="0"/>
          </a:p>
          <a:p>
            <a:r>
              <a:rPr lang="es-ES" dirty="0" smtClean="0"/>
              <a:t>La lluvia de ideas es una técnica creativa que busca generar una gran cantidad de ideas sobre un tema específico en un corto periodo de tiempo. Aquí te dejo algunos puntos clave:</a:t>
            </a:r>
          </a:p>
          <a:p>
            <a:endParaRPr lang="es-ES" dirty="0" smtClean="0"/>
          </a:p>
          <a:p>
            <a:r>
              <a:rPr lang="es-ES" dirty="0" smtClean="0"/>
              <a:t>• Objetivo: Fomentar la creatividad y la participación de todos los miembros del grupo.</a:t>
            </a:r>
          </a:p>
          <a:p>
            <a:endParaRPr lang="es-ES" dirty="0" smtClean="0"/>
          </a:p>
          <a:p>
            <a:r>
              <a:rPr lang="es-ES" dirty="0" smtClean="0"/>
              <a:t>• Reglas:</a:t>
            </a:r>
          </a:p>
          <a:p>
            <a:endParaRPr lang="es-ES" dirty="0" smtClean="0"/>
          </a:p>
          <a:p>
            <a:r>
              <a:rPr lang="es-ES" dirty="0" smtClean="0"/>
              <a:t>  • No se critican las ideas durante la sesión.</a:t>
            </a:r>
          </a:p>
          <a:p>
            <a:endParaRPr lang="es-ES" dirty="0" smtClean="0"/>
          </a:p>
          <a:p>
            <a:r>
              <a:rPr lang="es-ES" dirty="0" smtClean="0"/>
              <a:t>  • Se anima a construir sobre las ideas de otros.</a:t>
            </a:r>
          </a:p>
          <a:p>
            <a:endParaRPr lang="es-ES" dirty="0" smtClean="0"/>
          </a:p>
          <a:p>
            <a:r>
              <a:rPr lang="es-ES" dirty="0" smtClean="0"/>
              <a:t>  • Se busca cantidad sobre calidad; se pueden refinar las ideas más adelante.</a:t>
            </a:r>
          </a:p>
          <a:p>
            <a:endParaRPr lang="es-ES" dirty="0" smtClean="0"/>
          </a:p>
          <a:p>
            <a:r>
              <a:rPr lang="es-ES" dirty="0" smtClean="0"/>
              <a:t>• Formato: Puede ser una reunión en persona, una sesión virtual o incluso una plataforma colaborativa.</a:t>
            </a:r>
          </a:p>
          <a:p>
            <a:endParaRPr lang="es-ES" dirty="0" smtClean="0"/>
          </a:p>
          <a:p>
            <a:r>
              <a:rPr lang="es-ES" dirty="0" smtClean="0"/>
              <a:t>• Resultados: Al final, se recopilan y analizan las ideas generadas para seleccionar las más prometedoras.</a:t>
            </a:r>
          </a:p>
          <a:p>
            <a:endParaRPr lang="es-ES" dirty="0" smtClean="0"/>
          </a:p>
          <a:p>
            <a:r>
              <a:rPr lang="es-ES" dirty="0" smtClean="0"/>
              <a:t>▎2. Juego de Roles</a:t>
            </a:r>
          </a:p>
          <a:p>
            <a:endParaRPr lang="es-ES" dirty="0" smtClean="0"/>
          </a:p>
          <a:p>
            <a:r>
              <a:rPr lang="es-ES" dirty="0" smtClean="0"/>
              <a:t>El juego de roles es una técnica que permite a los participantes adoptar diferentes perspectivas o personajes para explorar situaciones, problemas o soluciones. Aquí tienes algunos aspectos destacados:</a:t>
            </a:r>
          </a:p>
          <a:p>
            <a:endParaRPr lang="es-ES" dirty="0" smtClean="0"/>
          </a:p>
          <a:p>
            <a:r>
              <a:rPr lang="es-ES" dirty="0" smtClean="0"/>
              <a:t>• Objetivo: Entender diferentes puntos de vista y fomentar la empatía entre los miembros del equipo.</a:t>
            </a:r>
          </a:p>
          <a:p>
            <a:endParaRPr lang="es-ES" dirty="0" smtClean="0"/>
          </a:p>
          <a:p>
            <a:r>
              <a:rPr lang="es-ES" dirty="0" smtClean="0"/>
              <a:t>• Aplicación:</a:t>
            </a:r>
          </a:p>
          <a:p>
            <a:endParaRPr lang="es-ES" dirty="0" smtClean="0"/>
          </a:p>
          <a:p>
            <a:r>
              <a:rPr lang="es-ES" dirty="0" smtClean="0"/>
              <a:t>  • Los participantes pueden representar a diferentes usuarios, clientes o partes interesadas.</a:t>
            </a:r>
          </a:p>
          <a:p>
            <a:endParaRPr lang="es-ES" dirty="0" smtClean="0"/>
          </a:p>
          <a:p>
            <a:r>
              <a:rPr lang="es-ES" dirty="0" smtClean="0"/>
              <a:t>  • Se pueden simular escenarios específicos para evaluar reacciones y decisiones.</a:t>
            </a:r>
          </a:p>
          <a:p>
            <a:endParaRPr lang="es-ES" dirty="0" smtClean="0"/>
          </a:p>
          <a:p>
            <a:r>
              <a:rPr lang="es-ES" dirty="0" smtClean="0"/>
              <a:t>• Beneficios:</a:t>
            </a:r>
          </a:p>
          <a:p>
            <a:endParaRPr lang="es-ES" dirty="0" smtClean="0"/>
          </a:p>
          <a:p>
            <a:r>
              <a:rPr lang="es-ES" dirty="0" smtClean="0"/>
              <a:t>  • Fomenta la creatividad y la innovación al considerar problemas desde ángulos diferentes.</a:t>
            </a:r>
          </a:p>
          <a:p>
            <a:endParaRPr lang="es-ES" dirty="0" smtClean="0"/>
          </a:p>
          <a:p>
            <a:r>
              <a:rPr lang="es-ES" dirty="0" smtClean="0"/>
              <a:t>  • Ayuda a identificar necesidades no expresadas y posibles soluciones.</a:t>
            </a:r>
          </a:p>
          <a:p>
            <a:r>
              <a:rPr lang="es-ES" dirty="0" smtClean="0"/>
              <a:t>  </a:t>
            </a:r>
          </a:p>
          <a:p>
            <a:r>
              <a:rPr lang="es-ES" dirty="0" smtClean="0"/>
              <a:t>▎3. Técnicas Delphi</a:t>
            </a:r>
          </a:p>
          <a:p>
            <a:endParaRPr lang="es-ES" dirty="0" smtClean="0"/>
          </a:p>
          <a:p>
            <a:r>
              <a:rPr lang="es-ES" dirty="0" smtClean="0"/>
              <a:t>La técnica Delphi es un método estructurado para obtener opiniones y llegar a consensos entre un grupo de expertos. A continuación, algunos aspectos clave:</a:t>
            </a:r>
          </a:p>
          <a:p>
            <a:endParaRPr lang="es-ES" dirty="0" smtClean="0"/>
          </a:p>
          <a:p>
            <a:r>
              <a:rPr lang="es-ES" dirty="0" smtClean="0"/>
              <a:t>• Objetivo: Recopilar y refinar opiniones de expertos sobre un tema específico mediante rondas sucesivas de preguntas.</a:t>
            </a:r>
          </a:p>
          <a:p>
            <a:endParaRPr lang="es-ES" dirty="0" smtClean="0"/>
          </a:p>
          <a:p>
            <a:r>
              <a:rPr lang="es-ES" dirty="0" smtClean="0"/>
              <a:t>• Proceso:</a:t>
            </a:r>
          </a:p>
          <a:p>
            <a:endParaRPr lang="es-ES" dirty="0" smtClean="0"/>
          </a:p>
          <a:p>
            <a:r>
              <a:rPr lang="es-ES" dirty="0" smtClean="0"/>
              <a:t>  1. Se selecciona un panel de expertos en el tema.</a:t>
            </a:r>
          </a:p>
          <a:p>
            <a:endParaRPr lang="es-ES" dirty="0" smtClean="0"/>
          </a:p>
          <a:p>
            <a:r>
              <a:rPr lang="es-ES" dirty="0" smtClean="0"/>
              <a:t>  2. Se envían cuestionarios (de forma anónima) a los expertos para obtener sus opiniones iniciales.</a:t>
            </a:r>
          </a:p>
          <a:p>
            <a:endParaRPr lang="es-ES" dirty="0" smtClean="0"/>
          </a:p>
          <a:p>
            <a:r>
              <a:rPr lang="es-ES" dirty="0" smtClean="0"/>
              <a:t>  3. Se recopilan y analizan las respuestas, y se elabora un resumen.</a:t>
            </a:r>
          </a:p>
          <a:p>
            <a:endParaRPr lang="es-ES" dirty="0" smtClean="0"/>
          </a:p>
          <a:p>
            <a:r>
              <a:rPr lang="es-ES" dirty="0" smtClean="0"/>
              <a:t>  4. Se envía el resumen a los expertos junto con nuevas preguntas o áreas para profundizar.</a:t>
            </a:r>
          </a:p>
          <a:p>
            <a:endParaRPr lang="es-ES" dirty="0" smtClean="0"/>
          </a:p>
          <a:p>
            <a:r>
              <a:rPr lang="es-ES" dirty="0" smtClean="0"/>
              <a:t>  5. Este proceso se repite durante varias rondas hasta que se alcanza un consenso o se clarifican las opiniones.</a:t>
            </a:r>
          </a:p>
          <a:p>
            <a:endParaRPr lang="es-ES" dirty="0" smtClean="0"/>
          </a:p>
          <a:p>
            <a:r>
              <a:rPr lang="es-ES" dirty="0" smtClean="0"/>
              <a:t>• Beneficios:</a:t>
            </a:r>
          </a:p>
          <a:p>
            <a:endParaRPr lang="es-ES" dirty="0" smtClean="0"/>
          </a:p>
          <a:p>
            <a:r>
              <a:rPr lang="es-ES" dirty="0" smtClean="0"/>
              <a:t>  • Reduce el sesgo que puede surgir en discusiones en grupo.</a:t>
            </a:r>
          </a:p>
          <a:p>
            <a:endParaRPr lang="es-ES" dirty="0" smtClean="0"/>
          </a:p>
          <a:p>
            <a:r>
              <a:rPr lang="es-ES" dirty="0" smtClean="0"/>
              <a:t>  • Permite obtener información valiosa de expertos que pueden estar geográficamente dispersos.</a:t>
            </a:r>
          </a:p>
          <a:p>
            <a:endParaRPr lang="en-US" dirty="0" smtClean="0"/>
          </a:p>
          <a:p>
            <a:r>
              <a:rPr lang="es-ES" dirty="0" smtClean="0"/>
              <a:t>4. </a:t>
            </a:r>
            <a:r>
              <a:rPr lang="es-ES" dirty="0" err="1" smtClean="0"/>
              <a:t>Prioritización</a:t>
            </a:r>
            <a:r>
              <a:rPr lang="es-ES" dirty="0" smtClean="0"/>
              <a:t> </a:t>
            </a:r>
            <a:r>
              <a:rPr lang="es-ES" dirty="0" err="1" smtClean="0"/>
              <a:t>MoSCoW</a:t>
            </a:r>
            <a:endParaRPr lang="es-ES" dirty="0" smtClean="0"/>
          </a:p>
          <a:p>
            <a:endParaRPr lang="es-ES" dirty="0" smtClean="0"/>
          </a:p>
          <a:p>
            <a:r>
              <a:rPr lang="es-ES" dirty="0" smtClean="0"/>
              <a:t>   • Descripción: Clasificación de requisitos o características en cuatro categorías: </a:t>
            </a:r>
            <a:r>
              <a:rPr lang="es-ES" dirty="0" err="1" smtClean="0"/>
              <a:t>Must</a:t>
            </a:r>
            <a:r>
              <a:rPr lang="es-ES" dirty="0" smtClean="0"/>
              <a:t> </a:t>
            </a:r>
            <a:r>
              <a:rPr lang="es-ES" dirty="0" err="1" smtClean="0"/>
              <a:t>have</a:t>
            </a:r>
            <a:r>
              <a:rPr lang="es-ES" dirty="0" smtClean="0"/>
              <a:t> (debe tener), </a:t>
            </a:r>
            <a:r>
              <a:rPr lang="es-ES" dirty="0" err="1" smtClean="0"/>
              <a:t>Should</a:t>
            </a:r>
            <a:r>
              <a:rPr lang="es-ES" dirty="0" smtClean="0"/>
              <a:t> </a:t>
            </a:r>
            <a:r>
              <a:rPr lang="es-ES" dirty="0" err="1" smtClean="0"/>
              <a:t>have</a:t>
            </a:r>
            <a:r>
              <a:rPr lang="es-ES" dirty="0" smtClean="0"/>
              <a:t> (debería tener), </a:t>
            </a:r>
            <a:r>
              <a:rPr lang="es-ES" dirty="0" err="1" smtClean="0"/>
              <a:t>Could</a:t>
            </a:r>
            <a:r>
              <a:rPr lang="es-ES" dirty="0" smtClean="0"/>
              <a:t> </a:t>
            </a:r>
            <a:r>
              <a:rPr lang="es-ES" dirty="0" err="1" smtClean="0"/>
              <a:t>have</a:t>
            </a:r>
            <a:r>
              <a:rPr lang="es-ES" dirty="0" smtClean="0"/>
              <a:t> (podría tener) y </a:t>
            </a:r>
            <a:r>
              <a:rPr lang="es-ES" dirty="0" err="1" smtClean="0"/>
              <a:t>Won't</a:t>
            </a:r>
            <a:r>
              <a:rPr lang="es-ES" dirty="0" smtClean="0"/>
              <a:t> </a:t>
            </a:r>
            <a:r>
              <a:rPr lang="es-ES" dirty="0" err="1" smtClean="0"/>
              <a:t>have</a:t>
            </a:r>
            <a:r>
              <a:rPr lang="es-ES" dirty="0" smtClean="0"/>
              <a:t> (no tendrá).</a:t>
            </a:r>
          </a:p>
          <a:p>
            <a:endParaRPr lang="es-ES" dirty="0" smtClean="0"/>
          </a:p>
          <a:p>
            <a:r>
              <a:rPr lang="es-ES" dirty="0" smtClean="0"/>
              <a:t>   • Uso: Ayudar a priorizar características según su importancia para el proyecto.</a:t>
            </a:r>
          </a:p>
          <a:p>
            <a:r>
              <a:rPr lang="es-ES" dirty="0" smtClean="0"/>
              <a:t>▎Conclusión</a:t>
            </a:r>
          </a:p>
          <a:p>
            <a:endParaRPr lang="es-ES" dirty="0" smtClean="0"/>
          </a:p>
          <a:p>
            <a:r>
              <a:rPr lang="es-ES" dirty="0" smtClean="0"/>
              <a:t>Estas técnicas pueden ser muy efectivas en la fase de ideación y toma de decisiones en proyectos. La lluvia de ideas fomenta la creatividad, el juego de roles ayuda a entender diferentes perspectivas, y la técnica Delphi permite llegar a consensos informados entre expertos. Puedes elegir la técnica que mejor se adapte a tus necesidades y al contexto del proyecto.</a:t>
            </a:r>
            <a:endParaRPr lang="es-ES" altLang="es-ES" dirty="0" smtClean="0"/>
          </a:p>
          <a:p>
            <a:endParaRPr lang="es-ES" dirty="0" smtClean="0"/>
          </a:p>
          <a:p>
            <a:endParaRPr lang="es-ES" dirty="0"/>
          </a:p>
        </p:txBody>
      </p:sp>
    </p:spTree>
    <p:extLst>
      <p:ext uri="{BB962C8B-B14F-4D97-AF65-F5344CB8AC3E}">
        <p14:creationId xmlns:p14="http://schemas.microsoft.com/office/powerpoint/2010/main" val="1369886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eaLnBrk="1" hangingPunct="1">
              <a:spcBef>
                <a:spcPct val="0"/>
              </a:spcBef>
            </a:pPr>
            <a:endParaRPr lang="es-ES" altLang="es-ES" dirty="0" smtClean="0"/>
          </a:p>
          <a:p>
            <a:r>
              <a:rPr lang="es-ES" dirty="0" smtClean="0"/>
              <a:t>El proceso de desarrollo de software es un conjunto estructurado de actividades y tareas que se llevan a cabo para crear un sistema de software. Este proceso puede variar dependiendo de la metodología que se utilice, pero generalmente incluye las siguientes fases o etapas clave:</a:t>
            </a:r>
          </a:p>
          <a:p>
            <a:endParaRPr lang="es-ES" dirty="0" smtClean="0"/>
          </a:p>
          <a:p>
            <a:r>
              <a:rPr lang="es-ES" dirty="0" smtClean="0"/>
              <a:t>▎2. Planificación</a:t>
            </a:r>
          </a:p>
          <a:p>
            <a:endParaRPr lang="es-ES" dirty="0" smtClean="0"/>
          </a:p>
          <a:p>
            <a:r>
              <a:rPr lang="es-ES" dirty="0" smtClean="0"/>
              <a:t>   • Plan de Proyecto: Crear un plan que incluya el alcance, cronograma, recursos y presupuesto.</a:t>
            </a:r>
          </a:p>
          <a:p>
            <a:endParaRPr lang="es-ES" dirty="0" smtClean="0"/>
          </a:p>
          <a:p>
            <a:r>
              <a:rPr lang="es-ES" dirty="0" smtClean="0"/>
              <a:t>   • Análisis de Riesgos: Identificar posibles riesgos y desarrollar estrategias para mitigarlos.</a:t>
            </a:r>
          </a:p>
          <a:p>
            <a:endParaRPr lang="es-ES" dirty="0" smtClean="0"/>
          </a:p>
          <a:p>
            <a:r>
              <a:rPr lang="es-ES" dirty="0" smtClean="0"/>
              <a:t>   • Definición de Requisitos Iniciales: Recopilar los requisitos preliminares que guiarán el desarrollo.</a:t>
            </a:r>
          </a:p>
          <a:p>
            <a:r>
              <a:rPr lang="es-ES" dirty="0" smtClean="0"/>
              <a:t>▎</a:t>
            </a:r>
          </a:p>
          <a:p>
            <a:endParaRPr lang="es-ES" dirty="0" smtClean="0"/>
          </a:p>
          <a:p>
            <a:r>
              <a:rPr lang="es-ES" dirty="0" smtClean="0"/>
              <a:t>▎5. Desarrollo</a:t>
            </a:r>
          </a:p>
          <a:p>
            <a:endParaRPr lang="es-ES" dirty="0" smtClean="0"/>
          </a:p>
          <a:p>
            <a:r>
              <a:rPr lang="es-ES" dirty="0" smtClean="0"/>
              <a:t>   • Codificación: Escribir el código fuente basado en las especificaciones del diseño.</a:t>
            </a:r>
          </a:p>
          <a:p>
            <a:endParaRPr lang="es-ES" dirty="0" smtClean="0"/>
          </a:p>
          <a:p>
            <a:r>
              <a:rPr lang="es-ES" dirty="0" smtClean="0"/>
              <a:t>   • Control de Versiones: Utilizar herramientas para gestionar cambios en el código y facilitar la colaboración entre desarrolladores.</a:t>
            </a:r>
          </a:p>
          <a:p>
            <a:endParaRPr lang="es-ES" dirty="0" smtClean="0"/>
          </a:p>
          <a:p>
            <a:r>
              <a:rPr lang="es-ES" dirty="0" smtClean="0"/>
              <a:t>   • Integración Continua: Implementar prácticas para integrar y probar el código frecuentemente.</a:t>
            </a:r>
          </a:p>
          <a:p>
            <a:endParaRPr lang="es-ES" dirty="0" smtClean="0"/>
          </a:p>
          <a:p>
            <a:r>
              <a:rPr lang="es-ES" dirty="0" smtClean="0"/>
              <a:t>▎6. Pruebas</a:t>
            </a:r>
          </a:p>
          <a:p>
            <a:endParaRPr lang="es-ES" dirty="0" smtClean="0"/>
          </a:p>
          <a:p>
            <a:r>
              <a:rPr lang="es-ES" dirty="0" smtClean="0"/>
              <a:t>   • Pruebas Unitarias: Probar cada componente individualmente para verificar su correcto funcionamiento.</a:t>
            </a:r>
          </a:p>
          <a:p>
            <a:endParaRPr lang="es-ES" dirty="0" smtClean="0"/>
          </a:p>
          <a:p>
            <a:r>
              <a:rPr lang="es-ES" dirty="0" smtClean="0"/>
              <a:t>   • Pruebas de Integración: Asegurar que los diferentes módulos funcionen correctamente juntos.</a:t>
            </a:r>
          </a:p>
          <a:p>
            <a:endParaRPr lang="es-ES" dirty="0" smtClean="0"/>
          </a:p>
          <a:p>
            <a:r>
              <a:rPr lang="es-ES" dirty="0" smtClean="0"/>
              <a:t>   • Pruebas del Sistema: Evaluar el sistema completo para verificar que cumpla con los requisitos especificados.</a:t>
            </a:r>
          </a:p>
          <a:p>
            <a:endParaRPr lang="es-ES" dirty="0" smtClean="0"/>
          </a:p>
          <a:p>
            <a:r>
              <a:rPr lang="es-ES" dirty="0" smtClean="0"/>
              <a:t>   • Pruebas de Aceptación del Usuario (UAT): Permitir que los usuarios finales prueben el sistema para garantizar que satisfaga sus necesidades.</a:t>
            </a:r>
          </a:p>
          <a:p>
            <a:endParaRPr lang="es-ES" dirty="0" smtClean="0"/>
          </a:p>
          <a:p>
            <a:r>
              <a:rPr lang="es-ES" dirty="0" smtClean="0"/>
              <a:t>▎7. Implementación</a:t>
            </a:r>
          </a:p>
          <a:p>
            <a:endParaRPr lang="es-ES" dirty="0" smtClean="0"/>
          </a:p>
          <a:p>
            <a:r>
              <a:rPr lang="es-ES" dirty="0" smtClean="0"/>
              <a:t>   • Despliegue: Instalar el software en el entorno de producción.</a:t>
            </a:r>
          </a:p>
          <a:p>
            <a:endParaRPr lang="es-ES" dirty="0" smtClean="0"/>
          </a:p>
          <a:p>
            <a:r>
              <a:rPr lang="es-ES" dirty="0" smtClean="0"/>
              <a:t>   • Capacitación: Proporcionar formación a los usuarios sobre cómo utilizar el nuevo sistema.</a:t>
            </a:r>
          </a:p>
          <a:p>
            <a:endParaRPr lang="es-ES" dirty="0" smtClean="0"/>
          </a:p>
          <a:p>
            <a:r>
              <a:rPr lang="es-ES" dirty="0" smtClean="0"/>
              <a:t>   • Documentación del Usuario: Crear manuales y guías para ayudar a los usuarios.</a:t>
            </a:r>
          </a:p>
          <a:p>
            <a:endParaRPr lang="es-ES" dirty="0" smtClean="0"/>
          </a:p>
          <a:p>
            <a:r>
              <a:rPr lang="es-ES" dirty="0" smtClean="0"/>
              <a:t>▎8. Mantenimiento</a:t>
            </a:r>
          </a:p>
          <a:p>
            <a:endParaRPr lang="es-ES" dirty="0" smtClean="0"/>
          </a:p>
          <a:p>
            <a:r>
              <a:rPr lang="es-ES" dirty="0" smtClean="0"/>
              <a:t>   • Soporte Post-Implementación: Brindar asistencia técnica a los usuarios para resolver problemas.</a:t>
            </a:r>
          </a:p>
          <a:p>
            <a:endParaRPr lang="es-ES" dirty="0" smtClean="0"/>
          </a:p>
          <a:p>
            <a:r>
              <a:rPr lang="es-ES" dirty="0" smtClean="0"/>
              <a:t>   • Actualizaciones y Mejoras: Implementar mejoras basadas en la retroalimentación de los usuarios y en cambios en el entorno o tecnología.</a:t>
            </a:r>
          </a:p>
          <a:p>
            <a:endParaRPr lang="es-ES" dirty="0" smtClean="0"/>
          </a:p>
          <a:p>
            <a:r>
              <a:rPr lang="es-ES" dirty="0" smtClean="0"/>
              <a:t>   • Corrección de Errores: Identificar y solucionar fallos o errores que surjan después del lanzamiento.</a:t>
            </a:r>
          </a:p>
          <a:p>
            <a:endParaRPr lang="es-ES" dirty="0" smtClean="0"/>
          </a:p>
          <a:p>
            <a:r>
              <a:rPr lang="es-ES" dirty="0" smtClean="0"/>
              <a:t>▎9. Cierre del Proyecto</a:t>
            </a:r>
          </a:p>
          <a:p>
            <a:endParaRPr lang="es-ES" dirty="0" smtClean="0"/>
          </a:p>
          <a:p>
            <a:r>
              <a:rPr lang="es-ES" dirty="0" smtClean="0"/>
              <a:t>   • Evaluación Final: Revisar si se cumplieron los objetivos y requisitos del proyecto.</a:t>
            </a:r>
          </a:p>
          <a:p>
            <a:endParaRPr lang="es-ES" dirty="0" smtClean="0"/>
          </a:p>
          <a:p>
            <a:r>
              <a:rPr lang="es-ES" dirty="0" smtClean="0"/>
              <a:t>   • Documentación Final: Completar toda la documentación necesaria y registrar lecciones aprendidas.</a:t>
            </a:r>
          </a:p>
          <a:p>
            <a:endParaRPr lang="es-ES" dirty="0" smtClean="0"/>
          </a:p>
          <a:p>
            <a:r>
              <a:rPr lang="es-ES" dirty="0" smtClean="0"/>
              <a:t>   • Cierre Formal: Realizar una reunión final con todas las partes interesadas para cerrar oficialmente el proyecto.</a:t>
            </a:r>
          </a:p>
          <a:p>
            <a:endParaRPr lang="es-ES" dirty="0" smtClean="0"/>
          </a:p>
          <a:p>
            <a:r>
              <a:rPr lang="es-ES" dirty="0" smtClean="0"/>
              <a:t>▎Conclusión</a:t>
            </a:r>
          </a:p>
          <a:p>
            <a:endParaRPr lang="es-ES" dirty="0" smtClean="0"/>
          </a:p>
          <a:p>
            <a:r>
              <a:rPr lang="es-ES" dirty="0" smtClean="0"/>
              <a:t>Cada una de estas etapas es fundamental para asegurar que el proyecto de software se desarrolle de manera efectiva y cumpla con las expectativas de calidad, funcionalidad y satisfacción del usuario. La elección de la metodología (como Agile, </a:t>
            </a:r>
            <a:r>
              <a:rPr lang="es-ES" dirty="0" err="1" smtClean="0"/>
              <a:t>Scrum</a:t>
            </a:r>
            <a:r>
              <a:rPr lang="es-ES" dirty="0" smtClean="0"/>
              <a:t>, </a:t>
            </a:r>
            <a:r>
              <a:rPr lang="es-ES" dirty="0" err="1" smtClean="0"/>
              <a:t>Waterfall</a:t>
            </a:r>
            <a:r>
              <a:rPr lang="es-ES" dirty="0" smtClean="0"/>
              <a:t>, etc.) influirá en cómo se llevan a cabo estas etapas y en la flexibilidad del proceso.</a:t>
            </a:r>
            <a:endParaRPr lang="es-ES" dirty="0"/>
          </a:p>
        </p:txBody>
      </p:sp>
    </p:spTree>
    <p:extLst>
      <p:ext uri="{BB962C8B-B14F-4D97-AF65-F5344CB8AC3E}">
        <p14:creationId xmlns:p14="http://schemas.microsoft.com/office/powerpoint/2010/main" val="1369886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Entonces que podemos entender por metodología en nuestro contexto?</a:t>
            </a:r>
          </a:p>
          <a:p>
            <a:r>
              <a:rPr lang="es-MX" dirty="0" smtClean="0"/>
              <a:t>Organizar y ejecutar un proceso de desarrollo implica una forma de pensar, unos ciertos principios, prioridades y técnicas, generalmente asociados a una cierta notación y reglas sobre la comunicación y documentación, la planificación, la dirección, el </a:t>
            </a:r>
            <a:r>
              <a:rPr lang="es-MX" dirty="0" err="1" smtClean="0"/>
              <a:t>control,etc</a:t>
            </a:r>
            <a:r>
              <a:rPr lang="es-MX" dirty="0" smtClean="0"/>
              <a:t>.</a:t>
            </a:r>
            <a:endParaRPr lang="es-ES" dirty="0" smtClean="0"/>
          </a:p>
          <a:p>
            <a:endParaRPr lang="es-ES" dirty="0" smtClean="0"/>
          </a:p>
        </p:txBody>
      </p:sp>
    </p:spTree>
    <p:extLst>
      <p:ext uri="{BB962C8B-B14F-4D97-AF65-F5344CB8AC3E}">
        <p14:creationId xmlns:p14="http://schemas.microsoft.com/office/powerpoint/2010/main" val="3145900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Una buena metodología de desarrollo de software se caracteriza por varias cualidades que la hacen efectiva y adecuada para el proyecto en cuestión. Aquí hay algunos factores clave que contribuyen a la calidad de una metodología:</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▎1. Adaptabilidad</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Flexibilidad: La metodología debe poder adaptarse a diferentes tipos de proyectos, tamaños y equipos. No todas las metodologías son adecuadas para todos los contextos.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▎2. Enfoque en el Cliente</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Participación del Usuario: Involucrar a los usuarios finales y partes interesadas a lo largo del proceso para asegurar que el producto final cumpla con sus necesidades y expectativas.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▎3. Ciclo de Retroalimentación Rápido</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Iteraciones Cortas: Permitir ciclos cortos de desarrollo y pruebas para obtener retroalimentación rápida y hacer ajustes en tiempo real.</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▎4. Colaboración y Comunicación</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Trabajo en Equipo: Fomentar una cultura de colaboración entre todos los miembros del equipo, así como una comunicación clara y abierta.</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▎5. Documentación Adecuada</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Documentación Clara: Proporcionar suficiente documentación para guiar el proceso sin ser excesiva, lo que puede ralentizar el desarrollo.</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a:t>
            </a:r>
          </a:p>
        </p:txBody>
      </p:sp>
    </p:spTree>
    <p:extLst>
      <p:ext uri="{BB962C8B-B14F-4D97-AF65-F5344CB8AC3E}">
        <p14:creationId xmlns:p14="http://schemas.microsoft.com/office/powerpoint/2010/main" val="31459005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▎6. Gestión de Riesgos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Identificación Temprana: Tener mecanismos para identificar y gestionar riesgos desde las primeras etapas del proyecto.</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▎7. Calidad del Producto</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Enfoque en Pruebas: Incluir prácticas de pruebas rigurosas para asegurar que el software es confiable y cumple con los estándares de calidad.</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▎8. Mejora Continua</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Evaluación y Ajuste: Permitir revisiones periódicas del proceso y del producto para identificar áreas de mejora.</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▎9. Escalabilidad</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Crecimiento Sostenible: La metodología debe ser capaz de escalar con el crecimiento del proyecto o del equipo sin perder eficacia.</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▎10. Definición Clara de Roles y Responsabilidades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Claridad en el Equipo: Establecer roles bien definidos dentro del equipo para mejorar la responsabilidad y la eficiencia.</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▎11. Enfoque en Resultados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Orientación a Objetivos: Mantener un enfoque claro en la entrega de valor al cliente y en alcanzar los objetivos del proyecto.</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▎12. Uso de Herramientas Adecuadas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Herramientas de Soporte: Incorporar herramientas que faciliten la gestión del proyecto, la colaboración y la automatización de tareas repetitivas.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▎Conclusión</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Una buena metodología no solo se centra en seguir un conjunto de reglas, sino que también se adapta a las necesidades específicas del proyecto y del equipo, promoviendo un ambiente colaborativo y centrado en el cliente. La elección de la metodología adecuada puede marcar una gran diferencia en el éxito del desarrollo de software</a:t>
            </a:r>
          </a:p>
        </p:txBody>
      </p:sp>
    </p:spTree>
    <p:extLst>
      <p:ext uri="{BB962C8B-B14F-4D97-AF65-F5344CB8AC3E}">
        <p14:creationId xmlns:p14="http://schemas.microsoft.com/office/powerpoint/2010/main" val="31459005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_tradnl" dirty="0" smtClean="0"/>
          </a:p>
          <a:p>
            <a:endParaRPr lang="es-ES_tradnl" dirty="0" smtClean="0"/>
          </a:p>
          <a:p>
            <a:r>
              <a:rPr lang="es-ES" dirty="0" smtClean="0"/>
              <a:t>La experiencia práctica es fundamental en la implementación y evolución de metodologías de desarrollo de software. Aquí te presento cómo se relaciona la experiencia práctica con las metodologías:</a:t>
            </a:r>
          </a:p>
          <a:p>
            <a:endParaRPr lang="es-ES" dirty="0" smtClean="0"/>
          </a:p>
          <a:p>
            <a:r>
              <a:rPr lang="es-ES" dirty="0" smtClean="0"/>
              <a:t>▎1. Aprendizaje Basado en la Experiencia</a:t>
            </a:r>
          </a:p>
          <a:p>
            <a:endParaRPr lang="es-ES" dirty="0" smtClean="0"/>
          </a:p>
          <a:p>
            <a:r>
              <a:rPr lang="es-ES" dirty="0" smtClean="0"/>
              <a:t>   • Iteraciones: Las metodologías ágiles, como </a:t>
            </a:r>
            <a:r>
              <a:rPr lang="es-ES" dirty="0" err="1" smtClean="0"/>
              <a:t>Scrum</a:t>
            </a:r>
            <a:r>
              <a:rPr lang="es-ES" dirty="0" smtClean="0"/>
              <a:t>, fomentan la entrega de incrementos del producto en ciclos cortos. Esto permite al equipo aprender de cada iteración y ajustar el enfoque según los resultados obtenidos.</a:t>
            </a:r>
          </a:p>
          <a:p>
            <a:endParaRPr lang="es-ES" dirty="0" smtClean="0"/>
          </a:p>
          <a:p>
            <a:r>
              <a:rPr lang="es-ES" dirty="0" smtClean="0"/>
              <a:t>   • Retrospectivas: Al final de cada ciclo, se realizan reuniones para reflexionar sobre lo que funcionó y lo que no, facilitando la mejora continua.</a:t>
            </a:r>
          </a:p>
          <a:p>
            <a:endParaRPr lang="es-ES" dirty="0" smtClean="0"/>
          </a:p>
          <a:p>
            <a:r>
              <a:rPr lang="es-ES" dirty="0" smtClean="0"/>
              <a:t>▎2. Adaptación a Contextos Específicos</a:t>
            </a:r>
          </a:p>
          <a:p>
            <a:endParaRPr lang="es-ES" dirty="0" smtClean="0"/>
          </a:p>
          <a:p>
            <a:r>
              <a:rPr lang="es-ES" dirty="0" smtClean="0"/>
              <a:t>   • Personalización: La experiencia práctica permite a los equipos adaptar las metodologías a sus contextos específicos. Por ejemplo, un equipo puede ajustar las prácticas de </a:t>
            </a:r>
            <a:r>
              <a:rPr lang="es-ES" dirty="0" err="1" smtClean="0"/>
              <a:t>Scrum</a:t>
            </a:r>
            <a:r>
              <a:rPr lang="es-ES" dirty="0" smtClean="0"/>
              <a:t> según su tamaño o la naturaleza del proyecto.</a:t>
            </a:r>
          </a:p>
          <a:p>
            <a:endParaRPr lang="es-ES" dirty="0" smtClean="0"/>
          </a:p>
          <a:p>
            <a:r>
              <a:rPr lang="es-ES" dirty="0" smtClean="0"/>
              <a:t>   • Identificación de Problemas: La práctica revela desafíos únicos que pueden no estar contemplados en la teoría, permitiendo al equipo desarrollar soluciones personalizadas.</a:t>
            </a:r>
          </a:p>
          <a:p>
            <a:endParaRPr lang="es-ES" dirty="0" smtClean="0"/>
          </a:p>
          <a:p>
            <a:r>
              <a:rPr lang="es-ES" dirty="0" smtClean="0"/>
              <a:t>▎3. Validación de Teorías</a:t>
            </a:r>
          </a:p>
          <a:p>
            <a:endParaRPr lang="es-ES" dirty="0" smtClean="0"/>
          </a:p>
          <a:p>
            <a:r>
              <a:rPr lang="es-ES" dirty="0" smtClean="0"/>
              <a:t>   • Pruebas de Concepto: La experiencia práctica permite validar conceptos teóricos a través de la implementación real. Esto ayuda a determinar qué prácticas son efectivas y cuáles no.</a:t>
            </a:r>
          </a:p>
          <a:p>
            <a:endParaRPr lang="es-ES" dirty="0" smtClean="0"/>
          </a:p>
          <a:p>
            <a:r>
              <a:rPr lang="es-ES" dirty="0" smtClean="0"/>
              <a:t>   • Evidencia Empírica: Los equipos pueden recopilar datos sobre el rendimiento del proyecto, lo que refuerza o desafía las suposiciones sobre una metodología.</a:t>
            </a:r>
          </a:p>
          <a:p>
            <a:endParaRPr lang="es-ES" dirty="0" smtClean="0"/>
          </a:p>
          <a:p>
            <a:r>
              <a:rPr lang="es-ES" dirty="0" smtClean="0"/>
              <a:t>▎4. Mejora de la Colaboración</a:t>
            </a:r>
          </a:p>
          <a:p>
            <a:endParaRPr lang="es-ES" dirty="0" smtClean="0"/>
          </a:p>
          <a:p>
            <a:r>
              <a:rPr lang="es-ES" dirty="0" smtClean="0"/>
              <a:t>   • Trabajo en Equipo: La experiencia práctica fomenta una mejor colaboración entre los miembros del equipo, ya que aprenden a comunicarse y trabajar juntos de manera más efectiva.</a:t>
            </a:r>
          </a:p>
          <a:p>
            <a:endParaRPr lang="es-ES" dirty="0" smtClean="0"/>
          </a:p>
          <a:p>
            <a:r>
              <a:rPr lang="es-ES" dirty="0" smtClean="0"/>
              <a:t>   • Roles Claros: La práctica ayuda a definir mejor los roles y responsabilidades dentro del equipo, lo que mejora la eficiencia.</a:t>
            </a:r>
          </a:p>
          <a:p>
            <a:endParaRPr lang="es-ES" dirty="0" smtClean="0"/>
          </a:p>
          <a:p>
            <a:r>
              <a:rPr lang="es-ES" dirty="0" smtClean="0"/>
              <a:t>▎5. Desarrollo de Habilidades</a:t>
            </a:r>
          </a:p>
          <a:p>
            <a:endParaRPr lang="es-ES" dirty="0" smtClean="0"/>
          </a:p>
          <a:p>
            <a:r>
              <a:rPr lang="es-ES" dirty="0" smtClean="0"/>
              <a:t>   • Capacitación en el Trabajo: La experiencia práctica es una oportunidad para que los miembros del equipo desarrollen habilidades técnicas y blandas. Aprender en el trabajo es a menudo más efectivo que la capacitación teórica.</a:t>
            </a:r>
          </a:p>
          <a:p>
            <a:endParaRPr lang="es-ES" dirty="0" smtClean="0"/>
          </a:p>
          <a:p>
            <a:r>
              <a:rPr lang="es-ES" dirty="0" smtClean="0"/>
              <a:t>   • </a:t>
            </a:r>
            <a:r>
              <a:rPr lang="es-ES" dirty="0" err="1" smtClean="0"/>
              <a:t>Mentoría</a:t>
            </a:r>
            <a:r>
              <a:rPr lang="es-ES" dirty="0" smtClean="0"/>
              <a:t>: Los miembros más experimentados pueden guiar a los nuevos, creando un ambiente de aprendizaje continuo.</a:t>
            </a:r>
          </a:p>
          <a:p>
            <a:endParaRPr lang="es-ES" dirty="0" smtClean="0"/>
          </a:p>
          <a:p>
            <a:r>
              <a:rPr lang="es-ES" dirty="0" smtClean="0"/>
              <a:t>▎6. Gestión del Riesgo</a:t>
            </a:r>
          </a:p>
          <a:p>
            <a:endParaRPr lang="es-ES" dirty="0" smtClean="0"/>
          </a:p>
          <a:p>
            <a:r>
              <a:rPr lang="es-ES" dirty="0" smtClean="0"/>
              <a:t>   • Identificación Temprana: La experiencia práctica permite a los equipos identificar riesgos potenciales desde el inicio y abordarlos antes de que se conviertan en problemas mayores.</a:t>
            </a:r>
          </a:p>
          <a:p>
            <a:endParaRPr lang="es-ES" dirty="0" smtClean="0"/>
          </a:p>
          <a:p>
            <a:r>
              <a:rPr lang="es-ES" dirty="0" smtClean="0"/>
              <a:t>   • Ajustes Rápidos: La posibilidad de hacer cambios rápidos basados en la retroalimentación y la experiencia acumulada minimiza el impacto de los riesgos.</a:t>
            </a:r>
          </a:p>
          <a:p>
            <a:endParaRPr lang="es-ES" dirty="0" smtClean="0"/>
          </a:p>
          <a:p>
            <a:r>
              <a:rPr lang="es-ES" dirty="0" smtClean="0"/>
              <a:t>▎7. Documentación Dinámica</a:t>
            </a:r>
          </a:p>
          <a:p>
            <a:endParaRPr lang="es-ES" dirty="0" smtClean="0"/>
          </a:p>
          <a:p>
            <a:r>
              <a:rPr lang="es-ES" dirty="0" smtClean="0"/>
              <a:t>   • Evolución de Procesos: A medida que se adquiere experiencia, la documentación de procesos y prácticas puede actualizarse para reflejar mejoras y lecciones aprendidas.</a:t>
            </a:r>
          </a:p>
          <a:p>
            <a:endParaRPr lang="es-ES" dirty="0" smtClean="0"/>
          </a:p>
          <a:p>
            <a:r>
              <a:rPr lang="es-ES" dirty="0" smtClean="0"/>
              <a:t>   • Base para Nuevos Proyectos: La experiencia acumulada se convierte en una base valiosa para futuros proyectos, proporcionando un marco de referencia.</a:t>
            </a:r>
          </a:p>
          <a:p>
            <a:endParaRPr lang="es-ES" dirty="0" smtClean="0"/>
          </a:p>
          <a:p>
            <a:r>
              <a:rPr lang="es-ES" dirty="0" smtClean="0"/>
              <a:t>▎Conclusión</a:t>
            </a:r>
          </a:p>
          <a:p>
            <a:endParaRPr lang="es-ES" dirty="0" smtClean="0"/>
          </a:p>
          <a:p>
            <a:r>
              <a:rPr lang="es-ES" dirty="0" smtClean="0"/>
              <a:t>La experiencia práctica no solo valida y enriquece las metodologías de desarrollo de software, sino que también impulsa su evolución. Los equipos que integran la teoría con la práctica tienden a ser más adaptativos, eficientes y efectivos en la entrega de productos de calidad. Por lo tanto, fomentar un entorno donde la experiencia práctica sea valorada es crucial para el éxito en el desarrollo de software.</a:t>
            </a:r>
          </a:p>
          <a:p>
            <a:endParaRPr lang="es-ES_tradnl" dirty="0" smtClean="0"/>
          </a:p>
          <a:p>
            <a:r>
              <a:rPr lang="es-ES_tradnl" b="1" i="1" dirty="0" smtClean="0"/>
              <a:t>La experiencia en el análisis, o incluso la experiencia en análisis y diseño, no es suficiente </a:t>
            </a:r>
            <a:endParaRPr lang="es-ES" dirty="0" smtClean="0"/>
          </a:p>
          <a:p>
            <a:r>
              <a:rPr lang="es-ES_tradnl" dirty="0" smtClean="0"/>
              <a:t>Muchas veces un analista hace su trabajo, cobra su cuenta y deja a la compañía con un montón de "burbujas y flechas" </a:t>
            </a:r>
            <a:endParaRPr lang="es-ES" dirty="0" smtClean="0"/>
          </a:p>
          <a:p>
            <a:r>
              <a:rPr lang="es-ES_tradnl" dirty="0" smtClean="0"/>
              <a:t>Un enfoque de "análisis solamente" contradice la idea de un ciclo de vida </a:t>
            </a:r>
            <a:r>
              <a:rPr lang="es-ES_tradnl" i="1" dirty="0" smtClean="0"/>
              <a:t>sin costuras </a:t>
            </a:r>
            <a:r>
              <a:rPr lang="es-ES_tradnl" dirty="0" smtClean="0"/>
              <a:t>y </a:t>
            </a:r>
            <a:r>
              <a:rPr lang="es-ES_tradnl" i="1" dirty="0" smtClean="0"/>
              <a:t>reversible</a:t>
            </a:r>
            <a:r>
              <a:rPr lang="es-ES_tradnl" dirty="0" smtClean="0"/>
              <a:t> de la tecnología de objetos</a:t>
            </a:r>
            <a:endParaRPr lang="es-ES" dirty="0" smtClean="0"/>
          </a:p>
          <a:p>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p:txBody>
      </p:sp>
    </p:spTree>
    <p:extLst>
      <p:ext uri="{BB962C8B-B14F-4D97-AF65-F5344CB8AC3E}">
        <p14:creationId xmlns:p14="http://schemas.microsoft.com/office/powerpoint/2010/main" val="31459005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p:txBody>
      </p:sp>
    </p:spTree>
    <p:extLst>
      <p:ext uri="{BB962C8B-B14F-4D97-AF65-F5344CB8AC3E}">
        <p14:creationId xmlns:p14="http://schemas.microsoft.com/office/powerpoint/2010/main" val="31459005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p:txBody>
      </p:sp>
    </p:spTree>
    <p:extLst>
      <p:ext uri="{BB962C8B-B14F-4D97-AF65-F5344CB8AC3E}">
        <p14:creationId xmlns:p14="http://schemas.microsoft.com/office/powerpoint/2010/main" val="31459005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p:txBody>
      </p:sp>
    </p:spTree>
    <p:extLst>
      <p:ext uri="{BB962C8B-B14F-4D97-AF65-F5344CB8AC3E}">
        <p14:creationId xmlns:p14="http://schemas.microsoft.com/office/powerpoint/2010/main" val="31459005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p:txBody>
      </p:sp>
    </p:spTree>
    <p:extLst>
      <p:ext uri="{BB962C8B-B14F-4D97-AF65-F5344CB8AC3E}">
        <p14:creationId xmlns:p14="http://schemas.microsoft.com/office/powerpoint/2010/main" val="31459005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p:txBody>
      </p:sp>
    </p:spTree>
    <p:extLst>
      <p:ext uri="{BB962C8B-B14F-4D97-AF65-F5344CB8AC3E}">
        <p14:creationId xmlns:p14="http://schemas.microsoft.com/office/powerpoint/2010/main" val="31459005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▎Características de las Metodologías Pesadas</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1. Fases Definidas: Se dividen en etapas claramente definidas, como análisis de requisitos, diseño, implementación, pruebas y mantenimiento. Cada fase debe completarse antes de pasar a la siguiente.</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2. Documentación Exhaustiva: Se requiere una documentación detallada en cada etapa del proceso, lo que incluye especificaciones de requisitos, diseños arquitectónicos y planes de prueba.</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3. Planificación Rigurosa: Se establece un plan detallado al inicio del proyecto, que incluye cronogramas, recursos y costos. Los cambios en el alcance suelen ser difíciles de manejar.</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4. Control de Cambios: Los cambios en los requisitos o el diseño suelen requerir un proceso formal de gestión de cambios, lo que puede ralentizar el progreso del proyecto.</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5. Enfoque en la Calidad: La calidad se asegura a través de revisiones formales y pruebas exhaustivas al final del ciclo de desarrollo.</a:t>
            </a:r>
          </a:p>
        </p:txBody>
      </p:sp>
    </p:spTree>
    <p:extLst>
      <p:ext uri="{BB962C8B-B14F-4D97-AF65-F5344CB8AC3E}">
        <p14:creationId xmlns:p14="http://schemas.microsoft.com/office/powerpoint/2010/main" val="31459005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▎Ventajas</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1. Estructura Clara: Proporciona un marco claro y organizado que puede ser fácil de seguir, especialmente para equipos grandes o proyectos complejos.</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2. Documentación Completa: La extensa documentación facilita la transferencia de conocimiento y la continuidad del proyecto, incluso si hay cambios en el equipo.</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3. Previsibilidad: Al seguir un plan detallado, es más fácil prever los costos y los plazos, lo que puede ser atractivo para los clientes y las partes interesadas.</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4. Gestión del Riesgo: La planificación rigurosa y la documentación ayudan a identificar y mitigar riesgos desde el principio.</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▎Desventajas</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1. Rigidez: La inflexibilidad para adaptarse a cambios en los requisitos puede llevar a problemas si las necesidades del cliente evolucionan durante el desarrollo.</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2. Largo Tiempo de Entrega: Dado que se requiere completar todas las fases antes de entregar un producto funcional, el tiempo hasta la entrega puede ser considerablemente largo.</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3. Menor Colaboración: La comunicación puede ser menos efectiva debido a la jerarquía y los procesos formales, lo que puede limitar la innovación y la creatividad.</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4. Costos Elevados: La extensa documentación y los procesos pueden aumentar los costos del proyecto, lo que podría no ser justificable en proyectos más pequeños o menos complejos.</a:t>
            </a:r>
          </a:p>
          <a:p>
            <a:pPr marL="0" marR="0" indent="0" algn="l" defTabSz="914400" rtl="0" eaLnBrk="1" fontAlgn="auto" latinLnBrk="0" hangingPunct="1">
              <a:lnSpc>
                <a:spcPct val="100000"/>
              </a:lnSpc>
              <a:spcBef>
                <a:spcPts val="0"/>
              </a:spcBef>
              <a:spcAft>
                <a:spcPts val="0"/>
              </a:spcAft>
              <a:buClrTx/>
              <a:buSzTx/>
              <a:buFontTx/>
              <a:buNone/>
              <a:tabLst/>
              <a:defRPr/>
            </a:pPr>
            <a:endParaRPr lang="en-U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n-US" dirty="0" smtClean="0"/>
              <a:t>Rup se </a:t>
            </a:r>
            <a:r>
              <a:rPr lang="en-US" dirty="0" err="1" smtClean="0"/>
              <a:t>basa</a:t>
            </a:r>
            <a:r>
              <a:rPr lang="en-US" dirty="0" smtClean="0"/>
              <a:t> en 3 </a:t>
            </a:r>
            <a:r>
              <a:rPr lang="en-US" dirty="0" err="1" smtClean="0"/>
              <a:t>modulos</a:t>
            </a:r>
            <a:r>
              <a:rPr lang="en-US" dirty="0" smtClean="0"/>
              <a:t> </a:t>
            </a:r>
            <a:r>
              <a:rPr lang="en-US" dirty="0" err="1" smtClean="0"/>
              <a:t>principales</a:t>
            </a:r>
            <a:r>
              <a:rPr lang="en-US" dirty="0" smtClean="0"/>
              <a:t> </a:t>
            </a:r>
            <a:r>
              <a:rPr lang="en-US" dirty="0" err="1" smtClean="0"/>
              <a:t>que</a:t>
            </a:r>
            <a:r>
              <a:rPr lang="en-US" dirty="0" smtClean="0"/>
              <a:t> </a:t>
            </a:r>
            <a:r>
              <a:rPr lang="en-US" dirty="0" err="1" smtClean="0"/>
              <a:t>constestan</a:t>
            </a:r>
            <a:r>
              <a:rPr lang="en-US" dirty="0" smtClean="0"/>
              <a:t> a </a:t>
            </a:r>
            <a:r>
              <a:rPr lang="en-US" dirty="0" err="1" smtClean="0"/>
              <a:t>las</a:t>
            </a:r>
            <a:r>
              <a:rPr lang="en-US" dirty="0" smtClean="0"/>
              <a:t> </a:t>
            </a:r>
            <a:r>
              <a:rPr lang="en-US" dirty="0" err="1" smtClean="0"/>
              <a:t>preguntas</a:t>
            </a:r>
            <a:r>
              <a:rPr lang="en-US" dirty="0" smtClean="0"/>
              <a:t>:</a:t>
            </a:r>
          </a:p>
          <a:p>
            <a:r>
              <a:rPr lang="en-US" dirty="0" err="1" smtClean="0"/>
              <a:t>Quien</a:t>
            </a:r>
            <a:r>
              <a:rPr lang="en-US" dirty="0" smtClean="0"/>
              <a:t> </a:t>
            </a:r>
            <a:r>
              <a:rPr lang="en-US" dirty="0" err="1" smtClean="0"/>
              <a:t>hace</a:t>
            </a:r>
            <a:r>
              <a:rPr lang="en-US" dirty="0" smtClean="0"/>
              <a:t> el </a:t>
            </a:r>
            <a:r>
              <a:rPr lang="en-US" dirty="0" err="1" smtClean="0"/>
              <a:t>proceso</a:t>
            </a:r>
            <a:r>
              <a:rPr lang="en-US" dirty="0" smtClean="0"/>
              <a:t>??</a:t>
            </a:r>
          </a:p>
          <a:p>
            <a:r>
              <a:rPr lang="en-US" dirty="0" err="1" smtClean="0"/>
              <a:t>Que</a:t>
            </a:r>
            <a:r>
              <a:rPr lang="en-US" dirty="0" smtClean="0"/>
              <a:t> </a:t>
            </a:r>
            <a:r>
              <a:rPr lang="en-US" dirty="0" err="1" smtClean="0"/>
              <a:t>productos</a:t>
            </a:r>
            <a:r>
              <a:rPr lang="en-US" dirty="0" smtClean="0"/>
              <a:t> de </a:t>
            </a:r>
            <a:r>
              <a:rPr lang="en-US" dirty="0" err="1" smtClean="0"/>
              <a:t>trabajo</a:t>
            </a:r>
            <a:r>
              <a:rPr lang="en-US" dirty="0" smtClean="0"/>
              <a:t> se </a:t>
            </a:r>
            <a:r>
              <a:rPr lang="en-US" dirty="0" err="1" smtClean="0"/>
              <a:t>va</a:t>
            </a:r>
            <a:r>
              <a:rPr lang="en-US" dirty="0" smtClean="0"/>
              <a:t> a </a:t>
            </a:r>
            <a:r>
              <a:rPr lang="en-US" dirty="0" err="1" smtClean="0"/>
              <a:t>realizar</a:t>
            </a:r>
            <a:r>
              <a:rPr lang="en-US" dirty="0" smtClean="0"/>
              <a:t>?</a:t>
            </a:r>
          </a:p>
          <a:p>
            <a:r>
              <a:rPr lang="en-US" dirty="0" err="1" smtClean="0"/>
              <a:t>Que</a:t>
            </a:r>
            <a:r>
              <a:rPr lang="en-US" dirty="0" smtClean="0"/>
              <a:t> </a:t>
            </a:r>
            <a:r>
              <a:rPr lang="en-US" dirty="0" err="1" smtClean="0"/>
              <a:t>documentos</a:t>
            </a:r>
            <a:r>
              <a:rPr lang="en-US" dirty="0" smtClean="0"/>
              <a:t> y </a:t>
            </a:r>
            <a:r>
              <a:rPr lang="en-US" dirty="0" err="1" smtClean="0"/>
              <a:t>modelos</a:t>
            </a:r>
            <a:r>
              <a:rPr lang="en-US" dirty="0" smtClean="0"/>
              <a:t> se van a </a:t>
            </a:r>
            <a:r>
              <a:rPr lang="en-US" dirty="0" err="1" smtClean="0"/>
              <a:t>producir</a:t>
            </a:r>
            <a:r>
              <a:rPr lang="en-US" dirty="0" smtClean="0"/>
              <a:t> ?</a:t>
            </a:r>
          </a:p>
          <a:p>
            <a:r>
              <a:rPr lang="en-US" dirty="0" smtClean="0"/>
              <a:t>Como se van a </a:t>
            </a:r>
            <a:r>
              <a:rPr lang="en-US" dirty="0" err="1" smtClean="0"/>
              <a:t>realizar</a:t>
            </a:r>
            <a:r>
              <a:rPr lang="en-US" dirty="0" smtClean="0"/>
              <a:t> </a:t>
            </a:r>
            <a:r>
              <a:rPr lang="en-US" dirty="0" err="1" smtClean="0"/>
              <a:t>las</a:t>
            </a:r>
            <a:r>
              <a:rPr lang="en-US" dirty="0" smtClean="0"/>
              <a:t> </a:t>
            </a:r>
            <a:r>
              <a:rPr lang="en-US" dirty="0" err="1" smtClean="0"/>
              <a:t>tareas</a:t>
            </a:r>
            <a:r>
              <a:rPr lang="en-US" dirty="0" smtClean="0"/>
              <a:t>?</a:t>
            </a:r>
          </a:p>
          <a:p>
            <a:r>
              <a:rPr lang="en-US" dirty="0" smtClean="0"/>
              <a:t> </a:t>
            </a: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Características de RUP</a:t>
            </a:r>
          </a:p>
          <a:p>
            <a:endParaRPr lang="es-ES" dirty="0" smtClean="0"/>
          </a:p>
          <a:p>
            <a:r>
              <a:rPr lang="es-ES" dirty="0" smtClean="0"/>
              <a:t>1. Iterativo e Incremental: RUP promueve la creación de prototipos y la entrega de incrementos del producto a lo largo del ciclo de vida del desarrollo, permitiendo la adaptación a cambios en los requisitos.</a:t>
            </a:r>
          </a:p>
          <a:p>
            <a:endParaRPr lang="es-ES" dirty="0" smtClean="0"/>
          </a:p>
          <a:p>
            <a:r>
              <a:rPr lang="es-ES" dirty="0" smtClean="0"/>
              <a:t>2. Enfoque en la Arquitectura: Se pone un fuerte énfasis en la arquitectura del software desde las primeras fases del desarrollo, lo que ayuda a mitigar riesgos y mejorar la calidad.</a:t>
            </a:r>
          </a:p>
          <a:p>
            <a:endParaRPr lang="es-ES" dirty="0" smtClean="0"/>
          </a:p>
          <a:p>
            <a:r>
              <a:rPr lang="es-ES" dirty="0" smtClean="0"/>
              <a:t>3. Roles Definidos: RUP define roles específicos para los miembros del equipo (como analistas, diseñadores, desarrolladores y </a:t>
            </a:r>
            <a:r>
              <a:rPr lang="es-ES" dirty="0" err="1" smtClean="0"/>
              <a:t>testers</a:t>
            </a:r>
            <a:r>
              <a:rPr lang="es-ES" dirty="0" smtClean="0"/>
              <a:t>), lo que facilita la colaboración y la responsabilidad.</a:t>
            </a:r>
          </a:p>
          <a:p>
            <a:endParaRPr lang="es-ES" dirty="0" smtClean="0"/>
          </a:p>
          <a:p>
            <a:r>
              <a:rPr lang="es-ES" dirty="0" smtClean="0"/>
              <a:t>4. Documentación Flexible: Aunque RUP promueve la documentación, permite adaptarla según las necesidades del proyecto y su tamaño.</a:t>
            </a:r>
          </a:p>
          <a:p>
            <a:endParaRPr lang="es-ES" dirty="0" smtClean="0"/>
          </a:p>
          <a:p>
            <a:r>
              <a:rPr lang="es-ES" dirty="0" smtClean="0"/>
              <a:t>5. Gestión de Riesgos: Se enfoca en identificar y gestionar riesgos desde el principio del proyecto, lo que ayuda a minimizar problemas en fases posteriores.</a:t>
            </a:r>
            <a:endParaRPr lang="en-US" dirty="0" smtClean="0"/>
          </a:p>
          <a:p>
            <a:endParaRPr lang="en-US" dirty="0" smtClean="0"/>
          </a:p>
          <a:p>
            <a:endParaRPr lang="en-US" dirty="0" smtClean="0"/>
          </a:p>
        </p:txBody>
      </p:sp>
    </p:spTree>
    <p:extLst>
      <p:ext uri="{BB962C8B-B14F-4D97-AF65-F5344CB8AC3E}">
        <p14:creationId xmlns:p14="http://schemas.microsoft.com/office/powerpoint/2010/main" val="31459005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Fases de RUP</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RUP se divide en cuatro fases principales:</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1. Inicio (</a:t>
            </a:r>
            <a:r>
              <a:rPr lang="es-ES" noProof="0" dirty="0" err="1" smtClean="0"/>
              <a:t>Inception</a:t>
            </a:r>
            <a:r>
              <a:rPr lang="es-ES" noProof="0" dirty="0" smtClean="0"/>
              <a:t>):</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   • Definición del alcance del proyecto.</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   • Identificación de los actores y los requisitos iniciales.</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   • Evaluación de la viabilidad técnica y económica.</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2. Elaboración (</a:t>
            </a:r>
            <a:r>
              <a:rPr lang="es-ES" noProof="0" dirty="0" err="1" smtClean="0"/>
              <a:t>Elaboration</a:t>
            </a:r>
            <a:r>
              <a:rPr lang="es-ES" noProof="0" dirty="0" smtClean="0"/>
              <a:t>):</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   • Refinamiento de los requisitos.</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   • Diseño de la arquitectura del sistema.</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   • Identificación y mitigación de riesgos.</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3. Construcción (</a:t>
            </a:r>
            <a:r>
              <a:rPr lang="es-ES" noProof="0" dirty="0" err="1" smtClean="0"/>
              <a:t>Construction</a:t>
            </a:r>
            <a:r>
              <a:rPr lang="es-ES" noProof="0" dirty="0" smtClean="0"/>
              <a:t>):</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   • Desarrollo del software basado en los requisitos y la arquitectura definidos.</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   • Implementación de pruebas para garantizar la calidad del producto.</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4. Transición (</a:t>
            </a:r>
            <a:r>
              <a:rPr lang="es-ES" noProof="0" dirty="0" err="1" smtClean="0"/>
              <a:t>Transition</a:t>
            </a:r>
            <a:r>
              <a:rPr lang="es-ES" noProof="0" dirty="0" smtClean="0"/>
              <a:t>):</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   • Despliegue del producto en el entorno de producción.</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   • Entrenamiento a usuarios finales y recopilación de </a:t>
            </a:r>
            <a:r>
              <a:rPr lang="es-ES" noProof="0" dirty="0" err="1" smtClean="0"/>
              <a:t>feedback</a:t>
            </a:r>
            <a:r>
              <a:rPr lang="es-ES" noProof="0" dirty="0" smtClean="0"/>
              <a:t>.</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   • Resolución de problemas post-lanzamiento.</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Aquí vemos un ejemplo como quedaría una distribución del tiempo en función de las fases . si se fijan para dos años se ha destinado solamente 1 para la implementación el resto para el análisis y documentación del proyecto . Madre </a:t>
            </a:r>
            <a:r>
              <a:rPr lang="es-ES" dirty="0" err="1" smtClean="0"/>
              <a:t>mia</a:t>
            </a:r>
            <a:r>
              <a:rPr lang="es-ES" dirty="0" smtClean="0"/>
              <a:t>!!!!</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Y entre sus desventajas </a:t>
            </a:r>
          </a:p>
          <a:p>
            <a:pPr marL="0" marR="0" indent="0" algn="l" defTabSz="914400" rtl="0" eaLnBrk="1" fontAlgn="auto" latinLnBrk="0" hangingPunct="1">
              <a:lnSpc>
                <a:spcPct val="100000"/>
              </a:lnSpc>
              <a:spcBef>
                <a:spcPts val="0"/>
              </a:spcBef>
              <a:spcAft>
                <a:spcPts val="0"/>
              </a:spcAft>
              <a:buClrTx/>
              <a:buSzTx/>
              <a:buFontTx/>
              <a:buNone/>
              <a:tabLst/>
              <a:defRPr/>
            </a:pPr>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b="1" dirty="0" smtClean="0"/>
              <a:t>1. IBM – </a:t>
            </a:r>
            <a:r>
              <a:rPr lang="es-ES" b="1" i="1" dirty="0" smtClean="0"/>
              <a:t>Modelo en cascada en proyectos de software para empresas financieras</a:t>
            </a:r>
            <a:endParaRPr lang="es-ES" b="1" dirty="0" smtClean="0"/>
          </a:p>
          <a:p>
            <a:r>
              <a:rPr lang="es-ES" dirty="0" smtClean="0"/>
              <a:t>IBM utiliza el modelo en cascada en proyectos de software dirigidos a sectores altamente regulados, como la banca y las finanzas. Estos proyectos suelen tener requisitos muy específicos y estrictos en términos de seguridad y cumplimiento normativo. En el modelo en cascada, cada fase (análisis de requisitos, diseño, desarrollo, pruebas y despliegue) debe completarse antes de iniciar la siguiente, permitiendo un control riguroso de la calidad y de los requisitos.</a:t>
            </a:r>
          </a:p>
          <a:p>
            <a:r>
              <a:rPr lang="es-ES" dirty="0" smtClean="0"/>
              <a:t>Este enfoque secuencial es ideal cuando los requisitos están bien definidos y es poco probable que cambien, como en muchos proyectos de desarrollo de software en sectores financieros donde la estabilidad y seguridad son prioritarias.</a:t>
            </a:r>
          </a:p>
          <a:p>
            <a:r>
              <a:rPr lang="es-ES" b="1" dirty="0" smtClean="0"/>
              <a:t>2. Siemens – </a:t>
            </a:r>
            <a:r>
              <a:rPr lang="es-ES" b="1" i="1" dirty="0" smtClean="0"/>
              <a:t>PRINCE2 en proyectos de software de sistemas de control industrial</a:t>
            </a:r>
            <a:endParaRPr lang="es-ES" b="1" dirty="0" smtClean="0"/>
          </a:p>
          <a:p>
            <a:r>
              <a:rPr lang="es-ES" dirty="0" smtClean="0"/>
              <a:t>Siemens, en su división de control industrial, emplea la metodología PRINCE2 para desarrollar software en sus sistemas SCADA (</a:t>
            </a:r>
            <a:r>
              <a:rPr lang="es-ES" dirty="0" err="1" smtClean="0"/>
              <a:t>Supervisory</a:t>
            </a:r>
            <a:r>
              <a:rPr lang="es-ES" dirty="0" smtClean="0"/>
              <a:t> Control and Data </a:t>
            </a:r>
            <a:r>
              <a:rPr lang="es-ES" dirty="0" err="1" smtClean="0"/>
              <a:t>Acquisition</a:t>
            </a:r>
            <a:r>
              <a:rPr lang="es-ES" dirty="0" smtClean="0"/>
              <a:t>) y DCS (</a:t>
            </a:r>
            <a:r>
              <a:rPr lang="es-ES" dirty="0" err="1" smtClean="0"/>
              <a:t>Distributed</a:t>
            </a:r>
            <a:r>
              <a:rPr lang="es-ES" dirty="0" smtClean="0"/>
              <a:t> Control </a:t>
            </a:r>
            <a:r>
              <a:rPr lang="es-ES" dirty="0" err="1" smtClean="0"/>
              <a:t>Systems</a:t>
            </a:r>
            <a:r>
              <a:rPr lang="es-ES" dirty="0" smtClean="0"/>
              <a:t>). Estos sistemas requieren una gran cantidad de planificación y documentación, ya que operan en entornos industriales críticos.</a:t>
            </a:r>
          </a:p>
          <a:p>
            <a:r>
              <a:rPr lang="es-ES" dirty="0" smtClean="0"/>
              <a:t>La metodología PRINCE2 ayuda a Siemens a gestionar estos proyectos con un enfoque en la documentación exhaustiva y el control de cada fase, desde la definición de requisitos hasta la entrega final. Además, PRINCE2 permite mantener la trazabilidad de las decisiones y el cumplimiento de los requisitos regulatorios y de seguridad.</a:t>
            </a:r>
          </a:p>
          <a:p>
            <a:r>
              <a:rPr lang="es-ES" b="1" dirty="0" smtClean="0"/>
              <a:t>3. NASA – </a:t>
            </a:r>
            <a:r>
              <a:rPr lang="es-ES" b="1" i="1" dirty="0" smtClean="0"/>
              <a:t>Modelo en cascada en software para misiones espaciales</a:t>
            </a:r>
            <a:endParaRPr lang="es-ES" b="1" dirty="0" smtClean="0"/>
          </a:p>
          <a:p>
            <a:r>
              <a:rPr lang="es-ES" dirty="0" smtClean="0"/>
              <a:t>La NASA sigue utilizando el modelo en cascada en algunos de sus proyectos de software más críticos, especialmente aquellos que están destinados a misiones espaciales y sistemas de control a bordo de vehículos. En estos proyectos, cualquier cambio en los requisitos puede tener implicaciones costosas y riesgos significativos, por lo que la metodología en cascada permite una fase de planificación y validación exhaustiva antes de pasar al desarrollo.</a:t>
            </a:r>
          </a:p>
          <a:p>
            <a:r>
              <a:rPr lang="es-ES" dirty="0" smtClean="0"/>
              <a:t>Para la NASA, esta metodología es fundamental en proyectos de software para el control de cohetes, sistemas de navegación y aplicaciones de monitoreo, donde la precisión y la seguridad son cruciales, y los requisitos son claros y estables.</a:t>
            </a:r>
          </a:p>
          <a:p>
            <a:r>
              <a:rPr lang="es-ES" b="1" dirty="0" smtClean="0"/>
              <a:t>4. General Electric (GE) – </a:t>
            </a:r>
            <a:r>
              <a:rPr lang="es-ES" b="1" i="1" dirty="0" smtClean="0"/>
              <a:t>Modelo en cascada en software para sistemas médicos</a:t>
            </a:r>
            <a:endParaRPr lang="es-ES" b="1" dirty="0" smtClean="0"/>
          </a:p>
          <a:p>
            <a:r>
              <a:rPr lang="es-ES" dirty="0" smtClean="0"/>
              <a:t>GE utiliza el modelo en cascada para el desarrollo de software para equipos médicos, como máquinas de resonancia magnética y tomografía computarizada. Dado que el software médico debe cumplir con regulaciones estrictas (como las normas de la FDA en EE.UU.), el enfoque en cascada permite una documentación detallada y control de calidad en cada etapa de desarrollo, desde la definición de requisitos hasta las pruebas finales y la implementación.</a:t>
            </a:r>
          </a:p>
          <a:p>
            <a:r>
              <a:rPr lang="es-ES" dirty="0" smtClean="0"/>
              <a:t>Esta metodología asegura que se cumplan todos los requisitos normativos y de seguridad antes de que el software se despliegue en hospitales y clínicas, evitando posibles fallas que puedan comprometer la seguridad del paciente.</a:t>
            </a:r>
          </a:p>
          <a:p>
            <a:r>
              <a:rPr lang="es-ES" b="1" dirty="0" smtClean="0"/>
              <a:t>5. </a:t>
            </a:r>
            <a:r>
              <a:rPr lang="es-ES" b="1" dirty="0" err="1" smtClean="0"/>
              <a:t>Lockheed</a:t>
            </a:r>
            <a:r>
              <a:rPr lang="es-ES" b="1" dirty="0" smtClean="0"/>
              <a:t> Martin – </a:t>
            </a:r>
            <a:r>
              <a:rPr lang="es-ES" b="1" i="1" dirty="0" smtClean="0"/>
              <a:t>Modelo en cascada en software para sistemas de defensa</a:t>
            </a:r>
            <a:endParaRPr lang="es-ES" b="1" dirty="0" smtClean="0"/>
          </a:p>
          <a:p>
            <a:r>
              <a:rPr lang="es-ES" dirty="0" err="1" smtClean="0"/>
              <a:t>Lockheed</a:t>
            </a:r>
            <a:r>
              <a:rPr lang="es-ES" dirty="0" smtClean="0"/>
              <a:t> Martin, una de las principales contratistas del Departamento de Defensa de EE.UU., usa el modelo en cascada para desarrollar software en sistemas de defensa, como misiles y aviones de combate. En estos proyectos, los requisitos son muy estrictos, y los errores pueden tener consecuencias significativas en seguridad nacional. Cada fase del ciclo de vida del software (análisis de requisitos, diseño, desarrollo, pruebas, integración y mantenimiento) se completa de manera secuencial, lo cual permite una validación y control estrictos en cada paso.</a:t>
            </a:r>
          </a:p>
          <a:p>
            <a:r>
              <a:rPr lang="es-ES" dirty="0" smtClean="0"/>
              <a:t>Al aplicar el modelo en cascada, </a:t>
            </a:r>
            <a:r>
              <a:rPr lang="es-ES" dirty="0" err="1" smtClean="0"/>
              <a:t>Lockheed</a:t>
            </a:r>
            <a:r>
              <a:rPr lang="es-ES" dirty="0" smtClean="0"/>
              <a:t> Martin puede asegurar que cada fase se valide exhaustivamente antes de avanzar, reduciendo los riesgos de fallas en aplicaciones críticas para la seguridad.</a:t>
            </a:r>
          </a:p>
          <a:p>
            <a:r>
              <a:rPr lang="es-ES" b="1" dirty="0" smtClean="0"/>
              <a:t>6. Oracle – </a:t>
            </a:r>
            <a:r>
              <a:rPr lang="es-ES" b="1" i="1" dirty="0" smtClean="0"/>
              <a:t>Modelo en cascada en el desarrollo de bases de datos empresariales</a:t>
            </a:r>
            <a:endParaRPr lang="es-ES" b="1" dirty="0" smtClean="0"/>
          </a:p>
          <a:p>
            <a:r>
              <a:rPr lang="es-ES" dirty="0" smtClean="0"/>
              <a:t>Oracle ha utilizado el modelo en cascada para el desarrollo de algunas de sus versiones principales de bases de datos empresariales. En proyectos de este tipo, donde la seguridad, integridad y estabilidad de los datos son primordiales, los requisitos deben estar bien definidos desde el inicio y cada fase debe ejecutarse con precisión. Cada versión de sus sistemas de bases de datos pasa por un proceso secuencial, desde la fase de investigación y diseño hasta el desarrollo y las pruebas exhaustivas, asegurando que el producto final cumpla con altos estándares de confiabilidad y seguridad.</a:t>
            </a:r>
          </a:p>
          <a:p>
            <a:r>
              <a:rPr lang="es-ES" dirty="0" smtClean="0"/>
              <a:t>Estos ejemplos muestran cómo algunas empresas en sectores como la defensa, la medicina y las finanzas todavía emplean metodologías tradicionales en el desarrollo de software, ya que la estabilidad, el cumplimiento regulatorio y el control de calidad son esenciales en estos entornos de alta exigencia.</a:t>
            </a:r>
          </a:p>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Las metodologías agiles surgen como una alternativa a las metodologías tradicionales , las cuales tal y como acabamos  de ver en los apartados anteriores son demasiado burocráticas y por tanto rígidas para las actuales características del mercado</a:t>
            </a:r>
          </a:p>
          <a:p>
            <a:r>
              <a:rPr lang="es-ES" noProof="0" dirty="0" smtClean="0"/>
              <a:t>Años atrás la evolución de los productos era lenta y se producía siempre en un entorno estable en el que apenas habían variaciones</a:t>
            </a:r>
          </a:p>
          <a:p>
            <a:r>
              <a:rPr lang="es-ES" noProof="0" dirty="0" smtClean="0"/>
              <a:t>Hoy en día sin embargo el entorno en el que se mueve el software es demasiado inestable y cambiante por lo que estas metodologías pesadas no se adaptan ya que hay que reducir tiempo de creación pero sin dejar de todo la calidad del software</a:t>
            </a:r>
          </a:p>
        </p:txBody>
      </p:sp>
    </p:spTree>
    <p:extLst>
      <p:ext uri="{BB962C8B-B14F-4D97-AF65-F5344CB8AC3E}">
        <p14:creationId xmlns:p14="http://schemas.microsoft.com/office/powerpoint/2010/main" val="31459005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En febrero de 2001, tras una reunión celebrada en Utah-EEUU, nace el término .ágil. aplicado al desarrollo de software. En esta reunión participan un grupo de 17 expertos de la industria del software, incluyendo algunos de los creadores o impulsores de metodologías de software. Su objetivo fue esbozar los valores y principios que deberían permitir a los equipos desarrollar software rápidamente y respondiendo a los cambios que puedan surgir a lo largo del proyecto. </a:t>
            </a:r>
          </a:p>
          <a:p>
            <a:r>
              <a:rPr lang="es-ES" dirty="0" smtClean="0"/>
              <a:t>Se pretendía ofrecer una alternativa a los procesos de desarrollo de software tradicionales, caracterizados por ser rígidos y dirigidos por la documentación que se genera en cada una de las actividades desarrolladas. </a:t>
            </a:r>
          </a:p>
          <a:p>
            <a:r>
              <a:rPr lang="es-ES" dirty="0" smtClean="0"/>
              <a:t>Tras esta reunión se creó </a:t>
            </a:r>
            <a:r>
              <a:rPr lang="es-ES" dirty="0" err="1" smtClean="0"/>
              <a:t>The</a:t>
            </a:r>
            <a:r>
              <a:rPr lang="es-ES" dirty="0" smtClean="0"/>
              <a:t> Agile Alliance3, una organización, sin ánimo de lucro, dedicada a promover los conceptos relacionados con el desarrollo ágil de software y ayudar a las organizaciones para que adopten dichos conceptos. El punto de partida es fue el Manifiesto Ágil, un documento que resume la filosofía .ágil.. En él se establecía lo siguiente: Estamos descubriendo formas mejores de desarrollar software, por medio de hacerlo y de dar ayuda a otros para que lo hagan. Un manifiesto normalmente se asocia con un movimiento político emergente: ataca a la vieja</a:t>
            </a:r>
          </a:p>
          <a:p>
            <a:r>
              <a:rPr lang="es-ES" dirty="0" smtClean="0"/>
              <a:t>guardia y sugiere un cambio revolucionario (se espera que para mejorar). En cierta forma, de</a:t>
            </a:r>
          </a:p>
          <a:p>
            <a:r>
              <a:rPr lang="es-ES" dirty="0" smtClean="0"/>
              <a:t>eso es de lo que trata el desarrollo ágil.</a:t>
            </a:r>
          </a:p>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Que significa </a:t>
            </a:r>
            <a:r>
              <a:rPr lang="es-419" b="1" dirty="0" smtClean="0"/>
              <a:t>Valorar más a los individuos y su interacción que a los procesos y las herramientas</a:t>
            </a:r>
            <a:endParaRPr lang="es-ES" dirty="0" smtClean="0"/>
          </a:p>
          <a:p>
            <a:r>
              <a:rPr lang="es-419" dirty="0" smtClean="0"/>
              <a:t>Este es posiblemente el principio más importante del manifiesto. Por supuesto que los procesos ayudan al trabajo. Son una guía de operación. Las herramientas mejoran la eficiencia, pero sin personas con conocimiento técnico y actitud adecuada, no producen resultados.</a:t>
            </a:r>
            <a:endParaRPr lang="es-ES" dirty="0" smtClean="0"/>
          </a:p>
          <a:p>
            <a:r>
              <a:rPr lang="es-419" dirty="0" smtClean="0"/>
              <a:t>Las empresas suelen predicar muy alto que sus empleados son lo más importante, pero la realidad es que en los años 90 la teoría de producción basada en procesos, la reingeniería de procesos ha dado a estos más relevancia de la que pueden tener en tareas que deben gran parte de su valor al conocimiento y al talento de las personas que las realizan.</a:t>
            </a:r>
            <a:endParaRPr lang="es-ES" dirty="0" smtClean="0"/>
          </a:p>
          <a:p>
            <a:r>
              <a:rPr lang="es-419" dirty="0" smtClean="0"/>
              <a:t>Los procesos deben ser una ayuda y un soporte para guiar el trabajo. Deben adaptarse a la organización, a los equipos y a las personas; y no al revés. La defensa a ultranza de los procesos lleva a postular que con ellos se pueden conseguir resultados extraordinarios con personas mediocres, y lo cierto es que este principio es peligroso cuando los trabajos necesitan creatividad e innovación.</a:t>
            </a:r>
            <a:endParaRPr lang="es-ES" dirty="0" smtClean="0"/>
          </a:p>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Que significa </a:t>
            </a:r>
            <a:r>
              <a:rPr lang="es-419" b="1" dirty="0" smtClean="0"/>
              <a:t>Valorar más el software que funciona que la documentación exhaustiva</a:t>
            </a:r>
            <a:endParaRPr lang="es-ES" dirty="0" smtClean="0"/>
          </a:p>
          <a:p>
            <a:r>
              <a:rPr lang="es-419" dirty="0" smtClean="0"/>
              <a:t>Poder ver anticipadamente cómo se comportan las funcionalidades esperadas sobre prototipos o sobre las partes ya elaboradas del sistema final ofrece una retroalimentación muy estimulante y enriquecedor que genera ideas imposibles de concebir en un primer momento; difícilmente se podrá conseguir un documento que contenga requisitos detallados antes de comenzar el proyecto.</a:t>
            </a:r>
            <a:endParaRPr lang="es-ES" dirty="0" smtClean="0"/>
          </a:p>
          <a:p>
            <a:r>
              <a:rPr lang="es-419" dirty="0" smtClean="0"/>
              <a:t>El manifiesto no afirma que no hagan falta. Los documentos son soporte del software, permiten la transferencia del conocimiento, registran información histórica, y en muchas cuestiones legales o normativas son obligatorios, pero se resalta que son menos importantes que los productos que funcionan. Menos trascendentales para aportar valor al producto.</a:t>
            </a:r>
            <a:endParaRPr lang="es-ES" dirty="0" smtClean="0"/>
          </a:p>
          <a:p>
            <a:r>
              <a:rPr lang="es-419" dirty="0" smtClean="0"/>
              <a:t>Los documentos no pueden sustituir, ni pueden ofrecer la riqueza y generación de valor que se logra con la comunicación directa entre las personas y a través de la interacción con los prototipos. Por eso, siempre que sea posible debe preferirse, y reducir al mínimo indispensable el uso de documentación, que genera trabajo que no aporta un valor directo al producto.</a:t>
            </a:r>
            <a:endParaRPr lang="es-ES" dirty="0" smtClean="0"/>
          </a:p>
          <a:p>
            <a:r>
              <a:rPr lang="es-419" dirty="0" smtClean="0"/>
              <a:t>Si la organización y los equipos se comunican a través de documentos, además de perder la riqueza que da la interacción con el producto, estos documentos se acaban empleando de forma defensiva como barricadas ante departamentos o personas</a:t>
            </a:r>
            <a:endParaRPr lang="es-ES" dirty="0" smtClean="0"/>
          </a:p>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Que significa </a:t>
            </a:r>
            <a:r>
              <a:rPr lang="es-419" b="1" dirty="0" smtClean="0"/>
              <a:t>Valorar más la colaboración con el cliente que la negociación contractual</a:t>
            </a:r>
            <a:endParaRPr lang="es-ES" dirty="0" smtClean="0"/>
          </a:p>
          <a:p>
            <a:r>
              <a:rPr lang="es-419" dirty="0" smtClean="0"/>
              <a:t>Las prácticas ágiles están especialmente indicadas para productos difíciles de definir con detalle en el principio, o que si se definieran así tendrían al final menos valor que si se van enriqueciendo con retro-información continua durante el desarrollo. También para los casos en los que los requisitos van a ser muy inestables por la velocidad del entorno de negocio.</a:t>
            </a:r>
            <a:endParaRPr lang="es-ES" dirty="0" smtClean="0"/>
          </a:p>
          <a:p>
            <a:r>
              <a:rPr lang="es-419" dirty="0" smtClean="0"/>
              <a:t>Para el desarrollo ágil el valor del resultado no es consecuencia de haber controlado una ejecución conforme a procesos, sino de haber sido implementado directamente sobre el producto. Un contrato no aporta valor al producto. Es una formalidad que establece líneas divisorias entre responsabilidades, que fija los referentes para posibles disputas contractuales entre cliente y proveedor.</a:t>
            </a:r>
            <a:endParaRPr lang="es-ES" dirty="0" smtClean="0"/>
          </a:p>
          <a:p>
            <a:r>
              <a:rPr lang="es-419" dirty="0" smtClean="0"/>
              <a:t>En el desarrollo ágil el cliente es un miembro más del equipo, que se integra y colabora en el grupo de trabajo. Los modelos de contrato por obra no encajan.</a:t>
            </a:r>
            <a:endParaRPr lang="es-ES" dirty="0" smtClean="0"/>
          </a:p>
          <a:p>
            <a:endParaRPr lang="es-419" altLang="es-419" dirty="0" smtClean="0"/>
          </a:p>
          <a:p>
            <a:pPr lvl="2">
              <a:buFont typeface="Wingdings" pitchFamily="2" charset="2"/>
              <a:buChar char="ü"/>
            </a:pPr>
            <a:r>
              <a:rPr lang="es-ES" sz="2800" dirty="0" smtClean="0"/>
              <a:t>Se propone que exista una interacción constante entre el cliente y el equipo de desarrollo</a:t>
            </a:r>
          </a:p>
          <a:p>
            <a:pPr lvl="2">
              <a:buFont typeface="Wingdings" pitchFamily="2" charset="2"/>
              <a:buChar char="ü"/>
            </a:pPr>
            <a:r>
              <a:rPr lang="es-ES" sz="2800" dirty="0" smtClean="0"/>
              <a:t>Esta colaboración entre ambos será la que marque la marcha del proyecto y asegure su éxito</a:t>
            </a:r>
          </a:p>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Que significa </a:t>
            </a:r>
            <a:r>
              <a:rPr lang="es-419" b="1" dirty="0" smtClean="0"/>
              <a:t>Valorar más la respuesta al cambio que el seguimiento de un plan</a:t>
            </a:r>
            <a:endParaRPr lang="es-ES" dirty="0" smtClean="0"/>
          </a:p>
          <a:p>
            <a:r>
              <a:rPr lang="es-419" dirty="0" smtClean="0"/>
              <a:t>Para un modelo de desarrollo que surge de entornos inestables, que tienen como factor inherente el cambio y la evolución rápida y continua, resulta mucho más valiosa la capacidad de respuesta que la de seguimiento y aseguramiento de planes pre-establecidos. Los principales valores de la gestión ágil son la anticipación y la adaptación; diferentes a los de la gestión de proyectos ortodoxa: planificación y control para evitar desviaciones sobre el plan</a:t>
            </a:r>
            <a:endParaRPr lang="es-ES" dirty="0" smtClean="0"/>
          </a:p>
        </p:txBody>
      </p:sp>
    </p:spTree>
    <p:extLst>
      <p:ext uri="{BB962C8B-B14F-4D97-AF65-F5344CB8AC3E}">
        <p14:creationId xmlns:p14="http://schemas.microsoft.com/office/powerpoint/2010/main" val="31459005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lvl="1">
              <a:buFont typeface="Wingdings" pitchFamily="2" charset="2"/>
              <a:buChar char="Ø"/>
            </a:pPr>
            <a:r>
              <a:rPr lang="es-ES" sz="3200" dirty="0" smtClean="0"/>
              <a:t>La prioridad es satisfacer al cliente entregándole desde temprano y con frecuencia software valioso</a:t>
            </a:r>
          </a:p>
          <a:p>
            <a:pPr lvl="1">
              <a:buFont typeface="Wingdings" pitchFamily="2" charset="2"/>
              <a:buChar char="Ø"/>
            </a:pPr>
            <a:r>
              <a:rPr lang="es-ES" sz="3200" dirty="0" smtClean="0"/>
              <a:t>Bienvenidos los cambios en los requerimientos, aún al final del desarrollo. El proceso ágil explota el cambio a favor de la ventaja competitiva del usuario</a:t>
            </a:r>
          </a:p>
          <a:p>
            <a:pPr lvl="1">
              <a:buFont typeface="Wingdings" pitchFamily="2" charset="2"/>
              <a:buChar char="Ø"/>
            </a:pPr>
            <a:r>
              <a:rPr lang="es-ES" sz="3200" dirty="0" smtClean="0"/>
              <a:t>Entregar software operando frecuentemente, entre un par de semanas y un par de meses, con preferencia por el plazo más corto</a:t>
            </a:r>
          </a:p>
          <a:p>
            <a:pPr lvl="1">
              <a:buFont typeface="Wingdings" pitchFamily="2" charset="2"/>
              <a:buChar char="Ø"/>
            </a:pPr>
            <a:r>
              <a:rPr lang="es-ES" sz="3200" dirty="0" smtClean="0"/>
              <a:t>Clientes involucrados :Las personas del negocio y los desarrolladores deben trabajar juntos diariamente, a lo largo de todo el Proyecto ()</a:t>
            </a:r>
          </a:p>
          <a:p>
            <a:pPr lvl="1">
              <a:buFont typeface="Wingdings" pitchFamily="2" charset="2"/>
              <a:buChar char="Ø"/>
            </a:pPr>
            <a:r>
              <a:rPr lang="es-ES" sz="3200" dirty="0" smtClean="0"/>
              <a:t> Gente comprometida Construir proyectos basado en individuos motivados. Darles el ambiente y el apoyo, y creer que van a hacer el trabajo ()</a:t>
            </a:r>
          </a:p>
          <a:p>
            <a:pPr lvl="1">
              <a:buFont typeface="Wingdings" pitchFamily="2" charset="2"/>
              <a:buChar char="Ø"/>
            </a:pPr>
            <a:r>
              <a:rPr lang="es-ES" sz="3200" dirty="0" smtClean="0"/>
              <a:t>Los documentos son el soporte de las conversaciones, no su reemplazo El método más eficiente y efectivo de intercambiar información a y entre el grupo es por conversaciones cara a cara ()</a:t>
            </a:r>
          </a:p>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lvl="1">
              <a:buFont typeface="Wingdings" pitchFamily="2" charset="2"/>
              <a:buChar char="Ø"/>
            </a:pPr>
            <a:r>
              <a:rPr lang="es-ES" sz="3200" dirty="0" smtClean="0"/>
              <a:t>El software operando es la principal medida del progreso</a:t>
            </a:r>
          </a:p>
          <a:p>
            <a:pPr lvl="1">
              <a:buFont typeface="Wingdings" pitchFamily="2" charset="2"/>
              <a:buChar char="Ø"/>
            </a:pPr>
            <a:r>
              <a:rPr lang="es-ES" sz="3200" dirty="0" smtClean="0"/>
              <a:t>Los procesos ágiles promueven desarrollo sostenido. Los promotores, usuarios y desarrolladores, deben poder mantener un ritmo constante mientras sea necesario</a:t>
            </a:r>
          </a:p>
          <a:p>
            <a:pPr lvl="1">
              <a:buFont typeface="Wingdings" pitchFamily="2" charset="2"/>
              <a:buChar char="Ø"/>
            </a:pPr>
            <a:r>
              <a:rPr lang="es-ES" sz="3200" dirty="0" smtClean="0"/>
              <a:t>La atención continua a la excelencia técnica y buen diseño aumenta la agilidad</a:t>
            </a:r>
          </a:p>
          <a:p>
            <a:pPr lvl="1">
              <a:buFont typeface="Wingdings" pitchFamily="2" charset="2"/>
              <a:buChar char="Ø"/>
            </a:pPr>
            <a:r>
              <a:rPr lang="es-ES" sz="3200" dirty="0" smtClean="0"/>
              <a:t>Es esencial la simplicidad: el arte de maximizar la cantidad de trabajo que NO se debe hacer. (Es un reto bien complejo. Va en contra de la forma de pensar del técnico que le encantan las “Golosinas tecnológicas” [YAGNI DRY KISS])</a:t>
            </a:r>
          </a:p>
          <a:p>
            <a:pPr lvl="1">
              <a:buFont typeface="Wingdings" pitchFamily="2" charset="2"/>
              <a:buChar char="Ø"/>
            </a:pPr>
            <a:r>
              <a:rPr lang="es-ES" sz="3200" dirty="0" smtClean="0"/>
              <a:t>Las mejores arquitecturas, requerimientos y diseños surgen de grupos auto organizados (Exige del líder el coraje de creer más en su gente que en su capacidad personal para controlar y dirigir)</a:t>
            </a:r>
          </a:p>
          <a:p>
            <a:pPr marL="457200" marR="0" lvl="1" indent="0" algn="l" defTabSz="914400" rtl="0" eaLnBrk="1" fontAlgn="auto" latinLnBrk="0" hangingPunct="1">
              <a:lnSpc>
                <a:spcPct val="100000"/>
              </a:lnSpc>
              <a:spcBef>
                <a:spcPts val="0"/>
              </a:spcBef>
              <a:spcAft>
                <a:spcPts val="0"/>
              </a:spcAft>
              <a:buClrTx/>
              <a:buSzTx/>
              <a:buFont typeface="Wingdings" pitchFamily="2" charset="2"/>
              <a:buChar char="Ø"/>
              <a:tabLst/>
              <a:defRPr/>
            </a:pPr>
            <a:r>
              <a:rPr lang="es-ES" sz="3200" dirty="0" smtClean="0"/>
              <a:t>A intervalos regulares, el equipo reflexiona sobre cómo se es más efectivo, entonces ajusta y sintoniza su comportamiento (Es un reto interesante, porque exige del líder entregar parte de su “poder” a favor del grupo)</a:t>
            </a:r>
          </a:p>
          <a:p>
            <a:pPr lvl="1">
              <a:buFont typeface="Wingdings" pitchFamily="2" charset="2"/>
              <a:buChar char="Ø"/>
            </a:pPr>
            <a:endParaRPr lang="es-ES" sz="3200" dirty="0" smtClean="0"/>
          </a:p>
          <a:p>
            <a:pPr lvl="1">
              <a:buFont typeface="Wingdings" pitchFamily="2" charset="2"/>
              <a:buChar char="Ø"/>
            </a:pPr>
            <a:endParaRPr lang="es-ES" sz="3200" dirty="0" smtClean="0"/>
          </a:p>
          <a:p>
            <a:pPr lvl="1">
              <a:buFont typeface="Wingdings" pitchFamily="2" charset="2"/>
              <a:buChar char="Ø"/>
            </a:pPr>
            <a:endParaRPr lang="es-ES" sz="3200" dirty="0" smtClean="0"/>
          </a:p>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Iterativo</a:t>
            </a:r>
          </a:p>
          <a:p>
            <a:r>
              <a:rPr lang="es-ES" noProof="0" dirty="0" smtClean="0"/>
              <a:t>	</a:t>
            </a:r>
          </a:p>
          <a:p>
            <a:r>
              <a:rPr lang="es-ES" noProof="0" dirty="0" smtClean="0"/>
              <a:t>El proyecto se desarrolla a </a:t>
            </a:r>
            <a:r>
              <a:rPr lang="es-ES" noProof="0" dirty="0" err="1" smtClean="0"/>
              <a:t>traves</a:t>
            </a:r>
            <a:r>
              <a:rPr lang="es-ES" noProof="0" dirty="0" smtClean="0"/>
              <a:t> de varias iteraciones, cada una vista como un mini proyecto completo, con resultados concretos y operativos.</a:t>
            </a:r>
          </a:p>
          <a:p>
            <a:r>
              <a:rPr lang="es-ES" b="1" dirty="0" smtClean="0"/>
              <a:t>Es un proceso Incremental</a:t>
            </a:r>
            <a:endParaRPr lang="es-ES" dirty="0" smtClean="0"/>
          </a:p>
          <a:p>
            <a:r>
              <a:rPr lang="es-ES" dirty="0" smtClean="0"/>
              <a:t>Cada entrega es una versión reducida, pero completa del sistema, en cada iteración va creciendo la funcionalidad entregada y presuntamente la aceptación del cliente</a:t>
            </a:r>
          </a:p>
          <a:p>
            <a:r>
              <a:rPr lang="es-ES" b="1" dirty="0" smtClean="0"/>
              <a:t>Es un proceso Auto organizado</a:t>
            </a:r>
            <a:endParaRPr lang="es-ES" dirty="0" smtClean="0"/>
          </a:p>
          <a:p>
            <a:r>
              <a:rPr lang="es-ES" dirty="0" smtClean="0"/>
              <a:t>El equipo tiene la autonomía para organizarse de forma tal que pueda desarrollar en la mejor forma sus resultados (o al menos que </a:t>
            </a:r>
            <a:r>
              <a:rPr lang="es-419" dirty="0" smtClean="0"/>
              <a:t>así</a:t>
            </a:r>
            <a:r>
              <a:rPr lang="es-ES" dirty="0" smtClean="0"/>
              <a:t> lo crea)</a:t>
            </a:r>
          </a:p>
          <a:p>
            <a:r>
              <a:rPr lang="es-ES" b="1" dirty="0" smtClean="0"/>
              <a:t>Es un proceso Emergente</a:t>
            </a:r>
            <a:endParaRPr lang="es-ES" dirty="0" smtClean="0"/>
          </a:p>
          <a:p>
            <a:r>
              <a:rPr lang="es-ES" dirty="0" smtClean="0"/>
              <a:t>	Se permite y espera que los requerimientos y las tecnologías a utilizar emerjan durante el desarrollo, no se fijan “a-priori”</a:t>
            </a:r>
          </a:p>
          <a:p>
            <a:endParaRPr lang="es-ES" dirty="0" smtClean="0"/>
          </a:p>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419" dirty="0" smtClean="0"/>
              <a:t>Son las metodologías ágiles la mejor opción?</a:t>
            </a:r>
            <a:endParaRPr lang="es-ES" dirty="0" smtClean="0"/>
          </a:p>
          <a:p>
            <a:r>
              <a:rPr lang="es-ES" dirty="0" smtClean="0"/>
              <a:t> La respuesta  a esta pregunta está condicionada por muchos factores entre ellos características  del problema, tamaño , equipo de desarrollo, cliente.  Es por ello que no se pueden ver las metodologías como recetas estáticas a aplicar en todo momento. </a:t>
            </a:r>
          </a:p>
        </p:txBody>
      </p:sp>
    </p:spTree>
    <p:extLst>
      <p:ext uri="{BB962C8B-B14F-4D97-AF65-F5344CB8AC3E}">
        <p14:creationId xmlns:p14="http://schemas.microsoft.com/office/powerpoint/2010/main" val="31459005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err="1" smtClean="0"/>
              <a:t>Scrum</a:t>
            </a:r>
            <a:r>
              <a:rPr lang="es-ES" dirty="0" smtClean="0"/>
              <a:t> (nombre que proviene de cierta jugada que tiene lugar durante un partido de rugby) es un método de desarrollo ágil de software concebido por Jeff Sutherland y su equipo de desarrollo a principios de la década de 1990. En años recientes, </a:t>
            </a:r>
            <a:r>
              <a:rPr lang="es-ES" dirty="0" err="1" smtClean="0"/>
              <a:t>Schwaber</a:t>
            </a:r>
            <a:r>
              <a:rPr lang="es-ES" dirty="0" smtClean="0"/>
              <a:t> y </a:t>
            </a:r>
            <a:r>
              <a:rPr lang="es-ES" dirty="0" err="1" smtClean="0"/>
              <a:t>Beedle</a:t>
            </a:r>
            <a:r>
              <a:rPr lang="es-ES" dirty="0" smtClean="0"/>
              <a:t> [Sch01a] han desarrollado más los métodos </a:t>
            </a:r>
            <a:r>
              <a:rPr lang="es-ES" dirty="0" err="1" smtClean="0"/>
              <a:t>Scrum</a:t>
            </a:r>
            <a:r>
              <a:rPr lang="es-ES" dirty="0" smtClean="0"/>
              <a:t>.</a:t>
            </a:r>
          </a:p>
          <a:p>
            <a:r>
              <a:rPr lang="es-ES" dirty="0" smtClean="0"/>
              <a:t>Los principios </a:t>
            </a:r>
            <a:r>
              <a:rPr lang="es-ES" dirty="0" err="1" smtClean="0"/>
              <a:t>Scrum</a:t>
            </a:r>
            <a:r>
              <a:rPr lang="es-ES" dirty="0" smtClean="0"/>
              <a:t> son congruentes con el manifiesto ágil y se utilizan para guiar actividades de desarrollo dentro de un proceso de análisis que incorpora las siguientes actividades estructurales: requerimientos, análisis, diseño, evolución y entrega. Dentro de cada actividad estructural, las tareas del trabajo ocurren con un patrón del proceso  llamado sprint. El trabajo realizado dentro de un sprint (el número de éstos que requiere cada actividad estructural variará en función de la complejidad y tamaño del producto) se adapta al problema en cuestión y se define —y con frecuencia se modifica— en tiempo real por parte del equipo </a:t>
            </a:r>
            <a:r>
              <a:rPr lang="es-ES" dirty="0" err="1" smtClean="0"/>
              <a:t>Scrum</a:t>
            </a:r>
            <a:r>
              <a:rPr lang="es-ES" dirty="0" smtClean="0"/>
              <a:t>. </a:t>
            </a:r>
            <a:r>
              <a:rPr lang="es-ES" dirty="0" err="1" smtClean="0"/>
              <a:t>Scrum</a:t>
            </a:r>
            <a:r>
              <a:rPr lang="es-ES" dirty="0" smtClean="0"/>
              <a:t> acentúa el uso de un conjunto de patrones de proceso del software [Noy02] que han demostrado ser eficaces para proyectos con plazos de entrega muy apretados, </a:t>
            </a:r>
            <a:r>
              <a:rPr lang="es-ES" dirty="0" err="1" smtClean="0"/>
              <a:t>equerimientos</a:t>
            </a:r>
            <a:r>
              <a:rPr lang="es-ES" dirty="0" smtClean="0"/>
              <a:t> cambiantes y negocios críticos. </a:t>
            </a:r>
          </a:p>
          <a:p>
            <a:r>
              <a:rPr lang="es-ES" dirty="0" smtClean="0"/>
              <a:t>Alistar </a:t>
            </a:r>
            <a:r>
              <a:rPr lang="es-ES" dirty="0" err="1" smtClean="0"/>
              <a:t>Cockburn</a:t>
            </a:r>
            <a:r>
              <a:rPr lang="es-ES" dirty="0" smtClean="0"/>
              <a:t> [Coc05] creó la familia Cristal de métodos ágiles a fin de obtener un </a:t>
            </a:r>
            <a:r>
              <a:rPr lang="es-ES" dirty="0" err="1" smtClean="0"/>
              <a:t>enfoquede</a:t>
            </a:r>
            <a:r>
              <a:rPr lang="es-ES" dirty="0" smtClean="0"/>
              <a:t> desarrollo de software que premia la “maniobrabilidad” durante lo que </a:t>
            </a:r>
            <a:r>
              <a:rPr lang="es-ES" dirty="0" err="1" smtClean="0"/>
              <a:t>Cockburn</a:t>
            </a:r>
            <a:r>
              <a:rPr lang="es-ES" dirty="0" smtClean="0"/>
              <a:t> caracteriza como “un juego cooperativo con recursos limitados, de invención y comunicación, con el objetivo primario de entregar software útil que funcione y con la meta secundaria de plantear el siguiente juego” [Coc02].Para lograr la maniobrabilidad, </a:t>
            </a:r>
            <a:r>
              <a:rPr lang="es-ES" dirty="0" err="1" smtClean="0"/>
              <a:t>Cockburn</a:t>
            </a:r>
            <a:r>
              <a:rPr lang="es-ES" dirty="0" smtClean="0"/>
              <a:t> y </a:t>
            </a:r>
            <a:r>
              <a:rPr lang="es-ES" dirty="0" err="1" smtClean="0"/>
              <a:t>Highsmith</a:t>
            </a:r>
            <a:r>
              <a:rPr lang="es-ES" dirty="0" smtClean="0"/>
              <a:t> definieron un conjunto de metodologías, cada una con elementos fundamentales comunes a todos, y roles, patrones de proceso, producto del trabajo y prácticas que son únicas para cada uno. La familia Cristal en realidad es un conjunto de ejemplos de procesos ágiles que han demostrado ser efectivos para diferentes tipos de proyectos. El objetivo es permitir que equipos ágiles seleccionen al miembro de la familia Cristal más apropiado para su proyecto y ambiente.</a:t>
            </a:r>
          </a:p>
          <a:p>
            <a:endParaRPr lang="es-ES" dirty="0" smtClean="0"/>
          </a:p>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err="1" smtClean="0"/>
              <a:t>EXtreme</a:t>
            </a:r>
            <a:r>
              <a:rPr lang="es-ES" dirty="0" smtClean="0"/>
              <a:t> </a:t>
            </a:r>
            <a:r>
              <a:rPr lang="es-ES" dirty="0" err="1" smtClean="0"/>
              <a:t>Programming</a:t>
            </a:r>
            <a:r>
              <a:rPr lang="es-ES" dirty="0" smtClean="0"/>
              <a:t>, también llamada XP, es una metodología de programación considerada  ágil, aunque se creó en 1996, años antes de que se firmará el </a:t>
            </a:r>
            <a:r>
              <a:rPr lang="es-ES" dirty="0" err="1" smtClean="0"/>
              <a:t>Manifesto</a:t>
            </a:r>
            <a:r>
              <a:rPr lang="es-ES" dirty="0" smtClean="0"/>
              <a:t>  Ágil. La palabra </a:t>
            </a:r>
            <a:r>
              <a:rPr lang="es-ES" dirty="0" err="1" smtClean="0"/>
              <a:t>eXtreme</a:t>
            </a:r>
            <a:r>
              <a:rPr lang="es-ES" dirty="0" smtClean="0"/>
              <a:t> proviene del concepto de que si algo se considera bueno por qué no llevarlo al límite y usarlo al máximo. Si, por ejemplo, que alguien revise lo que cada miembro del equipo hace se considera una buena práctica, ¿por qué no llevarlo al extremo y hacer que esos miembros del equipo de trabajo se sienten juntos todos los días y se revisen y mejoren el código a diario?</a:t>
            </a:r>
          </a:p>
          <a:p>
            <a:r>
              <a:rPr lang="es-ES" dirty="0" smtClean="0"/>
              <a:t>XP coloca a la relación entre los miembros del equipo como eslabón principal del desarrollo del software. Los integrantes del equipo deben tener una muy buena comunicación y trabajar en un ambiente ameno para todos. El conocimiento que posean los desarrolladores es clave, por tanto, XP propicia el aprendizaje de estos. Esta metodología es adecuada para proyectos con requisitos imprecisos y en constante cambio.</a:t>
            </a:r>
          </a:p>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Principios del Lean Software </a:t>
            </a:r>
            <a:r>
              <a:rPr lang="es-ES" noProof="0" dirty="0" err="1" smtClean="0"/>
              <a:t>Development</a:t>
            </a:r>
            <a:endParaRPr lang="es-ES" noProof="0" dirty="0" smtClean="0"/>
          </a:p>
          <a:p>
            <a:endParaRPr lang="es-ES" noProof="0" dirty="0" smtClean="0"/>
          </a:p>
          <a:p>
            <a:r>
              <a:rPr lang="es-ES" noProof="0" dirty="0" smtClean="0"/>
              <a:t>1. Eliminar el Desperdicio:</a:t>
            </a:r>
          </a:p>
          <a:p>
            <a:endParaRPr lang="es-ES" noProof="0" dirty="0" smtClean="0"/>
          </a:p>
          <a:p>
            <a:r>
              <a:rPr lang="es-ES" noProof="0" dirty="0" smtClean="0"/>
              <a:t>   • Identificar y eliminar todo aquello que no aporta valor al cliente, como características innecesarias, retrasos y defectos.</a:t>
            </a:r>
          </a:p>
          <a:p>
            <a:endParaRPr lang="es-ES" noProof="0" dirty="0" smtClean="0"/>
          </a:p>
          <a:p>
            <a:r>
              <a:rPr lang="es-ES" noProof="0" dirty="0" smtClean="0"/>
              <a:t>2. Incrementar el Aprendizaje:</a:t>
            </a:r>
          </a:p>
          <a:p>
            <a:endParaRPr lang="es-ES" noProof="0" dirty="0" smtClean="0"/>
          </a:p>
          <a:p>
            <a:r>
              <a:rPr lang="es-ES" noProof="0" dirty="0" smtClean="0"/>
              <a:t>   • Fomentar un ambiente de aprendizaje continuo donde los equipos puedan experimentar y aprender de sus errores.</a:t>
            </a:r>
          </a:p>
          <a:p>
            <a:endParaRPr lang="es-ES" noProof="0" dirty="0" smtClean="0"/>
          </a:p>
          <a:p>
            <a:r>
              <a:rPr lang="es-ES" noProof="0" dirty="0" smtClean="0"/>
              <a:t>3. Decidir lo Más Tarde Posible:</a:t>
            </a:r>
          </a:p>
          <a:p>
            <a:endParaRPr lang="es-ES" noProof="0" dirty="0" smtClean="0"/>
          </a:p>
          <a:p>
            <a:r>
              <a:rPr lang="es-ES" noProof="0" dirty="0" smtClean="0"/>
              <a:t>   • Mantener la flexibilidad en las decisiones hasta que se tenga suficiente información para tomar la mejor decisión posible.</a:t>
            </a:r>
          </a:p>
          <a:p>
            <a:endParaRPr lang="es-ES" noProof="0" dirty="0" smtClean="0"/>
          </a:p>
          <a:p>
            <a:r>
              <a:rPr lang="es-ES" noProof="0" dirty="0" smtClean="0"/>
              <a:t>4. Entregar lo Más Rápido Posible:</a:t>
            </a:r>
          </a:p>
          <a:p>
            <a:endParaRPr lang="es-ES" noProof="0" dirty="0" smtClean="0"/>
          </a:p>
          <a:p>
            <a:r>
              <a:rPr lang="es-ES" noProof="0" dirty="0" smtClean="0"/>
              <a:t>   • Acelerar el ciclo de entrega para ofrecer valor al cliente rápidamente y recibir retroalimentación temprana.</a:t>
            </a:r>
          </a:p>
          <a:p>
            <a:endParaRPr lang="es-ES" noProof="0" dirty="0" smtClean="0"/>
          </a:p>
          <a:p>
            <a:r>
              <a:rPr lang="es-ES" noProof="0" dirty="0" smtClean="0"/>
              <a:t>5. Empoderar a los Equipos:</a:t>
            </a:r>
          </a:p>
          <a:p>
            <a:endParaRPr lang="es-ES" noProof="0" dirty="0" smtClean="0"/>
          </a:p>
          <a:p>
            <a:r>
              <a:rPr lang="es-ES" noProof="0" dirty="0" smtClean="0"/>
              <a:t>   • Fomentar la autonomía y la responsabilidad en los equipos de trabajo, permitiendo que tomen decisiones sobre su trabajo.</a:t>
            </a:r>
          </a:p>
          <a:p>
            <a:endParaRPr lang="es-ES" noProof="0" dirty="0" smtClean="0"/>
          </a:p>
          <a:p>
            <a:r>
              <a:rPr lang="es-ES" noProof="0" dirty="0" smtClean="0"/>
              <a:t>6. Construir Calidad desde el Principio:</a:t>
            </a:r>
          </a:p>
          <a:p>
            <a:endParaRPr lang="es-ES" noProof="0" dirty="0" smtClean="0"/>
          </a:p>
          <a:p>
            <a:r>
              <a:rPr lang="es-ES" noProof="0" dirty="0" smtClean="0"/>
              <a:t>   • Integrar la calidad en cada fase del desarrollo, evitando la acumulación de defectos.</a:t>
            </a:r>
          </a:p>
          <a:p>
            <a:endParaRPr lang="es-ES" noProof="0" dirty="0" smtClean="0"/>
          </a:p>
          <a:p>
            <a:r>
              <a:rPr lang="es-ES" noProof="0" dirty="0" smtClean="0"/>
              <a:t>7. Ver el Todo:</a:t>
            </a:r>
          </a:p>
          <a:p>
            <a:endParaRPr lang="es-ES" noProof="0" dirty="0" smtClean="0"/>
          </a:p>
          <a:p>
            <a:r>
              <a:rPr lang="es-ES" noProof="0" dirty="0" smtClean="0"/>
              <a:t>   • Adoptar una visión holística del proceso de desarrollo, asegurando que todos los elementos del proyecto estén alineados con los objetivos del negocio.</a:t>
            </a:r>
          </a:p>
          <a:p>
            <a:endParaRPr lang="es-ES" noProof="0" dirty="0" smtClean="0"/>
          </a:p>
          <a:p>
            <a:r>
              <a:rPr lang="es-ES" noProof="0" dirty="0" smtClean="0"/>
              <a:t>▎Prácticas Clave</a:t>
            </a:r>
          </a:p>
          <a:p>
            <a:endParaRPr lang="es-ES" noProof="0" dirty="0" smtClean="0"/>
          </a:p>
          <a:p>
            <a:r>
              <a:rPr lang="es-ES" noProof="0" dirty="0" smtClean="0"/>
              <a:t>• </a:t>
            </a:r>
            <a:r>
              <a:rPr lang="es-ES" noProof="0" dirty="0" err="1" smtClean="0"/>
              <a:t>Value</a:t>
            </a:r>
            <a:r>
              <a:rPr lang="es-ES" noProof="0" dirty="0" smtClean="0"/>
              <a:t> </a:t>
            </a:r>
            <a:r>
              <a:rPr lang="es-ES" noProof="0" dirty="0" err="1" smtClean="0"/>
              <a:t>Stream</a:t>
            </a:r>
            <a:r>
              <a:rPr lang="es-ES" noProof="0" dirty="0" smtClean="0"/>
              <a:t> </a:t>
            </a:r>
            <a:r>
              <a:rPr lang="es-ES" noProof="0" dirty="0" err="1" smtClean="0"/>
              <a:t>Mapping</a:t>
            </a:r>
            <a:r>
              <a:rPr lang="es-ES" noProof="0" dirty="0" smtClean="0"/>
              <a:t>: Herramienta para identificar y analizar el flujo de valor en el proceso de desarrollo, ayudando a visualizar áreas de desperdicio.</a:t>
            </a:r>
          </a:p>
          <a:p>
            <a:endParaRPr lang="es-ES" noProof="0" dirty="0" smtClean="0"/>
          </a:p>
          <a:p>
            <a:r>
              <a:rPr lang="es-ES" noProof="0" dirty="0" smtClean="0"/>
              <a:t>  </a:t>
            </a:r>
          </a:p>
          <a:p>
            <a:r>
              <a:rPr lang="es-ES" noProof="0" dirty="0" smtClean="0"/>
              <a:t>• Iteraciones Cortas: Trabajar en ciclos cortos de desarrollo para permitir entregas frecuentes y obtener retroalimentación continua.</a:t>
            </a:r>
          </a:p>
          <a:p>
            <a:endParaRPr lang="es-ES" noProof="0" dirty="0" smtClean="0"/>
          </a:p>
          <a:p>
            <a:r>
              <a:rPr lang="es-ES" noProof="0" dirty="0" smtClean="0"/>
              <a:t>• Integración Continua: Práctica de integrar y probar el código de manera frecuente para detectar problemas rápidamente.</a:t>
            </a:r>
          </a:p>
          <a:p>
            <a:endParaRPr lang="es-ES" noProof="0" dirty="0" smtClean="0"/>
          </a:p>
          <a:p>
            <a:r>
              <a:rPr lang="es-ES" noProof="0" dirty="0" smtClean="0"/>
              <a:t>• Revisiones Regulares: Realizar reuniones periódicas para evaluar el progreso y ajustar el enfoque según sea necesario.</a:t>
            </a:r>
          </a:p>
          <a:p>
            <a:endParaRPr lang="es-ES" noProof="0" dirty="0" smtClean="0"/>
          </a:p>
          <a:p>
            <a:r>
              <a:rPr lang="es-ES" noProof="0" dirty="0" smtClean="0"/>
              <a:t>▎Beneficios del Lean Software </a:t>
            </a:r>
            <a:r>
              <a:rPr lang="es-ES" noProof="0" dirty="0" err="1" smtClean="0"/>
              <a:t>Development</a:t>
            </a:r>
            <a:endParaRPr lang="es-ES" noProof="0" dirty="0" smtClean="0"/>
          </a:p>
          <a:p>
            <a:endParaRPr lang="es-ES" noProof="0" dirty="0" smtClean="0"/>
          </a:p>
          <a:p>
            <a:r>
              <a:rPr lang="es-ES" noProof="0" dirty="0" smtClean="0"/>
              <a:t>• Mejora en la Eficiencia: Al eliminar desperdicios, los equipos pueden concentrarse en actividades que realmente aportan valor.</a:t>
            </a:r>
          </a:p>
          <a:p>
            <a:endParaRPr lang="es-ES" noProof="0" dirty="0" smtClean="0"/>
          </a:p>
          <a:p>
            <a:r>
              <a:rPr lang="es-ES" noProof="0" dirty="0" smtClean="0"/>
              <a:t>  </a:t>
            </a:r>
          </a:p>
          <a:p>
            <a:r>
              <a:rPr lang="es-ES" noProof="0" dirty="0" smtClean="0"/>
              <a:t>• Mayor Flexibilidad: La metodología permite adaptarse rápidamente a cambios en los requisitos o prioridades del cliente.</a:t>
            </a:r>
          </a:p>
          <a:p>
            <a:endParaRPr lang="es-ES" noProof="0" dirty="0" smtClean="0"/>
          </a:p>
          <a:p>
            <a:r>
              <a:rPr lang="es-ES" noProof="0" dirty="0" smtClean="0"/>
              <a:t>• Aumento de la Satisfacción del Cliente: Al centrarse en entregar valor rápidamente y obtener retroalimentación continua, se mejora la satisfacción del cliente.</a:t>
            </a:r>
          </a:p>
          <a:p>
            <a:endParaRPr lang="es-ES" noProof="0" dirty="0" smtClean="0"/>
          </a:p>
          <a:p>
            <a:r>
              <a:rPr lang="es-ES" noProof="0" dirty="0" smtClean="0"/>
              <a:t>• Fomento de la Innovación: Un entorno que promueve el aprendizaje y la experimentación puede llevar a soluciones más creativas e innovadoras.</a:t>
            </a:r>
          </a:p>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Aquí tienes algunos ejemplos de empresas reales que han aplicado metodologías ágiles en el desarrollo de software:</a:t>
            </a:r>
          </a:p>
          <a:p>
            <a:endParaRPr lang="es-ES" noProof="0" dirty="0" smtClean="0"/>
          </a:p>
          <a:p>
            <a:r>
              <a:rPr lang="es-ES" noProof="0" dirty="0" smtClean="0"/>
              <a:t>▎1. </a:t>
            </a:r>
            <a:r>
              <a:rPr lang="es-ES" noProof="0" dirty="0" err="1" smtClean="0"/>
              <a:t>Spotify</a:t>
            </a:r>
            <a:endParaRPr lang="es-ES" noProof="0" dirty="0" smtClean="0"/>
          </a:p>
          <a:p>
            <a:endParaRPr lang="es-ES" noProof="0" dirty="0" smtClean="0"/>
          </a:p>
          <a:p>
            <a:r>
              <a:rPr lang="es-ES" noProof="0" dirty="0" smtClean="0"/>
              <a:t>Metodología: </a:t>
            </a:r>
            <a:r>
              <a:rPr lang="es-ES" noProof="0" dirty="0" err="1" smtClean="0"/>
              <a:t>Squad</a:t>
            </a:r>
            <a:r>
              <a:rPr lang="es-ES" noProof="0" dirty="0" smtClean="0"/>
              <a:t> Framework (basado en </a:t>
            </a:r>
            <a:r>
              <a:rPr lang="es-ES" noProof="0" dirty="0" err="1" smtClean="0"/>
              <a:t>Scrum</a:t>
            </a:r>
            <a:r>
              <a:rPr lang="es-ES" noProof="0" dirty="0" smtClean="0"/>
              <a:t>)</a:t>
            </a:r>
          </a:p>
          <a:p>
            <a:endParaRPr lang="es-ES" noProof="0" dirty="0" smtClean="0"/>
          </a:p>
          <a:p>
            <a:r>
              <a:rPr lang="es-ES" noProof="0" dirty="0" smtClean="0"/>
              <a:t>Descripción:</a:t>
            </a:r>
          </a:p>
          <a:p>
            <a:r>
              <a:rPr lang="es-ES" noProof="0" dirty="0" err="1" smtClean="0"/>
              <a:t>Spotify</a:t>
            </a:r>
            <a:r>
              <a:rPr lang="es-ES" noProof="0" dirty="0" smtClean="0"/>
              <a:t> ha adaptado </a:t>
            </a:r>
            <a:r>
              <a:rPr lang="es-ES" noProof="0" dirty="0" err="1" smtClean="0"/>
              <a:t>Scrum</a:t>
            </a:r>
            <a:r>
              <a:rPr lang="es-ES" noProof="0" dirty="0" smtClean="0"/>
              <a:t> a su cultura organizacional, creando "</a:t>
            </a:r>
            <a:r>
              <a:rPr lang="es-ES" noProof="0" dirty="0" err="1" smtClean="0"/>
              <a:t>squads</a:t>
            </a:r>
            <a:r>
              <a:rPr lang="es-ES" noProof="0" dirty="0" smtClean="0"/>
              <a:t>" que son equipos autónomos responsables de diferentes características o productos. Cada </a:t>
            </a:r>
            <a:r>
              <a:rPr lang="es-ES" noProof="0" dirty="0" err="1" smtClean="0"/>
              <a:t>squad</a:t>
            </a:r>
            <a:r>
              <a:rPr lang="es-ES" noProof="0" dirty="0" smtClean="0"/>
              <a:t> tiene su propio </a:t>
            </a:r>
            <a:r>
              <a:rPr lang="es-ES" noProof="0" dirty="0" err="1" smtClean="0"/>
              <a:t>backlog</a:t>
            </a:r>
            <a:r>
              <a:rPr lang="es-ES" noProof="0" dirty="0" smtClean="0"/>
              <a:t> y trabaja en iteraciones cortas, lo que permite una gran flexibilidad y rapidez en la entrega de nuevas funcionalidades. Además, utilizan "</a:t>
            </a:r>
            <a:r>
              <a:rPr lang="es-ES" noProof="0" dirty="0" err="1" smtClean="0"/>
              <a:t>chapters</a:t>
            </a:r>
            <a:r>
              <a:rPr lang="es-ES" noProof="0" dirty="0" smtClean="0"/>
              <a:t>" y "</a:t>
            </a:r>
            <a:r>
              <a:rPr lang="es-ES" noProof="0" dirty="0" err="1" smtClean="0"/>
              <a:t>guilds</a:t>
            </a:r>
            <a:r>
              <a:rPr lang="es-ES" noProof="0" dirty="0" smtClean="0"/>
              <a:t>" para fomentar la colaboración y el intercambio de conocimientos entre equipos.</a:t>
            </a:r>
          </a:p>
          <a:p>
            <a:endParaRPr lang="es-ES" noProof="0" dirty="0" smtClean="0"/>
          </a:p>
          <a:p>
            <a:r>
              <a:rPr lang="es-ES" noProof="0" dirty="0" smtClean="0"/>
              <a:t>▎2. ING</a:t>
            </a:r>
          </a:p>
          <a:p>
            <a:endParaRPr lang="es-ES" noProof="0" dirty="0" smtClean="0"/>
          </a:p>
          <a:p>
            <a:r>
              <a:rPr lang="es-ES" noProof="0" dirty="0" smtClean="0"/>
              <a:t>Metodología: </a:t>
            </a:r>
            <a:r>
              <a:rPr lang="es-ES" noProof="0" dirty="0" err="1" smtClean="0"/>
              <a:t>Scrum</a:t>
            </a:r>
            <a:r>
              <a:rPr lang="es-ES" noProof="0" dirty="0" smtClean="0"/>
              <a:t> y Agile </a:t>
            </a:r>
            <a:r>
              <a:rPr lang="es-ES" noProof="0" dirty="0" err="1" smtClean="0"/>
              <a:t>Scaling</a:t>
            </a:r>
            <a:endParaRPr lang="es-ES" noProof="0" dirty="0" smtClean="0"/>
          </a:p>
          <a:p>
            <a:endParaRPr lang="es-ES" noProof="0" dirty="0" smtClean="0"/>
          </a:p>
          <a:p>
            <a:r>
              <a:rPr lang="es-ES" noProof="0" dirty="0" smtClean="0"/>
              <a:t>Descripción:</a:t>
            </a:r>
          </a:p>
          <a:p>
            <a:r>
              <a:rPr lang="es-ES" noProof="0" dirty="0" smtClean="0"/>
              <a:t>ING, el banco holandés, implementó un enfoque ágil en toda la organización para mejorar la eficiencia y la innovación. Crearon equipos multidisciplinarios y adoptaron </a:t>
            </a:r>
            <a:r>
              <a:rPr lang="es-ES" noProof="0" dirty="0" err="1" smtClean="0"/>
              <a:t>Scrum</a:t>
            </a:r>
            <a:r>
              <a:rPr lang="es-ES" noProof="0" dirty="0" smtClean="0"/>
              <a:t> para el desarrollo de software. Este cambio permitió a ING aumentar la velocidad de entrega y mejorar la satisfacción del cliente al permitirles responder rápidamente a las necesidades del mercado.</a:t>
            </a:r>
          </a:p>
          <a:p>
            <a:endParaRPr lang="es-ES" noProof="0" dirty="0" smtClean="0"/>
          </a:p>
          <a:p>
            <a:r>
              <a:rPr lang="es-ES" b="1" dirty="0" smtClean="0"/>
              <a:t>3. BBVA – </a:t>
            </a:r>
            <a:r>
              <a:rPr lang="es-ES" b="1" i="1" dirty="0" smtClean="0"/>
              <a:t>Implementación de </a:t>
            </a:r>
            <a:r>
              <a:rPr lang="es-ES" b="1" i="1" dirty="0" err="1" smtClean="0"/>
              <a:t>Scrum</a:t>
            </a:r>
            <a:r>
              <a:rPr lang="es-ES" b="1" i="1" dirty="0" smtClean="0"/>
              <a:t> en desarrollo de software</a:t>
            </a:r>
            <a:endParaRPr lang="es-ES" b="1" dirty="0" smtClean="0"/>
          </a:p>
          <a:p>
            <a:r>
              <a:rPr lang="es-ES" dirty="0" smtClean="0"/>
              <a:t>BBVA ha empleado metodologías ágiles, particularmente </a:t>
            </a:r>
            <a:r>
              <a:rPr lang="es-ES" dirty="0" err="1" smtClean="0"/>
              <a:t>Scrum</a:t>
            </a:r>
            <a:r>
              <a:rPr lang="es-ES" dirty="0" smtClean="0"/>
              <a:t>, para agilizar el desarrollo de software y mejorar la experiencia del cliente. Equipos de </a:t>
            </a:r>
            <a:r>
              <a:rPr lang="es-ES" dirty="0" err="1" smtClean="0"/>
              <a:t>Scrum</a:t>
            </a:r>
            <a:r>
              <a:rPr lang="es-ES" dirty="0" smtClean="0"/>
              <a:t> pequeños y multifuncionales se encargan del desarrollo de aplicaciones móviles y plataformas bancarias digitales. Trabajan en iteraciones o “</a:t>
            </a:r>
            <a:r>
              <a:rPr lang="es-ES" dirty="0" err="1" smtClean="0"/>
              <a:t>sprints</a:t>
            </a:r>
            <a:r>
              <a:rPr lang="es-ES" dirty="0" smtClean="0"/>
              <a:t>” cortos de 2 semanas, en los cuales entregan incrementos funcionales del producto.</a:t>
            </a:r>
          </a:p>
          <a:p>
            <a:r>
              <a:rPr lang="es-ES" dirty="0" smtClean="0"/>
              <a:t>Gracias a esta implementación, BBVA ha logrado reducir significativamente el tiempo de lanzamiento de productos digitales y ha mejorado su capacidad de adaptación frente a la competencia.</a:t>
            </a:r>
          </a:p>
          <a:p>
            <a:endParaRPr lang="es-ES" noProof="0" dirty="0" smtClean="0"/>
          </a:p>
          <a:p>
            <a:r>
              <a:rPr lang="es-ES" noProof="0" dirty="0" smtClean="0"/>
              <a:t>▎▎4. Microsoft</a:t>
            </a:r>
          </a:p>
          <a:p>
            <a:endParaRPr lang="es-ES" noProof="0" dirty="0" smtClean="0"/>
          </a:p>
          <a:p>
            <a:r>
              <a:rPr lang="es-ES" noProof="0" dirty="0" smtClean="0"/>
              <a:t>Metodología: </a:t>
            </a:r>
            <a:r>
              <a:rPr lang="es-ES" noProof="0" dirty="0" err="1" smtClean="0"/>
              <a:t>Scrum</a:t>
            </a:r>
            <a:r>
              <a:rPr lang="es-ES" noProof="0" dirty="0" smtClean="0"/>
              <a:t> y </a:t>
            </a:r>
            <a:r>
              <a:rPr lang="es-ES" noProof="0" dirty="0" err="1" smtClean="0"/>
              <a:t>Kanban</a:t>
            </a:r>
            <a:endParaRPr lang="es-ES" noProof="0" dirty="0" smtClean="0"/>
          </a:p>
          <a:p>
            <a:endParaRPr lang="es-ES" noProof="0" dirty="0" smtClean="0"/>
          </a:p>
          <a:p>
            <a:r>
              <a:rPr lang="es-ES" noProof="0" dirty="0" smtClean="0"/>
              <a:t>Descripción:</a:t>
            </a:r>
          </a:p>
          <a:p>
            <a:r>
              <a:rPr lang="es-ES" noProof="0" dirty="0" smtClean="0"/>
              <a:t>Microsoft ha adoptado metodologías ágiles para varios de sus proyectos de desarrollo de software, incluyendo </a:t>
            </a:r>
            <a:r>
              <a:rPr lang="es-ES" noProof="0" dirty="0" err="1" smtClean="0"/>
              <a:t>Azure</a:t>
            </a:r>
            <a:r>
              <a:rPr lang="es-ES" noProof="0" dirty="0" smtClean="0"/>
              <a:t> </a:t>
            </a:r>
            <a:r>
              <a:rPr lang="es-ES" noProof="0" dirty="0" err="1" smtClean="0"/>
              <a:t>DevOps</a:t>
            </a:r>
            <a:r>
              <a:rPr lang="es-ES" noProof="0" dirty="0" smtClean="0"/>
              <a:t>. Utilizan </a:t>
            </a:r>
            <a:r>
              <a:rPr lang="es-ES" noProof="0" dirty="0" err="1" smtClean="0"/>
              <a:t>Scrum</a:t>
            </a:r>
            <a:r>
              <a:rPr lang="es-ES" noProof="0" dirty="0" smtClean="0"/>
              <a:t> para gestionar proyectos grandes y </a:t>
            </a:r>
            <a:r>
              <a:rPr lang="es-ES" noProof="0" dirty="0" err="1" smtClean="0"/>
              <a:t>Kanban</a:t>
            </a:r>
            <a:r>
              <a:rPr lang="es-ES" noProof="0" dirty="0" smtClean="0"/>
              <a:t> para flujos de trabajo más continuos. Esto les ha permitido mejorar la colaboración entre equipos y aumentar la eficiencia en la entrega de software.</a:t>
            </a:r>
            <a:r>
              <a:rPr lang="es-ES" dirty="0" smtClean="0"/>
              <a:t> Además, las prácticas de </a:t>
            </a:r>
            <a:r>
              <a:rPr lang="es-ES" dirty="0" err="1" smtClean="0"/>
              <a:t>DevOps</a:t>
            </a:r>
            <a:r>
              <a:rPr lang="es-ES" dirty="0" smtClean="0"/>
              <a:t> les ayudan a asegurar una integración y despliegue continuos (CI/CD), permitiendo una entrega ágil y confiable.</a:t>
            </a:r>
            <a:endParaRPr lang="es-ES" noProof="0" dirty="0" smtClean="0"/>
          </a:p>
          <a:p>
            <a:endParaRPr lang="es-ES" noProof="0" dirty="0" smtClean="0"/>
          </a:p>
          <a:p>
            <a:r>
              <a:rPr lang="es-ES" noProof="0" dirty="0" smtClean="0"/>
              <a:t>▎5. </a:t>
            </a:r>
            <a:r>
              <a:rPr lang="es-ES" noProof="0" dirty="0" err="1" smtClean="0"/>
              <a:t>Salesforce</a:t>
            </a:r>
            <a:endParaRPr lang="es-ES" noProof="0" dirty="0" smtClean="0"/>
          </a:p>
          <a:p>
            <a:endParaRPr lang="es-ES" noProof="0" dirty="0" smtClean="0"/>
          </a:p>
          <a:p>
            <a:r>
              <a:rPr lang="es-ES" noProof="0" dirty="0" smtClean="0"/>
              <a:t>Metodología: Agile </a:t>
            </a:r>
            <a:r>
              <a:rPr lang="es-ES" noProof="0" dirty="0" err="1" smtClean="0"/>
              <a:t>Development</a:t>
            </a:r>
            <a:endParaRPr lang="es-ES" noProof="0" dirty="0" smtClean="0"/>
          </a:p>
          <a:p>
            <a:endParaRPr lang="es-ES" noProof="0" dirty="0" smtClean="0"/>
          </a:p>
          <a:p>
            <a:r>
              <a:rPr lang="es-ES" noProof="0" dirty="0" smtClean="0"/>
              <a:t>Descripción:</a:t>
            </a:r>
          </a:p>
          <a:p>
            <a:r>
              <a:rPr lang="es-ES" noProof="0" dirty="0" err="1" smtClean="0"/>
              <a:t>Salesforce</a:t>
            </a:r>
            <a:r>
              <a:rPr lang="es-ES" noProof="0" dirty="0" smtClean="0"/>
              <a:t> ha implementado metodologías ágiles para su plataforma de CRM. Utilizan </a:t>
            </a:r>
            <a:r>
              <a:rPr lang="es-ES" noProof="0" dirty="0" err="1" smtClean="0"/>
              <a:t>Scrum</a:t>
            </a:r>
            <a:r>
              <a:rPr lang="es-ES" noProof="0" dirty="0" smtClean="0"/>
              <a:t> para desarrollar nuevas características y mejoras, permitiendo a los equipos trabajar en ciclos cortos y recibir retroalimentación constante de los usuarios. Esto ha contribuido a su capacidad para innovar rápidamente y adaptarse a las necesidades del cliente.</a:t>
            </a:r>
          </a:p>
          <a:p>
            <a:endParaRPr lang="es-ES" noProof="0" dirty="0" smtClean="0"/>
          </a:p>
          <a:p>
            <a:r>
              <a:rPr lang="es-ES" noProof="0" dirty="0" smtClean="0"/>
              <a:t>▎6. Adobe</a:t>
            </a:r>
          </a:p>
          <a:p>
            <a:endParaRPr lang="es-ES" noProof="0" dirty="0" smtClean="0"/>
          </a:p>
          <a:p>
            <a:r>
              <a:rPr lang="es-ES" noProof="0" dirty="0" smtClean="0"/>
              <a:t>Metodología: Agile (</a:t>
            </a:r>
            <a:r>
              <a:rPr lang="es-ES" noProof="0" dirty="0" err="1" smtClean="0"/>
              <a:t>Scrum</a:t>
            </a:r>
            <a:r>
              <a:rPr lang="es-ES" noProof="0" dirty="0" smtClean="0"/>
              <a:t> y </a:t>
            </a:r>
            <a:r>
              <a:rPr lang="es-ES" noProof="0" dirty="0" err="1" smtClean="0"/>
              <a:t>Kanban</a:t>
            </a:r>
            <a:r>
              <a:rPr lang="es-ES" noProof="0" dirty="0" smtClean="0"/>
              <a:t>)</a:t>
            </a:r>
          </a:p>
          <a:p>
            <a:endParaRPr lang="es-ES" noProof="0" dirty="0" smtClean="0"/>
          </a:p>
          <a:p>
            <a:r>
              <a:rPr lang="es-ES" noProof="0" dirty="0" smtClean="0"/>
              <a:t>Descripción:</a:t>
            </a:r>
          </a:p>
          <a:p>
            <a:r>
              <a:rPr lang="es-ES" noProof="0" dirty="0" smtClean="0"/>
              <a:t>Adobe ha transformado su proceso de desarrollo de software hacia un enfoque ágil, especialmente con la introducción de Adobe </a:t>
            </a:r>
            <a:r>
              <a:rPr lang="es-ES" noProof="0" dirty="0" err="1" smtClean="0"/>
              <a:t>Creative</a:t>
            </a:r>
            <a:r>
              <a:rPr lang="es-ES" noProof="0" dirty="0" smtClean="0"/>
              <a:t> Cloud. Usan </a:t>
            </a:r>
            <a:r>
              <a:rPr lang="es-ES" noProof="0" dirty="0" err="1" smtClean="0"/>
              <a:t>Scrum</a:t>
            </a:r>
            <a:r>
              <a:rPr lang="es-ES" noProof="0" dirty="0" smtClean="0"/>
              <a:t> para planificar </a:t>
            </a:r>
            <a:r>
              <a:rPr lang="es-ES" noProof="0" dirty="0" err="1" smtClean="0"/>
              <a:t>sprints</a:t>
            </a:r>
            <a:r>
              <a:rPr lang="es-ES" noProof="0" dirty="0" smtClean="0"/>
              <a:t> y </a:t>
            </a:r>
            <a:r>
              <a:rPr lang="es-ES" noProof="0" dirty="0" err="1" smtClean="0"/>
              <a:t>Kanban</a:t>
            </a:r>
            <a:r>
              <a:rPr lang="es-ES" noProof="0" dirty="0" smtClean="0"/>
              <a:t> para gestionar tareas diarias, lo que les permite ser más flexibles y receptivos a las necesidades del cliente.</a:t>
            </a:r>
          </a:p>
          <a:p>
            <a:endParaRPr lang="es-ES" noProof="0" dirty="0" smtClean="0"/>
          </a:p>
          <a:p>
            <a:r>
              <a:rPr lang="es-ES" noProof="0" dirty="0" smtClean="0"/>
              <a:t>▎7. </a:t>
            </a:r>
            <a:r>
              <a:rPr lang="es-ES" noProof="0" dirty="0" err="1" smtClean="0"/>
              <a:t>Netflix</a:t>
            </a:r>
            <a:endParaRPr lang="es-ES" noProof="0" dirty="0" smtClean="0"/>
          </a:p>
          <a:p>
            <a:endParaRPr lang="es-ES" noProof="0" dirty="0" smtClean="0"/>
          </a:p>
          <a:p>
            <a:r>
              <a:rPr lang="es-ES" noProof="0" dirty="0" smtClean="0"/>
              <a:t>Metodología: Agile and </a:t>
            </a:r>
            <a:r>
              <a:rPr lang="es-ES" noProof="0" dirty="0" err="1" smtClean="0"/>
              <a:t>DevOps</a:t>
            </a:r>
            <a:endParaRPr lang="es-ES" noProof="0" dirty="0" smtClean="0"/>
          </a:p>
          <a:p>
            <a:endParaRPr lang="es-ES" noProof="0" dirty="0" smtClean="0"/>
          </a:p>
          <a:p>
            <a:r>
              <a:rPr lang="es-ES" noProof="0" dirty="0" smtClean="0"/>
              <a:t>Descripción:</a:t>
            </a:r>
          </a:p>
          <a:p>
            <a:r>
              <a:rPr lang="es-ES" noProof="0" dirty="0" err="1" smtClean="0"/>
              <a:t>Netflix</a:t>
            </a:r>
            <a:r>
              <a:rPr lang="es-ES" noProof="0" dirty="0" smtClean="0"/>
              <a:t> ha adoptado un enfoque ágil combinado con prácticas de </a:t>
            </a:r>
            <a:r>
              <a:rPr lang="es-ES" noProof="0" dirty="0" err="1" smtClean="0"/>
              <a:t>DevOps</a:t>
            </a:r>
            <a:r>
              <a:rPr lang="es-ES" noProof="0" dirty="0" smtClean="0"/>
              <a:t> para su desarrollo de software. Esto les permite implementar cambios rápidamente y realizar pruebas continuas. Su cultura organizacional fomenta la autonomía y la responsabilidad, lo que resulta en un flujo constante de nuevas características y mejoras en la plataforma.</a:t>
            </a:r>
          </a:p>
          <a:p>
            <a:endParaRPr lang="es-ES" noProof="0" dirty="0" smtClean="0"/>
          </a:p>
          <a:p>
            <a:r>
              <a:rPr lang="es-ES" noProof="0" dirty="0" smtClean="0"/>
              <a:t>▎Conclusión</a:t>
            </a:r>
          </a:p>
          <a:p>
            <a:endParaRPr lang="es-ES" noProof="0" dirty="0" smtClean="0"/>
          </a:p>
          <a:p>
            <a:r>
              <a:rPr lang="es-ES" noProof="0" dirty="0" smtClean="0"/>
              <a:t>Estas empresas han demostrado que las metodologías ágiles pueden ser altamente efectivas en el desarrollo de software, permitiendo una mayor flexibilidad, colaboración y satisfacción del cliente. La clave está en adaptar los principios ágiles a las necesidades específicas de cada organización y su cultura.</a:t>
            </a:r>
          </a:p>
        </p:txBody>
      </p:sp>
    </p:spTree>
    <p:extLst>
      <p:ext uri="{BB962C8B-B14F-4D97-AF65-F5344CB8AC3E}">
        <p14:creationId xmlns:p14="http://schemas.microsoft.com/office/powerpoint/2010/main" val="31459005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Aquí podemos apreciar mediante estos </a:t>
            </a:r>
            <a:r>
              <a:rPr lang="es-ES" dirty="0" err="1" smtClean="0"/>
              <a:t>diagrams</a:t>
            </a:r>
            <a:r>
              <a:rPr lang="es-ES" dirty="0" smtClean="0"/>
              <a:t> la gran diferencia entre </a:t>
            </a:r>
            <a:r>
              <a:rPr lang="es-ES" dirty="0" err="1" smtClean="0"/>
              <a:t>metologias</a:t>
            </a:r>
            <a:r>
              <a:rPr lang="es-ES" dirty="0" smtClean="0"/>
              <a:t> pesadas y </a:t>
            </a:r>
            <a:r>
              <a:rPr lang="es-ES" dirty="0" err="1" smtClean="0"/>
              <a:t>meotodologias</a:t>
            </a:r>
            <a:r>
              <a:rPr lang="es-ES" dirty="0" smtClean="0"/>
              <a:t> agiles . Vemos como las pesadas es un proceso lineal en el tiempo donde cada fase tiene un tempo y hasta que no se termine totalmente con ella no se avanza hasta la otra . mientras que las agiles son procesos iterativos en espiral  donde todas las fases ocurren en una iteración </a:t>
            </a:r>
          </a:p>
          <a:p>
            <a:r>
              <a:rPr lang="es-ES" dirty="0" smtClean="0"/>
              <a:t>A nuestra consideración encontramos 7 ventajas de las metodologías agiles .  Estas son :</a:t>
            </a:r>
          </a:p>
          <a:p>
            <a:r>
              <a:rPr lang="en-US" dirty="0" smtClean="0"/>
              <a:t>1</a:t>
            </a:r>
            <a:r>
              <a:rPr lang="es-ES" noProof="0" dirty="0" smtClean="0"/>
              <a:t> gran capacidad de respuestas ante los cambios los cuales no se entiende como un problema sino como algo necesario para que el producto sea mejor y satisfaga al cliente. Los cambios formaran parte del proceso de desarrollo</a:t>
            </a:r>
          </a:p>
          <a:p>
            <a:r>
              <a:rPr lang="en-US" dirty="0" smtClean="0"/>
              <a:t>2 la</a:t>
            </a:r>
            <a:r>
              <a:rPr lang="es-ES" noProof="0" dirty="0" smtClean="0"/>
              <a:t>s entregas no se hacen al final sino que se hacen pequeñas entregas . Estas entregas permiten al cliente valorar el producto además de ir trabajando con algunas funcionalidades</a:t>
            </a:r>
          </a:p>
          <a:p>
            <a:r>
              <a:rPr lang="es-ES" noProof="0" dirty="0" smtClean="0"/>
              <a:t>3 los ciclos cortos de entrega ayudaran a disminuir los riesgos sobre todo al principio del proyecto</a:t>
            </a:r>
          </a:p>
          <a:p>
            <a:r>
              <a:rPr lang="es-ES" noProof="0" dirty="0" smtClean="0"/>
              <a:t>4 se trabaja en equipos entre el cliente y los desarrolladores mediante comunicación casi diaria para evitar errores y documentación innecesaria</a:t>
            </a:r>
          </a:p>
          <a:p>
            <a:r>
              <a:rPr lang="es-ES" noProof="0" dirty="0" smtClean="0"/>
              <a:t>5 eliminar el trabajo que no es necesario y que realmente no aporta un valor al negocio</a:t>
            </a:r>
          </a:p>
          <a:p>
            <a:r>
              <a:rPr lang="es-ES" noProof="0" dirty="0" smtClean="0"/>
              <a:t>6 buscar la mejor técnica y el mejor diseño para conseguir productos de calidad</a:t>
            </a:r>
          </a:p>
          <a:p>
            <a:r>
              <a:rPr lang="es-ES" noProof="0" dirty="0" smtClean="0"/>
              <a:t>7 mejorar los procesos y al equipo de desarrollo</a:t>
            </a:r>
          </a:p>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b="1" dirty="0" smtClean="0"/>
              <a:t>1. </a:t>
            </a:r>
            <a:r>
              <a:rPr lang="es-ES" b="1" dirty="0" err="1" smtClean="0"/>
              <a:t>DevOps</a:t>
            </a:r>
            <a:r>
              <a:rPr lang="es-ES" b="1" dirty="0" smtClean="0"/>
              <a:t> y </a:t>
            </a:r>
            <a:r>
              <a:rPr lang="es-ES" b="1" dirty="0" err="1" smtClean="0"/>
              <a:t>DevSecOps</a:t>
            </a:r>
            <a:r>
              <a:rPr lang="es-ES" b="1" dirty="0" smtClean="0"/>
              <a:t> – </a:t>
            </a:r>
            <a:r>
              <a:rPr lang="es-ES" b="1" i="1" dirty="0" smtClean="0"/>
              <a:t>Integración continua de desarrollo, seguridad y operaciones</a:t>
            </a:r>
            <a:endParaRPr lang="es-ES" b="1" dirty="0" smtClean="0"/>
          </a:p>
          <a:p>
            <a:r>
              <a:rPr lang="es-ES" dirty="0" err="1" smtClean="0"/>
              <a:t>DevOps</a:t>
            </a:r>
            <a:r>
              <a:rPr lang="es-ES" dirty="0" smtClean="0"/>
              <a:t> ha sido una tendencia clave que continúa ganando popularidad. Esta metodología integra desarrollo y operaciones para crear un flujo de trabajo continuo en el que el software se desarrolla, prueba, implementa y supervisa en ciclos rápidos. Esto facilita la entrega continua (CD), lo que permite a las empresas lanzar actualizaciones de forma más frecuente y confiable.</a:t>
            </a:r>
          </a:p>
          <a:p>
            <a:r>
              <a:rPr lang="es-ES" dirty="0" smtClean="0"/>
              <a:t>Recientemente, ha surgido </a:t>
            </a:r>
            <a:r>
              <a:rPr lang="es-ES" b="1" dirty="0" err="1" smtClean="0"/>
              <a:t>DevSecOps</a:t>
            </a:r>
            <a:r>
              <a:rPr lang="es-ES" dirty="0" smtClean="0"/>
              <a:t>, que incorpora la seguridad desde el inicio del proceso de desarrollo, en lugar de agregarla como una etapa final. </a:t>
            </a:r>
            <a:r>
              <a:rPr lang="es-ES" dirty="0" err="1" smtClean="0"/>
              <a:t>DevSecOps</a:t>
            </a:r>
            <a:r>
              <a:rPr lang="es-ES" dirty="0" smtClean="0"/>
              <a:t> asegura que la seguridad esté integrada en cada fase del ciclo de vida de desarrollo del software, lo cual es cada vez más importante con el aumento de las amenazas cibernéticas.</a:t>
            </a:r>
          </a:p>
          <a:p>
            <a:r>
              <a:rPr lang="es-ES" b="1" dirty="0" smtClean="0"/>
              <a:t>2. Agile Escalado – </a:t>
            </a:r>
            <a:r>
              <a:rPr lang="es-ES" b="1" i="1" dirty="0" smtClean="0"/>
              <a:t>Escalamiento de metodologías ágiles para grandes organizaciones</a:t>
            </a:r>
            <a:endParaRPr lang="es-ES" b="1" dirty="0" smtClean="0"/>
          </a:p>
          <a:p>
            <a:r>
              <a:rPr lang="es-ES" dirty="0" smtClean="0"/>
              <a:t>Muchas grandes organizaciones están buscando maneras de aplicar métodos ágiles en proyectos complejos que involucran múltiples equipos. Para esto, han surgido marcos de escalado ágil como:</a:t>
            </a:r>
          </a:p>
          <a:p>
            <a:r>
              <a:rPr lang="es-ES" b="1" dirty="0" err="1" smtClean="0"/>
              <a:t>SAFe</a:t>
            </a:r>
            <a:r>
              <a:rPr lang="es-ES" b="1" dirty="0" smtClean="0"/>
              <a:t> (</a:t>
            </a:r>
            <a:r>
              <a:rPr lang="es-ES" b="1" dirty="0" err="1" smtClean="0"/>
              <a:t>Scaled</a:t>
            </a:r>
            <a:r>
              <a:rPr lang="es-ES" b="1" dirty="0" smtClean="0"/>
              <a:t> Agile Framework)</a:t>
            </a:r>
            <a:r>
              <a:rPr lang="es-ES" dirty="0" smtClean="0"/>
              <a:t>: un marco popular que permite la alineación de equipos en objetivos estratégicos y de negocio.</a:t>
            </a:r>
          </a:p>
          <a:p>
            <a:r>
              <a:rPr lang="es-ES" b="1" dirty="0" err="1" smtClean="0"/>
              <a:t>LeSS</a:t>
            </a:r>
            <a:r>
              <a:rPr lang="es-ES" b="1" dirty="0" smtClean="0"/>
              <a:t> (</a:t>
            </a:r>
            <a:r>
              <a:rPr lang="es-ES" b="1" dirty="0" err="1" smtClean="0"/>
              <a:t>Large</a:t>
            </a:r>
            <a:r>
              <a:rPr lang="es-ES" b="1" dirty="0" smtClean="0"/>
              <a:t> </a:t>
            </a:r>
            <a:r>
              <a:rPr lang="es-ES" b="1" dirty="0" err="1" smtClean="0"/>
              <a:t>Scale</a:t>
            </a:r>
            <a:r>
              <a:rPr lang="es-ES" b="1" dirty="0" smtClean="0"/>
              <a:t> </a:t>
            </a:r>
            <a:r>
              <a:rPr lang="es-ES" b="1" dirty="0" err="1" smtClean="0"/>
              <a:t>Scrum</a:t>
            </a:r>
            <a:r>
              <a:rPr lang="es-ES" b="1" dirty="0" smtClean="0"/>
              <a:t>)</a:t>
            </a:r>
            <a:r>
              <a:rPr lang="es-ES" dirty="0" smtClean="0"/>
              <a:t>: enfocado en mantener los principios originales de </a:t>
            </a:r>
            <a:r>
              <a:rPr lang="es-ES" dirty="0" err="1" smtClean="0"/>
              <a:t>Scrum</a:t>
            </a:r>
            <a:r>
              <a:rPr lang="es-ES" dirty="0" smtClean="0"/>
              <a:t> mientras se gestiona un proyecto en múltiples equipos.</a:t>
            </a:r>
          </a:p>
          <a:p>
            <a:r>
              <a:rPr lang="es-ES" b="1" dirty="0" err="1" smtClean="0"/>
              <a:t>Spotify</a:t>
            </a:r>
            <a:r>
              <a:rPr lang="es-ES" b="1" dirty="0" smtClean="0"/>
              <a:t> </a:t>
            </a:r>
            <a:r>
              <a:rPr lang="es-ES" b="1" dirty="0" err="1" smtClean="0"/>
              <a:t>Model</a:t>
            </a:r>
            <a:r>
              <a:rPr lang="es-ES" dirty="0" smtClean="0"/>
              <a:t>: un modelo de "tribus y </a:t>
            </a:r>
            <a:r>
              <a:rPr lang="es-ES" dirty="0" err="1" smtClean="0"/>
              <a:t>squads</a:t>
            </a:r>
            <a:r>
              <a:rPr lang="es-ES" dirty="0" smtClean="0"/>
              <a:t>" que ayuda a mantener la agilidad en empresas grandes.</a:t>
            </a:r>
          </a:p>
          <a:p>
            <a:r>
              <a:rPr lang="es-ES" dirty="0" smtClean="0"/>
              <a:t>Estas metodologías permiten la coordinación entre múltiples equipos ágiles sin perder flexibilidad, algo que es crucial en empresas de gran tamaño con proyectos complejos y transversales.</a:t>
            </a:r>
          </a:p>
          <a:p>
            <a:r>
              <a:rPr lang="es-ES" b="1" dirty="0" smtClean="0"/>
              <a:t>3. </a:t>
            </a:r>
            <a:r>
              <a:rPr lang="es-ES" b="1" dirty="0" err="1" smtClean="0"/>
              <a:t>Value</a:t>
            </a:r>
            <a:r>
              <a:rPr lang="es-ES" b="1" dirty="0" smtClean="0"/>
              <a:t> </a:t>
            </a:r>
            <a:r>
              <a:rPr lang="es-ES" b="1" dirty="0" err="1" smtClean="0"/>
              <a:t>Stream</a:t>
            </a:r>
            <a:r>
              <a:rPr lang="es-ES" b="1" dirty="0" smtClean="0"/>
              <a:t> Management (VSM) – </a:t>
            </a:r>
            <a:r>
              <a:rPr lang="es-ES" b="1" i="1" dirty="0" smtClean="0"/>
              <a:t>Enfoque en la creación de valor</a:t>
            </a:r>
            <a:endParaRPr lang="es-ES" b="1" dirty="0" smtClean="0"/>
          </a:p>
          <a:p>
            <a:r>
              <a:rPr lang="es-ES" dirty="0" smtClean="0"/>
              <a:t>VSM es una tendencia emergente que busca optimizar el flujo de trabajo para maximizar el valor entregado al cliente en cada etapa del desarrollo de software. Esta metodología hace un seguimiento detallado del flujo de valor, desde el diseño hasta la implementación, para identificar y eliminar cuellos de botella y reducir desperdicios. Las herramientas de VSM ayudan a visualizar cada etapa, desde el desarrollo hasta la entrega, y a realizar mejoras continuas en la eficiencia y la calidad del producto final.</a:t>
            </a:r>
          </a:p>
          <a:p>
            <a:r>
              <a:rPr lang="es-ES" b="1" dirty="0" smtClean="0"/>
              <a:t>4. </a:t>
            </a:r>
            <a:r>
              <a:rPr lang="es-ES" b="1" dirty="0" err="1" smtClean="0"/>
              <a:t>Low-Code</a:t>
            </a:r>
            <a:r>
              <a:rPr lang="es-ES" b="1" dirty="0" smtClean="0"/>
              <a:t> y No-</a:t>
            </a:r>
            <a:r>
              <a:rPr lang="es-ES" b="1" dirty="0" err="1" smtClean="0"/>
              <a:t>Code</a:t>
            </a:r>
            <a:r>
              <a:rPr lang="es-ES" b="1" dirty="0" smtClean="0"/>
              <a:t> </a:t>
            </a:r>
            <a:r>
              <a:rPr lang="es-ES" b="1" dirty="0" err="1" smtClean="0"/>
              <a:t>Development</a:t>
            </a:r>
            <a:r>
              <a:rPr lang="es-ES" b="1" dirty="0" smtClean="0"/>
              <a:t> – </a:t>
            </a:r>
            <a:r>
              <a:rPr lang="es-ES" b="1" i="1" dirty="0" smtClean="0"/>
              <a:t>Desarrollo simplificado para aceleración de proyectos</a:t>
            </a:r>
            <a:endParaRPr lang="es-ES" b="1" dirty="0" smtClean="0"/>
          </a:p>
          <a:p>
            <a:r>
              <a:rPr lang="es-ES" dirty="0" smtClean="0"/>
              <a:t>Las plataformas </a:t>
            </a:r>
            <a:r>
              <a:rPr lang="es-ES" b="1" dirty="0" err="1" smtClean="0"/>
              <a:t>Low-Code</a:t>
            </a:r>
            <a:r>
              <a:rPr lang="es-ES" dirty="0" smtClean="0"/>
              <a:t> y </a:t>
            </a:r>
            <a:r>
              <a:rPr lang="es-ES" b="1" dirty="0" smtClean="0"/>
              <a:t>No-</a:t>
            </a:r>
            <a:r>
              <a:rPr lang="es-ES" b="1" dirty="0" err="1" smtClean="0"/>
              <a:t>Code</a:t>
            </a:r>
            <a:r>
              <a:rPr lang="es-ES" dirty="0" smtClean="0"/>
              <a:t> han ganado popularidad porque permiten a los desarrolladores (o incluso a usuarios no técnicos) crear aplicaciones rápidamente sin escribir tanto código. Estas plataformas proporcionan interfaces visuales y herramientas de arrastrar y soltar que facilitan la creación de aplicaciones funcionales sin el desarrollo tradicional.</a:t>
            </a:r>
          </a:p>
          <a:p>
            <a:r>
              <a:rPr lang="es-ES" dirty="0" smtClean="0"/>
              <a:t>Esta tendencia permite que las empresas innoven y respondan más rápido a las necesidades del mercado, aunque su uso se limita generalmente a aplicaciones con requisitos menos complejos o a la creación de prototipos rápidos.</a:t>
            </a:r>
          </a:p>
        </p:txBody>
      </p:sp>
    </p:spTree>
    <p:extLst>
      <p:ext uri="{BB962C8B-B14F-4D97-AF65-F5344CB8AC3E}">
        <p14:creationId xmlns:p14="http://schemas.microsoft.com/office/powerpoint/2010/main" val="31459005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b="1" dirty="0" smtClean="0"/>
              <a:t>5. Metodologías Híbridas (Agile-</a:t>
            </a:r>
            <a:r>
              <a:rPr lang="es-ES" b="1" dirty="0" err="1" smtClean="0"/>
              <a:t>Waterfall</a:t>
            </a:r>
            <a:r>
              <a:rPr lang="es-ES" b="1" dirty="0" smtClean="0"/>
              <a:t> o Agile-</a:t>
            </a:r>
            <a:r>
              <a:rPr lang="es-ES" b="1" dirty="0" err="1" smtClean="0"/>
              <a:t>Fall</a:t>
            </a:r>
            <a:r>
              <a:rPr lang="es-ES" b="1" dirty="0" smtClean="0"/>
              <a:t>) – </a:t>
            </a:r>
            <a:r>
              <a:rPr lang="es-ES" b="1" i="1" dirty="0" smtClean="0"/>
              <a:t>Combinación de enfoques ágiles y tradicionales</a:t>
            </a:r>
            <a:endParaRPr lang="es-ES" b="1" dirty="0" smtClean="0"/>
          </a:p>
          <a:p>
            <a:r>
              <a:rPr lang="es-ES" dirty="0" smtClean="0"/>
              <a:t>Para proyectos que requieren agilidad en ciertas áreas y un enfoque tradicional en otras, han surgido metodologías híbridas que combinan aspectos de Agile y </a:t>
            </a:r>
            <a:r>
              <a:rPr lang="es-ES" dirty="0" err="1" smtClean="0"/>
              <a:t>Waterfall</a:t>
            </a:r>
            <a:r>
              <a:rPr lang="es-ES" dirty="0" smtClean="0"/>
              <a:t>. Este enfoque permite que equipos se enfoquen en iteraciones rápidas en ciertas partes del desarrollo mientras mantienen una planificación estructurada para aspectos críticos que requieren precisión o cumplimiento de regulaciones.</a:t>
            </a:r>
          </a:p>
          <a:p>
            <a:r>
              <a:rPr lang="es-ES" dirty="0" smtClean="0"/>
              <a:t>Por ejemplo, algunos equipos pueden usar Agile para el desarrollo de nuevas funcionalidades mientras mantienen un enfoque </a:t>
            </a:r>
            <a:r>
              <a:rPr lang="es-ES" dirty="0" err="1" smtClean="0"/>
              <a:t>Waterfall</a:t>
            </a:r>
            <a:r>
              <a:rPr lang="es-ES" dirty="0" smtClean="0"/>
              <a:t> para la implementación y el control de calidad en sistemas de misión crítica.</a:t>
            </a:r>
          </a:p>
          <a:p>
            <a:r>
              <a:rPr lang="es-ES" b="1" dirty="0" smtClean="0"/>
              <a:t>6. IA en el desarrollo de software (</a:t>
            </a:r>
            <a:r>
              <a:rPr lang="es-ES" b="1" dirty="0" err="1" smtClean="0"/>
              <a:t>AIOps</a:t>
            </a:r>
            <a:r>
              <a:rPr lang="es-ES" b="1" dirty="0" smtClean="0"/>
              <a:t>) – </a:t>
            </a:r>
            <a:r>
              <a:rPr lang="es-ES" b="1" i="1" dirty="0" smtClean="0"/>
              <a:t>Automatización y optimización impulsadas por inteligencia artificial</a:t>
            </a:r>
            <a:endParaRPr lang="es-ES" b="1" dirty="0" smtClean="0"/>
          </a:p>
          <a:p>
            <a:r>
              <a:rPr lang="es-ES" dirty="0" smtClean="0"/>
              <a:t>La inteligencia artificial y el aprendizaje automático están revolucionando la metodología de desarrollo de software a través de </a:t>
            </a:r>
            <a:r>
              <a:rPr lang="es-ES" b="1" dirty="0" err="1" smtClean="0"/>
              <a:t>AIOps</a:t>
            </a:r>
            <a:r>
              <a:rPr lang="es-ES" dirty="0" smtClean="0"/>
              <a:t>, que introduce IA en operaciones y desarrollo. Herramientas de IA pueden predecir y prevenir fallos, optimizar recursos y automatizar pruebas, lo cual reduce significativamente los tiempos de desarrollo y mejora la calidad del producto.</a:t>
            </a:r>
          </a:p>
          <a:p>
            <a:r>
              <a:rPr lang="es-ES" dirty="0" smtClean="0"/>
              <a:t>Además, la IA se utiliza en asistentes de programación (como </a:t>
            </a:r>
            <a:r>
              <a:rPr lang="es-ES" dirty="0" err="1" smtClean="0"/>
              <a:t>GitHub</a:t>
            </a:r>
            <a:r>
              <a:rPr lang="es-ES" dirty="0" smtClean="0"/>
              <a:t> </a:t>
            </a:r>
            <a:r>
              <a:rPr lang="es-ES" dirty="0" err="1" smtClean="0"/>
              <a:t>Copilot</a:t>
            </a:r>
            <a:r>
              <a:rPr lang="es-ES" dirty="0" smtClean="0"/>
              <a:t>), para ayudar a los desarrolladores a escribir código de manera más eficiente. Estos sistemas aprenden de los patrones de codificación y sugieren o generan líneas de código, lo que mejora la productividad de los equipos.</a:t>
            </a:r>
          </a:p>
          <a:p>
            <a:r>
              <a:rPr lang="es-ES" b="1" dirty="0" smtClean="0"/>
              <a:t>7. </a:t>
            </a:r>
            <a:r>
              <a:rPr lang="es-ES" b="1" dirty="0" err="1" smtClean="0"/>
              <a:t>Product-Driven</a:t>
            </a:r>
            <a:r>
              <a:rPr lang="es-ES" b="1" dirty="0" smtClean="0"/>
              <a:t> </a:t>
            </a:r>
            <a:r>
              <a:rPr lang="es-ES" b="1" dirty="0" err="1" smtClean="0"/>
              <a:t>Development</a:t>
            </a:r>
            <a:r>
              <a:rPr lang="es-ES" b="1" dirty="0" smtClean="0"/>
              <a:t> (PDD) – </a:t>
            </a:r>
            <a:r>
              <a:rPr lang="es-ES" b="1" i="1" dirty="0" smtClean="0"/>
              <a:t>Desarrollo impulsado por el producto</a:t>
            </a:r>
            <a:endParaRPr lang="es-ES" b="1" dirty="0" smtClean="0"/>
          </a:p>
          <a:p>
            <a:r>
              <a:rPr lang="es-ES" dirty="0" smtClean="0"/>
              <a:t>El enfoque de </a:t>
            </a:r>
            <a:r>
              <a:rPr lang="es-ES" dirty="0" err="1" smtClean="0"/>
              <a:t>Product-Driven</a:t>
            </a:r>
            <a:r>
              <a:rPr lang="es-ES" dirty="0" smtClean="0"/>
              <a:t> </a:t>
            </a:r>
            <a:r>
              <a:rPr lang="es-ES" dirty="0" err="1" smtClean="0"/>
              <a:t>Development</a:t>
            </a:r>
            <a:r>
              <a:rPr lang="es-ES" dirty="0" smtClean="0"/>
              <a:t> enfatiza la creación de un producto que esté alineado completamente con las necesidades del cliente y el mercado. Este enfoque toma elementos de Agile y Lean, pero con un foco aún más profundo en el usuario final, al hacer que cada fase del desarrollo sea dictada por las necesidades del producto, desde la investigación de usuario hasta el diseño y la iteración.</a:t>
            </a:r>
          </a:p>
          <a:p>
            <a:r>
              <a:rPr lang="es-ES" dirty="0" smtClean="0"/>
              <a:t>En PDD, el equipo de producto trabaja en estrecha colaboración con el equipo de desarrollo para definir y ajustar constantemente las funcionalidades, en función de los datos de usuarios y </a:t>
            </a:r>
            <a:r>
              <a:rPr lang="es-ES" dirty="0" err="1" smtClean="0"/>
              <a:t>feedback</a:t>
            </a:r>
            <a:r>
              <a:rPr lang="es-ES" dirty="0" smtClean="0"/>
              <a:t> directo.</a:t>
            </a:r>
          </a:p>
          <a:p>
            <a:r>
              <a:rPr lang="es-ES" b="1" dirty="0" smtClean="0"/>
              <a:t>8. </a:t>
            </a:r>
            <a:r>
              <a:rPr lang="es-ES" b="1" dirty="0" err="1" smtClean="0"/>
              <a:t>Shift-Left</a:t>
            </a:r>
            <a:r>
              <a:rPr lang="es-ES" b="1" dirty="0" smtClean="0"/>
              <a:t> </a:t>
            </a:r>
            <a:r>
              <a:rPr lang="es-ES" b="1" dirty="0" err="1" smtClean="0"/>
              <a:t>Testing</a:t>
            </a:r>
            <a:r>
              <a:rPr lang="es-ES" b="1" dirty="0" smtClean="0"/>
              <a:t> – </a:t>
            </a:r>
            <a:r>
              <a:rPr lang="es-ES" b="1" i="1" dirty="0" smtClean="0"/>
              <a:t>Integración temprana de pruebas</a:t>
            </a:r>
            <a:endParaRPr lang="es-ES" b="1" dirty="0" smtClean="0"/>
          </a:p>
          <a:p>
            <a:r>
              <a:rPr lang="es-ES" dirty="0" err="1" smtClean="0"/>
              <a:t>Shift-Left</a:t>
            </a:r>
            <a:r>
              <a:rPr lang="es-ES" dirty="0" smtClean="0"/>
              <a:t> </a:t>
            </a:r>
            <a:r>
              <a:rPr lang="es-ES" dirty="0" err="1" smtClean="0"/>
              <a:t>Testing</a:t>
            </a:r>
            <a:r>
              <a:rPr lang="es-ES" dirty="0" smtClean="0"/>
              <a:t> es una práctica en la que las pruebas se realizan desde las primeras etapas del ciclo de desarrollo, en lugar de al final. Al "mover las pruebas a la izquierda", se detectan y corrigen errores de forma más temprana, reduciendo el costo y esfuerzo necesario para resolver problemas más adelante. Este enfoque es compatible con </a:t>
            </a:r>
            <a:r>
              <a:rPr lang="es-ES" dirty="0" err="1" smtClean="0"/>
              <a:t>DevOps</a:t>
            </a:r>
            <a:r>
              <a:rPr lang="es-ES" dirty="0" smtClean="0"/>
              <a:t> y con metodologías ágiles, y ayuda a mejorar la calidad del producto al detectar errores en las primeras etapas.</a:t>
            </a:r>
          </a:p>
          <a:p>
            <a:r>
              <a:rPr lang="es-ES" dirty="0" smtClean="0"/>
              <a:t>Estas tendencias actuales en metodologías de desarrollo de software responden a la necesidad de mayor velocidad, eficiencia, y enfoque en el valor entregado, al mismo tiempo que permiten una mejor colaboración entre equipos, mayor seguridad y adaptabilidad frente a cambios del mercado.</a:t>
            </a:r>
          </a:p>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Características de las Metodologías Híbridas</a:t>
            </a:r>
          </a:p>
          <a:p>
            <a:endParaRPr lang="es-ES" noProof="0" dirty="0" smtClean="0"/>
          </a:p>
          <a:p>
            <a:r>
              <a:rPr lang="es-ES" noProof="0" dirty="0" smtClean="0"/>
              <a:t>1. Flexibilidad:</a:t>
            </a:r>
          </a:p>
          <a:p>
            <a:endParaRPr lang="es-ES" noProof="0" dirty="0" smtClean="0"/>
          </a:p>
          <a:p>
            <a:r>
              <a:rPr lang="es-ES" noProof="0" dirty="0" smtClean="0"/>
              <a:t>   • Permiten adaptar el proceso según las características del proyecto, el equipo y las expectativas del cliente.</a:t>
            </a:r>
          </a:p>
          <a:p>
            <a:endParaRPr lang="es-ES" noProof="0" dirty="0" smtClean="0"/>
          </a:p>
          <a:p>
            <a:r>
              <a:rPr lang="es-ES" noProof="0" dirty="0" smtClean="0"/>
              <a:t>2. Combinación de Enfoques:</a:t>
            </a:r>
          </a:p>
          <a:p>
            <a:endParaRPr lang="es-ES" noProof="0" dirty="0" smtClean="0"/>
          </a:p>
          <a:p>
            <a:r>
              <a:rPr lang="es-ES" noProof="0" dirty="0" smtClean="0"/>
              <a:t>   • Integran prácticas de metodologías ágiles (como </a:t>
            </a:r>
            <a:r>
              <a:rPr lang="es-ES" noProof="0" dirty="0" err="1" smtClean="0"/>
              <a:t>Scrum</a:t>
            </a:r>
            <a:r>
              <a:rPr lang="es-ES" noProof="0" dirty="0" smtClean="0"/>
              <a:t> o </a:t>
            </a:r>
            <a:r>
              <a:rPr lang="es-ES" noProof="0" dirty="0" err="1" smtClean="0"/>
              <a:t>Kanban</a:t>
            </a:r>
            <a:r>
              <a:rPr lang="es-ES" noProof="0" dirty="0" smtClean="0"/>
              <a:t>) con enfoques tradicionales (como </a:t>
            </a:r>
            <a:r>
              <a:rPr lang="es-ES" noProof="0" dirty="0" err="1" smtClean="0"/>
              <a:t>Waterfall</a:t>
            </a:r>
            <a:r>
              <a:rPr lang="es-ES" noProof="0" dirty="0" smtClean="0"/>
              <a:t> o PRINCE2).</a:t>
            </a:r>
          </a:p>
          <a:p>
            <a:endParaRPr lang="es-ES" noProof="0" dirty="0" smtClean="0"/>
          </a:p>
          <a:p>
            <a:r>
              <a:rPr lang="es-ES" noProof="0" dirty="0" smtClean="0"/>
              <a:t>3. Enfoque en el Valor:</a:t>
            </a:r>
          </a:p>
          <a:p>
            <a:endParaRPr lang="es-ES" noProof="0" dirty="0" smtClean="0"/>
          </a:p>
          <a:p>
            <a:r>
              <a:rPr lang="es-ES" noProof="0" dirty="0" smtClean="0"/>
              <a:t>   • Buscan maximizar la entrega de valor al cliente mediante la priorización de tareas y la incorporación de retroalimentación continua.</a:t>
            </a:r>
          </a:p>
          <a:p>
            <a:endParaRPr lang="es-ES" noProof="0" dirty="0" smtClean="0"/>
          </a:p>
          <a:p>
            <a:r>
              <a:rPr lang="es-ES" noProof="0" dirty="0" smtClean="0"/>
              <a:t>4. Iteraciones y Fases:</a:t>
            </a:r>
          </a:p>
          <a:p>
            <a:endParaRPr lang="es-ES" noProof="0" dirty="0" smtClean="0"/>
          </a:p>
          <a:p>
            <a:r>
              <a:rPr lang="es-ES" noProof="0" dirty="0" smtClean="0"/>
              <a:t>   • Pueden incluir ciclos iterativos y fases secuenciales, permitiendo una planificación más detallada sin sacrificar la adaptabilidad.</a:t>
            </a:r>
          </a:p>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a:t>
            </a:r>
          </a:p>
          <a:p>
            <a:r>
              <a:rPr lang="es-ES" noProof="0" dirty="0" smtClean="0"/>
              <a:t>▎Beneficios de las Metodologías Híbridas</a:t>
            </a:r>
          </a:p>
          <a:p>
            <a:endParaRPr lang="es-ES" noProof="0" dirty="0" smtClean="0"/>
          </a:p>
          <a:p>
            <a:r>
              <a:rPr lang="es-ES" noProof="0" dirty="0" smtClean="0"/>
              <a:t>• Adaptabilidad: Permiten ajustar el enfoque según las circunstancias cambiantes del proyecto y del entorno empresarial.</a:t>
            </a:r>
          </a:p>
          <a:p>
            <a:endParaRPr lang="es-ES" noProof="0" dirty="0" smtClean="0"/>
          </a:p>
          <a:p>
            <a:r>
              <a:rPr lang="es-ES" noProof="0" dirty="0" smtClean="0"/>
              <a:t>• Mejor Gestión de Riesgos: Al combinar enfoques, se pueden mitigar riesgos mediante la planificación detallada y la flexibilidad para adaptarse a cambios.</a:t>
            </a:r>
          </a:p>
          <a:p>
            <a:endParaRPr lang="es-ES" noProof="0" dirty="0" smtClean="0"/>
          </a:p>
          <a:p>
            <a:r>
              <a:rPr lang="es-ES" noProof="0" dirty="0" smtClean="0"/>
              <a:t>• Mejora en la Colaboración: Fomentan una mayor colaboración entre los equipos al integrar diversas prácticas y perspectivas.</a:t>
            </a:r>
          </a:p>
          <a:p>
            <a:endParaRPr lang="es-ES" noProof="0" dirty="0" smtClean="0"/>
          </a:p>
          <a:p>
            <a:r>
              <a:rPr lang="es-ES" noProof="0" dirty="0" smtClean="0"/>
              <a:t>• Optimización del Proceso: Facilitan la identificación y eliminación de desperdicios, mejorando la eficiencia general del equipo.</a:t>
            </a:r>
          </a:p>
          <a:p>
            <a:endParaRPr lang="es-ES" noProof="0" dirty="0" smtClean="0"/>
          </a:p>
        </p:txBody>
      </p:sp>
    </p:spTree>
    <p:extLst>
      <p:ext uri="{BB962C8B-B14F-4D97-AF65-F5344CB8AC3E}">
        <p14:creationId xmlns:p14="http://schemas.microsoft.com/office/powerpoint/2010/main" val="314590055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▎Consideraciones al Implementar Metodologías Híbridas</a:t>
            </a:r>
          </a:p>
          <a:p>
            <a:endParaRPr lang="es-ES" noProof="0" dirty="0" smtClean="0"/>
          </a:p>
          <a:p>
            <a:r>
              <a:rPr lang="es-ES" noProof="0" dirty="0" smtClean="0"/>
              <a:t>• Cultura Organizacional: Es crucial que la cultura de la organización apoye la flexibilidad y la colaboración.</a:t>
            </a:r>
          </a:p>
          <a:p>
            <a:endParaRPr lang="es-ES" noProof="0" dirty="0" smtClean="0"/>
          </a:p>
          <a:p>
            <a:r>
              <a:rPr lang="es-ES" noProof="0" dirty="0" smtClean="0"/>
              <a:t>• Formación del Equipo: Los miembros del equipo deben estar capacitados en las metodologías que se están combinando para asegurar una integración efectiva.</a:t>
            </a:r>
          </a:p>
          <a:p>
            <a:endParaRPr lang="es-ES" noProof="0" dirty="0" smtClean="0"/>
          </a:p>
          <a:p>
            <a:r>
              <a:rPr lang="es-ES" noProof="0" dirty="0" smtClean="0"/>
              <a:t>• Claridad en los Objetivos: Es importante tener claros los objetivos del proyecto y cómo cada enfoque contribuirá a alcanzarlos.</a:t>
            </a:r>
          </a:p>
          <a:p>
            <a:endParaRPr lang="es-ES" noProof="0" dirty="0" smtClean="0"/>
          </a:p>
          <a:p>
            <a:r>
              <a:rPr lang="es-ES" noProof="0" dirty="0" smtClean="0"/>
              <a:t>▎Conclusión</a:t>
            </a:r>
          </a:p>
          <a:p>
            <a:endParaRPr lang="es-ES" noProof="0" dirty="0" smtClean="0"/>
          </a:p>
          <a:p>
            <a:r>
              <a:rPr lang="es-ES" noProof="0" dirty="0" smtClean="0"/>
              <a:t>Las metodologías híbridas ofrecen una solución versátil para equipos que enfrentan entornos complejos y cambiantes. Al combinar lo mejor de diferentes enfoques, estas metodologías pueden mejorar la eficiencia, fomentar la colaboración y aumentar la satisfacción del cliente. La clave está en encontrar el equilibrio adecuado entre estructura y flexibilidad, adaptándose a las necesidades específicas de cada proyecto.</a:t>
            </a:r>
          </a:p>
        </p:txBody>
      </p:sp>
    </p:spTree>
    <p:extLst>
      <p:ext uri="{BB962C8B-B14F-4D97-AF65-F5344CB8AC3E}">
        <p14:creationId xmlns:p14="http://schemas.microsoft.com/office/powerpoint/2010/main" val="3145900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09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871953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6141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r>
              <a:rPr lang="es-ES"/>
              <a:t>MSc. Aracelys García Armenteros</a:t>
            </a:r>
          </a:p>
        </p:txBody>
      </p:sp>
      <p:sp>
        <p:nvSpPr>
          <p:cNvPr id="6" name="Footer Placeholder 5"/>
          <p:cNvSpPr>
            <a:spLocks noGrp="1"/>
          </p:cNvSpPr>
          <p:nvPr>
            <p:ph type="ftr" sz="quarter" idx="11"/>
          </p:nvPr>
        </p:nvSpPr>
        <p:spPr/>
        <p:txBody>
          <a:bodyPr/>
          <a:lstStyle/>
          <a:p>
            <a:r>
              <a:rPr lang="es-ES"/>
              <a:t>Gestión de Proyectos. Planificación y estimación.</a:t>
            </a:r>
          </a:p>
        </p:txBody>
      </p:sp>
      <p:sp>
        <p:nvSpPr>
          <p:cNvPr id="7" name="Slide Number Placeholder 6"/>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290220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1097280" y="2582335"/>
            <a:ext cx="4937760" cy="32867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6217920" y="2582334"/>
            <a:ext cx="4937760" cy="32867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r>
              <a:rPr lang="es-ES"/>
              <a:t>MSc. Aracelys García Armenteros</a:t>
            </a:r>
          </a:p>
        </p:txBody>
      </p:sp>
      <p:sp>
        <p:nvSpPr>
          <p:cNvPr id="8" name="Footer Placeholder 7"/>
          <p:cNvSpPr>
            <a:spLocks noGrp="1"/>
          </p:cNvSpPr>
          <p:nvPr>
            <p:ph type="ftr" sz="quarter" idx="11"/>
          </p:nvPr>
        </p:nvSpPr>
        <p:spPr/>
        <p:txBody>
          <a:bodyPr/>
          <a:lstStyle/>
          <a:p>
            <a:r>
              <a:rPr lang="es-ES"/>
              <a:t>Gestión de Proyectos. Planificación y estimación.</a:t>
            </a:r>
          </a:p>
        </p:txBody>
      </p:sp>
      <p:sp>
        <p:nvSpPr>
          <p:cNvPr id="9" name="Slide Number Placeholder 8"/>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2404808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r>
              <a:rPr lang="es-ES"/>
              <a:t>MSc. Aracelys García Armenteros</a:t>
            </a:r>
          </a:p>
        </p:txBody>
      </p:sp>
      <p:sp>
        <p:nvSpPr>
          <p:cNvPr id="4" name="Footer Placeholder 3"/>
          <p:cNvSpPr>
            <a:spLocks noGrp="1"/>
          </p:cNvSpPr>
          <p:nvPr>
            <p:ph type="ftr" sz="quarter" idx="11"/>
          </p:nvPr>
        </p:nvSpPr>
        <p:spPr/>
        <p:txBody>
          <a:bodyPr/>
          <a:lstStyle/>
          <a:p>
            <a:r>
              <a:rPr lang="es-ES"/>
              <a:t>Gestión de Proyectos. Planificación y estimación.</a:t>
            </a:r>
          </a:p>
        </p:txBody>
      </p:sp>
      <p:sp>
        <p:nvSpPr>
          <p:cNvPr id="5" name="Slide Number Placeholder 4"/>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882151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s-ES"/>
              <a:t>MSc. Aracelys García Armenteros</a:t>
            </a:r>
          </a:p>
        </p:txBody>
      </p:sp>
      <p:sp>
        <p:nvSpPr>
          <p:cNvPr id="8" name="Footer Placeholder 7"/>
          <p:cNvSpPr>
            <a:spLocks noGrp="1"/>
          </p:cNvSpPr>
          <p:nvPr>
            <p:ph type="ftr" sz="quarter" idx="11"/>
          </p:nvPr>
        </p:nvSpPr>
        <p:spPr/>
        <p:txBody>
          <a:bodyPr/>
          <a:lstStyle>
            <a:lvl1pPr>
              <a:defRPr>
                <a:solidFill>
                  <a:srgbClr val="FFFFFF"/>
                </a:solidFill>
              </a:defRPr>
            </a:lvl1pPr>
          </a:lstStyle>
          <a:p>
            <a:r>
              <a:rPr lang="es-ES"/>
              <a:t>Gestión de Proyectos. Planificación y estimación.</a:t>
            </a:r>
          </a:p>
        </p:txBody>
      </p:sp>
      <p:sp>
        <p:nvSpPr>
          <p:cNvPr id="9" name="Slide Number Placeholder 8"/>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979413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s-ES"/>
              <a:t>MSc. Aracelys García Armenteros</a:t>
            </a: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s-ES"/>
              <a:t>Gestión de Proyectos. Planificación y estimación.</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C4EE0E4-9C8A-4542-A491-318C3530755B}" type="slidenum">
              <a:rPr lang="es-ES" smtClean="0"/>
              <a:t>‹Nº›</a:t>
            </a:fld>
            <a:endParaRPr lang="es-ES"/>
          </a:p>
        </p:txBody>
      </p:sp>
    </p:spTree>
    <p:extLst>
      <p:ext uri="{BB962C8B-B14F-4D97-AF65-F5344CB8AC3E}">
        <p14:creationId xmlns:p14="http://schemas.microsoft.com/office/powerpoint/2010/main" val="2346865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r>
              <a:rPr lang="es-ES"/>
              <a:t>MSc. Aracelys García Armenteros</a:t>
            </a:r>
          </a:p>
        </p:txBody>
      </p:sp>
      <p:sp>
        <p:nvSpPr>
          <p:cNvPr id="6" name="Footer Placeholder 5"/>
          <p:cNvSpPr>
            <a:spLocks noGrp="1"/>
          </p:cNvSpPr>
          <p:nvPr>
            <p:ph type="ftr" sz="quarter" idx="11"/>
          </p:nvPr>
        </p:nvSpPr>
        <p:spPr/>
        <p:txBody>
          <a:bodyPr/>
          <a:lstStyle/>
          <a:p>
            <a:r>
              <a:rPr lang="es-ES"/>
              <a:t>Gestión de Proyectos. Planificación y estimación.</a:t>
            </a:r>
          </a:p>
        </p:txBody>
      </p:sp>
      <p:sp>
        <p:nvSpPr>
          <p:cNvPr id="7" name="Slide Number Placeholder 6"/>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3765602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3737871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11365008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a:xfrm>
            <a:off x="1826685" y="252414"/>
            <a:ext cx="9749367" cy="1189037"/>
          </a:xfrm>
        </p:spPr>
        <p:txBody>
          <a:bodyPr/>
          <a:lstStyle/>
          <a:p>
            <a:r>
              <a:rPr lang="es-ES"/>
              <a:t>Haga clic para modificar el estilo de título del patrón</a:t>
            </a:r>
            <a:endParaRPr lang="en-US"/>
          </a:p>
        </p:txBody>
      </p:sp>
      <p:sp>
        <p:nvSpPr>
          <p:cNvPr id="3" name="Rectangle 7"/>
          <p:cNvSpPr>
            <a:spLocks noGrp="1" noChangeArrowheads="1"/>
          </p:cNvSpPr>
          <p:nvPr>
            <p:ph type="dt" idx="10"/>
          </p:nvPr>
        </p:nvSpPr>
        <p:spPr>
          <a:ln/>
        </p:spPr>
        <p:txBody>
          <a:bodyPr/>
          <a:lstStyle>
            <a:lvl1pPr>
              <a:defRPr/>
            </a:lvl1pPr>
          </a:lstStyle>
          <a:p>
            <a:pPr>
              <a:defRPr/>
            </a:pPr>
            <a:r>
              <a:rPr lang="es-ES"/>
              <a:t>MSc. Aracelys García Armenteros</a:t>
            </a:r>
            <a:endParaRPr lang="es-ES_tradnl"/>
          </a:p>
        </p:txBody>
      </p:sp>
      <p:sp>
        <p:nvSpPr>
          <p:cNvPr id="4" name="Rectangle 8"/>
          <p:cNvSpPr>
            <a:spLocks noGrp="1" noChangeArrowheads="1"/>
          </p:cNvSpPr>
          <p:nvPr>
            <p:ph type="ftr" idx="11"/>
          </p:nvPr>
        </p:nvSpPr>
        <p:spPr>
          <a:ln/>
        </p:spPr>
        <p:txBody>
          <a:bodyPr/>
          <a:lstStyle>
            <a:lvl1pPr>
              <a:defRPr/>
            </a:lvl1pPr>
          </a:lstStyle>
          <a:p>
            <a:pPr>
              <a:defRPr/>
            </a:pPr>
            <a:r>
              <a:rPr lang="es-ES"/>
              <a:t>Gestión de Proyectos. Planificación y estimación.</a:t>
            </a:r>
            <a:endParaRPr lang="en-US"/>
          </a:p>
        </p:txBody>
      </p:sp>
      <p:sp>
        <p:nvSpPr>
          <p:cNvPr id="5" name="Rectangle 9"/>
          <p:cNvSpPr>
            <a:spLocks noGrp="1" noChangeArrowheads="1"/>
          </p:cNvSpPr>
          <p:nvPr>
            <p:ph type="sldNum" idx="12"/>
          </p:nvPr>
        </p:nvSpPr>
        <p:spPr>
          <a:ln/>
        </p:spPr>
        <p:txBody>
          <a:bodyPr/>
          <a:lstStyle>
            <a:lvl1pPr>
              <a:defRPr/>
            </a:lvl1pPr>
          </a:lstStyle>
          <a:p>
            <a:fld id="{263DA378-A288-4DEE-B6C0-5484F297BAE2}" type="slidenum">
              <a:rPr lang="en-US"/>
              <a:pPr/>
              <a:t>‹Nº›</a:t>
            </a:fld>
            <a:endParaRPr lang="en-US"/>
          </a:p>
        </p:txBody>
      </p:sp>
    </p:spTree>
    <p:extLst>
      <p:ext uri="{BB962C8B-B14F-4D97-AF65-F5344CB8AC3E}">
        <p14:creationId xmlns:p14="http://schemas.microsoft.com/office/powerpoint/2010/main" val="1449705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s-ES"/>
              <a:t>MSc. Aracelys García Armenteros</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s-ES"/>
              <a:t>Gestión de Proyectos. Planificación y estimación.</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C4EE0E4-9C8A-4542-A491-318C3530755B}" type="slidenum">
              <a:rPr lang="es-ES" smtClean="0"/>
              <a:t>‹Nº›</a:t>
            </a:fld>
            <a:endParaRPr lang="es-E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470030"/>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Lst>
  <p:hf sldNum="0"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Grp="1" noChangeArrowheads="1"/>
          </p:cNvSpPr>
          <p:nvPr>
            <p:ph type="title"/>
          </p:nvPr>
        </p:nvSpPr>
        <p:spPr>
          <a:xfrm>
            <a:off x="1761116" y="2168338"/>
            <a:ext cx="8418342" cy="1752600"/>
          </a:xfrm>
        </p:spPr>
        <p:txBody>
          <a:bodyPr>
            <a:normAutofit fontScale="90000"/>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s-ES" dirty="0"/>
              <a:t>Metodologías en el proceso de desarrollo de software </a:t>
            </a:r>
            <a:r>
              <a:rPr lang="es-ES" dirty="0" smtClean="0"/>
              <a:t/>
            </a:r>
            <a:br>
              <a:rPr lang="es-ES" dirty="0" smtClean="0"/>
            </a:br>
            <a:endParaRPr lang="es-ES_tradnl" sz="4800" dirty="0"/>
          </a:p>
        </p:txBody>
      </p:sp>
      <p:sp>
        <p:nvSpPr>
          <p:cNvPr id="3" name="CuadroTexto 2"/>
          <p:cNvSpPr txBox="1"/>
          <p:nvPr/>
        </p:nvSpPr>
        <p:spPr>
          <a:xfrm>
            <a:off x="4604510" y="4601224"/>
            <a:ext cx="2963375" cy="461665"/>
          </a:xfrm>
          <a:prstGeom prst="rect">
            <a:avLst/>
          </a:prstGeom>
          <a:noFill/>
        </p:spPr>
        <p:txBody>
          <a:bodyPr wrap="none" rtlCol="0">
            <a:spAutoFit/>
          </a:bodyPr>
          <a:lstStyle/>
          <a:p>
            <a:pPr algn="ctr"/>
            <a:r>
              <a:rPr lang="es-ES" sz="2400" dirty="0">
                <a:latin typeface="+mj-lt"/>
              </a:rPr>
              <a:t>Ingeniería de </a:t>
            </a:r>
            <a:r>
              <a:rPr lang="es-ES" sz="2400" dirty="0" smtClean="0">
                <a:latin typeface="+mj-lt"/>
              </a:rPr>
              <a:t>Software</a:t>
            </a:r>
            <a:endParaRPr lang="es-ES" sz="2400" dirty="0">
              <a:latin typeface="+mj-lt"/>
            </a:endParaRPr>
          </a:p>
        </p:txBody>
      </p:sp>
    </p:spTree>
    <p:extLst>
      <p:ext uri="{BB962C8B-B14F-4D97-AF65-F5344CB8AC3E}">
        <p14:creationId xmlns:p14="http://schemas.microsoft.com/office/powerpoint/2010/main" val="3810362731"/>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idx="1"/>
          </p:nvPr>
        </p:nvSpPr>
        <p:spPr>
          <a:xfrm>
            <a:off x="1275229" y="2077798"/>
            <a:ext cx="9372600" cy="4421187"/>
          </a:xfrm>
        </p:spPr>
        <p:txBody>
          <a:bodyPr>
            <a:normAutofit/>
          </a:bodyPr>
          <a:lstStyle/>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800" dirty="0" smtClean="0">
                <a:cs typeface="Times New Roman" panose="02020603050405020304" pitchFamily="18" charset="0"/>
              </a:rPr>
              <a:t>Concepto de </a:t>
            </a:r>
            <a:r>
              <a:rPr lang="es-ES" sz="2800" dirty="0" smtClean="0"/>
              <a:t>Metodología </a:t>
            </a:r>
            <a:r>
              <a:rPr lang="es-ES_tradnl" sz="2800" dirty="0" smtClean="0">
                <a:cs typeface="Times New Roman" panose="02020603050405020304" pitchFamily="18" charset="0"/>
              </a:rPr>
              <a:t> .Bases </a:t>
            </a:r>
            <a:r>
              <a:rPr lang="es-ES_tradnl" sz="2800" dirty="0" smtClean="0"/>
              <a:t>prácticas. Ventajas  </a:t>
            </a:r>
            <a:r>
              <a:rPr lang="es-ES_tradnl" sz="2800" dirty="0"/>
              <a:t>del uso de las metodologías</a:t>
            </a:r>
            <a:endParaRPr lang="es-ES_tradnl" sz="2800" dirty="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800" dirty="0" smtClean="0"/>
              <a:t>Metodologías </a:t>
            </a:r>
            <a:r>
              <a:rPr lang="es-ES" sz="2800" dirty="0" smtClean="0"/>
              <a:t>Pesadas : </a:t>
            </a:r>
            <a:r>
              <a:rPr lang="es-ES" sz="2800" dirty="0" smtClean="0">
                <a:cs typeface="Times New Roman" panose="02020603050405020304" pitchFamily="18" charset="0"/>
              </a:rPr>
              <a:t>RUP, casos de estudio  </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800" dirty="0"/>
              <a:t>Metodologías </a:t>
            </a:r>
            <a:r>
              <a:rPr lang="es-MX" sz="2800" dirty="0" smtClean="0"/>
              <a:t>Ágiles:</a:t>
            </a:r>
            <a:r>
              <a:rPr lang="es-ES_tradnl" sz="2800" dirty="0" smtClean="0"/>
              <a:t> </a:t>
            </a:r>
            <a:r>
              <a:rPr lang="es-ES" sz="2800" dirty="0" smtClean="0">
                <a:cs typeface="Times New Roman" panose="02020603050405020304" pitchFamily="18" charset="0"/>
              </a:rPr>
              <a:t>Manifiesto Ágil ,Principios, Características , </a:t>
            </a:r>
            <a:r>
              <a:rPr lang="es-ES" sz="2800" dirty="0">
                <a:cs typeface="Times New Roman" panose="02020603050405020304" pitchFamily="18" charset="0"/>
              </a:rPr>
              <a:t>Representantes  , casos de estudio  </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800" dirty="0" smtClean="0"/>
              <a:t>Metodologías </a:t>
            </a:r>
            <a:r>
              <a:rPr lang="es-ES" sz="2800" dirty="0"/>
              <a:t>Pesadas </a:t>
            </a:r>
            <a:r>
              <a:rPr lang="es-ES" sz="2800" dirty="0" smtClean="0"/>
              <a:t>vs </a:t>
            </a:r>
            <a:r>
              <a:rPr lang="es-ES_tradnl" sz="2800" dirty="0"/>
              <a:t>Metodologías </a:t>
            </a:r>
            <a:r>
              <a:rPr lang="es-MX" sz="2800" dirty="0" smtClean="0"/>
              <a:t>Ágiles</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800" dirty="0" smtClean="0"/>
              <a:t>Metodologías Hibridas </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800" dirty="0" smtClean="0"/>
              <a:t>Tendencias </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smtClean="0"/>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smtClean="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smtClean="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800" dirty="0">
              <a:cs typeface="Times New Roman" panose="02020603050405020304" pitchFamily="18" charset="0"/>
            </a:endParaRPr>
          </a:p>
          <a:p>
            <a:pPr marL="552450" indent="-552450">
              <a:buNone/>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600" dirty="0">
              <a:cs typeface="Times New Roman" panose="02020603050405020304" pitchFamily="18" charset="0"/>
            </a:endParaRPr>
          </a:p>
        </p:txBody>
      </p:sp>
      <p:sp>
        <p:nvSpPr>
          <p:cNvPr id="2" name="Título 1"/>
          <p:cNvSpPr>
            <a:spLocks noGrp="1"/>
          </p:cNvSpPr>
          <p:nvPr>
            <p:ph type="title"/>
          </p:nvPr>
        </p:nvSpPr>
        <p:spPr/>
        <p:txBody>
          <a:bodyPr/>
          <a:lstStyle/>
          <a:p>
            <a:r>
              <a:rPr lang="es-ES" dirty="0"/>
              <a:t>Sumario:</a:t>
            </a:r>
          </a:p>
        </p:txBody>
      </p:sp>
      <p:sp>
        <p:nvSpPr>
          <p:cNvPr id="3" name="Marcador de pie de página 2"/>
          <p:cNvSpPr>
            <a:spLocks noGrp="1"/>
          </p:cNvSpPr>
          <p:nvPr>
            <p:ph type="ftr" sz="quarter" idx="11"/>
          </p:nvPr>
        </p:nvSpPr>
        <p:spPr/>
        <p:txBody>
          <a:bodyPr/>
          <a:lstStyle/>
          <a:p>
            <a:r>
              <a:rPr lang="es-ES" dirty="0"/>
              <a:t>Metodología</a:t>
            </a:r>
          </a:p>
        </p:txBody>
      </p:sp>
    </p:spTree>
    <p:extLst>
      <p:ext uri="{BB962C8B-B14F-4D97-AF65-F5344CB8AC3E}">
        <p14:creationId xmlns:p14="http://schemas.microsoft.com/office/powerpoint/2010/main" val="3576632108"/>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fill="hold" nodeType="afterEffect">
                                  <p:stCondLst>
                                    <p:cond delay="0"/>
                                  </p:stCondLst>
                                  <p:childTnLst>
                                    <p:set>
                                      <p:cBhvr additive="repl">
                                        <p:cTn id="6" dur="1" fill="hold">
                                          <p:stCondLst>
                                            <p:cond delay="0"/>
                                          </p:stCondLst>
                                        </p:cTn>
                                        <p:tgtEl>
                                          <p:spTgt spid="5122">
                                            <p:txEl>
                                              <p:pRg st="0" end="0"/>
                                            </p:txEl>
                                          </p:spTgt>
                                        </p:tgtEl>
                                        <p:attrNameLst>
                                          <p:attrName>style.visibility</p:attrName>
                                        </p:attrNameLst>
                                      </p:cBhvr>
                                      <p:to>
                                        <p:strVal val="visible"/>
                                      </p:to>
                                    </p:set>
                                    <p:animEffect transition="in" filter="wipe(up)">
                                      <p:cBhvr additive="repl">
                                        <p:cTn id="7" dur="500"/>
                                        <p:tgtEl>
                                          <p:spTgt spid="5122">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additive="repl">
                                        <p:cTn id="10" dur="1" fill="hold">
                                          <p:stCondLst>
                                            <p:cond delay="0"/>
                                          </p:stCondLst>
                                        </p:cTn>
                                        <p:tgtEl>
                                          <p:spTgt spid="5122">
                                            <p:txEl>
                                              <p:pRg st="1" end="1"/>
                                            </p:txEl>
                                          </p:spTgt>
                                        </p:tgtEl>
                                        <p:attrNameLst>
                                          <p:attrName>style.visibility</p:attrName>
                                        </p:attrNameLst>
                                      </p:cBhvr>
                                      <p:to>
                                        <p:strVal val="visible"/>
                                      </p:to>
                                    </p:set>
                                    <p:animEffect transition="in" filter="wipe(up)">
                                      <p:cBhvr additive="repl">
                                        <p:cTn id="11" dur="500"/>
                                        <p:tgtEl>
                                          <p:spTgt spid="5122">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additive="repl">
                                        <p:cTn id="14" dur="1" fill="hold">
                                          <p:stCondLst>
                                            <p:cond delay="0"/>
                                          </p:stCondLst>
                                        </p:cTn>
                                        <p:tgtEl>
                                          <p:spTgt spid="5122">
                                            <p:txEl>
                                              <p:pRg st="2" end="2"/>
                                            </p:txEl>
                                          </p:spTgt>
                                        </p:tgtEl>
                                        <p:attrNameLst>
                                          <p:attrName>style.visibility</p:attrName>
                                        </p:attrNameLst>
                                      </p:cBhvr>
                                      <p:to>
                                        <p:strVal val="visible"/>
                                      </p:to>
                                    </p:set>
                                    <p:animEffect transition="in" filter="wipe(up)">
                                      <p:cBhvr additive="repl">
                                        <p:cTn id="15" dur="500"/>
                                        <p:tgtEl>
                                          <p:spTgt spid="5122">
                                            <p:txEl>
                                              <p:pRg st="2" end="2"/>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additive="repl">
                                        <p:cTn id="18" dur="1" fill="hold">
                                          <p:stCondLst>
                                            <p:cond delay="0"/>
                                          </p:stCondLst>
                                        </p:cTn>
                                        <p:tgtEl>
                                          <p:spTgt spid="5122">
                                            <p:txEl>
                                              <p:pRg st="3" end="3"/>
                                            </p:txEl>
                                          </p:spTgt>
                                        </p:tgtEl>
                                        <p:attrNameLst>
                                          <p:attrName>style.visibility</p:attrName>
                                        </p:attrNameLst>
                                      </p:cBhvr>
                                      <p:to>
                                        <p:strVal val="visible"/>
                                      </p:to>
                                    </p:set>
                                    <p:animEffect transition="in" filter="wipe(up)">
                                      <p:cBhvr additive="repl">
                                        <p:cTn id="19" dur="500"/>
                                        <p:tgtEl>
                                          <p:spTgt spid="5122">
                                            <p:txEl>
                                              <p:pRg st="3" end="3"/>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additive="repl">
                                        <p:cTn id="22" dur="1" fill="hold">
                                          <p:stCondLst>
                                            <p:cond delay="0"/>
                                          </p:stCondLst>
                                        </p:cTn>
                                        <p:tgtEl>
                                          <p:spTgt spid="5122">
                                            <p:txEl>
                                              <p:pRg st="4" end="4"/>
                                            </p:txEl>
                                          </p:spTgt>
                                        </p:tgtEl>
                                        <p:attrNameLst>
                                          <p:attrName>style.visibility</p:attrName>
                                        </p:attrNameLst>
                                      </p:cBhvr>
                                      <p:to>
                                        <p:strVal val="visible"/>
                                      </p:to>
                                    </p:set>
                                    <p:animEffect transition="in" filter="wipe(up)">
                                      <p:cBhvr additive="repl">
                                        <p:cTn id="23" dur="500"/>
                                        <p:tgtEl>
                                          <p:spTgt spid="5122">
                                            <p:txEl>
                                              <p:pRg st="4" end="4"/>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additive="repl">
                                        <p:cTn id="26" dur="1" fill="hold">
                                          <p:stCondLst>
                                            <p:cond delay="0"/>
                                          </p:stCondLst>
                                        </p:cTn>
                                        <p:tgtEl>
                                          <p:spTgt spid="5122">
                                            <p:txEl>
                                              <p:pRg st="5" end="5"/>
                                            </p:txEl>
                                          </p:spTgt>
                                        </p:tgtEl>
                                        <p:attrNameLst>
                                          <p:attrName>style.visibility</p:attrName>
                                        </p:attrNameLst>
                                      </p:cBhvr>
                                      <p:to>
                                        <p:strVal val="visible"/>
                                      </p:to>
                                    </p:set>
                                    <p:animEffect transition="in" filter="wipe(up)">
                                      <p:cBhvr additive="repl">
                                        <p:cTn id="27" dur="500"/>
                                        <p:tgtEl>
                                          <p:spTgt spid="512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Recordemos que las partes de un proyecto </a:t>
            </a:r>
            <a:r>
              <a:rPr lang="en-US" dirty="0" smtClean="0"/>
              <a:t>de software son:</a:t>
            </a:r>
            <a:endParaRPr lang="es-ES" dirty="0"/>
          </a:p>
        </p:txBody>
      </p:sp>
      <p:sp>
        <p:nvSpPr>
          <p:cNvPr id="3" name="Marcador de contenido 2"/>
          <p:cNvSpPr>
            <a:spLocks noGrp="1"/>
          </p:cNvSpPr>
          <p:nvPr>
            <p:ph idx="1"/>
          </p:nvPr>
        </p:nvSpPr>
        <p:spPr>
          <a:xfrm>
            <a:off x="1097280" y="1897248"/>
            <a:ext cx="10058400" cy="4384281"/>
          </a:xfrm>
        </p:spPr>
        <p:txBody>
          <a:bodyPr>
            <a:noAutofit/>
          </a:bodyPr>
          <a:lstStyle/>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El </a:t>
            </a:r>
            <a:r>
              <a:rPr lang="es-ES" sz="3600" dirty="0"/>
              <a:t>Problema</a:t>
            </a:r>
          </a:p>
          <a:p>
            <a:pPr>
              <a:spcBef>
                <a:spcPts val="625"/>
              </a:spcBef>
              <a:buSzPct val="7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smtClean="0"/>
              <a:t>¿</a:t>
            </a:r>
            <a:r>
              <a:rPr lang="es-ES" sz="2400" dirty="0"/>
              <a:t>Quiénes tienen que ver con la solución del problema? Es decir, ¿quiénes son los participantes?</a:t>
            </a:r>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 ¿Cuáles son las incógnitas? ¿Cuáles datos, funciones y características se requieren </a:t>
            </a:r>
            <a:r>
              <a:rPr lang="es-ES" sz="2400" dirty="0" smtClean="0"/>
              <a:t>para resolver </a:t>
            </a:r>
            <a:r>
              <a:rPr lang="es-ES" sz="2400" dirty="0"/>
              <a:t>el problema en forma apropiada?</a:t>
            </a:r>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 ¿Puede fraccionarse el problema? ¿Es posible representarlo con problemas más </a:t>
            </a:r>
            <a:r>
              <a:rPr lang="es-ES" sz="2400" dirty="0" smtClean="0"/>
              <a:t>pequeños que </a:t>
            </a:r>
            <a:r>
              <a:rPr lang="es-ES" sz="2400" dirty="0"/>
              <a:t>sean más fáciles de entender?</a:t>
            </a:r>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 ¿Es posible representar gráficamente el problema? ¿Puede crearse un modelo de análisis</a:t>
            </a:r>
            <a:r>
              <a:rPr lang="es-ES" sz="2400" dirty="0" smtClean="0"/>
              <a:t>?</a:t>
            </a:r>
            <a:endParaRPr lang="es-ES" sz="2400" dirty="0"/>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spTree>
    <p:extLst>
      <p:ext uri="{BB962C8B-B14F-4D97-AF65-F5344CB8AC3E}">
        <p14:creationId xmlns:p14="http://schemas.microsoft.com/office/powerpoint/2010/main" val="3805793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Recordemos que las partes de un proyecto de software son:</a:t>
            </a:r>
            <a:endParaRPr lang="es-ES" dirty="0"/>
          </a:p>
        </p:txBody>
      </p:sp>
      <p:sp>
        <p:nvSpPr>
          <p:cNvPr id="3" name="Marcador de contenido 2"/>
          <p:cNvSpPr>
            <a:spLocks noGrp="1"/>
          </p:cNvSpPr>
          <p:nvPr>
            <p:ph idx="1"/>
          </p:nvPr>
        </p:nvSpPr>
        <p:spPr>
          <a:xfrm>
            <a:off x="1097280" y="1897249"/>
            <a:ext cx="10058400" cy="4404160"/>
          </a:xfrm>
        </p:spPr>
        <p:txBody>
          <a:bodyPr>
            <a:noAutofit/>
          </a:bodyPr>
          <a:lstStyle/>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La </a:t>
            </a:r>
            <a:r>
              <a:rPr lang="es-ES" sz="3600" dirty="0"/>
              <a:t>Solución</a:t>
            </a:r>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¿Ha visto antes problemas similares? ¿Hay patrones reconocibles en una solución potencial? ¿Hay algún software existente que implemente los datos, funciones y características que se requieren?</a:t>
            </a:r>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¿Ha resuelto un problema similar? Si es así, ¿son reutilizables los elementos de la solución?</a:t>
            </a:r>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¿Pueden definirse problemas más pequeños? Si así fuera, ¿hay soluciones evidentes para éstos</a:t>
            </a:r>
            <a:r>
              <a:rPr lang="es-ES" sz="2400" dirty="0" smtClean="0"/>
              <a:t>?</a:t>
            </a:r>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smtClean="0"/>
              <a:t>Técnicas </a:t>
            </a:r>
            <a:r>
              <a:rPr lang="es-ES" sz="2400" dirty="0"/>
              <a:t>para generar la </a:t>
            </a:r>
            <a:r>
              <a:rPr lang="es-ES" sz="2400" dirty="0" smtClean="0"/>
              <a:t>solución:</a:t>
            </a:r>
            <a:r>
              <a:rPr lang="en-US" sz="2400" dirty="0" err="1"/>
              <a:t>Juego</a:t>
            </a:r>
            <a:r>
              <a:rPr lang="en-US" sz="2400" dirty="0"/>
              <a:t> de </a:t>
            </a:r>
            <a:r>
              <a:rPr lang="en-US" sz="2400" dirty="0" smtClean="0"/>
              <a:t>Roles,</a:t>
            </a:r>
            <a:r>
              <a:rPr lang="en-US" sz="2400" dirty="0"/>
              <a:t> </a:t>
            </a:r>
            <a:r>
              <a:rPr lang="en-US" sz="2400" dirty="0" err="1"/>
              <a:t>Tormenta</a:t>
            </a:r>
            <a:r>
              <a:rPr lang="en-US" sz="2400" dirty="0"/>
              <a:t> de </a:t>
            </a:r>
            <a:r>
              <a:rPr lang="en-US" sz="2400" dirty="0" smtClean="0"/>
              <a:t>ideas,</a:t>
            </a:r>
            <a:r>
              <a:rPr lang="en-US" sz="2400" dirty="0"/>
              <a:t> </a:t>
            </a:r>
            <a:r>
              <a:rPr lang="en-US" sz="2400" dirty="0" err="1"/>
              <a:t>Técnicas</a:t>
            </a:r>
            <a:r>
              <a:rPr lang="en-US" sz="2400" dirty="0"/>
              <a:t> Delphi, </a:t>
            </a:r>
            <a:r>
              <a:rPr lang="en-US" sz="2400" dirty="0" err="1"/>
              <a:t>Prioritización</a:t>
            </a:r>
            <a:r>
              <a:rPr lang="en-US" sz="2400" dirty="0"/>
              <a:t> </a:t>
            </a:r>
            <a:r>
              <a:rPr lang="en-US" sz="2400" dirty="0" err="1"/>
              <a:t>MoSCoW</a:t>
            </a:r>
            <a:endParaRPr lang="en-US" sz="2400" dirty="0"/>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2400" dirty="0"/>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2400" dirty="0"/>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2400" dirty="0" smtClean="0"/>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smtClean="0"/>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spTree>
    <p:extLst>
      <p:ext uri="{BB962C8B-B14F-4D97-AF65-F5344CB8AC3E}">
        <p14:creationId xmlns:p14="http://schemas.microsoft.com/office/powerpoint/2010/main" val="22462954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Recordemos que las partes de un proyecto de software son:</a:t>
            </a:r>
            <a:endParaRPr lang="es-ES" dirty="0"/>
          </a:p>
        </p:txBody>
      </p:sp>
      <p:sp>
        <p:nvSpPr>
          <p:cNvPr id="3" name="Marcador de contenido 2"/>
          <p:cNvSpPr>
            <a:spLocks noGrp="1"/>
          </p:cNvSpPr>
          <p:nvPr>
            <p:ph idx="1"/>
          </p:nvPr>
        </p:nvSpPr>
        <p:spPr>
          <a:xfrm>
            <a:off x="1097280" y="1897249"/>
            <a:ext cx="10058400" cy="4404160"/>
          </a:xfrm>
        </p:spPr>
        <p:txBody>
          <a:bodyPr>
            <a:noAutofit/>
          </a:bodyPr>
          <a:lstStyle/>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El Proceso</a:t>
            </a:r>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800" dirty="0" smtClean="0"/>
              <a:t>Planificación</a:t>
            </a:r>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800" dirty="0" smtClean="0"/>
              <a:t>Codificación</a:t>
            </a:r>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800" dirty="0" smtClean="0"/>
              <a:t>Pruebas</a:t>
            </a:r>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800" dirty="0" smtClean="0"/>
              <a:t>Implementación</a:t>
            </a:r>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800" dirty="0" smtClean="0"/>
              <a:t>Mantenimiento</a:t>
            </a:r>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800" dirty="0"/>
              <a:t>Cierre del Proyecto</a:t>
            </a:r>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2800" dirty="0" smtClean="0"/>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2800" dirty="0" smtClean="0"/>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2800" dirty="0" smtClean="0"/>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2800" dirty="0" smtClean="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spTree>
    <p:extLst>
      <p:ext uri="{BB962C8B-B14F-4D97-AF65-F5344CB8AC3E}">
        <p14:creationId xmlns:p14="http://schemas.microsoft.com/office/powerpoint/2010/main" val="35460275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smtClean="0"/>
              <a:t>¿</a:t>
            </a:r>
            <a:r>
              <a:rPr lang="es-ES" dirty="0"/>
              <a:t>Qué </a:t>
            </a:r>
            <a:r>
              <a:rPr lang="es-ES" dirty="0" smtClean="0"/>
              <a:t>son la Metodologías </a:t>
            </a:r>
            <a:r>
              <a:rPr lang="es-ES" dirty="0"/>
              <a:t>de </a:t>
            </a:r>
            <a:r>
              <a:rPr lang="es-ES" dirty="0" smtClean="0"/>
              <a:t>desarrollo del software </a:t>
            </a:r>
            <a:r>
              <a:rPr lang="es-ES_tradnl" dirty="0" smtClean="0"/>
              <a:t>?</a:t>
            </a:r>
            <a:endParaRPr lang="es-ES" dirty="0"/>
          </a:p>
        </p:txBody>
      </p:sp>
      <p:sp>
        <p:nvSpPr>
          <p:cNvPr id="3" name="Marcador de contenido 2"/>
          <p:cNvSpPr>
            <a:spLocks noGrp="1"/>
          </p:cNvSpPr>
          <p:nvPr>
            <p:ph idx="1"/>
          </p:nvPr>
        </p:nvSpPr>
        <p:spPr>
          <a:xfrm>
            <a:off x="1097280" y="1897248"/>
            <a:ext cx="10058400" cy="3151829"/>
          </a:xfrm>
        </p:spPr>
        <p:txBody>
          <a:bodyPr>
            <a:noAutofit/>
          </a:bodyPr>
          <a:lstStyle/>
          <a:p>
            <a:pPr>
              <a:buFont typeface="Wingdings" pitchFamily="2" charset="2"/>
              <a:buChar char="Ø"/>
            </a:pPr>
            <a:r>
              <a:rPr lang="es-MX" sz="3600" dirty="0"/>
              <a:t>Organizar y ejecutar un proceso de desarrollo implica una forma de pensar, unos ciertos principios, prioridades y técnicas, generalmente asociados a una cierta notación y reglas sobre la comunicación y documentación, la planificación, la dirección, el </a:t>
            </a:r>
            <a:r>
              <a:rPr lang="es-MX" sz="3600" dirty="0" err="1"/>
              <a:t>control,etc</a:t>
            </a:r>
            <a:r>
              <a:rPr lang="es-MX" sz="3600" dirty="0"/>
              <a:t>.</a:t>
            </a:r>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_tradnl" sz="2600" dirty="0">
              <a:solidFill>
                <a:srgbClr val="000000"/>
              </a:solidFill>
              <a:latin typeface="Verdana" pitchFamily="34"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spTree>
    <p:extLst>
      <p:ext uri="{BB962C8B-B14F-4D97-AF65-F5344CB8AC3E}">
        <p14:creationId xmlns:p14="http://schemas.microsoft.com/office/powerpoint/2010/main" val="918037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smtClean="0"/>
              <a:t>¿</a:t>
            </a:r>
            <a:r>
              <a:rPr lang="es-ES" dirty="0" smtClean="0"/>
              <a:t>Qué hace que una Metodologías sea buena </a:t>
            </a:r>
            <a:r>
              <a:rPr lang="es-ES_tradnl" dirty="0" smtClean="0"/>
              <a:t>?</a:t>
            </a:r>
            <a:endParaRPr lang="es-ES" dirty="0"/>
          </a:p>
        </p:txBody>
      </p:sp>
      <p:sp>
        <p:nvSpPr>
          <p:cNvPr id="3" name="Marcador de contenido 2"/>
          <p:cNvSpPr>
            <a:spLocks noGrp="1"/>
          </p:cNvSpPr>
          <p:nvPr>
            <p:ph idx="1"/>
          </p:nvPr>
        </p:nvSpPr>
        <p:spPr>
          <a:xfrm>
            <a:off x="1097280" y="1897248"/>
            <a:ext cx="10058400" cy="3907204"/>
          </a:xfrm>
        </p:spPr>
        <p:txBody>
          <a:bodyPr>
            <a:noAutofit/>
          </a:bodyPr>
          <a:lstStyle/>
          <a:p>
            <a:pPr>
              <a:buFont typeface="Wingdings" pitchFamily="2" charset="2"/>
              <a:buChar char="Ø"/>
            </a:pPr>
            <a:r>
              <a:rPr lang="es-ES" sz="3600" dirty="0" smtClean="0"/>
              <a:t>Adaptabilidad</a:t>
            </a:r>
          </a:p>
          <a:p>
            <a:pPr>
              <a:buFont typeface="Wingdings" pitchFamily="2" charset="2"/>
              <a:buChar char="Ø"/>
            </a:pPr>
            <a:r>
              <a:rPr lang="es-ES" sz="3600" dirty="0"/>
              <a:t>Enfoque en el Cliente</a:t>
            </a:r>
          </a:p>
          <a:p>
            <a:pPr>
              <a:buFont typeface="Wingdings" pitchFamily="2" charset="2"/>
              <a:buChar char="Ø"/>
            </a:pPr>
            <a:r>
              <a:rPr lang="es-ES" sz="3600" dirty="0"/>
              <a:t>Ciclo de Retroalimentación Rápido</a:t>
            </a:r>
          </a:p>
          <a:p>
            <a:pPr>
              <a:buFont typeface="Wingdings" pitchFamily="2" charset="2"/>
              <a:buChar char="Ø"/>
            </a:pPr>
            <a:r>
              <a:rPr lang="es-ES" sz="3600" dirty="0"/>
              <a:t>Colaboración y </a:t>
            </a:r>
            <a:r>
              <a:rPr lang="es-ES" sz="3600" dirty="0" smtClean="0"/>
              <a:t>Comunicación</a:t>
            </a:r>
          </a:p>
          <a:p>
            <a:pPr>
              <a:buFont typeface="Wingdings" pitchFamily="2" charset="2"/>
              <a:buChar char="Ø"/>
            </a:pPr>
            <a:r>
              <a:rPr lang="es-ES" sz="3600" dirty="0"/>
              <a:t>Documentación Adecuada</a:t>
            </a:r>
          </a:p>
          <a:p>
            <a:pPr>
              <a:buFont typeface="Wingdings" pitchFamily="2" charset="2"/>
              <a:buChar char="Ø"/>
            </a:pPr>
            <a:endParaRPr lang="es-ES" sz="3600" dirty="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_tradnl" sz="2600" dirty="0">
              <a:solidFill>
                <a:srgbClr val="000000"/>
              </a:solidFill>
              <a:latin typeface="Verdana" pitchFamily="34"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spTree>
    <p:extLst>
      <p:ext uri="{BB962C8B-B14F-4D97-AF65-F5344CB8AC3E}">
        <p14:creationId xmlns:p14="http://schemas.microsoft.com/office/powerpoint/2010/main" val="1983682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smtClean="0"/>
              <a:t>¿</a:t>
            </a:r>
            <a:r>
              <a:rPr lang="es-ES" dirty="0" smtClean="0"/>
              <a:t>Qué hace que una Metodologías sea buena </a:t>
            </a:r>
            <a:r>
              <a:rPr lang="es-ES_tradnl" dirty="0" smtClean="0"/>
              <a:t>?</a:t>
            </a:r>
            <a:endParaRPr lang="es-ES" dirty="0"/>
          </a:p>
        </p:txBody>
      </p:sp>
      <p:sp>
        <p:nvSpPr>
          <p:cNvPr id="3" name="Marcador de contenido 2"/>
          <p:cNvSpPr>
            <a:spLocks noGrp="1"/>
          </p:cNvSpPr>
          <p:nvPr>
            <p:ph idx="1"/>
          </p:nvPr>
        </p:nvSpPr>
        <p:spPr>
          <a:xfrm>
            <a:off x="1097280" y="1897248"/>
            <a:ext cx="10770042" cy="4960752"/>
          </a:xfrm>
        </p:spPr>
        <p:txBody>
          <a:bodyPr>
            <a:noAutofit/>
          </a:bodyPr>
          <a:lstStyle/>
          <a:p>
            <a:pPr>
              <a:buFont typeface="Wingdings" pitchFamily="2" charset="2"/>
              <a:buChar char="Ø"/>
            </a:pPr>
            <a:r>
              <a:rPr lang="es-ES" sz="3600" dirty="0"/>
              <a:t>Gestión de Riesgos</a:t>
            </a:r>
          </a:p>
          <a:p>
            <a:pPr>
              <a:buFont typeface="Wingdings" pitchFamily="2" charset="2"/>
              <a:buChar char="Ø"/>
            </a:pPr>
            <a:r>
              <a:rPr lang="es-ES" sz="3600" dirty="0"/>
              <a:t>Calidad del Producto</a:t>
            </a:r>
          </a:p>
          <a:p>
            <a:pPr>
              <a:buFont typeface="Wingdings" pitchFamily="2" charset="2"/>
              <a:buChar char="Ø"/>
            </a:pPr>
            <a:r>
              <a:rPr lang="es-ES" sz="3600" dirty="0"/>
              <a:t> Mejora Continua</a:t>
            </a:r>
          </a:p>
          <a:p>
            <a:pPr>
              <a:buFont typeface="Wingdings" pitchFamily="2" charset="2"/>
              <a:buChar char="Ø"/>
            </a:pPr>
            <a:r>
              <a:rPr lang="es-ES" sz="3600" dirty="0" smtClean="0"/>
              <a:t>Escalabilidad</a:t>
            </a:r>
          </a:p>
          <a:p>
            <a:pPr>
              <a:buFont typeface="Wingdings" pitchFamily="2" charset="2"/>
              <a:buChar char="Ø"/>
            </a:pPr>
            <a:r>
              <a:rPr lang="es-ES" sz="3600" dirty="0"/>
              <a:t>Definición Clara de Roles y Responsabilidades</a:t>
            </a:r>
          </a:p>
          <a:p>
            <a:pPr>
              <a:buFont typeface="Wingdings" pitchFamily="2" charset="2"/>
              <a:buChar char="Ø"/>
            </a:pPr>
            <a:r>
              <a:rPr lang="es-ES" sz="3600" dirty="0"/>
              <a:t>Enfoque en </a:t>
            </a:r>
            <a:r>
              <a:rPr lang="es-ES" sz="3600" dirty="0" smtClean="0"/>
              <a:t>Resultados</a:t>
            </a:r>
          </a:p>
          <a:p>
            <a:pPr>
              <a:buFont typeface="Wingdings" pitchFamily="2" charset="2"/>
              <a:buChar char="Ø"/>
            </a:pPr>
            <a:r>
              <a:rPr lang="es-ES" sz="3600" dirty="0"/>
              <a:t>Uso de Herramientas Adecuadas</a:t>
            </a:r>
          </a:p>
          <a:p>
            <a:pPr>
              <a:buFont typeface="Wingdings" pitchFamily="2" charset="2"/>
              <a:buChar char="Ø"/>
            </a:pPr>
            <a:endParaRPr lang="es-ES" sz="3600" dirty="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_tradnl" sz="2600" dirty="0">
              <a:solidFill>
                <a:srgbClr val="000000"/>
              </a:solidFill>
              <a:latin typeface="Verdana" pitchFamily="34"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spTree>
    <p:extLst>
      <p:ext uri="{BB962C8B-B14F-4D97-AF65-F5344CB8AC3E}">
        <p14:creationId xmlns:p14="http://schemas.microsoft.com/office/powerpoint/2010/main" val="2516777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smtClean="0"/>
              <a:t>¿</a:t>
            </a:r>
            <a:r>
              <a:rPr lang="es-ES" dirty="0" smtClean="0"/>
              <a:t>Cuál </a:t>
            </a:r>
            <a:r>
              <a:rPr lang="es-ES" dirty="0"/>
              <a:t>es </a:t>
            </a:r>
            <a:r>
              <a:rPr lang="es-ES" dirty="0" smtClean="0"/>
              <a:t>la Base Práctica para las Metodologías</a:t>
            </a:r>
            <a:r>
              <a:rPr lang="es-ES_tradnl" dirty="0" smtClean="0"/>
              <a:t>?</a:t>
            </a:r>
            <a:endParaRPr lang="es-ES" dirty="0"/>
          </a:p>
        </p:txBody>
      </p:sp>
      <p:sp>
        <p:nvSpPr>
          <p:cNvPr id="3" name="Marcador de contenido 2"/>
          <p:cNvSpPr>
            <a:spLocks noGrp="1"/>
          </p:cNvSpPr>
          <p:nvPr>
            <p:ph idx="1"/>
          </p:nvPr>
        </p:nvSpPr>
        <p:spPr>
          <a:xfrm>
            <a:off x="1097280" y="1897248"/>
            <a:ext cx="10770042" cy="4404161"/>
          </a:xfrm>
        </p:spPr>
        <p:txBody>
          <a:bodyPr>
            <a:noAutofit/>
          </a:bodyPr>
          <a:lstStyle/>
          <a:p>
            <a:pPr>
              <a:buFont typeface="Wingdings" pitchFamily="2" charset="2"/>
              <a:buChar char="Ø"/>
            </a:pPr>
            <a:r>
              <a:rPr lang="es-ES" sz="3600" b="1" dirty="0" smtClean="0"/>
              <a:t>La experiencia</a:t>
            </a:r>
          </a:p>
          <a:p>
            <a:pPr lvl="1">
              <a:buFont typeface="Wingdings" pitchFamily="2" charset="2"/>
              <a:buChar char="ü"/>
            </a:pPr>
            <a:r>
              <a:rPr lang="es-ES" sz="3400" dirty="0"/>
              <a:t>Aprendizaje Basado en la </a:t>
            </a:r>
            <a:r>
              <a:rPr lang="es-ES" sz="3400" dirty="0" smtClean="0"/>
              <a:t>Experiencia</a:t>
            </a:r>
          </a:p>
          <a:p>
            <a:pPr lvl="1">
              <a:buFont typeface="Wingdings" pitchFamily="2" charset="2"/>
              <a:buChar char="ü"/>
            </a:pPr>
            <a:r>
              <a:rPr lang="es-ES" sz="3600" dirty="0"/>
              <a:t>Adaptación a Contextos </a:t>
            </a:r>
            <a:r>
              <a:rPr lang="es-ES" sz="3600" dirty="0" smtClean="0"/>
              <a:t>Específicos</a:t>
            </a:r>
          </a:p>
          <a:p>
            <a:pPr lvl="1">
              <a:buFont typeface="Wingdings" pitchFamily="2" charset="2"/>
              <a:buChar char="ü"/>
            </a:pPr>
            <a:r>
              <a:rPr lang="es-ES" sz="3600" dirty="0"/>
              <a:t>Validación de </a:t>
            </a:r>
            <a:r>
              <a:rPr lang="es-ES" sz="3600" dirty="0" smtClean="0"/>
              <a:t>Teorías</a:t>
            </a:r>
          </a:p>
          <a:p>
            <a:pPr lvl="1">
              <a:buFont typeface="Wingdings" pitchFamily="2" charset="2"/>
              <a:buChar char="ü"/>
            </a:pPr>
            <a:r>
              <a:rPr lang="es-ES" sz="3600" dirty="0"/>
              <a:t>Mejora de la </a:t>
            </a:r>
            <a:r>
              <a:rPr lang="es-ES" sz="3600" dirty="0" smtClean="0"/>
              <a:t>Colaboración</a:t>
            </a:r>
          </a:p>
          <a:p>
            <a:pPr lvl="1">
              <a:buFont typeface="Wingdings" pitchFamily="2" charset="2"/>
              <a:buChar char="ü"/>
            </a:pPr>
            <a:r>
              <a:rPr lang="es-ES" sz="3600" dirty="0"/>
              <a:t>Desarrollo de </a:t>
            </a:r>
            <a:r>
              <a:rPr lang="es-ES" sz="3600" dirty="0" smtClean="0"/>
              <a:t>Habilidades</a:t>
            </a:r>
          </a:p>
          <a:p>
            <a:pPr lvl="1">
              <a:buFont typeface="Wingdings" pitchFamily="2" charset="2"/>
              <a:buChar char="ü"/>
            </a:pPr>
            <a:r>
              <a:rPr lang="es-ES" sz="3600" dirty="0"/>
              <a:t>Gestión del </a:t>
            </a:r>
            <a:r>
              <a:rPr lang="es-ES" sz="3600" dirty="0" smtClean="0"/>
              <a:t>Riesgo</a:t>
            </a:r>
          </a:p>
          <a:p>
            <a:pPr lvl="1">
              <a:buFont typeface="Wingdings" pitchFamily="2" charset="2"/>
              <a:buChar char="ü"/>
            </a:pPr>
            <a:r>
              <a:rPr lang="es-ES" sz="3600" dirty="0"/>
              <a:t>Documentación Dinámica</a:t>
            </a:r>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spTree>
    <p:extLst>
      <p:ext uri="{BB962C8B-B14F-4D97-AF65-F5344CB8AC3E}">
        <p14:creationId xmlns:p14="http://schemas.microsoft.com/office/powerpoint/2010/main" val="36877196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!Cuidado con el exceso de confianza !</a:t>
            </a:r>
            <a:endParaRPr lang="es-ES" dirty="0"/>
          </a:p>
        </p:txBody>
      </p:sp>
      <p:sp>
        <p:nvSpPr>
          <p:cNvPr id="3" name="Marcador de contenido 2"/>
          <p:cNvSpPr>
            <a:spLocks noGrp="1"/>
          </p:cNvSpPr>
          <p:nvPr>
            <p:ph idx="1"/>
          </p:nvPr>
        </p:nvSpPr>
        <p:spPr>
          <a:xfrm>
            <a:off x="1097280" y="1897248"/>
            <a:ext cx="10770042" cy="4404161"/>
          </a:xfrm>
        </p:spPr>
        <p:txBody>
          <a:bodyPr>
            <a:noAutofit/>
          </a:bodyPr>
          <a:lstStyle/>
          <a:p>
            <a:pPr>
              <a:buFont typeface="Wingdings" pitchFamily="2" charset="2"/>
              <a:buChar char="Ø"/>
            </a:pPr>
            <a:r>
              <a:rPr lang="es-ES" sz="3600" b="1" dirty="0"/>
              <a:t> La experiencia adquirida nunca es suficiente</a:t>
            </a:r>
          </a:p>
          <a:p>
            <a:pPr>
              <a:buFont typeface="Wingdings" pitchFamily="2" charset="2"/>
              <a:buChar char="Ø"/>
            </a:pPr>
            <a:r>
              <a:rPr lang="es-ES" sz="3600" b="1" dirty="0"/>
              <a:t>La experiencia no hace a nadie </a:t>
            </a:r>
            <a:r>
              <a:rPr lang="es-ES" sz="3600" b="1" dirty="0" smtClean="0"/>
              <a:t>infalible</a:t>
            </a:r>
            <a:endParaRPr lang="es-ES" sz="3600" b="1" dirty="0"/>
          </a:p>
          <a:p>
            <a:pPr>
              <a:buFont typeface="Wingdings" pitchFamily="2" charset="2"/>
              <a:buChar char="Ø"/>
            </a:pPr>
            <a:r>
              <a:rPr lang="es-ES" sz="3600" b="1" dirty="0"/>
              <a:t> En el diseño de software avanzado no hay sustituto para el pensamiento fresco y las ideas </a:t>
            </a:r>
            <a:r>
              <a:rPr lang="es-ES" sz="3600" b="1" dirty="0" smtClean="0"/>
              <a:t>creativas</a:t>
            </a:r>
            <a:endParaRPr lang="es-ES" sz="3600" b="1" dirty="0"/>
          </a:p>
          <a:p>
            <a:pPr>
              <a:buFont typeface="Wingdings" pitchFamily="2" charset="2"/>
              <a:buChar char="Ø"/>
            </a:pPr>
            <a:r>
              <a:rPr lang="es-ES" sz="3600" b="1" dirty="0"/>
              <a:t> Todo nuevo problema reclama nuevas ideas </a:t>
            </a:r>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spTree>
    <p:extLst>
      <p:ext uri="{BB962C8B-B14F-4D97-AF65-F5344CB8AC3E}">
        <p14:creationId xmlns:p14="http://schemas.microsoft.com/office/powerpoint/2010/main" val="40689220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 </a:t>
            </a:r>
            <a:r>
              <a:rPr lang="es-ES_tradnl" dirty="0"/>
              <a:t>Dice Meyer...</a:t>
            </a:r>
            <a:r>
              <a:rPr lang="es-ES" dirty="0" smtClean="0"/>
              <a:t>!</a:t>
            </a:r>
            <a:endParaRPr lang="es-ES" dirty="0"/>
          </a:p>
        </p:txBody>
      </p:sp>
      <p:sp>
        <p:nvSpPr>
          <p:cNvPr id="3" name="Marcador de contenido 2"/>
          <p:cNvSpPr>
            <a:spLocks noGrp="1"/>
          </p:cNvSpPr>
          <p:nvPr>
            <p:ph idx="1"/>
          </p:nvPr>
        </p:nvSpPr>
        <p:spPr>
          <a:xfrm>
            <a:off x="1097280" y="1897248"/>
            <a:ext cx="10770042" cy="4404161"/>
          </a:xfrm>
        </p:spPr>
        <p:txBody>
          <a:bodyPr>
            <a:noAutofit/>
          </a:bodyPr>
          <a:lstStyle/>
          <a:p>
            <a:pPr algn="just"/>
            <a:r>
              <a:rPr lang="es-ES_tradnl" sz="2800" i="1" dirty="0"/>
              <a:t>”Cuantos más libros usted haya leído (o escrito), cuantas más clases haya tomado (o concebido), cuantos más lenguajes de programación usted conozca (o haya diseñado), mientras más software O-O haya examinado (o producido), mientras más documentos de requerimientos haya tratado de descifrar (o hecho descifrable), mientras más patrones de diseño haya aprendido (o diseñado), mientras a más reuniones haya asistido (o conducido), mientras más colegas talentosos haya conocido (o contratado), mientras en más proyectos haya participado (o dirigido), mejor estará preparado para lidiar con un nuevo desarrollo.</a:t>
            </a:r>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spTree>
    <p:extLst>
      <p:ext uri="{BB962C8B-B14F-4D97-AF65-F5344CB8AC3E}">
        <p14:creationId xmlns:p14="http://schemas.microsoft.com/office/powerpoint/2010/main" val="9844211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 CONSEJO FINAL!</a:t>
            </a:r>
          </a:p>
        </p:txBody>
      </p:sp>
      <p:sp>
        <p:nvSpPr>
          <p:cNvPr id="3" name="Marcador de contenido 2"/>
          <p:cNvSpPr>
            <a:spLocks noGrp="1"/>
          </p:cNvSpPr>
          <p:nvPr>
            <p:ph idx="1"/>
          </p:nvPr>
        </p:nvSpPr>
        <p:spPr>
          <a:xfrm>
            <a:off x="1097280" y="1897248"/>
            <a:ext cx="10770042" cy="4404161"/>
          </a:xfrm>
        </p:spPr>
        <p:txBody>
          <a:bodyPr>
            <a:noAutofit/>
          </a:bodyPr>
          <a:lstStyle/>
          <a:p>
            <a:pPr>
              <a:buFont typeface="Wingdings" pitchFamily="2" charset="2"/>
              <a:buChar char="Ø"/>
            </a:pPr>
            <a:r>
              <a:rPr lang="es-ES" sz="3600" b="1" dirty="0"/>
              <a:t>Para producir grandes productos, los diseñadores, incluso los mejores, nunca deben sobrestimar el valor de su experiencia. </a:t>
            </a:r>
          </a:p>
          <a:p>
            <a:pPr>
              <a:buFont typeface="Wingdings" pitchFamily="2" charset="2"/>
              <a:buChar char="Ø"/>
            </a:pPr>
            <a:r>
              <a:rPr lang="es-ES" sz="3600" b="1" dirty="0" smtClean="0"/>
              <a:t>Todo </a:t>
            </a:r>
            <a:r>
              <a:rPr lang="es-ES" sz="3600" b="1" dirty="0"/>
              <a:t>proyecto ambicioso de software es un </a:t>
            </a:r>
            <a:r>
              <a:rPr lang="es-ES" sz="3600" b="1" dirty="0" smtClean="0"/>
              <a:t>nuevo reto</a:t>
            </a:r>
          </a:p>
          <a:p>
            <a:pPr>
              <a:buFont typeface="Wingdings" pitchFamily="2" charset="2"/>
              <a:buChar char="Ø"/>
            </a:pPr>
            <a:r>
              <a:rPr lang="es-ES" sz="3600" b="1" dirty="0" smtClean="0">
                <a:solidFill>
                  <a:srgbClr val="FF0000"/>
                </a:solidFill>
              </a:rPr>
              <a:t>NO HAY RECETAS SEGURAS!</a:t>
            </a:r>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spTree>
    <p:extLst>
      <p:ext uri="{BB962C8B-B14F-4D97-AF65-F5344CB8AC3E}">
        <p14:creationId xmlns:p14="http://schemas.microsoft.com/office/powerpoint/2010/main" val="14802026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a:t>
            </a:r>
            <a:r>
              <a:rPr lang="es-ES" dirty="0" smtClean="0"/>
              <a:t>Cuáles </a:t>
            </a:r>
            <a:r>
              <a:rPr lang="es-ES_tradnl" dirty="0" smtClean="0"/>
              <a:t>son </a:t>
            </a:r>
            <a:r>
              <a:rPr lang="es-ES_tradnl" dirty="0"/>
              <a:t>las ventajas  del uso de las metodologías </a:t>
            </a:r>
            <a:r>
              <a:rPr lang="es-ES_tradnl" dirty="0" smtClean="0"/>
              <a:t>?</a:t>
            </a:r>
            <a:endParaRPr lang="es-ES" dirty="0"/>
          </a:p>
        </p:txBody>
      </p:sp>
      <p:sp>
        <p:nvSpPr>
          <p:cNvPr id="3" name="Marcador de contenido 2"/>
          <p:cNvSpPr>
            <a:spLocks noGrp="1"/>
          </p:cNvSpPr>
          <p:nvPr>
            <p:ph idx="1"/>
          </p:nvPr>
        </p:nvSpPr>
        <p:spPr>
          <a:xfrm>
            <a:off x="1097280" y="1897248"/>
            <a:ext cx="10770042" cy="4404161"/>
          </a:xfrm>
        </p:spPr>
        <p:txBody>
          <a:bodyPr>
            <a:noAutofit/>
          </a:bodyPr>
          <a:lstStyle/>
          <a:p>
            <a:pPr lvl="1">
              <a:buFont typeface="Wingdings" pitchFamily="2" charset="2"/>
              <a:buChar char="Ø"/>
            </a:pPr>
            <a:r>
              <a:rPr lang="es-ES" sz="3600" dirty="0"/>
              <a:t>Facilitan la </a:t>
            </a:r>
            <a:r>
              <a:rPr lang="es-ES" sz="3600" dirty="0" smtClean="0"/>
              <a:t>planificación</a:t>
            </a:r>
            <a:endParaRPr lang="es-ES" sz="3600" dirty="0"/>
          </a:p>
          <a:p>
            <a:pPr lvl="1">
              <a:buFont typeface="Wingdings" pitchFamily="2" charset="2"/>
              <a:buChar char="Ø"/>
            </a:pPr>
            <a:r>
              <a:rPr lang="es-ES" sz="3600" dirty="0"/>
              <a:t>Facilitan el control y seguimiento adecuado del proyecto</a:t>
            </a:r>
          </a:p>
          <a:p>
            <a:pPr lvl="1">
              <a:buFont typeface="Wingdings" pitchFamily="2" charset="2"/>
              <a:buChar char="Ø"/>
            </a:pPr>
            <a:r>
              <a:rPr lang="es-ES" sz="3600" dirty="0"/>
              <a:t>Mejoran el </a:t>
            </a:r>
            <a:r>
              <a:rPr lang="es-ES" sz="3600" dirty="0" smtClean="0"/>
              <a:t>uso </a:t>
            </a:r>
            <a:r>
              <a:rPr lang="es-ES" sz="3600" dirty="0"/>
              <a:t>de los recursos</a:t>
            </a:r>
          </a:p>
          <a:p>
            <a:pPr lvl="1">
              <a:buFont typeface="Wingdings" pitchFamily="2" charset="2"/>
              <a:buChar char="Ø"/>
            </a:pPr>
            <a:r>
              <a:rPr lang="es-ES" sz="3600" dirty="0"/>
              <a:t>Permiten evaluar de forma </a:t>
            </a:r>
            <a:r>
              <a:rPr lang="es-ES" sz="3600" dirty="0" smtClean="0"/>
              <a:t>más fácil </a:t>
            </a:r>
            <a:r>
              <a:rPr lang="es-ES" sz="3600" dirty="0"/>
              <a:t>los resultados obtenidos y valorar los objetivos conseguidos</a:t>
            </a:r>
          </a:p>
          <a:p>
            <a:pPr lvl="1">
              <a:buFont typeface="Wingdings" pitchFamily="2" charset="2"/>
              <a:buChar char="Ø"/>
            </a:pPr>
            <a:endParaRPr lang="es-ES" sz="3600" dirty="0" smtClean="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spTree>
    <p:extLst>
      <p:ext uri="{BB962C8B-B14F-4D97-AF65-F5344CB8AC3E}">
        <p14:creationId xmlns:p14="http://schemas.microsoft.com/office/powerpoint/2010/main" val="20065064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a:t>
            </a:r>
            <a:r>
              <a:rPr lang="es-ES" dirty="0" smtClean="0"/>
              <a:t>Cuáles </a:t>
            </a:r>
            <a:r>
              <a:rPr lang="es-ES_tradnl" dirty="0" smtClean="0"/>
              <a:t>son </a:t>
            </a:r>
            <a:r>
              <a:rPr lang="es-ES_tradnl" dirty="0"/>
              <a:t>las ventajas  del uso de las metodologías </a:t>
            </a:r>
            <a:r>
              <a:rPr lang="es-ES_tradnl" dirty="0" smtClean="0"/>
              <a:t>?</a:t>
            </a:r>
            <a:endParaRPr lang="es-ES" dirty="0"/>
          </a:p>
        </p:txBody>
      </p:sp>
      <p:sp>
        <p:nvSpPr>
          <p:cNvPr id="3" name="Marcador de contenido 2"/>
          <p:cNvSpPr>
            <a:spLocks noGrp="1"/>
          </p:cNvSpPr>
          <p:nvPr>
            <p:ph idx="1"/>
          </p:nvPr>
        </p:nvSpPr>
        <p:spPr>
          <a:xfrm>
            <a:off x="1097280" y="1897248"/>
            <a:ext cx="10770042" cy="4404161"/>
          </a:xfrm>
        </p:spPr>
        <p:txBody>
          <a:bodyPr>
            <a:noAutofit/>
          </a:bodyPr>
          <a:lstStyle/>
          <a:p>
            <a:pPr lvl="1">
              <a:buFont typeface="Wingdings" pitchFamily="2" charset="2"/>
              <a:buChar char="Ø"/>
            </a:pPr>
            <a:r>
              <a:rPr lang="es-ES" sz="3600" dirty="0" smtClean="0"/>
              <a:t>Mejoran </a:t>
            </a:r>
            <a:r>
              <a:rPr lang="es-ES" sz="3600" dirty="0"/>
              <a:t>la </a:t>
            </a:r>
            <a:r>
              <a:rPr lang="es-ES" sz="3600" dirty="0" smtClean="0"/>
              <a:t>comunicación </a:t>
            </a:r>
            <a:r>
              <a:rPr lang="es-ES" sz="3600" dirty="0"/>
              <a:t>entre el cliente y las personas que van a llevar a cabo el proyecto</a:t>
            </a:r>
          </a:p>
          <a:p>
            <a:pPr lvl="1">
              <a:buFont typeface="Wingdings" pitchFamily="2" charset="2"/>
              <a:buChar char="Ø"/>
            </a:pPr>
            <a:r>
              <a:rPr lang="es-ES" sz="3600" dirty="0"/>
              <a:t>Garantizan que el producto final </a:t>
            </a:r>
            <a:r>
              <a:rPr lang="es-ES" sz="3600" dirty="0" smtClean="0"/>
              <a:t>tendrá </a:t>
            </a:r>
            <a:r>
              <a:rPr lang="es-ES" sz="3600" dirty="0"/>
              <a:t>la calidad esperada</a:t>
            </a:r>
          </a:p>
          <a:p>
            <a:pPr lvl="1">
              <a:buFont typeface="Wingdings" pitchFamily="2" charset="2"/>
              <a:buChar char="Ø"/>
            </a:pPr>
            <a:r>
              <a:rPr lang="es-ES" sz="3600" dirty="0"/>
              <a:t>Se </a:t>
            </a:r>
            <a:r>
              <a:rPr lang="es-ES" sz="3600" dirty="0" smtClean="0"/>
              <a:t>tendrán </a:t>
            </a:r>
            <a:r>
              <a:rPr lang="es-ES" sz="3600" dirty="0"/>
              <a:t>presentes unos plazos para el desarrollo del producto</a:t>
            </a:r>
          </a:p>
          <a:p>
            <a:pPr lvl="1">
              <a:buFont typeface="Wingdings" pitchFamily="2" charset="2"/>
              <a:buChar char="Ø"/>
            </a:pPr>
            <a:r>
              <a:rPr lang="es-ES" sz="3600" dirty="0" smtClean="0"/>
              <a:t>Permitirá </a:t>
            </a:r>
            <a:r>
              <a:rPr lang="es-ES" sz="3600" dirty="0"/>
              <a:t>definir el ciclo de vida adecuado al proyecto</a:t>
            </a:r>
          </a:p>
          <a:p>
            <a:pPr lvl="1">
              <a:buFont typeface="Wingdings" pitchFamily="2" charset="2"/>
              <a:buChar char="Ø"/>
            </a:pPr>
            <a:endParaRPr lang="es-ES" sz="3600" dirty="0" smtClean="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spTree>
    <p:extLst>
      <p:ext uri="{BB962C8B-B14F-4D97-AF65-F5344CB8AC3E}">
        <p14:creationId xmlns:p14="http://schemas.microsoft.com/office/powerpoint/2010/main" val="22105105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smtClean="0"/>
              <a:t>¿</a:t>
            </a:r>
            <a:r>
              <a:rPr lang="es-ES" dirty="0" smtClean="0"/>
              <a:t>Qué</a:t>
            </a:r>
            <a:r>
              <a:rPr lang="en-US" dirty="0" smtClean="0"/>
              <a:t> son </a:t>
            </a:r>
            <a:r>
              <a:rPr lang="es-ES" dirty="0" smtClean="0"/>
              <a:t>las</a:t>
            </a:r>
            <a:r>
              <a:rPr lang="en-US" dirty="0" smtClean="0"/>
              <a:t>  </a:t>
            </a:r>
            <a:r>
              <a:rPr lang="es-ES" dirty="0"/>
              <a:t>metodologías pesadas</a:t>
            </a:r>
            <a:r>
              <a:rPr lang="en-US" dirty="0" smtClean="0"/>
              <a:t> </a:t>
            </a:r>
            <a:r>
              <a:rPr lang="es-ES_tradnl" dirty="0" smtClean="0"/>
              <a:t>?</a:t>
            </a:r>
            <a:endParaRPr lang="es-ES" dirty="0"/>
          </a:p>
        </p:txBody>
      </p:sp>
      <p:sp>
        <p:nvSpPr>
          <p:cNvPr id="3" name="Marcador de contenido 2"/>
          <p:cNvSpPr>
            <a:spLocks noGrp="1"/>
          </p:cNvSpPr>
          <p:nvPr>
            <p:ph idx="1"/>
          </p:nvPr>
        </p:nvSpPr>
        <p:spPr>
          <a:xfrm>
            <a:off x="1097280" y="1897248"/>
            <a:ext cx="10770042" cy="4404161"/>
          </a:xfrm>
        </p:spPr>
        <p:txBody>
          <a:bodyPr>
            <a:noAutofit/>
          </a:bodyPr>
          <a:lstStyle/>
          <a:p>
            <a:pPr lvl="1">
              <a:buFont typeface="Wingdings" pitchFamily="2" charset="2"/>
              <a:buChar char="Ø"/>
            </a:pPr>
            <a:r>
              <a:rPr lang="es-ES" sz="3600" dirty="0"/>
              <a:t>Las metodologías pesadas, también conocidas como metodologías tradicionales o en cascada, son enfoques estructurados y secuenciales para el desarrollo de software. Se caracterizan por su énfasis en la planificación detallada, la documentación exhaustiva y el cumplimiento riguroso de procesos</a:t>
            </a:r>
            <a:endParaRPr lang="es-ES" sz="3600" dirty="0" smtClean="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spTree>
    <p:extLst>
      <p:ext uri="{BB962C8B-B14F-4D97-AF65-F5344CB8AC3E}">
        <p14:creationId xmlns:p14="http://schemas.microsoft.com/office/powerpoint/2010/main" val="35950832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smtClean="0"/>
              <a:t>¿</a:t>
            </a:r>
            <a:r>
              <a:rPr lang="es-ES" dirty="0" smtClean="0"/>
              <a:t>Cuáles son las características de las </a:t>
            </a:r>
            <a:r>
              <a:rPr lang="en-US" dirty="0" smtClean="0"/>
              <a:t> </a:t>
            </a:r>
            <a:r>
              <a:rPr lang="es-ES" dirty="0" smtClean="0"/>
              <a:t>metodologías </a:t>
            </a:r>
            <a:r>
              <a:rPr lang="es-ES" dirty="0"/>
              <a:t>pesadas</a:t>
            </a:r>
            <a:r>
              <a:rPr lang="en-US" dirty="0" smtClean="0"/>
              <a:t> </a:t>
            </a:r>
            <a:r>
              <a:rPr lang="es-ES_tradnl" dirty="0" smtClean="0"/>
              <a:t>?</a:t>
            </a:r>
            <a:endParaRPr lang="es-ES" dirty="0"/>
          </a:p>
        </p:txBody>
      </p:sp>
      <p:sp>
        <p:nvSpPr>
          <p:cNvPr id="3" name="Marcador de contenido 2"/>
          <p:cNvSpPr>
            <a:spLocks noGrp="1"/>
          </p:cNvSpPr>
          <p:nvPr>
            <p:ph idx="1"/>
          </p:nvPr>
        </p:nvSpPr>
        <p:spPr>
          <a:xfrm>
            <a:off x="1097280" y="1897248"/>
            <a:ext cx="10770042" cy="4404161"/>
          </a:xfrm>
        </p:spPr>
        <p:txBody>
          <a:bodyPr>
            <a:noAutofit/>
          </a:bodyPr>
          <a:lstStyle/>
          <a:p>
            <a:pPr lvl="1">
              <a:buFont typeface="Wingdings" pitchFamily="2" charset="2"/>
              <a:buChar char="Ø"/>
            </a:pPr>
            <a:r>
              <a:rPr lang="es-ES" sz="3600" dirty="0"/>
              <a:t>Fases </a:t>
            </a:r>
            <a:r>
              <a:rPr lang="es-ES" sz="3600" dirty="0" smtClean="0"/>
              <a:t>Definidas</a:t>
            </a:r>
          </a:p>
          <a:p>
            <a:pPr lvl="1">
              <a:buFont typeface="Wingdings" pitchFamily="2" charset="2"/>
              <a:buChar char="Ø"/>
            </a:pPr>
            <a:r>
              <a:rPr lang="es-ES" sz="3600" dirty="0"/>
              <a:t>Documentación </a:t>
            </a:r>
            <a:r>
              <a:rPr lang="es-ES" sz="3600" dirty="0" smtClean="0"/>
              <a:t>Exhaustiva</a:t>
            </a:r>
          </a:p>
          <a:p>
            <a:pPr lvl="1">
              <a:buFont typeface="Wingdings" pitchFamily="2" charset="2"/>
              <a:buChar char="Ø"/>
            </a:pPr>
            <a:r>
              <a:rPr lang="es-ES" sz="3600" dirty="0"/>
              <a:t>Planificación </a:t>
            </a:r>
            <a:r>
              <a:rPr lang="es-ES" sz="3600" dirty="0" smtClean="0"/>
              <a:t>Rigurosa</a:t>
            </a:r>
          </a:p>
          <a:p>
            <a:pPr lvl="1">
              <a:buFont typeface="Wingdings" pitchFamily="2" charset="2"/>
              <a:buChar char="Ø"/>
            </a:pPr>
            <a:r>
              <a:rPr lang="es-ES" sz="3600" dirty="0"/>
              <a:t>Control de </a:t>
            </a:r>
            <a:r>
              <a:rPr lang="es-ES" sz="3600" dirty="0" smtClean="0"/>
              <a:t>Cambios</a:t>
            </a:r>
          </a:p>
          <a:p>
            <a:pPr lvl="1">
              <a:buFont typeface="Wingdings" pitchFamily="2" charset="2"/>
              <a:buChar char="Ø"/>
            </a:pPr>
            <a:r>
              <a:rPr lang="es-ES" sz="3600" dirty="0"/>
              <a:t>Enfoque en la Calidad</a:t>
            </a:r>
            <a:endParaRPr lang="es-ES" sz="3600" dirty="0" smtClean="0"/>
          </a:p>
          <a:p>
            <a:pPr lvl="1">
              <a:buFont typeface="Wingdings" pitchFamily="2" charset="2"/>
              <a:buChar char="Ø"/>
            </a:pPr>
            <a:endParaRPr lang="es-ES" sz="3600" dirty="0" smtClean="0"/>
          </a:p>
          <a:p>
            <a:pPr lvl="1">
              <a:buFont typeface="Wingdings" pitchFamily="2" charset="2"/>
              <a:buChar char="Ø"/>
            </a:pPr>
            <a:endParaRPr lang="es-ES" sz="3600" dirty="0" smtClean="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spTree>
    <p:extLst>
      <p:ext uri="{BB962C8B-B14F-4D97-AF65-F5344CB8AC3E}">
        <p14:creationId xmlns:p14="http://schemas.microsoft.com/office/powerpoint/2010/main" val="25433524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dirty="0" smtClean="0"/>
              <a:t>¿</a:t>
            </a:r>
            <a:r>
              <a:rPr lang="es-ES" dirty="0" smtClean="0"/>
              <a:t>Cuáles son las ventajas/des</a:t>
            </a:r>
            <a:r>
              <a:rPr lang="es-ES" dirty="0"/>
              <a:t>ventajas</a:t>
            </a:r>
            <a:r>
              <a:rPr lang="es-ES" dirty="0" smtClean="0"/>
              <a:t> de las metodologías </a:t>
            </a:r>
            <a:r>
              <a:rPr lang="es-ES" dirty="0"/>
              <a:t>pesadas</a:t>
            </a:r>
            <a:r>
              <a:rPr lang="en-US" dirty="0" smtClean="0"/>
              <a:t> </a:t>
            </a:r>
            <a:r>
              <a:rPr lang="es-ES_tradnl" dirty="0" smtClean="0"/>
              <a:t>?</a:t>
            </a:r>
            <a:endParaRPr lang="es-ES" dirty="0"/>
          </a:p>
        </p:txBody>
      </p:sp>
      <p:sp>
        <p:nvSpPr>
          <p:cNvPr id="3" name="Marcador de contenido 2"/>
          <p:cNvSpPr>
            <a:spLocks noGrp="1"/>
          </p:cNvSpPr>
          <p:nvPr>
            <p:ph idx="1"/>
          </p:nvPr>
        </p:nvSpPr>
        <p:spPr>
          <a:xfrm>
            <a:off x="1097280" y="1897248"/>
            <a:ext cx="5462546" cy="4404161"/>
          </a:xfrm>
        </p:spPr>
        <p:txBody>
          <a:bodyPr>
            <a:noAutofit/>
          </a:bodyPr>
          <a:lstStyle/>
          <a:p>
            <a:pPr lvl="1">
              <a:buFont typeface="Wingdings" pitchFamily="2" charset="2"/>
              <a:buChar char="Ø"/>
            </a:pPr>
            <a:r>
              <a:rPr lang="es-ES" sz="3600" dirty="0" smtClean="0"/>
              <a:t>Ventajas</a:t>
            </a:r>
          </a:p>
          <a:p>
            <a:pPr lvl="2">
              <a:buFont typeface="Wingdings" pitchFamily="2" charset="2"/>
              <a:buChar char="ü"/>
            </a:pPr>
            <a:r>
              <a:rPr lang="es-ES" sz="3600" dirty="0"/>
              <a:t>Estructura </a:t>
            </a:r>
            <a:r>
              <a:rPr lang="es-ES" sz="3600" dirty="0" smtClean="0"/>
              <a:t>Clara</a:t>
            </a:r>
          </a:p>
          <a:p>
            <a:pPr lvl="2">
              <a:buFont typeface="Wingdings" pitchFamily="2" charset="2"/>
              <a:buChar char="ü"/>
            </a:pPr>
            <a:r>
              <a:rPr lang="es-ES" sz="3600" dirty="0"/>
              <a:t>Documentación </a:t>
            </a:r>
            <a:r>
              <a:rPr lang="es-ES" sz="3600" dirty="0" smtClean="0"/>
              <a:t>Completa</a:t>
            </a:r>
          </a:p>
          <a:p>
            <a:pPr lvl="2">
              <a:buFont typeface="Wingdings" pitchFamily="2" charset="2"/>
              <a:buChar char="ü"/>
            </a:pPr>
            <a:r>
              <a:rPr lang="es-ES" sz="3600" dirty="0" smtClean="0"/>
              <a:t>Previsibilidad</a:t>
            </a:r>
          </a:p>
          <a:p>
            <a:pPr lvl="2">
              <a:buFont typeface="Wingdings" pitchFamily="2" charset="2"/>
              <a:buChar char="ü"/>
            </a:pPr>
            <a:r>
              <a:rPr lang="es-ES" sz="3600" dirty="0"/>
              <a:t>Gestión del Riesgo</a:t>
            </a:r>
            <a:endParaRPr lang="es-ES" sz="3600" dirty="0" smtClean="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sp>
        <p:nvSpPr>
          <p:cNvPr id="7" name="Marcador de contenido 2"/>
          <p:cNvSpPr txBox="1">
            <a:spLocks/>
          </p:cNvSpPr>
          <p:nvPr/>
        </p:nvSpPr>
        <p:spPr>
          <a:xfrm>
            <a:off x="6338453" y="1870744"/>
            <a:ext cx="5462546" cy="4404161"/>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itchFamily="2" charset="2"/>
              <a:buChar char="Ø"/>
            </a:pPr>
            <a:r>
              <a:rPr lang="es-ES" sz="3600" dirty="0"/>
              <a:t>Desventajas</a:t>
            </a:r>
          </a:p>
          <a:p>
            <a:pPr lvl="2">
              <a:buFont typeface="Wingdings" pitchFamily="2" charset="2"/>
              <a:buChar char="ü"/>
            </a:pPr>
            <a:r>
              <a:rPr lang="es-ES" sz="3600" dirty="0"/>
              <a:t>Rigidez</a:t>
            </a:r>
          </a:p>
          <a:p>
            <a:pPr lvl="2">
              <a:buFont typeface="Wingdings" pitchFamily="2" charset="2"/>
              <a:buChar char="ü"/>
            </a:pPr>
            <a:r>
              <a:rPr lang="es-ES" sz="3600" dirty="0"/>
              <a:t>Largo Tiempo de Entrega</a:t>
            </a:r>
          </a:p>
          <a:p>
            <a:pPr lvl="2">
              <a:buFont typeface="Wingdings" pitchFamily="2" charset="2"/>
              <a:buChar char="ü"/>
            </a:pPr>
            <a:r>
              <a:rPr lang="es-ES" sz="3600" dirty="0"/>
              <a:t>Menor Colaboración</a:t>
            </a:r>
          </a:p>
          <a:p>
            <a:pPr lvl="2">
              <a:buFont typeface="Wingdings" pitchFamily="2" charset="2"/>
              <a:buChar char="ü"/>
            </a:pPr>
            <a:r>
              <a:rPr lang="es-ES" sz="3600" dirty="0"/>
              <a:t>Costos Elevados</a:t>
            </a:r>
          </a:p>
          <a:p>
            <a:pPr lvl="1">
              <a:buFont typeface="Wingdings" pitchFamily="2" charset="2"/>
              <a:buChar char="Ø"/>
            </a:pPr>
            <a:endParaRPr lang="es-ES" sz="3600" dirty="0" smtClean="0"/>
          </a:p>
          <a:p>
            <a:pPr lvl="1">
              <a:buFont typeface="Wingdings" pitchFamily="2" charset="2"/>
              <a:buChar char="Ø"/>
            </a:pPr>
            <a:endParaRPr lang="es-ES" sz="3600" dirty="0" smtClean="0"/>
          </a:p>
          <a:p>
            <a:pPr lvl="1">
              <a:buFont typeface="Wingdings" pitchFamily="2" charset="2"/>
              <a:buChar char="Ø"/>
            </a:pPr>
            <a:endParaRPr lang="es-ES" sz="3400" dirty="0" smtClean="0"/>
          </a:p>
          <a:p>
            <a:pPr lvl="1">
              <a:buFont typeface="Wingdings" pitchFamily="2" charset="2"/>
              <a:buChar char="Ø"/>
            </a:pPr>
            <a:endParaRPr lang="es-ES" sz="3400" dirty="0" smtClean="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42910509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775252"/>
            <a:ext cx="10058400" cy="874644"/>
          </a:xfrm>
        </p:spPr>
        <p:txBody>
          <a:bodyPr>
            <a:normAutofit/>
          </a:bodyPr>
          <a:lstStyle/>
          <a:p>
            <a:pPr algn="ctr"/>
            <a:r>
              <a:rPr lang="en-US" dirty="0" smtClean="0"/>
              <a:t>RUP</a:t>
            </a:r>
            <a:endParaRPr lang="es-ES" dirty="0"/>
          </a:p>
        </p:txBody>
      </p:sp>
      <p:sp>
        <p:nvSpPr>
          <p:cNvPr id="3" name="Marcador de contenido 2"/>
          <p:cNvSpPr>
            <a:spLocks noGrp="1"/>
          </p:cNvSpPr>
          <p:nvPr>
            <p:ph idx="1"/>
          </p:nvPr>
        </p:nvSpPr>
        <p:spPr>
          <a:xfrm>
            <a:off x="640079" y="1869649"/>
            <a:ext cx="10292964" cy="4404161"/>
          </a:xfrm>
        </p:spPr>
        <p:txBody>
          <a:bodyPr>
            <a:noAutofit/>
          </a:bodyPr>
          <a:lstStyle/>
          <a:p>
            <a:pPr lvl="1">
              <a:buFont typeface="Wingdings" pitchFamily="2" charset="2"/>
              <a:buChar char="Ø"/>
            </a:pPr>
            <a:r>
              <a:rPr lang="es-ES" sz="3600" dirty="0" err="1"/>
              <a:t>Rational</a:t>
            </a:r>
            <a:r>
              <a:rPr lang="es-ES" sz="3600" dirty="0"/>
              <a:t> </a:t>
            </a:r>
            <a:r>
              <a:rPr lang="es-ES" sz="3600" dirty="0" err="1"/>
              <a:t>Unified</a:t>
            </a:r>
            <a:r>
              <a:rPr lang="es-ES" sz="3600" dirty="0"/>
              <a:t> </a:t>
            </a:r>
            <a:r>
              <a:rPr lang="es-ES" sz="3600" dirty="0" err="1"/>
              <a:t>Process</a:t>
            </a:r>
            <a:endParaRPr lang="es-ES" sz="3600" dirty="0"/>
          </a:p>
          <a:p>
            <a:pPr lvl="1">
              <a:buFont typeface="Wingdings" pitchFamily="2" charset="2"/>
              <a:buChar char="Ø"/>
            </a:pPr>
            <a:r>
              <a:rPr lang="es-ES" sz="3600" dirty="0"/>
              <a:t>	Es un clásico representante de las llamadas “Metodologías Pesadas”</a:t>
            </a:r>
          </a:p>
          <a:p>
            <a:pPr lvl="1">
              <a:buFont typeface="Wingdings" pitchFamily="2" charset="2"/>
              <a:buChar char="Ø"/>
            </a:pPr>
            <a:r>
              <a:rPr lang="es-ES" sz="3600" dirty="0" smtClean="0"/>
              <a:t>Basa todo el proceso de desarrollo en los llamados “Use Cases”</a:t>
            </a:r>
          </a:p>
          <a:p>
            <a:pPr lvl="1">
              <a:buFont typeface="Wingdings" pitchFamily="2" charset="2"/>
              <a:buChar char="Ø"/>
            </a:pPr>
            <a:r>
              <a:rPr lang="en-US" sz="3600" dirty="0"/>
              <a:t>Se </a:t>
            </a:r>
            <a:r>
              <a:rPr lang="en-US" sz="3600" dirty="0" smtClean="0"/>
              <a:t>UML </a:t>
            </a:r>
            <a:r>
              <a:rPr lang="es-ES" sz="3600" dirty="0" smtClean="0"/>
              <a:t>como</a:t>
            </a:r>
            <a:r>
              <a:rPr lang="en-US" sz="3600" dirty="0" smtClean="0"/>
              <a:t> </a:t>
            </a:r>
            <a:r>
              <a:rPr lang="es-ES" sz="3600" dirty="0" smtClean="0"/>
              <a:t>lenguaje</a:t>
            </a:r>
            <a:r>
              <a:rPr lang="en-US" sz="3600" dirty="0" smtClean="0"/>
              <a:t> </a:t>
            </a:r>
            <a:r>
              <a:rPr lang="en-US" sz="3600" dirty="0"/>
              <a:t>de </a:t>
            </a:r>
            <a:r>
              <a:rPr lang="es-ES" sz="3600" dirty="0" smtClean="0"/>
              <a:t>especificación </a:t>
            </a:r>
          </a:p>
          <a:p>
            <a:pPr lvl="1">
              <a:buFont typeface="Wingdings" pitchFamily="2" charset="2"/>
              <a:buChar char="Ø"/>
            </a:pPr>
            <a:endParaRPr lang="es-ES" sz="3600" dirty="0" smtClean="0"/>
          </a:p>
          <a:p>
            <a:pPr lvl="1">
              <a:buFont typeface="Wingdings" pitchFamily="2" charset="2"/>
              <a:buChar char="Ø"/>
            </a:pPr>
            <a:endParaRPr lang="es-ES" sz="3600" dirty="0" smtClean="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8578" y="298174"/>
            <a:ext cx="2427445" cy="1313208"/>
          </a:xfrm>
          <a:prstGeom prst="rect">
            <a:avLst/>
          </a:prstGeom>
        </p:spPr>
      </p:pic>
    </p:spTree>
    <p:extLst>
      <p:ext uri="{BB962C8B-B14F-4D97-AF65-F5344CB8AC3E}">
        <p14:creationId xmlns:p14="http://schemas.microsoft.com/office/powerpoint/2010/main" val="26910725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775252"/>
            <a:ext cx="10058400" cy="874644"/>
          </a:xfrm>
        </p:spPr>
        <p:txBody>
          <a:bodyPr>
            <a:normAutofit/>
          </a:bodyPr>
          <a:lstStyle/>
          <a:p>
            <a:pPr algn="ctr"/>
            <a:r>
              <a:rPr lang="en-US" dirty="0" smtClean="0"/>
              <a:t>RUP: </a:t>
            </a:r>
            <a:r>
              <a:rPr lang="en-US" dirty="0" err="1" smtClean="0"/>
              <a:t>Características</a:t>
            </a:r>
            <a:endParaRPr lang="es-ES" dirty="0"/>
          </a:p>
        </p:txBody>
      </p:sp>
      <p:sp>
        <p:nvSpPr>
          <p:cNvPr id="3" name="Marcador de contenido 2"/>
          <p:cNvSpPr>
            <a:spLocks noGrp="1"/>
          </p:cNvSpPr>
          <p:nvPr>
            <p:ph idx="1"/>
          </p:nvPr>
        </p:nvSpPr>
        <p:spPr>
          <a:xfrm>
            <a:off x="640079" y="1869649"/>
            <a:ext cx="11326634" cy="4404161"/>
          </a:xfrm>
        </p:spPr>
        <p:txBody>
          <a:bodyPr>
            <a:noAutofit/>
          </a:bodyPr>
          <a:lstStyle/>
          <a:p>
            <a:pPr lvl="1">
              <a:buFont typeface="Wingdings" pitchFamily="2" charset="2"/>
              <a:buChar char="Ø"/>
            </a:pPr>
            <a:r>
              <a:rPr lang="es-ES" sz="3200" dirty="0" smtClean="0"/>
              <a:t>Iterativo </a:t>
            </a:r>
            <a:r>
              <a:rPr lang="es-ES" sz="3200" dirty="0"/>
              <a:t>e </a:t>
            </a:r>
            <a:r>
              <a:rPr lang="es-ES" sz="3200" dirty="0" smtClean="0"/>
              <a:t>Incremental</a:t>
            </a:r>
          </a:p>
          <a:p>
            <a:pPr lvl="1">
              <a:buFont typeface="Wingdings" pitchFamily="2" charset="2"/>
              <a:buChar char="Ø"/>
            </a:pPr>
            <a:r>
              <a:rPr lang="es-ES" sz="3200" dirty="0"/>
              <a:t>Enfoque en la </a:t>
            </a:r>
            <a:r>
              <a:rPr lang="es-ES" sz="3200" dirty="0" smtClean="0"/>
              <a:t>Arquitectura</a:t>
            </a:r>
          </a:p>
          <a:p>
            <a:pPr lvl="1">
              <a:buFont typeface="Wingdings" pitchFamily="2" charset="2"/>
              <a:buChar char="Ø"/>
            </a:pPr>
            <a:r>
              <a:rPr lang="es-ES" sz="3200" dirty="0"/>
              <a:t>Roles </a:t>
            </a:r>
            <a:r>
              <a:rPr lang="es-ES" sz="3200" dirty="0" smtClean="0"/>
              <a:t>Definidos</a:t>
            </a:r>
          </a:p>
          <a:p>
            <a:pPr lvl="1">
              <a:buFont typeface="Wingdings" pitchFamily="2" charset="2"/>
              <a:buChar char="Ø"/>
            </a:pPr>
            <a:r>
              <a:rPr lang="es-ES" sz="3200" dirty="0"/>
              <a:t>Documentación </a:t>
            </a:r>
            <a:r>
              <a:rPr lang="es-ES" sz="3200" dirty="0" smtClean="0"/>
              <a:t>Flexible</a:t>
            </a:r>
          </a:p>
          <a:p>
            <a:pPr lvl="1">
              <a:buFont typeface="Wingdings" pitchFamily="2" charset="2"/>
              <a:buChar char="Ø"/>
            </a:pPr>
            <a:r>
              <a:rPr lang="es-ES" sz="3200" dirty="0"/>
              <a:t>Gestión de Riesgos</a:t>
            </a:r>
            <a:endParaRPr lang="es-ES" sz="3200" dirty="0" smtClean="0"/>
          </a:p>
          <a:p>
            <a:pPr lvl="1">
              <a:buFont typeface="Wingdings" pitchFamily="2" charset="2"/>
              <a:buChar char="Ø"/>
            </a:pPr>
            <a:endParaRPr lang="es-ES" sz="3600" dirty="0" smtClean="0"/>
          </a:p>
          <a:p>
            <a:pPr lvl="1">
              <a:buFont typeface="Wingdings" pitchFamily="2" charset="2"/>
              <a:buChar char="Ø"/>
            </a:pPr>
            <a:endParaRPr lang="es-ES" sz="3600" dirty="0" smtClean="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pic>
        <p:nvPicPr>
          <p:cNvPr id="5" name="4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2022" y="2027582"/>
            <a:ext cx="6173102" cy="3339547"/>
          </a:xfrm>
          <a:prstGeom prst="rect">
            <a:avLst/>
          </a:prstGeom>
        </p:spPr>
      </p:pic>
    </p:spTree>
    <p:extLst>
      <p:ext uri="{BB962C8B-B14F-4D97-AF65-F5344CB8AC3E}">
        <p14:creationId xmlns:p14="http://schemas.microsoft.com/office/powerpoint/2010/main" val="26987825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775252"/>
            <a:ext cx="10058400" cy="874644"/>
          </a:xfrm>
        </p:spPr>
        <p:txBody>
          <a:bodyPr>
            <a:normAutofit/>
          </a:bodyPr>
          <a:lstStyle/>
          <a:p>
            <a:pPr algn="ctr"/>
            <a:r>
              <a:rPr lang="en-US" dirty="0" smtClean="0"/>
              <a:t>RUP: </a:t>
            </a:r>
            <a:r>
              <a:rPr lang="en-US" dirty="0" err="1" smtClean="0"/>
              <a:t>Fases</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sp>
        <p:nvSpPr>
          <p:cNvPr id="4" name="3 Marcador de contenido"/>
          <p:cNvSpPr>
            <a:spLocks noGrp="1"/>
          </p:cNvSpPr>
          <p:nvPr>
            <p:ph idx="1"/>
          </p:nvPr>
        </p:nvSpPr>
        <p:spPr/>
        <p:txBody>
          <a:bodyPr/>
          <a:lstStyle/>
          <a:p>
            <a:endParaRPr lang="es-ES"/>
          </a:p>
        </p:txBody>
      </p:sp>
      <p:pic>
        <p:nvPicPr>
          <p:cNvPr id="8" name="Picture 3" descr="Hito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33399" y="1522413"/>
            <a:ext cx="11115261" cy="4725987"/>
          </a:xfrm>
          <a:prstGeom prst="rect">
            <a:avLst/>
          </a:prstGeom>
        </p:spPr>
      </p:pic>
      <p:pic>
        <p:nvPicPr>
          <p:cNvPr id="7" name="6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01029" y="378309"/>
            <a:ext cx="2427445" cy="1313208"/>
          </a:xfrm>
          <a:prstGeom prst="rect">
            <a:avLst/>
          </a:prstGeom>
        </p:spPr>
      </p:pic>
    </p:spTree>
    <p:extLst>
      <p:ext uri="{BB962C8B-B14F-4D97-AF65-F5344CB8AC3E}">
        <p14:creationId xmlns:p14="http://schemas.microsoft.com/office/powerpoint/2010/main" val="11048733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775252"/>
            <a:ext cx="10058400" cy="874644"/>
          </a:xfrm>
        </p:spPr>
        <p:txBody>
          <a:bodyPr>
            <a:normAutofit/>
          </a:bodyPr>
          <a:lstStyle/>
          <a:p>
            <a:pPr algn="ctr"/>
            <a:r>
              <a:rPr lang="en-US" dirty="0" smtClean="0"/>
              <a:t>RUP: </a:t>
            </a:r>
            <a:r>
              <a:rPr lang="en-US" dirty="0" err="1" smtClean="0"/>
              <a:t>Ejemplo</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 dirty="0"/>
              <a:t>Metodología</a:t>
            </a:r>
          </a:p>
        </p:txBody>
      </p:sp>
      <p:sp>
        <p:nvSpPr>
          <p:cNvPr id="4" name="3 Marcador de contenido"/>
          <p:cNvSpPr>
            <a:spLocks noGrp="1"/>
          </p:cNvSpPr>
          <p:nvPr>
            <p:ph idx="1"/>
          </p:nvPr>
        </p:nvSpPr>
        <p:spPr/>
        <p:txBody>
          <a:bodyPr/>
          <a:lstStyle/>
          <a:p>
            <a:endParaRPr lang="es-ES" dirty="0"/>
          </a:p>
        </p:txBody>
      </p:sp>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399" y="1828800"/>
            <a:ext cx="8110331" cy="3878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2569" y="3767931"/>
            <a:ext cx="2984321" cy="220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7 Image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300" y="298174"/>
            <a:ext cx="2427445" cy="1313208"/>
          </a:xfrm>
          <a:prstGeom prst="rect">
            <a:avLst/>
          </a:prstGeom>
        </p:spPr>
      </p:pic>
    </p:spTree>
    <p:extLst>
      <p:ext uri="{BB962C8B-B14F-4D97-AF65-F5344CB8AC3E}">
        <p14:creationId xmlns:p14="http://schemas.microsoft.com/office/powerpoint/2010/main" val="16364765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775252"/>
            <a:ext cx="10058400" cy="874644"/>
          </a:xfrm>
        </p:spPr>
        <p:txBody>
          <a:bodyPr>
            <a:normAutofit/>
          </a:bodyPr>
          <a:lstStyle/>
          <a:p>
            <a:pPr algn="ctr"/>
            <a:r>
              <a:rPr lang="en-US" dirty="0" smtClean="0"/>
              <a:t>RUP: </a:t>
            </a:r>
            <a:r>
              <a:rPr lang="es-ES" dirty="0" smtClean="0"/>
              <a:t>Ventajas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1097280" y="1845733"/>
            <a:ext cx="11094720" cy="3521397"/>
          </a:xfrm>
        </p:spPr>
        <p:txBody>
          <a:bodyPr>
            <a:noAutofit/>
          </a:bodyPr>
          <a:lstStyle/>
          <a:p>
            <a:pPr lvl="1">
              <a:buFont typeface="Wingdings" pitchFamily="2" charset="2"/>
              <a:buChar char="Ø"/>
            </a:pPr>
            <a:r>
              <a:rPr lang="es-ES" sz="3200" dirty="0" smtClean="0"/>
              <a:t>Aporta </a:t>
            </a:r>
            <a:r>
              <a:rPr lang="es-ES" sz="3200" dirty="0"/>
              <a:t>una estructura bastante completa e informativa de </a:t>
            </a:r>
            <a:r>
              <a:rPr lang="es-ES" sz="3200" dirty="0" smtClean="0"/>
              <a:t>organización</a:t>
            </a:r>
          </a:p>
          <a:p>
            <a:pPr lvl="1">
              <a:buFont typeface="Wingdings" pitchFamily="2" charset="2"/>
              <a:buChar char="Ø"/>
            </a:pPr>
            <a:endParaRPr lang="es-ES" sz="3200" dirty="0" smtClean="0"/>
          </a:p>
          <a:p>
            <a:pPr lvl="1">
              <a:buFont typeface="Wingdings" pitchFamily="2" charset="2"/>
              <a:buChar char="Ø"/>
            </a:pPr>
            <a:r>
              <a:rPr lang="es-ES" sz="3200" dirty="0"/>
              <a:t>Varios de sus esquemas, como el </a:t>
            </a:r>
            <a:r>
              <a:rPr lang="es-ES" sz="3200" dirty="0" err="1"/>
              <a:t>workflow</a:t>
            </a:r>
            <a:r>
              <a:rPr lang="es-ES" sz="3200" dirty="0"/>
              <a:t>, son muy buenos para indicar al equipo que</a:t>
            </a:r>
            <a:r>
              <a:rPr lang="es-ES" sz="3200" dirty="0" smtClean="0"/>
              <a:t>, cómo </a:t>
            </a:r>
            <a:r>
              <a:rPr lang="es-ES" sz="3200" dirty="0"/>
              <a:t>y cuando desarrollar secciones del proyecto.</a:t>
            </a:r>
          </a:p>
          <a:p>
            <a:pPr lvl="1">
              <a:buFont typeface="Wingdings" pitchFamily="2" charset="2"/>
              <a:buChar char="Ø"/>
            </a:pPr>
            <a:endParaRPr lang="es-ES" sz="32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pic>
        <p:nvPicPr>
          <p:cNvPr id="5" name="4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300" y="298174"/>
            <a:ext cx="2427445" cy="1313208"/>
          </a:xfrm>
          <a:prstGeom prst="rect">
            <a:avLst/>
          </a:prstGeom>
        </p:spPr>
      </p:pic>
    </p:spTree>
    <p:extLst>
      <p:ext uri="{BB962C8B-B14F-4D97-AF65-F5344CB8AC3E}">
        <p14:creationId xmlns:p14="http://schemas.microsoft.com/office/powerpoint/2010/main" val="283422703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775252"/>
            <a:ext cx="10058400" cy="874644"/>
          </a:xfrm>
        </p:spPr>
        <p:txBody>
          <a:bodyPr>
            <a:normAutofit/>
          </a:bodyPr>
          <a:lstStyle/>
          <a:p>
            <a:pPr algn="ctr"/>
            <a:r>
              <a:rPr lang="en-US" dirty="0" smtClean="0"/>
              <a:t>RUP: </a:t>
            </a:r>
            <a:r>
              <a:rPr lang="es-ES" dirty="0" smtClean="0"/>
              <a:t>Ventajas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1097280" y="1845733"/>
            <a:ext cx="11094720" cy="3958719"/>
          </a:xfrm>
        </p:spPr>
        <p:txBody>
          <a:bodyPr>
            <a:noAutofit/>
          </a:bodyPr>
          <a:lstStyle/>
          <a:p>
            <a:pPr lvl="1">
              <a:buFont typeface="Wingdings" pitchFamily="2" charset="2"/>
              <a:buChar char="Ø"/>
            </a:pPr>
            <a:r>
              <a:rPr lang="es-ES" sz="3200" dirty="0"/>
              <a:t>El diseño de ciclo de vida del producto es bueno para organizar el tiempo que se dedica </a:t>
            </a:r>
            <a:r>
              <a:rPr lang="es-ES" sz="3200" dirty="0" smtClean="0"/>
              <a:t>a cada </a:t>
            </a:r>
            <a:r>
              <a:rPr lang="es-ES" sz="3200" dirty="0"/>
              <a:t>fracción del proyecto.</a:t>
            </a:r>
          </a:p>
          <a:p>
            <a:pPr lvl="1">
              <a:buFont typeface="Wingdings" pitchFamily="2" charset="2"/>
              <a:buChar char="Ø"/>
            </a:pPr>
            <a:r>
              <a:rPr lang="es-ES" sz="3200" dirty="0" smtClean="0"/>
              <a:t>El </a:t>
            </a:r>
            <a:r>
              <a:rPr lang="es-ES" sz="3200" dirty="0"/>
              <a:t>plan o diagramas de estado, son buenos para indicar al cliente que es lo que se va a hacer y cómo, permitiendo el intercambio fácil de ideas con este.</a:t>
            </a:r>
          </a:p>
          <a:p>
            <a:pPr lvl="1">
              <a:buFont typeface="Wingdings" pitchFamily="2" charset="2"/>
              <a:buChar char="Ø"/>
            </a:pPr>
            <a:r>
              <a:rPr lang="es-ES" sz="3200" dirty="0"/>
              <a:t>El diseño de roles tiene una fuerte capacidad organizativa.</a:t>
            </a:r>
          </a:p>
          <a:p>
            <a:pPr lvl="1">
              <a:buFont typeface="Wingdings" pitchFamily="2" charset="2"/>
              <a:buChar char="Ø"/>
            </a:pPr>
            <a:endParaRPr lang="es-ES" sz="3200" dirty="0"/>
          </a:p>
          <a:p>
            <a:pPr lvl="1">
              <a:buFont typeface="Wingdings" pitchFamily="2" charset="2"/>
              <a:buChar char="Ø"/>
            </a:pPr>
            <a:endParaRPr lang="es-ES" sz="32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pic>
        <p:nvPicPr>
          <p:cNvPr id="5" name="4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300" y="298174"/>
            <a:ext cx="2427445" cy="1313208"/>
          </a:xfrm>
          <a:prstGeom prst="rect">
            <a:avLst/>
          </a:prstGeom>
        </p:spPr>
      </p:pic>
    </p:spTree>
    <p:extLst>
      <p:ext uri="{BB962C8B-B14F-4D97-AF65-F5344CB8AC3E}">
        <p14:creationId xmlns:p14="http://schemas.microsoft.com/office/powerpoint/2010/main" val="5587651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775252"/>
            <a:ext cx="10058400" cy="874644"/>
          </a:xfrm>
        </p:spPr>
        <p:txBody>
          <a:bodyPr>
            <a:normAutofit/>
          </a:bodyPr>
          <a:lstStyle/>
          <a:p>
            <a:pPr algn="ctr"/>
            <a:r>
              <a:rPr lang="en-US" dirty="0" smtClean="0"/>
              <a:t>RUP: Des</a:t>
            </a:r>
            <a:r>
              <a:rPr lang="es-ES" dirty="0" smtClean="0"/>
              <a:t>ventajas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1097280" y="1845733"/>
            <a:ext cx="11094720" cy="4773727"/>
          </a:xfrm>
        </p:spPr>
        <p:txBody>
          <a:bodyPr>
            <a:noAutofit/>
          </a:bodyPr>
          <a:lstStyle/>
          <a:p>
            <a:pPr lvl="1">
              <a:buFont typeface="Wingdings" pitchFamily="2" charset="2"/>
              <a:buChar char="Ø"/>
            </a:pPr>
            <a:r>
              <a:rPr lang="es-ES" sz="3200" dirty="0"/>
              <a:t>Es algo compleja de entender, dado la gran cantidad de componentes que posee.</a:t>
            </a:r>
          </a:p>
          <a:p>
            <a:pPr lvl="1">
              <a:buFont typeface="Wingdings" pitchFamily="2" charset="2"/>
              <a:buChar char="Ø"/>
            </a:pPr>
            <a:r>
              <a:rPr lang="es-ES" sz="3200" dirty="0"/>
              <a:t>Cuando son </a:t>
            </a:r>
            <a:r>
              <a:rPr lang="es-ES" sz="3200" dirty="0" smtClean="0"/>
              <a:t>añadidos </a:t>
            </a:r>
            <a:r>
              <a:rPr lang="es-ES" sz="3200" dirty="0"/>
              <a:t>nuevos requerimientos, o cambian algunos de los existentes, </a:t>
            </a:r>
            <a:r>
              <a:rPr lang="es-ES" sz="3200" dirty="0" smtClean="0"/>
              <a:t>es necesario rediseñar </a:t>
            </a:r>
            <a:r>
              <a:rPr lang="es-ES" sz="3200" dirty="0"/>
              <a:t>varias partes del modelo.</a:t>
            </a:r>
          </a:p>
          <a:p>
            <a:pPr lvl="1">
              <a:buFont typeface="Wingdings" pitchFamily="2" charset="2"/>
              <a:buChar char="Ø"/>
            </a:pPr>
            <a:r>
              <a:rPr lang="es-ES" sz="3200" dirty="0"/>
              <a:t>Debe modelarse según los requerimientos y tamaño del proyecto: un enfoque </a:t>
            </a:r>
            <a:r>
              <a:rPr lang="es-ES" sz="3200" dirty="0" smtClean="0"/>
              <a:t>demasiado pesado </a:t>
            </a:r>
            <a:r>
              <a:rPr lang="es-ES" sz="3200" dirty="0"/>
              <a:t>para un proyecto pequeño, o muy ligero para un proyecto pesado, puede </a:t>
            </a:r>
            <a:r>
              <a:rPr lang="es-ES" sz="3200" dirty="0" smtClean="0"/>
              <a:t>ser contraproducente</a:t>
            </a:r>
            <a:r>
              <a:rPr lang="es-ES" sz="3200" dirty="0"/>
              <a:t>.</a:t>
            </a:r>
          </a:p>
          <a:p>
            <a:pPr lvl="1">
              <a:buFont typeface="Wingdings" pitchFamily="2" charset="2"/>
              <a:buChar char="Ø"/>
            </a:pPr>
            <a:endParaRPr lang="es-ES" sz="3200" dirty="0"/>
          </a:p>
          <a:p>
            <a:pPr lvl="1">
              <a:buFont typeface="Wingdings" pitchFamily="2" charset="2"/>
              <a:buChar char="Ø"/>
            </a:pPr>
            <a:endParaRPr lang="es-ES" sz="32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pic>
        <p:nvPicPr>
          <p:cNvPr id="5" name="4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300" y="298174"/>
            <a:ext cx="2427445" cy="1313208"/>
          </a:xfrm>
          <a:prstGeom prst="rect">
            <a:avLst/>
          </a:prstGeom>
        </p:spPr>
      </p:pic>
    </p:spTree>
    <p:extLst>
      <p:ext uri="{BB962C8B-B14F-4D97-AF65-F5344CB8AC3E}">
        <p14:creationId xmlns:p14="http://schemas.microsoft.com/office/powerpoint/2010/main" val="257990581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775252"/>
            <a:ext cx="10058400" cy="874644"/>
          </a:xfrm>
        </p:spPr>
        <p:txBody>
          <a:bodyPr>
            <a:normAutofit/>
          </a:bodyPr>
          <a:lstStyle/>
          <a:p>
            <a:pPr algn="ctr"/>
            <a:r>
              <a:rPr lang="en-US" dirty="0" smtClean="0"/>
              <a:t>RUP: Des</a:t>
            </a:r>
            <a:r>
              <a:rPr lang="es-ES" dirty="0" smtClean="0"/>
              <a:t>ventajas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1097280" y="1845733"/>
            <a:ext cx="11094720" cy="4773727"/>
          </a:xfrm>
        </p:spPr>
        <p:txBody>
          <a:bodyPr>
            <a:noAutofit/>
          </a:bodyPr>
          <a:lstStyle/>
          <a:p>
            <a:pPr lvl="1">
              <a:buFont typeface="Wingdings" pitchFamily="2" charset="2"/>
              <a:buChar char="Ø"/>
            </a:pPr>
            <a:r>
              <a:rPr lang="es-ES" sz="3200" dirty="0"/>
              <a:t>Asume que el proyecto no cambiará demasiado a lo largo del desarrollo, y que por tanto </a:t>
            </a:r>
            <a:r>
              <a:rPr lang="es-ES" sz="3200" dirty="0" smtClean="0"/>
              <a:t>el plan </a:t>
            </a:r>
            <a:r>
              <a:rPr lang="es-ES" sz="3200" dirty="0"/>
              <a:t>y modelo diseñados al inicio se llevarán a cabo casi como están: un cambio brusco </a:t>
            </a:r>
            <a:r>
              <a:rPr lang="es-ES" sz="3200" dirty="0" smtClean="0"/>
              <a:t>en pleno </a:t>
            </a:r>
            <a:r>
              <a:rPr lang="es-ES" sz="3200" dirty="0"/>
              <a:t>desarrollo puede llevar a la necesidad de diseñar el modelo completo </a:t>
            </a:r>
            <a:r>
              <a:rPr lang="es-ES" sz="3200" dirty="0" smtClean="0"/>
              <a:t>nuevamente dado </a:t>
            </a:r>
            <a:r>
              <a:rPr lang="es-ES" sz="3200" dirty="0"/>
              <a:t>que RUP es algo resistente a los cambios.</a:t>
            </a:r>
          </a:p>
          <a:p>
            <a:pPr lvl="1">
              <a:buFont typeface="Wingdings" pitchFamily="2" charset="2"/>
              <a:buChar char="Ø"/>
            </a:pPr>
            <a:endParaRPr lang="es-ES" sz="3200" dirty="0"/>
          </a:p>
          <a:p>
            <a:pPr lvl="1">
              <a:buFont typeface="Wingdings" pitchFamily="2" charset="2"/>
              <a:buChar char="Ø"/>
            </a:pPr>
            <a:endParaRPr lang="es-ES" sz="32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pic>
        <p:nvPicPr>
          <p:cNvPr id="5" name="4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300" y="298174"/>
            <a:ext cx="2427445" cy="1313208"/>
          </a:xfrm>
          <a:prstGeom prst="rect">
            <a:avLst/>
          </a:prstGeom>
        </p:spPr>
      </p:pic>
    </p:spTree>
    <p:extLst>
      <p:ext uri="{BB962C8B-B14F-4D97-AF65-F5344CB8AC3E}">
        <p14:creationId xmlns:p14="http://schemas.microsoft.com/office/powerpoint/2010/main" val="2780844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39147" y="357809"/>
            <a:ext cx="11847443" cy="1292087"/>
          </a:xfrm>
        </p:spPr>
        <p:txBody>
          <a:bodyPr>
            <a:normAutofit fontScale="90000"/>
          </a:bodyPr>
          <a:lstStyle/>
          <a:p>
            <a:pPr algn="ctr"/>
            <a:r>
              <a:rPr lang="es-ES_tradnl" dirty="0"/>
              <a:t>¿</a:t>
            </a:r>
            <a:r>
              <a:rPr lang="es-ES" dirty="0"/>
              <a:t>Cuáles son algunas empresas reales que han aplicado metodologías </a:t>
            </a:r>
            <a:r>
              <a:rPr lang="es-ES" dirty="0" smtClean="0"/>
              <a:t>pesadas en </a:t>
            </a:r>
            <a:r>
              <a:rPr lang="es-ES" dirty="0"/>
              <a:t>el desarrollo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pic>
        <p:nvPicPr>
          <p:cNvPr id="4" name="3 Marcador de contenido"/>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730750" y="3038475"/>
            <a:ext cx="2790825" cy="1638300"/>
          </a:xfrm>
        </p:spPr>
      </p:pic>
      <p:pic>
        <p:nvPicPr>
          <p:cNvPr id="5" name="4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56994" y="2109762"/>
            <a:ext cx="2143125" cy="2143125"/>
          </a:xfrm>
          <a:prstGeom prst="rect">
            <a:avLst/>
          </a:prstGeom>
        </p:spPr>
      </p:pic>
      <p:pic>
        <p:nvPicPr>
          <p:cNvPr id="7" name="6 Image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29625" y="4606879"/>
            <a:ext cx="3762375" cy="1209675"/>
          </a:xfrm>
          <a:prstGeom prst="rect">
            <a:avLst/>
          </a:prstGeom>
        </p:spPr>
      </p:pic>
      <p:pic>
        <p:nvPicPr>
          <p:cNvPr id="9" name="8 Imagen"/>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37858" y="3841979"/>
            <a:ext cx="2143125" cy="2143125"/>
          </a:xfrm>
          <a:prstGeom prst="rect">
            <a:avLst/>
          </a:prstGeom>
        </p:spPr>
      </p:pic>
      <p:pic>
        <p:nvPicPr>
          <p:cNvPr id="10" name="9 Imagen"/>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75980" y="1921492"/>
            <a:ext cx="4076700" cy="1123950"/>
          </a:xfrm>
          <a:prstGeom prst="rect">
            <a:avLst/>
          </a:prstGeom>
        </p:spPr>
      </p:pic>
      <p:pic>
        <p:nvPicPr>
          <p:cNvPr id="11" name="10 Imagen"/>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63898" y="2020553"/>
            <a:ext cx="3543300" cy="1295400"/>
          </a:xfrm>
          <a:prstGeom prst="rect">
            <a:avLst/>
          </a:prstGeom>
        </p:spPr>
      </p:pic>
      <p:pic>
        <p:nvPicPr>
          <p:cNvPr id="12" name="11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3143" y="4346804"/>
            <a:ext cx="2790825" cy="1638300"/>
          </a:xfrm>
          <a:prstGeom prst="rect">
            <a:avLst/>
          </a:prstGeom>
        </p:spPr>
      </p:pic>
    </p:spTree>
    <p:extLst>
      <p:ext uri="{BB962C8B-B14F-4D97-AF65-F5344CB8AC3E}">
        <p14:creationId xmlns:p14="http://schemas.microsoft.com/office/powerpoint/2010/main" val="6623939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775252"/>
            <a:ext cx="10058400" cy="874644"/>
          </a:xfrm>
        </p:spPr>
        <p:txBody>
          <a:bodyPr>
            <a:normAutofit/>
          </a:bodyPr>
          <a:lstStyle/>
          <a:p>
            <a:pPr algn="ctr"/>
            <a:r>
              <a:rPr lang="en-US" altLang="es-ES" dirty="0">
                <a:solidFill>
                  <a:srgbClr val="7B9899"/>
                </a:solidFill>
              </a:rPr>
              <a:t>¿</a:t>
            </a:r>
            <a:r>
              <a:rPr lang="es-ES" altLang="es-ES" dirty="0">
                <a:solidFill>
                  <a:srgbClr val="7B9899"/>
                </a:solidFill>
              </a:rPr>
              <a:t>Por qué algo Nuevo (Ágil)?</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773727"/>
          </a:xfrm>
        </p:spPr>
        <p:txBody>
          <a:bodyPr>
            <a:noAutofit/>
          </a:bodyPr>
          <a:lstStyle/>
          <a:p>
            <a:pPr lvl="1">
              <a:buFont typeface="Wingdings" pitchFamily="2" charset="2"/>
              <a:buChar char="Ø"/>
            </a:pPr>
            <a:r>
              <a:rPr lang="es-ES" sz="2800" dirty="0"/>
              <a:t>Durante los 90 varios desarrolladores encuentran algunas metodologías pesadas, frustrantes y difíciles de seguir (por no decir todas</a:t>
            </a:r>
            <a:r>
              <a:rPr lang="es-ES" sz="2800" dirty="0" smtClean="0"/>
              <a:t>!)</a:t>
            </a:r>
          </a:p>
          <a:p>
            <a:pPr lvl="1">
              <a:buFont typeface="Wingdings" pitchFamily="2" charset="2"/>
              <a:buChar char="Ø"/>
            </a:pPr>
            <a:r>
              <a:rPr lang="es-ES" sz="2800" dirty="0" smtClean="0"/>
              <a:t>Excesiva documentación que a veces incluso no es útil</a:t>
            </a:r>
          </a:p>
          <a:p>
            <a:pPr lvl="1">
              <a:buFont typeface="Wingdings" pitchFamily="2" charset="2"/>
              <a:buChar char="Ø"/>
            </a:pPr>
            <a:r>
              <a:rPr lang="es-ES" sz="2800" dirty="0" smtClean="0"/>
              <a:t>La </a:t>
            </a:r>
            <a:r>
              <a:rPr lang="es-ES" sz="2800" dirty="0"/>
              <a:t>lentitud de desarrollo </a:t>
            </a:r>
            <a:endParaRPr lang="es-ES" sz="2800" dirty="0" smtClean="0"/>
          </a:p>
          <a:p>
            <a:pPr lvl="1">
              <a:buFont typeface="Wingdings" pitchFamily="2" charset="2"/>
              <a:buChar char="Ø"/>
            </a:pPr>
            <a:r>
              <a:rPr lang="es-ES" sz="2800" dirty="0" smtClean="0"/>
              <a:t>Es necesario conocer desde el inicio que desea el cliente</a:t>
            </a:r>
          </a:p>
          <a:p>
            <a:pPr lvl="1">
              <a:buFont typeface="Wingdings" pitchFamily="2" charset="2"/>
              <a:buChar char="Ø"/>
            </a:pPr>
            <a:r>
              <a:rPr lang="es-ES" sz="2800" dirty="0" smtClean="0"/>
              <a:t>Las </a:t>
            </a:r>
            <a:r>
              <a:rPr lang="es-ES" sz="2800" dirty="0"/>
              <a:t>metodologías basadas en la planeación total desde el principio tienen dificultades manejando los </a:t>
            </a:r>
            <a:r>
              <a:rPr lang="es-ES" sz="2800" dirty="0" smtClean="0"/>
              <a:t>cambios</a:t>
            </a:r>
          </a:p>
          <a:p>
            <a:pPr lvl="1">
              <a:buFont typeface="Wingdings" pitchFamily="2" charset="2"/>
              <a:buChar char="Ø"/>
            </a:pPr>
            <a:r>
              <a:rPr lang="es-ES" sz="2800" dirty="0" smtClean="0"/>
              <a:t>Se establecen mecanismos de control para el proyecto que a veces dan sensación de inflexibilidad a posibles cambios y que de hacerlo incrementaría los costes</a:t>
            </a:r>
          </a:p>
          <a:p>
            <a:pPr lvl="1">
              <a:buFont typeface="Wingdings" pitchFamily="2" charset="2"/>
              <a:buChar char="Ø"/>
            </a:pPr>
            <a:endParaRPr lang="es-ES" sz="3200" dirty="0"/>
          </a:p>
          <a:p>
            <a:pPr lvl="1">
              <a:buFont typeface="Wingdings" pitchFamily="2" charset="2"/>
              <a:buChar char="Ø"/>
            </a:pPr>
            <a:endParaRPr lang="es-ES" sz="3200" dirty="0"/>
          </a:p>
          <a:p>
            <a:pPr lvl="1">
              <a:buFont typeface="Wingdings" pitchFamily="2" charset="2"/>
              <a:buChar char="Ø"/>
            </a:pPr>
            <a:endParaRPr lang="es-ES" sz="32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6883946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775252"/>
            <a:ext cx="10058400" cy="874644"/>
          </a:xfrm>
        </p:spPr>
        <p:txBody>
          <a:bodyPr>
            <a:normAutofit/>
          </a:bodyPr>
          <a:lstStyle/>
          <a:p>
            <a:pPr algn="ctr"/>
            <a:r>
              <a:rPr lang="en-US" dirty="0" smtClean="0"/>
              <a:t>¿</a:t>
            </a:r>
            <a:r>
              <a:rPr lang="es-ES" dirty="0" smtClean="0"/>
              <a:t>Revolución Ágil</a:t>
            </a:r>
            <a:r>
              <a:rPr lang="en-US" dirty="0" smtClean="0"/>
              <a:t>? </a:t>
            </a:r>
            <a:r>
              <a:rPr lang="en-US" dirty="0"/>
              <a:t>…</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773727"/>
          </a:xfrm>
        </p:spPr>
        <p:txBody>
          <a:bodyPr>
            <a:noAutofit/>
          </a:bodyPr>
          <a:lstStyle/>
          <a:p>
            <a:pPr lvl="1">
              <a:buFont typeface="Wingdings" pitchFamily="2" charset="2"/>
              <a:buChar char="Ø"/>
            </a:pPr>
            <a:r>
              <a:rPr lang="es-ES" sz="3200" dirty="0"/>
              <a:t>Una posible interpretación sociológica del movimiento ágil </a:t>
            </a:r>
            <a:r>
              <a:rPr lang="es-ES" sz="3200" dirty="0" smtClean="0"/>
              <a:t>es: </a:t>
            </a:r>
            <a:endParaRPr lang="es-ES" sz="3200" dirty="0"/>
          </a:p>
          <a:p>
            <a:pPr marL="201168" lvl="1" indent="0" algn="ctr">
              <a:buNone/>
            </a:pPr>
            <a:r>
              <a:rPr lang="es-ES" sz="3200" b="1" dirty="0"/>
              <a:t>"la revuelta de los cubículos"</a:t>
            </a:r>
          </a:p>
          <a:p>
            <a:pPr lvl="1">
              <a:buFont typeface="Wingdings" pitchFamily="2" charset="2"/>
              <a:buChar char="Ø"/>
            </a:pPr>
            <a:endParaRPr lang="es-ES" sz="3200" dirty="0"/>
          </a:p>
          <a:p>
            <a:pPr lvl="1">
              <a:buFont typeface="Wingdings" pitchFamily="2" charset="2"/>
              <a:buChar char="Ø"/>
            </a:pPr>
            <a:r>
              <a:rPr lang="es-ES" sz="3200" dirty="0"/>
              <a:t>=&gt;  rechazo a las técnicas de dirección rígidas, de arriba hacia abajo para la gestión de proyectos</a:t>
            </a:r>
          </a:p>
          <a:p>
            <a:pPr lvl="1">
              <a:buFont typeface="Wingdings" pitchFamily="2" charset="2"/>
              <a:buChar char="Ø"/>
            </a:pPr>
            <a:endParaRPr lang="es-ES" sz="3200" dirty="0" smtClean="0"/>
          </a:p>
          <a:p>
            <a:pPr lvl="1">
              <a:buFont typeface="Wingdings" pitchFamily="2" charset="2"/>
              <a:buChar char="Ø"/>
            </a:pPr>
            <a:endParaRPr lang="es-ES" sz="3200" dirty="0"/>
          </a:p>
          <a:p>
            <a:pPr lvl="1">
              <a:buFont typeface="Wingdings" pitchFamily="2" charset="2"/>
              <a:buChar char="Ø"/>
            </a:pPr>
            <a:endParaRPr lang="es-ES" sz="32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38041852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775252"/>
            <a:ext cx="10058400" cy="874644"/>
          </a:xfrm>
        </p:spPr>
        <p:txBody>
          <a:bodyPr>
            <a:normAutofit/>
          </a:bodyPr>
          <a:lstStyle/>
          <a:p>
            <a:pPr algn="ctr"/>
            <a:r>
              <a:rPr lang="en-US" dirty="0"/>
              <a:t>¿</a:t>
            </a:r>
            <a:r>
              <a:rPr lang="en-US" dirty="0" err="1"/>
              <a:t>Revolución</a:t>
            </a:r>
            <a:r>
              <a:rPr lang="en-US" dirty="0"/>
              <a:t> </a:t>
            </a:r>
            <a:r>
              <a:rPr lang="en-US" dirty="0" err="1"/>
              <a:t>Ágil</a:t>
            </a:r>
            <a:r>
              <a:rPr lang="en-US" dirty="0"/>
              <a:t>?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773727"/>
          </a:xfrm>
        </p:spPr>
        <p:txBody>
          <a:bodyPr>
            <a:noAutofit/>
          </a:bodyPr>
          <a:lstStyle/>
          <a:p>
            <a:pPr lvl="1">
              <a:buFont typeface="Wingdings" pitchFamily="2" charset="2"/>
              <a:buChar char="Ø"/>
            </a:pPr>
            <a:r>
              <a:rPr lang="es-ES" sz="3200" dirty="0" smtClean="0"/>
              <a:t>Meyer: </a:t>
            </a:r>
            <a:r>
              <a:rPr lang="es-ES" sz="3200" i="1" dirty="0"/>
              <a:t>"Los programadores en las trincheras - los cubículos - a menudo resienten estos intentos que tanto ignoran la naturaleza específica del desarrollo de software. Ese tipo de jefe parece desconocer (aunque lo saben, pero viven de eso) que los documentos y diagramas no hacen un sistema: EL CÓDIGO lo hace</a:t>
            </a:r>
            <a:r>
              <a:rPr lang="es-ES" sz="3200" i="1" dirty="0" smtClean="0"/>
              <a:t>.” </a:t>
            </a:r>
            <a:endParaRPr lang="es-ES" sz="3200" i="1" dirty="0"/>
          </a:p>
          <a:p>
            <a:pPr lvl="1">
              <a:buFont typeface="Wingdings" pitchFamily="2" charset="2"/>
              <a:buChar char="Ø"/>
            </a:pPr>
            <a:endParaRPr lang="es-ES" sz="3200" dirty="0"/>
          </a:p>
          <a:p>
            <a:pPr lvl="1">
              <a:buFont typeface="Wingdings" pitchFamily="2" charset="2"/>
              <a:buChar char="Ø"/>
            </a:pPr>
            <a:r>
              <a:rPr lang="es-ES" sz="3200" dirty="0"/>
              <a:t>Los métodos ágiles son, en parte</a:t>
            </a:r>
            <a:r>
              <a:rPr lang="es-ES" sz="3200" dirty="0">
                <a:solidFill>
                  <a:srgbClr val="FF0000"/>
                </a:solidFill>
              </a:rPr>
              <a:t>, </a:t>
            </a:r>
            <a:r>
              <a:rPr lang="es-ES" sz="3200" b="1" dirty="0" smtClean="0">
                <a:solidFill>
                  <a:srgbClr val="FF0000"/>
                </a:solidFill>
              </a:rPr>
              <a:t>LA </a:t>
            </a:r>
            <a:r>
              <a:rPr lang="es-ES" sz="3200" b="1" dirty="0">
                <a:solidFill>
                  <a:srgbClr val="FF0000"/>
                </a:solidFill>
              </a:rPr>
              <a:t>REHABILITACIÓN DE CÓDIGO</a:t>
            </a:r>
            <a:r>
              <a:rPr lang="es-ES" sz="3200" dirty="0"/>
              <a:t>!</a:t>
            </a:r>
          </a:p>
          <a:p>
            <a:pPr lvl="1">
              <a:buFont typeface="Wingdings" pitchFamily="2" charset="2"/>
              <a:buChar char="Ø"/>
            </a:pPr>
            <a:endParaRPr lang="es-ES" sz="3200" dirty="0" smtClean="0"/>
          </a:p>
          <a:p>
            <a:pPr lvl="1">
              <a:buFont typeface="Wingdings" pitchFamily="2" charset="2"/>
              <a:buChar char="Ø"/>
            </a:pPr>
            <a:endParaRPr lang="es-ES" sz="3200" dirty="0"/>
          </a:p>
          <a:p>
            <a:pPr lvl="1">
              <a:buFont typeface="Wingdings" pitchFamily="2" charset="2"/>
              <a:buChar char="Ø"/>
            </a:pPr>
            <a:endParaRPr lang="es-ES" sz="32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281772680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775252"/>
            <a:ext cx="10058400" cy="874644"/>
          </a:xfrm>
        </p:spPr>
        <p:txBody>
          <a:bodyPr>
            <a:normAutofit/>
          </a:bodyPr>
          <a:lstStyle/>
          <a:p>
            <a:pPr algn="ctr"/>
            <a:r>
              <a:rPr lang="en-US" dirty="0" smtClean="0"/>
              <a:t>Origen</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773727"/>
          </a:xfrm>
        </p:spPr>
        <p:txBody>
          <a:bodyPr>
            <a:noAutofit/>
          </a:bodyPr>
          <a:lstStyle/>
          <a:p>
            <a:pPr lvl="1">
              <a:buFont typeface="Wingdings" pitchFamily="2" charset="2"/>
              <a:buChar char="Ø"/>
            </a:pPr>
            <a:r>
              <a:rPr lang="es-ES" sz="3200" dirty="0"/>
              <a:t>En el año 2001, un grupo de desarrolladores se reunieron y adoptaron el nombre de "metodologías ágiles“, promulgando lo que llamaron el “Manifiesto del Software </a:t>
            </a:r>
            <a:r>
              <a:rPr lang="es-ES" sz="3200" dirty="0" err="1"/>
              <a:t>Agil</a:t>
            </a:r>
            <a:r>
              <a:rPr lang="es-ES" sz="3200" dirty="0"/>
              <a:t>”. </a:t>
            </a:r>
          </a:p>
          <a:p>
            <a:pPr lvl="1">
              <a:buFont typeface="Wingdings" pitchFamily="2" charset="2"/>
              <a:buChar char="Ø"/>
            </a:pPr>
            <a:endParaRPr lang="es-ES" sz="3200" dirty="0"/>
          </a:p>
          <a:p>
            <a:pPr lvl="1">
              <a:buFont typeface="Wingdings" pitchFamily="2" charset="2"/>
              <a:buChar char="Ø"/>
            </a:pPr>
            <a:r>
              <a:rPr lang="es-ES" sz="3200" dirty="0"/>
              <a:t>Poco después, algunas de estas personas formaron la "alianza ágil", una organización sin fines de lucro que promueve el desarrollo ágil de aplicaciones.</a:t>
            </a:r>
          </a:p>
          <a:p>
            <a:pPr lvl="1">
              <a:buFont typeface="Wingdings" pitchFamily="2" charset="2"/>
              <a:buChar char="Ø"/>
            </a:pPr>
            <a:endParaRPr lang="es-ES" sz="3200" dirty="0" smtClean="0"/>
          </a:p>
          <a:p>
            <a:pPr lvl="1">
              <a:buFont typeface="Wingdings" pitchFamily="2" charset="2"/>
              <a:buChar char="Ø"/>
            </a:pPr>
            <a:endParaRPr lang="es-ES" sz="3200" dirty="0"/>
          </a:p>
          <a:p>
            <a:pPr lvl="1">
              <a:buFont typeface="Wingdings" pitchFamily="2" charset="2"/>
              <a:buChar char="Ø"/>
            </a:pPr>
            <a:endParaRPr lang="es-ES" sz="32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181536915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139148"/>
            <a:ext cx="10058400" cy="1510748"/>
          </a:xfrm>
        </p:spPr>
        <p:txBody>
          <a:bodyPr>
            <a:normAutofit/>
          </a:bodyPr>
          <a:lstStyle/>
          <a:p>
            <a:pPr algn="ctr"/>
            <a:r>
              <a:rPr lang="es-ES" dirty="0"/>
              <a:t>Manifiesto para el desarrollo de software </a:t>
            </a:r>
            <a:r>
              <a:rPr lang="es-ES" dirty="0" smtClean="0"/>
              <a:t>“Ágil”</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4"/>
            <a:ext cx="11913704" cy="4296650"/>
          </a:xfrm>
        </p:spPr>
        <p:txBody>
          <a:bodyPr>
            <a:noAutofit/>
          </a:bodyPr>
          <a:lstStyle/>
          <a:p>
            <a:pPr lvl="1">
              <a:buFont typeface="Wingdings" pitchFamily="2" charset="2"/>
              <a:buChar char="Ø"/>
            </a:pPr>
            <a:r>
              <a:rPr lang="es-ES" altLang="es-ES" sz="3200" b="1" dirty="0" smtClean="0"/>
              <a:t>Individuos </a:t>
            </a:r>
            <a:r>
              <a:rPr lang="es-ES" altLang="es-ES" sz="3200" b="1" dirty="0"/>
              <a:t>e interaccione</a:t>
            </a:r>
            <a:r>
              <a:rPr lang="es-ES" altLang="es-ES" sz="3200" dirty="0"/>
              <a:t>s mas que </a:t>
            </a:r>
            <a:r>
              <a:rPr lang="es-ES" altLang="es-ES" sz="3200" i="1" dirty="0"/>
              <a:t>procesos y herramientas</a:t>
            </a:r>
            <a:r>
              <a:rPr lang="es-ES" altLang="es-ES" sz="3200" dirty="0"/>
              <a:t>.</a:t>
            </a:r>
          </a:p>
          <a:p>
            <a:pPr lvl="2">
              <a:lnSpc>
                <a:spcPct val="150000"/>
              </a:lnSpc>
              <a:buFont typeface="Wingdings" pitchFamily="2" charset="2"/>
              <a:buChar char="ü"/>
            </a:pPr>
            <a:r>
              <a:rPr lang="es-ES" altLang="es-ES" sz="2800" dirty="0"/>
              <a:t>Procesos  como guía de </a:t>
            </a:r>
            <a:r>
              <a:rPr lang="es-ES" altLang="es-ES" sz="2800" dirty="0" smtClean="0"/>
              <a:t>operación</a:t>
            </a:r>
            <a:endParaRPr lang="es-ES" altLang="es-ES" sz="2800" dirty="0"/>
          </a:p>
          <a:p>
            <a:pPr lvl="2">
              <a:lnSpc>
                <a:spcPct val="150000"/>
              </a:lnSpc>
              <a:buFont typeface="Wingdings" pitchFamily="2" charset="2"/>
              <a:buChar char="ü"/>
            </a:pPr>
            <a:r>
              <a:rPr lang="es-ES" altLang="es-ES" sz="2800" dirty="0"/>
              <a:t>La gente es el principal factor de éxito de un proyecto software.</a:t>
            </a:r>
          </a:p>
          <a:p>
            <a:pPr lvl="2">
              <a:lnSpc>
                <a:spcPct val="150000"/>
              </a:lnSpc>
              <a:buFont typeface="Wingdings" pitchFamily="2" charset="2"/>
              <a:buChar char="ü"/>
            </a:pPr>
            <a:r>
              <a:rPr lang="es-ES" altLang="es-ES" sz="2800" dirty="0"/>
              <a:t>Las herramientas mejoran la eficiencia, pero sin personas con conocimiento técnico y actitud adecuada, no producen resultados.</a:t>
            </a:r>
          </a:p>
          <a:p>
            <a:pPr lvl="2">
              <a:lnSpc>
                <a:spcPct val="150000"/>
              </a:lnSpc>
              <a:buFont typeface="Wingdings" pitchFamily="2" charset="2"/>
              <a:buChar char="ü"/>
            </a:pPr>
            <a:r>
              <a:rPr lang="es-ES" altLang="es-ES" sz="2800" dirty="0"/>
              <a:t>Los procesos deben de  adaptarse a la organización</a:t>
            </a:r>
            <a:endParaRPr lang="es-ES" sz="2800" dirty="0" smtClean="0"/>
          </a:p>
          <a:p>
            <a:pPr lvl="1">
              <a:buFont typeface="Wingdings" pitchFamily="2" charset="2"/>
              <a:buChar char="Ø"/>
            </a:pPr>
            <a:endParaRPr lang="es-ES" sz="3200" dirty="0"/>
          </a:p>
          <a:p>
            <a:pPr lvl="1">
              <a:buFont typeface="Wingdings" pitchFamily="2" charset="2"/>
              <a:buChar char="Ø"/>
            </a:pPr>
            <a:endParaRPr lang="es-ES" sz="32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391591462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139148"/>
            <a:ext cx="10058400" cy="1510748"/>
          </a:xfrm>
        </p:spPr>
        <p:txBody>
          <a:bodyPr>
            <a:normAutofit/>
          </a:bodyPr>
          <a:lstStyle/>
          <a:p>
            <a:pPr algn="ctr"/>
            <a:r>
              <a:rPr lang="es-ES" dirty="0"/>
              <a:t>Manifiesto para el desarrollo de software </a:t>
            </a:r>
            <a:r>
              <a:rPr lang="es-ES" dirty="0" smtClean="0"/>
              <a:t>“Ágil”</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773727"/>
          </a:xfrm>
        </p:spPr>
        <p:txBody>
          <a:bodyPr>
            <a:noAutofit/>
          </a:bodyPr>
          <a:lstStyle/>
          <a:p>
            <a:pPr lvl="1">
              <a:buFont typeface="Wingdings" pitchFamily="2" charset="2"/>
              <a:buChar char="Ø"/>
            </a:pPr>
            <a:r>
              <a:rPr lang="es-ES" sz="3200" b="1" dirty="0"/>
              <a:t>Sistemas funcionando </a:t>
            </a:r>
            <a:r>
              <a:rPr lang="es-ES" sz="3200" dirty="0"/>
              <a:t>antes que </a:t>
            </a:r>
            <a:r>
              <a:rPr lang="es-ES" sz="3200" i="1" dirty="0"/>
              <a:t>documentación detallada</a:t>
            </a:r>
          </a:p>
          <a:p>
            <a:pPr lvl="2">
              <a:buFont typeface="Wingdings" pitchFamily="2" charset="2"/>
              <a:buChar char="ü"/>
            </a:pPr>
            <a:r>
              <a:rPr lang="es-ES" sz="2800" dirty="0"/>
              <a:t>Los documentos son soporte del </a:t>
            </a:r>
            <a:r>
              <a:rPr lang="es-ES" sz="2800" dirty="0" smtClean="0"/>
              <a:t>software</a:t>
            </a:r>
          </a:p>
          <a:p>
            <a:pPr lvl="2">
              <a:buFont typeface="Wingdings" pitchFamily="2" charset="2"/>
              <a:buChar char="ü"/>
            </a:pPr>
            <a:r>
              <a:rPr lang="es-ES" sz="2800" dirty="0" smtClean="0"/>
              <a:t>No </a:t>
            </a:r>
            <a:r>
              <a:rPr lang="es-ES" sz="2800" dirty="0"/>
              <a:t>producir documentos a menos que sean necesarios de forma inmediata para tomar un decisión importante</a:t>
            </a:r>
          </a:p>
          <a:p>
            <a:pPr lvl="2">
              <a:buFont typeface="Wingdings" pitchFamily="2" charset="2"/>
              <a:buChar char="ü"/>
            </a:pPr>
            <a:r>
              <a:rPr lang="es-ES" sz="2800" dirty="0"/>
              <a:t>Estos documentos deben ser cortos y centrarse en lo fundamental.</a:t>
            </a:r>
          </a:p>
          <a:p>
            <a:pPr lvl="2">
              <a:buFont typeface="Wingdings" pitchFamily="2" charset="2"/>
              <a:buChar char="ü"/>
            </a:pPr>
            <a:r>
              <a:rPr lang="es-ES" sz="2800" dirty="0"/>
              <a:t>Los documentos no pueden sustituir, ni pueden ofrecer la riqueza y generación de valor que se logra con la comunicación directa entre las personas y a través de la interacción con los prototipos</a:t>
            </a:r>
          </a:p>
          <a:p>
            <a:pPr lvl="1">
              <a:buFont typeface="Wingdings" pitchFamily="2" charset="2"/>
              <a:buChar char="Ø"/>
            </a:pPr>
            <a:endParaRPr lang="es-ES" sz="3200" dirty="0"/>
          </a:p>
          <a:p>
            <a:pPr lvl="1">
              <a:buFont typeface="Wingdings" pitchFamily="2" charset="2"/>
              <a:buChar char="Ø"/>
            </a:pPr>
            <a:endParaRPr lang="es-ES" sz="32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416797615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139148"/>
            <a:ext cx="10058400" cy="1510748"/>
          </a:xfrm>
        </p:spPr>
        <p:txBody>
          <a:bodyPr>
            <a:normAutofit/>
          </a:bodyPr>
          <a:lstStyle/>
          <a:p>
            <a:pPr algn="ctr"/>
            <a:r>
              <a:rPr lang="es-ES" dirty="0"/>
              <a:t>Manifiesto para el desarrollo de software </a:t>
            </a:r>
            <a:r>
              <a:rPr lang="es-ES" dirty="0" smtClean="0"/>
              <a:t>“Ágil”</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709531"/>
            <a:ext cx="11913704" cy="4909930"/>
          </a:xfrm>
        </p:spPr>
        <p:txBody>
          <a:bodyPr>
            <a:noAutofit/>
          </a:bodyPr>
          <a:lstStyle/>
          <a:p>
            <a:pPr lvl="1">
              <a:buFont typeface="Wingdings" pitchFamily="2" charset="2"/>
              <a:buChar char="Ø"/>
            </a:pPr>
            <a:r>
              <a:rPr lang="es-ES" sz="3200" b="1" dirty="0"/>
              <a:t>Colaboración con el cliente </a:t>
            </a:r>
            <a:r>
              <a:rPr lang="es-ES" sz="3200" dirty="0"/>
              <a:t>antes que </a:t>
            </a:r>
            <a:r>
              <a:rPr lang="es-ES" sz="3200" i="1" dirty="0"/>
              <a:t>negociación de contrato</a:t>
            </a:r>
          </a:p>
          <a:p>
            <a:pPr lvl="2">
              <a:lnSpc>
                <a:spcPct val="100000"/>
              </a:lnSpc>
              <a:buFont typeface="Wingdings" pitchFamily="2" charset="2"/>
              <a:buChar char="ü"/>
            </a:pPr>
            <a:r>
              <a:rPr lang="es-ES" sz="2800" dirty="0"/>
              <a:t>Las prácticas ágiles están especialmente indicadas para productos difíciles de definir con detalle en el principio</a:t>
            </a:r>
          </a:p>
          <a:p>
            <a:pPr lvl="2">
              <a:lnSpc>
                <a:spcPct val="100000"/>
              </a:lnSpc>
              <a:buFont typeface="Wingdings" pitchFamily="2" charset="2"/>
              <a:buChar char="ü"/>
            </a:pPr>
            <a:r>
              <a:rPr lang="es-ES" sz="2800" dirty="0"/>
              <a:t>Para el desarrollo ágil el valor del resultado no es consecuencia de haber controlado una ejecución conforme a procesos, sino de haber sido implementado directamente sobre el producto</a:t>
            </a:r>
          </a:p>
          <a:p>
            <a:pPr lvl="2">
              <a:lnSpc>
                <a:spcPct val="100000"/>
              </a:lnSpc>
              <a:buFont typeface="Wingdings" pitchFamily="2" charset="2"/>
              <a:buChar char="ü"/>
            </a:pPr>
            <a:r>
              <a:rPr lang="es-ES" sz="2800" dirty="0" smtClean="0"/>
              <a:t>En </a:t>
            </a:r>
            <a:r>
              <a:rPr lang="es-ES" sz="2800" dirty="0"/>
              <a:t>el desarrollo ágil el cliente es un miembro más del equipo, que se integra y colabora en el grupo de trabajo</a:t>
            </a:r>
          </a:p>
          <a:p>
            <a:pPr lvl="1">
              <a:buFont typeface="Wingdings" pitchFamily="2" charset="2"/>
              <a:buChar char="Ø"/>
            </a:pPr>
            <a:endParaRPr lang="es-ES" sz="3200" dirty="0"/>
          </a:p>
          <a:p>
            <a:pPr lvl="1">
              <a:buFont typeface="Wingdings" pitchFamily="2" charset="2"/>
              <a:buChar char="Ø"/>
            </a:pPr>
            <a:endParaRPr lang="es-ES" sz="32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27745641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139148"/>
            <a:ext cx="10058400" cy="1510748"/>
          </a:xfrm>
        </p:spPr>
        <p:txBody>
          <a:bodyPr>
            <a:normAutofit/>
          </a:bodyPr>
          <a:lstStyle/>
          <a:p>
            <a:pPr algn="ctr"/>
            <a:r>
              <a:rPr lang="es-ES" dirty="0"/>
              <a:t>Manifiesto para el desarrollo de software </a:t>
            </a:r>
            <a:r>
              <a:rPr lang="es-ES" dirty="0" smtClean="0"/>
              <a:t>“Ágil”</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709531"/>
            <a:ext cx="11913704" cy="4909930"/>
          </a:xfrm>
        </p:spPr>
        <p:txBody>
          <a:bodyPr>
            <a:noAutofit/>
          </a:bodyPr>
          <a:lstStyle/>
          <a:p>
            <a:pPr lvl="1">
              <a:buFont typeface="Wingdings" pitchFamily="2" charset="2"/>
              <a:buChar char="Ø"/>
            </a:pPr>
            <a:r>
              <a:rPr lang="es-ES" sz="3200" b="1" dirty="0"/>
              <a:t>Responder al cambio </a:t>
            </a:r>
            <a:r>
              <a:rPr lang="es-ES" sz="3200" dirty="0"/>
              <a:t>antes que </a:t>
            </a:r>
            <a:r>
              <a:rPr lang="es-ES" sz="3200" i="1" dirty="0"/>
              <a:t>seguir el plan</a:t>
            </a:r>
          </a:p>
          <a:p>
            <a:pPr lvl="2">
              <a:buFont typeface="Wingdings" pitchFamily="2" charset="2"/>
              <a:buChar char="ü"/>
            </a:pPr>
            <a:r>
              <a:rPr lang="es-ES" sz="2800" dirty="0"/>
              <a:t>La habilidad de responder a los cambios que puedan surgir a los largo del proyecto (cambios en los requisitos, en la tecnología, en el equipo, etc.) determina también el éxito o fracaso del mismo</a:t>
            </a:r>
          </a:p>
          <a:p>
            <a:pPr lvl="2">
              <a:buFont typeface="Wingdings" pitchFamily="2" charset="2"/>
              <a:buChar char="ü"/>
            </a:pPr>
            <a:r>
              <a:rPr lang="es-ES" sz="2800" dirty="0"/>
              <a:t>La planificación no debe ser estricta sino flexible y abierta</a:t>
            </a:r>
          </a:p>
          <a:p>
            <a:pPr lvl="2">
              <a:buFont typeface="Wingdings" pitchFamily="2" charset="2"/>
              <a:buChar char="ü"/>
            </a:pPr>
            <a:r>
              <a:rPr lang="es-ES" sz="2800" dirty="0"/>
              <a:t>Los principales valores de la gestión ágil son la anticipación y la adaptación</a:t>
            </a:r>
          </a:p>
          <a:p>
            <a:pPr lvl="1">
              <a:buFont typeface="Wingdings" pitchFamily="2" charset="2"/>
              <a:buChar char="Ø"/>
            </a:pPr>
            <a:endParaRPr lang="es-ES" sz="3200" dirty="0"/>
          </a:p>
          <a:p>
            <a:pPr lvl="1">
              <a:buFont typeface="Wingdings" pitchFamily="2" charset="2"/>
              <a:buChar char="Ø"/>
            </a:pPr>
            <a:endParaRPr lang="es-ES" sz="32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202241294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fontScale="90000"/>
          </a:bodyPr>
          <a:lstStyle/>
          <a:p>
            <a:pPr algn="ctr"/>
            <a:r>
              <a:rPr lang="es-ES_tradnl" dirty="0"/>
              <a:t>¿</a:t>
            </a:r>
            <a:r>
              <a:rPr lang="es-ES" dirty="0"/>
              <a:t>Cuáles</a:t>
            </a:r>
            <a:r>
              <a:rPr lang="es-ES" dirty="0" smtClean="0"/>
              <a:t> </a:t>
            </a:r>
            <a:r>
              <a:rPr lang="es-ES" dirty="0"/>
              <a:t>son los principios que rigen las </a:t>
            </a:r>
            <a:r>
              <a:rPr lang="es-ES" dirty="0" smtClean="0"/>
              <a:t>metodologías </a:t>
            </a:r>
            <a:r>
              <a:rPr lang="es-ES" dirty="0"/>
              <a:t>agiles?</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4"/>
            <a:ext cx="11913704" cy="4038232"/>
          </a:xfrm>
        </p:spPr>
        <p:txBody>
          <a:bodyPr>
            <a:noAutofit/>
          </a:bodyPr>
          <a:lstStyle/>
          <a:p>
            <a:pPr lvl="1">
              <a:buFont typeface="Wingdings" pitchFamily="2" charset="2"/>
              <a:buChar char="Ø"/>
            </a:pPr>
            <a:r>
              <a:rPr lang="es-ES" sz="3200" dirty="0"/>
              <a:t>La prioridad es satisfacer al cliente </a:t>
            </a:r>
            <a:endParaRPr lang="es-ES" sz="3200" dirty="0" smtClean="0"/>
          </a:p>
          <a:p>
            <a:pPr lvl="1">
              <a:buFont typeface="Wingdings" pitchFamily="2" charset="2"/>
              <a:buChar char="Ø"/>
            </a:pPr>
            <a:r>
              <a:rPr lang="es-ES" sz="3200" dirty="0" smtClean="0"/>
              <a:t>Cambios en </a:t>
            </a:r>
            <a:r>
              <a:rPr lang="es-ES" sz="3200" dirty="0"/>
              <a:t>los </a:t>
            </a:r>
            <a:r>
              <a:rPr lang="es-ES" sz="3200" dirty="0" smtClean="0"/>
              <a:t>requerimientos</a:t>
            </a:r>
            <a:endParaRPr lang="es-ES" sz="3200" dirty="0"/>
          </a:p>
          <a:p>
            <a:pPr lvl="1">
              <a:buFont typeface="Wingdings" pitchFamily="2" charset="2"/>
              <a:buChar char="Ø"/>
            </a:pPr>
            <a:r>
              <a:rPr lang="es-ES" sz="3200" dirty="0"/>
              <a:t>Entregas frecuentes y </a:t>
            </a:r>
            <a:r>
              <a:rPr lang="es-ES" sz="3200" dirty="0" smtClean="0"/>
              <a:t>tempranas</a:t>
            </a:r>
          </a:p>
          <a:p>
            <a:pPr lvl="1">
              <a:buFont typeface="Wingdings" pitchFamily="2" charset="2"/>
              <a:buChar char="Ø"/>
            </a:pPr>
            <a:r>
              <a:rPr lang="es-ES" sz="3200" dirty="0"/>
              <a:t>Clientes involucrados </a:t>
            </a:r>
          </a:p>
          <a:p>
            <a:pPr lvl="1">
              <a:buFont typeface="Wingdings" pitchFamily="2" charset="2"/>
              <a:buChar char="Ø"/>
            </a:pPr>
            <a:r>
              <a:rPr lang="es-ES" sz="3200" dirty="0"/>
              <a:t> Gente comprometida </a:t>
            </a:r>
          </a:p>
          <a:p>
            <a:pPr lvl="1">
              <a:buFont typeface="Wingdings" pitchFamily="2" charset="2"/>
              <a:buChar char="Ø"/>
            </a:pPr>
            <a:r>
              <a:rPr lang="es-ES" sz="3200" dirty="0"/>
              <a:t>Los documentos son el soporte de las conversaciones</a:t>
            </a:r>
          </a:p>
          <a:p>
            <a:pPr lvl="1">
              <a:buFont typeface="Wingdings" pitchFamily="2" charset="2"/>
              <a:buChar char="Ø"/>
            </a:pPr>
            <a:endParaRPr lang="es-ES" sz="3200" dirty="0"/>
          </a:p>
          <a:p>
            <a:pPr lvl="1">
              <a:buFont typeface="Wingdings" pitchFamily="2" charset="2"/>
              <a:buChar char="Ø"/>
            </a:pPr>
            <a:endParaRPr lang="es-ES" sz="3200" dirty="0" smtClean="0"/>
          </a:p>
          <a:p>
            <a:pPr lvl="1">
              <a:buFont typeface="Wingdings" pitchFamily="2" charset="2"/>
              <a:buChar char="Ø"/>
            </a:pPr>
            <a:endParaRPr lang="es-ES" sz="32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226781386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fontScale="90000"/>
          </a:bodyPr>
          <a:lstStyle/>
          <a:p>
            <a:pPr algn="ctr"/>
            <a:r>
              <a:rPr lang="es-ES_tradnl" dirty="0"/>
              <a:t>¿</a:t>
            </a:r>
            <a:r>
              <a:rPr lang="es-ES" dirty="0"/>
              <a:t>Cuáles</a:t>
            </a:r>
            <a:r>
              <a:rPr lang="es-ES" dirty="0" smtClean="0"/>
              <a:t> </a:t>
            </a:r>
            <a:r>
              <a:rPr lang="es-ES" dirty="0"/>
              <a:t>son los principios que rigen las </a:t>
            </a:r>
            <a:r>
              <a:rPr lang="es-ES" dirty="0" smtClean="0"/>
              <a:t>metodologías </a:t>
            </a:r>
            <a:r>
              <a:rPr lang="es-ES" dirty="0"/>
              <a:t>agiles?</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4"/>
            <a:ext cx="11913704" cy="4038232"/>
          </a:xfrm>
        </p:spPr>
        <p:txBody>
          <a:bodyPr>
            <a:noAutofit/>
          </a:bodyPr>
          <a:lstStyle/>
          <a:p>
            <a:pPr lvl="1">
              <a:buFont typeface="Wingdings" pitchFamily="2" charset="2"/>
              <a:buChar char="Ø"/>
            </a:pPr>
            <a:r>
              <a:rPr lang="es-ES" sz="3200" dirty="0" smtClean="0"/>
              <a:t>El </a:t>
            </a:r>
            <a:r>
              <a:rPr lang="es-ES" sz="3200" dirty="0"/>
              <a:t>software operando </a:t>
            </a:r>
            <a:endParaRPr lang="es-ES" sz="3200" dirty="0" smtClean="0"/>
          </a:p>
          <a:p>
            <a:pPr lvl="1">
              <a:buFont typeface="Wingdings" pitchFamily="2" charset="2"/>
              <a:buChar char="Ø"/>
            </a:pPr>
            <a:r>
              <a:rPr lang="es-ES" sz="3200" dirty="0" smtClean="0"/>
              <a:t>Los </a:t>
            </a:r>
            <a:r>
              <a:rPr lang="es-ES" sz="3200" dirty="0"/>
              <a:t>procesos ágiles promueven desarrollo sostenido. </a:t>
            </a:r>
            <a:endParaRPr lang="es-ES" sz="3200" dirty="0" smtClean="0"/>
          </a:p>
          <a:p>
            <a:pPr lvl="1">
              <a:buFont typeface="Wingdings" pitchFamily="2" charset="2"/>
              <a:buChar char="Ø"/>
            </a:pPr>
            <a:r>
              <a:rPr lang="es-ES" sz="3200" dirty="0" smtClean="0"/>
              <a:t>La </a:t>
            </a:r>
            <a:r>
              <a:rPr lang="es-ES" sz="3200" dirty="0"/>
              <a:t>atención continua a la excelencia técnica y buen </a:t>
            </a:r>
            <a:r>
              <a:rPr lang="es-ES" sz="3200" dirty="0" smtClean="0"/>
              <a:t>diseño</a:t>
            </a:r>
          </a:p>
          <a:p>
            <a:pPr lvl="1">
              <a:buFont typeface="Wingdings" pitchFamily="2" charset="2"/>
              <a:buChar char="Ø"/>
            </a:pPr>
            <a:r>
              <a:rPr lang="es-ES" sz="3200" dirty="0"/>
              <a:t>Es esencial la simplicidad</a:t>
            </a:r>
          </a:p>
          <a:p>
            <a:pPr lvl="1">
              <a:buFont typeface="Wingdings" pitchFamily="2" charset="2"/>
              <a:buChar char="Ø"/>
            </a:pPr>
            <a:r>
              <a:rPr lang="es-ES" sz="3200" dirty="0" smtClean="0"/>
              <a:t>Grupos </a:t>
            </a:r>
            <a:r>
              <a:rPr lang="es-ES" sz="3200" dirty="0"/>
              <a:t>auto </a:t>
            </a:r>
            <a:r>
              <a:rPr lang="es-ES" sz="3200" dirty="0" smtClean="0"/>
              <a:t>organizados</a:t>
            </a:r>
          </a:p>
          <a:p>
            <a:pPr lvl="1">
              <a:buFont typeface="Wingdings" pitchFamily="2" charset="2"/>
              <a:buChar char="Ø"/>
            </a:pPr>
            <a:r>
              <a:rPr lang="es-ES" sz="3200" dirty="0" smtClean="0"/>
              <a:t>Promover la colaboración   </a:t>
            </a:r>
            <a:endParaRPr lang="es-ES" sz="3200" dirty="0"/>
          </a:p>
          <a:p>
            <a:pPr lvl="1">
              <a:buFont typeface="Wingdings" pitchFamily="2" charset="2"/>
              <a:buChar char="Ø"/>
            </a:pPr>
            <a:endParaRPr lang="es-ES" sz="3200" dirty="0"/>
          </a:p>
          <a:p>
            <a:pPr lvl="1">
              <a:buFont typeface="Wingdings" pitchFamily="2" charset="2"/>
              <a:buChar char="Ø"/>
            </a:pPr>
            <a:endParaRPr lang="es-ES" sz="32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142996656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fontScale="90000"/>
          </a:bodyPr>
          <a:lstStyle/>
          <a:p>
            <a:pPr algn="ctr"/>
            <a:r>
              <a:rPr lang="es-ES_tradnl" dirty="0"/>
              <a:t>¿</a:t>
            </a:r>
            <a:r>
              <a:rPr lang="es-ES" dirty="0"/>
              <a:t>Cuáles</a:t>
            </a:r>
            <a:r>
              <a:rPr lang="es-ES" dirty="0" smtClean="0"/>
              <a:t> </a:t>
            </a:r>
            <a:r>
              <a:rPr lang="es-ES" dirty="0"/>
              <a:t>son </a:t>
            </a:r>
            <a:r>
              <a:rPr lang="es-ES" dirty="0" smtClean="0"/>
              <a:t>las características </a:t>
            </a:r>
            <a:r>
              <a:rPr lang="es-ES" dirty="0"/>
              <a:t>de procesos </a:t>
            </a:r>
            <a:r>
              <a:rPr lang="es-ES" dirty="0" smtClean="0"/>
              <a:t>ágiles?</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4"/>
            <a:ext cx="11913704" cy="4038232"/>
          </a:xfrm>
        </p:spPr>
        <p:txBody>
          <a:bodyPr>
            <a:noAutofit/>
          </a:bodyPr>
          <a:lstStyle/>
          <a:p>
            <a:pPr lvl="1">
              <a:lnSpc>
                <a:spcPct val="150000"/>
              </a:lnSpc>
              <a:buFont typeface="Wingdings" pitchFamily="2" charset="2"/>
              <a:buChar char="Ø"/>
            </a:pPr>
            <a:r>
              <a:rPr lang="es-ES" sz="3600" b="1" dirty="0"/>
              <a:t>Iterativo</a:t>
            </a:r>
          </a:p>
          <a:p>
            <a:pPr lvl="1">
              <a:lnSpc>
                <a:spcPct val="150000"/>
              </a:lnSpc>
              <a:buFont typeface="Wingdings" pitchFamily="2" charset="2"/>
              <a:buChar char="Ø"/>
            </a:pPr>
            <a:r>
              <a:rPr lang="en-US" altLang="es-ES" sz="3600" b="1" dirty="0" smtClean="0"/>
              <a:t>Incremental</a:t>
            </a:r>
          </a:p>
          <a:p>
            <a:pPr lvl="1">
              <a:lnSpc>
                <a:spcPct val="150000"/>
              </a:lnSpc>
              <a:buFont typeface="Wingdings" pitchFamily="2" charset="2"/>
              <a:buChar char="Ø"/>
            </a:pPr>
            <a:r>
              <a:rPr lang="en-US" altLang="es-ES" sz="3600" b="1" dirty="0"/>
              <a:t>Auto </a:t>
            </a:r>
            <a:r>
              <a:rPr lang="en-US" altLang="es-ES" sz="3600" b="1" dirty="0" err="1" smtClean="0"/>
              <a:t>organizado</a:t>
            </a:r>
            <a:endParaRPr lang="en-US" altLang="es-ES" sz="3600" b="1" dirty="0" smtClean="0"/>
          </a:p>
          <a:p>
            <a:pPr lvl="1">
              <a:lnSpc>
                <a:spcPct val="150000"/>
              </a:lnSpc>
              <a:buFont typeface="Wingdings" pitchFamily="2" charset="2"/>
              <a:buChar char="Ø"/>
            </a:pPr>
            <a:r>
              <a:rPr lang="en-US" altLang="es-ES" sz="3600" b="1" dirty="0" err="1"/>
              <a:t>Emergente</a:t>
            </a:r>
            <a:endParaRPr lang="en-US" altLang="es-ES" sz="3600" b="1" dirty="0"/>
          </a:p>
          <a:p>
            <a:pPr lvl="1">
              <a:buFont typeface="Wingdings" pitchFamily="2" charset="2"/>
              <a:buChar char="Ø"/>
            </a:pPr>
            <a:endParaRPr lang="en-US" altLang="es-ES" sz="3200" b="1" dirty="0"/>
          </a:p>
          <a:p>
            <a:pPr lvl="1">
              <a:buFont typeface="Wingdings" pitchFamily="2" charset="2"/>
              <a:buChar char="Ø"/>
            </a:pPr>
            <a:endParaRPr lang="es-ES" sz="32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242730399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a:bodyPr>
          <a:lstStyle/>
          <a:p>
            <a:pPr algn="ctr"/>
            <a:r>
              <a:rPr lang="es-ES_tradnl" dirty="0" smtClean="0"/>
              <a:t>¿Cuándo </a:t>
            </a:r>
            <a:r>
              <a:rPr lang="es-ES_tradnl" dirty="0"/>
              <a:t>es aplicable?</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4"/>
            <a:ext cx="11913704" cy="4038232"/>
          </a:xfrm>
        </p:spPr>
        <p:txBody>
          <a:bodyPr>
            <a:noAutofit/>
          </a:bodyPr>
          <a:lstStyle/>
          <a:p>
            <a:pPr lvl="1">
              <a:buFont typeface="Wingdings" pitchFamily="2" charset="2"/>
              <a:buChar char="Ø"/>
            </a:pPr>
            <a:r>
              <a:rPr lang="es-ES" sz="3600" b="1" dirty="0"/>
              <a:t>Tamaño del proyecto</a:t>
            </a:r>
          </a:p>
          <a:p>
            <a:pPr lvl="2">
              <a:buFont typeface="Wingdings" pitchFamily="2" charset="2"/>
              <a:buChar char="ü"/>
            </a:pPr>
            <a:r>
              <a:rPr lang="es-ES" sz="3200" dirty="0"/>
              <a:t>Es el factor más importante para determinar si es aplicable. Hay bastantes experiencias hasta 12 personas en el equipo de desarrollo. Algunos casos alrededor de 25. Pocos llegan a 100.</a:t>
            </a:r>
          </a:p>
          <a:p>
            <a:pPr lvl="2">
              <a:buFont typeface="Wingdings" pitchFamily="2" charset="2"/>
              <a:buChar char="ü"/>
            </a:pPr>
            <a:endParaRPr lang="es-ES" sz="3200" dirty="0"/>
          </a:p>
          <a:p>
            <a:pPr lvl="2">
              <a:buFont typeface="Wingdings" pitchFamily="2" charset="2"/>
              <a:buChar char="ü"/>
            </a:pPr>
            <a:r>
              <a:rPr lang="es-ES" sz="3200" dirty="0"/>
              <a:t>La percepción general es que cuando crece el grupo las dificultades de comunicación cara a cara son grandes, se requieren técnicas adicionales como partir los grupos</a:t>
            </a:r>
            <a:r>
              <a:rPr lang="es-ES" sz="3200" b="1" dirty="0"/>
              <a:t>.</a:t>
            </a:r>
          </a:p>
          <a:p>
            <a:pPr lvl="1">
              <a:buFont typeface="Wingdings" pitchFamily="2" charset="2"/>
              <a:buChar char="Ø"/>
            </a:pPr>
            <a:endParaRPr lang="en-US" altLang="es-ES" sz="3200" b="1" dirty="0"/>
          </a:p>
          <a:p>
            <a:pPr lvl="1">
              <a:buFont typeface="Wingdings" pitchFamily="2" charset="2"/>
              <a:buChar char="Ø"/>
            </a:pPr>
            <a:endParaRPr lang="es-ES" sz="3200" dirty="0"/>
          </a:p>
          <a:p>
            <a:pPr lvl="1">
              <a:buFont typeface="Wingdings" pitchFamily="2" charset="2"/>
              <a:buChar char="Ø"/>
            </a:pPr>
            <a:endParaRPr lang="es-ES" sz="3600" dirty="0"/>
          </a:p>
          <a:p>
            <a:pPr lvl="1">
              <a:buFont typeface="Wingdings" pitchFamily="2" charset="2"/>
              <a:buChar char="Ø"/>
            </a:pPr>
            <a:endParaRPr lang="es-ES" sz="36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93456486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a:bodyPr>
          <a:lstStyle/>
          <a:p>
            <a:pPr algn="ctr"/>
            <a:r>
              <a:rPr lang="es-ES_tradnl" dirty="0" smtClean="0"/>
              <a:t>¿Cuándo </a:t>
            </a:r>
            <a:r>
              <a:rPr lang="es-ES_tradnl" dirty="0"/>
              <a:t>es aplicable?</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594823"/>
          </a:xfrm>
        </p:spPr>
        <p:txBody>
          <a:bodyPr>
            <a:noAutofit/>
          </a:bodyPr>
          <a:lstStyle/>
          <a:p>
            <a:pPr lvl="1">
              <a:buFont typeface="Wingdings" pitchFamily="2" charset="2"/>
              <a:buChar char="Ø"/>
            </a:pPr>
            <a:r>
              <a:rPr lang="es-ES" sz="3600" b="1" dirty="0"/>
              <a:t>Personal</a:t>
            </a:r>
          </a:p>
          <a:p>
            <a:pPr lvl="2">
              <a:buFont typeface="Wingdings" pitchFamily="2" charset="2"/>
              <a:buChar char="ü"/>
            </a:pPr>
            <a:r>
              <a:rPr lang="es-ES" sz="2800" dirty="0"/>
              <a:t>El mayor debate está alrededor del hecho de que métodos ágiles requieren de gente especialmente buena, y ésta produce resultados con cualquier metodología</a:t>
            </a:r>
          </a:p>
          <a:p>
            <a:pPr lvl="2">
              <a:buFont typeface="Wingdings" pitchFamily="2" charset="2"/>
              <a:buChar char="ü"/>
            </a:pPr>
            <a:r>
              <a:rPr lang="es-ES" sz="2800" dirty="0"/>
              <a:t>Hay consenso en la necesidad de 25% a 33% de personas competentes y experimentadas.</a:t>
            </a:r>
          </a:p>
          <a:p>
            <a:pPr lvl="2">
              <a:buFont typeface="Wingdings" pitchFamily="2" charset="2"/>
              <a:buChar char="ü"/>
            </a:pPr>
            <a:r>
              <a:rPr lang="es-ES" sz="2800" dirty="0"/>
              <a:t>	</a:t>
            </a:r>
            <a:r>
              <a:rPr lang="es-ES" sz="2800" dirty="0" smtClean="0"/>
              <a:t>Definición </a:t>
            </a:r>
            <a:r>
              <a:rPr lang="es-ES" sz="2800" dirty="0"/>
              <a:t>de competente:</a:t>
            </a:r>
          </a:p>
          <a:p>
            <a:pPr lvl="4">
              <a:buFont typeface="Wingdings" pitchFamily="2" charset="2"/>
              <a:buChar char="q"/>
            </a:pPr>
            <a:r>
              <a:rPr lang="es-ES" sz="2800" dirty="0"/>
              <a:t>Experiencia en el mundo real en la tecnología.</a:t>
            </a:r>
          </a:p>
          <a:p>
            <a:pPr lvl="4">
              <a:buFont typeface="Wingdings" pitchFamily="2" charset="2"/>
              <a:buChar char="q"/>
            </a:pPr>
            <a:r>
              <a:rPr lang="es-ES" sz="2800" dirty="0"/>
              <a:t>Ha construido sistemas similares en el pasado.</a:t>
            </a:r>
          </a:p>
          <a:p>
            <a:pPr lvl="4">
              <a:buFont typeface="Wingdings" pitchFamily="2" charset="2"/>
              <a:buChar char="q"/>
            </a:pPr>
            <a:r>
              <a:rPr lang="es-ES" sz="2800" dirty="0"/>
              <a:t>Tiene habilidades de comunicación.</a:t>
            </a:r>
          </a:p>
          <a:p>
            <a:pPr lvl="1">
              <a:buFont typeface="Wingdings" pitchFamily="2" charset="2"/>
              <a:buChar char="Ø"/>
            </a:pPr>
            <a:endParaRPr lang="en-US" altLang="es-ES" sz="2800" b="1" dirty="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365939254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a:bodyPr>
          <a:lstStyle/>
          <a:p>
            <a:pPr algn="ctr"/>
            <a:r>
              <a:rPr lang="es-ES_tradnl" dirty="0" smtClean="0"/>
              <a:t>¿Cuándo </a:t>
            </a:r>
            <a:r>
              <a:rPr lang="es-ES_tradnl" dirty="0"/>
              <a:t>es aplicable?</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594823"/>
          </a:xfrm>
        </p:spPr>
        <p:txBody>
          <a:bodyPr>
            <a:noAutofit/>
          </a:bodyPr>
          <a:lstStyle/>
          <a:p>
            <a:pPr lvl="1">
              <a:buFont typeface="Wingdings" pitchFamily="2" charset="2"/>
              <a:buChar char="Ø"/>
            </a:pPr>
            <a:r>
              <a:rPr lang="es-ES" sz="3600" b="1" dirty="0"/>
              <a:t>Requerimientos de performance, confiabilidad y seguridad</a:t>
            </a:r>
          </a:p>
          <a:p>
            <a:pPr lvl="2">
              <a:buFont typeface="Wingdings" pitchFamily="2" charset="2"/>
              <a:buChar char="ü"/>
            </a:pPr>
            <a:r>
              <a:rPr lang="es-ES" sz="3200" dirty="0"/>
              <a:t>Una de las críticas más fuertes es que los métodos ágiles no son adecuados cuando el proyecto tiene requerimientos en éstos aspectos.</a:t>
            </a:r>
          </a:p>
          <a:p>
            <a:pPr lvl="2">
              <a:buFont typeface="Wingdings" pitchFamily="2" charset="2"/>
              <a:buChar char="ü"/>
            </a:pPr>
            <a:r>
              <a:rPr lang="es-ES" sz="3200" dirty="0"/>
              <a:t>Hay algún consenso en que el énfasis en las pruebas hacen que sea aplicables con exigencias de confiabilidad.</a:t>
            </a:r>
          </a:p>
          <a:p>
            <a:pPr lvl="1">
              <a:buFont typeface="Wingdings" pitchFamily="2" charset="2"/>
              <a:buChar char="Ø"/>
            </a:pPr>
            <a:endParaRPr lang="en-US" altLang="es-ES" sz="2800" b="1" dirty="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127169746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a:bodyPr>
          <a:lstStyle/>
          <a:p>
            <a:pPr algn="ctr"/>
            <a:r>
              <a:rPr lang="es-ES_tradnl" dirty="0" smtClean="0"/>
              <a:t>¿Cuándo </a:t>
            </a:r>
            <a:r>
              <a:rPr lang="es-ES_tradnl" dirty="0"/>
              <a:t>es aplicable?</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594823"/>
          </a:xfrm>
        </p:spPr>
        <p:txBody>
          <a:bodyPr>
            <a:noAutofit/>
          </a:bodyPr>
          <a:lstStyle/>
          <a:p>
            <a:pPr lvl="1">
              <a:buFont typeface="Wingdings" pitchFamily="2" charset="2"/>
              <a:buChar char="Ø"/>
            </a:pPr>
            <a:r>
              <a:rPr lang="es-ES" altLang="es-ES" sz="3600" b="1" dirty="0"/>
              <a:t>Necesidades de entrenamiento</a:t>
            </a:r>
          </a:p>
          <a:p>
            <a:pPr lvl="2">
              <a:buFont typeface="Wingdings" pitchFamily="2" charset="2"/>
              <a:buChar char="ü"/>
            </a:pPr>
            <a:r>
              <a:rPr lang="es-ES" altLang="es-ES" sz="3200" dirty="0"/>
              <a:t>La mayoría piensa que se requiere </a:t>
            </a:r>
            <a:r>
              <a:rPr lang="es-ES" altLang="es-ES" sz="3200" dirty="0" smtClean="0"/>
              <a:t>menos  entrenamiento </a:t>
            </a:r>
            <a:r>
              <a:rPr lang="es-ES" altLang="es-ES" sz="3200" dirty="0"/>
              <a:t>que con metodologías tradicionales.</a:t>
            </a:r>
          </a:p>
          <a:p>
            <a:pPr lvl="2">
              <a:buFont typeface="Wingdings" pitchFamily="2" charset="2"/>
              <a:buChar char="ü"/>
            </a:pPr>
            <a:r>
              <a:rPr lang="es-ES" altLang="es-ES" sz="3200" dirty="0"/>
              <a:t>Por ejemplo la programación por pares facilita el entrenamiento de uno a otro. Algunos se han auto-entrenado satisfactoriamente.</a:t>
            </a:r>
          </a:p>
          <a:p>
            <a:pPr lvl="1">
              <a:buFont typeface="Wingdings" pitchFamily="2" charset="2"/>
              <a:buChar char="Ø"/>
            </a:pPr>
            <a:endParaRPr lang="en-US" altLang="es-ES" sz="2800" b="1" dirty="0" smtClean="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88275763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fontScale="90000"/>
          </a:bodyPr>
          <a:lstStyle/>
          <a:p>
            <a:pPr algn="ctr"/>
            <a:r>
              <a:rPr lang="es-ES_tradnl" dirty="0"/>
              <a:t>¿</a:t>
            </a:r>
            <a:r>
              <a:rPr lang="es-ES" dirty="0"/>
              <a:t>Cuáles son </a:t>
            </a:r>
            <a:r>
              <a:rPr lang="es-ES" dirty="0" smtClean="0"/>
              <a:t>algunos representantes de metodologías ágiles</a:t>
            </a:r>
            <a:r>
              <a:rPr lang="es-ES" dirty="0"/>
              <a:t>?</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594823"/>
          </a:xfrm>
        </p:spPr>
        <p:txBody>
          <a:bodyPr>
            <a:noAutofit/>
          </a:bodyPr>
          <a:lstStyle/>
          <a:p>
            <a:pPr lvl="1">
              <a:lnSpc>
                <a:spcPct val="150000"/>
              </a:lnSpc>
              <a:buFont typeface="Wingdings" pitchFamily="2" charset="2"/>
              <a:buChar char="Ø"/>
            </a:pPr>
            <a:r>
              <a:rPr lang="es-ES" altLang="es-ES" sz="2800" b="1" dirty="0"/>
              <a:t>SCRUM</a:t>
            </a:r>
            <a:r>
              <a:rPr lang="es-ES" altLang="es-ES" sz="2800" dirty="0"/>
              <a:t>: Metodología para el desarrollo de software con características ágiles, como ser iterativo e incremental, con ciclos cortos de entrega de resultados. Se organiza como una metáfora del juego de futbol rugby (</a:t>
            </a:r>
            <a:r>
              <a:rPr lang="es-ES" altLang="es-ES" sz="2800" dirty="0" err="1"/>
              <a:t>scrum</a:t>
            </a:r>
            <a:r>
              <a:rPr lang="es-ES" altLang="es-ES" sz="2800" dirty="0"/>
              <a:t> significa melé)</a:t>
            </a:r>
          </a:p>
          <a:p>
            <a:pPr lvl="1">
              <a:lnSpc>
                <a:spcPct val="150000"/>
              </a:lnSpc>
              <a:buFont typeface="Wingdings" pitchFamily="2" charset="2"/>
              <a:buChar char="Ø"/>
            </a:pPr>
            <a:r>
              <a:rPr lang="es-ES" altLang="es-ES" sz="2800" b="1" dirty="0" err="1"/>
              <a:t>Crystal</a:t>
            </a:r>
            <a:r>
              <a:rPr lang="es-ES" altLang="es-ES" sz="2800" b="1" dirty="0"/>
              <a:t> Clear</a:t>
            </a:r>
            <a:r>
              <a:rPr lang="es-ES" altLang="es-ES" sz="2800" dirty="0"/>
              <a:t>: Metodología para el desarrollo de software con características ágiles, como tener ciclos cortos de entrega de resultados, pensada para equipos muy pequeños (6-8 personas a lo sumo)</a:t>
            </a:r>
          </a:p>
          <a:p>
            <a:pPr lvl="1">
              <a:buFont typeface="Wingdings" pitchFamily="2" charset="2"/>
              <a:buChar char="Ø"/>
            </a:pPr>
            <a:endParaRPr lang="en-US" altLang="es-ES" sz="2800" b="1" dirty="0" smtClean="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21798650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fontScale="90000"/>
          </a:bodyPr>
          <a:lstStyle/>
          <a:p>
            <a:pPr algn="ctr"/>
            <a:r>
              <a:rPr lang="es-ES_tradnl" dirty="0"/>
              <a:t>¿</a:t>
            </a:r>
            <a:r>
              <a:rPr lang="es-ES" dirty="0"/>
              <a:t>Cuáles son </a:t>
            </a:r>
            <a:r>
              <a:rPr lang="es-ES" dirty="0" smtClean="0"/>
              <a:t>algunos representantes de metodologías ágiles</a:t>
            </a:r>
            <a:r>
              <a:rPr lang="es-ES" dirty="0"/>
              <a:t>?</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594823"/>
          </a:xfrm>
        </p:spPr>
        <p:txBody>
          <a:bodyPr>
            <a:noAutofit/>
          </a:bodyPr>
          <a:lstStyle/>
          <a:p>
            <a:pPr lvl="1">
              <a:buFont typeface="Wingdings" pitchFamily="2" charset="2"/>
              <a:buChar char="Ø"/>
            </a:pPr>
            <a:r>
              <a:rPr lang="es-ES" altLang="es-ES" sz="2800" b="1" dirty="0"/>
              <a:t>(</a:t>
            </a:r>
            <a:r>
              <a:rPr lang="es-ES" altLang="es-ES" sz="3200" b="1" dirty="0"/>
              <a:t>Extreme </a:t>
            </a:r>
            <a:r>
              <a:rPr lang="es-ES" altLang="es-ES" sz="3200" b="1" dirty="0" err="1"/>
              <a:t>Programing</a:t>
            </a:r>
            <a:r>
              <a:rPr lang="es-ES" altLang="es-ES" sz="3200" b="1" dirty="0"/>
              <a:t>) </a:t>
            </a:r>
            <a:r>
              <a:rPr lang="es-ES" altLang="es-ES" sz="3200" dirty="0"/>
              <a:t>se basa en realimentación continua entre el cliente y el equipo de desarrollo, comunicación fluida entre todos los participantes, simplicidad en las soluciones implementadas y coraje para enfrentar los cambios. XP se define como especialmente adecuada para proyectos con requisitos imprecisos y muy cambiantes, y donde existe un alto riesgo técnico</a:t>
            </a:r>
          </a:p>
          <a:p>
            <a:pPr lvl="1">
              <a:buFont typeface="Wingdings" pitchFamily="2" charset="2"/>
              <a:buChar char="Ø"/>
            </a:pPr>
            <a:endParaRPr lang="en-US" altLang="es-ES" sz="2800" b="1" dirty="0" smtClean="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353067759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fontScale="90000"/>
          </a:bodyPr>
          <a:lstStyle/>
          <a:p>
            <a:pPr algn="ctr"/>
            <a:r>
              <a:rPr lang="es-ES_tradnl" dirty="0"/>
              <a:t>¿</a:t>
            </a:r>
            <a:r>
              <a:rPr lang="es-ES" dirty="0"/>
              <a:t>Cuáles son </a:t>
            </a:r>
            <a:r>
              <a:rPr lang="es-ES" dirty="0" smtClean="0"/>
              <a:t>algunos representantes de metodologías ágiles</a:t>
            </a:r>
            <a:r>
              <a:rPr lang="es-ES" dirty="0"/>
              <a:t>?</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594823"/>
          </a:xfrm>
        </p:spPr>
        <p:txBody>
          <a:bodyPr>
            <a:noAutofit/>
          </a:bodyPr>
          <a:lstStyle/>
          <a:p>
            <a:pPr lvl="1">
              <a:buFont typeface="Wingdings" pitchFamily="2" charset="2"/>
              <a:buChar char="Ø"/>
            </a:pPr>
            <a:r>
              <a:rPr lang="es-ES" altLang="es-ES" sz="2800" b="1" dirty="0" smtClean="0"/>
              <a:t>(</a:t>
            </a:r>
            <a:r>
              <a:rPr lang="es-ES" altLang="es-ES" sz="3200" b="1" dirty="0"/>
              <a:t>Lean Software </a:t>
            </a:r>
            <a:r>
              <a:rPr lang="es-ES" altLang="es-ES" sz="3200" b="1" dirty="0" err="1"/>
              <a:t>Development</a:t>
            </a:r>
            <a:r>
              <a:rPr lang="es-ES" altLang="es-ES" sz="3200" b="1" dirty="0"/>
              <a:t>) </a:t>
            </a:r>
            <a:r>
              <a:rPr lang="es-ES" altLang="es-ES" sz="3200" dirty="0"/>
              <a:t>es una metodología que se inspira en los principios del Lean </a:t>
            </a:r>
            <a:r>
              <a:rPr lang="es-ES" altLang="es-ES" sz="3200" dirty="0" err="1"/>
              <a:t>Manufacturing</a:t>
            </a:r>
            <a:r>
              <a:rPr lang="es-ES" altLang="es-ES" sz="3200" dirty="0"/>
              <a:t>, aplicados al desarrollo de software. Su objetivo es maximizar el valor para el cliente minimizando el desperdicio. </a:t>
            </a:r>
            <a:r>
              <a:rPr lang="es-ES" altLang="es-ES" sz="3200" dirty="0" smtClean="0"/>
              <a:t>Puede </a:t>
            </a:r>
            <a:r>
              <a:rPr lang="es-ES" altLang="es-ES" sz="3200" dirty="0"/>
              <a:t>ser especialmente útil en entornos dinámicos donde las necesidades del cliente cambian con frecuencia.</a:t>
            </a:r>
            <a:endParaRPr lang="en-US" altLang="es-ES" sz="2800" b="1" dirty="0" smtClean="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145728511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39147" y="357809"/>
            <a:ext cx="11847443" cy="1292087"/>
          </a:xfrm>
        </p:spPr>
        <p:txBody>
          <a:bodyPr>
            <a:normAutofit fontScale="90000"/>
          </a:bodyPr>
          <a:lstStyle/>
          <a:p>
            <a:pPr algn="ctr"/>
            <a:r>
              <a:rPr lang="es-ES_tradnl" dirty="0"/>
              <a:t>¿</a:t>
            </a:r>
            <a:r>
              <a:rPr lang="es-ES" dirty="0"/>
              <a:t>Cuáles son algunas empresas reales que han aplicado metodologías ágiles en el desarrollo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594823"/>
          </a:xfrm>
        </p:spPr>
        <p:txBody>
          <a:bodyPr>
            <a:noAutofit/>
          </a:bodyPr>
          <a:lstStyle/>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2800" dirty="0" smtClean="0"/>
          </a:p>
          <a:p>
            <a:pPr lvl="1">
              <a:buFont typeface="Wingdings" pitchFamily="2" charset="2"/>
              <a:buChar char="Ø"/>
            </a:pPr>
            <a:endParaRPr lang="es-ES" sz="2800" dirty="0" smtClean="0"/>
          </a:p>
          <a:p>
            <a:pPr lvl="1">
              <a:buFont typeface="Wingdings" pitchFamily="2" charset="2"/>
              <a:buChar char="Ø"/>
            </a:pPr>
            <a:endParaRPr lang="es-ES" sz="2800" dirty="0"/>
          </a:p>
          <a:p>
            <a:pPr lvl="1">
              <a:buFont typeface="Wingdings" pitchFamily="2" charset="2"/>
              <a:buChar char="Ø"/>
            </a:pPr>
            <a:endParaRPr lang="es-ES" altLang="es-ES" sz="2800" b="1" dirty="0"/>
          </a:p>
          <a:p>
            <a:pPr lvl="1">
              <a:buFont typeface="Wingdings" pitchFamily="2" charset="2"/>
              <a:buChar char="Ø"/>
            </a:pPr>
            <a:endParaRPr lang="es-ES" altLang="es-ES" sz="2800" b="1" dirty="0" smtClean="0"/>
          </a:p>
          <a:p>
            <a:pPr lvl="1">
              <a:buFont typeface="Wingdings" pitchFamily="2" charset="2"/>
              <a:buChar char="Ø"/>
            </a:pPr>
            <a:endParaRPr lang="es-ES" altLang="es-ES" sz="2800" b="1" dirty="0" smtClean="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3375" y="2172819"/>
            <a:ext cx="3905250" cy="1171575"/>
          </a:xfrm>
          <a:prstGeom prst="rect">
            <a:avLst/>
          </a:prstGeom>
        </p:spPr>
      </p:pic>
      <p:pic>
        <p:nvPicPr>
          <p:cNvPr id="4" name="3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80878" y="3910012"/>
            <a:ext cx="2466975" cy="1847850"/>
          </a:xfrm>
          <a:prstGeom prst="rect">
            <a:avLst/>
          </a:prstGeom>
        </p:spPr>
      </p:pic>
      <p:pic>
        <p:nvPicPr>
          <p:cNvPr id="5" name="4 Image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8659" y="3540738"/>
            <a:ext cx="2543175" cy="1800225"/>
          </a:xfrm>
          <a:prstGeom prst="rect">
            <a:avLst/>
          </a:prstGeom>
        </p:spPr>
      </p:pic>
      <p:pic>
        <p:nvPicPr>
          <p:cNvPr id="7" name="6 Imagen"/>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48625" y="3938587"/>
            <a:ext cx="2552700" cy="1790700"/>
          </a:xfrm>
          <a:prstGeom prst="rect">
            <a:avLst/>
          </a:prstGeom>
        </p:spPr>
      </p:pic>
      <p:pic>
        <p:nvPicPr>
          <p:cNvPr id="9" name="8 Imagen"/>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42281" y="1819980"/>
            <a:ext cx="2143125" cy="2133600"/>
          </a:xfrm>
          <a:prstGeom prst="rect">
            <a:avLst/>
          </a:prstGeom>
        </p:spPr>
      </p:pic>
      <p:pic>
        <p:nvPicPr>
          <p:cNvPr id="10" name="9 Imagen"/>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88659" y="1958507"/>
            <a:ext cx="2857500" cy="1600200"/>
          </a:xfrm>
          <a:prstGeom prst="rect">
            <a:avLst/>
          </a:prstGeom>
        </p:spPr>
      </p:pic>
    </p:spTree>
    <p:extLst>
      <p:ext uri="{BB962C8B-B14F-4D97-AF65-F5344CB8AC3E}">
        <p14:creationId xmlns:p14="http://schemas.microsoft.com/office/powerpoint/2010/main" val="302773747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fontScale="90000"/>
          </a:bodyPr>
          <a:lstStyle/>
          <a:p>
            <a:pPr algn="ctr"/>
            <a:r>
              <a:rPr lang="es-419" dirty="0"/>
              <a:t>La gran diferencia entre metodologías agiles vs pesadas</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pic>
        <p:nvPicPr>
          <p:cNvPr id="7" name="Marcador de contenido 4"/>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516835" y="1866094"/>
            <a:ext cx="11410122" cy="4375680"/>
          </a:xfrm>
        </p:spPr>
      </p:pic>
    </p:spTree>
    <p:extLst>
      <p:ext uri="{BB962C8B-B14F-4D97-AF65-F5344CB8AC3E}">
        <p14:creationId xmlns:p14="http://schemas.microsoft.com/office/powerpoint/2010/main" val="48887042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fontScale="90000"/>
          </a:bodyPr>
          <a:lstStyle/>
          <a:p>
            <a:pPr algn="ctr"/>
            <a:r>
              <a:rPr lang="es-419" dirty="0"/>
              <a:t>La gran diferencia entre metodologías agiles vs pesadas</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3" name="2 Marcador de contenido"/>
          <p:cNvSpPr>
            <a:spLocks noGrp="1"/>
          </p:cNvSpPr>
          <p:nvPr>
            <p:ph idx="1"/>
          </p:nvPr>
        </p:nvSpPr>
        <p:spPr/>
        <p:txBody>
          <a:bodyPr/>
          <a:lstStyle/>
          <a:p>
            <a:endParaRPr lang="es-ES"/>
          </a:p>
        </p:txBody>
      </p:sp>
      <p:pic>
        <p:nvPicPr>
          <p:cNvPr id="8" name="Picture 2" descr="C:\Users\Joanna\AppData\Local\Temp\maftemp-e260a39d\1474142663247_734\1474023779684_633\index_files\Dibujo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77687" y="1828800"/>
            <a:ext cx="11390243" cy="4412974"/>
          </a:xfrm>
          <a:prstGeom prst="rect">
            <a:avLst/>
          </a:prstGeom>
        </p:spPr>
      </p:pic>
    </p:spTree>
    <p:extLst>
      <p:ext uri="{BB962C8B-B14F-4D97-AF65-F5344CB8AC3E}">
        <p14:creationId xmlns:p14="http://schemas.microsoft.com/office/powerpoint/2010/main" val="132751755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fontScale="90000"/>
          </a:bodyPr>
          <a:lstStyle/>
          <a:p>
            <a:pPr algn="ctr"/>
            <a:r>
              <a:rPr lang="es-ES" dirty="0"/>
              <a:t>¿Son las metodologías ágiles la mejor opción?</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594823"/>
          </a:xfrm>
        </p:spPr>
        <p:txBody>
          <a:bodyPr>
            <a:noAutofit/>
          </a:bodyPr>
          <a:lstStyle/>
          <a:p>
            <a:pPr lvl="1">
              <a:buFont typeface="Wingdings" pitchFamily="2" charset="2"/>
              <a:buChar char="Ø"/>
            </a:pPr>
            <a:r>
              <a:rPr lang="es-ES" altLang="es-ES" sz="3600" dirty="0"/>
              <a:t>Cada proyecto, empresa, producto, línea de negocio, etc., requiere de una metodología específica, o de diferentes maneras de adaptar una metodología genérica .</a:t>
            </a:r>
          </a:p>
          <a:p>
            <a:pPr lvl="1">
              <a:buFont typeface="Wingdings" pitchFamily="2" charset="2"/>
              <a:buChar char="Ø"/>
            </a:pPr>
            <a:r>
              <a:rPr lang="es-ES" altLang="es-ES" sz="3600" dirty="0"/>
              <a:t>Lo difícil es saber el punto medio exacto y más recomendable para cada proyecto, e incluso buscar el punto intermedio entre ágil y tradicional</a:t>
            </a:r>
          </a:p>
          <a:p>
            <a:pPr lvl="1">
              <a:buFont typeface="Wingdings" pitchFamily="2" charset="2"/>
              <a:buChar char="Ø"/>
            </a:pPr>
            <a:r>
              <a:rPr lang="es-ES" altLang="es-ES" sz="3600" dirty="0"/>
              <a:t>Existe una metodología concreta para cada proyecto</a:t>
            </a:r>
          </a:p>
          <a:p>
            <a:pPr lvl="1">
              <a:buFont typeface="Wingdings" pitchFamily="2" charset="2"/>
              <a:buChar char="Ø"/>
            </a:pPr>
            <a:endParaRPr lang="en-US" altLang="es-ES" sz="2800" b="1" dirty="0" smtClean="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351010675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909190" cy="1292087"/>
          </a:xfrm>
        </p:spPr>
        <p:txBody>
          <a:bodyPr>
            <a:normAutofit fontScale="90000"/>
          </a:bodyPr>
          <a:lstStyle/>
          <a:p>
            <a:pPr algn="ctr"/>
            <a:r>
              <a:rPr lang="es-ES" dirty="0"/>
              <a:t>¿Cuáles son las </a:t>
            </a:r>
            <a:r>
              <a:rPr lang="es-ES" dirty="0" smtClean="0"/>
              <a:t>tendencias </a:t>
            </a:r>
            <a:r>
              <a:rPr lang="es-ES" dirty="0"/>
              <a:t>actuales</a:t>
            </a:r>
            <a:br>
              <a:rPr lang="es-ES" dirty="0"/>
            </a:br>
            <a:r>
              <a:rPr lang="es-ES" dirty="0"/>
              <a:t>  de las Metodologías de Desarrollo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594823"/>
          </a:xfrm>
        </p:spPr>
        <p:txBody>
          <a:bodyPr>
            <a:noAutofit/>
          </a:bodyPr>
          <a:lstStyle/>
          <a:p>
            <a:pPr lvl="1">
              <a:buFont typeface="Wingdings" pitchFamily="2" charset="2"/>
              <a:buChar char="Ø"/>
            </a:pPr>
            <a:r>
              <a:rPr lang="es-ES" sz="3600" dirty="0" err="1"/>
              <a:t>DevOps</a:t>
            </a:r>
            <a:r>
              <a:rPr lang="es-ES" sz="3600" dirty="0"/>
              <a:t> y </a:t>
            </a:r>
            <a:r>
              <a:rPr lang="es-ES" sz="3600" dirty="0" err="1"/>
              <a:t>DevSecOps</a:t>
            </a:r>
            <a:r>
              <a:rPr lang="es-ES" sz="3600" dirty="0"/>
              <a:t> – Integración continua de desarrollo, seguridad y </a:t>
            </a:r>
            <a:r>
              <a:rPr lang="es-ES" sz="3600" dirty="0" smtClean="0"/>
              <a:t>operaciones</a:t>
            </a:r>
          </a:p>
          <a:p>
            <a:pPr lvl="1">
              <a:buFont typeface="Wingdings" pitchFamily="2" charset="2"/>
              <a:buChar char="Ø"/>
            </a:pPr>
            <a:r>
              <a:rPr lang="es-ES" sz="3600" dirty="0"/>
              <a:t>Agile Escalado – Escalamiento de metodologías ágiles para grandes </a:t>
            </a:r>
            <a:r>
              <a:rPr lang="es-ES" sz="3600" dirty="0" smtClean="0"/>
              <a:t>organizaciones</a:t>
            </a:r>
          </a:p>
          <a:p>
            <a:pPr lvl="1">
              <a:buFont typeface="Wingdings" pitchFamily="2" charset="2"/>
              <a:buChar char="Ø"/>
            </a:pPr>
            <a:r>
              <a:rPr lang="es-ES" sz="3600" dirty="0" err="1"/>
              <a:t>Value</a:t>
            </a:r>
            <a:r>
              <a:rPr lang="es-ES" sz="3600" dirty="0"/>
              <a:t> </a:t>
            </a:r>
            <a:r>
              <a:rPr lang="es-ES" sz="3600" dirty="0" err="1"/>
              <a:t>Stream</a:t>
            </a:r>
            <a:r>
              <a:rPr lang="es-ES" sz="3600" dirty="0"/>
              <a:t> Management (VSM) – Enfoque en la creación de </a:t>
            </a:r>
            <a:r>
              <a:rPr lang="es-ES" sz="3600" dirty="0" smtClean="0"/>
              <a:t>valor</a:t>
            </a:r>
          </a:p>
          <a:p>
            <a:pPr lvl="1">
              <a:buFont typeface="Wingdings" pitchFamily="2" charset="2"/>
              <a:buChar char="Ø"/>
            </a:pPr>
            <a:r>
              <a:rPr lang="es-ES" sz="3600" dirty="0" err="1"/>
              <a:t>Low-Code</a:t>
            </a:r>
            <a:r>
              <a:rPr lang="es-ES" sz="3600" dirty="0"/>
              <a:t> y No-</a:t>
            </a:r>
            <a:r>
              <a:rPr lang="es-ES" sz="3600" dirty="0" err="1"/>
              <a:t>Code</a:t>
            </a:r>
            <a:r>
              <a:rPr lang="es-ES" sz="3600" dirty="0"/>
              <a:t> </a:t>
            </a:r>
            <a:r>
              <a:rPr lang="es-ES" sz="3600" dirty="0" err="1"/>
              <a:t>Development</a:t>
            </a:r>
            <a:r>
              <a:rPr lang="es-ES" sz="3600" dirty="0"/>
              <a:t> – Desarrollo simplificado para aceleración de proyectos</a:t>
            </a:r>
          </a:p>
          <a:p>
            <a:pPr lvl="1">
              <a:buFont typeface="Wingdings" pitchFamily="2" charset="2"/>
              <a:buChar char="Ø"/>
            </a:pPr>
            <a:endParaRPr lang="es-ES" sz="3600" dirty="0" smtClean="0"/>
          </a:p>
          <a:p>
            <a:pPr lvl="1">
              <a:buFont typeface="Wingdings" pitchFamily="2" charset="2"/>
              <a:buChar char="Ø"/>
            </a:pPr>
            <a:endParaRPr lang="es-ES" sz="3600" dirty="0" smtClean="0"/>
          </a:p>
          <a:p>
            <a:pPr lvl="1">
              <a:buFont typeface="Wingdings" pitchFamily="2" charset="2"/>
              <a:buChar char="Ø"/>
            </a:pPr>
            <a:endParaRPr lang="es-ES" sz="3600" dirty="0" smtClean="0"/>
          </a:p>
          <a:p>
            <a:pPr lvl="1">
              <a:buFont typeface="Wingdings" pitchFamily="2" charset="2"/>
              <a:buChar char="Ø"/>
            </a:pPr>
            <a:endParaRPr lang="es-ES" sz="3600" dirty="0"/>
          </a:p>
          <a:p>
            <a:pPr lvl="3">
              <a:buFont typeface="Wingdings" pitchFamily="2" charset="2"/>
              <a:buChar char="ü"/>
            </a:pPr>
            <a:endParaRPr lang="es-ES" sz="32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393155680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909190" cy="1292087"/>
          </a:xfrm>
        </p:spPr>
        <p:txBody>
          <a:bodyPr>
            <a:normAutofit fontScale="90000"/>
          </a:bodyPr>
          <a:lstStyle/>
          <a:p>
            <a:pPr algn="ctr"/>
            <a:r>
              <a:rPr lang="es-ES" dirty="0"/>
              <a:t>¿Cuáles son las </a:t>
            </a:r>
            <a:r>
              <a:rPr lang="es-ES" dirty="0" smtClean="0"/>
              <a:t>tendencias </a:t>
            </a:r>
            <a:r>
              <a:rPr lang="es-ES" dirty="0"/>
              <a:t>actuales</a:t>
            </a:r>
            <a:br>
              <a:rPr lang="es-ES" dirty="0"/>
            </a:br>
            <a:r>
              <a:rPr lang="es-ES" dirty="0"/>
              <a:t>  de las Metodologías de Desarrollo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594823"/>
          </a:xfrm>
        </p:spPr>
        <p:txBody>
          <a:bodyPr>
            <a:noAutofit/>
          </a:bodyPr>
          <a:lstStyle/>
          <a:p>
            <a:pPr lvl="1">
              <a:buFont typeface="Wingdings" pitchFamily="2" charset="2"/>
              <a:buChar char="Ø"/>
            </a:pPr>
            <a:r>
              <a:rPr lang="es-ES" sz="3600" dirty="0" smtClean="0"/>
              <a:t>IA </a:t>
            </a:r>
            <a:r>
              <a:rPr lang="es-ES" sz="3600" dirty="0"/>
              <a:t>en el desarrollo de software (</a:t>
            </a:r>
            <a:r>
              <a:rPr lang="es-ES" sz="3600" dirty="0" err="1"/>
              <a:t>AIOps</a:t>
            </a:r>
            <a:r>
              <a:rPr lang="es-ES" sz="3600" dirty="0"/>
              <a:t>) – Automatización y optimización impulsadas por inteligencia artificial</a:t>
            </a:r>
          </a:p>
          <a:p>
            <a:pPr lvl="1">
              <a:buFont typeface="Wingdings" pitchFamily="2" charset="2"/>
              <a:buChar char="Ø"/>
            </a:pPr>
            <a:r>
              <a:rPr lang="es-ES" sz="3600" dirty="0" err="1"/>
              <a:t>Product-Driven</a:t>
            </a:r>
            <a:r>
              <a:rPr lang="es-ES" sz="3600" dirty="0"/>
              <a:t> </a:t>
            </a:r>
            <a:r>
              <a:rPr lang="es-ES" sz="3600" dirty="0" err="1"/>
              <a:t>Development</a:t>
            </a:r>
            <a:r>
              <a:rPr lang="es-ES" sz="3600" dirty="0"/>
              <a:t> (PDD) – Desarrollo impulsado por el producto</a:t>
            </a:r>
          </a:p>
          <a:p>
            <a:pPr lvl="1">
              <a:buFont typeface="Wingdings" pitchFamily="2" charset="2"/>
              <a:buChar char="Ø"/>
            </a:pPr>
            <a:r>
              <a:rPr lang="es-ES" sz="3600" dirty="0" err="1"/>
              <a:t>Shift-Left</a:t>
            </a:r>
            <a:r>
              <a:rPr lang="es-ES" sz="3600" dirty="0"/>
              <a:t> </a:t>
            </a:r>
            <a:r>
              <a:rPr lang="es-ES" sz="3600" dirty="0" err="1"/>
              <a:t>Testing</a:t>
            </a:r>
            <a:r>
              <a:rPr lang="es-ES" sz="3600" dirty="0"/>
              <a:t> – Integración temprana de </a:t>
            </a:r>
            <a:r>
              <a:rPr lang="es-ES" sz="3600" dirty="0" smtClean="0"/>
              <a:t>pruebas</a:t>
            </a:r>
          </a:p>
          <a:p>
            <a:pPr lvl="1">
              <a:buFont typeface="Wingdings" pitchFamily="2" charset="2"/>
              <a:buChar char="Ø"/>
            </a:pPr>
            <a:r>
              <a:rPr lang="es-ES" sz="3600" dirty="0"/>
              <a:t>Metodologías Híbridas (Agile-</a:t>
            </a:r>
            <a:r>
              <a:rPr lang="es-ES" sz="3600" dirty="0" err="1"/>
              <a:t>Waterfall</a:t>
            </a:r>
            <a:r>
              <a:rPr lang="es-ES" sz="3600" dirty="0"/>
              <a:t> o Agile-</a:t>
            </a:r>
            <a:r>
              <a:rPr lang="es-ES" sz="3600" dirty="0" err="1"/>
              <a:t>Fall</a:t>
            </a:r>
            <a:r>
              <a:rPr lang="es-ES" sz="3600" dirty="0"/>
              <a:t>) – Combinación de enfoques ágiles y tradicionales</a:t>
            </a:r>
          </a:p>
          <a:p>
            <a:pPr lvl="1">
              <a:buFont typeface="Wingdings" pitchFamily="2" charset="2"/>
              <a:buChar char="Ø"/>
            </a:pPr>
            <a:endParaRPr lang="es-ES" sz="3600" dirty="0"/>
          </a:p>
          <a:p>
            <a:pPr lvl="1">
              <a:buFont typeface="Wingdings" pitchFamily="2" charset="2"/>
              <a:buChar char="Ø"/>
            </a:pPr>
            <a:endParaRPr lang="es-ES" sz="3600" dirty="0" smtClean="0"/>
          </a:p>
          <a:p>
            <a:pPr lvl="1">
              <a:buFont typeface="Wingdings" pitchFamily="2" charset="2"/>
              <a:buChar char="Ø"/>
            </a:pPr>
            <a:endParaRPr lang="es-ES" sz="3600" dirty="0" smtClean="0"/>
          </a:p>
          <a:p>
            <a:pPr lvl="1">
              <a:buFont typeface="Wingdings" pitchFamily="2" charset="2"/>
              <a:buChar char="Ø"/>
            </a:pPr>
            <a:endParaRPr lang="es-ES" sz="3600" dirty="0" smtClean="0"/>
          </a:p>
          <a:p>
            <a:pPr lvl="1">
              <a:buFont typeface="Wingdings" pitchFamily="2" charset="2"/>
              <a:buChar char="Ø"/>
            </a:pPr>
            <a:endParaRPr lang="es-ES" sz="3600" dirty="0"/>
          </a:p>
          <a:p>
            <a:pPr lvl="3">
              <a:buFont typeface="Wingdings" pitchFamily="2" charset="2"/>
              <a:buChar char="ü"/>
            </a:pPr>
            <a:endParaRPr lang="es-ES" sz="32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16646431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a:bodyPr>
          <a:lstStyle/>
          <a:p>
            <a:pPr algn="ctr"/>
            <a:r>
              <a:rPr lang="es-ES" dirty="0"/>
              <a:t>¿Qué son las Metodologías Híbridas?</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594823"/>
          </a:xfrm>
        </p:spPr>
        <p:txBody>
          <a:bodyPr>
            <a:noAutofit/>
          </a:bodyPr>
          <a:lstStyle/>
          <a:p>
            <a:pPr lvl="1">
              <a:buFont typeface="Wingdings" pitchFamily="2" charset="2"/>
              <a:buChar char="Ø"/>
            </a:pPr>
            <a:r>
              <a:rPr lang="es-ES" altLang="es-ES" sz="3600" dirty="0"/>
              <a:t>Las metodologías híbridas combinan elementos de diferentes enfoques de gestión de proyectos y desarrollo de software para adaptarse mejor a las necesidades específicas de un equipo o proyecto. Estas metodologías buscan aprovechar las fortalezas de cada enfoque, permitiendo flexibilidad y adaptabilidad.</a:t>
            </a:r>
            <a:endParaRPr lang="en-US" altLang="es-ES" sz="2800" b="1" dirty="0" smtClean="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64095620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fontScale="90000"/>
          </a:bodyPr>
          <a:lstStyle/>
          <a:p>
            <a:pPr algn="ctr"/>
            <a:r>
              <a:rPr lang="es-ES" dirty="0" smtClean="0"/>
              <a:t>¿Cuáles </a:t>
            </a:r>
            <a:r>
              <a:rPr lang="es-ES" dirty="0"/>
              <a:t>son </a:t>
            </a:r>
            <a:r>
              <a:rPr lang="es-ES" dirty="0" smtClean="0"/>
              <a:t>características </a:t>
            </a:r>
            <a:r>
              <a:rPr lang="es-ES" dirty="0"/>
              <a:t>las Metodologías Híbridas?</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594823"/>
          </a:xfrm>
        </p:spPr>
        <p:txBody>
          <a:bodyPr>
            <a:noAutofit/>
          </a:bodyPr>
          <a:lstStyle/>
          <a:p>
            <a:pPr lvl="1">
              <a:lnSpc>
                <a:spcPct val="150000"/>
              </a:lnSpc>
              <a:buFont typeface="Wingdings" pitchFamily="2" charset="2"/>
              <a:buChar char="Ø"/>
            </a:pPr>
            <a:r>
              <a:rPr lang="es-ES" sz="3600" dirty="0" smtClean="0"/>
              <a:t>Flexibilidad</a:t>
            </a:r>
          </a:p>
          <a:p>
            <a:pPr lvl="1">
              <a:lnSpc>
                <a:spcPct val="150000"/>
              </a:lnSpc>
              <a:buFont typeface="Wingdings" pitchFamily="2" charset="2"/>
              <a:buChar char="Ø"/>
            </a:pPr>
            <a:r>
              <a:rPr lang="es-ES" sz="3600" dirty="0"/>
              <a:t>Combinación de </a:t>
            </a:r>
            <a:r>
              <a:rPr lang="es-ES" sz="3600" dirty="0" smtClean="0"/>
              <a:t>Enfoques</a:t>
            </a:r>
          </a:p>
          <a:p>
            <a:pPr lvl="1">
              <a:lnSpc>
                <a:spcPct val="150000"/>
              </a:lnSpc>
              <a:buFont typeface="Wingdings" pitchFamily="2" charset="2"/>
              <a:buChar char="Ø"/>
            </a:pPr>
            <a:r>
              <a:rPr lang="es-ES" sz="3600" dirty="0"/>
              <a:t>Enfoque en el </a:t>
            </a:r>
            <a:r>
              <a:rPr lang="es-ES" sz="3600" dirty="0" smtClean="0"/>
              <a:t>Valor</a:t>
            </a:r>
          </a:p>
          <a:p>
            <a:pPr lvl="1">
              <a:lnSpc>
                <a:spcPct val="150000"/>
              </a:lnSpc>
              <a:buFont typeface="Wingdings" pitchFamily="2" charset="2"/>
              <a:buChar char="Ø"/>
            </a:pPr>
            <a:r>
              <a:rPr lang="es-ES" sz="3600" dirty="0"/>
              <a:t>Iteraciones y Fases</a:t>
            </a:r>
            <a:endParaRPr lang="es-ES" sz="3600" dirty="0" smtClean="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390032214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fontScale="90000"/>
          </a:bodyPr>
          <a:lstStyle/>
          <a:p>
            <a:pPr algn="ctr"/>
            <a:r>
              <a:rPr lang="es-ES" dirty="0" smtClean="0"/>
              <a:t>¿Cuáles </a:t>
            </a:r>
            <a:r>
              <a:rPr lang="es-ES" dirty="0"/>
              <a:t>son </a:t>
            </a:r>
            <a:r>
              <a:rPr lang="es-ES" dirty="0" smtClean="0"/>
              <a:t>algunos representantes de  las </a:t>
            </a:r>
            <a:r>
              <a:rPr lang="es-ES" dirty="0"/>
              <a:t>Metodologías Híbridas?</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786098"/>
            <a:ext cx="11913704" cy="4594823"/>
          </a:xfrm>
        </p:spPr>
        <p:txBody>
          <a:bodyPr>
            <a:noAutofit/>
          </a:bodyPr>
          <a:lstStyle/>
          <a:p>
            <a:pPr lvl="1">
              <a:buFont typeface="Wingdings" pitchFamily="2" charset="2"/>
              <a:buChar char="Ø"/>
            </a:pPr>
            <a:r>
              <a:rPr lang="es-ES" sz="3600" dirty="0" err="1" smtClean="0"/>
              <a:t>ScrumBan</a:t>
            </a:r>
            <a:endParaRPr lang="es-ES" sz="3600" dirty="0" smtClean="0"/>
          </a:p>
          <a:p>
            <a:pPr lvl="2">
              <a:buFont typeface="Wingdings" pitchFamily="2" charset="2"/>
              <a:buChar char="ü"/>
            </a:pPr>
            <a:r>
              <a:rPr lang="es-ES" sz="3200" dirty="0"/>
              <a:t>Combina </a:t>
            </a:r>
            <a:r>
              <a:rPr lang="es-ES" sz="3200" dirty="0" err="1"/>
              <a:t>Scrum</a:t>
            </a:r>
            <a:r>
              <a:rPr lang="es-ES" sz="3200" dirty="0"/>
              <a:t> y </a:t>
            </a:r>
            <a:r>
              <a:rPr lang="es-ES" sz="3200" dirty="0" err="1"/>
              <a:t>Kanban</a:t>
            </a:r>
            <a:r>
              <a:rPr lang="es-ES" sz="3200" dirty="0"/>
              <a:t>, aprovechando la estructura de </a:t>
            </a:r>
            <a:r>
              <a:rPr lang="es-ES" sz="3200" dirty="0" err="1"/>
              <a:t>Scrum</a:t>
            </a:r>
            <a:r>
              <a:rPr lang="es-ES" sz="3200" dirty="0"/>
              <a:t> para la planificación y el trabajo en equipo, mientras utiliza el flujo visual de </a:t>
            </a:r>
            <a:r>
              <a:rPr lang="es-ES" sz="3200" dirty="0" err="1"/>
              <a:t>Kanban</a:t>
            </a:r>
            <a:r>
              <a:rPr lang="es-ES" sz="3200" dirty="0"/>
              <a:t> para gestionar el trabajo en curso y optimizar el flujo.</a:t>
            </a:r>
          </a:p>
          <a:p>
            <a:pPr lvl="1">
              <a:buFont typeface="Wingdings" pitchFamily="2" charset="2"/>
              <a:buChar char="Ø"/>
            </a:pPr>
            <a:r>
              <a:rPr lang="es-ES" sz="3600" dirty="0" smtClean="0"/>
              <a:t>Lean-Agile</a:t>
            </a:r>
            <a:endParaRPr lang="es-ES" sz="3600" dirty="0"/>
          </a:p>
          <a:p>
            <a:pPr lvl="2">
              <a:buFont typeface="Wingdings" pitchFamily="2" charset="2"/>
              <a:buChar char="ü"/>
            </a:pPr>
            <a:r>
              <a:rPr lang="es-ES" sz="3200" dirty="0"/>
              <a:t>Combina principios Lean (como la eliminación del desperdicio) con prácticas ágiles, enfocándose en la entrega rápida de valor y la mejora continua.</a:t>
            </a:r>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82209038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fontScale="90000"/>
          </a:bodyPr>
          <a:lstStyle/>
          <a:p>
            <a:pPr algn="ctr"/>
            <a:r>
              <a:rPr lang="es-ES" dirty="0" smtClean="0"/>
              <a:t>¿Cuáles </a:t>
            </a:r>
            <a:r>
              <a:rPr lang="es-ES" dirty="0"/>
              <a:t>son </a:t>
            </a:r>
            <a:r>
              <a:rPr lang="es-ES" dirty="0" smtClean="0"/>
              <a:t>algunos representantes de  las </a:t>
            </a:r>
            <a:r>
              <a:rPr lang="es-ES" dirty="0"/>
              <a:t>Metodologías Híbridas?</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594823"/>
          </a:xfrm>
        </p:spPr>
        <p:txBody>
          <a:bodyPr>
            <a:noAutofit/>
          </a:bodyPr>
          <a:lstStyle/>
          <a:p>
            <a:pPr lvl="1">
              <a:buFont typeface="Wingdings" pitchFamily="2" charset="2"/>
              <a:buChar char="Ø"/>
            </a:pPr>
            <a:r>
              <a:rPr lang="es-ES" sz="3600" dirty="0" smtClean="0"/>
              <a:t>Agile-</a:t>
            </a:r>
            <a:r>
              <a:rPr lang="es-ES" sz="3600" dirty="0" err="1" smtClean="0"/>
              <a:t>Waterfall</a:t>
            </a:r>
            <a:endParaRPr lang="es-ES" sz="3600" dirty="0"/>
          </a:p>
          <a:p>
            <a:pPr lvl="2">
              <a:buFont typeface="Wingdings" pitchFamily="2" charset="2"/>
              <a:buChar char="ü"/>
            </a:pPr>
            <a:r>
              <a:rPr lang="es-ES" sz="3200" dirty="0"/>
              <a:t>Integra elementos ágiles en un enfoque tradicional en cascada, permitiendo que ciertas fases del proyecto se realicen de manera ágil (como la recopilación de requisitos o pruebas) mientras se mantiene una estructura general en cascada.</a:t>
            </a:r>
            <a:endParaRPr lang="es-ES" sz="3600" dirty="0"/>
          </a:p>
          <a:p>
            <a:pPr lvl="2">
              <a:buFont typeface="Wingdings" pitchFamily="2" charset="2"/>
              <a:buChar char="ü"/>
            </a:pPr>
            <a:endParaRPr lang="es-ES" sz="3200" dirty="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2800" dirty="0"/>
          </a:p>
          <a:p>
            <a:pPr lvl="1">
              <a:buFont typeface="Wingdings" pitchFamily="2" charset="2"/>
              <a:buChar char="Ø"/>
            </a:pPr>
            <a:endParaRPr lang="es-ES" sz="3400" dirty="0" smtClean="0"/>
          </a:p>
          <a:p>
            <a:pPr lvl="1">
              <a:buFont typeface="Wingdings" pitchFamily="2" charset="2"/>
              <a:buChar char="Ø"/>
            </a:pPr>
            <a:endParaRPr lang="es-ES" sz="3400" dirty="0"/>
          </a:p>
          <a:p>
            <a:pPr>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329406267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fontScale="90000"/>
          </a:bodyPr>
          <a:lstStyle/>
          <a:p>
            <a:pPr algn="ctr"/>
            <a:r>
              <a:rPr lang="es-ES" dirty="0" smtClean="0"/>
              <a:t>¿Cuáles </a:t>
            </a:r>
            <a:r>
              <a:rPr lang="es-ES" dirty="0"/>
              <a:t>son </a:t>
            </a:r>
            <a:r>
              <a:rPr lang="es-ES" dirty="0" smtClean="0"/>
              <a:t>los beneficios </a:t>
            </a:r>
            <a:r>
              <a:rPr lang="es-ES" dirty="0"/>
              <a:t>de las Metodologías </a:t>
            </a:r>
            <a:r>
              <a:rPr lang="es-ES" dirty="0" smtClean="0"/>
              <a:t>Híbridas?</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594823"/>
          </a:xfrm>
        </p:spPr>
        <p:txBody>
          <a:bodyPr>
            <a:noAutofit/>
          </a:bodyPr>
          <a:lstStyle/>
          <a:p>
            <a:pPr lvl="1">
              <a:lnSpc>
                <a:spcPct val="150000"/>
              </a:lnSpc>
              <a:buFont typeface="Wingdings" pitchFamily="2" charset="2"/>
              <a:buChar char="Ø"/>
            </a:pPr>
            <a:r>
              <a:rPr lang="es-ES" sz="3600" dirty="0" smtClean="0"/>
              <a:t>Adaptabilidad</a:t>
            </a:r>
          </a:p>
          <a:p>
            <a:pPr lvl="1">
              <a:lnSpc>
                <a:spcPct val="150000"/>
              </a:lnSpc>
              <a:buFont typeface="Wingdings" pitchFamily="2" charset="2"/>
              <a:buChar char="Ø"/>
            </a:pPr>
            <a:r>
              <a:rPr lang="es-ES" sz="3600" dirty="0"/>
              <a:t>Mejor Gestión de </a:t>
            </a:r>
            <a:r>
              <a:rPr lang="es-ES" sz="3600" dirty="0" smtClean="0"/>
              <a:t>Riesgos</a:t>
            </a:r>
          </a:p>
          <a:p>
            <a:pPr lvl="1">
              <a:lnSpc>
                <a:spcPct val="150000"/>
              </a:lnSpc>
              <a:buFont typeface="Wingdings" pitchFamily="2" charset="2"/>
              <a:buChar char="Ø"/>
            </a:pPr>
            <a:r>
              <a:rPr lang="es-ES" sz="3600" dirty="0"/>
              <a:t>Mejora en la </a:t>
            </a:r>
            <a:r>
              <a:rPr lang="es-ES" sz="3600" dirty="0" smtClean="0"/>
              <a:t>Colaboración</a:t>
            </a:r>
          </a:p>
          <a:p>
            <a:pPr lvl="1">
              <a:lnSpc>
                <a:spcPct val="150000"/>
              </a:lnSpc>
              <a:buFont typeface="Wingdings" pitchFamily="2" charset="2"/>
              <a:buChar char="Ø"/>
            </a:pPr>
            <a:r>
              <a:rPr lang="es-ES" sz="3600" dirty="0"/>
              <a:t>Optimización del </a:t>
            </a:r>
            <a:r>
              <a:rPr lang="es-ES" sz="3600" dirty="0" smtClean="0"/>
              <a:t>Proceso</a:t>
            </a:r>
          </a:p>
          <a:p>
            <a:pPr lvl="1">
              <a:lnSpc>
                <a:spcPct val="100000"/>
              </a:lnSpc>
              <a:buFont typeface="Wingdings" pitchFamily="2" charset="2"/>
              <a:buChar char="Ø"/>
            </a:pPr>
            <a:endParaRPr lang="es-ES" sz="3600" dirty="0" smtClean="0"/>
          </a:p>
          <a:p>
            <a:pPr lvl="1">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45343670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357809"/>
            <a:ext cx="10058400" cy="1292087"/>
          </a:xfrm>
        </p:spPr>
        <p:txBody>
          <a:bodyPr>
            <a:normAutofit fontScale="90000"/>
          </a:bodyPr>
          <a:lstStyle/>
          <a:p>
            <a:pPr algn="ctr"/>
            <a:r>
              <a:rPr lang="es-ES" dirty="0" smtClean="0"/>
              <a:t>¿Cuáles son </a:t>
            </a:r>
            <a:r>
              <a:rPr lang="es-ES" dirty="0"/>
              <a:t>las  </a:t>
            </a:r>
            <a:r>
              <a:rPr lang="es-ES" dirty="0" smtClean="0"/>
              <a:t>consideraciones </a:t>
            </a:r>
            <a:r>
              <a:rPr lang="es-ES" dirty="0"/>
              <a:t>al </a:t>
            </a:r>
            <a:r>
              <a:rPr lang="es-ES" dirty="0" smtClean="0"/>
              <a:t>implementar </a:t>
            </a:r>
            <a:r>
              <a:rPr lang="es-ES" dirty="0"/>
              <a:t>Metodologías Híbridas?</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Marcador de contenido 2"/>
          <p:cNvSpPr>
            <a:spLocks noGrp="1"/>
          </p:cNvSpPr>
          <p:nvPr>
            <p:ph idx="1"/>
          </p:nvPr>
        </p:nvSpPr>
        <p:spPr>
          <a:xfrm>
            <a:off x="278296" y="1845733"/>
            <a:ext cx="11913704" cy="4594823"/>
          </a:xfrm>
        </p:spPr>
        <p:txBody>
          <a:bodyPr>
            <a:noAutofit/>
          </a:bodyPr>
          <a:lstStyle/>
          <a:p>
            <a:pPr lvl="1">
              <a:lnSpc>
                <a:spcPct val="150000"/>
              </a:lnSpc>
              <a:buFont typeface="Wingdings" pitchFamily="2" charset="2"/>
              <a:buChar char="Ø"/>
            </a:pPr>
            <a:r>
              <a:rPr lang="es-ES" sz="3600" dirty="0"/>
              <a:t>Cultura </a:t>
            </a:r>
            <a:r>
              <a:rPr lang="es-ES" sz="3600" dirty="0" smtClean="0"/>
              <a:t>Organizacional</a:t>
            </a:r>
          </a:p>
          <a:p>
            <a:pPr lvl="1">
              <a:lnSpc>
                <a:spcPct val="150000"/>
              </a:lnSpc>
              <a:buFont typeface="Wingdings" pitchFamily="2" charset="2"/>
              <a:buChar char="Ø"/>
            </a:pPr>
            <a:r>
              <a:rPr lang="es-ES" sz="3600" dirty="0"/>
              <a:t>Formación del </a:t>
            </a:r>
            <a:r>
              <a:rPr lang="es-ES" sz="3600" dirty="0" smtClean="0"/>
              <a:t>Equipo</a:t>
            </a:r>
          </a:p>
          <a:p>
            <a:pPr lvl="1">
              <a:lnSpc>
                <a:spcPct val="150000"/>
              </a:lnSpc>
              <a:buFont typeface="Wingdings" pitchFamily="2" charset="2"/>
              <a:buChar char="Ø"/>
            </a:pPr>
            <a:r>
              <a:rPr lang="es-ES" sz="3600" dirty="0"/>
              <a:t>Claridad en los </a:t>
            </a:r>
            <a:r>
              <a:rPr lang="es-ES" sz="3600" dirty="0" smtClean="0"/>
              <a:t>Objetivos</a:t>
            </a:r>
          </a:p>
          <a:p>
            <a:pPr lvl="1">
              <a:buFont typeface="Wingdings" pitchFamily="2" charset="2"/>
              <a:buChar char="Ø"/>
            </a:pPr>
            <a:endParaRPr lang="es-ES" sz="3600" dirty="0" smtClean="0"/>
          </a:p>
          <a:p>
            <a:pPr>
              <a:buFont typeface="Wingdings" pitchFamily="2" charset="2"/>
              <a:buChar char="Ø"/>
            </a:pPr>
            <a:endParaRPr lang="es-ES" sz="3600" dirty="0" smtClean="0"/>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dirty="0" smtClean="0">
                <a:solidFill>
                  <a:srgbClr val="000000"/>
                </a:solidFill>
                <a:latin typeface="Verdana" pitchFamily="34" charset="0"/>
              </a:rPr>
              <a:t>    </a:t>
            </a:r>
            <a:endParaRPr lang="es-ES_tradnl" sz="2600" dirty="0">
              <a:solidFill>
                <a:srgbClr val="000000"/>
              </a:solidFill>
              <a:latin typeface="Verdana" pitchFamily="34" charset="0"/>
            </a:endParaRPr>
          </a:p>
        </p:txBody>
      </p:sp>
    </p:spTree>
    <p:extLst>
      <p:ext uri="{BB962C8B-B14F-4D97-AF65-F5344CB8AC3E}">
        <p14:creationId xmlns:p14="http://schemas.microsoft.com/office/powerpoint/2010/main" val="301521063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Resumen</a:t>
            </a:r>
          </a:p>
        </p:txBody>
      </p:sp>
      <p:sp>
        <p:nvSpPr>
          <p:cNvPr id="3" name="Marcador de contenido 2"/>
          <p:cNvSpPr>
            <a:spLocks noGrp="1"/>
          </p:cNvSpPr>
          <p:nvPr>
            <p:ph idx="1"/>
          </p:nvPr>
        </p:nvSpPr>
        <p:spPr>
          <a:xfrm>
            <a:off x="1097279" y="1886075"/>
            <a:ext cx="10948947" cy="4023360"/>
          </a:xfrm>
        </p:spPr>
        <p:txBody>
          <a:bodyPr>
            <a:noAutofit/>
          </a:bodyPr>
          <a:lstStyle/>
          <a:p>
            <a:pPr lvl="0" algn="just">
              <a:buFont typeface="Wingdings" panose="05000000000000000000" pitchFamily="2" charset="2"/>
              <a:buChar char="Ø"/>
            </a:pPr>
            <a:r>
              <a:rPr lang="es-ES" sz="2600" dirty="0" smtClean="0"/>
              <a:t>Las metodologías forman pare del proceso de desarrollo </a:t>
            </a:r>
            <a:r>
              <a:rPr lang="es-ES" sz="2600" dirty="0"/>
              <a:t>del </a:t>
            </a:r>
            <a:r>
              <a:rPr lang="es-ES" sz="2600" dirty="0" smtClean="0"/>
              <a:t>software </a:t>
            </a:r>
            <a:endParaRPr lang="es-ES" sz="2600" dirty="0"/>
          </a:p>
          <a:p>
            <a:pPr lvl="0" algn="just">
              <a:buFont typeface="Wingdings" panose="05000000000000000000" pitchFamily="2" charset="2"/>
              <a:buChar char="Ø"/>
            </a:pPr>
            <a:r>
              <a:rPr lang="es-ES" sz="2600" dirty="0" smtClean="0"/>
              <a:t>Existen dos </a:t>
            </a:r>
            <a:r>
              <a:rPr lang="es-ES" sz="2600" dirty="0"/>
              <a:t>grandes corrientes metodológicas</a:t>
            </a:r>
            <a:r>
              <a:rPr lang="es-ES" sz="2600" dirty="0" smtClean="0"/>
              <a:t>: Pesadas y Agiles </a:t>
            </a:r>
            <a:endParaRPr lang="es-ES" sz="2600" dirty="0"/>
          </a:p>
          <a:p>
            <a:pPr lvl="0" algn="just">
              <a:buFont typeface="Wingdings" panose="05000000000000000000" pitchFamily="2" charset="2"/>
              <a:buChar char="Ø"/>
            </a:pPr>
            <a:r>
              <a:rPr lang="es-ES" sz="2600" dirty="0" smtClean="0"/>
              <a:t>No </a:t>
            </a:r>
            <a:r>
              <a:rPr lang="es-ES" sz="2600" dirty="0"/>
              <a:t>existe la mejor metodología, </a:t>
            </a:r>
            <a:r>
              <a:rPr lang="es-ES" sz="2600" dirty="0" smtClean="0"/>
              <a:t>no </a:t>
            </a:r>
            <a:r>
              <a:rPr lang="es-ES" sz="2600" dirty="0"/>
              <a:t>existe una receta metodológica para llevar a cabo un proyecto. En la práctica, uno escoge la que más se adecuada  a sus condiciones y la modifica a su conveniencia y en el peor escenario hace la suya .</a:t>
            </a:r>
          </a:p>
          <a:p>
            <a:pPr marL="0" indent="0">
              <a:spcBef>
                <a:spcPct val="20000"/>
              </a:spcBef>
              <a:buNone/>
            </a:pPr>
            <a:endParaRPr lang="en-US" sz="2600"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Tree>
    <p:extLst>
      <p:ext uri="{BB962C8B-B14F-4D97-AF65-F5344CB8AC3E}">
        <p14:creationId xmlns:p14="http://schemas.microsoft.com/office/powerpoint/2010/main" val="3158860671"/>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ción">
  <a:themeElements>
    <a:clrScheme name="Retrospección">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ción">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12219</TotalTime>
  <Words>11429</Words>
  <Application>Microsoft Office PowerPoint</Application>
  <PresentationFormat>Personalizado</PresentationFormat>
  <Paragraphs>1273</Paragraphs>
  <Slides>57</Slides>
  <Notes>56</Notes>
  <HiddenSlides>0</HiddenSlides>
  <MMClips>0</MMClips>
  <ScaleCrop>false</ScaleCrop>
  <HeadingPairs>
    <vt:vector size="4" baseType="variant">
      <vt:variant>
        <vt:lpstr>Tema</vt:lpstr>
      </vt:variant>
      <vt:variant>
        <vt:i4>1</vt:i4>
      </vt:variant>
      <vt:variant>
        <vt:lpstr>Títulos de diapositiva</vt:lpstr>
      </vt:variant>
      <vt:variant>
        <vt:i4>57</vt:i4>
      </vt:variant>
    </vt:vector>
  </HeadingPairs>
  <TitlesOfParts>
    <vt:vector size="58" baseType="lpstr">
      <vt:lpstr>Retrospección</vt:lpstr>
      <vt:lpstr>Metodologías en el proceso de desarrollo de software  </vt:lpstr>
      <vt:lpstr>Sumario:</vt:lpstr>
      <vt:lpstr>Recordemos que las partes de un proyecto de software son:</vt:lpstr>
      <vt:lpstr>Recordemos que las partes de un proyecto de software son:</vt:lpstr>
      <vt:lpstr>Recordemos que las partes de un proyecto de software son:</vt:lpstr>
      <vt:lpstr>¿Qué son la Metodologías de desarrollo del software ?</vt:lpstr>
      <vt:lpstr>¿Qué hace que una Metodologías sea buena ?</vt:lpstr>
      <vt:lpstr>¿Qué hace que una Metodologías sea buena ?</vt:lpstr>
      <vt:lpstr>¿Cuál es la Base Práctica para las Metodologías?</vt:lpstr>
      <vt:lpstr>!Cuidado con el exceso de confianza !</vt:lpstr>
      <vt:lpstr>! Dice Meyer...!</vt:lpstr>
      <vt:lpstr>! CONSEJO FINAL!</vt:lpstr>
      <vt:lpstr>¿Cuáles son las ventajas  del uso de las metodologías ?</vt:lpstr>
      <vt:lpstr>¿Cuáles son las ventajas  del uso de las metodologías ?</vt:lpstr>
      <vt:lpstr>¿Qué son las  metodologías pesadas ?</vt:lpstr>
      <vt:lpstr>¿Cuáles son las características de las  metodologías pesadas ?</vt:lpstr>
      <vt:lpstr>¿Cuáles son las ventajas/desventajas de las metodologías pesadas ?</vt:lpstr>
      <vt:lpstr>RUP</vt:lpstr>
      <vt:lpstr>RUP: Características</vt:lpstr>
      <vt:lpstr>RUP: Fases</vt:lpstr>
      <vt:lpstr>RUP: Ejemplo</vt:lpstr>
      <vt:lpstr>RUP: Ventajas </vt:lpstr>
      <vt:lpstr>RUP: Ventajas </vt:lpstr>
      <vt:lpstr>RUP: Desventajas </vt:lpstr>
      <vt:lpstr>RUP: Desventajas </vt:lpstr>
      <vt:lpstr>¿Cuáles son algunas empresas reales que han aplicado metodologías pesadas en el desarrollo de software?</vt:lpstr>
      <vt:lpstr>¿Por qué algo Nuevo (Ágil)?</vt:lpstr>
      <vt:lpstr>¿Revolución Ágil? …</vt:lpstr>
      <vt:lpstr>¿Revolución Ágil? …</vt:lpstr>
      <vt:lpstr>Origen</vt:lpstr>
      <vt:lpstr>Manifiesto para el desarrollo de software “Ágil”</vt:lpstr>
      <vt:lpstr>Manifiesto para el desarrollo de software “Ágil”</vt:lpstr>
      <vt:lpstr>Manifiesto para el desarrollo de software “Ágil”</vt:lpstr>
      <vt:lpstr>Manifiesto para el desarrollo de software “Ágil”</vt:lpstr>
      <vt:lpstr>¿Cuáles son los principios que rigen las metodologías agiles?</vt:lpstr>
      <vt:lpstr>¿Cuáles son los principios que rigen las metodologías agiles?</vt:lpstr>
      <vt:lpstr>¿Cuáles son las características de procesos ágiles?</vt:lpstr>
      <vt:lpstr>¿Cuándo es aplicable?</vt:lpstr>
      <vt:lpstr>¿Cuándo es aplicable?</vt:lpstr>
      <vt:lpstr>¿Cuándo es aplicable?</vt:lpstr>
      <vt:lpstr>¿Cuándo es aplicable?</vt:lpstr>
      <vt:lpstr>¿Cuáles son algunos representantes de metodologías ágiles?</vt:lpstr>
      <vt:lpstr>¿Cuáles son algunos representantes de metodologías ágiles?</vt:lpstr>
      <vt:lpstr>¿Cuáles son algunos representantes de metodologías ágiles?</vt:lpstr>
      <vt:lpstr>¿Cuáles son algunas empresas reales que han aplicado metodologías ágiles en el desarrollo de software?</vt:lpstr>
      <vt:lpstr>La gran diferencia entre metodologías agiles vs pesadas</vt:lpstr>
      <vt:lpstr>La gran diferencia entre metodologías agiles vs pesadas</vt:lpstr>
      <vt:lpstr>¿Son las metodologías ágiles la mejor opción?</vt:lpstr>
      <vt:lpstr>¿Cuáles son las tendencias actuales   de las Metodologías de Desarrollo de Software?</vt:lpstr>
      <vt:lpstr>¿Cuáles son las tendencias actuales   de las Metodologías de Desarrollo de Software?</vt:lpstr>
      <vt:lpstr>¿Qué son las Metodologías Híbridas?</vt:lpstr>
      <vt:lpstr>¿Cuáles son características las Metodologías Híbridas?</vt:lpstr>
      <vt:lpstr>¿Cuáles son algunos representantes de  las Metodologías Híbridas?</vt:lpstr>
      <vt:lpstr>¿Cuáles son algunos representantes de  las Metodologías Híbridas?</vt:lpstr>
      <vt:lpstr>¿Cuáles son los beneficios de las Metodologías Híbridas?</vt:lpstr>
      <vt:lpstr>¿Cuáles son las  consideraciones al implementar Metodologías Híbridas?</vt:lpstr>
      <vt:lpstr>Resumen</vt:lpstr>
    </vt:vector>
  </TitlesOfParts>
  <Company>Universidad de Málaga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Gestión de Proyectos Software</dc:title>
  <dc:creator>Aracelys</dc:creator>
  <cp:lastModifiedBy>Admin</cp:lastModifiedBy>
  <cp:revision>324</cp:revision>
  <dcterms:created xsi:type="dcterms:W3CDTF">2016-09-19T15:25:44Z</dcterms:created>
  <dcterms:modified xsi:type="dcterms:W3CDTF">2025-10-15T00:11:47Z</dcterms:modified>
</cp:coreProperties>
</file>