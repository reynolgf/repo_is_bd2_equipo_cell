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</p:sldIdLst>
  <p:sldSz type="screen16x9"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>
    <p:restoredLeft sz="15611"/>
    <p:restoredTop sz="79602" autoAdjust="0"/>
  </p:normalViewPr>
  <p:slideViewPr>
    <p:cSldViewPr snapToGrid="0" snapToObjects="1">
      <p:cViewPr varScale="1">
        <p:scale>
          <a:sx n="91" d="100"/>
          <a:sy n="91" d="100"/>
        </p:scale>
        <p:origin x="1210" y="67"/>
      </p:cViewPr>
    </p:cSldViewPr>
  </p:slideViewPr>
  <p:notesTextViewPr>
    <p:cViewPr>
      <p:scale>
        <a:sx n="1" d="1"/>
        <a:sy n="1" d="1"/>
      </p:scale>
      <p:origin x="0" y="-317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tableStyles" Target="tableStyle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hyperlink" Target="https://asp.net/" TargetMode="External"/><Relationship Id="rId2" Type="http://schemas.openxmlformats.org/officeDocument/2006/relationships/slide" Target="../slides/slide1.xml"/><Relationship Id="rId3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hyperlink" Target="https://asp.net/" TargetMode="External"/><Relationship Id="rId2" Type="http://schemas.openxmlformats.org/officeDocument/2006/relationships/slide" Target="../slides/slide6.xml"/><Relationship Id="rId3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hyperlink" Target="https://asp.net/" TargetMode="External"/><Relationship Id="rId2" Type="http://schemas.openxmlformats.org/officeDocument/2006/relationships/slide" Target="../slides/slide7.xml"/><Relationship Id="rId3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hyperlink" Target="https://asp.net/" TargetMode="External"/><Relationship Id="rId2" Type="http://schemas.openxmlformats.org/officeDocument/2006/relationships/slide" Target="../slides/slide14.xml"/><Relationship Id="rId3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Bienvenidos al taller. Este es un espacio práctico donde van a aprender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aplicado a un caso real: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No es una clase teórica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es un taller donde van a ejecutar comandos, abrir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crear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entender cómo un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termina en producción con CI/CD.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van a usar (.NET 8, </a:t>
            </a:r>
            <a:r>
              <a:rPr b="0" dirty="0" sz="1200" i="0" kern="1200" lang="es-ES" strike="noStrike" u="none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"/>
              </a:rPr>
              <a:t>ASP.NET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Core MVC, EF Core, SQL Server 2017, GitHub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es el mismo que usarán en su proyecto final del semestre. Por eso este taller es una inversión doble: aprenden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adelantan infraestructura para su proyecto integrador.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“No venimos a memorizar comandos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venimos a entender cómo un cambio nace en una rama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y termina desplegado en IIS con un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firmado."</a:t>
            </a:r>
          </a:p>
          <a:p>
            <a:endParaRPr dirty="0" lang="en-US"/>
          </a:p>
        </p:txBody>
      </p:sp>
      <p:sp>
        <p:nvSpPr>
          <p:cNvPr id="104860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objetivo  general es: "Comprender y aplicar el modelo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combinado con pipelines CI/CD sobre el caso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". Eso significa que al final no solo deben saber qué es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sino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haberlo usado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un repositorio real con ramas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Los cinco objetivos específicos (01-05) son acumulativos: primero entienden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vs 4 hitos, luego CI vs CD vs pipeline, después las ramas, luego el diseño del pipeline y finalmente la gestión de riesgos R1-R8.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resultado esperado está en la parte inferior: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trazabilidad completa: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PR →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IIS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Esa cadena es la columna vertebral del taller. Si al final pueden dibujarla de memoria y ejecutarla, el objetivo está cumplido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4867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6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La dinámica del taller está pensada para </a:t>
            </a:r>
            <a:r>
              <a:rPr dirty="0" lang="en-US" err="1" smtClean="0"/>
              <a:t>tres</a:t>
            </a:r>
            <a:r>
              <a:rPr dirty="0" lang="en-US" smtClean="0"/>
              <a:t> </a:t>
            </a:r>
            <a:r>
              <a:rPr dirty="0" lang="en-US"/>
              <a:t>segmentos: </a:t>
            </a:r>
            <a:r>
              <a:rPr dirty="0" lang="en-US" err="1" smtClean="0"/>
              <a:t>exposición</a:t>
            </a:r>
            <a:r>
              <a:rPr dirty="0" lang="en-US" smtClean="0"/>
              <a:t> </a:t>
            </a:r>
            <a:r>
              <a:rPr dirty="0" lang="en-US"/>
              <a:t>dialogada donde se introduce el caso HabanaEntregas, la arquitectura de tres capas y los fundamentos de GitFlow y CI/CD; </a:t>
            </a:r>
            <a:r>
              <a:rPr dirty="0" lang="en-US" err="1" smtClean="0"/>
              <a:t>práctica</a:t>
            </a:r>
            <a:r>
              <a:rPr dirty="0" lang="en-US" smtClean="0"/>
              <a:t> </a:t>
            </a:r>
            <a:r>
              <a:rPr dirty="0" lang="en-US"/>
              <a:t>guiada con el repositorio, recorriendo los cuatro hitos mapeados a ramas GitFlow y ejecutando comandos git y dotnet en vivo; y </a:t>
            </a:r>
            <a:r>
              <a:rPr dirty="0" lang="en-US" err="1" smtClean="0"/>
              <a:t>discusión</a:t>
            </a:r>
            <a:r>
              <a:rPr dirty="0" lang="en-US" smtClean="0"/>
              <a:t> </a:t>
            </a:r>
            <a:r>
              <a:rPr dirty="0" lang="en-US"/>
              <a:t>de la matriz de riesgos R1 a R8, las oportunidades O1 a O4, y cierre con preguntas y bibliografía. </a:t>
            </a:r>
          </a:p>
        </p:txBody>
      </p:sp>
      <p:sp>
        <p:nvSpPr>
          <p:cNvPr id="104876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5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Cada recurso cumple un rol específico durante el taller. La Guía Metodológica HabanaEntregas es el documento base y los estudiantes deben tenerla abierta en paralelo, especialmente las secciones 3 de arquitectura, 4 de hitos, 10 de riesgos y 11 de herramientas. La documentación de Vincent Driessen de 2010 es la fuente original del modelo GitFlow y se recomienda leerla antes del slide 9 donde se introduce el modelo en profundidad. Microsoft Learn se usará en el bloque práctico (slides 19 a 23) para consultar la sintaxis YAML de GitHub Actions y los comandos dotnet CLI necesarios para crear migraciones, ejecutar pruebas y compilar la solución. El tutorial de Atlassian GitFlow Workflow es excelente para visualizar el flujo de ramas con diagramas interactivos y se recomienda como lectura posterior al taller para reforzar los conceptos. El libro de Humble y Farley, Continuous Delivery, es lectura obligatoria del semestre completo, no del taller, y se recomienda abordar los capítulos 1 a 3 para entender el marco general. Las herramientas listadas deben estar instaladas antes del slide 19: Git en versión 2.40 o superior, el SDK de .NET 8, una cuenta activa en GitHub o Azure DevOps, y opcionalmente la librería QuestPDF para el Hito 3 donde se implementa la exportación a PDF. </a:t>
            </a:r>
            <a:endParaRPr dirty="0" lang="en-US" smtClean="0"/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Instalación obligatoria: (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Segùn</a:t>
            </a:r>
            <a:r>
              <a:rPr baseline="0"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 </a:t>
            </a:r>
            <a:r>
              <a:rPr baseline="0"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gùia</a:t>
            </a:r>
            <a:r>
              <a:rPr baseline="0"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aseline="0"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r>
              <a:rPr baseline="0"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en el caso de los estudiantes pueden usar el IDE que consideren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≥ 2.40 (verifiquen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Cuenta en GitHub 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.NET 8 SDK. 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Server 2017 (o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LocalDB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pruebas).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(viene con la plantilla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Opcional: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QuestPDF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el Hito 3.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Recursos de lectura: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Guía Metodológica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(secciones 3, 4, 10, 11) — es la fuente base del curso. Léanla en paralelo.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Driessen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(2010), "A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successful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branching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el artículo original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Léanlo antes del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9.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Atlassian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tutorial visual complementario.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Humble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Farley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cap. 1-3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lectura obligatoria del semestre, no del taller.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 es un taller de instalación, pero sin estas herramientas no podrán ejecutar lo que viene. Verifíquenlas ahora.“ </a:t>
            </a:r>
          </a:p>
          <a:p>
            <a:endParaRPr dirty="0" lang="en-US"/>
          </a:p>
        </p:txBody>
      </p:sp>
      <p:sp>
        <p:nvSpPr>
          <p:cNvPr id="10488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93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una empresa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multisucursal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hoy controla sus medios (equipos electrónicos y mobiliario) en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hojas de cálculo dispersas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Eso significa: sin trazabilidad, sin reportes consolidados, sin control centralizado. Si un equipo se daña en una sucursal, nadie en dirección lo sabe hasta el cierre de mes.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sistema debe resolver 8 requerimientos clave: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Multisucursal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(varias ubicaciones).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Inventario heterogéneo (electrónicos + mobiliario).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Reportes para dirección y sucursal.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Integración con intranet corporativa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LDAP).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 roles: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/ Sucursal.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 de equipos electrónicos y mobiliario.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Cuatro reportes (a, b, c, d).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Exportación PDF.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Integración con intranet (cuadro de mando del director).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≤3 niveles de navegación.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SQL Server 2017.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contexto importa porque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 decisión de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tomemos después responde a un requerimiento real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Por ejemplo: la integración con intranet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9) genera el riesgo R4 y justifica la rama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/intranet-api en H4.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"No estamos versionando código por moda; estamos versionando porque este sistema tiene 4 hitos, 3 entregas formales y un cliente que firma actas."</a:t>
            </a:r>
          </a:p>
          <a:p>
            <a:endParaRPr dirty="0" lang="en-US"/>
          </a:p>
        </p:txBody>
      </p:sp>
      <p:sp>
        <p:nvSpPr>
          <p:cNvPr id="10489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2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arquitectura de 3 capas es el esqueleto del sistema. Cada capa tiene una responsabilidad única: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 1 — Presentación (</a:t>
            </a:r>
            <a:r>
              <a:rPr b="1" dirty="0" sz="1200" i="0" kern="1200" lang="es-ES" strike="noStrike" u="none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"/>
              </a:rPr>
              <a:t>ASP.NET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Core MVC):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ViewModels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Razor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 lo que ve el usuario. Aquí llega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LDAP y la integración con la intranet.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 2 — Lógica de Negocio (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DTOs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validaciones, reglas de negocio,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ReporteService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LdapAuthService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Aquí vive la inteligencia del sistema.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Capa 3 — Acceso a Datos (EF Core +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DbContext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IRepository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&lt;T&gt;,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UnitOfWork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Aquí se habla con SQL Server 2017.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Principios de diseño: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Separación de responsabilidades: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cada capa tiene un único motivo de cambio. Si cambia la BD, solo toca la capa 3.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Testabilidad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los repositorios son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mockeables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Por eso podemos escribir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 tocar SQL Server.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Estructura .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sln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refleja las capas: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Data,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Web,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 proyectos).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Patrón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IRepository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&lt;T&gt; desacopla la lógica de EF Core. Si mañana cambian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Dapper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solo se modifica la implementación.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¿Por qué esto importa para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 Porque las ramas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deben respetar las capas: una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"reportes" toca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Web, no Data. Eso facilita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reduce conflictos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"Si un PR toca las 3 capas a la vez, probablemente no es una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son tres."</a:t>
            </a:r>
            <a:endParaRPr b="0" dirty="0" sz="1200" i="0" kern="1200" lang="es-ES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4902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0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archivo HabanaEntregas.sln tiene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proyectos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cada uno con un rol: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Entidades,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Enums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Sin dependencias externas.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DbContext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Repositories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Migrations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Depende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Lógica de negocio,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DTOs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Depende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Data.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Web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b="0" dirty="0" sz="1200" i="0" kern="1200" lang="es-ES" strike="noStrike" u="none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"/>
              </a:rPr>
              <a:t>ASP.NET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Core MVC,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Views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Depende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Services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Moq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pruebas de integración. Depende de todos.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equipo es de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 estudiantes con roles rotativos por hito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Esto es clave: si los roles no rotan, el conocimiento se concentra y el riesgo R6 (curva de aprendizaje) se agrava. La rotación garantiza que todos toquen todas las capas.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estructura del .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la estructura del equipo deben espejarse: si hay 5 proyectos y 5 personas, cada uno puede ser "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owner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de un proyecto por hito, y luego rotar. Eso es lo que permite que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funcione con CODEOWNERS.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"Un equipo de 5 con roles rotativos y 5 proyectos en el .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es casualidad: es diseño organizacional."</a:t>
            </a:r>
            <a:endParaRPr b="0" dirty="0" sz="1200" i="0" kern="1200" lang="es-ES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490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2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Cada hito del proyecto se convierte en un ciclo de release completo en GitFlow. El Hito 1 es la excepción a la regla de entregable formal al cliente: no produce una entrega </a:t>
            </a:r>
            <a:r>
              <a:rPr dirty="0" lang="en-US" err="1"/>
              <a:t>firmada</a:t>
            </a:r>
            <a:r>
              <a:rPr dirty="0" lang="en-US" smtClean="0"/>
              <a:t>, 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la tabla de ruta del proyecto. La cadena de ramas es siempre la misma: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Memorícenla.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"Cada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una promesa al cliente. No se etiqueta lo que no está probado."</a:t>
            </a:r>
            <a:endParaRPr b="0" dirty="0" sz="1200" i="0" kern="1200" lang="es-ES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4912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18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un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modelo de organización de ramas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propuesto por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Vincent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Driessen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2010. Define: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Dos ramas principales: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(producción)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(integración).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Tres tipos de ramas de apoyo: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Reglas estrictas: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nace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muere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nace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muere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y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(back-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nace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muere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y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Comparativa: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planificadas. Ideal para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porque hay 4 hitos con fechas y actas.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Trunk-based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integración continua extrema. Ideal para SaaS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diarios.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Dato importante: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Driessen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actualizó su post en 2020 y dijo "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es para todos los proyectos". Por eso es clave entender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cuándo usarlo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cuando hay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planificadas y un cliente que firma entregas. Ese es exactamente el caso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es la única forma; es la forma correcta para este proyecto."</a:t>
            </a:r>
          </a:p>
          <a:p>
            <a:endParaRPr dirty="0" lang="en-US"/>
          </a:p>
        </p:txBody>
      </p:sp>
      <p:sp>
        <p:nvSpPr>
          <p:cNvPr id="104918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7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27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Esta diapositiva consolida el vocabulario mínimo que el equipo debe dominar antes del taller práctico. COMMIT: como pulsar "Guardar" en un documento Word, pero con un mensaje descriptivo y un hash SHA único; en HabanaEntregas cada commit debe ser atómico (una sola idea) y seguir Conventional Commits (feat, fix, docs, refactor, chore). BRANCH: como una sala de ensayo separada donde se trabaja sin interrumpir a los demás; en HabanaEntregas cada feature tiene su propia sala. MERGE: como fusionar dos versiones de un documento; existen tres modos —fast-forward, no-ff (recomendado en release/hotfix) y squash (recomendado en feature) — la elección del modo afecta la legibilidad del historial. PULL REQUEST: como el jurado de una tesis, el código se revisa antes de aprobar el merge; en HabanaEntregas todo PR requiere aprobación del Líder técnico más CI verde. TAG: como el sello de la biblioteca nacional, inmutable, identifica una versión entregable; en HabanaEntregas v1.0-E1, v1.1-E2, v2.0-E3. RELEASE: como la publicación del libro, el cliente la recibe formalmente. HOTFIX: como la reimpresión urgente por errata, se aplica directo a producción y se propaga a develop para no perder el fix</a:t>
            </a:r>
            <a:r>
              <a:rPr dirty="0" lang="en-US" smtClean="0"/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Estos 7 términos son el vocabulario mínimo para el taller: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snapshot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puntual del repositorio. Ejemplo: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integrar LDAP.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línea de desarrollo paralela. Ejemplo: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ldap-auth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combina el histórico de dos ramas. Ejemplo: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--no-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/1.0.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Pull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Request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solicitud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revisión por pares. Ejemplo: PR #14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marcador inmutable sobre un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Ejemplo: v1.0-E1.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versión publicada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Ejemplo: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/1.0 → v1.0-E1.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parche urgente sobre producción. Ejemplo: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pdf-layout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Analogía: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"Cada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un paralelo de una novela;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un capítulo guardado;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la edición final;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la portada firmada.“ Esa analogía es útil porque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abstracto.</a:t>
            </a:r>
          </a:p>
          <a:p>
            <a:endParaRPr dirty="0" lang="en-US"/>
          </a:p>
        </p:txBody>
      </p:sp>
      <p:sp>
        <p:nvSpPr>
          <p:cNvPr id="104927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37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37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pipeline CI/CD es una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secuencia automatizada de etapas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Para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tiene 7 etapas: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Trigger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o PR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restore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-c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test --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:"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XPlat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Coverage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 con umbral ≥60%.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Quality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Gate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falla si cobertura &lt;60% o hay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warnings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críticos.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-c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-o ./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solo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/*.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solo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v* sobre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(con aprobación manual).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YAML mínimo se los doy listo para copiar. No necesitan memorizarlo; necesitan entender qué hace cada línea.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Las reglas de protección son clave: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solo reciben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vía PR aprobado, con CI verde y revisión de CODEOWNERS. Sin esto,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solo una convención, no una garantía.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"El pipeline es el guardián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si el CI está rojo, nadie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mergea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b="0" dirty="0" sz="1200" i="0" kern="1200" lang="es-ES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4937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4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4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Hay dos "CD" que se confunden: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cada cambio que pasa CI está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desplegar a producción, pero el despliegue requiere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aprobación manual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Hay un botón "Aprobar".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cada cambio que pasa CI se despliega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automáticamente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producción, sin intervención humana. No hay botón.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Pros y contras: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+control humano, +sectores regulados, +soporta UAT. −ciclo más lento, −cuello de botella humano.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+ciclo mínimo, +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feedback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inmediato. −requiere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muy sólidos, −no apto para cambios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breaking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usa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Delivery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las entregas E1-E3 requieren aprobación del cliente y UAT formal.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 usa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Continuous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Deployment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porque el cliente exige UAT por hito.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pipeline típico es: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/)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main+tag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secrets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GitHub/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"El botón 'Aprobar' no es burocracia; es el contrato con el cliente."</a:t>
            </a:r>
          </a:p>
          <a:p>
            <a:endParaRPr dirty="0" lang="en-US"/>
          </a:p>
        </p:txBody>
      </p:sp>
      <p:sp>
        <p:nvSpPr>
          <p:cNvPr id="10494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58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58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CHECKOUT: descarga el código del repo al runner. RESTORE: descarga paquetes NuGet (Microsoft.EntityFrameworkCore.SqlServer, Novell.Directory.Ldap.NETStandard, QuestPDF, xUnit, Moq). BUILD: compila la solución en modo Release. TEST: ejecuta xUnit con cobertura usando coverlet más ReportGenerator. PUBLISH: genera el artifact desplegable en /publish. DEPLOY: con webdeploy (msdeploy) o run-from-package en IIS, usa un Publish Profile subido como secret. Los RUNNERS son máquinas efímeras proporcionadas por GitHub o Azure; para HabanaEntregas conviene windows-latest porque SQL Server 2017 más IIS están en Windows Server y algunos paquetes como Novell.Directory.Ldap tienen matices en Linux. Los SECRETS nunca se versionan: LDAP_HOST, LDAP_DOMAIN, SQL_CONN_STR (cadena de conexión a SQL Server 2017), IIS_PUBLISH_PROFILE (XML exportado de IIS). El YAML mostrado es la base mínima del pipeline; en la realidad se añaden jobs separados para publish y deploy, condicionados al branch source (release o main). Conectar con los slides 19 a 22 donde se ven los comandos Git que disparan este pipeline. Insistir en que el pipeline vive en el propio repo como código, versionado junto con la aplicación.</a:t>
            </a:r>
          </a:p>
        </p:txBody>
      </p:sp>
      <p:sp>
        <p:nvSpPr>
          <p:cNvPr id="104958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64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64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1-2) tiene 8 tareas y 3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sugeridas: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Configurar proyecto </a:t>
            </a:r>
            <a:r>
              <a:rPr b="0" dirty="0" sz="1200" i="0" kern="1200" lang="es-ES" strike="noStrike" u="none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1"/>
              </a:rPr>
              <a:t>ASP.NET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Core MVC + EF Core + SQL Server.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Configurar LDAP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Novell.Directory.Ldap.NETStandard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Diseñar BD: Medios,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EquiposElectronicos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Mobiliario, Sucursal.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Repository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UnitOfWork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Crear entidades (Medio abstracta,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EquipoElectronico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Mobiliario).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logout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roles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/Sucursal.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 básico para Sucursal.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Migración inicial EF Core.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Ramas sugeridas: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(con squash). Ejemplo: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checkout -b feature/</a:t>
            </a:r>
            <a:r>
              <a:rPr dirty="0" lang="en-US" err="1" smtClean="0"/>
              <a:t>Ldap-auth</a:t>
            </a:r>
            <a:r>
              <a:rPr dirty="0" lang="en-US" smtClean="0"/>
              <a:t> develop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commit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push</a:t>
            </a:r>
          </a:p>
          <a:p>
            <a:r>
              <a:rPr dirty="0" lang="en-US" smtClean="0"/>
              <a:t># PR → merge → squash a develop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Criterios de aceptación: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compila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LDAP válido + rol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accede CRUD.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H1 no produce entregable formal, pero internamente genera 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v0.1-dev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Es la base estable sobre la que se construye H2.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"H1 es invisible para el cliente, pero sin él no hay H2."</a:t>
            </a:r>
          </a:p>
          <a:p>
            <a:endParaRPr dirty="0" lang="en-US"/>
          </a:p>
        </p:txBody>
      </p:sp>
      <p:sp>
        <p:nvSpPr>
          <p:cNvPr id="104964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1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7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H2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3-4) tiene 7 tareas: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CRUD completo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EquiposElectronicos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Mobiliario (herencia TPH).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Vistas específicas por tipo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dropdowns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dinámicos.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ReporteService.GetEquiposPorTipoYMarca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(LINQ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GroupBy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ReporteService.GetMediosEnMalEstadoPorTipo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Vistas de reportes con Chart.js + filtros.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Navegación ≤3 niveles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Bootstrap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datatables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Pruebas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cobertura ≥60%.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Ramas: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3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/1.0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Comandos clave: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dirty="0" lang="en-US" err="1" smtClean="0"/>
              <a:t>git</a:t>
            </a:r>
            <a:r>
              <a:rPr dirty="0" lang="en-US" smtClean="0"/>
              <a:t> checkout -b release/1.0 develop   # </a:t>
            </a:r>
            <a:r>
              <a:rPr dirty="0" lang="en-US" err="1" smtClean="0"/>
              <a:t>congelar</a:t>
            </a:r>
            <a:r>
              <a:rPr dirty="0" lang="en-US" smtClean="0"/>
              <a:t> feature-list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checkout main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merge --no-</a:t>
            </a:r>
            <a:r>
              <a:rPr dirty="0" lang="en-US" err="1" smtClean="0"/>
              <a:t>ff</a:t>
            </a:r>
            <a:r>
              <a:rPr dirty="0" lang="en-US" smtClean="0"/>
              <a:t> release/1.0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tag -a v1.0-E1 -m '</a:t>
            </a:r>
            <a:r>
              <a:rPr dirty="0" lang="en-US" err="1" smtClean="0"/>
              <a:t>Entrega</a:t>
            </a:r>
            <a:r>
              <a:rPr dirty="0" lang="en-US" smtClean="0"/>
              <a:t> 1‘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Criterios: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CRUD completo + reportes a/b + validaciones + cobertura ≥60%.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dotnet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GitHub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"E1 es la primera vez que el cliente firma. Todo debe estar probado."</a:t>
            </a:r>
          </a:p>
          <a:p>
            <a:endParaRPr dirty="0" lang="en-US"/>
          </a:p>
        </p:txBody>
      </p:sp>
      <p:sp>
        <p:nvSpPr>
          <p:cNvPr id="10497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77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77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H3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5-6) tiene 8 tareas: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Reportes (c) principales proveedores y (d) costo promedio por tipo.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DTOs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ProveedorPrincipalDTO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CostoPromedioDTO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PdfExportService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QuestPDF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TextSharp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IReportExporter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(extensible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xlsx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csv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Vistas de reportes (c)(d) con gráficos comparativos.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Botones de exportación PDF en todas las vistas.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unitarios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ReporteService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integración PDF.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Performance con grandes volúmenes de datos.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Ramas: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/1.1 +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pdf-layout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(ejemplo real):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-b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pdf-layout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# bug en producción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'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corregir encabezado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QuestPDF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&amp;&amp;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--no-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pdf-layout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-a v1.1.1 -m '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PDF'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&amp;&amp;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--no-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pdf-layout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Criterios: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reportes c/d + PDF operativo + arquitectura extensible.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Lección: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resiliencia en producción. Nace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"Un bug crítico no espera al próximo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por eso existe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/."</a:t>
            </a:r>
          </a:p>
          <a:p>
            <a:endParaRPr b="0" dirty="0" sz="1200" i="0" kern="1200" lang="es-ES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4977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4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84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H4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7-8) tiene 8 tareas: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Definir contrato JSON/XML con intranet.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IntranetService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PrepareDashboardData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SendToIntranet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DashboardController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[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Authorize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(Roles=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)].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Pruebas de integración intranet (cliente HTTP,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E2E).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Ajustes finales según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feedback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cliente.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Documentación final: arquitectura, manual usuario, manual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admin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Despliegue en IIS sobre Windows Server con SQL Server 2017.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Pruebas UAT con cliente + acta de aceptación formal.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Ramas: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2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/2.0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v2.0-E3.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Entrega formal (sección 9.7 Guía):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acta firmada + transición al equipo de mantenimiento + plan de soporte 3 meses.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Criterios: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intranet recibe datos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completa + IIS+SQL2017.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cliente valida con datos reales antes del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"v2.0-E3 no es un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más; es el sistema final en producción."</a:t>
            </a:r>
            <a:endParaRPr b="0" dirty="0" sz="1200" i="0" kern="1200" lang="es-ES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4984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8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8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Este es el primer paso práctico. Sigan los comandos en su terminal: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1. Clonar el repo vacío desde GitHub/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Azure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clone &lt;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url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cd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2. Crear rama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(si no existe)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-b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-b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3. Empujar ambas ramas al remoto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-u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-u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4. Configurar .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.NET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echo '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*.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.vs/' &gt; .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'chore: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.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gitignore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</a:t>
            </a:r>
          </a:p>
          <a:p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5. En GitHub: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Settings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&gt;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rule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-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before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merging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-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status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(CI verde)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-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CODEOWNERS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review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Objetivo: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tener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protegidas y listas para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Verificación: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GitHub deben ver 2 ramas y las reglas de protección activas.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"Sin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protection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una sugerencia; con ella, es una regla."</a:t>
            </a:r>
          </a:p>
          <a:p>
            <a:endParaRPr dirty="0" lang="en-US"/>
          </a:p>
        </p:txBody>
      </p:sp>
      <p:sp>
        <p:nvSpPr>
          <p:cNvPr id="10498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96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99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Subtareas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(tiempo estimado: 20 min):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Crear rama: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checkout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-b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ldap-auth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Implementar LDAP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Novell.Directory.Ldap.NETStandard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atómicos (1 idea = 1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Conventional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/chore).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Empujar la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-u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origin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ldap-auth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Abrir PR hacia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descripción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checklist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Ejemplo de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atómicos: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"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integrar LDAP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Novell.Directory.Ldap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"test(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añadir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unitarios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LdapAuthService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-m "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): documentar configuración LDAP en README“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Regla de oro: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un cambio lógico. Si necesitas "y" en el mensaje, probablemente son dos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"Un PR gigante es un PR que nadie revisa. Un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gigante es un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nadie entiende."</a:t>
            </a:r>
          </a:p>
          <a:p>
            <a:endParaRPr b="0" dirty="0" sz="1200" i="0" kern="1200" lang="es-ES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499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1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01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 flujo de PR tiene 4 etapas: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Abrir PR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Revisión por pares (QA/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Líder técnico).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 verde obligatorio.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squash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Protección de ramas: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protection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el flujo PR es optativo. Con ella,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solo reciben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vía PR aprobado.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Checklist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revisión por pares (8 criterios):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¿Pasa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cobertura ≥60%?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¿Sigue arquitectura 3 capas (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Controller→Service→Repository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)?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¿No rompe navegación (≤3 niveles)?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¿Documenta la API pública con comentarios XML?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¿No introduce secretos en el código (LDAP_HOST, etc.)?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¿Usa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Conventional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el mensaje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¿No hay console.log ni código comentado?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¿Actualiza el CHANGELOG.md si aplica?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squash: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limpio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 cada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Conserva el histórico de la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dentro del PR pero colapsa el ruido.</a:t>
            </a:r>
          </a:p>
          <a:p>
            <a:r>
              <a:rPr dirty="0" lang="en-US" err="1" smtClean="0"/>
              <a:t>gh</a:t>
            </a:r>
            <a:r>
              <a:rPr dirty="0" lang="en-US" smtClean="0"/>
              <a:t> </a:t>
            </a:r>
            <a:r>
              <a:rPr dirty="0" lang="en-US" err="1" smtClean="0"/>
              <a:t>pr</a:t>
            </a:r>
            <a:r>
              <a:rPr dirty="0" lang="en-US" smtClean="0"/>
              <a:t> merge 14 --squash --delete-branch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"El PR no es un trámite; es la última red de seguridad antes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."</a:t>
            </a:r>
            <a:endParaRPr dirty="0" lang="en-US"/>
          </a:p>
        </p:txBody>
      </p:sp>
      <p:sp>
        <p:nvSpPr>
          <p:cNvPr id="105001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09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09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Pasos del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Congelar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feature-list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(cerrar nuevas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Abrir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/1.0 desde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Bugfixes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última hora solo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--no-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v1.0-E1.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--no-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(conservar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Publicar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GitHub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Desplegar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staging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UAT.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Comandos: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dirty="0" lang="en-US" smtClean="0"/>
              <a:t># 1. </a:t>
            </a:r>
            <a:r>
              <a:rPr dirty="0" lang="en-US" err="1" smtClean="0"/>
              <a:t>Abrir</a:t>
            </a:r>
            <a:r>
              <a:rPr dirty="0" lang="en-US" smtClean="0"/>
              <a:t> release </a:t>
            </a:r>
            <a:r>
              <a:rPr dirty="0" lang="en-US" err="1" smtClean="0"/>
              <a:t>desde</a:t>
            </a:r>
            <a:r>
              <a:rPr dirty="0" lang="en-US" smtClean="0"/>
              <a:t> develop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checkout -b release/1.0 develop</a:t>
            </a:r>
          </a:p>
          <a:p>
            <a:endParaRPr dirty="0" lang="en-US" smtClean="0"/>
          </a:p>
          <a:p>
            <a:r>
              <a:rPr dirty="0" lang="en-US" smtClean="0"/>
              <a:t># 2. (</a:t>
            </a:r>
            <a:r>
              <a:rPr dirty="0" lang="en-US" err="1" smtClean="0"/>
              <a:t>Opcional</a:t>
            </a:r>
            <a:r>
              <a:rPr dirty="0" lang="en-US" smtClean="0"/>
              <a:t>) </a:t>
            </a:r>
            <a:r>
              <a:rPr dirty="0" lang="en-US" err="1" smtClean="0"/>
              <a:t>bugfixes</a:t>
            </a:r>
            <a:r>
              <a:rPr dirty="0" lang="en-US" smtClean="0"/>
              <a:t> de </a:t>
            </a:r>
            <a:r>
              <a:rPr dirty="0" lang="en-US" err="1" smtClean="0"/>
              <a:t>última</a:t>
            </a:r>
            <a:r>
              <a:rPr dirty="0" lang="en-US" smtClean="0"/>
              <a:t> hora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commit -m 'fix(</a:t>
            </a:r>
            <a:r>
              <a:rPr dirty="0" lang="en-US" err="1" smtClean="0"/>
              <a:t>reportes</a:t>
            </a:r>
            <a:r>
              <a:rPr dirty="0" lang="en-US" smtClean="0"/>
              <a:t>): </a:t>
            </a:r>
            <a:r>
              <a:rPr dirty="0" lang="en-US" err="1" smtClean="0"/>
              <a:t>corregir</a:t>
            </a:r>
            <a:r>
              <a:rPr dirty="0" lang="en-US" smtClean="0"/>
              <a:t> </a:t>
            </a:r>
            <a:r>
              <a:rPr dirty="0" lang="en-US" err="1" smtClean="0"/>
              <a:t>ordenamiento</a:t>
            </a:r>
            <a:r>
              <a:rPr dirty="0" lang="en-US" smtClean="0"/>
              <a:t> </a:t>
            </a:r>
            <a:r>
              <a:rPr dirty="0" lang="en-US" err="1" smtClean="0"/>
              <a:t>por</a:t>
            </a:r>
            <a:r>
              <a:rPr dirty="0" lang="en-US" smtClean="0"/>
              <a:t> </a:t>
            </a:r>
            <a:r>
              <a:rPr dirty="0" lang="en-US" err="1" smtClean="0"/>
              <a:t>marca</a:t>
            </a:r>
            <a:r>
              <a:rPr dirty="0" lang="en-US" smtClean="0"/>
              <a:t>'</a:t>
            </a:r>
          </a:p>
          <a:p>
            <a:endParaRPr dirty="0" lang="en-US" smtClean="0"/>
          </a:p>
          <a:p>
            <a:r>
              <a:rPr dirty="0" lang="en-US" smtClean="0"/>
              <a:t># 3. Merge a main con tag </a:t>
            </a:r>
            <a:r>
              <a:rPr dirty="0" lang="en-US" err="1" smtClean="0"/>
              <a:t>anotado</a:t>
            </a:r>
            <a:endParaRPr dirty="0" lang="en-US" smtClean="0"/>
          </a:p>
          <a:p>
            <a:r>
              <a:rPr dirty="0" lang="en-US" err="1" smtClean="0"/>
              <a:t>git</a:t>
            </a:r>
            <a:r>
              <a:rPr dirty="0" lang="en-US" smtClean="0"/>
              <a:t> checkout main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merge --no-</a:t>
            </a:r>
            <a:r>
              <a:rPr dirty="0" lang="en-US" err="1" smtClean="0"/>
              <a:t>ff</a:t>
            </a:r>
            <a:r>
              <a:rPr dirty="0" lang="en-US" smtClean="0"/>
              <a:t> release/1.0 -m 'Merge release/1.0 into main'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tag -a v1.0-E1 -m '</a:t>
            </a:r>
            <a:r>
              <a:rPr dirty="0" lang="en-US" err="1" smtClean="0"/>
              <a:t>Entrega</a:t>
            </a:r>
            <a:r>
              <a:rPr dirty="0" lang="en-US" smtClean="0"/>
              <a:t> 1: CRUD + </a:t>
            </a:r>
            <a:r>
              <a:rPr dirty="0" lang="en-US" err="1" smtClean="0"/>
              <a:t>reportes</a:t>
            </a:r>
            <a:r>
              <a:rPr dirty="0" lang="en-US" smtClean="0"/>
              <a:t> (a)(b)'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push origin main --tags</a:t>
            </a:r>
          </a:p>
          <a:p>
            <a:endParaRPr dirty="0" lang="en-US" smtClean="0"/>
          </a:p>
          <a:p>
            <a:r>
              <a:rPr dirty="0" lang="en-US" smtClean="0"/>
              <a:t># 4. Merge </a:t>
            </a:r>
            <a:r>
              <a:rPr dirty="0" lang="en-US" err="1" smtClean="0"/>
              <a:t>también</a:t>
            </a:r>
            <a:r>
              <a:rPr dirty="0" lang="en-US" smtClean="0"/>
              <a:t> a develop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checkout develop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merge --no-</a:t>
            </a:r>
            <a:r>
              <a:rPr dirty="0" lang="en-US" err="1" smtClean="0"/>
              <a:t>ff</a:t>
            </a:r>
            <a:r>
              <a:rPr dirty="0" lang="en-US" smtClean="0"/>
              <a:t> release/1.0 -m 'Back-merge release/1.0 into develop'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push origin develop</a:t>
            </a:r>
          </a:p>
          <a:p>
            <a:endParaRPr dirty="0" lang="en-US" smtClean="0"/>
          </a:p>
          <a:p>
            <a:r>
              <a:rPr dirty="0" lang="en-US" smtClean="0"/>
              <a:t># 5. </a:t>
            </a:r>
            <a:r>
              <a:rPr dirty="0" lang="en-US" err="1" smtClean="0"/>
              <a:t>Generar</a:t>
            </a:r>
            <a:r>
              <a:rPr dirty="0" lang="en-US" smtClean="0"/>
              <a:t> artifact con </a:t>
            </a:r>
            <a:r>
              <a:rPr dirty="0" lang="en-US" err="1" smtClean="0"/>
              <a:t>dotnet</a:t>
            </a:r>
            <a:r>
              <a:rPr dirty="0" lang="en-US" smtClean="0"/>
              <a:t> publish</a:t>
            </a:r>
          </a:p>
          <a:p>
            <a:r>
              <a:rPr dirty="0" lang="en-US" err="1" smtClean="0"/>
              <a:t>dotnet</a:t>
            </a:r>
            <a:r>
              <a:rPr dirty="0" lang="en-US" smtClean="0"/>
              <a:t> publish -c Release -o ./publish</a:t>
            </a:r>
          </a:p>
          <a:p>
            <a:r>
              <a:rPr dirty="0" lang="en-US" smtClean="0"/>
              <a:t>zip -r v1.0-E1.zip ./publish</a:t>
            </a:r>
          </a:p>
          <a:p>
            <a:endParaRPr dirty="0" lang="en-US" smtClean="0"/>
          </a:p>
          <a:p>
            <a:r>
              <a:rPr dirty="0" lang="en-US" smtClean="0"/>
              <a:t># 6. </a:t>
            </a:r>
            <a:r>
              <a:rPr dirty="0" lang="en-US" err="1" smtClean="0"/>
              <a:t>Subir</a:t>
            </a:r>
            <a:r>
              <a:rPr dirty="0" lang="en-US" smtClean="0"/>
              <a:t> a GitHub Releases</a:t>
            </a:r>
          </a:p>
          <a:p>
            <a:r>
              <a:rPr dirty="0" lang="en-US" err="1" smtClean="0"/>
              <a:t>gh</a:t>
            </a:r>
            <a:r>
              <a:rPr dirty="0" lang="en-US" smtClean="0"/>
              <a:t> release create v1.0-E1 --title "</a:t>
            </a:r>
            <a:r>
              <a:rPr dirty="0" lang="en-US" err="1" smtClean="0"/>
              <a:t>Entrega</a:t>
            </a:r>
            <a:r>
              <a:rPr dirty="0" lang="en-US" smtClean="0"/>
              <a:t> E1" v1.0-E1.zip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Versionado semántico: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MAJOR.MINOR.PATCH. v1.0-E1 = primera entrega del cliente.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"El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la firma;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el paquete; el acta es la aceptación."</a:t>
            </a:r>
          </a:p>
          <a:p>
            <a:endParaRPr dirty="0" lang="en-US"/>
          </a:p>
        </p:txBody>
      </p:sp>
      <p:sp>
        <p:nvSpPr>
          <p:cNvPr id="105009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7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17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Protocolo de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Detectar bug crítico en producción (E2 ya entregado).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Abrir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desde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(NO desde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Corregir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Conventional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--no-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v1.1.1.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--no-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ff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(no perder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Publicar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actualizado.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Smoke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producción.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Comandos: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dirty="0" lang="en-US" smtClean="0"/>
              <a:t># 1. </a:t>
            </a:r>
            <a:r>
              <a:rPr dirty="0" lang="en-US" err="1" smtClean="0"/>
              <a:t>Crear</a:t>
            </a:r>
            <a:r>
              <a:rPr dirty="0" lang="en-US" smtClean="0"/>
              <a:t> hotfix </a:t>
            </a:r>
            <a:r>
              <a:rPr dirty="0" lang="en-US" err="1" smtClean="0"/>
              <a:t>desde</a:t>
            </a:r>
            <a:r>
              <a:rPr dirty="0" lang="en-US" smtClean="0"/>
              <a:t> main (NO </a:t>
            </a:r>
            <a:r>
              <a:rPr dirty="0" lang="en-US" err="1" smtClean="0"/>
              <a:t>desde</a:t>
            </a:r>
            <a:r>
              <a:rPr dirty="0" lang="en-US" smtClean="0"/>
              <a:t> develop)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checkout main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checkout -b hotfix/pdf-layout main</a:t>
            </a:r>
          </a:p>
          <a:p>
            <a:endParaRPr dirty="0" lang="en-US" smtClean="0"/>
          </a:p>
          <a:p>
            <a:r>
              <a:rPr dirty="0" lang="en-US" smtClean="0"/>
              <a:t># 2. </a:t>
            </a:r>
            <a:r>
              <a:rPr dirty="0" lang="en-US" err="1" smtClean="0"/>
              <a:t>Corregir</a:t>
            </a:r>
            <a:r>
              <a:rPr dirty="0" lang="en-US" smtClean="0"/>
              <a:t> el bug</a:t>
            </a:r>
          </a:p>
          <a:p>
            <a:r>
              <a:rPr dirty="0" lang="en-US" smtClean="0"/>
              <a:t># ...</a:t>
            </a:r>
            <a:r>
              <a:rPr dirty="0" lang="en-US" err="1" smtClean="0"/>
              <a:t>editar</a:t>
            </a:r>
            <a:r>
              <a:rPr dirty="0" lang="en-US" smtClean="0"/>
              <a:t> </a:t>
            </a:r>
            <a:r>
              <a:rPr dirty="0" lang="en-US" err="1" smtClean="0"/>
              <a:t>PDFReportExporter.cs</a:t>
            </a:r>
            <a:r>
              <a:rPr dirty="0" lang="en-US" smtClean="0"/>
              <a:t>...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commit -m 'fix(pdf): </a:t>
            </a:r>
            <a:r>
              <a:rPr dirty="0" lang="en-US" err="1" smtClean="0"/>
              <a:t>corregir</a:t>
            </a:r>
            <a:r>
              <a:rPr dirty="0" lang="en-US" smtClean="0"/>
              <a:t> </a:t>
            </a:r>
            <a:r>
              <a:rPr dirty="0" lang="en-US" err="1" smtClean="0"/>
              <a:t>encabezado</a:t>
            </a:r>
            <a:r>
              <a:rPr dirty="0" lang="en-US" smtClean="0"/>
              <a:t> </a:t>
            </a:r>
            <a:r>
              <a:rPr dirty="0" lang="en-US" err="1" smtClean="0"/>
              <a:t>en</a:t>
            </a:r>
            <a:r>
              <a:rPr dirty="0" lang="en-US" smtClean="0"/>
              <a:t> </a:t>
            </a:r>
            <a:r>
              <a:rPr dirty="0" lang="en-US" err="1" smtClean="0"/>
              <a:t>QuestPDF</a:t>
            </a:r>
            <a:r>
              <a:rPr dirty="0" lang="en-US" smtClean="0"/>
              <a:t>'</a:t>
            </a:r>
          </a:p>
          <a:p>
            <a:endParaRPr dirty="0" lang="en-US" smtClean="0"/>
          </a:p>
          <a:p>
            <a:r>
              <a:rPr dirty="0" lang="en-US" smtClean="0"/>
              <a:t># 3. Merge a main con tag patch v1.1.1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checkout main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merge --no-</a:t>
            </a:r>
            <a:r>
              <a:rPr dirty="0" lang="en-US" err="1" smtClean="0"/>
              <a:t>ff</a:t>
            </a:r>
            <a:r>
              <a:rPr dirty="0" lang="en-US" smtClean="0"/>
              <a:t> hotfix/pdf-layout -m 'Merge hotfix/pdf-layout into main'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tag -a v1.1.1 -m 'Hotfix PDF: </a:t>
            </a:r>
            <a:r>
              <a:rPr dirty="0" lang="en-US" err="1" smtClean="0"/>
              <a:t>encabezado</a:t>
            </a:r>
            <a:r>
              <a:rPr dirty="0" lang="en-US" smtClean="0"/>
              <a:t> </a:t>
            </a:r>
            <a:r>
              <a:rPr dirty="0" lang="en-US" err="1" smtClean="0"/>
              <a:t>corregido</a:t>
            </a:r>
            <a:r>
              <a:rPr dirty="0" lang="en-US" smtClean="0"/>
              <a:t>'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push origin main --tags</a:t>
            </a:r>
          </a:p>
          <a:p>
            <a:endParaRPr dirty="0" lang="en-US" smtClean="0"/>
          </a:p>
          <a:p>
            <a:r>
              <a:rPr dirty="0" lang="en-US" smtClean="0"/>
              <a:t># 4. Merge TAMBIÉN a develop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checkout develop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merge --no-</a:t>
            </a:r>
            <a:r>
              <a:rPr dirty="0" lang="en-US" err="1" smtClean="0"/>
              <a:t>ff</a:t>
            </a:r>
            <a:r>
              <a:rPr dirty="0" lang="en-US" smtClean="0"/>
              <a:t> hotfix/pdf-layout -m 'Back-merge hotfix/pdf-layout into develop'</a:t>
            </a:r>
          </a:p>
          <a:p>
            <a:r>
              <a:rPr dirty="0" lang="en-US" err="1" smtClean="0"/>
              <a:t>git</a:t>
            </a:r>
            <a:r>
              <a:rPr dirty="0" lang="en-US" smtClean="0"/>
              <a:t> push origin develop</a:t>
            </a:r>
          </a:p>
          <a:p>
            <a:endParaRPr dirty="0" lang="en-US" smtClean="0"/>
          </a:p>
          <a:p>
            <a:r>
              <a:rPr dirty="0" lang="en-US" smtClean="0"/>
              <a:t># 5. </a:t>
            </a:r>
            <a:r>
              <a:rPr dirty="0" lang="en-US" err="1" smtClean="0"/>
              <a:t>Publicar</a:t>
            </a:r>
            <a:r>
              <a:rPr dirty="0" lang="en-US" smtClean="0"/>
              <a:t> </a:t>
            </a:r>
            <a:r>
              <a:rPr dirty="0" lang="en-US" err="1" smtClean="0"/>
              <a:t>nuevo</a:t>
            </a:r>
            <a:r>
              <a:rPr dirty="0" lang="en-US" smtClean="0"/>
              <a:t> artifact y </a:t>
            </a:r>
            <a:r>
              <a:rPr dirty="0" lang="en-US" err="1" smtClean="0"/>
              <a:t>desplegar</a:t>
            </a:r>
            <a:r>
              <a:rPr dirty="0" lang="en-US" smtClean="0"/>
              <a:t> a prod</a:t>
            </a:r>
          </a:p>
          <a:p>
            <a:r>
              <a:rPr dirty="0" lang="en-US" err="1" smtClean="0"/>
              <a:t>dotnet</a:t>
            </a:r>
            <a:r>
              <a:rPr dirty="0" lang="en-US" smtClean="0"/>
              <a:t> publish -c Release -o ./publish</a:t>
            </a:r>
          </a:p>
          <a:p>
            <a:r>
              <a:rPr dirty="0" lang="en-US" err="1" smtClean="0"/>
              <a:t>gh</a:t>
            </a:r>
            <a:r>
              <a:rPr dirty="0" lang="en-US" smtClean="0"/>
              <a:t> release create v1.1.1 --title "Hotfix PDF" v1.1.1.zip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Regla de oro: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nace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puede tener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inestables.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Diferencia: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bug crítico en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no puede esperar.</a:t>
            </a:r>
          </a:p>
          <a:p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nueva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planificada en 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backlog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 el paracaídas del equipo; ojalá no lo usen, pero deben saber cómo abrirlo."</a:t>
            </a:r>
          </a:p>
          <a:p>
            <a:endParaRPr dirty="0" lang="en-US"/>
          </a:p>
        </p:txBody>
      </p:sp>
      <p:sp>
        <p:nvSpPr>
          <p:cNvPr id="105017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19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1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 err="1" smtClean="0"/>
              <a:t>GitFlow</a:t>
            </a:r>
            <a:r>
              <a:rPr dirty="0" lang="en-US" smtClean="0"/>
              <a:t> </a:t>
            </a:r>
            <a:r>
              <a:rPr dirty="0" lang="en-US"/>
              <a:t>y CI/CD mitigan riesgos concretos del caso. R1 (cambios de requisitos): las ramas feature cortas permiten absorber cambios sin romper develop; el backlog priorizado decide qué feature entra en qué release. R3 (límites difusos): cada hito se entrega como release con tag, lo que fuerza a definir alcance por escrito antes de abrir release/. R4 (incompatibilidad intranet): el prototipo de feature/intranet-api en H1, validado por CI en cada push, detecta incompatibilidades de formato JSON antes de H4. R6 (curva aprendizaje): CI con tests xUnit actúa como red de seguridad — el estudiante en rol Backend puede romper una regla de negocio y el test falla en minutos, sin esperas. R7 (pérdida de código): Git remoto (GitHub/Azure) + commits frecuentes + ramas feature + hotfix para recuperación de calidad. R8 (usabilidad): el checklist de PR incluye verificación de navegación ≤3 niveles. Mencionar que la matriz de riesgos es viva (se revisa al inicio de cada hito, sección 14 de la </a:t>
            </a:r>
            <a:r>
              <a:rPr dirty="0" lang="en-US" err="1"/>
              <a:t>Guía</a:t>
            </a:r>
            <a:r>
              <a:rPr dirty="0" lang="en-US" smtClean="0"/>
              <a:t>).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"Cada riesgo tiene una rama o un pipeline que lo mitiga.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 es solo versionado; es gestión de riesgos."</a:t>
            </a:r>
            <a:endParaRPr dirty="0" lang="en-US"/>
          </a:p>
        </p:txBody>
      </p:sp>
      <p:sp>
        <p:nvSpPr>
          <p:cNvPr id="10501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26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26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 err="1" smtClean="0"/>
              <a:t>Cómo</a:t>
            </a:r>
            <a:r>
              <a:rPr dirty="0" lang="en-US" smtClean="0"/>
              <a:t> </a:t>
            </a:r>
            <a:r>
              <a:rPr dirty="0" lang="en-US"/>
              <a:t>convertir oportunidades en ventajas concretas con el </a:t>
            </a:r>
            <a:r>
              <a:rPr dirty="0" lang="en-US" err="1"/>
              <a:t>flujo</a:t>
            </a:r>
            <a:r>
              <a:rPr dirty="0" lang="en-US"/>
              <a:t> </a:t>
            </a:r>
            <a:r>
              <a:rPr dirty="0" lang="en-US" err="1" smtClean="0"/>
              <a:t>Git</a:t>
            </a:r>
            <a:r>
              <a:rPr dirty="0" lang="en-US" smtClean="0"/>
              <a:t>? </a:t>
            </a:r>
            <a:r>
              <a:rPr dirty="0" lang="en-US"/>
              <a:t>O1 (cliente colaborativo): cada release (E1, E2, E3) termina con una demo formal donde el cliente valida funcionalidad real —el feedback se captura en GitHub Issues etiquetadas por hito y se priorizan en el siguiente sprint; el acta firmada protege al equipo de cambios arbitrarios posteriores. O2 (licencias disponibles): al tener SQL Server 2017 + IIS desde el inicio, se despliega en staging desde H2 —no desde H4— lo que permite pruebas de carga y de integración LDAP en entorno real, detectando cuellos de botella antes del cierre. O3 (conocimiento TI del cliente): se co-crean prototipos en feature/intranet-api y feature/pdf-export —el cliente revisa los PRs técnicos y aporta especificaciones de formato JSON, evitando sorpresas en H4. O4 (equipo de 5 con roles rotativos): la rotación por release fuerza a documentar cada rol en la wiki del repo (ROL_BACKEND.md, ROL_DEVOPS.md), lo que se convierte en mentoría interna —el siguiente responsable del rol lee la wiki y arranca más rápido. Mencionar que estas oportunidades son únicas del contexto académico-empresarial de </a:t>
            </a:r>
            <a:r>
              <a:rPr dirty="0" lang="en-US" err="1"/>
              <a:t>HabanaEntregas</a:t>
            </a:r>
            <a:r>
              <a:rPr dirty="0" lang="en-US" smtClean="0"/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"Las oportunidades no se aprovechan solas; se aprovechan con ramas,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demos."</a:t>
            </a:r>
            <a:endParaRPr dirty="0" lang="en-US"/>
          </a:p>
        </p:txBody>
      </p:sp>
      <p:sp>
        <p:nvSpPr>
          <p:cNvPr id="10502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2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32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GitFlow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da trazabilidad: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cada hito (H1-H4) se entrega como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etiquetada (v1.0-E1, v1.1-E2, v2.0-E3) sobre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 histórico completo.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CI/CD reduce riesgo e integra temprano: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cada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push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dispara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tests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xUnit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cobertura ≥60%, garantizando que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siempre sea desplegable.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releases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entregables E1-E3: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 cliente recibe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artifacts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zip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publicados en GitHub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Releases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con acta firmada y UAT previo.</a:t>
            </a:r>
          </a:p>
          <a:p>
            <a:r>
              <a:rPr b="1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resiliencia en producción: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bugs críticos post-entrega se corrigen en minutos con rama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hotfix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 desde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1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Documentación continua y revisión por pares: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Wiki del repo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checklist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PR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Conventional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garantizan que la rotación de 5 roles funcione sin pérdida de conocimiento.</a:t>
            </a:r>
            <a:endParaRPr b="0" dirty="0" sz="1200" i="0" kern="1200" lang="es-ES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105032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39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3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 smtClean="0"/>
              <a:t>La </a:t>
            </a:r>
            <a:r>
              <a:rPr dirty="0" lang="en-US"/>
              <a:t>Guía Metodológica es el </a:t>
            </a:r>
            <a:r>
              <a:rPr dirty="0" lang="en-US" err="1"/>
              <a:t>documento</a:t>
            </a:r>
            <a:r>
              <a:rPr dirty="0" lang="en-US"/>
              <a:t> </a:t>
            </a:r>
            <a:r>
              <a:rPr dirty="0" lang="en-US" smtClean="0"/>
              <a:t>base. </a:t>
            </a:r>
            <a:r>
              <a:rPr dirty="0" lang="en-US"/>
              <a:t>Driessen (2010) es la fuente original de GitFlow — leerla antes de aplicar el flujo al </a:t>
            </a:r>
            <a:r>
              <a:rPr dirty="0" lang="en-US" err="1"/>
              <a:t>proyecto</a:t>
            </a:r>
            <a:r>
              <a:rPr dirty="0" lang="en-US"/>
              <a:t> </a:t>
            </a:r>
            <a:r>
              <a:rPr dirty="0" lang="en-US" smtClean="0"/>
              <a:t>final. </a:t>
            </a:r>
            <a:r>
              <a:rPr dirty="0" lang="en-US"/>
              <a:t>El libro de Humble &amp; Farley es lectura obligatoria del semestre — empezar con los capítulos 1-3 esta semana, profundizar en pipelines en los capítulos 5-7. Microsoft Learn se usa como referencia puntual: para comandos dotnet CLI, sintaxis EF Core, YAML de GitHub Actions. El tutorial de Atlassian es excelente para visualizar el flujo de ramas y se recomienda como complemento al slide 9. La documentación oficial de Git/GitHub/Azure DevOps es consulta permanente durante el desarrollo del proyecto. La práctica de esta semana es clave: crear el repo del proyecto final, configurar las ramas base, abrir el primer feature, hacer commits atómicos y activar CI. Sin esa práctica, el taller se olvida en una semana. Animar a usar el chat del curso para dudas </a:t>
            </a:r>
            <a:r>
              <a:rPr dirty="0" lang="en-US" err="1"/>
              <a:t>asíncronas</a:t>
            </a:r>
            <a:r>
              <a:rPr dirty="0" lang="en-US" smtClean="0"/>
              <a:t>.</a:t>
            </a:r>
          </a:p>
          <a:p>
            <a:r>
              <a:rPr b="0" dirty="0" sz="1200" i="0" kern="1200" lang="es-MX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 forma opcional como</a:t>
            </a:r>
            <a:r>
              <a:rPr baseline="0" b="0" dirty="0" sz="1200" i="0" kern="1200" lang="es-MX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como práctica de este talle pueden crear un repositorio para recrear el caso de estudio </a:t>
            </a:r>
            <a:r>
              <a:rPr baseline="0" b="0" dirty="0" sz="1200" i="0" kern="1200" lang="es-MX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HabanaEntregas</a:t>
            </a:r>
            <a:r>
              <a:rPr baseline="0" b="0" dirty="0" sz="1200" i="0" kern="1200" lang="es-MX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para su proyecto final: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Crear 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repo 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GitHub.</a:t>
            </a:r>
            <a:endParaRPr b="0" dirty="0" sz="1200" i="0" kern="1200" lang="es-ES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main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develop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branch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protection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Abrir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setup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-proyecto.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Hacer 3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Conventional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Commits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Abrir PR y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mergear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squash.</a:t>
            </a:r>
          </a:p>
          <a:p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Activar GitHub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Actions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con el YAML mínimo del </a:t>
            </a:r>
            <a:r>
              <a:rPr b="0" dirty="0" sz="1200" i="0" kern="1200" lang="es-ES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</a:t>
            </a: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11.</a:t>
            </a:r>
          </a:p>
          <a:p>
            <a:pPr algn="l" defTabSz="914400" eaLnBrk="1" fontAlgn="auto" hangingPunct="1" indent="0" latinLnBrk="0" marL="0" marR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Cada </a:t>
            </a:r>
            <a:r>
              <a:rPr baseline="0"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equipo debe entregar a su profesor el link </a:t>
            </a:r>
            <a:r>
              <a:rPr dirty="0" lang="en-US" smtClean="0"/>
              <a:t>un </a:t>
            </a:r>
            <a:r>
              <a:rPr dirty="0" lang="en-US" err="1" smtClean="0"/>
              <a:t>repositorio</a:t>
            </a:r>
            <a:r>
              <a:rPr dirty="0" lang="en-US" smtClean="0"/>
              <a:t> local </a:t>
            </a:r>
            <a:r>
              <a:rPr dirty="0" lang="en-US" err="1" smtClean="0"/>
              <a:t>segùn</a:t>
            </a:r>
            <a:r>
              <a:rPr baseline="0" dirty="0" lang="en-US" smtClean="0"/>
              <a:t> las </a:t>
            </a:r>
            <a:r>
              <a:rPr baseline="0" dirty="0" lang="en-US" err="1" smtClean="0"/>
              <a:t>indicaciones</a:t>
            </a:r>
            <a:r>
              <a:rPr baseline="0" dirty="0" lang="en-US" smtClean="0"/>
              <a:t> </a:t>
            </a:r>
            <a:r>
              <a:rPr baseline="0" dirty="0" lang="en-US" err="1" smtClean="0"/>
              <a:t>dadas</a:t>
            </a:r>
            <a:r>
              <a:rPr baseline="0" dirty="0" lang="en-US" smtClean="0"/>
              <a:t>, </a:t>
            </a:r>
            <a:r>
              <a:rPr baseline="0" dirty="0" lang="es-ES" smtClean="0"/>
              <a:t>a revisar el miércoles 21 de octubre</a:t>
            </a:r>
            <a:r>
              <a:rPr baseline="0" b="0" dirty="0" sz="1200" i="0" kern="1200" lang="es-ES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endParaRPr dirty="0" lang="en-US"/>
          </a:p>
        </p:txBody>
      </p:sp>
      <p:sp>
        <p:nvSpPr>
          <p:cNvPr id="10503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2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5042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2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Diapositiva de título">
    <p:spTree>
      <p:nvGrpSpPr>
        <p:cNvPr id="1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26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50427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algn="ctr" indent="0" marL="0">
              <a:buNone/>
              <a:defRPr sz="1800"/>
            </a:lvl1pPr>
            <a:lvl2pPr algn="ctr" indent="0" marL="342900">
              <a:buNone/>
              <a:defRPr sz="1500"/>
            </a:lvl2pPr>
            <a:lvl3pPr algn="ctr" indent="0" marL="685800">
              <a:buNone/>
              <a:defRPr sz="1350"/>
            </a:lvl3pPr>
            <a:lvl4pPr algn="ctr" indent="0" marL="1028700">
              <a:buNone/>
              <a:defRPr sz="1200"/>
            </a:lvl4pPr>
            <a:lvl5pPr algn="ctr" indent="0" marL="1371600">
              <a:buNone/>
              <a:defRPr sz="1200"/>
            </a:lvl5pPr>
            <a:lvl6pPr algn="ctr" indent="0" marL="1714500">
              <a:buNone/>
              <a:defRPr sz="1200"/>
            </a:lvl6pPr>
            <a:lvl7pPr algn="ctr" indent="0" marL="2057400">
              <a:buNone/>
              <a:defRPr sz="1200"/>
            </a:lvl7pPr>
            <a:lvl8pPr algn="ctr" indent="0" marL="2400300">
              <a:buNone/>
              <a:defRPr sz="1200"/>
            </a:lvl8pPr>
            <a:lvl9pPr algn="ctr" indent="0" marL="2743200">
              <a:buNone/>
              <a:defRPr sz="1200"/>
            </a:lvl9pPr>
          </a:lstStyle>
          <a:p>
            <a:r>
              <a:rPr lang="es-ES" smtClean="0"/>
              <a:t>Haga clic para editar el estilo de subtítulo del patrón</a:t>
            </a:r>
            <a:endParaRPr dirty="0" lang="en-US"/>
          </a:p>
        </p:txBody>
      </p:sp>
      <p:sp>
        <p:nvSpPr>
          <p:cNvPr id="105042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2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3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ítulo y objetos">
    <p:spTree>
      <p:nvGrpSpPr>
        <p:cNvPr id="12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0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50441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dirty="0" lang="en-US"/>
          </a:p>
        </p:txBody>
      </p:sp>
      <p:sp>
        <p:nvSpPr>
          <p:cNvPr id="10504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Encabezado de sección">
    <p:spTree>
      <p:nvGrpSpPr>
        <p:cNvPr id="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56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50457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indent="0" mar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indent="0" marL="34290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indent="0" marL="68580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indent="0" marL="10287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indent="0" marL="13716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indent="0" marL="17145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indent="0" marL="20574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indent="0" marL="24003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indent="0" marL="274320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5045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5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6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Dos objetos">
    <p:spTree>
      <p:nvGrpSpPr>
        <p:cNvPr id="1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6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50462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dirty="0" lang="en-US"/>
          </a:p>
        </p:txBody>
      </p:sp>
      <p:sp>
        <p:nvSpPr>
          <p:cNvPr id="1050463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dirty="0" lang="en-US"/>
          </a:p>
        </p:txBody>
      </p:sp>
      <p:sp>
        <p:nvSpPr>
          <p:cNvPr id="105046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6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6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ación">
    <p:spTree>
      <p:nvGrpSpPr>
        <p:cNvPr id="1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67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50468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indent="0" marL="0">
              <a:buNone/>
              <a:defRPr b="1" sz="1800"/>
            </a:lvl1pPr>
            <a:lvl2pPr indent="0" marL="342900">
              <a:buNone/>
              <a:defRPr b="1" sz="1500"/>
            </a:lvl2pPr>
            <a:lvl3pPr indent="0" marL="685800">
              <a:buNone/>
              <a:defRPr b="1" sz="1350"/>
            </a:lvl3pPr>
            <a:lvl4pPr indent="0" marL="1028700">
              <a:buNone/>
              <a:defRPr b="1" sz="1200"/>
            </a:lvl4pPr>
            <a:lvl5pPr indent="0" marL="1371600">
              <a:buNone/>
              <a:defRPr b="1" sz="1200"/>
            </a:lvl5pPr>
            <a:lvl6pPr indent="0" marL="1714500">
              <a:buNone/>
              <a:defRPr b="1" sz="1200"/>
            </a:lvl6pPr>
            <a:lvl7pPr indent="0" marL="2057400">
              <a:buNone/>
              <a:defRPr b="1" sz="1200"/>
            </a:lvl7pPr>
            <a:lvl8pPr indent="0" marL="2400300">
              <a:buNone/>
              <a:defRPr b="1" sz="1200"/>
            </a:lvl8pPr>
            <a:lvl9pPr indent="0" marL="2743200">
              <a:buNone/>
              <a:defRPr b="1"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50469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dirty="0" lang="en-US"/>
          </a:p>
        </p:txBody>
      </p:sp>
      <p:sp>
        <p:nvSpPr>
          <p:cNvPr id="1050470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indent="0" marL="0">
              <a:buNone/>
              <a:defRPr b="1" sz="1800"/>
            </a:lvl1pPr>
            <a:lvl2pPr indent="0" marL="342900">
              <a:buNone/>
              <a:defRPr b="1" sz="1500"/>
            </a:lvl2pPr>
            <a:lvl3pPr indent="0" marL="685800">
              <a:buNone/>
              <a:defRPr b="1" sz="1350"/>
            </a:lvl3pPr>
            <a:lvl4pPr indent="0" marL="1028700">
              <a:buNone/>
              <a:defRPr b="1" sz="1200"/>
            </a:lvl4pPr>
            <a:lvl5pPr indent="0" marL="1371600">
              <a:buNone/>
              <a:defRPr b="1" sz="1200"/>
            </a:lvl5pPr>
            <a:lvl6pPr indent="0" marL="1714500">
              <a:buNone/>
              <a:defRPr b="1" sz="1200"/>
            </a:lvl6pPr>
            <a:lvl7pPr indent="0" marL="2057400">
              <a:buNone/>
              <a:defRPr b="1" sz="1200"/>
            </a:lvl7pPr>
            <a:lvl8pPr indent="0" marL="2400300">
              <a:buNone/>
              <a:defRPr b="1" sz="1200"/>
            </a:lvl8pPr>
            <a:lvl9pPr indent="0" marL="2743200">
              <a:buNone/>
              <a:defRPr b="1" sz="12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50471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dirty="0" lang="en-US"/>
          </a:p>
        </p:txBody>
      </p:sp>
      <p:sp>
        <p:nvSpPr>
          <p:cNvPr id="1050472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73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74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Solo el título">
    <p:spTree>
      <p:nvGrpSpPr>
        <p:cNvPr id="1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5043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33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34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En blanco">
    <p:spTree>
      <p:nvGrpSpPr>
        <p:cNvPr id="1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75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7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77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ido con título">
    <p:spTree>
      <p:nvGrpSpPr>
        <p:cNvPr id="1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78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50479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dirty="0" lang="en-US"/>
          </a:p>
        </p:txBody>
      </p:sp>
      <p:sp>
        <p:nvSpPr>
          <p:cNvPr id="1050480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indent="0" marL="0">
              <a:buNone/>
              <a:defRPr sz="1200"/>
            </a:lvl1pPr>
            <a:lvl2pPr indent="0" marL="342900">
              <a:buNone/>
              <a:defRPr sz="1050"/>
            </a:lvl2pPr>
            <a:lvl3pPr indent="0" marL="685800">
              <a:buNone/>
              <a:defRPr sz="900"/>
            </a:lvl3pPr>
            <a:lvl4pPr indent="0" marL="1028700">
              <a:buNone/>
              <a:defRPr sz="750"/>
            </a:lvl4pPr>
            <a:lvl5pPr indent="0" marL="1371600">
              <a:buNone/>
              <a:defRPr sz="750"/>
            </a:lvl5pPr>
            <a:lvl6pPr indent="0" marL="1714500">
              <a:buNone/>
              <a:defRPr sz="750"/>
            </a:lvl6pPr>
            <a:lvl7pPr indent="0" marL="2057400">
              <a:buNone/>
              <a:defRPr sz="750"/>
            </a:lvl7pPr>
            <a:lvl8pPr indent="0" marL="2400300">
              <a:buNone/>
              <a:defRPr sz="750"/>
            </a:lvl8pPr>
            <a:lvl9pPr indent="0" marL="274320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5048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8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8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Imagen con título">
    <p:spTree>
      <p:nvGrpSpPr>
        <p:cNvPr id="1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5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50446" name="Picture Placeholder 2"/>
          <p:cNvSpPr>
            <a:spLocks noChangeAspect="1"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indent="0" marL="0">
              <a:buNone/>
              <a:defRPr sz="2400"/>
            </a:lvl1pPr>
            <a:lvl2pPr indent="0" marL="342900">
              <a:buNone/>
              <a:defRPr sz="2100"/>
            </a:lvl2pPr>
            <a:lvl3pPr indent="0" marL="685800">
              <a:buNone/>
              <a:defRPr sz="1800"/>
            </a:lvl3pPr>
            <a:lvl4pPr indent="0" marL="1028700">
              <a:buNone/>
              <a:defRPr sz="1500"/>
            </a:lvl4pPr>
            <a:lvl5pPr indent="0" marL="1371600">
              <a:buNone/>
              <a:defRPr sz="1500"/>
            </a:lvl5pPr>
            <a:lvl6pPr indent="0" marL="1714500">
              <a:buNone/>
              <a:defRPr sz="1500"/>
            </a:lvl6pPr>
            <a:lvl7pPr indent="0" marL="2057400">
              <a:buNone/>
              <a:defRPr sz="1500"/>
            </a:lvl7pPr>
            <a:lvl8pPr indent="0" marL="2400300">
              <a:buNone/>
              <a:defRPr sz="1500"/>
            </a:lvl8pPr>
            <a:lvl9pPr indent="0" marL="2743200">
              <a:buNone/>
              <a:defRPr sz="1500"/>
            </a:lvl9pPr>
          </a:lstStyle>
          <a:p>
            <a:r>
              <a:rPr lang="es-ES" smtClean="0"/>
              <a:t>Haga clic en el icono para agregar una imagen</a:t>
            </a:r>
            <a:endParaRPr dirty="0" lang="en-US"/>
          </a:p>
        </p:txBody>
      </p:sp>
      <p:sp>
        <p:nvSpPr>
          <p:cNvPr id="1050447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indent="0" marL="0">
              <a:buNone/>
              <a:defRPr sz="1200"/>
            </a:lvl1pPr>
            <a:lvl2pPr indent="0" marL="342900">
              <a:buNone/>
              <a:defRPr sz="1050"/>
            </a:lvl2pPr>
            <a:lvl3pPr indent="0" marL="685800">
              <a:buNone/>
              <a:defRPr sz="900"/>
            </a:lvl3pPr>
            <a:lvl4pPr indent="0" marL="1028700">
              <a:buNone/>
              <a:defRPr sz="750"/>
            </a:lvl4pPr>
            <a:lvl5pPr indent="0" marL="1371600">
              <a:buNone/>
              <a:defRPr sz="750"/>
            </a:lvl5pPr>
            <a:lvl6pPr indent="0" marL="1714500">
              <a:buNone/>
              <a:defRPr sz="750"/>
            </a:lvl6pPr>
            <a:lvl7pPr indent="0" marL="2057400">
              <a:buNone/>
              <a:defRPr sz="750"/>
            </a:lvl7pPr>
            <a:lvl8pPr indent="0" marL="2400300">
              <a:buNone/>
              <a:defRPr sz="750"/>
            </a:lvl8pPr>
            <a:lvl9pPr indent="0" marL="2743200">
              <a:buNone/>
              <a:defRPr sz="75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10504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4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ítulo y texto vertical"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51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50452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dirty="0" lang="en-US"/>
          </a:p>
        </p:txBody>
      </p:sp>
      <p:sp>
        <p:nvSpPr>
          <p:cNvPr id="105045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5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5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Título vertical y texto">
    <p:spTree>
      <p:nvGrpSpPr>
        <p:cNvPr id="1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5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50436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dirty="0" lang="en-US"/>
          </a:p>
        </p:txBody>
      </p:sp>
      <p:sp>
        <p:nvSpPr>
          <p:cNvPr id="105043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5043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dirty="0" lang="en-US"/>
          </a:p>
        </p:txBody>
      </p:sp>
      <p:sp>
        <p:nvSpPr>
          <p:cNvPr id="105043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Ovr>
    <a:masterClrMapping/>
  </p:clrMapOvr>
  <p:hf dt="0" ftr="0" hdr="0" sldNum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/>
        </p:spPr>
        <p:txBody>
          <a:bodyPr anchor="ctr" bIns="45720" lIns="91440" rIns="91440" rtlCol="0" tIns="45720" vert="horz">
            <a:normAutofit/>
          </a:bodyPr>
          <a:p>
            <a:r>
              <a:rPr lang="es-ES" smtClean="0"/>
              <a:t>Haga clic para modificar el estilo de título del patrón</a:t>
            </a:r>
            <a:endParaRPr dirty="0"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/>
        </p:spPr>
        <p:txBody>
          <a:bodyPr bIns="45720" lIns="91440" rIns="91440" rtlCol="0" tIns="45720" vert="horz">
            <a:normAutofit/>
          </a:bodyPr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dirty="0"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/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dirty="0" lang="en-US"/>
              <a:t>10/5/2026</a:t>
            </a:fld>
            <a:endParaRPr dirty="0"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/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/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dirty="0" lang="en-US"/>
              <a:t>‹Nº›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dk1" bg2="dk2" tx1="lt1" tx2="lt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lvl1pPr algn="l" defTabSz="685800" eaLnBrk="1" hangingPunct="1" latinLnBrk="0" rtl="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685800" eaLnBrk="1" hangingPunct="1" indent="-171450" latinLnBrk="0" marL="171450" rtl="0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indent="-171450" latinLnBrk="0" marL="514350" rtl="0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indent="-171450" latinLnBrk="0" marL="857250" rtl="0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indent="-171450" latinLnBrk="0" marL="1200150" rtl="0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indent="-171450" latinLnBrk="0" marL="1543050" rtl="0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indent="-171450" latinLnBrk="0" marL="1885950" rtl="0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indent="-171450" latinLnBrk="0" marL="2228850" rtl="0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indent="-171450" latinLnBrk="0" marL="2571750" rtl="0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indent="-171450" latinLnBrk="0" marL="2914650" rtl="0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685800" eaLnBrk="1" hangingPunct="1" latinLnBrk="0" marL="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685800" eaLnBrk="1" hangingPunct="1" latinLnBrk="0" marL="3429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685800" eaLnBrk="1" hangingPunct="1" latinLnBrk="0" marL="6858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685800" eaLnBrk="1" hangingPunct="1" latinLnBrk="0" marL="10287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685800" eaLnBrk="1" hangingPunct="1" latinLnBrk="0" marL="13716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685800" eaLnBrk="1" hangingPunct="1" latinLnBrk="0" marL="17145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685800" eaLnBrk="1" hangingPunct="1" latinLnBrk="0" marL="20574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685800" eaLnBrk="1" hangingPunct="1" latinLnBrk="0" marL="24003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685800" eaLnBrk="1" hangingPunct="1" latinLnBrk="0" marL="2743200" rtl="0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53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581" name="Shape 0"/>
          <p:cNvSpPr/>
          <p:nvPr/>
        </p:nvSpPr>
        <p:spPr>
          <a:xfrm>
            <a:off x="0" y="464344"/>
            <a:ext cx="91440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582" name="Shape 1"/>
          <p:cNvSpPr/>
          <p:nvPr/>
        </p:nvSpPr>
        <p:spPr>
          <a:xfrm>
            <a:off x="685800" y="4025503"/>
            <a:ext cx="77724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583" name="Text 2"/>
          <p:cNvSpPr/>
          <p:nvPr/>
        </p:nvSpPr>
        <p:spPr>
          <a:xfrm>
            <a:off x="5517147" y="3429000"/>
            <a:ext cx="3626853" cy="1714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5750"/>
              </a:lnSpc>
              <a:buNone/>
            </a:pPr>
            <a:r>
              <a:rPr b="1" dirty="0" sz="15750" kern="0" lang="en-US" spc="-787">
                <a:solidFill>
                  <a:srgbClr val="FF6B35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15750" lang="en-US"/>
          </a:p>
        </p:txBody>
      </p:sp>
      <p:sp>
        <p:nvSpPr>
          <p:cNvPr id="1048584" name="Text 3"/>
          <p:cNvSpPr/>
          <p:nvPr/>
        </p:nvSpPr>
        <p:spPr>
          <a:xfrm>
            <a:off x="457200" y="18038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8585" name="Text 4"/>
          <p:cNvSpPr/>
          <p:nvPr/>
        </p:nvSpPr>
        <p:spPr>
          <a:xfrm>
            <a:off x="642938" y="166092"/>
            <a:ext cx="3738547" cy="151805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13"/>
              </a:lnSpc>
              <a:buNone/>
            </a:pPr>
            <a:r>
              <a:rPr dirty="0" sz="800" kern="0" lang="en-US" spc="122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</a:t>
            </a:r>
            <a:r>
              <a:rPr dirty="0" sz="800" kern="0" lang="en-US" spc="122" smtClean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</a:t>
            </a:r>
            <a:endParaRPr dirty="0" sz="800" lang="en-US"/>
          </a:p>
        </p:txBody>
      </p:sp>
      <p:sp>
        <p:nvSpPr>
          <p:cNvPr id="1048586" name="Text 5"/>
          <p:cNvSpPr/>
          <p:nvPr/>
        </p:nvSpPr>
        <p:spPr>
          <a:xfrm>
            <a:off x="7307520" y="132374"/>
            <a:ext cx="1402140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87" name="Text 6"/>
          <p:cNvSpPr/>
          <p:nvPr/>
        </p:nvSpPr>
        <p:spPr>
          <a:xfrm>
            <a:off x="7551837" y="185738"/>
            <a:ext cx="1134963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/ AZURE DEVOPS</a:t>
            </a:r>
            <a:endParaRPr dirty="0" sz="619" lang="en-US"/>
          </a:p>
        </p:txBody>
      </p:sp>
      <p:sp>
        <p:nvSpPr>
          <p:cNvPr id="1048588" name="Text 7"/>
          <p:cNvSpPr/>
          <p:nvPr/>
        </p:nvSpPr>
        <p:spPr>
          <a:xfrm>
            <a:off x="7408962" y="18038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dirty="0" sz="984" lang="en-US"/>
          </a:p>
        </p:txBody>
      </p:sp>
      <p:pic>
        <p:nvPicPr>
          <p:cNvPr id="2097154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28600" y="685800"/>
            <a:ext cx="14288" cy="857250"/>
          </a:xfrm>
          <a:prstGeom prst="rect"/>
        </p:spPr>
      </p:pic>
      <p:sp>
        <p:nvSpPr>
          <p:cNvPr id="1048589" name="Text 13"/>
          <p:cNvSpPr/>
          <p:nvPr/>
        </p:nvSpPr>
        <p:spPr>
          <a:xfrm>
            <a:off x="685800" y="1285875"/>
            <a:ext cx="8458200" cy="144407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3510"/>
              </a:lnSpc>
              <a:buNone/>
            </a:pPr>
            <a:r>
              <a:rPr b="1" dirty="0" sz="3375" kern="0" lang="en-US" spc="-84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GitFlow aplicado al caso de estudio</a:t>
            </a:r>
            <a:endParaRPr dirty="0" sz="3375" lang="en-US"/>
          </a:p>
          <a:p>
            <a:pPr algn="l" indent="0" marL="0">
              <a:lnSpc>
                <a:spcPts val="3510"/>
              </a:lnSpc>
              <a:buNone/>
            </a:pPr>
            <a:r>
              <a:rPr b="1" dirty="0" sz="3375" kern="0" lang="en-US" spc="-84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HabanaEntregas: </a:t>
            </a:r>
            <a:r>
              <a:rPr b="1" dirty="0" sz="3375" kern="0" lang="en-US" spc="-84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 commit a producción</a:t>
            </a:r>
            <a:endParaRPr dirty="0" sz="3375" lang="en-US"/>
          </a:p>
          <a:p>
            <a:pPr algn="l" indent="0" marL="0">
              <a:lnSpc>
                <a:spcPts val="3510"/>
              </a:lnSpc>
              <a:buNone/>
            </a:pPr>
            <a:r>
              <a:rPr b="1" dirty="0" sz="3375" kern="0" lang="en-US" spc="-84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 </a:t>
            </a:r>
            <a:r>
              <a:rPr b="1" dirty="0" sz="3375" kern="0" lang="en-US" spc="-84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</a:t>
            </a:r>
            <a:endParaRPr dirty="0" sz="3375" lang="en-US"/>
          </a:p>
        </p:txBody>
      </p:sp>
      <p:sp>
        <p:nvSpPr>
          <p:cNvPr id="1048590" name="Text 14"/>
          <p:cNvSpPr/>
          <p:nvPr/>
        </p:nvSpPr>
        <p:spPr>
          <a:xfrm>
            <a:off x="685800" y="2794434"/>
            <a:ext cx="428625" cy="28575"/>
          </a:xfrm>
          <a:prstGeom prst="roundRect">
            <a:avLst>
              <a:gd name="adj" fmla="val 66667"/>
            </a:avLst>
          </a:prstGeom>
          <a:solidFill>
            <a:srgbClr val="FF6B35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91" name="Text 16"/>
          <p:cNvSpPr/>
          <p:nvPr/>
        </p:nvSpPr>
        <p:spPr>
          <a:xfrm>
            <a:off x="685800" y="3319714"/>
            <a:ext cx="601861" cy="196025"/>
          </a:xfrm>
          <a:prstGeom prst="roundRect">
            <a:avLst>
              <a:gd name="adj" fmla="val 4854215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92" name="Text 17"/>
          <p:cNvSpPr/>
          <p:nvPr/>
        </p:nvSpPr>
        <p:spPr>
          <a:xfrm>
            <a:off x="901546" y="3373078"/>
            <a:ext cx="420400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.NET 8</a:t>
            </a:r>
            <a:endParaRPr dirty="0" sz="800" lang="en-US"/>
          </a:p>
        </p:txBody>
      </p:sp>
      <p:sp>
        <p:nvSpPr>
          <p:cNvPr id="1048593" name="Text 18"/>
          <p:cNvSpPr/>
          <p:nvPr/>
        </p:nvSpPr>
        <p:spPr>
          <a:xfrm>
            <a:off x="764381" y="336772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8594" name="Text 19"/>
          <p:cNvSpPr/>
          <p:nvPr/>
        </p:nvSpPr>
        <p:spPr>
          <a:xfrm>
            <a:off x="1344811" y="3319714"/>
            <a:ext cx="1104937" cy="196025"/>
          </a:xfrm>
          <a:prstGeom prst="roundRect">
            <a:avLst>
              <a:gd name="adj" fmla="val 4854215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95" name="Text 20"/>
          <p:cNvSpPr/>
          <p:nvPr/>
        </p:nvSpPr>
        <p:spPr>
          <a:xfrm>
            <a:off x="1566267" y="3373078"/>
            <a:ext cx="912056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ASP.NET Core MVC</a:t>
            </a:r>
            <a:endParaRPr dirty="0" sz="619" lang="en-US"/>
          </a:p>
        </p:txBody>
      </p:sp>
      <p:sp>
        <p:nvSpPr>
          <p:cNvPr id="1048596" name="Text 21"/>
          <p:cNvSpPr/>
          <p:nvPr/>
        </p:nvSpPr>
        <p:spPr>
          <a:xfrm>
            <a:off x="1423392" y="336772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8597" name="Text 22"/>
          <p:cNvSpPr/>
          <p:nvPr/>
        </p:nvSpPr>
        <p:spPr>
          <a:xfrm>
            <a:off x="2510470" y="3333787"/>
            <a:ext cx="1550417" cy="167878"/>
          </a:xfrm>
          <a:prstGeom prst="roundRect">
            <a:avLst>
              <a:gd name="adj" fmla="val 5668089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598" name="Text 23"/>
          <p:cNvSpPr/>
          <p:nvPr/>
        </p:nvSpPr>
        <p:spPr>
          <a:xfrm>
            <a:off x="2728354" y="3373078"/>
            <a:ext cx="1364679" cy="119703"/>
          </a:xfrm>
          <a:prstGeom prst="rect"/>
          <a:noFill/>
        </p:spPr>
        <p:txBody>
          <a:bodyPr anchor="t" bIns="21431" lIns="71438" rIns="71438" rtlCol="0" tIns="21431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EF Core + SQL Server 2017</a:t>
            </a:r>
            <a:endParaRPr dirty="0" sz="619" lang="en-US"/>
          </a:p>
        </p:txBody>
      </p:sp>
      <p:sp>
        <p:nvSpPr>
          <p:cNvPr id="1048599" name="Text 24"/>
          <p:cNvSpPr/>
          <p:nvPr/>
        </p:nvSpPr>
        <p:spPr>
          <a:xfrm>
            <a:off x="2585479" y="336772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8600" name="Text 25"/>
          <p:cNvSpPr/>
          <p:nvPr/>
        </p:nvSpPr>
        <p:spPr>
          <a:xfrm>
            <a:off x="4121609" y="3319714"/>
            <a:ext cx="652202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01" name="Text 26"/>
          <p:cNvSpPr/>
          <p:nvPr/>
        </p:nvSpPr>
        <p:spPr>
          <a:xfrm>
            <a:off x="4324761" y="3373078"/>
            <a:ext cx="495930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GitFlow</a:t>
            </a:r>
            <a:endParaRPr dirty="0" sz="800" lang="en-US"/>
          </a:p>
        </p:txBody>
      </p:sp>
      <p:sp>
        <p:nvSpPr>
          <p:cNvPr id="1048602" name="Text 27"/>
          <p:cNvSpPr/>
          <p:nvPr/>
        </p:nvSpPr>
        <p:spPr>
          <a:xfrm>
            <a:off x="4200190" y="336772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8603" name="Text 28"/>
          <p:cNvSpPr/>
          <p:nvPr/>
        </p:nvSpPr>
        <p:spPr>
          <a:xfrm>
            <a:off x="4834532" y="3333787"/>
            <a:ext cx="2533069" cy="181952"/>
          </a:xfrm>
          <a:prstGeom prst="roundRect">
            <a:avLst>
              <a:gd name="adj" fmla="val 5668089"/>
            </a:avLst>
          </a:prstGeom>
          <a:solidFill>
            <a:srgbClr val="F39C12">
              <a:alpha val="8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04" name="Text 29"/>
          <p:cNvSpPr/>
          <p:nvPr/>
        </p:nvSpPr>
        <p:spPr>
          <a:xfrm>
            <a:off x="5052417" y="3373078"/>
            <a:ext cx="3405783" cy="119703"/>
          </a:xfrm>
          <a:prstGeom prst="rect"/>
          <a:noFill/>
        </p:spPr>
        <p:txBody>
          <a:bodyPr anchor="t" bIns="21431" lIns="71438" rIns="71438" rtlCol="0" tIns="21431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 / Azure Pipelines</a:t>
            </a:r>
            <a:endParaRPr dirty="0" sz="800" lang="en-US"/>
          </a:p>
        </p:txBody>
      </p:sp>
      <p:sp>
        <p:nvSpPr>
          <p:cNvPr id="1048605" name="Text 30"/>
          <p:cNvSpPr/>
          <p:nvPr/>
        </p:nvSpPr>
        <p:spPr>
          <a:xfrm>
            <a:off x="4909542" y="336772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dirty="0" sz="984" lang="en-US"/>
          </a:p>
        </p:txBody>
      </p:sp>
      <p:pic>
        <p:nvPicPr>
          <p:cNvPr id="2097155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715125" y="0"/>
            <a:ext cx="2428875" cy="2428875"/>
          </a:xfrm>
          <a:prstGeom prst="rect"/>
        </p:spPr>
      </p:pic>
      <p:sp>
        <p:nvSpPr>
          <p:cNvPr id="1048606" name="Text 39"/>
          <p:cNvSpPr/>
          <p:nvPr/>
        </p:nvSpPr>
        <p:spPr>
          <a:xfrm>
            <a:off x="6715125" y="0"/>
            <a:ext cx="2428875" cy="2428875"/>
          </a:xfrm>
          <a:prstGeom prst="rect"/>
          <a:solidFill>
            <a:srgbClr val="FFFFFF">
              <a:alpha val="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  <p:timing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6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57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610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11" name="Shape 1"/>
          <p:cNvSpPr/>
          <p:nvPr/>
        </p:nvSpPr>
        <p:spPr>
          <a:xfrm>
            <a:off x="457200" y="1273708"/>
            <a:ext cx="3291818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12" name="Shape 2"/>
          <p:cNvSpPr/>
          <p:nvPr/>
        </p:nvSpPr>
        <p:spPr>
          <a:xfrm>
            <a:off x="3745446" y="1270136"/>
            <a:ext cx="0" cy="348615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13" name="Shape 3"/>
          <p:cNvSpPr/>
          <p:nvPr/>
        </p:nvSpPr>
        <p:spPr>
          <a:xfrm>
            <a:off x="457200" y="4752715"/>
            <a:ext cx="3291818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14" name="Shape 4"/>
          <p:cNvSpPr/>
          <p:nvPr/>
        </p:nvSpPr>
        <p:spPr>
          <a:xfrm>
            <a:off x="467916" y="1270136"/>
            <a:ext cx="0" cy="3486150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8615" name="Shape 5"/>
          <p:cNvSpPr/>
          <p:nvPr/>
        </p:nvSpPr>
        <p:spPr>
          <a:xfrm>
            <a:off x="621506" y="4266940"/>
            <a:ext cx="29774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16" name="Shape 6"/>
          <p:cNvSpPr/>
          <p:nvPr/>
        </p:nvSpPr>
        <p:spPr>
          <a:xfrm>
            <a:off x="3906180" y="1273708"/>
            <a:ext cx="24259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17" name="Shape 7"/>
          <p:cNvSpPr/>
          <p:nvPr/>
        </p:nvSpPr>
        <p:spPr>
          <a:xfrm>
            <a:off x="6328581" y="1270136"/>
            <a:ext cx="0" cy="1104826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18" name="Shape 8"/>
          <p:cNvSpPr/>
          <p:nvPr/>
        </p:nvSpPr>
        <p:spPr>
          <a:xfrm>
            <a:off x="3906180" y="2371390"/>
            <a:ext cx="24259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19" name="Shape 9"/>
          <p:cNvSpPr/>
          <p:nvPr/>
        </p:nvSpPr>
        <p:spPr>
          <a:xfrm>
            <a:off x="3916896" y="1270136"/>
            <a:ext cx="0" cy="1104826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8620" name="Shape 10"/>
          <p:cNvSpPr/>
          <p:nvPr/>
        </p:nvSpPr>
        <p:spPr>
          <a:xfrm>
            <a:off x="6417878" y="1273708"/>
            <a:ext cx="24259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21" name="Shape 11"/>
          <p:cNvSpPr/>
          <p:nvPr/>
        </p:nvSpPr>
        <p:spPr>
          <a:xfrm>
            <a:off x="8840279" y="1270136"/>
            <a:ext cx="0" cy="1104826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22" name="Shape 12"/>
          <p:cNvSpPr/>
          <p:nvPr/>
        </p:nvSpPr>
        <p:spPr>
          <a:xfrm>
            <a:off x="6417878" y="2371390"/>
            <a:ext cx="24259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23" name="Shape 13"/>
          <p:cNvSpPr/>
          <p:nvPr/>
        </p:nvSpPr>
        <p:spPr>
          <a:xfrm>
            <a:off x="6428594" y="1270136"/>
            <a:ext cx="0" cy="1104826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8624" name="Shape 14"/>
          <p:cNvSpPr/>
          <p:nvPr/>
        </p:nvSpPr>
        <p:spPr>
          <a:xfrm>
            <a:off x="3906180" y="2464259"/>
            <a:ext cx="24259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25" name="Shape 15"/>
          <p:cNvSpPr/>
          <p:nvPr/>
        </p:nvSpPr>
        <p:spPr>
          <a:xfrm>
            <a:off x="6328581" y="2460687"/>
            <a:ext cx="0" cy="1104937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26" name="Shape 16"/>
          <p:cNvSpPr/>
          <p:nvPr/>
        </p:nvSpPr>
        <p:spPr>
          <a:xfrm>
            <a:off x="3906180" y="3562052"/>
            <a:ext cx="24259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27" name="Shape 17"/>
          <p:cNvSpPr/>
          <p:nvPr/>
        </p:nvSpPr>
        <p:spPr>
          <a:xfrm>
            <a:off x="3916896" y="2460687"/>
            <a:ext cx="0" cy="1104937"/>
          </a:xfrm>
          <a:prstGeom prst="line"/>
          <a:noFill/>
          <a:ln w="21431">
            <a:solidFill>
              <a:srgbClr val="27AE60"/>
            </a:solidFill>
            <a:prstDash val="solid"/>
          </a:ln>
        </p:spPr>
      </p:sp>
      <p:sp>
        <p:nvSpPr>
          <p:cNvPr id="1048628" name="Shape 18"/>
          <p:cNvSpPr/>
          <p:nvPr/>
        </p:nvSpPr>
        <p:spPr>
          <a:xfrm>
            <a:off x="6417878" y="2464259"/>
            <a:ext cx="24259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29" name="Shape 19"/>
          <p:cNvSpPr/>
          <p:nvPr/>
        </p:nvSpPr>
        <p:spPr>
          <a:xfrm>
            <a:off x="8840279" y="2460687"/>
            <a:ext cx="0" cy="1104937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30" name="Shape 20"/>
          <p:cNvSpPr/>
          <p:nvPr/>
        </p:nvSpPr>
        <p:spPr>
          <a:xfrm>
            <a:off x="6417878" y="3562052"/>
            <a:ext cx="24259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31" name="Shape 21"/>
          <p:cNvSpPr/>
          <p:nvPr/>
        </p:nvSpPr>
        <p:spPr>
          <a:xfrm>
            <a:off x="6428594" y="2460687"/>
            <a:ext cx="0" cy="1104937"/>
          </a:xfrm>
          <a:prstGeom prst="line"/>
          <a:noFill/>
          <a:ln w="21431">
            <a:solidFill>
              <a:srgbClr val="F39C12"/>
            </a:solidFill>
            <a:prstDash val="solid"/>
          </a:ln>
        </p:spPr>
      </p:sp>
      <p:sp>
        <p:nvSpPr>
          <p:cNvPr id="1048632" name="Shape 22"/>
          <p:cNvSpPr/>
          <p:nvPr/>
        </p:nvSpPr>
        <p:spPr>
          <a:xfrm>
            <a:off x="3906180" y="3654921"/>
            <a:ext cx="24259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33" name="Shape 23"/>
          <p:cNvSpPr/>
          <p:nvPr/>
        </p:nvSpPr>
        <p:spPr>
          <a:xfrm>
            <a:off x="6328581" y="3651349"/>
            <a:ext cx="0" cy="1104937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34" name="Shape 24"/>
          <p:cNvSpPr/>
          <p:nvPr/>
        </p:nvSpPr>
        <p:spPr>
          <a:xfrm>
            <a:off x="3906180" y="4752715"/>
            <a:ext cx="24259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35" name="Shape 25"/>
          <p:cNvSpPr/>
          <p:nvPr/>
        </p:nvSpPr>
        <p:spPr>
          <a:xfrm>
            <a:off x="3916896" y="3651349"/>
            <a:ext cx="0" cy="1104937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8636" name="Shape 26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37" name="Text 27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1</a:t>
            </a:r>
            <a:r>
              <a:rPr dirty="0" sz="800" kern="0" lang="en-US" spc="5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APERTURA</a:t>
            </a:r>
            <a:endParaRPr dirty="0" sz="800" lang="en-US"/>
          </a:p>
        </p:txBody>
      </p:sp>
      <p:sp>
        <p:nvSpPr>
          <p:cNvPr id="1048638" name="Text 28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 / 27</a:t>
            </a:r>
            <a:endParaRPr dirty="0" sz="619" lang="en-US"/>
          </a:p>
        </p:txBody>
      </p:sp>
      <p:sp>
        <p:nvSpPr>
          <p:cNvPr id="1048639" name="Text 29"/>
          <p:cNvSpPr/>
          <p:nvPr/>
        </p:nvSpPr>
        <p:spPr>
          <a:xfrm>
            <a:off x="457200" y="696516"/>
            <a:ext cx="2194493" cy="264011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Objetivos de la clase</a:t>
            </a:r>
            <a:endParaRPr dirty="0" sz="1200" lang="en-US"/>
          </a:p>
        </p:txBody>
      </p:sp>
      <p:sp>
        <p:nvSpPr>
          <p:cNvPr id="1048640" name="Text 30"/>
          <p:cNvSpPr/>
          <p:nvPr/>
        </p:nvSpPr>
        <p:spPr>
          <a:xfrm>
            <a:off x="457200" y="996552"/>
            <a:ext cx="2705450" cy="15599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 que el estudiante sabrá hacer al cerrar el taller</a:t>
            </a:r>
            <a:endParaRPr dirty="0" sz="731" lang="en-US"/>
          </a:p>
        </p:txBody>
      </p:sp>
      <p:sp>
        <p:nvSpPr>
          <p:cNvPr id="1048641" name="Text 31"/>
          <p:cNvSpPr/>
          <p:nvPr/>
        </p:nvSpPr>
        <p:spPr>
          <a:xfrm>
            <a:off x="6470117" y="941738"/>
            <a:ext cx="1205508" cy="196025"/>
          </a:xfrm>
          <a:prstGeom prst="roundRect">
            <a:avLst>
              <a:gd name="adj" fmla="val 4854215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42" name="Text 32"/>
          <p:cNvSpPr/>
          <p:nvPr/>
        </p:nvSpPr>
        <p:spPr>
          <a:xfrm>
            <a:off x="6691573" y="995102"/>
            <a:ext cx="1012627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objetivo general</a:t>
            </a:r>
            <a:endParaRPr dirty="0" sz="619" lang="en-US"/>
          </a:p>
        </p:txBody>
      </p:sp>
      <p:sp>
        <p:nvSpPr>
          <p:cNvPr id="1048643" name="Text 33"/>
          <p:cNvSpPr/>
          <p:nvPr/>
        </p:nvSpPr>
        <p:spPr>
          <a:xfrm>
            <a:off x="6548698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dirty="0" sz="984" lang="en-US"/>
          </a:p>
        </p:txBody>
      </p:sp>
      <p:sp>
        <p:nvSpPr>
          <p:cNvPr id="1048644" name="Text 34"/>
          <p:cNvSpPr/>
          <p:nvPr/>
        </p:nvSpPr>
        <p:spPr>
          <a:xfrm>
            <a:off x="7732775" y="941738"/>
            <a:ext cx="954025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45" name="Text 35"/>
          <p:cNvSpPr/>
          <p:nvPr/>
        </p:nvSpPr>
        <p:spPr>
          <a:xfrm>
            <a:off x="7954231" y="995102"/>
            <a:ext cx="732569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específicos</a:t>
            </a:r>
            <a:endParaRPr dirty="0" sz="619" lang="en-US"/>
          </a:p>
        </p:txBody>
      </p:sp>
      <p:sp>
        <p:nvSpPr>
          <p:cNvPr id="1048646" name="Text 36"/>
          <p:cNvSpPr/>
          <p:nvPr/>
        </p:nvSpPr>
        <p:spPr>
          <a:xfrm>
            <a:off x="7811356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984" lang="en-US"/>
          </a:p>
        </p:txBody>
      </p:sp>
      <p:sp>
        <p:nvSpPr>
          <p:cNvPr id="1048647" name="Text 37"/>
          <p:cNvSpPr/>
          <p:nvPr/>
        </p:nvSpPr>
        <p:spPr>
          <a:xfrm>
            <a:off x="457200" y="1270136"/>
            <a:ext cx="3291818" cy="3486150"/>
          </a:xfrm>
          <a:prstGeom prst="roundRect">
            <a:avLst>
              <a:gd name="adj" fmla="val 2315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48" name="Text 38"/>
          <p:cNvSpPr/>
          <p:nvPr/>
        </p:nvSpPr>
        <p:spPr>
          <a:xfrm>
            <a:off x="621506" y="1405868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★</a:t>
            </a:r>
            <a:endParaRPr dirty="0" sz="1547" lang="en-US"/>
          </a:p>
        </p:txBody>
      </p:sp>
      <p:sp>
        <p:nvSpPr>
          <p:cNvPr id="1048649" name="Text 39"/>
          <p:cNvSpPr/>
          <p:nvPr/>
        </p:nvSpPr>
        <p:spPr>
          <a:xfrm>
            <a:off x="835819" y="1425513"/>
            <a:ext cx="2763180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OBJETIVO GENERAL</a:t>
            </a:r>
            <a:endParaRPr dirty="0" sz="800" lang="en-US"/>
          </a:p>
        </p:txBody>
      </p:sp>
      <p:sp>
        <p:nvSpPr>
          <p:cNvPr id="1048650" name="Text 40"/>
          <p:cNvSpPr/>
          <p:nvPr/>
        </p:nvSpPr>
        <p:spPr>
          <a:xfrm>
            <a:off x="621506" y="1648755"/>
            <a:ext cx="2977493" cy="63650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547"/>
              </a:lnSpc>
              <a:buNone/>
            </a:pPr>
            <a:r>
              <a:rPr dirty="0" sz="1238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Comprender y aplicar el modelo GitFlow combinado con pipelines CI/CD sobre el caso de estudio HabanaEntregas</a:t>
            </a:r>
            <a:endParaRPr dirty="0" sz="1238" lang="en-US"/>
          </a:p>
        </p:txBody>
      </p:sp>
      <p:sp>
        <p:nvSpPr>
          <p:cNvPr id="1048651" name="Text 41"/>
          <p:cNvSpPr/>
          <p:nvPr/>
        </p:nvSpPr>
        <p:spPr>
          <a:xfrm>
            <a:off x="621506" y="2352415"/>
            <a:ext cx="2977493" cy="53813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308"/>
              </a:lnSpc>
              <a:buNone/>
            </a:pP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Integrando la arquitectura de </a:t>
            </a:r>
            <a:r>
              <a:rPr dirty="0" sz="844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capas ASP.NET Core MVC + EF Core</a:t>
            </a: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patrón </a:t>
            </a:r>
            <a:r>
              <a:rPr dirty="0" sz="844" kern="0" lang="en-US" spc="8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Repository</a:t>
            </a: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de modo que cada hito </a:t>
            </a:r>
            <a:r>
              <a:rPr dirty="0" sz="844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(H1–H4)</a:t>
            </a: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se entregue como una </a:t>
            </a:r>
            <a:r>
              <a:rPr dirty="0" sz="844" kern="0" lang="en-US" spc="8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release trazable en producción IIS</a:t>
            </a: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dirty="0" sz="844" lang="en-US"/>
          </a:p>
        </p:txBody>
      </p:sp>
      <p:sp>
        <p:nvSpPr>
          <p:cNvPr id="1048652" name="Text 42"/>
          <p:cNvSpPr/>
          <p:nvPr/>
        </p:nvSpPr>
        <p:spPr>
          <a:xfrm>
            <a:off x="778669" y="4391955"/>
            <a:ext cx="2751572" cy="228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RESULTADO · TRAZABILIDAD COMPLETA: COMMIT → PR → DEVELOP → RELEASE → TAG → MAIN → IIS</a:t>
            </a:r>
            <a:endParaRPr dirty="0" sz="800" lang="en-US"/>
          </a:p>
        </p:txBody>
      </p:sp>
      <p:sp>
        <p:nvSpPr>
          <p:cNvPr id="1048653" name="Text 43"/>
          <p:cNvSpPr/>
          <p:nvPr/>
        </p:nvSpPr>
        <p:spPr>
          <a:xfrm>
            <a:off x="621506" y="445267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984" lang="en-US"/>
          </a:p>
        </p:txBody>
      </p:sp>
      <p:sp>
        <p:nvSpPr>
          <p:cNvPr id="1048654" name="Text 44"/>
          <p:cNvSpPr/>
          <p:nvPr/>
        </p:nvSpPr>
        <p:spPr>
          <a:xfrm>
            <a:off x="3906180" y="1270136"/>
            <a:ext cx="2425973" cy="1104826"/>
          </a:xfrm>
          <a:prstGeom prst="roundRect">
            <a:avLst>
              <a:gd name="adj" fmla="val 689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55" name="Text 45"/>
          <p:cNvSpPr/>
          <p:nvPr/>
        </p:nvSpPr>
        <p:spPr>
          <a:xfrm>
            <a:off x="4027624" y="1363005"/>
            <a:ext cx="411480" cy="23145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688"/>
              </a:lnSpc>
              <a:buNone/>
            </a:pPr>
            <a:r>
              <a:rPr b="1" dirty="0" sz="1688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1688" lang="en-US"/>
          </a:p>
        </p:txBody>
      </p:sp>
      <p:sp>
        <p:nvSpPr>
          <p:cNvPr id="1048656" name="Text 46"/>
          <p:cNvSpPr/>
          <p:nvPr/>
        </p:nvSpPr>
        <p:spPr>
          <a:xfrm>
            <a:off x="4370524" y="1363005"/>
            <a:ext cx="1854473" cy="151162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81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GitFlow vs 4 hitos</a:t>
            </a:r>
            <a:endParaRPr dirty="0" sz="800" lang="en-US"/>
          </a:p>
        </p:txBody>
      </p:sp>
      <p:sp>
        <p:nvSpPr>
          <p:cNvPr id="1048657" name="Text 47"/>
          <p:cNvSpPr/>
          <p:nvPr/>
        </p:nvSpPr>
        <p:spPr>
          <a:xfrm>
            <a:off x="4370524" y="1541599"/>
            <a:ext cx="1854473" cy="30702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Comprender el modelo GitFlow y su relación con los 4 hitos de HabanaEntregas.</a:t>
            </a:r>
            <a:endParaRPr dirty="0" sz="800" lang="en-US"/>
          </a:p>
        </p:txBody>
      </p:sp>
      <p:sp>
        <p:nvSpPr>
          <p:cNvPr id="1048658" name="Text 48"/>
          <p:cNvSpPr/>
          <p:nvPr/>
        </p:nvSpPr>
        <p:spPr>
          <a:xfrm>
            <a:off x="6417878" y="1270136"/>
            <a:ext cx="2425973" cy="1104826"/>
          </a:xfrm>
          <a:prstGeom prst="roundRect">
            <a:avLst>
              <a:gd name="adj" fmla="val 689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59" name="Text 49"/>
          <p:cNvSpPr/>
          <p:nvPr/>
        </p:nvSpPr>
        <p:spPr>
          <a:xfrm>
            <a:off x="6539322" y="1363005"/>
            <a:ext cx="411480" cy="23145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688"/>
              </a:lnSpc>
              <a:buNone/>
            </a:pPr>
            <a:r>
              <a:rPr b="1" dirty="0" sz="1688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1688" lang="en-US"/>
          </a:p>
        </p:txBody>
      </p:sp>
      <p:sp>
        <p:nvSpPr>
          <p:cNvPr id="1048660" name="Text 50"/>
          <p:cNvSpPr/>
          <p:nvPr/>
        </p:nvSpPr>
        <p:spPr>
          <a:xfrm>
            <a:off x="6882222" y="1363005"/>
            <a:ext cx="1854473" cy="151162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81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 vs CD vs Pipeline</a:t>
            </a:r>
            <a:endParaRPr dirty="0" sz="800" lang="en-US"/>
          </a:p>
        </p:txBody>
      </p:sp>
      <p:sp>
        <p:nvSpPr>
          <p:cNvPr id="1048661" name="Text 51"/>
          <p:cNvSpPr/>
          <p:nvPr/>
        </p:nvSpPr>
        <p:spPr>
          <a:xfrm>
            <a:off x="6882222" y="1541599"/>
            <a:ext cx="1854473" cy="30702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Diferenciar CI, CD (Continuous Delivery vs Continuous Deployment) y pipeline.</a:t>
            </a:r>
            <a:endParaRPr dirty="0" sz="800" lang="en-US"/>
          </a:p>
        </p:txBody>
      </p:sp>
      <p:sp>
        <p:nvSpPr>
          <p:cNvPr id="1048662" name="Text 52"/>
          <p:cNvSpPr/>
          <p:nvPr/>
        </p:nvSpPr>
        <p:spPr>
          <a:xfrm>
            <a:off x="3906180" y="2460687"/>
            <a:ext cx="2425973" cy="1104937"/>
          </a:xfrm>
          <a:prstGeom prst="roundRect">
            <a:avLst>
              <a:gd name="adj" fmla="val 6896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63" name="Text 53"/>
          <p:cNvSpPr/>
          <p:nvPr/>
        </p:nvSpPr>
        <p:spPr>
          <a:xfrm>
            <a:off x="4027624" y="2553556"/>
            <a:ext cx="411480" cy="23145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688"/>
              </a:lnSpc>
              <a:buNone/>
            </a:pPr>
            <a:r>
              <a:rPr b="1" dirty="0" sz="1688" kern="0" lang="en-US" spc="8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1688" lang="en-US"/>
          </a:p>
        </p:txBody>
      </p:sp>
      <p:sp>
        <p:nvSpPr>
          <p:cNvPr id="1048664" name="Text 54"/>
          <p:cNvSpPr/>
          <p:nvPr/>
        </p:nvSpPr>
        <p:spPr>
          <a:xfrm>
            <a:off x="4370524" y="2553556"/>
            <a:ext cx="1854473" cy="151162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81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Ramas GitFlow</a:t>
            </a:r>
            <a:endParaRPr dirty="0" sz="800" lang="en-US"/>
          </a:p>
        </p:txBody>
      </p:sp>
      <p:sp>
        <p:nvSpPr>
          <p:cNvPr id="1048665" name="Text 55"/>
          <p:cNvSpPr/>
          <p:nvPr/>
        </p:nvSpPr>
        <p:spPr>
          <a:xfrm>
            <a:off x="4370524" y="2732150"/>
            <a:ext cx="1854473" cy="30702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Aplicar ramas feature/, develop, release/, hotfix/ y main/ al caso.</a:t>
            </a:r>
            <a:endParaRPr dirty="0" sz="800" lang="en-US"/>
          </a:p>
        </p:txBody>
      </p:sp>
      <p:sp>
        <p:nvSpPr>
          <p:cNvPr id="1048666" name="Text 56"/>
          <p:cNvSpPr/>
          <p:nvPr/>
        </p:nvSpPr>
        <p:spPr>
          <a:xfrm>
            <a:off x="6417878" y="2460687"/>
            <a:ext cx="2425973" cy="1104937"/>
          </a:xfrm>
          <a:prstGeom prst="roundRect">
            <a:avLst>
              <a:gd name="adj" fmla="val 6896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67" name="Text 57"/>
          <p:cNvSpPr/>
          <p:nvPr/>
        </p:nvSpPr>
        <p:spPr>
          <a:xfrm>
            <a:off x="6539322" y="2553556"/>
            <a:ext cx="411480" cy="23145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688"/>
              </a:lnSpc>
              <a:buNone/>
            </a:pPr>
            <a:r>
              <a:rPr b="1" dirty="0" sz="1688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1688" lang="en-US"/>
          </a:p>
        </p:txBody>
      </p:sp>
      <p:sp>
        <p:nvSpPr>
          <p:cNvPr id="1048668" name="Text 58"/>
          <p:cNvSpPr/>
          <p:nvPr/>
        </p:nvSpPr>
        <p:spPr>
          <a:xfrm>
            <a:off x="6882222" y="2553556"/>
            <a:ext cx="1854473" cy="151162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81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CI/CD</a:t>
            </a:r>
            <a:endParaRPr dirty="0" sz="800" lang="en-US"/>
          </a:p>
        </p:txBody>
      </p:sp>
      <p:sp>
        <p:nvSpPr>
          <p:cNvPr id="1048669" name="Text 59"/>
          <p:cNvSpPr/>
          <p:nvPr/>
        </p:nvSpPr>
        <p:spPr>
          <a:xfrm>
            <a:off x="6882222" y="2732150"/>
            <a:ext cx="1854473" cy="30702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Diseñar un pipeline CI/CD para el stack ASP.NET Core MVC + EF Core + SQL Server.</a:t>
            </a:r>
            <a:endParaRPr dirty="0" sz="800" lang="en-US"/>
          </a:p>
        </p:txBody>
      </p:sp>
      <p:sp>
        <p:nvSpPr>
          <p:cNvPr id="1048670" name="Text 60"/>
          <p:cNvSpPr/>
          <p:nvPr/>
        </p:nvSpPr>
        <p:spPr>
          <a:xfrm>
            <a:off x="3906180" y="3651349"/>
            <a:ext cx="2425973" cy="1104937"/>
          </a:xfrm>
          <a:prstGeom prst="roundRect">
            <a:avLst>
              <a:gd name="adj" fmla="val 6896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71" name="Text 61"/>
          <p:cNvSpPr/>
          <p:nvPr/>
        </p:nvSpPr>
        <p:spPr>
          <a:xfrm>
            <a:off x="4027624" y="3744218"/>
            <a:ext cx="411480" cy="23145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688"/>
              </a:lnSpc>
              <a:buNone/>
            </a:pPr>
            <a:r>
              <a:rPr b="1" dirty="0" sz="1688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dirty="0" sz="1688" lang="en-US"/>
          </a:p>
        </p:txBody>
      </p:sp>
      <p:sp>
        <p:nvSpPr>
          <p:cNvPr id="1048672" name="Text 62"/>
          <p:cNvSpPr/>
          <p:nvPr/>
        </p:nvSpPr>
        <p:spPr>
          <a:xfrm>
            <a:off x="4370524" y="3744218"/>
            <a:ext cx="1854473" cy="151162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181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Riesgos R1–R8</a:t>
            </a:r>
            <a:endParaRPr dirty="0" sz="800" lang="en-US"/>
          </a:p>
        </p:txBody>
      </p:sp>
      <p:sp>
        <p:nvSpPr>
          <p:cNvPr id="1048673" name="Text 63"/>
          <p:cNvSpPr/>
          <p:nvPr/>
        </p:nvSpPr>
        <p:spPr>
          <a:xfrm>
            <a:off x="4370524" y="3922812"/>
            <a:ext cx="1854473" cy="30702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Gestionar riesgos R1–R8 del proyecto usando GitFlow como mitigación.</a:t>
            </a:r>
            <a:endParaRPr dirty="0" sz="800" lang="en-US"/>
          </a:p>
        </p:txBody>
      </p:sp>
      <p:sp>
        <p:nvSpPr>
          <p:cNvPr id="1048674" name="Text 64"/>
          <p:cNvSpPr/>
          <p:nvPr/>
        </p:nvSpPr>
        <p:spPr>
          <a:xfrm>
            <a:off x="6421450" y="3654921"/>
            <a:ext cx="2418829" cy="1097793"/>
          </a:xfrm>
          <a:prstGeom prst="roundRect">
            <a:avLst>
              <a:gd name="adj" fmla="val 6941"/>
            </a:avLst>
          </a:prstGeom>
          <a:noFill/>
          <a:ln w="7144">
            <a:solidFill>
              <a:srgbClr val="3A3A3A"/>
            </a:solidFill>
            <a:prstDash val="dash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675" name="Text 68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679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80" name="Shape 1"/>
          <p:cNvSpPr/>
          <p:nvPr/>
        </p:nvSpPr>
        <p:spPr>
          <a:xfrm>
            <a:off x="914400" y="1520168"/>
            <a:ext cx="7315200" cy="0"/>
          </a:xfrm>
          <a:prstGeom prst="line"/>
          <a:noFill/>
          <a:ln w="14288">
            <a:solidFill>
              <a:srgbClr val="FF6B35"/>
            </a:solidFill>
            <a:prstDash val="dash"/>
          </a:ln>
        </p:spPr>
      </p:sp>
      <p:sp>
        <p:nvSpPr>
          <p:cNvPr id="1048681" name="Shape 2"/>
          <p:cNvSpPr/>
          <p:nvPr/>
        </p:nvSpPr>
        <p:spPr>
          <a:xfrm>
            <a:off x="457200" y="1763055"/>
            <a:ext cx="1300163" cy="0"/>
          </a:xfrm>
          <a:prstGeom prst="line"/>
          <a:noFill/>
          <a:ln w="14288">
            <a:solidFill>
              <a:srgbClr val="FF6B35"/>
            </a:solidFill>
            <a:prstDash val="solid"/>
          </a:ln>
        </p:spPr>
      </p:sp>
      <p:sp>
        <p:nvSpPr>
          <p:cNvPr id="1048682" name="Shape 3"/>
          <p:cNvSpPr/>
          <p:nvPr/>
        </p:nvSpPr>
        <p:spPr>
          <a:xfrm>
            <a:off x="1753791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83" name="Shape 4"/>
          <p:cNvSpPr/>
          <p:nvPr/>
        </p:nvSpPr>
        <p:spPr>
          <a:xfrm>
            <a:off x="457200" y="3023927"/>
            <a:ext cx="130016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84" name="Shape 5"/>
          <p:cNvSpPr/>
          <p:nvPr/>
        </p:nvSpPr>
        <p:spPr>
          <a:xfrm>
            <a:off x="460772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85" name="Shape 6"/>
          <p:cNvSpPr/>
          <p:nvPr/>
        </p:nvSpPr>
        <p:spPr>
          <a:xfrm>
            <a:off x="1843088" y="1763055"/>
            <a:ext cx="1300163" cy="0"/>
          </a:xfrm>
          <a:prstGeom prst="line"/>
          <a:noFill/>
          <a:ln w="14288">
            <a:solidFill>
              <a:srgbClr val="4A90E2"/>
            </a:solidFill>
            <a:prstDash val="solid"/>
          </a:ln>
        </p:spPr>
      </p:sp>
      <p:sp>
        <p:nvSpPr>
          <p:cNvPr id="1048686" name="Shape 7"/>
          <p:cNvSpPr/>
          <p:nvPr/>
        </p:nvSpPr>
        <p:spPr>
          <a:xfrm>
            <a:off x="3139678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87" name="Shape 8"/>
          <p:cNvSpPr/>
          <p:nvPr/>
        </p:nvSpPr>
        <p:spPr>
          <a:xfrm>
            <a:off x="1843088" y="3023927"/>
            <a:ext cx="130016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88" name="Shape 9"/>
          <p:cNvSpPr/>
          <p:nvPr/>
        </p:nvSpPr>
        <p:spPr>
          <a:xfrm>
            <a:off x="1846659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89" name="Shape 10"/>
          <p:cNvSpPr/>
          <p:nvPr/>
        </p:nvSpPr>
        <p:spPr>
          <a:xfrm>
            <a:off x="3228975" y="1763055"/>
            <a:ext cx="1300163" cy="0"/>
          </a:xfrm>
          <a:prstGeom prst="line"/>
          <a:noFill/>
          <a:ln w="14288">
            <a:solidFill>
              <a:srgbClr val="27AE60"/>
            </a:solidFill>
            <a:prstDash val="solid"/>
          </a:ln>
        </p:spPr>
      </p:sp>
      <p:sp>
        <p:nvSpPr>
          <p:cNvPr id="1048690" name="Shape 11"/>
          <p:cNvSpPr/>
          <p:nvPr/>
        </p:nvSpPr>
        <p:spPr>
          <a:xfrm>
            <a:off x="4525566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91" name="Shape 12"/>
          <p:cNvSpPr/>
          <p:nvPr/>
        </p:nvSpPr>
        <p:spPr>
          <a:xfrm>
            <a:off x="3228975" y="3023927"/>
            <a:ext cx="130016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92" name="Shape 13"/>
          <p:cNvSpPr/>
          <p:nvPr/>
        </p:nvSpPr>
        <p:spPr>
          <a:xfrm>
            <a:off x="3232547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93" name="Shape 14"/>
          <p:cNvSpPr/>
          <p:nvPr/>
        </p:nvSpPr>
        <p:spPr>
          <a:xfrm>
            <a:off x="4614863" y="1763055"/>
            <a:ext cx="1300163" cy="0"/>
          </a:xfrm>
          <a:prstGeom prst="line"/>
          <a:noFill/>
          <a:ln w="14288">
            <a:solidFill>
              <a:srgbClr val="F39C12"/>
            </a:solidFill>
            <a:prstDash val="solid"/>
          </a:ln>
        </p:spPr>
      </p:sp>
      <p:sp>
        <p:nvSpPr>
          <p:cNvPr id="1048694" name="Shape 15"/>
          <p:cNvSpPr/>
          <p:nvPr/>
        </p:nvSpPr>
        <p:spPr>
          <a:xfrm>
            <a:off x="5911453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95" name="Shape 16"/>
          <p:cNvSpPr/>
          <p:nvPr/>
        </p:nvSpPr>
        <p:spPr>
          <a:xfrm>
            <a:off x="4614863" y="3023927"/>
            <a:ext cx="130016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96" name="Shape 17"/>
          <p:cNvSpPr/>
          <p:nvPr/>
        </p:nvSpPr>
        <p:spPr>
          <a:xfrm>
            <a:off x="4618434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97" name="Shape 18"/>
          <p:cNvSpPr/>
          <p:nvPr/>
        </p:nvSpPr>
        <p:spPr>
          <a:xfrm>
            <a:off x="6000750" y="1763055"/>
            <a:ext cx="1300163" cy="0"/>
          </a:xfrm>
          <a:prstGeom prst="line"/>
          <a:noFill/>
          <a:ln w="14288">
            <a:solidFill>
              <a:srgbClr val="FF6B35"/>
            </a:solidFill>
            <a:prstDash val="solid"/>
          </a:ln>
        </p:spPr>
      </p:sp>
      <p:sp>
        <p:nvSpPr>
          <p:cNvPr id="1048698" name="Shape 19"/>
          <p:cNvSpPr/>
          <p:nvPr/>
        </p:nvSpPr>
        <p:spPr>
          <a:xfrm>
            <a:off x="7297341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699" name="Shape 20"/>
          <p:cNvSpPr/>
          <p:nvPr/>
        </p:nvSpPr>
        <p:spPr>
          <a:xfrm>
            <a:off x="6000750" y="3023927"/>
            <a:ext cx="130016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00" name="Shape 21"/>
          <p:cNvSpPr/>
          <p:nvPr/>
        </p:nvSpPr>
        <p:spPr>
          <a:xfrm>
            <a:off x="6004322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01" name="Shape 22"/>
          <p:cNvSpPr/>
          <p:nvPr/>
        </p:nvSpPr>
        <p:spPr>
          <a:xfrm>
            <a:off x="7386638" y="1763055"/>
            <a:ext cx="1300163" cy="0"/>
          </a:xfrm>
          <a:prstGeom prst="line"/>
          <a:noFill/>
          <a:ln w="14288">
            <a:solidFill>
              <a:srgbClr val="9CA3AF"/>
            </a:solidFill>
            <a:prstDash val="solid"/>
          </a:ln>
        </p:spPr>
      </p:sp>
      <p:sp>
        <p:nvSpPr>
          <p:cNvPr id="1048702" name="Shape 23"/>
          <p:cNvSpPr/>
          <p:nvPr/>
        </p:nvSpPr>
        <p:spPr>
          <a:xfrm>
            <a:off x="8683228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03" name="Shape 24"/>
          <p:cNvSpPr/>
          <p:nvPr/>
        </p:nvSpPr>
        <p:spPr>
          <a:xfrm>
            <a:off x="7386638" y="3023927"/>
            <a:ext cx="130016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04" name="Shape 25"/>
          <p:cNvSpPr/>
          <p:nvPr/>
        </p:nvSpPr>
        <p:spPr>
          <a:xfrm>
            <a:off x="7390209" y="1755911"/>
            <a:ext cx="0" cy="1271588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05" name="Shape 34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06" name="Text 35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1</a:t>
            </a:r>
            <a:r>
              <a:rPr dirty="0" sz="800" kern="0" lang="en-US" spc="5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APERTURA</a:t>
            </a:r>
            <a:endParaRPr dirty="0" sz="800" lang="en-US"/>
          </a:p>
        </p:txBody>
      </p:sp>
      <p:sp>
        <p:nvSpPr>
          <p:cNvPr id="1048707" name="Text 36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 / 27</a:t>
            </a:r>
            <a:endParaRPr dirty="0" sz="619" lang="en-US"/>
          </a:p>
        </p:txBody>
      </p:sp>
      <p:sp>
        <p:nvSpPr>
          <p:cNvPr id="1048708" name="Text 37"/>
          <p:cNvSpPr/>
          <p:nvPr/>
        </p:nvSpPr>
        <p:spPr>
          <a:xfrm>
            <a:off x="457200" y="696516"/>
            <a:ext cx="2504141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Agenda del </a:t>
            </a:r>
            <a:r>
              <a:rPr b="1" dirty="0" sz="1200" kern="0" lang="en-US" spc="-27" smtClean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taller</a:t>
            </a:r>
            <a:endParaRPr dirty="0" sz="1200" lang="en-US"/>
          </a:p>
        </p:txBody>
      </p:sp>
      <p:sp>
        <p:nvSpPr>
          <p:cNvPr id="1048709" name="Text 39"/>
          <p:cNvSpPr/>
          <p:nvPr/>
        </p:nvSpPr>
        <p:spPr>
          <a:xfrm>
            <a:off x="6872622" y="941738"/>
            <a:ext cx="752773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10" name="Text 40"/>
          <p:cNvSpPr/>
          <p:nvPr/>
        </p:nvSpPr>
        <p:spPr>
          <a:xfrm>
            <a:off x="7084099" y="995102"/>
            <a:ext cx="579852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bloques</a:t>
            </a:r>
            <a:endParaRPr dirty="0" sz="800" lang="en-US"/>
          </a:p>
        </p:txBody>
      </p:sp>
      <p:sp>
        <p:nvSpPr>
          <p:cNvPr id="1048711" name="Text 41"/>
          <p:cNvSpPr/>
          <p:nvPr/>
        </p:nvSpPr>
        <p:spPr>
          <a:xfrm>
            <a:off x="6951204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dirty="0" sz="984" lang="en-US"/>
          </a:p>
        </p:txBody>
      </p:sp>
      <p:sp>
        <p:nvSpPr>
          <p:cNvPr id="1048712" name="Text 42"/>
          <p:cNvSpPr/>
          <p:nvPr/>
        </p:nvSpPr>
        <p:spPr>
          <a:xfrm>
            <a:off x="7682545" y="941738"/>
            <a:ext cx="1004255" cy="196025"/>
          </a:xfrm>
          <a:prstGeom prst="roundRect">
            <a:avLst>
              <a:gd name="adj" fmla="val 4854215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13" name="Text 43"/>
          <p:cNvSpPr/>
          <p:nvPr/>
        </p:nvSpPr>
        <p:spPr>
          <a:xfrm>
            <a:off x="7904001" y="995102"/>
            <a:ext cx="782799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virtual</a:t>
            </a:r>
            <a:endParaRPr dirty="0" sz="619" lang="en-US"/>
          </a:p>
        </p:txBody>
      </p:sp>
      <p:sp>
        <p:nvSpPr>
          <p:cNvPr id="1048714" name="Text 44"/>
          <p:cNvSpPr/>
          <p:nvPr/>
        </p:nvSpPr>
        <p:spPr>
          <a:xfrm>
            <a:off x="7761126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dirty="0" sz="984" lang="en-US"/>
          </a:p>
        </p:txBody>
      </p:sp>
      <p:sp>
        <p:nvSpPr>
          <p:cNvPr id="1048715" name="Text 45"/>
          <p:cNvSpPr/>
          <p:nvPr/>
        </p:nvSpPr>
        <p:spPr>
          <a:xfrm>
            <a:off x="914400" y="1277280"/>
            <a:ext cx="385763" cy="385763"/>
          </a:xfrm>
          <a:prstGeom prst="ellipse"/>
          <a:solidFill>
            <a:srgbClr val="0D0D0D"/>
          </a:solidFill>
          <a:ln w="14288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16" name="Text 46"/>
          <p:cNvSpPr/>
          <p:nvPr/>
        </p:nvSpPr>
        <p:spPr>
          <a:xfrm>
            <a:off x="907256" y="1270136"/>
            <a:ext cx="400050" cy="4000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266"/>
              </a:lnSpc>
              <a:buNone/>
            </a:pPr>
            <a:r>
              <a:rPr b="1" dirty="0" sz="844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00</a:t>
            </a:r>
            <a:endParaRPr dirty="0" sz="844" lang="en-US"/>
          </a:p>
        </p:txBody>
      </p:sp>
      <p:sp>
        <p:nvSpPr>
          <p:cNvPr id="1048717" name="Text 47"/>
          <p:cNvSpPr/>
          <p:nvPr/>
        </p:nvSpPr>
        <p:spPr>
          <a:xfrm>
            <a:off x="457200" y="1755911"/>
            <a:ext cx="1300163" cy="1271588"/>
          </a:xfrm>
          <a:prstGeom prst="roundRect">
            <a:avLst>
              <a:gd name="adj" fmla="val 4494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18" name="Text 49"/>
          <p:cNvSpPr/>
          <p:nvPr/>
        </p:nvSpPr>
        <p:spPr>
          <a:xfrm>
            <a:off x="550069" y="1977368"/>
            <a:ext cx="1114425" cy="117229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14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Contexto del caso</a:t>
            </a:r>
            <a:endParaRPr dirty="0" sz="800" lang="en-US"/>
          </a:p>
        </p:txBody>
      </p:sp>
      <p:sp>
        <p:nvSpPr>
          <p:cNvPr id="1048719" name="Text 50"/>
          <p:cNvSpPr/>
          <p:nvPr/>
        </p:nvSpPr>
        <p:spPr>
          <a:xfrm>
            <a:off x="550069" y="2122029"/>
            <a:ext cx="1181291" cy="30705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66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HabanaEntregas y arquitectura de 3 capas.</a:t>
            </a:r>
            <a:endParaRPr dirty="0" sz="800" lang="en-US"/>
          </a:p>
        </p:txBody>
      </p:sp>
      <p:sp>
        <p:nvSpPr>
          <p:cNvPr id="1048720" name="Text 51"/>
          <p:cNvSpPr/>
          <p:nvPr/>
        </p:nvSpPr>
        <p:spPr>
          <a:xfrm>
            <a:off x="644914" y="2823902"/>
            <a:ext cx="630204" cy="11072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APERTURA</a:t>
            </a:r>
            <a:endParaRPr dirty="0" sz="800" lang="en-US"/>
          </a:p>
        </p:txBody>
      </p:sp>
      <p:sp>
        <p:nvSpPr>
          <p:cNvPr id="1048721" name="Text 52"/>
          <p:cNvSpPr/>
          <p:nvPr/>
        </p:nvSpPr>
        <p:spPr>
          <a:xfrm>
            <a:off x="550069" y="283283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dirty="0" sz="844" lang="en-US"/>
          </a:p>
        </p:txBody>
      </p:sp>
      <p:sp>
        <p:nvSpPr>
          <p:cNvPr id="1048722" name="Text 53"/>
          <p:cNvSpPr/>
          <p:nvPr/>
        </p:nvSpPr>
        <p:spPr>
          <a:xfrm>
            <a:off x="2300288" y="1277280"/>
            <a:ext cx="385763" cy="385763"/>
          </a:xfrm>
          <a:prstGeom prst="ellipse"/>
          <a:solidFill>
            <a:srgbClr val="0D0D0D"/>
          </a:solidFill>
          <a:ln w="14288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23" name="Text 54"/>
          <p:cNvSpPr/>
          <p:nvPr/>
        </p:nvSpPr>
        <p:spPr>
          <a:xfrm>
            <a:off x="2293144" y="1270136"/>
            <a:ext cx="400050" cy="4000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266"/>
              </a:lnSpc>
              <a:buNone/>
            </a:pPr>
            <a:r>
              <a:rPr b="1" dirty="0" sz="844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dirty="0" sz="844" lang="en-US"/>
          </a:p>
        </p:txBody>
      </p:sp>
      <p:sp>
        <p:nvSpPr>
          <p:cNvPr id="1048724" name="Text 55"/>
          <p:cNvSpPr/>
          <p:nvPr/>
        </p:nvSpPr>
        <p:spPr>
          <a:xfrm>
            <a:off x="1843088" y="1755911"/>
            <a:ext cx="1300163" cy="1271588"/>
          </a:xfrm>
          <a:prstGeom prst="roundRect">
            <a:avLst>
              <a:gd name="adj" fmla="val 4494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25" name="Text 57"/>
          <p:cNvSpPr/>
          <p:nvPr/>
        </p:nvSpPr>
        <p:spPr>
          <a:xfrm>
            <a:off x="1935956" y="1977368"/>
            <a:ext cx="1114425" cy="117229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14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Fundamentos</a:t>
            </a:r>
            <a:endParaRPr dirty="0" sz="800" lang="en-US"/>
          </a:p>
        </p:txBody>
      </p:sp>
      <p:sp>
        <p:nvSpPr>
          <p:cNvPr id="1048726" name="Text 58"/>
          <p:cNvSpPr/>
          <p:nvPr/>
        </p:nvSpPr>
        <p:spPr>
          <a:xfrm>
            <a:off x="1935956" y="2122029"/>
            <a:ext cx="1181291" cy="30705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66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GitFlow + conceptos de CI/CD y pipeline.</a:t>
            </a:r>
            <a:endParaRPr dirty="0" sz="800" lang="en-US"/>
          </a:p>
        </p:txBody>
      </p:sp>
      <p:sp>
        <p:nvSpPr>
          <p:cNvPr id="1048727" name="Text 59"/>
          <p:cNvSpPr/>
          <p:nvPr/>
        </p:nvSpPr>
        <p:spPr>
          <a:xfrm>
            <a:off x="2023777" y="2823902"/>
            <a:ext cx="461162" cy="11072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TEORÍA</a:t>
            </a:r>
            <a:endParaRPr dirty="0" sz="800" lang="en-US"/>
          </a:p>
        </p:txBody>
      </p:sp>
      <p:sp>
        <p:nvSpPr>
          <p:cNvPr id="1048728" name="Text 60"/>
          <p:cNvSpPr/>
          <p:nvPr/>
        </p:nvSpPr>
        <p:spPr>
          <a:xfrm>
            <a:off x="1935956" y="283283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844" lang="en-US"/>
          </a:p>
        </p:txBody>
      </p:sp>
      <p:sp>
        <p:nvSpPr>
          <p:cNvPr id="1048729" name="Text 61"/>
          <p:cNvSpPr/>
          <p:nvPr/>
        </p:nvSpPr>
        <p:spPr>
          <a:xfrm>
            <a:off x="3686175" y="1277280"/>
            <a:ext cx="385763" cy="385763"/>
          </a:xfrm>
          <a:prstGeom prst="ellipse"/>
          <a:solidFill>
            <a:srgbClr val="0D0D0D"/>
          </a:solidFill>
          <a:ln w="14288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30" name="Text 62"/>
          <p:cNvSpPr/>
          <p:nvPr/>
        </p:nvSpPr>
        <p:spPr>
          <a:xfrm>
            <a:off x="3679031" y="1270136"/>
            <a:ext cx="400050" cy="4000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266"/>
              </a:lnSpc>
              <a:buNone/>
            </a:pPr>
            <a:r>
              <a:rPr b="1" dirty="0" sz="844" kern="0" lang="en-US" spc="8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</a:t>
            </a:r>
            <a:endParaRPr dirty="0" sz="844" lang="en-US"/>
          </a:p>
        </p:txBody>
      </p:sp>
      <p:sp>
        <p:nvSpPr>
          <p:cNvPr id="1048731" name="Text 63"/>
          <p:cNvSpPr/>
          <p:nvPr/>
        </p:nvSpPr>
        <p:spPr>
          <a:xfrm>
            <a:off x="3228975" y="1755911"/>
            <a:ext cx="1300163" cy="1271588"/>
          </a:xfrm>
          <a:prstGeom prst="roundRect">
            <a:avLst>
              <a:gd name="adj" fmla="val 4494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32" name="Text 65"/>
          <p:cNvSpPr/>
          <p:nvPr/>
        </p:nvSpPr>
        <p:spPr>
          <a:xfrm>
            <a:off x="3321844" y="1977368"/>
            <a:ext cx="1114425" cy="117229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14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Mapeo de hitos</a:t>
            </a:r>
            <a:endParaRPr dirty="0" sz="800" lang="en-US"/>
          </a:p>
        </p:txBody>
      </p:sp>
      <p:sp>
        <p:nvSpPr>
          <p:cNvPr id="1048733" name="Text 66"/>
          <p:cNvSpPr/>
          <p:nvPr/>
        </p:nvSpPr>
        <p:spPr>
          <a:xfrm>
            <a:off x="3321844" y="2122029"/>
            <a:ext cx="1114425" cy="30705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66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Los 4 hitos H1–H4 a ramas GitFlow.</a:t>
            </a:r>
            <a:endParaRPr dirty="0" sz="800" lang="en-US"/>
          </a:p>
        </p:txBody>
      </p:sp>
      <p:sp>
        <p:nvSpPr>
          <p:cNvPr id="1048734" name="Text 67"/>
          <p:cNvSpPr/>
          <p:nvPr/>
        </p:nvSpPr>
        <p:spPr>
          <a:xfrm>
            <a:off x="3436144" y="2823902"/>
            <a:ext cx="344329" cy="11072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MAPA</a:t>
            </a:r>
            <a:endParaRPr dirty="0" sz="800" lang="en-US"/>
          </a:p>
        </p:txBody>
      </p:sp>
      <p:sp>
        <p:nvSpPr>
          <p:cNvPr id="1048735" name="Text 68"/>
          <p:cNvSpPr/>
          <p:nvPr/>
        </p:nvSpPr>
        <p:spPr>
          <a:xfrm>
            <a:off x="3321844" y="283283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dirty="0" sz="844" lang="en-US"/>
          </a:p>
        </p:txBody>
      </p:sp>
      <p:sp>
        <p:nvSpPr>
          <p:cNvPr id="1048736" name="Text 69"/>
          <p:cNvSpPr/>
          <p:nvPr/>
        </p:nvSpPr>
        <p:spPr>
          <a:xfrm>
            <a:off x="5072063" y="1277280"/>
            <a:ext cx="385763" cy="385763"/>
          </a:xfrm>
          <a:prstGeom prst="ellipse"/>
          <a:solidFill>
            <a:srgbClr val="0D0D0D"/>
          </a:solidFill>
          <a:ln w="14288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37" name="Text 70"/>
          <p:cNvSpPr/>
          <p:nvPr/>
        </p:nvSpPr>
        <p:spPr>
          <a:xfrm>
            <a:off x="5064919" y="1270136"/>
            <a:ext cx="400050" cy="4000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266"/>
              </a:lnSpc>
              <a:buNone/>
            </a:pPr>
            <a:r>
              <a:rPr b="1" dirty="0" sz="844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</a:t>
            </a:r>
            <a:endParaRPr dirty="0" sz="844" lang="en-US"/>
          </a:p>
        </p:txBody>
      </p:sp>
      <p:sp>
        <p:nvSpPr>
          <p:cNvPr id="1048738" name="Text 71"/>
          <p:cNvSpPr/>
          <p:nvPr/>
        </p:nvSpPr>
        <p:spPr>
          <a:xfrm>
            <a:off x="4614863" y="1755911"/>
            <a:ext cx="1300163" cy="1271588"/>
          </a:xfrm>
          <a:prstGeom prst="roundRect">
            <a:avLst>
              <a:gd name="adj" fmla="val 4494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39" name="Text 73"/>
          <p:cNvSpPr/>
          <p:nvPr/>
        </p:nvSpPr>
        <p:spPr>
          <a:xfrm>
            <a:off x="4707731" y="1977368"/>
            <a:ext cx="1114425" cy="117229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14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Taller guiado</a:t>
            </a:r>
            <a:endParaRPr dirty="0" sz="800" lang="en-US"/>
          </a:p>
        </p:txBody>
      </p:sp>
      <p:sp>
        <p:nvSpPr>
          <p:cNvPr id="1048740" name="Text 74"/>
          <p:cNvSpPr/>
          <p:nvPr/>
        </p:nvSpPr>
        <p:spPr>
          <a:xfrm>
            <a:off x="4707731" y="2122029"/>
            <a:ext cx="1181291" cy="30705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66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Comandos Git + pipeline paso a paso.</a:t>
            </a:r>
            <a:endParaRPr dirty="0" sz="800" lang="en-US"/>
          </a:p>
        </p:txBody>
      </p:sp>
      <p:sp>
        <p:nvSpPr>
          <p:cNvPr id="1048741" name="Text 75"/>
          <p:cNvSpPr/>
          <p:nvPr/>
        </p:nvSpPr>
        <p:spPr>
          <a:xfrm>
            <a:off x="4794227" y="2823902"/>
            <a:ext cx="609824" cy="11072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PRÁCTICA</a:t>
            </a:r>
            <a:endParaRPr dirty="0" sz="800" lang="en-US"/>
          </a:p>
        </p:txBody>
      </p:sp>
      <p:sp>
        <p:nvSpPr>
          <p:cNvPr id="1048742" name="Text 76"/>
          <p:cNvSpPr/>
          <p:nvPr/>
        </p:nvSpPr>
        <p:spPr>
          <a:xfrm>
            <a:off x="4707731" y="283283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844" lang="en-US"/>
          </a:p>
        </p:txBody>
      </p:sp>
      <p:sp>
        <p:nvSpPr>
          <p:cNvPr id="1048743" name="Text 77"/>
          <p:cNvSpPr/>
          <p:nvPr/>
        </p:nvSpPr>
        <p:spPr>
          <a:xfrm>
            <a:off x="6457950" y="1277280"/>
            <a:ext cx="385763" cy="385763"/>
          </a:xfrm>
          <a:prstGeom prst="ellipse"/>
          <a:solidFill>
            <a:srgbClr val="0D0D0D"/>
          </a:solidFill>
          <a:ln w="14288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44" name="Text 78"/>
          <p:cNvSpPr/>
          <p:nvPr/>
        </p:nvSpPr>
        <p:spPr>
          <a:xfrm>
            <a:off x="6450806" y="1270136"/>
            <a:ext cx="400050" cy="4000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266"/>
              </a:lnSpc>
              <a:buNone/>
            </a:pPr>
            <a:r>
              <a:rPr b="1" dirty="0" sz="844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</a:t>
            </a:r>
            <a:endParaRPr dirty="0" sz="844" lang="en-US"/>
          </a:p>
        </p:txBody>
      </p:sp>
      <p:sp>
        <p:nvSpPr>
          <p:cNvPr id="1048745" name="Text 79"/>
          <p:cNvSpPr/>
          <p:nvPr/>
        </p:nvSpPr>
        <p:spPr>
          <a:xfrm>
            <a:off x="6000750" y="1755911"/>
            <a:ext cx="1300163" cy="1271588"/>
          </a:xfrm>
          <a:prstGeom prst="roundRect">
            <a:avLst>
              <a:gd name="adj" fmla="val 4494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46" name="Text 81"/>
          <p:cNvSpPr/>
          <p:nvPr/>
        </p:nvSpPr>
        <p:spPr>
          <a:xfrm>
            <a:off x="6093619" y="1977368"/>
            <a:ext cx="1114425" cy="117229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14"/>
              </a:lnSpc>
              <a:buNone/>
            </a:pPr>
            <a:r>
              <a:rPr dirty="0" sz="731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Riesgos + oportunidades</a:t>
            </a:r>
            <a:endParaRPr dirty="0" sz="731" lang="en-US"/>
          </a:p>
        </p:txBody>
      </p:sp>
      <p:sp>
        <p:nvSpPr>
          <p:cNvPr id="1048747" name="Text 82"/>
          <p:cNvSpPr/>
          <p:nvPr/>
        </p:nvSpPr>
        <p:spPr>
          <a:xfrm>
            <a:off x="6093619" y="2122029"/>
            <a:ext cx="1114425" cy="30705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66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Gestión con GitFlow y explotación.</a:t>
            </a:r>
            <a:endParaRPr dirty="0" sz="800" lang="en-US"/>
          </a:p>
        </p:txBody>
      </p:sp>
      <p:sp>
        <p:nvSpPr>
          <p:cNvPr id="1048748" name="Text 83"/>
          <p:cNvSpPr/>
          <p:nvPr/>
        </p:nvSpPr>
        <p:spPr>
          <a:xfrm>
            <a:off x="6186951" y="2823902"/>
            <a:ext cx="684154" cy="11072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DISCUSIÓN</a:t>
            </a:r>
            <a:endParaRPr dirty="0" sz="800" lang="en-US"/>
          </a:p>
        </p:txBody>
      </p:sp>
      <p:sp>
        <p:nvSpPr>
          <p:cNvPr id="1048749" name="Text 84"/>
          <p:cNvSpPr/>
          <p:nvPr/>
        </p:nvSpPr>
        <p:spPr>
          <a:xfrm>
            <a:off x="6093619" y="283283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dirty="0" sz="844" lang="en-US"/>
          </a:p>
        </p:txBody>
      </p:sp>
      <p:sp>
        <p:nvSpPr>
          <p:cNvPr id="1048750" name="Text 85"/>
          <p:cNvSpPr/>
          <p:nvPr/>
        </p:nvSpPr>
        <p:spPr>
          <a:xfrm>
            <a:off x="7843838" y="1277280"/>
            <a:ext cx="385763" cy="385763"/>
          </a:xfrm>
          <a:prstGeom prst="ellipse"/>
          <a:solidFill>
            <a:srgbClr val="0D0D0D"/>
          </a:solidFill>
          <a:ln w="14288">
            <a:solidFill>
              <a:srgbClr val="9CA3AF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51" name="Text 86"/>
          <p:cNvSpPr/>
          <p:nvPr/>
        </p:nvSpPr>
        <p:spPr>
          <a:xfrm>
            <a:off x="7836694" y="1270136"/>
            <a:ext cx="400050" cy="4000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266"/>
              </a:lnSpc>
              <a:buNone/>
            </a:pPr>
            <a:r>
              <a:rPr b="1" dirty="0" sz="844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</a:t>
            </a:r>
            <a:endParaRPr dirty="0" sz="844" lang="en-US"/>
          </a:p>
        </p:txBody>
      </p:sp>
      <p:sp>
        <p:nvSpPr>
          <p:cNvPr id="1048752" name="Text 87"/>
          <p:cNvSpPr/>
          <p:nvPr/>
        </p:nvSpPr>
        <p:spPr>
          <a:xfrm>
            <a:off x="7386638" y="1755911"/>
            <a:ext cx="1300163" cy="1271588"/>
          </a:xfrm>
          <a:prstGeom prst="roundRect">
            <a:avLst>
              <a:gd name="adj" fmla="val 4494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53" name="Text 89"/>
          <p:cNvSpPr/>
          <p:nvPr/>
        </p:nvSpPr>
        <p:spPr>
          <a:xfrm>
            <a:off x="7479506" y="1977368"/>
            <a:ext cx="1114425" cy="117229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14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Cierre</a:t>
            </a:r>
            <a:endParaRPr dirty="0" sz="800" lang="en-US"/>
          </a:p>
        </p:txBody>
      </p:sp>
      <p:sp>
        <p:nvSpPr>
          <p:cNvPr id="1048754" name="Text 90"/>
          <p:cNvSpPr/>
          <p:nvPr/>
        </p:nvSpPr>
        <p:spPr>
          <a:xfrm>
            <a:off x="7479506" y="2122029"/>
            <a:ext cx="1181290" cy="30705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66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Preguntas, conclusiones y bibliografía.</a:t>
            </a:r>
            <a:endParaRPr dirty="0" sz="800" lang="en-US"/>
          </a:p>
        </p:txBody>
      </p:sp>
      <p:sp>
        <p:nvSpPr>
          <p:cNvPr id="1048755" name="Text 91"/>
          <p:cNvSpPr/>
          <p:nvPr/>
        </p:nvSpPr>
        <p:spPr>
          <a:xfrm>
            <a:off x="7593806" y="2823902"/>
            <a:ext cx="346829" cy="11072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FINAL</a:t>
            </a:r>
            <a:endParaRPr dirty="0" sz="619" lang="en-US"/>
          </a:p>
        </p:txBody>
      </p:sp>
      <p:sp>
        <p:nvSpPr>
          <p:cNvPr id="1048756" name="Text 92"/>
          <p:cNvSpPr/>
          <p:nvPr/>
        </p:nvSpPr>
        <p:spPr>
          <a:xfrm>
            <a:off x="7479506" y="2832832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dirty="0" sz="844" lang="en-US"/>
          </a:p>
        </p:txBody>
      </p:sp>
      <p:sp>
        <p:nvSpPr>
          <p:cNvPr id="1048757" name="Text 96"/>
          <p:cNvSpPr/>
          <p:nvPr/>
        </p:nvSpPr>
        <p:spPr>
          <a:xfrm>
            <a:off x="657225" y="351506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endParaRPr dirty="0" sz="984" lang="en-US"/>
          </a:p>
        </p:txBody>
      </p:sp>
      <p:sp>
        <p:nvSpPr>
          <p:cNvPr id="1048758" name="Text 103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60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762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63" name="Shape 1"/>
          <p:cNvSpPr/>
          <p:nvPr/>
        </p:nvSpPr>
        <p:spPr>
          <a:xfrm>
            <a:off x="457200" y="1245133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64" name="Shape 2"/>
          <p:cNvSpPr/>
          <p:nvPr/>
        </p:nvSpPr>
        <p:spPr>
          <a:xfrm>
            <a:off x="3139678" y="1241561"/>
            <a:ext cx="0" cy="1685925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65" name="Shape 3"/>
          <p:cNvSpPr/>
          <p:nvPr/>
        </p:nvSpPr>
        <p:spPr>
          <a:xfrm>
            <a:off x="457200" y="2923915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66" name="Shape 4"/>
          <p:cNvSpPr/>
          <p:nvPr/>
        </p:nvSpPr>
        <p:spPr>
          <a:xfrm>
            <a:off x="467916" y="1241561"/>
            <a:ext cx="0" cy="1685925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8767" name="Shape 5"/>
          <p:cNvSpPr/>
          <p:nvPr/>
        </p:nvSpPr>
        <p:spPr>
          <a:xfrm>
            <a:off x="592931" y="2663168"/>
            <a:ext cx="2428875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68" name="Shape 6"/>
          <p:cNvSpPr/>
          <p:nvPr/>
        </p:nvSpPr>
        <p:spPr>
          <a:xfrm>
            <a:off x="3228975" y="1245133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69" name="Shape 7"/>
          <p:cNvSpPr/>
          <p:nvPr/>
        </p:nvSpPr>
        <p:spPr>
          <a:xfrm>
            <a:off x="5911453" y="1241561"/>
            <a:ext cx="0" cy="1685925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70" name="Shape 8"/>
          <p:cNvSpPr/>
          <p:nvPr/>
        </p:nvSpPr>
        <p:spPr>
          <a:xfrm>
            <a:off x="3228975" y="2923915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71" name="Shape 9"/>
          <p:cNvSpPr/>
          <p:nvPr/>
        </p:nvSpPr>
        <p:spPr>
          <a:xfrm>
            <a:off x="3239691" y="1241561"/>
            <a:ext cx="0" cy="1685925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8772" name="Shape 10"/>
          <p:cNvSpPr/>
          <p:nvPr/>
        </p:nvSpPr>
        <p:spPr>
          <a:xfrm>
            <a:off x="3364706" y="2663168"/>
            <a:ext cx="2428875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73" name="Shape 11"/>
          <p:cNvSpPr/>
          <p:nvPr/>
        </p:nvSpPr>
        <p:spPr>
          <a:xfrm>
            <a:off x="6000750" y="1245133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74" name="Shape 12"/>
          <p:cNvSpPr/>
          <p:nvPr/>
        </p:nvSpPr>
        <p:spPr>
          <a:xfrm>
            <a:off x="8683228" y="1241561"/>
            <a:ext cx="0" cy="1685925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75" name="Shape 13"/>
          <p:cNvSpPr/>
          <p:nvPr/>
        </p:nvSpPr>
        <p:spPr>
          <a:xfrm>
            <a:off x="6000750" y="2923915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76" name="Shape 14"/>
          <p:cNvSpPr/>
          <p:nvPr/>
        </p:nvSpPr>
        <p:spPr>
          <a:xfrm>
            <a:off x="6011466" y="1241561"/>
            <a:ext cx="0" cy="1685925"/>
          </a:xfrm>
          <a:prstGeom prst="line"/>
          <a:noFill/>
          <a:ln w="21431">
            <a:solidFill>
              <a:srgbClr val="27AE60"/>
            </a:solidFill>
            <a:prstDash val="solid"/>
          </a:ln>
        </p:spPr>
      </p:sp>
      <p:sp>
        <p:nvSpPr>
          <p:cNvPr id="1048777" name="Shape 15"/>
          <p:cNvSpPr/>
          <p:nvPr/>
        </p:nvSpPr>
        <p:spPr>
          <a:xfrm>
            <a:off x="6136481" y="2663168"/>
            <a:ext cx="2428875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78" name="Shape 16"/>
          <p:cNvSpPr/>
          <p:nvPr/>
        </p:nvSpPr>
        <p:spPr>
          <a:xfrm>
            <a:off x="457200" y="3016783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79" name="Shape 17"/>
          <p:cNvSpPr/>
          <p:nvPr/>
        </p:nvSpPr>
        <p:spPr>
          <a:xfrm>
            <a:off x="3139678" y="3013211"/>
            <a:ext cx="0" cy="1685925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80" name="Shape 18"/>
          <p:cNvSpPr/>
          <p:nvPr/>
        </p:nvSpPr>
        <p:spPr>
          <a:xfrm>
            <a:off x="457200" y="4695565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81" name="Shape 19"/>
          <p:cNvSpPr/>
          <p:nvPr/>
        </p:nvSpPr>
        <p:spPr>
          <a:xfrm>
            <a:off x="467916" y="3013211"/>
            <a:ext cx="0" cy="1685925"/>
          </a:xfrm>
          <a:prstGeom prst="line"/>
          <a:noFill/>
          <a:ln w="21431">
            <a:solidFill>
              <a:srgbClr val="F39C12"/>
            </a:solidFill>
            <a:prstDash val="solid"/>
          </a:ln>
        </p:spPr>
      </p:sp>
      <p:sp>
        <p:nvSpPr>
          <p:cNvPr id="1048782" name="Shape 20"/>
          <p:cNvSpPr/>
          <p:nvPr/>
        </p:nvSpPr>
        <p:spPr>
          <a:xfrm>
            <a:off x="592931" y="4434818"/>
            <a:ext cx="2428875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83" name="Shape 21"/>
          <p:cNvSpPr/>
          <p:nvPr/>
        </p:nvSpPr>
        <p:spPr>
          <a:xfrm>
            <a:off x="3228975" y="3016783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84" name="Shape 22"/>
          <p:cNvSpPr/>
          <p:nvPr/>
        </p:nvSpPr>
        <p:spPr>
          <a:xfrm>
            <a:off x="5911453" y="3013211"/>
            <a:ext cx="0" cy="1685925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85" name="Shape 23"/>
          <p:cNvSpPr/>
          <p:nvPr/>
        </p:nvSpPr>
        <p:spPr>
          <a:xfrm>
            <a:off x="3228975" y="4695565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86" name="Shape 24"/>
          <p:cNvSpPr/>
          <p:nvPr/>
        </p:nvSpPr>
        <p:spPr>
          <a:xfrm>
            <a:off x="3239691" y="3013211"/>
            <a:ext cx="0" cy="1685925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8787" name="Shape 25"/>
          <p:cNvSpPr/>
          <p:nvPr/>
        </p:nvSpPr>
        <p:spPr>
          <a:xfrm>
            <a:off x="3364706" y="4434818"/>
            <a:ext cx="2428875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88" name="Shape 26"/>
          <p:cNvSpPr/>
          <p:nvPr/>
        </p:nvSpPr>
        <p:spPr>
          <a:xfrm>
            <a:off x="6000750" y="3016783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89" name="Shape 27"/>
          <p:cNvSpPr/>
          <p:nvPr/>
        </p:nvSpPr>
        <p:spPr>
          <a:xfrm>
            <a:off x="8683228" y="3013211"/>
            <a:ext cx="0" cy="1685925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90" name="Shape 28"/>
          <p:cNvSpPr/>
          <p:nvPr/>
        </p:nvSpPr>
        <p:spPr>
          <a:xfrm>
            <a:off x="6000750" y="4695565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91" name="Shape 29"/>
          <p:cNvSpPr/>
          <p:nvPr/>
        </p:nvSpPr>
        <p:spPr>
          <a:xfrm>
            <a:off x="6011466" y="3013211"/>
            <a:ext cx="0" cy="1685925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8792" name="Shape 30"/>
          <p:cNvSpPr/>
          <p:nvPr/>
        </p:nvSpPr>
        <p:spPr>
          <a:xfrm>
            <a:off x="6136481" y="4434818"/>
            <a:ext cx="2428875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93" name="Shape 31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794" name="Text 32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1</a:t>
            </a:r>
            <a:r>
              <a:rPr dirty="0" sz="800" kern="0" lang="en-US" spc="5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APERTURA</a:t>
            </a:r>
            <a:endParaRPr dirty="0" sz="800" lang="en-US"/>
          </a:p>
        </p:txBody>
      </p:sp>
      <p:sp>
        <p:nvSpPr>
          <p:cNvPr id="1048795" name="Text 33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 / 27</a:t>
            </a:r>
            <a:endParaRPr dirty="0" sz="619" lang="en-US"/>
          </a:p>
        </p:txBody>
      </p:sp>
      <p:sp>
        <p:nvSpPr>
          <p:cNvPr id="1048796" name="Text 34"/>
          <p:cNvSpPr/>
          <p:nvPr/>
        </p:nvSpPr>
        <p:spPr>
          <a:xfrm>
            <a:off x="457200" y="696516"/>
            <a:ext cx="3777057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Materiales y bibliografía a consultar</a:t>
            </a:r>
            <a:endParaRPr dirty="0" sz="1200" lang="en-US"/>
          </a:p>
        </p:txBody>
      </p:sp>
      <p:sp>
        <p:nvSpPr>
          <p:cNvPr id="1048797" name="Text 35"/>
          <p:cNvSpPr/>
          <p:nvPr/>
        </p:nvSpPr>
        <p:spPr>
          <a:xfrm>
            <a:off x="457200" y="987958"/>
            <a:ext cx="3433688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Recursos obligatorios y complementarios para el taller</a:t>
            </a:r>
            <a:endParaRPr dirty="0" sz="800" lang="en-US"/>
          </a:p>
        </p:txBody>
      </p:sp>
      <p:sp>
        <p:nvSpPr>
          <p:cNvPr id="1048798" name="Text 36"/>
          <p:cNvSpPr/>
          <p:nvPr/>
        </p:nvSpPr>
        <p:spPr>
          <a:xfrm>
            <a:off x="6168405" y="941738"/>
            <a:ext cx="803114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799" name="Text 37"/>
          <p:cNvSpPr/>
          <p:nvPr/>
        </p:nvSpPr>
        <p:spPr>
          <a:xfrm>
            <a:off x="6373881" y="995102"/>
            <a:ext cx="642193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recursos</a:t>
            </a:r>
            <a:endParaRPr dirty="0" sz="800" lang="en-US"/>
          </a:p>
        </p:txBody>
      </p:sp>
      <p:sp>
        <p:nvSpPr>
          <p:cNvPr id="1048800" name="Text 38"/>
          <p:cNvSpPr/>
          <p:nvPr/>
        </p:nvSpPr>
        <p:spPr>
          <a:xfrm>
            <a:off x="6246986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48801" name="Text 39"/>
          <p:cNvSpPr/>
          <p:nvPr/>
        </p:nvSpPr>
        <p:spPr>
          <a:xfrm>
            <a:off x="7032241" y="955811"/>
            <a:ext cx="1650988" cy="167878"/>
          </a:xfrm>
          <a:prstGeom prst="roundRect">
            <a:avLst>
              <a:gd name="adj" fmla="val 5668089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02" name="Text 40"/>
          <p:cNvSpPr/>
          <p:nvPr/>
        </p:nvSpPr>
        <p:spPr>
          <a:xfrm>
            <a:off x="7250125" y="995102"/>
            <a:ext cx="1436675" cy="119703"/>
          </a:xfrm>
          <a:prstGeom prst="rect"/>
          <a:noFill/>
        </p:spPr>
        <p:txBody>
          <a:bodyPr anchor="t" bIns="21431" lIns="71438" rIns="71438" rtlCol="0" tIns="21431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Instalar antes del slide 19</a:t>
            </a:r>
            <a:endParaRPr dirty="0" sz="619" lang="en-US"/>
          </a:p>
        </p:txBody>
      </p:sp>
      <p:sp>
        <p:nvSpPr>
          <p:cNvPr id="1048803" name="Text 41"/>
          <p:cNvSpPr/>
          <p:nvPr/>
        </p:nvSpPr>
        <p:spPr>
          <a:xfrm>
            <a:off x="7107250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984" lang="en-US"/>
          </a:p>
        </p:txBody>
      </p:sp>
      <p:sp>
        <p:nvSpPr>
          <p:cNvPr id="1048804" name="Text 42"/>
          <p:cNvSpPr/>
          <p:nvPr/>
        </p:nvSpPr>
        <p:spPr>
          <a:xfrm>
            <a:off x="457200" y="1241561"/>
            <a:ext cx="2686050" cy="1685925"/>
          </a:xfrm>
          <a:prstGeom prst="roundRect">
            <a:avLst>
              <a:gd name="adj" fmla="val 4520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05" name="Text 43"/>
          <p:cNvSpPr/>
          <p:nvPr/>
        </p:nvSpPr>
        <p:spPr>
          <a:xfrm>
            <a:off x="596503" y="1352290"/>
            <a:ext cx="278606" cy="278606"/>
          </a:xfrm>
          <a:prstGeom prst="ellipse"/>
          <a:solidFill>
            <a:srgbClr val="FF6B35">
              <a:alpha val="10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06" name="Text 44"/>
          <p:cNvSpPr/>
          <p:nvPr/>
        </p:nvSpPr>
        <p:spPr>
          <a:xfrm>
            <a:off x="621863" y="1377650"/>
            <a:ext cx="227886" cy="227886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1547" lang="en-US"/>
          </a:p>
        </p:txBody>
      </p:sp>
      <p:sp>
        <p:nvSpPr>
          <p:cNvPr id="1048807" name="Text 45"/>
          <p:cNvSpPr/>
          <p:nvPr/>
        </p:nvSpPr>
        <p:spPr>
          <a:xfrm>
            <a:off x="964406" y="1348718"/>
            <a:ext cx="1721706" cy="91440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759"/>
              </a:lnSpc>
              <a:buNone/>
            </a:pPr>
            <a:r>
              <a:rPr dirty="0" sz="1200" kern="0" lang="en-US" spc="3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RECURSO BASE · OBLIGATORIO</a:t>
            </a:r>
            <a:endParaRPr dirty="0" sz="1200" lang="en-US"/>
          </a:p>
        </p:txBody>
      </p:sp>
      <p:sp>
        <p:nvSpPr>
          <p:cNvPr id="1048808" name="Text 46"/>
          <p:cNvSpPr/>
          <p:nvPr/>
        </p:nvSpPr>
        <p:spPr>
          <a:xfrm>
            <a:off x="764645" y="1811919"/>
            <a:ext cx="2225016" cy="180880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ctr" indent="0" marL="0">
              <a:lnSpc>
                <a:spcPts val="984"/>
              </a:lnSpc>
              <a:buNone/>
            </a:pPr>
            <a:r>
              <a:rPr dirty="0" sz="12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Guía Metodológica HabanaEntregas</a:t>
            </a:r>
            <a:endParaRPr dirty="0" sz="1200" lang="en-US"/>
          </a:p>
        </p:txBody>
      </p:sp>
      <p:sp>
        <p:nvSpPr>
          <p:cNvPr id="1048809" name="Text 48"/>
          <p:cNvSpPr/>
          <p:nvPr/>
        </p:nvSpPr>
        <p:spPr>
          <a:xfrm>
            <a:off x="667940" y="2169392"/>
            <a:ext cx="2428875" cy="3180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Planificación por 4 hitos, arquitectura 3 capas, matriz de riesgos </a:t>
            </a:r>
            <a:r>
              <a:rPr dirty="0" sz="800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R1–R8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Lectura paralela obligatoria.</a:t>
            </a:r>
            <a:endParaRPr dirty="0" sz="800" lang="en-US"/>
          </a:p>
        </p:txBody>
      </p:sp>
      <p:sp>
        <p:nvSpPr>
          <p:cNvPr id="1048810" name="Text 49"/>
          <p:cNvSpPr/>
          <p:nvPr/>
        </p:nvSpPr>
        <p:spPr>
          <a:xfrm>
            <a:off x="592931" y="2729247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❏</a:t>
            </a:r>
            <a:endParaRPr dirty="0" sz="844" lang="en-US"/>
          </a:p>
        </p:txBody>
      </p:sp>
      <p:sp>
        <p:nvSpPr>
          <p:cNvPr id="1048811" name="Text 50"/>
          <p:cNvSpPr/>
          <p:nvPr/>
        </p:nvSpPr>
        <p:spPr>
          <a:xfrm>
            <a:off x="707231" y="2723890"/>
            <a:ext cx="2314575" cy="964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759"/>
              </a:lnSpc>
              <a:buNone/>
            </a:pPr>
            <a:r>
              <a:rPr dirty="0" sz="800" kern="0" lang="en-US" spc="3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SECCIONES 3 · 4 · 10 · 11</a:t>
            </a:r>
            <a:endParaRPr dirty="0" sz="800" lang="en-US"/>
          </a:p>
        </p:txBody>
      </p:sp>
      <p:sp>
        <p:nvSpPr>
          <p:cNvPr id="1048812" name="Text 51"/>
          <p:cNvSpPr/>
          <p:nvPr/>
        </p:nvSpPr>
        <p:spPr>
          <a:xfrm>
            <a:off x="3228975" y="1241561"/>
            <a:ext cx="2686050" cy="1685925"/>
          </a:xfrm>
          <a:prstGeom prst="roundRect">
            <a:avLst>
              <a:gd name="adj" fmla="val 4520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13" name="Text 52"/>
          <p:cNvSpPr/>
          <p:nvPr/>
        </p:nvSpPr>
        <p:spPr>
          <a:xfrm>
            <a:off x="3368278" y="1352290"/>
            <a:ext cx="278606" cy="278606"/>
          </a:xfrm>
          <a:prstGeom prst="ellipse"/>
          <a:solidFill>
            <a:srgbClr val="4A90E2">
              <a:alpha val="10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14" name="Text 53"/>
          <p:cNvSpPr/>
          <p:nvPr/>
        </p:nvSpPr>
        <p:spPr>
          <a:xfrm>
            <a:off x="3393638" y="1377650"/>
            <a:ext cx="227886" cy="227886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dirty="0" sz="1547" lang="en-US"/>
          </a:p>
        </p:txBody>
      </p:sp>
      <p:sp>
        <p:nvSpPr>
          <p:cNvPr id="1048815" name="Text 54"/>
          <p:cNvSpPr/>
          <p:nvPr/>
        </p:nvSpPr>
        <p:spPr>
          <a:xfrm>
            <a:off x="3736181" y="1348718"/>
            <a:ext cx="1466741" cy="91440"/>
          </a:xfrm>
          <a:prstGeom prst="rect"/>
          <a:noFill/>
        </p:spPr>
        <p:txBody>
          <a:bodyPr anchor="t" bIns="0" lIns="0" rIns="0" rtlCol="0" tIns="0" wrap="square">
            <a:normAutofit fontScale="25000" lnSpcReduction="20000"/>
          </a:bodyPr>
          <a:p>
            <a:pPr algn="l" indent="0" marL="0">
              <a:lnSpc>
                <a:spcPts val="759"/>
              </a:lnSpc>
              <a:buNone/>
            </a:pPr>
            <a:r>
              <a:rPr dirty="0" sz="600" kern="0" lang="en-US" spc="3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FUENTE </a:t>
            </a:r>
            <a:r>
              <a:rPr dirty="0" sz="4800" kern="0" lang="en-US" spc="3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</a:t>
            </a:r>
            <a:r>
              <a:rPr dirty="0" sz="600" kern="0" lang="en-US" spc="3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LECTURA PREVIA</a:t>
            </a:r>
            <a:endParaRPr dirty="0" sz="600" lang="en-US"/>
          </a:p>
        </p:txBody>
      </p:sp>
      <p:sp>
        <p:nvSpPr>
          <p:cNvPr id="1048816" name="Text 55"/>
          <p:cNvSpPr/>
          <p:nvPr/>
        </p:nvSpPr>
        <p:spPr>
          <a:xfrm>
            <a:off x="3419478" y="1778298"/>
            <a:ext cx="2285792" cy="232616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ctr" indent="0" marL="0">
              <a:lnSpc>
                <a:spcPts val="984"/>
              </a:lnSpc>
              <a:buNone/>
            </a:pPr>
            <a:r>
              <a:rPr dirty="0" sz="12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Documentación oficial GitFlow</a:t>
            </a:r>
            <a:endParaRPr dirty="0" sz="1200" lang="en-US"/>
          </a:p>
        </p:txBody>
      </p:sp>
      <p:sp>
        <p:nvSpPr>
          <p:cNvPr id="1048817" name="Text 56"/>
          <p:cNvSpPr/>
          <p:nvPr/>
        </p:nvSpPr>
        <p:spPr>
          <a:xfrm>
            <a:off x="3339705" y="2026936"/>
            <a:ext cx="153210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1200" kern="0" lang="en-US" spc="23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Vincent Driessen · 2010</a:t>
            </a:r>
            <a:endParaRPr dirty="0" sz="1200" lang="en-US"/>
          </a:p>
        </p:txBody>
      </p:sp>
      <p:sp>
        <p:nvSpPr>
          <p:cNvPr id="1048818" name="Text 57"/>
          <p:cNvSpPr/>
          <p:nvPr/>
        </p:nvSpPr>
        <p:spPr>
          <a:xfrm>
            <a:off x="3364706" y="2195098"/>
            <a:ext cx="2428875" cy="3180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"A successful Git branching model". Modelo de ramas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dirty="0" sz="800" kern="0" lang="en-US" spc="8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feature/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release/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dirty="0" sz="800" kern="0" lang="en-US" spc="8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hotfix/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dirty="0" sz="800" lang="en-US"/>
          </a:p>
        </p:txBody>
      </p:sp>
      <p:sp>
        <p:nvSpPr>
          <p:cNvPr id="1048819" name="Text 58"/>
          <p:cNvSpPr/>
          <p:nvPr/>
        </p:nvSpPr>
        <p:spPr>
          <a:xfrm>
            <a:off x="3364706" y="2729247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dirty="0" sz="844" lang="en-US"/>
          </a:p>
        </p:txBody>
      </p:sp>
      <p:sp>
        <p:nvSpPr>
          <p:cNvPr id="1048820" name="Text 59"/>
          <p:cNvSpPr/>
          <p:nvPr/>
        </p:nvSpPr>
        <p:spPr>
          <a:xfrm>
            <a:off x="3479006" y="2723890"/>
            <a:ext cx="2314575" cy="964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759"/>
              </a:lnSpc>
              <a:buNone/>
            </a:pPr>
            <a:r>
              <a:rPr dirty="0" sz="800" kern="0" lang="en-US" spc="3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NVIE.COM · LEER ANTES DEL SLIDE 09</a:t>
            </a:r>
            <a:endParaRPr dirty="0" sz="800" lang="en-US"/>
          </a:p>
        </p:txBody>
      </p:sp>
      <p:sp>
        <p:nvSpPr>
          <p:cNvPr id="1048821" name="Text 60"/>
          <p:cNvSpPr/>
          <p:nvPr/>
        </p:nvSpPr>
        <p:spPr>
          <a:xfrm>
            <a:off x="5973367" y="1266565"/>
            <a:ext cx="2686050" cy="1685925"/>
          </a:xfrm>
          <a:prstGeom prst="roundRect">
            <a:avLst>
              <a:gd name="adj" fmla="val 4520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22" name="Text 61"/>
          <p:cNvSpPr/>
          <p:nvPr/>
        </p:nvSpPr>
        <p:spPr>
          <a:xfrm>
            <a:off x="6140053" y="1352290"/>
            <a:ext cx="278606" cy="278606"/>
          </a:xfrm>
          <a:prstGeom prst="ellipse"/>
          <a:solidFill>
            <a:srgbClr val="27AE60">
              <a:alpha val="10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23" name="Text 62"/>
          <p:cNvSpPr/>
          <p:nvPr/>
        </p:nvSpPr>
        <p:spPr>
          <a:xfrm>
            <a:off x="6165413" y="1377650"/>
            <a:ext cx="227886" cy="227886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dirty="0" sz="1547" lang="en-US"/>
          </a:p>
        </p:txBody>
      </p:sp>
      <p:sp>
        <p:nvSpPr>
          <p:cNvPr id="1048824" name="Text 63"/>
          <p:cNvSpPr/>
          <p:nvPr/>
        </p:nvSpPr>
        <p:spPr>
          <a:xfrm>
            <a:off x="6507956" y="1348718"/>
            <a:ext cx="1958818" cy="282178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759"/>
              </a:lnSpc>
              <a:buNone/>
            </a:pPr>
            <a:r>
              <a:rPr dirty="0" sz="1200" kern="0" lang="en-US" spc="30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TÉCNICO · BLOQUE PRÁCTICO</a:t>
            </a:r>
            <a:endParaRPr dirty="0" sz="1200" lang="en-US"/>
          </a:p>
        </p:txBody>
      </p:sp>
      <p:sp>
        <p:nvSpPr>
          <p:cNvPr id="1048825" name="Text 64"/>
          <p:cNvSpPr/>
          <p:nvPr/>
        </p:nvSpPr>
        <p:spPr>
          <a:xfrm>
            <a:off x="6315761" y="1728179"/>
            <a:ext cx="1541974" cy="111871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984"/>
              </a:lnSpc>
              <a:buNone/>
            </a:pPr>
            <a:r>
              <a:rPr dirty="0" sz="12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 Learn</a:t>
            </a:r>
            <a:endParaRPr dirty="0" sz="1200" lang="en-US"/>
          </a:p>
        </p:txBody>
      </p:sp>
      <p:sp>
        <p:nvSpPr>
          <p:cNvPr id="1048826" name="Text 65"/>
          <p:cNvSpPr/>
          <p:nvPr/>
        </p:nvSpPr>
        <p:spPr>
          <a:xfrm>
            <a:off x="6279355" y="1967025"/>
            <a:ext cx="2215755" cy="17252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1200" kern="0" lang="en-US" spc="23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docs.microsoft.com · learn</a:t>
            </a:r>
            <a:endParaRPr dirty="0" sz="1200" lang="en-US"/>
          </a:p>
        </p:txBody>
      </p:sp>
      <p:sp>
        <p:nvSpPr>
          <p:cNvPr id="1048827" name="Text 66"/>
          <p:cNvSpPr/>
          <p:nvPr/>
        </p:nvSpPr>
        <p:spPr>
          <a:xfrm>
            <a:off x="6129337" y="2194995"/>
            <a:ext cx="2428875" cy="3180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ASP.NET Core MVC, EF Core, GitHub Actions. Documentación técnica del stack y sintaxis YAML para pipelines.</a:t>
            </a:r>
            <a:endParaRPr dirty="0" sz="800" lang="en-US"/>
          </a:p>
        </p:txBody>
      </p:sp>
      <p:sp>
        <p:nvSpPr>
          <p:cNvPr id="1048828" name="Text 67"/>
          <p:cNvSpPr/>
          <p:nvPr/>
        </p:nvSpPr>
        <p:spPr>
          <a:xfrm>
            <a:off x="6136481" y="2729247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▶</a:t>
            </a:r>
            <a:endParaRPr dirty="0" sz="844" lang="en-US"/>
          </a:p>
        </p:txBody>
      </p:sp>
      <p:sp>
        <p:nvSpPr>
          <p:cNvPr id="1048829" name="Text 68"/>
          <p:cNvSpPr/>
          <p:nvPr/>
        </p:nvSpPr>
        <p:spPr>
          <a:xfrm>
            <a:off x="6250781" y="2723890"/>
            <a:ext cx="2314575" cy="964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759"/>
              </a:lnSpc>
              <a:buNone/>
            </a:pPr>
            <a:r>
              <a:rPr dirty="0" sz="800" kern="0" lang="en-US" spc="3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USO EN SLIDES 19–23</a:t>
            </a:r>
            <a:endParaRPr dirty="0" sz="800" lang="en-US"/>
          </a:p>
        </p:txBody>
      </p:sp>
      <p:sp>
        <p:nvSpPr>
          <p:cNvPr id="1048830" name="Text 69"/>
          <p:cNvSpPr/>
          <p:nvPr/>
        </p:nvSpPr>
        <p:spPr>
          <a:xfrm>
            <a:off x="457200" y="3013211"/>
            <a:ext cx="2686050" cy="1685925"/>
          </a:xfrm>
          <a:prstGeom prst="roundRect">
            <a:avLst>
              <a:gd name="adj" fmla="val 4520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31" name="Text 70"/>
          <p:cNvSpPr/>
          <p:nvPr/>
        </p:nvSpPr>
        <p:spPr>
          <a:xfrm>
            <a:off x="596503" y="3123940"/>
            <a:ext cx="278606" cy="278606"/>
          </a:xfrm>
          <a:prstGeom prst="ellipse"/>
          <a:solidFill>
            <a:srgbClr val="F39C12">
              <a:alpha val="10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32" name="Text 71"/>
          <p:cNvSpPr/>
          <p:nvPr/>
        </p:nvSpPr>
        <p:spPr>
          <a:xfrm>
            <a:off x="621863" y="3149300"/>
            <a:ext cx="227886" cy="227886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547" lang="en-US"/>
          </a:p>
        </p:txBody>
      </p:sp>
      <p:sp>
        <p:nvSpPr>
          <p:cNvPr id="1048833" name="Text 72"/>
          <p:cNvSpPr/>
          <p:nvPr/>
        </p:nvSpPr>
        <p:spPr>
          <a:xfrm>
            <a:off x="964406" y="3120368"/>
            <a:ext cx="1466741" cy="91440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759"/>
              </a:lnSpc>
              <a:buNone/>
            </a:pPr>
            <a:r>
              <a:rPr dirty="0" sz="1200" kern="0" lang="en-US" spc="30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TUTORIAL VISUAL · COMPLEMENTARIO</a:t>
            </a:r>
            <a:endParaRPr dirty="0" sz="1200" lang="en-US"/>
          </a:p>
        </p:txBody>
      </p:sp>
      <p:sp>
        <p:nvSpPr>
          <p:cNvPr id="1048834" name="Text 73"/>
          <p:cNvSpPr/>
          <p:nvPr/>
        </p:nvSpPr>
        <p:spPr>
          <a:xfrm>
            <a:off x="756839" y="3477093"/>
            <a:ext cx="1466741" cy="11187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984"/>
              </a:lnSpc>
              <a:buNone/>
            </a:pPr>
            <a:r>
              <a:rPr dirty="0" sz="12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Atlassian GitFlow Workflow</a:t>
            </a:r>
            <a:endParaRPr dirty="0" sz="1200" lang="en-US"/>
          </a:p>
        </p:txBody>
      </p:sp>
      <p:sp>
        <p:nvSpPr>
          <p:cNvPr id="1048835" name="Text 74"/>
          <p:cNvSpPr/>
          <p:nvPr/>
        </p:nvSpPr>
        <p:spPr>
          <a:xfrm>
            <a:off x="545296" y="3767593"/>
            <a:ext cx="1466741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1200" kern="0" lang="en-US" spc="23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atlassian.com/git/tutorials</a:t>
            </a:r>
            <a:endParaRPr dirty="0" sz="1200" lang="en-US"/>
          </a:p>
        </p:txBody>
      </p:sp>
      <p:sp>
        <p:nvSpPr>
          <p:cNvPr id="1048836" name="Text 75"/>
          <p:cNvSpPr/>
          <p:nvPr/>
        </p:nvSpPr>
        <p:spPr>
          <a:xfrm>
            <a:off x="553642" y="4007193"/>
            <a:ext cx="2428875" cy="3180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Tutorial con diagramas que complementa al post original de Driessen. Visualización clara del flujo de ramas.</a:t>
            </a:r>
            <a:endParaRPr dirty="0" sz="800" lang="en-US"/>
          </a:p>
        </p:txBody>
      </p:sp>
      <p:sp>
        <p:nvSpPr>
          <p:cNvPr id="1048837" name="Text 76"/>
          <p:cNvSpPr/>
          <p:nvPr/>
        </p:nvSpPr>
        <p:spPr>
          <a:xfrm>
            <a:off x="592931" y="4500897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dirty="0" sz="844" lang="en-US"/>
          </a:p>
        </p:txBody>
      </p:sp>
      <p:sp>
        <p:nvSpPr>
          <p:cNvPr id="1048838" name="Text 77"/>
          <p:cNvSpPr/>
          <p:nvPr/>
        </p:nvSpPr>
        <p:spPr>
          <a:xfrm>
            <a:off x="707231" y="4495540"/>
            <a:ext cx="2314575" cy="964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759"/>
              </a:lnSpc>
              <a:buNone/>
            </a:pPr>
            <a:r>
              <a:rPr dirty="0" sz="800" kern="0" lang="en-US" spc="3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LECTURA POSTERIOR RECOMENDADA</a:t>
            </a:r>
            <a:endParaRPr dirty="0" sz="800" lang="en-US"/>
          </a:p>
        </p:txBody>
      </p:sp>
      <p:sp>
        <p:nvSpPr>
          <p:cNvPr id="1048839" name="Text 78"/>
          <p:cNvSpPr/>
          <p:nvPr/>
        </p:nvSpPr>
        <p:spPr>
          <a:xfrm>
            <a:off x="3228975" y="3013211"/>
            <a:ext cx="2686050" cy="1685925"/>
          </a:xfrm>
          <a:prstGeom prst="roundRect">
            <a:avLst>
              <a:gd name="adj" fmla="val 4520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40" name="Text 79"/>
          <p:cNvSpPr/>
          <p:nvPr/>
        </p:nvSpPr>
        <p:spPr>
          <a:xfrm>
            <a:off x="3368278" y="3123940"/>
            <a:ext cx="278606" cy="278606"/>
          </a:xfrm>
          <a:prstGeom prst="ellipse"/>
          <a:solidFill>
            <a:srgbClr val="FF6B35">
              <a:alpha val="10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41" name="Text 80"/>
          <p:cNvSpPr/>
          <p:nvPr/>
        </p:nvSpPr>
        <p:spPr>
          <a:xfrm>
            <a:off x="3393638" y="3149300"/>
            <a:ext cx="227886" cy="227886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1547" lang="en-US"/>
          </a:p>
        </p:txBody>
      </p:sp>
      <p:sp>
        <p:nvSpPr>
          <p:cNvPr id="1048842" name="Text 81"/>
          <p:cNvSpPr/>
          <p:nvPr/>
        </p:nvSpPr>
        <p:spPr>
          <a:xfrm>
            <a:off x="3736181" y="3120368"/>
            <a:ext cx="1770611" cy="91440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759"/>
              </a:lnSpc>
              <a:buNone/>
            </a:pPr>
            <a:r>
              <a:rPr dirty="0" sz="1200" kern="0" lang="en-US" spc="3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LIBRO · SEMESTRE</a:t>
            </a:r>
            <a:endParaRPr dirty="0" sz="1200" lang="en-US"/>
          </a:p>
        </p:txBody>
      </p:sp>
      <p:sp>
        <p:nvSpPr>
          <p:cNvPr id="1048843" name="Text 82"/>
          <p:cNvSpPr/>
          <p:nvPr/>
        </p:nvSpPr>
        <p:spPr>
          <a:xfrm>
            <a:off x="3451720" y="3540341"/>
            <a:ext cx="1536520" cy="111871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984"/>
              </a:lnSpc>
              <a:buNone/>
            </a:pPr>
            <a:r>
              <a:rPr dirty="0" sz="12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Continuous Delivery</a:t>
            </a:r>
            <a:endParaRPr dirty="0" sz="1200" lang="en-US"/>
          </a:p>
        </p:txBody>
      </p:sp>
      <p:sp>
        <p:nvSpPr>
          <p:cNvPr id="1048844" name="Text 83"/>
          <p:cNvSpPr/>
          <p:nvPr/>
        </p:nvSpPr>
        <p:spPr>
          <a:xfrm>
            <a:off x="3397855" y="3782585"/>
            <a:ext cx="1580421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1200" kern="0" lang="en-US" spc="23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Humble &amp; Farley · Addison-Wesley</a:t>
            </a:r>
            <a:endParaRPr dirty="0" sz="1200" lang="en-US"/>
          </a:p>
        </p:txBody>
      </p:sp>
      <p:sp>
        <p:nvSpPr>
          <p:cNvPr id="1048845" name="Text 84"/>
          <p:cNvSpPr/>
          <p:nvPr/>
        </p:nvSpPr>
        <p:spPr>
          <a:xfrm>
            <a:off x="3364706" y="4015767"/>
            <a:ext cx="2428875" cy="3180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Libro de referencia sobre pipelines y despliegue. Lectura obligatoria del semestre (no del taller).</a:t>
            </a:r>
            <a:endParaRPr dirty="0" sz="800" lang="en-US"/>
          </a:p>
        </p:txBody>
      </p:sp>
      <p:sp>
        <p:nvSpPr>
          <p:cNvPr id="1048846" name="Text 85"/>
          <p:cNvSpPr/>
          <p:nvPr/>
        </p:nvSpPr>
        <p:spPr>
          <a:xfrm>
            <a:off x="3364706" y="4500897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844" lang="en-US"/>
          </a:p>
        </p:txBody>
      </p:sp>
      <p:sp>
        <p:nvSpPr>
          <p:cNvPr id="1048847" name="Text 86"/>
          <p:cNvSpPr/>
          <p:nvPr/>
        </p:nvSpPr>
        <p:spPr>
          <a:xfrm>
            <a:off x="3479006" y="4495540"/>
            <a:ext cx="2314575" cy="964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759"/>
              </a:lnSpc>
              <a:buNone/>
            </a:pPr>
            <a:r>
              <a:rPr dirty="0" sz="800" kern="0" lang="en-US" spc="3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CAP. 1–3 · FRAMEWORK CD</a:t>
            </a:r>
            <a:endParaRPr dirty="0" sz="800" lang="en-US"/>
          </a:p>
        </p:txBody>
      </p:sp>
      <p:sp>
        <p:nvSpPr>
          <p:cNvPr id="1048848" name="Text 87"/>
          <p:cNvSpPr/>
          <p:nvPr/>
        </p:nvSpPr>
        <p:spPr>
          <a:xfrm>
            <a:off x="6000750" y="3013211"/>
            <a:ext cx="2686050" cy="1685925"/>
          </a:xfrm>
          <a:prstGeom prst="roundRect">
            <a:avLst>
              <a:gd name="adj" fmla="val 4520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49" name="Text 88"/>
          <p:cNvSpPr/>
          <p:nvPr/>
        </p:nvSpPr>
        <p:spPr>
          <a:xfrm>
            <a:off x="6140053" y="3123940"/>
            <a:ext cx="278606" cy="278606"/>
          </a:xfrm>
          <a:prstGeom prst="ellipse"/>
          <a:solidFill>
            <a:srgbClr val="4A90E2">
              <a:alpha val="10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50" name="Text 89"/>
          <p:cNvSpPr/>
          <p:nvPr/>
        </p:nvSpPr>
        <p:spPr>
          <a:xfrm>
            <a:off x="6165413" y="3149300"/>
            <a:ext cx="227886" cy="227886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547" lang="en-US"/>
          </a:p>
        </p:txBody>
      </p:sp>
      <p:sp>
        <p:nvSpPr>
          <p:cNvPr id="1048851" name="Text 90"/>
          <p:cNvSpPr/>
          <p:nvPr/>
        </p:nvSpPr>
        <p:spPr>
          <a:xfrm>
            <a:off x="6507956" y="3120368"/>
            <a:ext cx="1240373" cy="91440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759"/>
              </a:lnSpc>
              <a:buNone/>
            </a:pPr>
            <a:r>
              <a:rPr dirty="0" sz="1200" kern="0" lang="en-US" spc="30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TOOLING · INSTALAR</a:t>
            </a:r>
            <a:endParaRPr dirty="0" sz="1200" lang="en-US"/>
          </a:p>
        </p:txBody>
      </p:sp>
      <p:sp>
        <p:nvSpPr>
          <p:cNvPr id="1048852" name="Text 91"/>
          <p:cNvSpPr/>
          <p:nvPr/>
        </p:nvSpPr>
        <p:spPr>
          <a:xfrm>
            <a:off x="6296992" y="3557994"/>
            <a:ext cx="1127641" cy="111871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984"/>
              </a:lnSpc>
              <a:buNone/>
            </a:pPr>
            <a:r>
              <a:rPr dirty="0" sz="12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Herramientas del taller</a:t>
            </a:r>
            <a:endParaRPr dirty="0" sz="1200" lang="en-US"/>
          </a:p>
        </p:txBody>
      </p:sp>
      <p:sp>
        <p:nvSpPr>
          <p:cNvPr id="1048853" name="Text 92"/>
          <p:cNvSpPr/>
          <p:nvPr/>
        </p:nvSpPr>
        <p:spPr>
          <a:xfrm>
            <a:off x="6203301" y="3798624"/>
            <a:ext cx="1230282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1200" kern="0" lang="en-US" spc="23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 obligatorio</a:t>
            </a:r>
            <a:endParaRPr dirty="0" sz="1200" lang="en-US"/>
          </a:p>
        </p:txBody>
      </p:sp>
      <p:sp>
        <p:nvSpPr>
          <p:cNvPr id="1048854" name="Text 93"/>
          <p:cNvSpPr/>
          <p:nvPr/>
        </p:nvSpPr>
        <p:spPr>
          <a:xfrm>
            <a:off x="6097192" y="4032796"/>
            <a:ext cx="2428875" cy="31804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 ≥2.40, GitHub/Azure DevOps, GitHub Actions, xUnit y opcionalmente QuestPDF para el Hito 3.</a:t>
            </a:r>
            <a:endParaRPr dirty="0" sz="800" lang="en-US"/>
          </a:p>
        </p:txBody>
      </p:sp>
      <p:sp>
        <p:nvSpPr>
          <p:cNvPr id="1048855" name="Text 94"/>
          <p:cNvSpPr/>
          <p:nvPr/>
        </p:nvSpPr>
        <p:spPr>
          <a:xfrm>
            <a:off x="6136481" y="4500897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dirty="0" sz="844" lang="en-US"/>
          </a:p>
        </p:txBody>
      </p:sp>
      <p:sp>
        <p:nvSpPr>
          <p:cNvPr id="1048856" name="Text 95"/>
          <p:cNvSpPr/>
          <p:nvPr/>
        </p:nvSpPr>
        <p:spPr>
          <a:xfrm>
            <a:off x="6250781" y="4495540"/>
            <a:ext cx="2314575" cy="964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759"/>
              </a:lnSpc>
              <a:buNone/>
            </a:pPr>
            <a:r>
              <a:rPr dirty="0" sz="800" kern="0" lang="en-US" spc="30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.NET 8 SDK · SQL SERVER 2017</a:t>
            </a:r>
            <a:endParaRPr dirty="0" sz="800" lang="en-US"/>
          </a:p>
        </p:txBody>
      </p:sp>
      <p:sp>
        <p:nvSpPr>
          <p:cNvPr id="1048857" name="Text 96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62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861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862" name="Shape 1"/>
          <p:cNvSpPr/>
          <p:nvPr/>
        </p:nvSpPr>
        <p:spPr>
          <a:xfrm>
            <a:off x="457200" y="1273708"/>
            <a:ext cx="4036219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863" name="Shape 2"/>
          <p:cNvSpPr/>
          <p:nvPr/>
        </p:nvSpPr>
        <p:spPr>
          <a:xfrm>
            <a:off x="4489847" y="1270136"/>
            <a:ext cx="0" cy="348615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864" name="Shape 3"/>
          <p:cNvSpPr/>
          <p:nvPr/>
        </p:nvSpPr>
        <p:spPr>
          <a:xfrm>
            <a:off x="457200" y="4752715"/>
            <a:ext cx="4036219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865" name="Shape 4"/>
          <p:cNvSpPr/>
          <p:nvPr/>
        </p:nvSpPr>
        <p:spPr>
          <a:xfrm>
            <a:off x="467916" y="1270136"/>
            <a:ext cx="0" cy="3486150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8866" name="Shape 5"/>
          <p:cNvSpPr/>
          <p:nvPr/>
        </p:nvSpPr>
        <p:spPr>
          <a:xfrm>
            <a:off x="621506" y="4413386"/>
            <a:ext cx="3721894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867" name="Shape 6"/>
          <p:cNvSpPr/>
          <p:nvPr/>
        </p:nvSpPr>
        <p:spPr>
          <a:xfrm>
            <a:off x="4650581" y="1273708"/>
            <a:ext cx="4036219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868" name="Shape 7"/>
          <p:cNvSpPr/>
          <p:nvPr/>
        </p:nvSpPr>
        <p:spPr>
          <a:xfrm>
            <a:off x="8683228" y="1270136"/>
            <a:ext cx="0" cy="348615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869" name="Shape 8"/>
          <p:cNvSpPr/>
          <p:nvPr/>
        </p:nvSpPr>
        <p:spPr>
          <a:xfrm>
            <a:off x="4650581" y="4752715"/>
            <a:ext cx="4036219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870" name="Shape 9"/>
          <p:cNvSpPr/>
          <p:nvPr/>
        </p:nvSpPr>
        <p:spPr>
          <a:xfrm>
            <a:off x="4661297" y="1270136"/>
            <a:ext cx="0" cy="3486150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8871" name="Shape 10"/>
          <p:cNvSpPr/>
          <p:nvPr/>
        </p:nvSpPr>
        <p:spPr>
          <a:xfrm>
            <a:off x="4814888" y="1909502"/>
            <a:ext cx="3721894" cy="0"/>
          </a:xfrm>
          <a:prstGeom prst="line"/>
          <a:noFill/>
          <a:ln w="7144">
            <a:solidFill>
              <a:srgbClr val="2A2A2A"/>
            </a:solidFill>
            <a:prstDash val="dash"/>
          </a:ln>
        </p:spPr>
      </p:sp>
      <p:sp>
        <p:nvSpPr>
          <p:cNvPr id="1048872" name="Shape 11"/>
          <p:cNvSpPr/>
          <p:nvPr/>
        </p:nvSpPr>
        <p:spPr>
          <a:xfrm>
            <a:off x="4814888" y="2202396"/>
            <a:ext cx="3721894" cy="0"/>
          </a:xfrm>
          <a:prstGeom prst="line"/>
          <a:noFill/>
          <a:ln w="7144">
            <a:solidFill>
              <a:srgbClr val="2A2A2A"/>
            </a:solidFill>
            <a:prstDash val="dash"/>
          </a:ln>
        </p:spPr>
      </p:sp>
      <p:sp>
        <p:nvSpPr>
          <p:cNvPr id="1048873" name="Shape 12"/>
          <p:cNvSpPr/>
          <p:nvPr/>
        </p:nvSpPr>
        <p:spPr>
          <a:xfrm>
            <a:off x="4814888" y="2495290"/>
            <a:ext cx="3721894" cy="0"/>
          </a:xfrm>
          <a:prstGeom prst="line"/>
          <a:noFill/>
          <a:ln w="7144">
            <a:solidFill>
              <a:srgbClr val="2A2A2A"/>
            </a:solidFill>
            <a:prstDash val="dash"/>
          </a:ln>
        </p:spPr>
      </p:sp>
      <p:sp>
        <p:nvSpPr>
          <p:cNvPr id="1048874" name="Shape 13"/>
          <p:cNvSpPr/>
          <p:nvPr/>
        </p:nvSpPr>
        <p:spPr>
          <a:xfrm>
            <a:off x="4814888" y="2788183"/>
            <a:ext cx="3721894" cy="0"/>
          </a:xfrm>
          <a:prstGeom prst="line"/>
          <a:noFill/>
          <a:ln w="7144">
            <a:solidFill>
              <a:srgbClr val="2A2A2A"/>
            </a:solidFill>
            <a:prstDash val="dash"/>
          </a:ln>
        </p:spPr>
      </p:sp>
      <p:sp>
        <p:nvSpPr>
          <p:cNvPr id="1048875" name="Shape 14"/>
          <p:cNvSpPr/>
          <p:nvPr/>
        </p:nvSpPr>
        <p:spPr>
          <a:xfrm>
            <a:off x="4814888" y="3081077"/>
            <a:ext cx="3721894" cy="0"/>
          </a:xfrm>
          <a:prstGeom prst="line"/>
          <a:noFill/>
          <a:ln w="7144">
            <a:solidFill>
              <a:srgbClr val="2A2A2A"/>
            </a:solidFill>
            <a:prstDash val="dash"/>
          </a:ln>
        </p:spPr>
      </p:sp>
      <p:sp>
        <p:nvSpPr>
          <p:cNvPr id="1048876" name="Shape 15"/>
          <p:cNvSpPr/>
          <p:nvPr/>
        </p:nvSpPr>
        <p:spPr>
          <a:xfrm>
            <a:off x="4814888" y="3373971"/>
            <a:ext cx="3721894" cy="0"/>
          </a:xfrm>
          <a:prstGeom prst="line"/>
          <a:noFill/>
          <a:ln w="7144">
            <a:solidFill>
              <a:srgbClr val="2A2A2A"/>
            </a:solidFill>
            <a:prstDash val="dash"/>
          </a:ln>
        </p:spPr>
      </p:sp>
      <p:sp>
        <p:nvSpPr>
          <p:cNvPr id="1048877" name="Shape 16"/>
          <p:cNvSpPr/>
          <p:nvPr/>
        </p:nvSpPr>
        <p:spPr>
          <a:xfrm>
            <a:off x="4814888" y="3666865"/>
            <a:ext cx="3721894" cy="0"/>
          </a:xfrm>
          <a:prstGeom prst="line"/>
          <a:noFill/>
          <a:ln w="7144">
            <a:solidFill>
              <a:srgbClr val="2A2A2A"/>
            </a:solidFill>
            <a:prstDash val="dash"/>
          </a:ln>
        </p:spPr>
      </p:sp>
      <p:sp>
        <p:nvSpPr>
          <p:cNvPr id="1048878" name="Shape 17"/>
          <p:cNvSpPr/>
          <p:nvPr/>
        </p:nvSpPr>
        <p:spPr>
          <a:xfrm>
            <a:off x="4814888" y="4413386"/>
            <a:ext cx="3721894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879" name="Shape 18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880" name="Text 19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2</a:t>
            </a:r>
            <a:r>
              <a:rPr dirty="0" sz="800" kern="0" lang="en-US" spc="5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CONTEXTO DEL CASO</a:t>
            </a:r>
            <a:endParaRPr dirty="0" sz="800" lang="en-US"/>
          </a:p>
        </p:txBody>
      </p:sp>
      <p:sp>
        <p:nvSpPr>
          <p:cNvPr id="1048881" name="Text 20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 / 27</a:t>
            </a:r>
            <a:endParaRPr dirty="0" sz="619" lang="en-US"/>
          </a:p>
        </p:txBody>
      </p:sp>
      <p:sp>
        <p:nvSpPr>
          <p:cNvPr id="1048882" name="Text 21"/>
          <p:cNvSpPr/>
          <p:nvPr/>
        </p:nvSpPr>
        <p:spPr>
          <a:xfrm>
            <a:off x="457200" y="696516"/>
            <a:ext cx="5345367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Caso HabanaEntregas: problema y requerimientos</a:t>
            </a:r>
            <a:endParaRPr dirty="0" sz="1200" lang="en-US"/>
          </a:p>
        </p:txBody>
      </p:sp>
      <p:sp>
        <p:nvSpPr>
          <p:cNvPr id="1048883" name="Text 23"/>
          <p:cNvSpPr/>
          <p:nvPr/>
        </p:nvSpPr>
        <p:spPr>
          <a:xfrm>
            <a:off x="7174334" y="941738"/>
            <a:ext cx="954025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84" name="Text 24"/>
          <p:cNvSpPr/>
          <p:nvPr/>
        </p:nvSpPr>
        <p:spPr>
          <a:xfrm>
            <a:off x="7395790" y="995102"/>
            <a:ext cx="761144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Multisucursal</a:t>
            </a:r>
            <a:endParaRPr dirty="0" sz="619" lang="en-US"/>
          </a:p>
        </p:txBody>
      </p:sp>
      <p:sp>
        <p:nvSpPr>
          <p:cNvPr id="1048885" name="Text 25"/>
          <p:cNvSpPr/>
          <p:nvPr/>
        </p:nvSpPr>
        <p:spPr>
          <a:xfrm>
            <a:off x="7252915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🏪</a:t>
            </a:r>
            <a:endParaRPr dirty="0" sz="984" lang="en-US"/>
          </a:p>
        </p:txBody>
      </p:sp>
      <p:sp>
        <p:nvSpPr>
          <p:cNvPr id="1048886" name="Text 26"/>
          <p:cNvSpPr/>
          <p:nvPr/>
        </p:nvSpPr>
        <p:spPr>
          <a:xfrm>
            <a:off x="8185510" y="941738"/>
            <a:ext cx="501290" cy="196025"/>
          </a:xfrm>
          <a:prstGeom prst="roundRect">
            <a:avLst>
              <a:gd name="adj" fmla="val 4854215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87" name="Text 27"/>
          <p:cNvSpPr/>
          <p:nvPr/>
        </p:nvSpPr>
        <p:spPr>
          <a:xfrm>
            <a:off x="8406966" y="995102"/>
            <a:ext cx="279834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LDAP</a:t>
            </a:r>
            <a:endParaRPr dirty="0" sz="619" lang="en-US"/>
          </a:p>
        </p:txBody>
      </p:sp>
      <p:sp>
        <p:nvSpPr>
          <p:cNvPr id="1048888" name="Text 28"/>
          <p:cNvSpPr/>
          <p:nvPr/>
        </p:nvSpPr>
        <p:spPr>
          <a:xfrm>
            <a:off x="8264091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dirty="0" sz="984" lang="en-US"/>
          </a:p>
        </p:txBody>
      </p:sp>
      <p:sp>
        <p:nvSpPr>
          <p:cNvPr id="1048889" name="Text 29"/>
          <p:cNvSpPr/>
          <p:nvPr/>
        </p:nvSpPr>
        <p:spPr>
          <a:xfrm>
            <a:off x="457200" y="1270136"/>
            <a:ext cx="4036219" cy="3486150"/>
          </a:xfrm>
          <a:prstGeom prst="roundRect">
            <a:avLst>
              <a:gd name="adj" fmla="val 2186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890" name="Text 30"/>
          <p:cNvSpPr/>
          <p:nvPr/>
        </p:nvSpPr>
        <p:spPr>
          <a:xfrm>
            <a:off x="621506" y="1405868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dirty="0" sz="1547" lang="en-US"/>
          </a:p>
        </p:txBody>
      </p:sp>
      <p:sp>
        <p:nvSpPr>
          <p:cNvPr id="1048891" name="Text 31"/>
          <p:cNvSpPr/>
          <p:nvPr/>
        </p:nvSpPr>
        <p:spPr>
          <a:xfrm>
            <a:off x="835819" y="1425513"/>
            <a:ext cx="350758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74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PROBLEMA</a:t>
            </a:r>
            <a:endParaRPr dirty="0" sz="800" lang="en-US"/>
          </a:p>
        </p:txBody>
      </p:sp>
      <p:sp>
        <p:nvSpPr>
          <p:cNvPr id="1048892" name="Text 32"/>
          <p:cNvSpPr/>
          <p:nvPr/>
        </p:nvSpPr>
        <p:spPr>
          <a:xfrm>
            <a:off x="621506" y="1648755"/>
            <a:ext cx="3721894" cy="50994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21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 empresa </a:t>
            </a:r>
            <a:r>
              <a:rPr dirty="0" sz="800" kern="0" lang="en-US" spc="8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HabanaEntregas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necesita actualizar el control de medios (equipos electrónicos y mobiliario) por sucursal. Actualmente el control se lleva en </a:t>
            </a:r>
            <a:r>
              <a:rPr dirty="0" sz="800" kern="0" lang="en-US" spc="8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hojas de cálculo dispersas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sin trazabilidad ni reportes consolidados.</a:t>
            </a:r>
            <a:endParaRPr dirty="0" sz="800" lang="en-US"/>
          </a:p>
        </p:txBody>
      </p:sp>
      <p:sp>
        <p:nvSpPr>
          <p:cNvPr id="1048893" name="Text 33"/>
          <p:cNvSpPr/>
          <p:nvPr/>
        </p:nvSpPr>
        <p:spPr>
          <a:xfrm>
            <a:off x="621506" y="2234989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dirty="0" sz="1266" lang="en-US"/>
          </a:p>
        </p:txBody>
      </p:sp>
      <p:sp>
        <p:nvSpPr>
          <p:cNvPr id="1048894" name="Text 34"/>
          <p:cNvSpPr/>
          <p:nvPr/>
        </p:nvSpPr>
        <p:spPr>
          <a:xfrm>
            <a:off x="821531" y="2227845"/>
            <a:ext cx="3521869" cy="15905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6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Multisucursal (varias ubicaciones)</a:t>
            </a:r>
            <a:endParaRPr dirty="0" sz="800" lang="en-US"/>
          </a:p>
        </p:txBody>
      </p:sp>
      <p:sp>
        <p:nvSpPr>
          <p:cNvPr id="1048895" name="Text 35"/>
          <p:cNvSpPr/>
          <p:nvPr/>
        </p:nvSpPr>
        <p:spPr>
          <a:xfrm>
            <a:off x="621506" y="2442158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dirty="0" sz="1266" lang="en-US"/>
          </a:p>
        </p:txBody>
      </p:sp>
      <p:sp>
        <p:nvSpPr>
          <p:cNvPr id="1048896" name="Text 36"/>
          <p:cNvSpPr/>
          <p:nvPr/>
        </p:nvSpPr>
        <p:spPr>
          <a:xfrm>
            <a:off x="821531" y="2435014"/>
            <a:ext cx="3521869" cy="15905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6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Inventario físico heterogéneo (electrónicos + mobiliario)</a:t>
            </a:r>
            <a:endParaRPr dirty="0" sz="800" lang="en-US"/>
          </a:p>
        </p:txBody>
      </p:sp>
      <p:sp>
        <p:nvSpPr>
          <p:cNvPr id="1048897" name="Text 37"/>
          <p:cNvSpPr/>
          <p:nvPr/>
        </p:nvSpPr>
        <p:spPr>
          <a:xfrm>
            <a:off x="621506" y="2649327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dirty="0" sz="1266" lang="en-US"/>
          </a:p>
        </p:txBody>
      </p:sp>
      <p:sp>
        <p:nvSpPr>
          <p:cNvPr id="1048898" name="Text 38"/>
          <p:cNvSpPr/>
          <p:nvPr/>
        </p:nvSpPr>
        <p:spPr>
          <a:xfrm>
            <a:off x="821531" y="2642183"/>
            <a:ext cx="3521869" cy="15905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6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Necesidad de reportes para dirección y sucursal</a:t>
            </a:r>
            <a:endParaRPr dirty="0" sz="800" lang="en-US"/>
          </a:p>
        </p:txBody>
      </p:sp>
      <p:sp>
        <p:nvSpPr>
          <p:cNvPr id="1048899" name="Text 39"/>
          <p:cNvSpPr/>
          <p:nvPr/>
        </p:nvSpPr>
        <p:spPr>
          <a:xfrm>
            <a:off x="621506" y="2856495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dirty="0" sz="1266" lang="en-US"/>
          </a:p>
        </p:txBody>
      </p:sp>
      <p:sp>
        <p:nvSpPr>
          <p:cNvPr id="1048900" name="Text 40"/>
          <p:cNvSpPr/>
          <p:nvPr/>
        </p:nvSpPr>
        <p:spPr>
          <a:xfrm>
            <a:off x="821531" y="2849352"/>
            <a:ext cx="3521869" cy="15905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6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Integración con intranet corporativa</a:t>
            </a:r>
            <a:endParaRPr dirty="0" sz="800" lang="en-US"/>
          </a:p>
        </p:txBody>
      </p:sp>
      <p:sp>
        <p:nvSpPr>
          <p:cNvPr id="1048901" name="Text 41"/>
          <p:cNvSpPr/>
          <p:nvPr/>
        </p:nvSpPr>
        <p:spPr>
          <a:xfrm>
            <a:off x="778669" y="4509827"/>
            <a:ext cx="2386062" cy="11072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REF. GUÍA METODOLÓGICA · SECCIÓN 1 · INTRODUCCIÓN</a:t>
            </a:r>
            <a:endParaRPr dirty="0" sz="619" lang="en-US"/>
          </a:p>
        </p:txBody>
      </p:sp>
      <p:sp>
        <p:nvSpPr>
          <p:cNvPr id="1048902" name="Text 42"/>
          <p:cNvSpPr/>
          <p:nvPr/>
        </p:nvSpPr>
        <p:spPr>
          <a:xfrm>
            <a:off x="621506" y="4511613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48903" name="Text 43"/>
          <p:cNvSpPr/>
          <p:nvPr/>
        </p:nvSpPr>
        <p:spPr>
          <a:xfrm>
            <a:off x="4650581" y="1270136"/>
            <a:ext cx="4036219" cy="3486150"/>
          </a:xfrm>
          <a:prstGeom prst="roundRect">
            <a:avLst>
              <a:gd name="adj" fmla="val 2186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04" name="Text 44"/>
          <p:cNvSpPr/>
          <p:nvPr/>
        </p:nvSpPr>
        <p:spPr>
          <a:xfrm>
            <a:off x="4814888" y="1405868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1547" lang="en-US"/>
          </a:p>
        </p:txBody>
      </p:sp>
      <p:sp>
        <p:nvSpPr>
          <p:cNvPr id="1048905" name="Text 45"/>
          <p:cNvSpPr/>
          <p:nvPr/>
        </p:nvSpPr>
        <p:spPr>
          <a:xfrm>
            <a:off x="5029200" y="1425513"/>
            <a:ext cx="350758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74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REQUERIMIENTOS CLAVE</a:t>
            </a:r>
            <a:endParaRPr dirty="0" sz="800" lang="en-US"/>
          </a:p>
        </p:txBody>
      </p:sp>
      <p:sp>
        <p:nvSpPr>
          <p:cNvPr id="1048906" name="Text 46"/>
          <p:cNvSpPr/>
          <p:nvPr/>
        </p:nvSpPr>
        <p:spPr>
          <a:xfrm>
            <a:off x="4818459" y="1680902"/>
            <a:ext cx="164306" cy="164306"/>
          </a:xfrm>
          <a:prstGeom prst="ellipse"/>
          <a:solidFill>
            <a:srgbClr val="4A90E2">
              <a:alpha val="12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07" name="Text 47"/>
          <p:cNvSpPr/>
          <p:nvPr/>
        </p:nvSpPr>
        <p:spPr>
          <a:xfrm>
            <a:off x="4814888" y="1677330"/>
            <a:ext cx="207169" cy="1714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b="1"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dirty="0" sz="800" lang="en-US"/>
          </a:p>
        </p:txBody>
      </p:sp>
      <p:sp>
        <p:nvSpPr>
          <p:cNvPr id="1048908" name="Text 48"/>
          <p:cNvSpPr/>
          <p:nvPr/>
        </p:nvSpPr>
        <p:spPr>
          <a:xfrm>
            <a:off x="5552145" y="1698761"/>
            <a:ext cx="1037072" cy="107156"/>
          </a:xfrm>
          <a:prstGeom prst="roundRect">
            <a:avLst>
              <a:gd name="adj" fmla="val 8880021"/>
            </a:avLst>
          </a:prstGeom>
          <a:solidFill>
            <a:srgbClr val="4A90E2">
              <a:alpha val="8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09" name="Text 49"/>
          <p:cNvSpPr/>
          <p:nvPr/>
        </p:nvSpPr>
        <p:spPr>
          <a:xfrm>
            <a:off x="5057775" y="1677330"/>
            <a:ext cx="3479006" cy="15351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Login LDAP </a:t>
            </a:r>
            <a:r>
              <a:rPr dirty="0" sz="800" kern="0" lang="en-US" spc="8">
                <a:solidFill>
                  <a:srgbClr val="4A90E2"/>
                </a:solidFill>
                <a:highlight>
                  <a:srgbClr val="4A90E2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Novell.Directory.Ldap</a:t>
            </a:r>
            <a:endParaRPr dirty="0" sz="800" lang="en-US"/>
          </a:p>
        </p:txBody>
      </p:sp>
      <p:sp>
        <p:nvSpPr>
          <p:cNvPr id="1048910" name="Text 50"/>
          <p:cNvSpPr/>
          <p:nvPr/>
        </p:nvSpPr>
        <p:spPr>
          <a:xfrm>
            <a:off x="4818459" y="1973796"/>
            <a:ext cx="164306" cy="164306"/>
          </a:xfrm>
          <a:prstGeom prst="ellipse"/>
          <a:solidFill>
            <a:srgbClr val="4A90E2">
              <a:alpha val="12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11" name="Text 51"/>
          <p:cNvSpPr/>
          <p:nvPr/>
        </p:nvSpPr>
        <p:spPr>
          <a:xfrm>
            <a:off x="4814888" y="1970224"/>
            <a:ext cx="207169" cy="1714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b="1"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dirty="0" sz="800" lang="en-US"/>
          </a:p>
        </p:txBody>
      </p:sp>
      <p:sp>
        <p:nvSpPr>
          <p:cNvPr id="1048912" name="Text 52"/>
          <p:cNvSpPr/>
          <p:nvPr/>
        </p:nvSpPr>
        <p:spPr>
          <a:xfrm>
            <a:off x="5057775" y="1970224"/>
            <a:ext cx="3479006" cy="15351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Roles </a:t>
            </a:r>
            <a:r>
              <a:rPr dirty="0" sz="800" kern="0" lang="en-US" spc="8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Admin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/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Sucursal</a:t>
            </a:r>
            <a:endParaRPr dirty="0" sz="800" lang="en-US"/>
          </a:p>
        </p:txBody>
      </p:sp>
      <p:sp>
        <p:nvSpPr>
          <p:cNvPr id="1048913" name="Text 53"/>
          <p:cNvSpPr/>
          <p:nvPr/>
        </p:nvSpPr>
        <p:spPr>
          <a:xfrm>
            <a:off x="4818459" y="2266690"/>
            <a:ext cx="164306" cy="164306"/>
          </a:xfrm>
          <a:prstGeom prst="ellipse"/>
          <a:solidFill>
            <a:srgbClr val="4A90E2">
              <a:alpha val="12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14" name="Text 54"/>
          <p:cNvSpPr/>
          <p:nvPr/>
        </p:nvSpPr>
        <p:spPr>
          <a:xfrm>
            <a:off x="4814888" y="2263118"/>
            <a:ext cx="207169" cy="1714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b="1"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dirty="0" sz="800" lang="en-US"/>
          </a:p>
        </p:txBody>
      </p:sp>
      <p:sp>
        <p:nvSpPr>
          <p:cNvPr id="1048915" name="Text 55"/>
          <p:cNvSpPr/>
          <p:nvPr/>
        </p:nvSpPr>
        <p:spPr>
          <a:xfrm>
            <a:off x="5057775" y="2263118"/>
            <a:ext cx="3479006" cy="15351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equipos electrónicos y mobiliario</a:t>
            </a:r>
            <a:endParaRPr dirty="0" sz="800" lang="en-US"/>
          </a:p>
        </p:txBody>
      </p:sp>
      <p:sp>
        <p:nvSpPr>
          <p:cNvPr id="1048916" name="Text 56"/>
          <p:cNvSpPr/>
          <p:nvPr/>
        </p:nvSpPr>
        <p:spPr>
          <a:xfrm>
            <a:off x="4818459" y="2559583"/>
            <a:ext cx="164306" cy="164306"/>
          </a:xfrm>
          <a:prstGeom prst="ellipse"/>
          <a:solidFill>
            <a:srgbClr val="4A90E2">
              <a:alpha val="12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17" name="Text 57"/>
          <p:cNvSpPr/>
          <p:nvPr/>
        </p:nvSpPr>
        <p:spPr>
          <a:xfrm>
            <a:off x="4814888" y="2556011"/>
            <a:ext cx="207169" cy="1714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b="1"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dirty="0" sz="800" lang="en-US"/>
          </a:p>
        </p:txBody>
      </p:sp>
      <p:sp>
        <p:nvSpPr>
          <p:cNvPr id="1048918" name="Text 58"/>
          <p:cNvSpPr/>
          <p:nvPr/>
        </p:nvSpPr>
        <p:spPr>
          <a:xfrm>
            <a:off x="5057775" y="2556011"/>
            <a:ext cx="3479006" cy="15351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reportes </a:t>
            </a:r>
            <a:r>
              <a:rPr dirty="0" sz="800" kern="0" lang="en-US" spc="8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(a)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dirty="0" sz="800" kern="0" lang="en-US" spc="8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(b)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dirty="0" sz="800" kern="0" lang="en-US" spc="8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(c)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dirty="0" sz="800" kern="0" lang="en-US" spc="8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(d)</a:t>
            </a:r>
            <a:endParaRPr dirty="0" sz="800" lang="en-US"/>
          </a:p>
        </p:txBody>
      </p:sp>
      <p:sp>
        <p:nvSpPr>
          <p:cNvPr id="1048919" name="Text 59"/>
          <p:cNvSpPr/>
          <p:nvPr/>
        </p:nvSpPr>
        <p:spPr>
          <a:xfrm>
            <a:off x="4818459" y="2852477"/>
            <a:ext cx="164306" cy="164306"/>
          </a:xfrm>
          <a:prstGeom prst="ellipse"/>
          <a:solidFill>
            <a:srgbClr val="4A90E2">
              <a:alpha val="12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20" name="Text 60"/>
          <p:cNvSpPr/>
          <p:nvPr/>
        </p:nvSpPr>
        <p:spPr>
          <a:xfrm>
            <a:off x="4814888" y="2848905"/>
            <a:ext cx="207169" cy="1714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b="1"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dirty="0" sz="800" lang="en-US"/>
          </a:p>
        </p:txBody>
      </p:sp>
      <p:sp>
        <p:nvSpPr>
          <p:cNvPr id="1048921" name="Text 61"/>
          <p:cNvSpPr/>
          <p:nvPr/>
        </p:nvSpPr>
        <p:spPr>
          <a:xfrm>
            <a:off x="5757528" y="2870336"/>
            <a:ext cx="465906" cy="107156"/>
          </a:xfrm>
          <a:prstGeom prst="roundRect">
            <a:avLst>
              <a:gd name="adj" fmla="val 8880021"/>
            </a:avLst>
          </a:prstGeom>
          <a:solidFill>
            <a:srgbClr val="FF6B35">
              <a:alpha val="8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22" name="Text 62"/>
          <p:cNvSpPr/>
          <p:nvPr/>
        </p:nvSpPr>
        <p:spPr>
          <a:xfrm>
            <a:off x="6252456" y="2870336"/>
            <a:ext cx="553752" cy="107156"/>
          </a:xfrm>
          <a:prstGeom prst="roundRect">
            <a:avLst>
              <a:gd name="adj" fmla="val 8880021"/>
            </a:avLst>
          </a:prstGeom>
          <a:solidFill>
            <a:srgbClr val="FF6B35">
              <a:alpha val="8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23" name="Text 63"/>
          <p:cNvSpPr/>
          <p:nvPr/>
        </p:nvSpPr>
        <p:spPr>
          <a:xfrm>
            <a:off x="5057775" y="2848905"/>
            <a:ext cx="3479006" cy="15351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Exportación PDF </a:t>
            </a:r>
            <a:r>
              <a:rPr dirty="0" sz="800" kern="0" lang="en-US" spc="8">
                <a:solidFill>
                  <a:srgbClr val="FF6B35"/>
                </a:solidFill>
                <a:highlight>
                  <a:srgbClr val="FF6B3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QuestPDF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highlight>
                  <a:srgbClr val="FF6B35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iTextSharp</a:t>
            </a:r>
            <a:endParaRPr dirty="0" sz="800" lang="en-US"/>
          </a:p>
        </p:txBody>
      </p:sp>
      <p:sp>
        <p:nvSpPr>
          <p:cNvPr id="1048924" name="Text 64"/>
          <p:cNvSpPr/>
          <p:nvPr/>
        </p:nvSpPr>
        <p:spPr>
          <a:xfrm>
            <a:off x="4818459" y="3145371"/>
            <a:ext cx="164306" cy="164306"/>
          </a:xfrm>
          <a:prstGeom prst="ellipse"/>
          <a:solidFill>
            <a:srgbClr val="4A90E2">
              <a:alpha val="12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25" name="Text 65"/>
          <p:cNvSpPr/>
          <p:nvPr/>
        </p:nvSpPr>
        <p:spPr>
          <a:xfrm>
            <a:off x="4814888" y="3141799"/>
            <a:ext cx="207169" cy="1714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b="1"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dirty="0" sz="800" lang="en-US"/>
          </a:p>
        </p:txBody>
      </p:sp>
      <p:sp>
        <p:nvSpPr>
          <p:cNvPr id="1048926" name="Text 66"/>
          <p:cNvSpPr/>
          <p:nvPr/>
        </p:nvSpPr>
        <p:spPr>
          <a:xfrm>
            <a:off x="5057775" y="3141799"/>
            <a:ext cx="3479006" cy="15351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Integración intranet (cuadro de mando director)</a:t>
            </a:r>
            <a:endParaRPr dirty="0" sz="800" lang="en-US"/>
          </a:p>
        </p:txBody>
      </p:sp>
      <p:sp>
        <p:nvSpPr>
          <p:cNvPr id="1048927" name="Text 67"/>
          <p:cNvSpPr/>
          <p:nvPr/>
        </p:nvSpPr>
        <p:spPr>
          <a:xfrm>
            <a:off x="4818459" y="3438265"/>
            <a:ext cx="164306" cy="164306"/>
          </a:xfrm>
          <a:prstGeom prst="ellipse"/>
          <a:solidFill>
            <a:srgbClr val="4A90E2">
              <a:alpha val="12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28" name="Text 68"/>
          <p:cNvSpPr/>
          <p:nvPr/>
        </p:nvSpPr>
        <p:spPr>
          <a:xfrm>
            <a:off x="4814888" y="3434693"/>
            <a:ext cx="207169" cy="1714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b="1"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dirty="0" sz="800" lang="en-US"/>
          </a:p>
        </p:txBody>
      </p:sp>
      <p:sp>
        <p:nvSpPr>
          <p:cNvPr id="1048929" name="Text 69"/>
          <p:cNvSpPr/>
          <p:nvPr/>
        </p:nvSpPr>
        <p:spPr>
          <a:xfrm>
            <a:off x="5057775" y="3434693"/>
            <a:ext cx="3479006" cy="15351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≤ </a:t>
            </a:r>
            <a:r>
              <a:rPr dirty="0" sz="800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niveles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 navegación</a:t>
            </a:r>
            <a:endParaRPr dirty="0" sz="800" lang="en-US"/>
          </a:p>
        </p:txBody>
      </p:sp>
      <p:sp>
        <p:nvSpPr>
          <p:cNvPr id="1048930" name="Text 70"/>
          <p:cNvSpPr/>
          <p:nvPr/>
        </p:nvSpPr>
        <p:spPr>
          <a:xfrm>
            <a:off x="4818459" y="3731158"/>
            <a:ext cx="164306" cy="164306"/>
          </a:xfrm>
          <a:prstGeom prst="ellipse"/>
          <a:solidFill>
            <a:srgbClr val="4A90E2">
              <a:alpha val="12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31" name="Text 71"/>
          <p:cNvSpPr/>
          <p:nvPr/>
        </p:nvSpPr>
        <p:spPr>
          <a:xfrm>
            <a:off x="4814888" y="3727586"/>
            <a:ext cx="207169" cy="17145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b="1"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dirty="0" sz="800" lang="en-US"/>
          </a:p>
        </p:txBody>
      </p:sp>
      <p:sp>
        <p:nvSpPr>
          <p:cNvPr id="1048932" name="Text 72"/>
          <p:cNvSpPr/>
          <p:nvPr/>
        </p:nvSpPr>
        <p:spPr>
          <a:xfrm>
            <a:off x="5057775" y="3727586"/>
            <a:ext cx="3479006" cy="15351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SQL Server </a:t>
            </a:r>
            <a:r>
              <a:rPr dirty="0" sz="800" kern="0" lang="en-US" spc="8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2017</a:t>
            </a:r>
            <a:endParaRPr dirty="0" sz="800" lang="en-US"/>
          </a:p>
        </p:txBody>
      </p:sp>
      <p:sp>
        <p:nvSpPr>
          <p:cNvPr id="1048933" name="Text 73"/>
          <p:cNvSpPr/>
          <p:nvPr/>
        </p:nvSpPr>
        <p:spPr>
          <a:xfrm>
            <a:off x="4972050" y="4509827"/>
            <a:ext cx="2386062" cy="110728"/>
          </a:xfrm>
          <a:prstGeom prst="rect"/>
          <a:noFill/>
        </p:spPr>
        <p:txBody>
          <a:bodyPr anchor="t" bIns="0" lIns="0" rIns="0" rtlCol="0" tIns="85725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REF. GUÍA METODOLÓGICA · SECCIÓN 1 · INTRODUCCIÓN</a:t>
            </a:r>
            <a:endParaRPr dirty="0" sz="619" lang="en-US"/>
          </a:p>
        </p:txBody>
      </p:sp>
      <p:sp>
        <p:nvSpPr>
          <p:cNvPr id="1048934" name="Text 74"/>
          <p:cNvSpPr/>
          <p:nvPr/>
        </p:nvSpPr>
        <p:spPr>
          <a:xfrm>
            <a:off x="4814888" y="4511613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48935" name="Text 75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6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8939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40" name="Shape 1"/>
          <p:cNvSpPr/>
          <p:nvPr/>
        </p:nvSpPr>
        <p:spPr>
          <a:xfrm>
            <a:off x="457200" y="1405868"/>
            <a:ext cx="5266841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41" name="Shape 2"/>
          <p:cNvSpPr/>
          <p:nvPr/>
        </p:nvSpPr>
        <p:spPr>
          <a:xfrm>
            <a:off x="5720469" y="1402296"/>
            <a:ext cx="0" cy="771525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42" name="Shape 3"/>
          <p:cNvSpPr/>
          <p:nvPr/>
        </p:nvSpPr>
        <p:spPr>
          <a:xfrm>
            <a:off x="457200" y="2170249"/>
            <a:ext cx="5266841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43" name="Shape 4"/>
          <p:cNvSpPr/>
          <p:nvPr/>
        </p:nvSpPr>
        <p:spPr>
          <a:xfrm>
            <a:off x="467916" y="1402296"/>
            <a:ext cx="0" cy="771525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8944" name="Shape 5"/>
          <p:cNvSpPr/>
          <p:nvPr/>
        </p:nvSpPr>
        <p:spPr>
          <a:xfrm>
            <a:off x="457200" y="2341699"/>
            <a:ext cx="5266841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45" name="Shape 6"/>
          <p:cNvSpPr/>
          <p:nvPr/>
        </p:nvSpPr>
        <p:spPr>
          <a:xfrm>
            <a:off x="5720469" y="2338127"/>
            <a:ext cx="0" cy="771525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46" name="Shape 7"/>
          <p:cNvSpPr/>
          <p:nvPr/>
        </p:nvSpPr>
        <p:spPr>
          <a:xfrm>
            <a:off x="457200" y="3106080"/>
            <a:ext cx="5266841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47" name="Shape 8"/>
          <p:cNvSpPr/>
          <p:nvPr/>
        </p:nvSpPr>
        <p:spPr>
          <a:xfrm>
            <a:off x="467916" y="2338127"/>
            <a:ext cx="0" cy="771525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8948" name="Shape 9"/>
          <p:cNvSpPr/>
          <p:nvPr/>
        </p:nvSpPr>
        <p:spPr>
          <a:xfrm>
            <a:off x="457200" y="3277530"/>
            <a:ext cx="5266841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49" name="Shape 10"/>
          <p:cNvSpPr/>
          <p:nvPr/>
        </p:nvSpPr>
        <p:spPr>
          <a:xfrm>
            <a:off x="5720469" y="3273958"/>
            <a:ext cx="0" cy="771525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50" name="Shape 11"/>
          <p:cNvSpPr/>
          <p:nvPr/>
        </p:nvSpPr>
        <p:spPr>
          <a:xfrm>
            <a:off x="457200" y="4041911"/>
            <a:ext cx="5266841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51" name="Shape 12"/>
          <p:cNvSpPr/>
          <p:nvPr/>
        </p:nvSpPr>
        <p:spPr>
          <a:xfrm>
            <a:off x="467916" y="3273958"/>
            <a:ext cx="0" cy="771525"/>
          </a:xfrm>
          <a:prstGeom prst="line"/>
          <a:noFill/>
          <a:ln w="21431">
            <a:solidFill>
              <a:srgbClr val="27AE60"/>
            </a:solidFill>
            <a:prstDash val="solid"/>
          </a:ln>
        </p:spPr>
      </p:sp>
      <p:sp>
        <p:nvSpPr>
          <p:cNvPr id="1048952" name="Shape 13"/>
          <p:cNvSpPr/>
          <p:nvPr/>
        </p:nvSpPr>
        <p:spPr>
          <a:xfrm>
            <a:off x="457200" y="4549118"/>
            <a:ext cx="5266841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53" name="Shape 14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8954" name="Text 15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2</a:t>
            </a:r>
            <a:r>
              <a:rPr dirty="0" sz="800" kern="0" lang="en-US" spc="5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CONTEXTO DEL CASO</a:t>
            </a:r>
            <a:endParaRPr dirty="0" sz="800" lang="en-US"/>
          </a:p>
        </p:txBody>
      </p:sp>
      <p:sp>
        <p:nvSpPr>
          <p:cNvPr id="1048955" name="Text 16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 / 27</a:t>
            </a:r>
            <a:endParaRPr dirty="0" sz="619" lang="en-US"/>
          </a:p>
        </p:txBody>
      </p:sp>
      <p:sp>
        <p:nvSpPr>
          <p:cNvPr id="1048956" name="Text 17"/>
          <p:cNvSpPr/>
          <p:nvPr/>
        </p:nvSpPr>
        <p:spPr>
          <a:xfrm>
            <a:off x="457200" y="696516"/>
            <a:ext cx="2777105" cy="264011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Arquitectura de 3 capas</a:t>
            </a:r>
            <a:endParaRPr dirty="0" sz="1200" lang="en-US"/>
          </a:p>
        </p:txBody>
      </p:sp>
      <p:sp>
        <p:nvSpPr>
          <p:cNvPr id="1048957" name="Text 18"/>
          <p:cNvSpPr/>
          <p:nvPr/>
        </p:nvSpPr>
        <p:spPr>
          <a:xfrm>
            <a:off x="467916" y="1088455"/>
            <a:ext cx="4892710" cy="12810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12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Separación de responsabilidades · testabilidad · mantenibilidad</a:t>
            </a:r>
            <a:endParaRPr dirty="0" sz="1200" lang="en-US"/>
          </a:p>
        </p:txBody>
      </p:sp>
      <p:sp>
        <p:nvSpPr>
          <p:cNvPr id="1048958" name="Text 19"/>
          <p:cNvSpPr/>
          <p:nvPr/>
        </p:nvSpPr>
        <p:spPr>
          <a:xfrm>
            <a:off x="7375587" y="941738"/>
            <a:ext cx="450949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59" name="Text 20"/>
          <p:cNvSpPr/>
          <p:nvPr/>
        </p:nvSpPr>
        <p:spPr>
          <a:xfrm>
            <a:off x="7596801" y="995102"/>
            <a:ext cx="258552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MVC</a:t>
            </a:r>
            <a:endParaRPr dirty="0" sz="800" lang="en-US"/>
          </a:p>
        </p:txBody>
      </p:sp>
      <p:sp>
        <p:nvSpPr>
          <p:cNvPr id="1048960" name="Text 21"/>
          <p:cNvSpPr/>
          <p:nvPr/>
        </p:nvSpPr>
        <p:spPr>
          <a:xfrm>
            <a:off x="7454168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dirty="0" sz="984" lang="en-US"/>
          </a:p>
        </p:txBody>
      </p:sp>
      <p:sp>
        <p:nvSpPr>
          <p:cNvPr id="1048961" name="Text 22"/>
          <p:cNvSpPr/>
          <p:nvPr/>
        </p:nvSpPr>
        <p:spPr>
          <a:xfrm>
            <a:off x="7883686" y="941738"/>
            <a:ext cx="803114" cy="196025"/>
          </a:xfrm>
          <a:prstGeom prst="roundRect">
            <a:avLst>
              <a:gd name="adj" fmla="val 4854215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62" name="Text 23"/>
          <p:cNvSpPr/>
          <p:nvPr/>
        </p:nvSpPr>
        <p:spPr>
          <a:xfrm>
            <a:off x="8105142" y="995102"/>
            <a:ext cx="581658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Repository</a:t>
            </a:r>
            <a:endParaRPr dirty="0" sz="619" lang="en-US"/>
          </a:p>
        </p:txBody>
      </p:sp>
      <p:sp>
        <p:nvSpPr>
          <p:cNvPr id="1048963" name="Text 24"/>
          <p:cNvSpPr/>
          <p:nvPr/>
        </p:nvSpPr>
        <p:spPr>
          <a:xfrm>
            <a:off x="7962267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8964" name="Text 26"/>
          <p:cNvSpPr/>
          <p:nvPr/>
        </p:nvSpPr>
        <p:spPr>
          <a:xfrm>
            <a:off x="457200" y="1402296"/>
            <a:ext cx="5266841" cy="771525"/>
          </a:xfrm>
          <a:prstGeom prst="roundRect">
            <a:avLst>
              <a:gd name="adj" fmla="val 987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65" name="Text 27"/>
          <p:cNvSpPr/>
          <p:nvPr/>
        </p:nvSpPr>
        <p:spPr>
          <a:xfrm>
            <a:off x="607219" y="1661257"/>
            <a:ext cx="46755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6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 1</a:t>
            </a:r>
            <a:endParaRPr dirty="0" sz="800" lang="en-US"/>
          </a:p>
        </p:txBody>
      </p:sp>
      <p:sp>
        <p:nvSpPr>
          <p:cNvPr id="1048966" name="Text 28"/>
          <p:cNvSpPr/>
          <p:nvPr/>
        </p:nvSpPr>
        <p:spPr>
          <a:xfrm>
            <a:off x="973113" y="1629110"/>
            <a:ext cx="1396240" cy="18516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50"/>
              </a:lnSpc>
              <a:buNone/>
            </a:pPr>
            <a:r>
              <a:rPr dirty="0" sz="9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 de Presentación</a:t>
            </a:r>
            <a:endParaRPr dirty="0" sz="900" lang="en-US"/>
          </a:p>
        </p:txBody>
      </p:sp>
      <p:sp>
        <p:nvSpPr>
          <p:cNvPr id="1048967" name="Text 29"/>
          <p:cNvSpPr/>
          <p:nvPr/>
        </p:nvSpPr>
        <p:spPr>
          <a:xfrm>
            <a:off x="2147255" y="1616824"/>
            <a:ext cx="1198840" cy="181952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68" name="Text 30"/>
          <p:cNvSpPr/>
          <p:nvPr/>
        </p:nvSpPr>
        <p:spPr>
          <a:xfrm>
            <a:off x="2248576" y="1644123"/>
            <a:ext cx="962062" cy="17502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ASP.NET Core MVC</a:t>
            </a:r>
            <a:endParaRPr dirty="0" sz="800" lang="en-US"/>
          </a:p>
        </p:txBody>
      </p:sp>
      <p:sp>
        <p:nvSpPr>
          <p:cNvPr id="1048969" name="Text 31"/>
          <p:cNvSpPr/>
          <p:nvPr/>
        </p:nvSpPr>
        <p:spPr>
          <a:xfrm>
            <a:off x="607219" y="1830921"/>
            <a:ext cx="4299444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Controllers · Views · ViewModels · Razor</a:t>
            </a:r>
            <a:endParaRPr dirty="0" sz="800" lang="en-US"/>
          </a:p>
        </p:txBody>
      </p:sp>
      <p:sp>
        <p:nvSpPr>
          <p:cNvPr id="1048970" name="Text 32"/>
          <p:cNvSpPr/>
          <p:nvPr/>
        </p:nvSpPr>
        <p:spPr>
          <a:xfrm>
            <a:off x="5098405" y="157731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dirty="0" sz="984" lang="en-US"/>
          </a:p>
        </p:txBody>
      </p:sp>
      <p:sp>
        <p:nvSpPr>
          <p:cNvPr id="1048971" name="Text 33"/>
          <p:cNvSpPr/>
          <p:nvPr/>
        </p:nvSpPr>
        <p:spPr>
          <a:xfrm>
            <a:off x="5199828" y="1568388"/>
            <a:ext cx="42993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USUARIO</a:t>
            </a:r>
            <a:endParaRPr dirty="0" sz="619" lang="en-US"/>
          </a:p>
        </p:txBody>
      </p:sp>
      <p:sp>
        <p:nvSpPr>
          <p:cNvPr id="1048972" name="Text 34"/>
          <p:cNvSpPr/>
          <p:nvPr/>
        </p:nvSpPr>
        <p:spPr>
          <a:xfrm>
            <a:off x="5247531" y="1738052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dirty="0" sz="984" lang="en-US"/>
          </a:p>
        </p:txBody>
      </p:sp>
      <p:sp>
        <p:nvSpPr>
          <p:cNvPr id="1048973" name="Text 35"/>
          <p:cNvSpPr/>
          <p:nvPr/>
        </p:nvSpPr>
        <p:spPr>
          <a:xfrm>
            <a:off x="5360626" y="1729122"/>
            <a:ext cx="25746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LDAP</a:t>
            </a:r>
            <a:endParaRPr dirty="0" sz="619" lang="en-US"/>
          </a:p>
        </p:txBody>
      </p:sp>
      <p:sp>
        <p:nvSpPr>
          <p:cNvPr id="1048974" name="Text 36"/>
          <p:cNvSpPr/>
          <p:nvPr/>
        </p:nvSpPr>
        <p:spPr>
          <a:xfrm>
            <a:off x="5068491" y="189878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8975" name="Text 37"/>
          <p:cNvSpPr/>
          <p:nvPr/>
        </p:nvSpPr>
        <p:spPr>
          <a:xfrm>
            <a:off x="5156126" y="1889857"/>
            <a:ext cx="48742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INTRANET</a:t>
            </a:r>
            <a:endParaRPr dirty="0" sz="619" lang="en-US"/>
          </a:p>
        </p:txBody>
      </p:sp>
      <p:sp>
        <p:nvSpPr>
          <p:cNvPr id="1048976" name="Text 38"/>
          <p:cNvSpPr/>
          <p:nvPr/>
        </p:nvSpPr>
        <p:spPr>
          <a:xfrm>
            <a:off x="3032782" y="2216683"/>
            <a:ext cx="258552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44"/>
              </a:lnSpc>
              <a:buNone/>
            </a:pPr>
            <a:r>
              <a:rPr dirty="0" sz="800" kern="0" lang="en-US" spc="6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</a:t>
            </a:r>
            <a:endParaRPr dirty="0" sz="800" lang="en-US"/>
          </a:p>
        </p:txBody>
      </p:sp>
      <p:sp>
        <p:nvSpPr>
          <p:cNvPr id="1048977" name="Text 39"/>
          <p:cNvSpPr/>
          <p:nvPr/>
        </p:nvSpPr>
        <p:spPr>
          <a:xfrm>
            <a:off x="3037043" y="2202396"/>
            <a:ext cx="107156" cy="107156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⇅</a:t>
            </a:r>
            <a:endParaRPr dirty="0" sz="984" lang="en-US"/>
          </a:p>
        </p:txBody>
      </p:sp>
      <p:sp>
        <p:nvSpPr>
          <p:cNvPr id="1048978" name="Text 40"/>
          <p:cNvSpPr/>
          <p:nvPr/>
        </p:nvSpPr>
        <p:spPr>
          <a:xfrm>
            <a:off x="457200" y="2338127"/>
            <a:ext cx="5266841" cy="771525"/>
          </a:xfrm>
          <a:prstGeom prst="roundRect">
            <a:avLst>
              <a:gd name="adj" fmla="val 987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79" name="Text 41"/>
          <p:cNvSpPr/>
          <p:nvPr/>
        </p:nvSpPr>
        <p:spPr>
          <a:xfrm>
            <a:off x="607219" y="2597088"/>
            <a:ext cx="46755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6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 2</a:t>
            </a:r>
            <a:endParaRPr dirty="0" sz="800" lang="en-US"/>
          </a:p>
        </p:txBody>
      </p:sp>
      <p:sp>
        <p:nvSpPr>
          <p:cNvPr id="1048980" name="Text 42"/>
          <p:cNvSpPr/>
          <p:nvPr/>
        </p:nvSpPr>
        <p:spPr>
          <a:xfrm>
            <a:off x="973113" y="2564941"/>
            <a:ext cx="1731383" cy="18516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50"/>
              </a:lnSpc>
              <a:buNone/>
            </a:pPr>
            <a:r>
              <a:rPr dirty="0" sz="9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 de Lógica de Negocio</a:t>
            </a:r>
            <a:endParaRPr dirty="0" sz="900" lang="en-US"/>
          </a:p>
        </p:txBody>
      </p:sp>
      <p:sp>
        <p:nvSpPr>
          <p:cNvPr id="1048981" name="Text 43"/>
          <p:cNvSpPr/>
          <p:nvPr/>
        </p:nvSpPr>
        <p:spPr>
          <a:xfrm>
            <a:off x="2415369" y="2552654"/>
            <a:ext cx="559668" cy="196025"/>
          </a:xfrm>
          <a:prstGeom prst="roundRect">
            <a:avLst>
              <a:gd name="adj" fmla="val 4854215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82" name="Text 44"/>
          <p:cNvSpPr/>
          <p:nvPr/>
        </p:nvSpPr>
        <p:spPr>
          <a:xfrm>
            <a:off x="2415369" y="2563155"/>
            <a:ext cx="559668" cy="17502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dirty="0" sz="800" lang="en-US"/>
          </a:p>
        </p:txBody>
      </p:sp>
      <p:sp>
        <p:nvSpPr>
          <p:cNvPr id="1048983" name="Text 45"/>
          <p:cNvSpPr/>
          <p:nvPr/>
        </p:nvSpPr>
        <p:spPr>
          <a:xfrm>
            <a:off x="607219" y="2766752"/>
            <a:ext cx="3980966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DTOs · Validaciones · Reglas de negocio · ReporteService · LdapAuthService</a:t>
            </a:r>
            <a:endParaRPr dirty="0" sz="619" lang="en-US"/>
          </a:p>
        </p:txBody>
      </p:sp>
      <p:sp>
        <p:nvSpPr>
          <p:cNvPr id="1048984" name="Text 46"/>
          <p:cNvSpPr/>
          <p:nvPr/>
        </p:nvSpPr>
        <p:spPr>
          <a:xfrm>
            <a:off x="4880074" y="259351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48985" name="Text 47"/>
          <p:cNvSpPr/>
          <p:nvPr/>
        </p:nvSpPr>
        <p:spPr>
          <a:xfrm>
            <a:off x="4946938" y="2584586"/>
            <a:ext cx="71738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VALIDACIONES</a:t>
            </a:r>
            <a:endParaRPr dirty="0" sz="619" lang="en-US"/>
          </a:p>
        </p:txBody>
      </p:sp>
      <p:sp>
        <p:nvSpPr>
          <p:cNvPr id="1048986" name="Text 48"/>
          <p:cNvSpPr/>
          <p:nvPr/>
        </p:nvSpPr>
        <p:spPr>
          <a:xfrm>
            <a:off x="5140709" y="275425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48987" name="Text 49"/>
          <p:cNvSpPr/>
          <p:nvPr/>
        </p:nvSpPr>
        <p:spPr>
          <a:xfrm>
            <a:off x="5249725" y="2745321"/>
            <a:ext cx="37244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REGLAS</a:t>
            </a:r>
            <a:endParaRPr dirty="0" sz="619" lang="en-US"/>
          </a:p>
        </p:txBody>
      </p:sp>
      <p:sp>
        <p:nvSpPr>
          <p:cNvPr id="1048988" name="Text 50"/>
          <p:cNvSpPr/>
          <p:nvPr/>
        </p:nvSpPr>
        <p:spPr>
          <a:xfrm>
            <a:off x="3032782" y="3152515"/>
            <a:ext cx="258552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44"/>
              </a:lnSpc>
              <a:buNone/>
            </a:pPr>
            <a:r>
              <a:rPr dirty="0" sz="800" kern="0" lang="en-US" spc="6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</a:t>
            </a:r>
            <a:endParaRPr dirty="0" sz="800" lang="en-US"/>
          </a:p>
        </p:txBody>
      </p:sp>
      <p:sp>
        <p:nvSpPr>
          <p:cNvPr id="1048989" name="Text 51"/>
          <p:cNvSpPr/>
          <p:nvPr/>
        </p:nvSpPr>
        <p:spPr>
          <a:xfrm>
            <a:off x="3037043" y="3138227"/>
            <a:ext cx="107156" cy="107156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⇅</a:t>
            </a:r>
            <a:endParaRPr dirty="0" sz="984" lang="en-US"/>
          </a:p>
        </p:txBody>
      </p:sp>
      <p:sp>
        <p:nvSpPr>
          <p:cNvPr id="1048990" name="Text 52"/>
          <p:cNvSpPr/>
          <p:nvPr/>
        </p:nvSpPr>
        <p:spPr>
          <a:xfrm>
            <a:off x="457200" y="3273958"/>
            <a:ext cx="5266841" cy="771525"/>
          </a:xfrm>
          <a:prstGeom prst="roundRect">
            <a:avLst>
              <a:gd name="adj" fmla="val 987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91" name="Text 53"/>
          <p:cNvSpPr/>
          <p:nvPr/>
        </p:nvSpPr>
        <p:spPr>
          <a:xfrm>
            <a:off x="607219" y="3532919"/>
            <a:ext cx="46755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68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CAPA 3</a:t>
            </a:r>
            <a:endParaRPr dirty="0" sz="800" lang="en-US"/>
          </a:p>
        </p:txBody>
      </p:sp>
      <p:sp>
        <p:nvSpPr>
          <p:cNvPr id="1048992" name="Text 54"/>
          <p:cNvSpPr/>
          <p:nvPr/>
        </p:nvSpPr>
        <p:spPr>
          <a:xfrm>
            <a:off x="973113" y="3500772"/>
            <a:ext cx="1564788" cy="18516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350"/>
              </a:lnSpc>
              <a:buNone/>
            </a:pPr>
            <a:r>
              <a:rPr dirty="0" sz="9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Capa de Acceso a Datos</a:t>
            </a:r>
            <a:endParaRPr dirty="0" sz="900" lang="en-US"/>
          </a:p>
        </p:txBody>
      </p:sp>
      <p:sp>
        <p:nvSpPr>
          <p:cNvPr id="1048993" name="Text 55"/>
          <p:cNvSpPr/>
          <p:nvPr/>
        </p:nvSpPr>
        <p:spPr>
          <a:xfrm>
            <a:off x="2415369" y="3479709"/>
            <a:ext cx="1605874" cy="189298"/>
          </a:xfrm>
          <a:prstGeom prst="roundRect">
            <a:avLst>
              <a:gd name="adj" fmla="val 4854215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94" name="Text 56"/>
          <p:cNvSpPr/>
          <p:nvPr/>
        </p:nvSpPr>
        <p:spPr>
          <a:xfrm>
            <a:off x="2399539" y="3498986"/>
            <a:ext cx="1518120" cy="133947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 Core + Repository</a:t>
            </a:r>
            <a:endParaRPr dirty="0" sz="800" lang="en-US"/>
          </a:p>
        </p:txBody>
      </p:sp>
      <p:sp>
        <p:nvSpPr>
          <p:cNvPr id="1048995" name="Text 57"/>
          <p:cNvSpPr/>
          <p:nvPr/>
        </p:nvSpPr>
        <p:spPr>
          <a:xfrm>
            <a:off x="607219" y="3702583"/>
            <a:ext cx="3980966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DbContext · Migrations · IRepository&lt;T&gt; · UnitOfWork</a:t>
            </a:r>
            <a:endParaRPr dirty="0" sz="800" lang="en-US"/>
          </a:p>
        </p:txBody>
      </p:sp>
      <p:sp>
        <p:nvSpPr>
          <p:cNvPr id="1048996" name="Text 58"/>
          <p:cNvSpPr/>
          <p:nvPr/>
        </p:nvSpPr>
        <p:spPr>
          <a:xfrm>
            <a:off x="4721461" y="3609715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8997" name="Text 59"/>
          <p:cNvSpPr/>
          <p:nvPr/>
        </p:nvSpPr>
        <p:spPr>
          <a:xfrm>
            <a:off x="4864336" y="3600785"/>
            <a:ext cx="72397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SQL SERVER 2017</a:t>
            </a:r>
            <a:endParaRPr dirty="0" sz="619" lang="en-US"/>
          </a:p>
        </p:txBody>
      </p:sp>
      <p:sp>
        <p:nvSpPr>
          <p:cNvPr id="1048998" name="Text 60"/>
          <p:cNvSpPr/>
          <p:nvPr/>
        </p:nvSpPr>
        <p:spPr>
          <a:xfrm>
            <a:off x="2540407" y="4120707"/>
            <a:ext cx="1100316" cy="196025"/>
          </a:xfrm>
          <a:prstGeom prst="roundRect">
            <a:avLst>
              <a:gd name="adj" fmla="val 4854215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8999" name="Text 61"/>
          <p:cNvSpPr/>
          <p:nvPr/>
        </p:nvSpPr>
        <p:spPr>
          <a:xfrm>
            <a:off x="2784723" y="4174071"/>
            <a:ext cx="2939318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SQL Server 2017</a:t>
            </a:r>
            <a:endParaRPr dirty="0" sz="800" lang="en-US"/>
          </a:p>
        </p:txBody>
      </p:sp>
      <p:sp>
        <p:nvSpPr>
          <p:cNvPr id="1049000" name="Text 62"/>
          <p:cNvSpPr/>
          <p:nvPr/>
        </p:nvSpPr>
        <p:spPr>
          <a:xfrm>
            <a:off x="2641848" y="4168713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9001" name="Text 63"/>
          <p:cNvSpPr/>
          <p:nvPr/>
        </p:nvSpPr>
        <p:spPr>
          <a:xfrm>
            <a:off x="614363" y="4616983"/>
            <a:ext cx="2886187" cy="139654"/>
          </a:xfrm>
          <a:prstGeom prst="rect"/>
          <a:noFill/>
        </p:spPr>
        <p:txBody>
          <a:bodyPr anchor="t" bIns="0" lIns="0" rIns="0" rtlCol="0" tIns="57150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REF. GUÍA METODOLÓGICA · SECCIÓN 3 · ARQUITECTURA DE LA SOLUCIÓN</a:t>
            </a:r>
            <a:endParaRPr dirty="0" sz="619" lang="en-US"/>
          </a:p>
        </p:txBody>
      </p:sp>
      <p:sp>
        <p:nvSpPr>
          <p:cNvPr id="1049002" name="Text 64"/>
          <p:cNvSpPr/>
          <p:nvPr/>
        </p:nvSpPr>
        <p:spPr>
          <a:xfrm>
            <a:off x="457200" y="4618769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49003" name="Text 65"/>
          <p:cNvSpPr/>
          <p:nvPr/>
        </p:nvSpPr>
        <p:spPr>
          <a:xfrm>
            <a:off x="5881204" y="1241561"/>
            <a:ext cx="3262796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PRINCIPIOS DE DISEÑO</a:t>
            </a:r>
            <a:endParaRPr dirty="0" sz="800" lang="en-US"/>
          </a:p>
        </p:txBody>
      </p:sp>
      <p:sp>
        <p:nvSpPr>
          <p:cNvPr id="1049004" name="Text 66"/>
          <p:cNvSpPr/>
          <p:nvPr/>
        </p:nvSpPr>
        <p:spPr>
          <a:xfrm>
            <a:off x="5884776" y="1448730"/>
            <a:ext cx="2955503" cy="476399"/>
          </a:xfrm>
          <a:prstGeom prst="roundRect">
            <a:avLst>
              <a:gd name="adj" fmla="val 15995"/>
            </a:avLst>
          </a:prstGeom>
          <a:solidFill>
            <a:srgbClr val="1A1A1A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05" name="Text 67"/>
          <p:cNvSpPr/>
          <p:nvPr/>
        </p:nvSpPr>
        <p:spPr>
          <a:xfrm>
            <a:off x="5988360" y="1538027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1547" lang="en-US"/>
          </a:p>
        </p:txBody>
      </p:sp>
      <p:sp>
        <p:nvSpPr>
          <p:cNvPr id="1049006" name="Text 68"/>
          <p:cNvSpPr/>
          <p:nvPr/>
        </p:nvSpPr>
        <p:spPr>
          <a:xfrm>
            <a:off x="6216960" y="1538027"/>
            <a:ext cx="1999455" cy="140446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Separación de responsabilidades</a:t>
            </a:r>
            <a:endParaRPr dirty="0" sz="800" lang="en-US"/>
          </a:p>
        </p:txBody>
      </p:sp>
      <p:sp>
        <p:nvSpPr>
          <p:cNvPr id="1049007" name="Text 69"/>
          <p:cNvSpPr/>
          <p:nvPr/>
        </p:nvSpPr>
        <p:spPr>
          <a:xfrm>
            <a:off x="6216960" y="1705905"/>
            <a:ext cx="1999455" cy="12992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capa tiene un único motivo de cambio.</a:t>
            </a:r>
            <a:endParaRPr dirty="0" sz="731" lang="en-US"/>
          </a:p>
        </p:txBody>
      </p:sp>
      <p:sp>
        <p:nvSpPr>
          <p:cNvPr id="1049008" name="Text 70"/>
          <p:cNvSpPr/>
          <p:nvPr/>
        </p:nvSpPr>
        <p:spPr>
          <a:xfrm>
            <a:off x="5884776" y="2017998"/>
            <a:ext cx="2955503" cy="606326"/>
          </a:xfrm>
          <a:prstGeom prst="roundRect">
            <a:avLst>
              <a:gd name="adj" fmla="val 12567"/>
            </a:avLst>
          </a:prstGeom>
          <a:solidFill>
            <a:srgbClr val="1A1A1A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09" name="Text 71"/>
          <p:cNvSpPr/>
          <p:nvPr/>
        </p:nvSpPr>
        <p:spPr>
          <a:xfrm>
            <a:off x="5988360" y="2107295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dirty="0" sz="1547" lang="en-US"/>
          </a:p>
        </p:txBody>
      </p:sp>
      <p:sp>
        <p:nvSpPr>
          <p:cNvPr id="1049010" name="Text 72"/>
          <p:cNvSpPr/>
          <p:nvPr/>
        </p:nvSpPr>
        <p:spPr>
          <a:xfrm>
            <a:off x="6216960" y="2107295"/>
            <a:ext cx="2519735" cy="140446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Testabilidad</a:t>
            </a:r>
            <a:endParaRPr dirty="0" sz="800" lang="en-US"/>
          </a:p>
        </p:txBody>
      </p:sp>
      <p:sp>
        <p:nvSpPr>
          <p:cNvPr id="1049011" name="Text 73"/>
          <p:cNvSpPr/>
          <p:nvPr/>
        </p:nvSpPr>
        <p:spPr>
          <a:xfrm>
            <a:off x="6216960" y="2275173"/>
            <a:ext cx="2519735" cy="25985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Repositorios mockeables con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Moq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servicios probables con </a:t>
            </a:r>
            <a:r>
              <a:rPr dirty="0" sz="800" kern="0" lang="en-US" spc="8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xUnit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dirty="0" sz="800" lang="en-US"/>
          </a:p>
        </p:txBody>
      </p:sp>
      <p:sp>
        <p:nvSpPr>
          <p:cNvPr id="1049012" name="Text 74"/>
          <p:cNvSpPr/>
          <p:nvPr/>
        </p:nvSpPr>
        <p:spPr>
          <a:xfrm>
            <a:off x="5884776" y="2717192"/>
            <a:ext cx="2955503" cy="476399"/>
          </a:xfrm>
          <a:prstGeom prst="roundRect">
            <a:avLst>
              <a:gd name="adj" fmla="val 15995"/>
            </a:avLst>
          </a:prstGeom>
          <a:solidFill>
            <a:srgbClr val="1A1A1A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13" name="Text 75"/>
          <p:cNvSpPr/>
          <p:nvPr/>
        </p:nvSpPr>
        <p:spPr>
          <a:xfrm>
            <a:off x="5988360" y="2806489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dirty="0" sz="1547" lang="en-US"/>
          </a:p>
        </p:txBody>
      </p:sp>
      <p:sp>
        <p:nvSpPr>
          <p:cNvPr id="1049014" name="Text 76"/>
          <p:cNvSpPr/>
          <p:nvPr/>
        </p:nvSpPr>
        <p:spPr>
          <a:xfrm>
            <a:off x="6216960" y="2806489"/>
            <a:ext cx="2242124" cy="140446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Estructura .sln refleja las capas</a:t>
            </a:r>
            <a:endParaRPr dirty="0" sz="800" lang="en-US"/>
          </a:p>
        </p:txBody>
      </p:sp>
      <p:sp>
        <p:nvSpPr>
          <p:cNvPr id="1049015" name="Text 77"/>
          <p:cNvSpPr/>
          <p:nvPr/>
        </p:nvSpPr>
        <p:spPr>
          <a:xfrm>
            <a:off x="6216960" y="2974367"/>
            <a:ext cx="2242124" cy="12992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731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proyectos: </a:t>
            </a:r>
            <a:r>
              <a:rPr dirty="0" sz="731" kern="0" lang="en-US" spc="8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Domain</a:t>
            </a: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dirty="0" sz="731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dirty="0" sz="731" kern="0" lang="en-US" spc="8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Services</a:t>
            </a: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dirty="0" sz="731" kern="0" lang="en-US" spc="8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Tests.</a:t>
            </a:r>
            <a:endParaRPr dirty="0" sz="731" lang="en-US"/>
          </a:p>
        </p:txBody>
      </p:sp>
      <p:sp>
        <p:nvSpPr>
          <p:cNvPr id="1049016" name="Text 78"/>
          <p:cNvSpPr/>
          <p:nvPr/>
        </p:nvSpPr>
        <p:spPr>
          <a:xfrm>
            <a:off x="5884776" y="3286460"/>
            <a:ext cx="2955503" cy="476399"/>
          </a:xfrm>
          <a:prstGeom prst="roundRect">
            <a:avLst>
              <a:gd name="adj" fmla="val 15995"/>
            </a:avLst>
          </a:prstGeom>
          <a:noFill/>
          <a:ln w="7144">
            <a:solidFill>
              <a:srgbClr val="3A3A3A"/>
            </a:solidFill>
            <a:prstDash val="dash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17" name="Text 79"/>
          <p:cNvSpPr/>
          <p:nvPr/>
        </p:nvSpPr>
        <p:spPr>
          <a:xfrm>
            <a:off x="5988360" y="3375757"/>
            <a:ext cx="157163" cy="15716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547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dirty="0" sz="1547" lang="en-US"/>
          </a:p>
        </p:txBody>
      </p:sp>
      <p:sp>
        <p:nvSpPr>
          <p:cNvPr id="1049018" name="Text 80"/>
          <p:cNvSpPr/>
          <p:nvPr/>
        </p:nvSpPr>
        <p:spPr>
          <a:xfrm>
            <a:off x="6216960" y="3375757"/>
            <a:ext cx="2519735" cy="140446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Patrón Repository</a:t>
            </a:r>
            <a:endParaRPr dirty="0" sz="800" lang="en-US"/>
          </a:p>
        </p:txBody>
      </p:sp>
      <p:sp>
        <p:nvSpPr>
          <p:cNvPr id="1049019" name="Text 81"/>
          <p:cNvSpPr/>
          <p:nvPr/>
        </p:nvSpPr>
        <p:spPr>
          <a:xfrm>
            <a:off x="6216960" y="3543635"/>
            <a:ext cx="2471626" cy="12992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Abstracción </a:t>
            </a:r>
            <a:r>
              <a:rPr dirty="0" sz="731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IRepository&lt;T&gt;</a:t>
            </a: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desacopla la lógica de EF Core.</a:t>
            </a:r>
            <a:endParaRPr dirty="0" sz="731" lang="en-US"/>
          </a:p>
        </p:txBody>
      </p:sp>
      <p:sp>
        <p:nvSpPr>
          <p:cNvPr id="1049020" name="Text 82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66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024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25" name="Shape 1"/>
          <p:cNvSpPr/>
          <p:nvPr/>
        </p:nvSpPr>
        <p:spPr>
          <a:xfrm>
            <a:off x="592931" y="4429906"/>
            <a:ext cx="425477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26" name="Shape 2"/>
          <p:cNvSpPr/>
          <p:nvPr/>
        </p:nvSpPr>
        <p:spPr>
          <a:xfrm>
            <a:off x="5276329" y="4441961"/>
            <a:ext cx="3431791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27" name="Shape 3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28" name="Text 4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2</a:t>
            </a:r>
            <a:r>
              <a:rPr dirty="0" sz="800" kern="0" lang="en-US" spc="5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CONTEXTO DEL CASO</a:t>
            </a:r>
            <a:endParaRPr dirty="0" sz="800" lang="en-US"/>
          </a:p>
        </p:txBody>
      </p:sp>
      <p:sp>
        <p:nvSpPr>
          <p:cNvPr id="1049029" name="Text 5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 / 27</a:t>
            </a:r>
            <a:endParaRPr dirty="0" sz="619" lang="en-US"/>
          </a:p>
        </p:txBody>
      </p:sp>
      <p:sp>
        <p:nvSpPr>
          <p:cNvPr id="1049030" name="Text 6"/>
          <p:cNvSpPr/>
          <p:nvPr/>
        </p:nvSpPr>
        <p:spPr>
          <a:xfrm>
            <a:off x="457200" y="696516"/>
            <a:ext cx="4741396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Estructura de la solución y equipo de 5 roles</a:t>
            </a:r>
            <a:endParaRPr dirty="0" sz="1200" lang="en-US"/>
          </a:p>
        </p:txBody>
      </p:sp>
      <p:sp>
        <p:nvSpPr>
          <p:cNvPr id="1049031" name="Text 7"/>
          <p:cNvSpPr/>
          <p:nvPr/>
        </p:nvSpPr>
        <p:spPr>
          <a:xfrm>
            <a:off x="457200" y="987958"/>
            <a:ext cx="5287826" cy="7993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12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Cómo la organización del código espeja la organización del equipo</a:t>
            </a:r>
            <a:endParaRPr dirty="0" sz="1200" lang="en-US"/>
          </a:p>
        </p:txBody>
      </p:sp>
      <p:sp>
        <p:nvSpPr>
          <p:cNvPr id="1049032" name="Text 8"/>
          <p:cNvSpPr/>
          <p:nvPr/>
        </p:nvSpPr>
        <p:spPr>
          <a:xfrm>
            <a:off x="6621028" y="941738"/>
            <a:ext cx="954025" cy="196025"/>
          </a:xfrm>
          <a:prstGeom prst="roundRect">
            <a:avLst>
              <a:gd name="adj" fmla="val 4854215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33" name="Text 9"/>
          <p:cNvSpPr/>
          <p:nvPr/>
        </p:nvSpPr>
        <p:spPr>
          <a:xfrm>
            <a:off x="6808448" y="995102"/>
            <a:ext cx="829219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estudiantes</a:t>
            </a:r>
            <a:endParaRPr dirty="0" sz="800" lang="en-US"/>
          </a:p>
        </p:txBody>
      </p:sp>
      <p:sp>
        <p:nvSpPr>
          <p:cNvPr id="1049034" name="Text 10"/>
          <p:cNvSpPr/>
          <p:nvPr/>
        </p:nvSpPr>
        <p:spPr>
          <a:xfrm>
            <a:off x="6699610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dirty="0" sz="984" lang="en-US"/>
          </a:p>
        </p:txBody>
      </p:sp>
      <p:sp>
        <p:nvSpPr>
          <p:cNvPr id="1049035" name="Text 11"/>
          <p:cNvSpPr/>
          <p:nvPr/>
        </p:nvSpPr>
        <p:spPr>
          <a:xfrm>
            <a:off x="7632204" y="941738"/>
            <a:ext cx="1054596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36" name="Text 12"/>
          <p:cNvSpPr/>
          <p:nvPr/>
        </p:nvSpPr>
        <p:spPr>
          <a:xfrm>
            <a:off x="7853660" y="995102"/>
            <a:ext cx="833140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Roles rotativos</a:t>
            </a:r>
            <a:endParaRPr dirty="0" sz="619" lang="en-US"/>
          </a:p>
        </p:txBody>
      </p:sp>
      <p:sp>
        <p:nvSpPr>
          <p:cNvPr id="1049037" name="Text 13"/>
          <p:cNvSpPr/>
          <p:nvPr/>
        </p:nvSpPr>
        <p:spPr>
          <a:xfrm>
            <a:off x="7710785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dirty="0" sz="984" lang="en-US"/>
          </a:p>
        </p:txBody>
      </p:sp>
      <p:sp>
        <p:nvSpPr>
          <p:cNvPr id="1049038" name="Text 14"/>
          <p:cNvSpPr/>
          <p:nvPr/>
        </p:nvSpPr>
        <p:spPr>
          <a:xfrm>
            <a:off x="460772" y="1245133"/>
            <a:ext cx="4519092" cy="3521869"/>
          </a:xfrm>
          <a:prstGeom prst="roundRect">
            <a:avLst>
              <a:gd name="adj" fmla="val 2164"/>
            </a:avLst>
          </a:prstGeom>
          <a:solidFill>
            <a:srgbClr val="1A1A1A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39" name="Text 15"/>
          <p:cNvSpPr/>
          <p:nvPr/>
        </p:nvSpPr>
        <p:spPr>
          <a:xfrm>
            <a:off x="592931" y="1363005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dirty="0" sz="1266" lang="en-US"/>
          </a:p>
        </p:txBody>
      </p:sp>
      <p:sp>
        <p:nvSpPr>
          <p:cNvPr id="1049040" name="Text 16"/>
          <p:cNvSpPr/>
          <p:nvPr/>
        </p:nvSpPr>
        <p:spPr>
          <a:xfrm>
            <a:off x="778669" y="1368363"/>
            <a:ext cx="4069035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62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ESTRUCTURA DEL .SLN (5 PROYECTOS)</a:t>
            </a:r>
            <a:endParaRPr dirty="0" sz="800" lang="en-US"/>
          </a:p>
        </p:txBody>
      </p:sp>
      <p:sp>
        <p:nvSpPr>
          <p:cNvPr id="1049041" name="Text 17"/>
          <p:cNvSpPr/>
          <p:nvPr/>
        </p:nvSpPr>
        <p:spPr>
          <a:xfrm>
            <a:off x="592931" y="1627324"/>
            <a:ext cx="1198310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b="1" dirty="0" sz="800" kern="0" lang="en-US" spc="8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HabanaEntregas.sln</a:t>
            </a:r>
            <a:endParaRPr dirty="0" sz="800" lang="en-US"/>
          </a:p>
        </p:txBody>
      </p:sp>
      <p:sp>
        <p:nvSpPr>
          <p:cNvPr id="1049042" name="Text 18"/>
          <p:cNvSpPr/>
          <p:nvPr/>
        </p:nvSpPr>
        <p:spPr>
          <a:xfrm>
            <a:off x="592931" y="1785156"/>
            <a:ext cx="359072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endParaRPr dirty="0" sz="800" lang="en-US"/>
          </a:p>
        </p:txBody>
      </p:sp>
      <p:sp>
        <p:nvSpPr>
          <p:cNvPr id="1049043" name="Text 19"/>
          <p:cNvSpPr/>
          <p:nvPr/>
        </p:nvSpPr>
        <p:spPr>
          <a:xfrm>
            <a:off x="820192" y="1785156"/>
            <a:ext cx="436340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Domain</a:t>
            </a:r>
            <a:endParaRPr dirty="0" sz="800" lang="en-US"/>
          </a:p>
        </p:txBody>
      </p:sp>
      <p:sp>
        <p:nvSpPr>
          <p:cNvPr id="1049044" name="Text 20"/>
          <p:cNvSpPr/>
          <p:nvPr/>
        </p:nvSpPr>
        <p:spPr>
          <a:xfrm>
            <a:off x="1217898" y="1785156"/>
            <a:ext cx="1840449" cy="12660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Entidades, Enums, Interfaces</a:t>
            </a:r>
            <a:endParaRPr dirty="0" sz="800" lang="en-US"/>
          </a:p>
        </p:txBody>
      </p:sp>
      <p:sp>
        <p:nvSpPr>
          <p:cNvPr id="1049045" name="Text 21"/>
          <p:cNvSpPr/>
          <p:nvPr/>
        </p:nvSpPr>
        <p:spPr>
          <a:xfrm>
            <a:off x="592931" y="1942988"/>
            <a:ext cx="359072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endParaRPr dirty="0" sz="800" lang="en-US"/>
          </a:p>
        </p:txBody>
      </p:sp>
      <p:sp>
        <p:nvSpPr>
          <p:cNvPr id="1049046" name="Text 22"/>
          <p:cNvSpPr/>
          <p:nvPr/>
        </p:nvSpPr>
        <p:spPr>
          <a:xfrm>
            <a:off x="820192" y="1942988"/>
            <a:ext cx="359072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  <a:endParaRPr dirty="0" sz="800" lang="en-US"/>
          </a:p>
        </p:txBody>
      </p:sp>
      <p:sp>
        <p:nvSpPr>
          <p:cNvPr id="1049047" name="Text 23"/>
          <p:cNvSpPr/>
          <p:nvPr/>
        </p:nvSpPr>
        <p:spPr>
          <a:xfrm>
            <a:off x="1104267" y="1942988"/>
            <a:ext cx="2821973" cy="12660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EF Core, DbContext, Repositories, Migrations</a:t>
            </a:r>
            <a:endParaRPr dirty="0" sz="800" lang="en-US"/>
          </a:p>
        </p:txBody>
      </p:sp>
      <p:sp>
        <p:nvSpPr>
          <p:cNvPr id="1049048" name="Text 24"/>
          <p:cNvSpPr/>
          <p:nvPr/>
        </p:nvSpPr>
        <p:spPr>
          <a:xfrm>
            <a:off x="592931" y="2100821"/>
            <a:ext cx="359072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endParaRPr dirty="0" sz="800" lang="en-US"/>
          </a:p>
        </p:txBody>
      </p:sp>
      <p:sp>
        <p:nvSpPr>
          <p:cNvPr id="1049049" name="Text 25"/>
          <p:cNvSpPr/>
          <p:nvPr/>
        </p:nvSpPr>
        <p:spPr>
          <a:xfrm>
            <a:off x="820192" y="2100821"/>
            <a:ext cx="581787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</a:t>
            </a:r>
            <a:endParaRPr dirty="0" sz="800" lang="en-US"/>
          </a:p>
        </p:txBody>
      </p:sp>
      <p:sp>
        <p:nvSpPr>
          <p:cNvPr id="1049050" name="Text 26"/>
          <p:cNvSpPr/>
          <p:nvPr/>
        </p:nvSpPr>
        <p:spPr>
          <a:xfrm>
            <a:off x="1331528" y="2100821"/>
            <a:ext cx="2392571" cy="12660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Lógica de negocio, DTOs, Validaciones</a:t>
            </a:r>
            <a:endParaRPr dirty="0" sz="800" lang="en-US"/>
          </a:p>
        </p:txBody>
      </p:sp>
      <p:sp>
        <p:nvSpPr>
          <p:cNvPr id="1049051" name="Text 27"/>
          <p:cNvSpPr/>
          <p:nvPr/>
        </p:nvSpPr>
        <p:spPr>
          <a:xfrm>
            <a:off x="592931" y="2258653"/>
            <a:ext cx="359072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</a:t>
            </a:r>
            <a:endParaRPr dirty="0" sz="800" lang="en-US"/>
          </a:p>
        </p:txBody>
      </p:sp>
      <p:sp>
        <p:nvSpPr>
          <p:cNvPr id="1049052" name="Text 28"/>
          <p:cNvSpPr/>
          <p:nvPr/>
        </p:nvSpPr>
        <p:spPr>
          <a:xfrm>
            <a:off x="820192" y="2258653"/>
            <a:ext cx="269304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</a:t>
            </a:r>
            <a:endParaRPr dirty="0" sz="800" lang="en-US"/>
          </a:p>
        </p:txBody>
      </p:sp>
      <p:sp>
        <p:nvSpPr>
          <p:cNvPr id="1049053" name="Text 29"/>
          <p:cNvSpPr/>
          <p:nvPr/>
        </p:nvSpPr>
        <p:spPr>
          <a:xfrm>
            <a:off x="1047452" y="2258653"/>
            <a:ext cx="2331211" cy="12660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ASP.NET Core MVC, Controllers, Views</a:t>
            </a:r>
            <a:endParaRPr dirty="0" sz="800" lang="en-US"/>
          </a:p>
        </p:txBody>
      </p:sp>
      <p:sp>
        <p:nvSpPr>
          <p:cNvPr id="1049054" name="Text 30"/>
          <p:cNvSpPr/>
          <p:nvPr/>
        </p:nvSpPr>
        <p:spPr>
          <a:xfrm>
            <a:off x="592931" y="2416485"/>
            <a:ext cx="359072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</a:t>
            </a:r>
            <a:endParaRPr dirty="0" sz="800" lang="en-US"/>
          </a:p>
        </p:txBody>
      </p:sp>
      <p:sp>
        <p:nvSpPr>
          <p:cNvPr id="1049055" name="Text 31"/>
          <p:cNvSpPr/>
          <p:nvPr/>
        </p:nvSpPr>
        <p:spPr>
          <a:xfrm>
            <a:off x="820192" y="2416485"/>
            <a:ext cx="448840" cy="12660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</a:t>
            </a:r>
            <a:endParaRPr dirty="0" sz="800" lang="en-US"/>
          </a:p>
        </p:txBody>
      </p:sp>
      <p:sp>
        <p:nvSpPr>
          <p:cNvPr id="1049056" name="Text 32"/>
          <p:cNvSpPr/>
          <p:nvPr/>
        </p:nvSpPr>
        <p:spPr>
          <a:xfrm>
            <a:off x="1161083" y="2416485"/>
            <a:ext cx="2024530" cy="12660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43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xUnit, Moq, Pruebas integración</a:t>
            </a:r>
            <a:endParaRPr dirty="0" sz="800" lang="en-US"/>
          </a:p>
        </p:txBody>
      </p:sp>
      <p:sp>
        <p:nvSpPr>
          <p:cNvPr id="1049057" name="Text 33"/>
          <p:cNvSpPr/>
          <p:nvPr/>
        </p:nvSpPr>
        <p:spPr>
          <a:xfrm>
            <a:off x="596503" y="2670758"/>
            <a:ext cx="798091" cy="432197"/>
          </a:xfrm>
          <a:prstGeom prst="roundRect">
            <a:avLst>
              <a:gd name="adj" fmla="val 13223"/>
            </a:avLst>
          </a:prstGeom>
          <a:solidFill>
            <a:srgbClr val="FF6B35">
              <a:alpha val="4000"/>
            </a:srgbClr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58" name="Text 34"/>
          <p:cNvSpPr/>
          <p:nvPr/>
        </p:nvSpPr>
        <p:spPr>
          <a:xfrm>
            <a:off x="917302" y="2731480"/>
            <a:ext cx="250388" cy="165449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519"/>
              </a:lnSpc>
              <a:buNone/>
            </a:pPr>
            <a:r>
              <a:rPr b="1" dirty="0" sz="1013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1013" lang="en-US"/>
          </a:p>
        </p:txBody>
      </p:sp>
      <p:sp>
        <p:nvSpPr>
          <p:cNvPr id="1049059" name="Text 35"/>
          <p:cNvSpPr/>
          <p:nvPr/>
        </p:nvSpPr>
        <p:spPr>
          <a:xfrm>
            <a:off x="839279" y="2924361"/>
            <a:ext cx="414554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DOMAIN</a:t>
            </a:r>
            <a:endParaRPr dirty="0" sz="619" lang="en-US"/>
          </a:p>
        </p:txBody>
      </p:sp>
      <p:sp>
        <p:nvSpPr>
          <p:cNvPr id="1049060" name="Text 36"/>
          <p:cNvSpPr/>
          <p:nvPr/>
        </p:nvSpPr>
        <p:spPr>
          <a:xfrm>
            <a:off x="1458888" y="2670758"/>
            <a:ext cx="798091" cy="432197"/>
          </a:xfrm>
          <a:prstGeom prst="roundRect">
            <a:avLst>
              <a:gd name="adj" fmla="val 13223"/>
            </a:avLst>
          </a:prstGeom>
          <a:solidFill>
            <a:srgbClr val="4A90E2">
              <a:alpha val="4000"/>
            </a:srgbClr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61" name="Text 37"/>
          <p:cNvSpPr/>
          <p:nvPr/>
        </p:nvSpPr>
        <p:spPr>
          <a:xfrm>
            <a:off x="1779687" y="2731480"/>
            <a:ext cx="250388" cy="165449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519"/>
              </a:lnSpc>
              <a:buNone/>
            </a:pPr>
            <a:r>
              <a:rPr b="1" dirty="0" sz="1013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1013" lang="en-US"/>
          </a:p>
        </p:txBody>
      </p:sp>
      <p:sp>
        <p:nvSpPr>
          <p:cNvPr id="1049062" name="Text 38"/>
          <p:cNvSpPr/>
          <p:nvPr/>
        </p:nvSpPr>
        <p:spPr>
          <a:xfrm>
            <a:off x="1750807" y="2924361"/>
            <a:ext cx="332882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</a:t>
            </a:r>
            <a:endParaRPr dirty="0" sz="800" lang="en-US"/>
          </a:p>
        </p:txBody>
      </p:sp>
      <p:sp>
        <p:nvSpPr>
          <p:cNvPr id="1049063" name="Text 39"/>
          <p:cNvSpPr/>
          <p:nvPr/>
        </p:nvSpPr>
        <p:spPr>
          <a:xfrm>
            <a:off x="2321272" y="2670758"/>
            <a:ext cx="798091" cy="432197"/>
          </a:xfrm>
          <a:prstGeom prst="roundRect">
            <a:avLst>
              <a:gd name="adj" fmla="val 13223"/>
            </a:avLst>
          </a:prstGeom>
          <a:solidFill>
            <a:srgbClr val="F39C12">
              <a:alpha val="4000"/>
            </a:srgbClr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64" name="Text 40"/>
          <p:cNvSpPr/>
          <p:nvPr/>
        </p:nvSpPr>
        <p:spPr>
          <a:xfrm>
            <a:off x="2642071" y="2731480"/>
            <a:ext cx="250388" cy="165449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519"/>
              </a:lnSpc>
              <a:buNone/>
            </a:pPr>
            <a:r>
              <a:rPr b="1" dirty="0" sz="1013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1013" lang="en-US"/>
          </a:p>
        </p:txBody>
      </p:sp>
      <p:sp>
        <p:nvSpPr>
          <p:cNvPr id="1049065" name="Text 41"/>
          <p:cNvSpPr/>
          <p:nvPr/>
        </p:nvSpPr>
        <p:spPr>
          <a:xfrm>
            <a:off x="2527883" y="2924361"/>
            <a:ext cx="510345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SERVICES</a:t>
            </a:r>
            <a:endParaRPr dirty="0" sz="619" lang="en-US"/>
          </a:p>
        </p:txBody>
      </p:sp>
      <p:sp>
        <p:nvSpPr>
          <p:cNvPr id="1049066" name="Text 42"/>
          <p:cNvSpPr/>
          <p:nvPr/>
        </p:nvSpPr>
        <p:spPr>
          <a:xfrm>
            <a:off x="3183657" y="2670758"/>
            <a:ext cx="798091" cy="432197"/>
          </a:xfrm>
          <a:prstGeom prst="roundRect">
            <a:avLst>
              <a:gd name="adj" fmla="val 13223"/>
            </a:avLst>
          </a:prstGeom>
          <a:solidFill>
            <a:srgbClr val="27AE60">
              <a:alpha val="4000"/>
            </a:srgbClr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67" name="Text 43"/>
          <p:cNvSpPr/>
          <p:nvPr/>
        </p:nvSpPr>
        <p:spPr>
          <a:xfrm>
            <a:off x="3504456" y="2731480"/>
            <a:ext cx="250388" cy="165449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519"/>
              </a:lnSpc>
              <a:buNone/>
            </a:pPr>
            <a:r>
              <a:rPr b="1" dirty="0" sz="1013" kern="0" lang="en-US" spc="8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1013" lang="en-US"/>
          </a:p>
        </p:txBody>
      </p:sp>
      <p:sp>
        <p:nvSpPr>
          <p:cNvPr id="1049068" name="Text 44"/>
          <p:cNvSpPr/>
          <p:nvPr/>
        </p:nvSpPr>
        <p:spPr>
          <a:xfrm>
            <a:off x="3497089" y="2924361"/>
            <a:ext cx="273963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WEB</a:t>
            </a:r>
            <a:endParaRPr dirty="0" sz="800" lang="en-US"/>
          </a:p>
        </p:txBody>
      </p:sp>
      <p:sp>
        <p:nvSpPr>
          <p:cNvPr id="1049069" name="Text 45"/>
          <p:cNvSpPr/>
          <p:nvPr/>
        </p:nvSpPr>
        <p:spPr>
          <a:xfrm>
            <a:off x="4046041" y="2670758"/>
            <a:ext cx="798091" cy="432197"/>
          </a:xfrm>
          <a:prstGeom prst="roundRect">
            <a:avLst>
              <a:gd name="adj" fmla="val 13223"/>
            </a:avLst>
          </a:prstGeom>
          <a:noFill/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70" name="Text 46"/>
          <p:cNvSpPr/>
          <p:nvPr/>
        </p:nvSpPr>
        <p:spPr>
          <a:xfrm>
            <a:off x="4366840" y="2731480"/>
            <a:ext cx="250388" cy="165449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519"/>
              </a:lnSpc>
              <a:buNone/>
            </a:pPr>
            <a:r>
              <a:rPr b="1" dirty="0" sz="1013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dirty="0" sz="1013" lang="en-US"/>
          </a:p>
        </p:txBody>
      </p:sp>
      <p:sp>
        <p:nvSpPr>
          <p:cNvPr id="1049071" name="Text 47"/>
          <p:cNvSpPr/>
          <p:nvPr/>
        </p:nvSpPr>
        <p:spPr>
          <a:xfrm>
            <a:off x="4314458" y="2924361"/>
            <a:ext cx="407213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TESTS</a:t>
            </a:r>
            <a:endParaRPr dirty="0" sz="800" lang="en-US"/>
          </a:p>
        </p:txBody>
      </p:sp>
      <p:sp>
        <p:nvSpPr>
          <p:cNvPr id="1049072" name="Text 48"/>
          <p:cNvSpPr/>
          <p:nvPr/>
        </p:nvSpPr>
        <p:spPr>
          <a:xfrm>
            <a:off x="592931" y="4519203"/>
            <a:ext cx="4254773" cy="12992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800" kern="0" lang="en-US" spc="8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Cada proyecto = un namespace raíz y un proyecto csproj independiente.</a:t>
            </a:r>
            <a:endParaRPr dirty="0" sz="800" lang="en-US"/>
          </a:p>
        </p:txBody>
      </p:sp>
      <p:sp>
        <p:nvSpPr>
          <p:cNvPr id="1049073" name="Text 49"/>
          <p:cNvSpPr/>
          <p:nvPr/>
        </p:nvSpPr>
        <p:spPr>
          <a:xfrm>
            <a:off x="5144170" y="1245133"/>
            <a:ext cx="3696109" cy="3521869"/>
          </a:xfrm>
          <a:prstGeom prst="roundRect">
            <a:avLst>
              <a:gd name="adj" fmla="val 2164"/>
            </a:avLst>
          </a:prstGeom>
          <a:solidFill>
            <a:srgbClr val="1A1A1A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74" name="Text 50"/>
          <p:cNvSpPr/>
          <p:nvPr/>
        </p:nvSpPr>
        <p:spPr>
          <a:xfrm>
            <a:off x="5276329" y="1363005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dirty="0" sz="1266" lang="en-US"/>
          </a:p>
        </p:txBody>
      </p:sp>
      <p:sp>
        <p:nvSpPr>
          <p:cNvPr id="1049075" name="Text 51"/>
          <p:cNvSpPr/>
          <p:nvPr/>
        </p:nvSpPr>
        <p:spPr>
          <a:xfrm>
            <a:off x="5462067" y="1368363"/>
            <a:ext cx="3246053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62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EQUIPO DE 5 · ROLES ROTATIVOS POR HITO</a:t>
            </a:r>
            <a:endParaRPr dirty="0" sz="800" lang="en-US"/>
          </a:p>
        </p:txBody>
      </p:sp>
      <p:graphicFrame>
        <p:nvGraphicFramePr>
          <p:cNvPr id="4194304" name="Table 0"/>
          <p:cNvGraphicFramePr>
            <a:graphicFrameLocks noGrp="1"/>
          </p:cNvGraphicFramePr>
          <p:nvPr/>
        </p:nvGraphicFramePr>
        <p:xfrm>
          <a:off x="5276329" y="1577318"/>
          <a:ext cx="26308050" cy="50791110"/>
        </p:xfrm>
        <a:graphic>
          <a:graphicData uri="http://schemas.openxmlformats.org/drawingml/2006/table">
            <a:tbl>
              <a:tblPr/>
              <a:tblGrid>
                <a:gridCol w="8769350"/>
                <a:gridCol w="8769350"/>
                <a:gridCol w="8769350"/>
              </a:tblGrid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086100" marR="4114800" marT="0" marB="4114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Rol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086100" marR="4114800" marT="0" marB="4114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Responsabilidad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3086100" marR="4114800" marT="0" marB="411480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1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Líder técnico / Arquitecto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Diseño, revisión código, integración.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2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Backend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Servicios, lógica de negocio, validaciones.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3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Datos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EF Core, repositorios, migraciones, consultas.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4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Frontend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Vistas MVC, usabilidad, navegación ≤3 niveles.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5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QA / DevOps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Pruebas, CI/CD, documentación, riesgos.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4629150" marR="4114800" marT="0" marB="4629150" anchor="ctr">
                    <a:lnL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49076" name="Text 52"/>
          <p:cNvSpPr/>
          <p:nvPr/>
        </p:nvSpPr>
        <p:spPr>
          <a:xfrm>
            <a:off x="5279901" y="3409690"/>
            <a:ext cx="3428219" cy="456916"/>
          </a:xfrm>
          <a:prstGeom prst="roundRect">
            <a:avLst>
              <a:gd name="adj" fmla="val 20000"/>
            </a:avLst>
          </a:prstGeom>
          <a:solidFill>
            <a:srgbClr val="FF6B35">
              <a:alpha val="6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077" name="Text 53"/>
          <p:cNvSpPr/>
          <p:nvPr/>
        </p:nvSpPr>
        <p:spPr>
          <a:xfrm>
            <a:off x="5369198" y="3491843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dirty="0" sz="1266" lang="en-US"/>
          </a:p>
        </p:txBody>
      </p:sp>
      <p:sp>
        <p:nvSpPr>
          <p:cNvPr id="1049078" name="Text 54"/>
          <p:cNvSpPr/>
          <p:nvPr/>
        </p:nvSpPr>
        <p:spPr>
          <a:xfrm>
            <a:off x="5554935" y="3484699"/>
            <a:ext cx="3060316" cy="13573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4"/>
              </a:lnSpc>
              <a:buNone/>
            </a:pPr>
            <a:r>
              <a:rPr dirty="0" sz="731" kern="0" lang="en-US" spc="8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ROTACIÓN:</a:t>
            </a: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cada estudiante rota de rol entre hitos → formación integral.</a:t>
            </a:r>
            <a:endParaRPr dirty="0" sz="731" lang="en-US"/>
          </a:p>
        </p:txBody>
      </p:sp>
      <p:sp>
        <p:nvSpPr>
          <p:cNvPr id="1049079" name="Text 55"/>
          <p:cNvSpPr/>
          <p:nvPr/>
        </p:nvSpPr>
        <p:spPr>
          <a:xfrm>
            <a:off x="5433492" y="4538402"/>
            <a:ext cx="1417798" cy="110728"/>
          </a:xfrm>
          <a:prstGeom prst="rect"/>
          <a:noFill/>
        </p:spPr>
        <p:txBody>
          <a:bodyPr anchor="t" bIns="0" lIns="0" rIns="0" rtlCol="0" tIns="85725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REF. GUÍA · SECCIONES 3.2 Y 4.2</a:t>
            </a:r>
            <a:endParaRPr dirty="0" sz="619" lang="en-US"/>
          </a:p>
        </p:txBody>
      </p:sp>
      <p:sp>
        <p:nvSpPr>
          <p:cNvPr id="1049080" name="Text 56"/>
          <p:cNvSpPr/>
          <p:nvPr/>
        </p:nvSpPr>
        <p:spPr>
          <a:xfrm>
            <a:off x="5276329" y="454018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49081" name="Text 57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68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085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86" name="Shape 1"/>
          <p:cNvSpPr/>
          <p:nvPr/>
        </p:nvSpPr>
        <p:spPr>
          <a:xfrm>
            <a:off x="457200" y="3801033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87" name="Shape 2"/>
          <p:cNvSpPr/>
          <p:nvPr/>
        </p:nvSpPr>
        <p:spPr>
          <a:xfrm>
            <a:off x="3139678" y="3797461"/>
            <a:ext cx="0" cy="55431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88" name="Shape 3"/>
          <p:cNvSpPr/>
          <p:nvPr/>
        </p:nvSpPr>
        <p:spPr>
          <a:xfrm>
            <a:off x="457200" y="4348200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89" name="Shape 4"/>
          <p:cNvSpPr/>
          <p:nvPr/>
        </p:nvSpPr>
        <p:spPr>
          <a:xfrm>
            <a:off x="467916" y="3797461"/>
            <a:ext cx="0" cy="554310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090" name="Shape 5"/>
          <p:cNvSpPr/>
          <p:nvPr/>
        </p:nvSpPr>
        <p:spPr>
          <a:xfrm>
            <a:off x="3228975" y="3801033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91" name="Shape 6"/>
          <p:cNvSpPr/>
          <p:nvPr/>
        </p:nvSpPr>
        <p:spPr>
          <a:xfrm>
            <a:off x="5911453" y="3797461"/>
            <a:ext cx="0" cy="55431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92" name="Shape 7"/>
          <p:cNvSpPr/>
          <p:nvPr/>
        </p:nvSpPr>
        <p:spPr>
          <a:xfrm>
            <a:off x="3228975" y="4348200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93" name="Shape 8"/>
          <p:cNvSpPr/>
          <p:nvPr/>
        </p:nvSpPr>
        <p:spPr>
          <a:xfrm>
            <a:off x="3239691" y="3797461"/>
            <a:ext cx="0" cy="554310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9094" name="Shape 9"/>
          <p:cNvSpPr/>
          <p:nvPr/>
        </p:nvSpPr>
        <p:spPr>
          <a:xfrm>
            <a:off x="6000750" y="3801033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95" name="Shape 10"/>
          <p:cNvSpPr/>
          <p:nvPr/>
        </p:nvSpPr>
        <p:spPr>
          <a:xfrm>
            <a:off x="8683228" y="3797461"/>
            <a:ext cx="0" cy="55431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96" name="Shape 11"/>
          <p:cNvSpPr/>
          <p:nvPr/>
        </p:nvSpPr>
        <p:spPr>
          <a:xfrm>
            <a:off x="6000750" y="4348200"/>
            <a:ext cx="26860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97" name="Shape 12"/>
          <p:cNvSpPr/>
          <p:nvPr/>
        </p:nvSpPr>
        <p:spPr>
          <a:xfrm>
            <a:off x="6011466" y="3797461"/>
            <a:ext cx="0" cy="554310"/>
          </a:xfrm>
          <a:prstGeom prst="line"/>
          <a:noFill/>
          <a:ln w="21431">
            <a:solidFill>
              <a:srgbClr val="27AE60"/>
            </a:solidFill>
            <a:prstDash val="solid"/>
          </a:ln>
        </p:spPr>
      </p:sp>
      <p:sp>
        <p:nvSpPr>
          <p:cNvPr id="1049098" name="Shape 13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099" name="Text 14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2</a:t>
            </a:r>
            <a:r>
              <a:rPr dirty="0" sz="800" kern="0" lang="en-US" spc="5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CONTEXTO DEL CASO</a:t>
            </a:r>
            <a:endParaRPr dirty="0" sz="800" lang="en-US"/>
          </a:p>
        </p:txBody>
      </p:sp>
      <p:sp>
        <p:nvSpPr>
          <p:cNvPr id="1049100" name="Text 15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 / 27</a:t>
            </a:r>
            <a:endParaRPr dirty="0" sz="619" lang="en-US"/>
          </a:p>
        </p:txBody>
      </p:sp>
      <p:sp>
        <p:nvSpPr>
          <p:cNvPr id="1049101" name="Text 16"/>
          <p:cNvSpPr/>
          <p:nvPr/>
        </p:nvSpPr>
        <p:spPr>
          <a:xfrm>
            <a:off x="457200" y="696516"/>
            <a:ext cx="5014834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Planificación por 4 hitos (H1–H4) y entregables</a:t>
            </a:r>
            <a:endParaRPr dirty="0" sz="1200" lang="en-US"/>
          </a:p>
        </p:txBody>
      </p:sp>
      <p:sp>
        <p:nvSpPr>
          <p:cNvPr id="1049102" name="Text 17"/>
          <p:cNvSpPr/>
          <p:nvPr/>
        </p:nvSpPr>
        <p:spPr>
          <a:xfrm>
            <a:off x="457200" y="987958"/>
            <a:ext cx="4558940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8 semanas · 3 entregables formales · 1 ciclo de release por hito</a:t>
            </a:r>
            <a:endParaRPr dirty="0" sz="800" lang="en-US"/>
          </a:p>
        </p:txBody>
      </p:sp>
      <p:sp>
        <p:nvSpPr>
          <p:cNvPr id="1049103" name="Text 18"/>
          <p:cNvSpPr/>
          <p:nvPr/>
        </p:nvSpPr>
        <p:spPr>
          <a:xfrm>
            <a:off x="7023422" y="941738"/>
            <a:ext cx="652202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04" name="Text 19"/>
          <p:cNvSpPr/>
          <p:nvPr/>
        </p:nvSpPr>
        <p:spPr>
          <a:xfrm>
            <a:off x="7244879" y="995102"/>
            <a:ext cx="459321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hitos</a:t>
            </a:r>
            <a:endParaRPr dirty="0" sz="800" lang="en-US"/>
          </a:p>
        </p:txBody>
      </p:sp>
      <p:sp>
        <p:nvSpPr>
          <p:cNvPr id="1049105" name="Text 20"/>
          <p:cNvSpPr/>
          <p:nvPr/>
        </p:nvSpPr>
        <p:spPr>
          <a:xfrm>
            <a:off x="7102004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dirty="0" sz="984" lang="en-US"/>
          </a:p>
        </p:txBody>
      </p:sp>
      <p:sp>
        <p:nvSpPr>
          <p:cNvPr id="1049106" name="Text 21"/>
          <p:cNvSpPr/>
          <p:nvPr/>
        </p:nvSpPr>
        <p:spPr>
          <a:xfrm>
            <a:off x="7732775" y="941738"/>
            <a:ext cx="954025" cy="196025"/>
          </a:xfrm>
          <a:prstGeom prst="roundRect">
            <a:avLst>
              <a:gd name="adj" fmla="val 4854215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07" name="Text 22"/>
          <p:cNvSpPr/>
          <p:nvPr/>
        </p:nvSpPr>
        <p:spPr>
          <a:xfrm>
            <a:off x="7954231" y="995102"/>
            <a:ext cx="732569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entregables</a:t>
            </a:r>
            <a:endParaRPr dirty="0" sz="619" lang="en-US"/>
          </a:p>
        </p:txBody>
      </p:sp>
      <p:sp>
        <p:nvSpPr>
          <p:cNvPr id="1049108" name="Text 23"/>
          <p:cNvSpPr/>
          <p:nvPr/>
        </p:nvSpPr>
        <p:spPr>
          <a:xfrm>
            <a:off x="7811356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dirty="0" sz="984" lang="en-US"/>
          </a:p>
        </p:txBody>
      </p:sp>
      <p:graphicFrame>
        <p:nvGraphicFramePr>
          <p:cNvPr id="4194305" name="Table 0"/>
          <p:cNvGraphicFramePr>
            <a:graphicFrameLocks noGrp="1"/>
          </p:cNvGraphicFramePr>
          <p:nvPr/>
        </p:nvGraphicFramePr>
        <p:xfrm>
          <a:off x="457200" y="1241561"/>
          <a:ext cx="8215313" cy="1824995"/>
        </p:xfrm>
        <a:graphic>
          <a:graphicData uri="http://schemas.openxmlformats.org/drawingml/2006/table">
            <a:tbl>
              <a:tblPr/>
              <a:tblGrid>
                <a:gridCol w="428625"/>
                <a:gridCol w="642938"/>
                <a:gridCol w="3714750"/>
                <a:gridCol w="2000250"/>
                <a:gridCol w="1428750"/>
              </a:tblGrid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Hito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Semanas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Objetivo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Entregable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Tags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1438" marR="100013" marT="100013" marB="71438" anchor="ctr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6B35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H1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 1–2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Configuración inicial, autenticación LDAP y CRUD básico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Solución compilable + login LDAP + CRUD Sucursal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develop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4A90E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H2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 3–4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CRUD completo (electrónicos y mobiliario) + reportes (a)(b)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ENTREGA E1: CRUD + reportes a/b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release/1.0 v1.0-E1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39C12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H3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 5–6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Reportes avanzados (c)(d) + exportación PDF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ENTREGA E2: Reportes c/d + PDF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release/1.1 v1.1-E2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27AE6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H4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sem 7–8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Integración intranet + ajustes finales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ENTREGA E3: Sistema final desplegado en IIS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release/2.0 v2.0-E3 main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100013" marR="100013" marT="100013" marB="100013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097169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113657" y="3397411"/>
            <a:ext cx="4916574" cy="285750"/>
          </a:xfrm>
          <a:prstGeom prst="rect"/>
        </p:spPr>
      </p:pic>
      <p:sp>
        <p:nvSpPr>
          <p:cNvPr id="1049109" name="Text 24"/>
          <p:cNvSpPr/>
          <p:nvPr/>
        </p:nvSpPr>
        <p:spPr>
          <a:xfrm>
            <a:off x="2117229" y="3400983"/>
            <a:ext cx="4909431" cy="278606"/>
          </a:xfrm>
          <a:prstGeom prst="roundRect">
            <a:avLst>
              <a:gd name="adj" fmla="val 3415388"/>
            </a:avLst>
          </a:prstGeom>
          <a:noFill/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10" name="Text 25"/>
          <p:cNvSpPr/>
          <p:nvPr/>
        </p:nvSpPr>
        <p:spPr>
          <a:xfrm>
            <a:off x="2249388" y="3475992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⇄</a:t>
            </a:r>
            <a:endParaRPr dirty="0" sz="1266" lang="en-US"/>
          </a:p>
        </p:txBody>
      </p:sp>
      <p:sp>
        <p:nvSpPr>
          <p:cNvPr id="1049111" name="Text 26"/>
          <p:cNvSpPr/>
          <p:nvPr/>
        </p:nvSpPr>
        <p:spPr>
          <a:xfrm>
            <a:off x="2449413" y="3475992"/>
            <a:ext cx="4445087" cy="12858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13"/>
              </a:lnSpc>
              <a:buNone/>
            </a:pPr>
            <a:r>
              <a:rPr dirty="0" sz="675" kern="0" lang="en-US" spc="27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CADA HITO = UN CICLO GitFlow COMPLETO: </a:t>
            </a:r>
            <a:r>
              <a:rPr dirty="0" sz="675" kern="0" lang="en-US" spc="27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</a:t>
            </a:r>
            <a:r>
              <a:rPr dirty="0" sz="675" kern="0" lang="en-US" spc="27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r>
              <a:rPr dirty="0" sz="675" kern="0" lang="en-US" spc="27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r>
              <a:rPr dirty="0" sz="675" kern="0" lang="en-US" spc="27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r>
              <a:rPr dirty="0" sz="675" kern="0" lang="en-US" spc="27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release/</a:t>
            </a:r>
            <a:r>
              <a:rPr dirty="0" sz="675" kern="0" lang="en-US" spc="27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r>
              <a:rPr dirty="0" sz="675" kern="0" lang="en-US" spc="27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r>
              <a:rPr dirty="0" sz="675" kern="0" lang="en-US" spc="27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r>
              <a:rPr dirty="0" sz="675" kern="0" lang="en-US" spc="27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675" lang="en-US"/>
          </a:p>
        </p:txBody>
      </p:sp>
      <p:sp>
        <p:nvSpPr>
          <p:cNvPr id="1049112" name="Text 27"/>
          <p:cNvSpPr/>
          <p:nvPr/>
        </p:nvSpPr>
        <p:spPr>
          <a:xfrm>
            <a:off x="457200" y="3797461"/>
            <a:ext cx="2686050" cy="554310"/>
          </a:xfrm>
          <a:prstGeom prst="roundRect">
            <a:avLst>
              <a:gd name="adj" fmla="val 1374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13" name="Text 28"/>
          <p:cNvSpPr/>
          <p:nvPr/>
        </p:nvSpPr>
        <p:spPr>
          <a:xfrm>
            <a:off x="578644" y="3877828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1125" lang="en-US"/>
          </a:p>
        </p:txBody>
      </p:sp>
      <p:sp>
        <p:nvSpPr>
          <p:cNvPr id="1049114" name="Text 29"/>
          <p:cNvSpPr/>
          <p:nvPr/>
        </p:nvSpPr>
        <p:spPr>
          <a:xfrm>
            <a:off x="750094" y="3876042"/>
            <a:ext cx="2286000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endParaRPr dirty="0" sz="800" lang="en-US"/>
          </a:p>
        </p:txBody>
      </p:sp>
      <p:sp>
        <p:nvSpPr>
          <p:cNvPr id="1049115" name="Text 30"/>
          <p:cNvSpPr/>
          <p:nvPr/>
        </p:nvSpPr>
        <p:spPr>
          <a:xfrm>
            <a:off x="578644" y="4022489"/>
            <a:ext cx="2457450" cy="25070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 entregable formal al cliente; release interna </a:t>
            </a:r>
            <a:r>
              <a:rPr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v0.1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para base estable.</a:t>
            </a:r>
            <a:endParaRPr dirty="0" sz="800" lang="en-US"/>
          </a:p>
        </p:txBody>
      </p:sp>
      <p:sp>
        <p:nvSpPr>
          <p:cNvPr id="1049116" name="Text 31"/>
          <p:cNvSpPr/>
          <p:nvPr/>
        </p:nvSpPr>
        <p:spPr>
          <a:xfrm>
            <a:off x="3228975" y="3797461"/>
            <a:ext cx="2686050" cy="554310"/>
          </a:xfrm>
          <a:prstGeom prst="roundRect">
            <a:avLst>
              <a:gd name="adj" fmla="val 1374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17" name="Text 32"/>
          <p:cNvSpPr/>
          <p:nvPr/>
        </p:nvSpPr>
        <p:spPr>
          <a:xfrm>
            <a:off x="3350419" y="3877828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1125" lang="en-US"/>
          </a:p>
        </p:txBody>
      </p:sp>
      <p:sp>
        <p:nvSpPr>
          <p:cNvPr id="1049118" name="Text 33"/>
          <p:cNvSpPr/>
          <p:nvPr/>
        </p:nvSpPr>
        <p:spPr>
          <a:xfrm>
            <a:off x="3521869" y="3876042"/>
            <a:ext cx="228600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H2 / H3</a:t>
            </a:r>
            <a:endParaRPr dirty="0" sz="800" lang="en-US"/>
          </a:p>
        </p:txBody>
      </p:sp>
      <p:sp>
        <p:nvSpPr>
          <p:cNvPr id="1049119" name="Text 34"/>
          <p:cNvSpPr/>
          <p:nvPr/>
        </p:nvSpPr>
        <p:spPr>
          <a:xfrm>
            <a:off x="3350419" y="4022489"/>
            <a:ext cx="2457450" cy="14810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7"/>
              </a:lnSpc>
              <a:buNone/>
            </a:pP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Entregas formales E1 y E2 con acta firmada por el cliente.</a:t>
            </a:r>
            <a:endParaRPr dirty="0" sz="731" lang="en-US"/>
          </a:p>
        </p:txBody>
      </p:sp>
      <p:sp>
        <p:nvSpPr>
          <p:cNvPr id="1049120" name="Text 35"/>
          <p:cNvSpPr/>
          <p:nvPr/>
        </p:nvSpPr>
        <p:spPr>
          <a:xfrm>
            <a:off x="6000750" y="3797461"/>
            <a:ext cx="2686050" cy="554310"/>
          </a:xfrm>
          <a:prstGeom prst="roundRect">
            <a:avLst>
              <a:gd name="adj" fmla="val 1374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21" name="Text 36"/>
          <p:cNvSpPr/>
          <p:nvPr/>
        </p:nvSpPr>
        <p:spPr>
          <a:xfrm>
            <a:off x="6122194" y="3877828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1125" lang="en-US"/>
          </a:p>
        </p:txBody>
      </p:sp>
      <p:sp>
        <p:nvSpPr>
          <p:cNvPr id="1049122" name="Text 37"/>
          <p:cNvSpPr/>
          <p:nvPr/>
        </p:nvSpPr>
        <p:spPr>
          <a:xfrm>
            <a:off x="6293644" y="3876042"/>
            <a:ext cx="2286000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H4</a:t>
            </a:r>
            <a:endParaRPr dirty="0" sz="800" lang="en-US"/>
          </a:p>
        </p:txBody>
      </p:sp>
      <p:sp>
        <p:nvSpPr>
          <p:cNvPr id="1049123" name="Text 38"/>
          <p:cNvSpPr/>
          <p:nvPr/>
        </p:nvSpPr>
        <p:spPr>
          <a:xfrm>
            <a:off x="6122194" y="4022489"/>
            <a:ext cx="2457450" cy="25070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Entrega final E3 sobre main, UAT y despliegue en IIS producción.</a:t>
            </a:r>
            <a:endParaRPr dirty="0" sz="800" lang="en-US"/>
          </a:p>
        </p:txBody>
      </p:sp>
      <p:sp>
        <p:nvSpPr>
          <p:cNvPr id="1049124" name="Text 39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71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128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29" name="Shape 1"/>
          <p:cNvSpPr/>
          <p:nvPr/>
        </p:nvSpPr>
        <p:spPr>
          <a:xfrm>
            <a:off x="457200" y="1245133"/>
            <a:ext cx="3291818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30" name="Shape 2"/>
          <p:cNvSpPr/>
          <p:nvPr/>
        </p:nvSpPr>
        <p:spPr>
          <a:xfrm>
            <a:off x="3745446" y="1241561"/>
            <a:ext cx="0" cy="35290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31" name="Shape 3"/>
          <p:cNvSpPr/>
          <p:nvPr/>
        </p:nvSpPr>
        <p:spPr>
          <a:xfrm>
            <a:off x="457200" y="4767002"/>
            <a:ext cx="3291818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32" name="Shape 4"/>
          <p:cNvSpPr/>
          <p:nvPr/>
        </p:nvSpPr>
        <p:spPr>
          <a:xfrm>
            <a:off x="467916" y="1241561"/>
            <a:ext cx="0" cy="3529013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9133" name="Shape 5"/>
          <p:cNvSpPr/>
          <p:nvPr/>
        </p:nvSpPr>
        <p:spPr>
          <a:xfrm>
            <a:off x="607219" y="4324090"/>
            <a:ext cx="3006068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pic>
        <p:nvPicPr>
          <p:cNvPr id="2097172" name="Image 2" descr="/tmp/h2p-svg-1791190572263-gwhi6v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027624" y="1936179"/>
            <a:ext cx="4694783" cy="2079054"/>
          </a:xfrm>
          <a:prstGeom prst="rect"/>
        </p:spPr>
      </p:pic>
      <p:sp>
        <p:nvSpPr>
          <p:cNvPr id="1049134" name="Shape 6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35" name="Text 7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3</a:t>
            </a:r>
            <a:r>
              <a:rPr dirty="0" sz="800" kern="0" lang="en-US" spc="5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FUNDAMENTOS GITFLOW Y CI/CD</a:t>
            </a:r>
            <a:endParaRPr dirty="0" sz="800" lang="en-US"/>
          </a:p>
        </p:txBody>
      </p:sp>
      <p:sp>
        <p:nvSpPr>
          <p:cNvPr id="1049136" name="Text 8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09 / 27</a:t>
            </a:r>
            <a:endParaRPr dirty="0" sz="619" lang="en-US"/>
          </a:p>
        </p:txBody>
      </p:sp>
      <p:sp>
        <p:nvSpPr>
          <p:cNvPr id="1049137" name="Text 9"/>
          <p:cNvSpPr/>
          <p:nvPr/>
        </p:nvSpPr>
        <p:spPr>
          <a:xfrm>
            <a:off x="457200" y="696516"/>
            <a:ext cx="2733389" cy="264011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¿Qué es GitFlow?</a:t>
            </a:r>
            <a:endParaRPr dirty="0" sz="1200" lang="en-US"/>
          </a:p>
        </p:txBody>
      </p:sp>
      <p:sp>
        <p:nvSpPr>
          <p:cNvPr id="1049138" name="Text 10"/>
          <p:cNvSpPr/>
          <p:nvPr/>
        </p:nvSpPr>
        <p:spPr>
          <a:xfrm>
            <a:off x="457200" y="987958"/>
            <a:ext cx="4332914" cy="11901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12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Modelo de branching para proyectos con releases planificadas</a:t>
            </a:r>
            <a:endParaRPr dirty="0" sz="1200" lang="en-US"/>
          </a:p>
        </p:txBody>
      </p:sp>
      <p:sp>
        <p:nvSpPr>
          <p:cNvPr id="1049139" name="Text 11"/>
          <p:cNvSpPr/>
          <p:nvPr/>
        </p:nvSpPr>
        <p:spPr>
          <a:xfrm>
            <a:off x="6822281" y="941738"/>
            <a:ext cx="853343" cy="196025"/>
          </a:xfrm>
          <a:prstGeom prst="roundRect">
            <a:avLst>
              <a:gd name="adj" fmla="val 4854215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40" name="Text 12"/>
          <p:cNvSpPr/>
          <p:nvPr/>
        </p:nvSpPr>
        <p:spPr>
          <a:xfrm>
            <a:off x="7043738" y="995102"/>
            <a:ext cx="660462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 + 3 ramas</a:t>
            </a:r>
            <a:endParaRPr dirty="0" sz="800" lang="en-US"/>
          </a:p>
        </p:txBody>
      </p:sp>
      <p:sp>
        <p:nvSpPr>
          <p:cNvPr id="1049141" name="Text 13"/>
          <p:cNvSpPr/>
          <p:nvPr/>
        </p:nvSpPr>
        <p:spPr>
          <a:xfrm>
            <a:off x="6900863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dirty="0" sz="984" lang="en-US"/>
          </a:p>
        </p:txBody>
      </p:sp>
      <p:sp>
        <p:nvSpPr>
          <p:cNvPr id="1049142" name="Text 14"/>
          <p:cNvSpPr/>
          <p:nvPr/>
        </p:nvSpPr>
        <p:spPr>
          <a:xfrm>
            <a:off x="7732775" y="941738"/>
            <a:ext cx="954025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43" name="Text 15"/>
          <p:cNvSpPr/>
          <p:nvPr/>
        </p:nvSpPr>
        <p:spPr>
          <a:xfrm>
            <a:off x="7954231" y="995102"/>
            <a:ext cx="732569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Driessen 2010</a:t>
            </a:r>
            <a:endParaRPr dirty="0" sz="619" lang="en-US"/>
          </a:p>
        </p:txBody>
      </p:sp>
      <p:sp>
        <p:nvSpPr>
          <p:cNvPr id="1049144" name="Text 16"/>
          <p:cNvSpPr/>
          <p:nvPr/>
        </p:nvSpPr>
        <p:spPr>
          <a:xfrm>
            <a:off x="7811356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9145" name="Text 17"/>
          <p:cNvSpPr/>
          <p:nvPr/>
        </p:nvSpPr>
        <p:spPr>
          <a:xfrm>
            <a:off x="457200" y="1241561"/>
            <a:ext cx="3291818" cy="3529013"/>
          </a:xfrm>
          <a:prstGeom prst="roundRect">
            <a:avLst>
              <a:gd name="adj" fmla="val 2315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46" name="Text 18"/>
          <p:cNvSpPr/>
          <p:nvPr/>
        </p:nvSpPr>
        <p:spPr>
          <a:xfrm>
            <a:off x="607219" y="1363005"/>
            <a:ext cx="142875" cy="14287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1406" lang="en-US"/>
          </a:p>
        </p:txBody>
      </p:sp>
      <p:sp>
        <p:nvSpPr>
          <p:cNvPr id="1049147" name="Text 19"/>
          <p:cNvSpPr/>
          <p:nvPr/>
        </p:nvSpPr>
        <p:spPr>
          <a:xfrm>
            <a:off x="807244" y="1375507"/>
            <a:ext cx="2806043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62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DEFINICIÓN</a:t>
            </a:r>
            <a:endParaRPr dirty="0" sz="800" lang="en-US"/>
          </a:p>
        </p:txBody>
      </p:sp>
      <p:sp>
        <p:nvSpPr>
          <p:cNvPr id="1049148" name="Text 20"/>
          <p:cNvSpPr/>
          <p:nvPr/>
        </p:nvSpPr>
        <p:spPr>
          <a:xfrm>
            <a:off x="607219" y="1591605"/>
            <a:ext cx="3006068" cy="633811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113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GitFlow es un modelo de organización de ramas Git propuesto por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Vincent Driessen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 </a:t>
            </a:r>
            <a:r>
              <a:rPr dirty="0" sz="800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2010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Define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dos ramas principales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(main y develop) y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tres tipos de ramas de apoyo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(feature/, release/, hotfix/) con reglas estrictas de naming y merge.</a:t>
            </a:r>
            <a:endParaRPr dirty="0" sz="800" lang="en-US"/>
          </a:p>
        </p:txBody>
      </p:sp>
      <p:sp>
        <p:nvSpPr>
          <p:cNvPr id="1049149" name="Text 21"/>
          <p:cNvSpPr/>
          <p:nvPr/>
        </p:nvSpPr>
        <p:spPr>
          <a:xfrm>
            <a:off x="610791" y="2256420"/>
            <a:ext cx="1801899" cy="167878"/>
          </a:xfrm>
          <a:prstGeom prst="roundRect">
            <a:avLst>
              <a:gd name="adj" fmla="val 5668089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50" name="Text 22"/>
          <p:cNvSpPr/>
          <p:nvPr/>
        </p:nvSpPr>
        <p:spPr>
          <a:xfrm>
            <a:off x="828675" y="2295711"/>
            <a:ext cx="2784611" cy="119703"/>
          </a:xfrm>
          <a:prstGeom prst="rect"/>
          <a:noFill/>
        </p:spPr>
        <p:txBody>
          <a:bodyPr anchor="t" bIns="21431" lIns="71438" rIns="71438" rtlCol="0" tIns="21431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Origen: Vincent Driessen, 2010</a:t>
            </a:r>
            <a:endParaRPr dirty="0" sz="800" lang="en-US"/>
          </a:p>
        </p:txBody>
      </p:sp>
      <p:sp>
        <p:nvSpPr>
          <p:cNvPr id="1049151" name="Text 23"/>
          <p:cNvSpPr/>
          <p:nvPr/>
        </p:nvSpPr>
        <p:spPr>
          <a:xfrm>
            <a:off x="685800" y="2290353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dirty="0" sz="984" lang="en-US"/>
          </a:p>
        </p:txBody>
      </p:sp>
      <p:sp>
        <p:nvSpPr>
          <p:cNvPr id="1049152" name="Text 24"/>
          <p:cNvSpPr/>
          <p:nvPr/>
        </p:nvSpPr>
        <p:spPr>
          <a:xfrm>
            <a:off x="610791" y="2488592"/>
            <a:ext cx="1902582" cy="167878"/>
          </a:xfrm>
          <a:prstGeom prst="roundRect">
            <a:avLst>
              <a:gd name="adj" fmla="val 5668089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53" name="Text 25"/>
          <p:cNvSpPr/>
          <p:nvPr/>
        </p:nvSpPr>
        <p:spPr>
          <a:xfrm>
            <a:off x="828675" y="2527883"/>
            <a:ext cx="2784611" cy="119703"/>
          </a:xfrm>
          <a:prstGeom prst="rect"/>
          <a:noFill/>
        </p:spPr>
        <p:txBody>
          <a:bodyPr anchor="t" bIns="21431" lIns="71438" rIns="71438" rtlCol="0" tIns="21431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successful Git branching model</a:t>
            </a:r>
            <a:endParaRPr dirty="0" sz="800" lang="en-US"/>
          </a:p>
        </p:txBody>
      </p:sp>
      <p:sp>
        <p:nvSpPr>
          <p:cNvPr id="1049154" name="Text 26"/>
          <p:cNvSpPr/>
          <p:nvPr/>
        </p:nvSpPr>
        <p:spPr>
          <a:xfrm>
            <a:off x="685800" y="2522525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49155" name="Text 27"/>
          <p:cNvSpPr/>
          <p:nvPr/>
        </p:nvSpPr>
        <p:spPr>
          <a:xfrm>
            <a:off x="607219" y="2774342"/>
            <a:ext cx="3006068" cy="147590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COMPARATIVA</a:t>
            </a:r>
            <a:endParaRPr dirty="0" sz="800" lang="en-US"/>
          </a:p>
        </p:txBody>
      </p:sp>
      <p:sp>
        <p:nvSpPr>
          <p:cNvPr id="1049156" name="Text 28"/>
          <p:cNvSpPr/>
          <p:nvPr/>
        </p:nvSpPr>
        <p:spPr>
          <a:xfrm>
            <a:off x="610791" y="2952936"/>
            <a:ext cx="2998924" cy="393241"/>
          </a:xfrm>
          <a:prstGeom prst="roundRect">
            <a:avLst>
              <a:gd name="adj" fmla="val 14533"/>
            </a:avLst>
          </a:prstGeom>
          <a:solidFill>
            <a:srgbClr val="4A90E2">
              <a:alpha val="6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57" name="Text 29"/>
          <p:cNvSpPr/>
          <p:nvPr/>
        </p:nvSpPr>
        <p:spPr>
          <a:xfrm>
            <a:off x="685800" y="3015444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1125" lang="en-US"/>
          </a:p>
        </p:txBody>
      </p:sp>
      <p:sp>
        <p:nvSpPr>
          <p:cNvPr id="1049158" name="Text 30"/>
          <p:cNvSpPr/>
          <p:nvPr/>
        </p:nvSpPr>
        <p:spPr>
          <a:xfrm>
            <a:off x="857250" y="3013658"/>
            <a:ext cx="2677455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GitFlow</a:t>
            </a:r>
            <a:endParaRPr dirty="0" sz="800" lang="en-US"/>
          </a:p>
        </p:txBody>
      </p:sp>
      <p:sp>
        <p:nvSpPr>
          <p:cNvPr id="1049159" name="Text 31"/>
          <p:cNvSpPr/>
          <p:nvPr/>
        </p:nvSpPr>
        <p:spPr>
          <a:xfrm>
            <a:off x="685800" y="3160105"/>
            <a:ext cx="2958633" cy="12535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7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Releases planificadas — caso </a:t>
            </a:r>
            <a:r>
              <a:rPr dirty="0" sz="800" kern="0" lang="en-US" spc="8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HabanaEntregas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dirty="0" sz="800" lang="en-US"/>
          </a:p>
        </p:txBody>
      </p:sp>
      <p:sp>
        <p:nvSpPr>
          <p:cNvPr id="1049160" name="Text 32"/>
          <p:cNvSpPr/>
          <p:nvPr/>
        </p:nvSpPr>
        <p:spPr>
          <a:xfrm>
            <a:off x="610791" y="3410471"/>
            <a:ext cx="2998924" cy="393241"/>
          </a:xfrm>
          <a:prstGeom prst="roundRect">
            <a:avLst>
              <a:gd name="adj" fmla="val 14533"/>
            </a:avLst>
          </a:prstGeom>
          <a:noFill/>
          <a:ln w="7144">
            <a:solidFill>
              <a:srgbClr val="3A3A3A"/>
            </a:solidFill>
            <a:prstDash val="dash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61" name="Text 33"/>
          <p:cNvSpPr/>
          <p:nvPr/>
        </p:nvSpPr>
        <p:spPr>
          <a:xfrm>
            <a:off x="685800" y="3472979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dirty="0" sz="1125" lang="en-US"/>
          </a:p>
        </p:txBody>
      </p:sp>
      <p:sp>
        <p:nvSpPr>
          <p:cNvPr id="1049162" name="Text 34"/>
          <p:cNvSpPr/>
          <p:nvPr/>
        </p:nvSpPr>
        <p:spPr>
          <a:xfrm>
            <a:off x="857250" y="3471193"/>
            <a:ext cx="2677455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Trunk-based</a:t>
            </a:r>
            <a:endParaRPr dirty="0" sz="800" lang="en-US"/>
          </a:p>
        </p:txBody>
      </p:sp>
      <p:sp>
        <p:nvSpPr>
          <p:cNvPr id="1049163" name="Text 35"/>
          <p:cNvSpPr/>
          <p:nvPr/>
        </p:nvSpPr>
        <p:spPr>
          <a:xfrm>
            <a:off x="685800" y="3617640"/>
            <a:ext cx="2958633" cy="12535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Integración continua extrema — productos SaaS.</a:t>
            </a:r>
            <a:endParaRPr dirty="0" sz="800" lang="en-US"/>
          </a:p>
        </p:txBody>
      </p:sp>
      <p:sp>
        <p:nvSpPr>
          <p:cNvPr id="1049164" name="Text 36"/>
          <p:cNvSpPr/>
          <p:nvPr/>
        </p:nvSpPr>
        <p:spPr>
          <a:xfrm>
            <a:off x="764381" y="4420530"/>
            <a:ext cx="2559807" cy="22860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6B728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DRIESSEN ACTUALIZÓ SU POST EN 2020 — GITFLOW NO ES PARA TODOS LOS PROYECTOS.</a:t>
            </a:r>
            <a:endParaRPr dirty="0" sz="800" lang="en-US"/>
          </a:p>
        </p:txBody>
      </p:sp>
      <p:sp>
        <p:nvSpPr>
          <p:cNvPr id="1049165" name="Text 37"/>
          <p:cNvSpPr/>
          <p:nvPr/>
        </p:nvSpPr>
        <p:spPr>
          <a:xfrm>
            <a:off x="607219" y="4481252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◆</a:t>
            </a:r>
            <a:endParaRPr dirty="0" sz="984" lang="en-US"/>
          </a:p>
        </p:txBody>
      </p:sp>
      <p:sp>
        <p:nvSpPr>
          <p:cNvPr id="1049166" name="Text 38"/>
          <p:cNvSpPr/>
          <p:nvPr/>
        </p:nvSpPr>
        <p:spPr>
          <a:xfrm>
            <a:off x="3909752" y="1245133"/>
            <a:ext cx="4930527" cy="3521869"/>
          </a:xfrm>
          <a:prstGeom prst="roundRect">
            <a:avLst>
              <a:gd name="adj" fmla="val 2164"/>
            </a:avLst>
          </a:prstGeom>
          <a:solidFill>
            <a:srgbClr val="1A1A1A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67" name="Text 39"/>
          <p:cNvSpPr/>
          <p:nvPr/>
        </p:nvSpPr>
        <p:spPr>
          <a:xfrm>
            <a:off x="4027624" y="1348718"/>
            <a:ext cx="142875" cy="14287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406" lang="en-US"/>
          </a:p>
        </p:txBody>
      </p:sp>
      <p:sp>
        <p:nvSpPr>
          <p:cNvPr id="1049168" name="Text 40"/>
          <p:cNvSpPr/>
          <p:nvPr/>
        </p:nvSpPr>
        <p:spPr>
          <a:xfrm>
            <a:off x="4227649" y="1361219"/>
            <a:ext cx="4494758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62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DIAGRAMA DE RAMAS</a:t>
            </a:r>
            <a:endParaRPr dirty="0" sz="800" lang="en-US"/>
          </a:p>
        </p:txBody>
      </p:sp>
      <p:sp>
        <p:nvSpPr>
          <p:cNvPr id="1049169" name="Text 41"/>
          <p:cNvSpPr/>
          <p:nvPr/>
        </p:nvSpPr>
        <p:spPr>
          <a:xfrm>
            <a:off x="4027624" y="4447605"/>
            <a:ext cx="1130833" cy="228029"/>
          </a:xfrm>
          <a:prstGeom prst="roundRect">
            <a:avLst>
              <a:gd name="adj" fmla="val 25063"/>
            </a:avLst>
          </a:prstGeom>
          <a:solidFill>
            <a:srgbClr val="27AE60">
              <a:alpha val="6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70" name="Text 42"/>
          <p:cNvSpPr/>
          <p:nvPr/>
        </p:nvSpPr>
        <p:spPr>
          <a:xfrm>
            <a:off x="4091918" y="4525900"/>
            <a:ext cx="71438" cy="71438"/>
          </a:xfrm>
          <a:prstGeom prst="ellipse"/>
          <a:solidFill>
            <a:srgbClr val="27AE60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71" name="Text 43"/>
          <p:cNvSpPr/>
          <p:nvPr/>
        </p:nvSpPr>
        <p:spPr>
          <a:xfrm>
            <a:off x="4206218" y="4502683"/>
            <a:ext cx="887946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</a:t>
            </a:r>
            <a:endParaRPr dirty="0" sz="800" lang="en-US"/>
          </a:p>
        </p:txBody>
      </p:sp>
      <p:sp>
        <p:nvSpPr>
          <p:cNvPr id="1049172" name="Text 44"/>
          <p:cNvSpPr/>
          <p:nvPr/>
        </p:nvSpPr>
        <p:spPr>
          <a:xfrm>
            <a:off x="5215607" y="4447605"/>
            <a:ext cx="1130833" cy="228029"/>
          </a:xfrm>
          <a:prstGeom prst="roundRect">
            <a:avLst>
              <a:gd name="adj" fmla="val 25063"/>
            </a:avLst>
          </a:prstGeom>
          <a:solidFill>
            <a:srgbClr val="4A90E2">
              <a:alpha val="6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73" name="Text 45"/>
          <p:cNvSpPr/>
          <p:nvPr/>
        </p:nvSpPr>
        <p:spPr>
          <a:xfrm>
            <a:off x="5279901" y="4525900"/>
            <a:ext cx="71438" cy="71438"/>
          </a:xfrm>
          <a:prstGeom prst="ellipse"/>
          <a:solidFill>
            <a:srgbClr val="4A90E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74" name="Text 46"/>
          <p:cNvSpPr/>
          <p:nvPr/>
        </p:nvSpPr>
        <p:spPr>
          <a:xfrm>
            <a:off x="5394201" y="4502683"/>
            <a:ext cx="887946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</a:t>
            </a:r>
            <a:endParaRPr dirty="0" sz="800" lang="en-US"/>
          </a:p>
        </p:txBody>
      </p:sp>
      <p:sp>
        <p:nvSpPr>
          <p:cNvPr id="1049175" name="Text 47"/>
          <p:cNvSpPr/>
          <p:nvPr/>
        </p:nvSpPr>
        <p:spPr>
          <a:xfrm>
            <a:off x="6403591" y="4447605"/>
            <a:ext cx="1130833" cy="228029"/>
          </a:xfrm>
          <a:prstGeom prst="roundRect">
            <a:avLst>
              <a:gd name="adj" fmla="val 25063"/>
            </a:avLst>
          </a:prstGeom>
          <a:solidFill>
            <a:srgbClr val="FF6B35">
              <a:alpha val="6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76" name="Text 48"/>
          <p:cNvSpPr/>
          <p:nvPr/>
        </p:nvSpPr>
        <p:spPr>
          <a:xfrm>
            <a:off x="6467884" y="4525900"/>
            <a:ext cx="71438" cy="71438"/>
          </a:xfrm>
          <a:prstGeom prst="ellipse"/>
          <a:solidFill>
            <a:srgbClr val="FF6B35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77" name="Text 49"/>
          <p:cNvSpPr/>
          <p:nvPr/>
        </p:nvSpPr>
        <p:spPr>
          <a:xfrm>
            <a:off x="6582184" y="4502683"/>
            <a:ext cx="887946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</a:t>
            </a:r>
            <a:endParaRPr dirty="0" sz="800" lang="en-US"/>
          </a:p>
        </p:txBody>
      </p:sp>
      <p:sp>
        <p:nvSpPr>
          <p:cNvPr id="1049178" name="Text 50"/>
          <p:cNvSpPr/>
          <p:nvPr/>
        </p:nvSpPr>
        <p:spPr>
          <a:xfrm>
            <a:off x="7591574" y="4447605"/>
            <a:ext cx="1130833" cy="228029"/>
          </a:xfrm>
          <a:prstGeom prst="roundRect">
            <a:avLst>
              <a:gd name="adj" fmla="val 25063"/>
            </a:avLst>
          </a:prstGeom>
          <a:solidFill>
            <a:srgbClr val="F39C12">
              <a:alpha val="6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79" name="Text 51"/>
          <p:cNvSpPr/>
          <p:nvPr/>
        </p:nvSpPr>
        <p:spPr>
          <a:xfrm>
            <a:off x="7655868" y="4525900"/>
            <a:ext cx="71438" cy="71438"/>
          </a:xfrm>
          <a:prstGeom prst="ellipse"/>
          <a:solidFill>
            <a:srgbClr val="F39C12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180" name="Text 52"/>
          <p:cNvSpPr/>
          <p:nvPr/>
        </p:nvSpPr>
        <p:spPr>
          <a:xfrm>
            <a:off x="7770168" y="4502683"/>
            <a:ext cx="887946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HOTFIX</a:t>
            </a:r>
            <a:endParaRPr dirty="0" sz="800" lang="en-US"/>
          </a:p>
        </p:txBody>
      </p:sp>
      <p:sp>
        <p:nvSpPr>
          <p:cNvPr id="1049181" name="Text 53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7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185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86" name="Shape 1"/>
          <p:cNvSpPr/>
          <p:nvPr/>
        </p:nvSpPr>
        <p:spPr>
          <a:xfrm>
            <a:off x="457200" y="1245133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87" name="Shape 2"/>
          <p:cNvSpPr/>
          <p:nvPr/>
        </p:nvSpPr>
        <p:spPr>
          <a:xfrm>
            <a:off x="2446734" y="1241561"/>
            <a:ext cx="0" cy="1635919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88" name="Shape 3"/>
          <p:cNvSpPr/>
          <p:nvPr/>
        </p:nvSpPr>
        <p:spPr>
          <a:xfrm>
            <a:off x="457200" y="2873908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89" name="Shape 4"/>
          <p:cNvSpPr/>
          <p:nvPr/>
        </p:nvSpPr>
        <p:spPr>
          <a:xfrm>
            <a:off x="467916" y="1241561"/>
            <a:ext cx="0" cy="1635919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190" name="Shape 5"/>
          <p:cNvSpPr/>
          <p:nvPr/>
        </p:nvSpPr>
        <p:spPr>
          <a:xfrm>
            <a:off x="592931" y="2614947"/>
            <a:ext cx="1735931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191" name="Shape 6"/>
          <p:cNvSpPr/>
          <p:nvPr/>
        </p:nvSpPr>
        <p:spPr>
          <a:xfrm>
            <a:off x="2536031" y="1245133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92" name="Shape 7"/>
          <p:cNvSpPr/>
          <p:nvPr/>
        </p:nvSpPr>
        <p:spPr>
          <a:xfrm>
            <a:off x="4525566" y="1241561"/>
            <a:ext cx="0" cy="1635919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93" name="Shape 8"/>
          <p:cNvSpPr/>
          <p:nvPr/>
        </p:nvSpPr>
        <p:spPr>
          <a:xfrm>
            <a:off x="2536031" y="2873908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94" name="Shape 9"/>
          <p:cNvSpPr/>
          <p:nvPr/>
        </p:nvSpPr>
        <p:spPr>
          <a:xfrm>
            <a:off x="2546747" y="1241561"/>
            <a:ext cx="0" cy="1635919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9195" name="Shape 10"/>
          <p:cNvSpPr/>
          <p:nvPr/>
        </p:nvSpPr>
        <p:spPr>
          <a:xfrm>
            <a:off x="2671763" y="2614947"/>
            <a:ext cx="1735931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196" name="Shape 11"/>
          <p:cNvSpPr/>
          <p:nvPr/>
        </p:nvSpPr>
        <p:spPr>
          <a:xfrm>
            <a:off x="4614863" y="1245133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97" name="Shape 12"/>
          <p:cNvSpPr/>
          <p:nvPr/>
        </p:nvSpPr>
        <p:spPr>
          <a:xfrm>
            <a:off x="6604397" y="1241561"/>
            <a:ext cx="0" cy="1635919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98" name="Shape 13"/>
          <p:cNvSpPr/>
          <p:nvPr/>
        </p:nvSpPr>
        <p:spPr>
          <a:xfrm>
            <a:off x="4614863" y="2873908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199" name="Shape 14"/>
          <p:cNvSpPr/>
          <p:nvPr/>
        </p:nvSpPr>
        <p:spPr>
          <a:xfrm>
            <a:off x="4625578" y="1241561"/>
            <a:ext cx="0" cy="1635919"/>
          </a:xfrm>
          <a:prstGeom prst="line"/>
          <a:noFill/>
          <a:ln w="21431">
            <a:solidFill>
              <a:srgbClr val="27AE60"/>
            </a:solidFill>
            <a:prstDash val="solid"/>
          </a:ln>
        </p:spPr>
      </p:sp>
      <p:sp>
        <p:nvSpPr>
          <p:cNvPr id="1049200" name="Shape 15"/>
          <p:cNvSpPr/>
          <p:nvPr/>
        </p:nvSpPr>
        <p:spPr>
          <a:xfrm>
            <a:off x="4750594" y="2614947"/>
            <a:ext cx="1735931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201" name="Shape 16"/>
          <p:cNvSpPr/>
          <p:nvPr/>
        </p:nvSpPr>
        <p:spPr>
          <a:xfrm>
            <a:off x="6693694" y="1245133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02" name="Shape 17"/>
          <p:cNvSpPr/>
          <p:nvPr/>
        </p:nvSpPr>
        <p:spPr>
          <a:xfrm>
            <a:off x="8683228" y="1241561"/>
            <a:ext cx="0" cy="1635919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03" name="Shape 18"/>
          <p:cNvSpPr/>
          <p:nvPr/>
        </p:nvSpPr>
        <p:spPr>
          <a:xfrm>
            <a:off x="6693694" y="2873908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04" name="Shape 19"/>
          <p:cNvSpPr/>
          <p:nvPr/>
        </p:nvSpPr>
        <p:spPr>
          <a:xfrm>
            <a:off x="6704409" y="1241561"/>
            <a:ext cx="0" cy="1635919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205" name="Shape 20"/>
          <p:cNvSpPr/>
          <p:nvPr/>
        </p:nvSpPr>
        <p:spPr>
          <a:xfrm>
            <a:off x="6829425" y="2614947"/>
            <a:ext cx="1735931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206" name="Shape 21"/>
          <p:cNvSpPr/>
          <p:nvPr/>
        </p:nvSpPr>
        <p:spPr>
          <a:xfrm>
            <a:off x="457200" y="2966777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07" name="Shape 22"/>
          <p:cNvSpPr/>
          <p:nvPr/>
        </p:nvSpPr>
        <p:spPr>
          <a:xfrm>
            <a:off x="2446734" y="2963205"/>
            <a:ext cx="0" cy="1635919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08" name="Shape 23"/>
          <p:cNvSpPr/>
          <p:nvPr/>
        </p:nvSpPr>
        <p:spPr>
          <a:xfrm>
            <a:off x="457200" y="4595552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09" name="Shape 24"/>
          <p:cNvSpPr/>
          <p:nvPr/>
        </p:nvSpPr>
        <p:spPr>
          <a:xfrm>
            <a:off x="467916" y="2963205"/>
            <a:ext cx="0" cy="1635919"/>
          </a:xfrm>
          <a:prstGeom prst="line"/>
          <a:noFill/>
          <a:ln w="21431">
            <a:solidFill>
              <a:srgbClr val="F39C12"/>
            </a:solidFill>
            <a:prstDash val="solid"/>
          </a:ln>
        </p:spPr>
      </p:sp>
      <p:sp>
        <p:nvSpPr>
          <p:cNvPr id="1049210" name="Shape 25"/>
          <p:cNvSpPr/>
          <p:nvPr/>
        </p:nvSpPr>
        <p:spPr>
          <a:xfrm>
            <a:off x="592931" y="4336591"/>
            <a:ext cx="1735931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211" name="Shape 26"/>
          <p:cNvSpPr/>
          <p:nvPr/>
        </p:nvSpPr>
        <p:spPr>
          <a:xfrm>
            <a:off x="2536031" y="2966777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12" name="Shape 27"/>
          <p:cNvSpPr/>
          <p:nvPr/>
        </p:nvSpPr>
        <p:spPr>
          <a:xfrm>
            <a:off x="4525566" y="2963205"/>
            <a:ext cx="0" cy="1635919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13" name="Shape 28"/>
          <p:cNvSpPr/>
          <p:nvPr/>
        </p:nvSpPr>
        <p:spPr>
          <a:xfrm>
            <a:off x="2536031" y="4595552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14" name="Shape 29"/>
          <p:cNvSpPr/>
          <p:nvPr/>
        </p:nvSpPr>
        <p:spPr>
          <a:xfrm>
            <a:off x="2546747" y="2963205"/>
            <a:ext cx="0" cy="1635919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9215" name="Shape 30"/>
          <p:cNvSpPr/>
          <p:nvPr/>
        </p:nvSpPr>
        <p:spPr>
          <a:xfrm>
            <a:off x="2671763" y="4336591"/>
            <a:ext cx="1735931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216" name="Shape 31"/>
          <p:cNvSpPr/>
          <p:nvPr/>
        </p:nvSpPr>
        <p:spPr>
          <a:xfrm>
            <a:off x="4614863" y="2966777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17" name="Shape 32"/>
          <p:cNvSpPr/>
          <p:nvPr/>
        </p:nvSpPr>
        <p:spPr>
          <a:xfrm>
            <a:off x="6604397" y="2963205"/>
            <a:ext cx="0" cy="1635919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18" name="Shape 33"/>
          <p:cNvSpPr/>
          <p:nvPr/>
        </p:nvSpPr>
        <p:spPr>
          <a:xfrm>
            <a:off x="4614863" y="4595552"/>
            <a:ext cx="199310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19" name="Shape 34"/>
          <p:cNvSpPr/>
          <p:nvPr/>
        </p:nvSpPr>
        <p:spPr>
          <a:xfrm>
            <a:off x="4625578" y="2963205"/>
            <a:ext cx="0" cy="1635919"/>
          </a:xfrm>
          <a:prstGeom prst="line"/>
          <a:noFill/>
          <a:ln w="21431">
            <a:solidFill>
              <a:srgbClr val="F39C12"/>
            </a:solidFill>
            <a:prstDash val="solid"/>
          </a:ln>
        </p:spPr>
      </p:sp>
      <p:sp>
        <p:nvSpPr>
          <p:cNvPr id="1049220" name="Shape 35"/>
          <p:cNvSpPr/>
          <p:nvPr/>
        </p:nvSpPr>
        <p:spPr>
          <a:xfrm>
            <a:off x="4750594" y="4336591"/>
            <a:ext cx="1735931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221" name="Shape 36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22" name="Text 37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3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 GITFLOW Y CI/CD</a:t>
            </a:r>
            <a:endParaRPr dirty="0" sz="800" lang="en-US"/>
          </a:p>
        </p:txBody>
      </p:sp>
      <p:sp>
        <p:nvSpPr>
          <p:cNvPr id="1049223" name="Text 38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 / 27</a:t>
            </a:r>
            <a:endParaRPr dirty="0" sz="619" lang="en-US"/>
          </a:p>
        </p:txBody>
      </p:sp>
      <p:sp>
        <p:nvSpPr>
          <p:cNvPr id="1049224" name="Text 39"/>
          <p:cNvSpPr/>
          <p:nvPr/>
        </p:nvSpPr>
        <p:spPr>
          <a:xfrm>
            <a:off x="457200" y="696516"/>
            <a:ext cx="2039903" cy="264011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Glosario mínimo</a:t>
            </a:r>
            <a:endParaRPr dirty="0" sz="1200" lang="en-US"/>
          </a:p>
        </p:txBody>
      </p:sp>
      <p:sp>
        <p:nvSpPr>
          <p:cNvPr id="1049225" name="Text 40"/>
          <p:cNvSpPr/>
          <p:nvPr/>
        </p:nvSpPr>
        <p:spPr>
          <a:xfrm>
            <a:off x="457199" y="987958"/>
            <a:ext cx="3837963" cy="21431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12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Términos que dominar antes del taller práctico</a:t>
            </a:r>
            <a:endParaRPr dirty="0" sz="1200" lang="en-US"/>
          </a:p>
        </p:txBody>
      </p:sp>
      <p:sp>
        <p:nvSpPr>
          <p:cNvPr id="1049226" name="Text 41"/>
          <p:cNvSpPr/>
          <p:nvPr/>
        </p:nvSpPr>
        <p:spPr>
          <a:xfrm>
            <a:off x="7626734" y="1009390"/>
            <a:ext cx="1215266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TÉRMINOS + 1 ANALOGÍA</a:t>
            </a:r>
            <a:endParaRPr dirty="0" sz="619" lang="en-US"/>
          </a:p>
        </p:txBody>
      </p:sp>
      <p:sp>
        <p:nvSpPr>
          <p:cNvPr id="1049227" name="Text 42"/>
          <p:cNvSpPr/>
          <p:nvPr/>
        </p:nvSpPr>
        <p:spPr>
          <a:xfrm>
            <a:off x="457200" y="1241561"/>
            <a:ext cx="1993106" cy="1635919"/>
          </a:xfrm>
          <a:prstGeom prst="roundRect">
            <a:avLst>
              <a:gd name="adj" fmla="val 582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28" name="Text 43"/>
          <p:cNvSpPr/>
          <p:nvPr/>
        </p:nvSpPr>
        <p:spPr>
          <a:xfrm>
            <a:off x="592931" y="1348718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FF6B35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29" name="Text 44"/>
          <p:cNvSpPr/>
          <p:nvPr/>
        </p:nvSpPr>
        <p:spPr>
          <a:xfrm>
            <a:off x="614005" y="1369792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266" lang="en-US"/>
          </a:p>
        </p:txBody>
      </p:sp>
      <p:sp>
        <p:nvSpPr>
          <p:cNvPr id="1049230" name="Text 45"/>
          <p:cNvSpPr/>
          <p:nvPr/>
        </p:nvSpPr>
        <p:spPr>
          <a:xfrm>
            <a:off x="878681" y="1388008"/>
            <a:ext cx="145018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b="1" dirty="0" sz="800" kern="0" lang="en-US" spc="32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COMMIT</a:t>
            </a:r>
            <a:endParaRPr dirty="0" sz="800" lang="en-US"/>
          </a:p>
        </p:txBody>
      </p:sp>
      <p:sp>
        <p:nvSpPr>
          <p:cNvPr id="1049231" name="Text 46"/>
          <p:cNvSpPr/>
          <p:nvPr/>
        </p:nvSpPr>
        <p:spPr>
          <a:xfrm>
            <a:off x="592931" y="1620180"/>
            <a:ext cx="1840087" cy="1536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4"/>
              </a:lnSpc>
              <a:buNone/>
            </a:pPr>
            <a:r>
              <a:rPr dirty="0" sz="703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Snapshot puntual del repositorio.</a:t>
            </a:r>
            <a:endParaRPr dirty="0" sz="703" lang="en-US"/>
          </a:p>
        </p:txBody>
      </p:sp>
      <p:sp>
        <p:nvSpPr>
          <p:cNvPr id="1049232" name="Text 47"/>
          <p:cNvSpPr/>
          <p:nvPr/>
        </p:nvSpPr>
        <p:spPr>
          <a:xfrm>
            <a:off x="592931" y="2611375"/>
            <a:ext cx="1840087" cy="158948"/>
          </a:xfrm>
          <a:prstGeom prst="rect"/>
          <a:noFill/>
        </p:spPr>
        <p:txBody>
          <a:bodyPr anchor="t" bIns="0" lIns="0" rIns="0" rtlCol="0" tIns="28575" wrap="squar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feat(auth): integrar LDAP</a:t>
            </a:r>
            <a:endParaRPr dirty="0" sz="800" lang="en-US"/>
          </a:p>
        </p:txBody>
      </p:sp>
      <p:sp>
        <p:nvSpPr>
          <p:cNvPr id="1049233" name="Text 48"/>
          <p:cNvSpPr/>
          <p:nvPr/>
        </p:nvSpPr>
        <p:spPr>
          <a:xfrm>
            <a:off x="2536031" y="1241561"/>
            <a:ext cx="1993106" cy="1635919"/>
          </a:xfrm>
          <a:prstGeom prst="roundRect">
            <a:avLst>
              <a:gd name="adj" fmla="val 582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34" name="Text 49"/>
          <p:cNvSpPr/>
          <p:nvPr/>
        </p:nvSpPr>
        <p:spPr>
          <a:xfrm>
            <a:off x="2671763" y="1348718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4A90E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35" name="Text 50"/>
          <p:cNvSpPr/>
          <p:nvPr/>
        </p:nvSpPr>
        <p:spPr>
          <a:xfrm>
            <a:off x="2692837" y="1369792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dirty="0" sz="1266" lang="en-US"/>
          </a:p>
        </p:txBody>
      </p:sp>
      <p:sp>
        <p:nvSpPr>
          <p:cNvPr id="1049236" name="Text 51"/>
          <p:cNvSpPr/>
          <p:nvPr/>
        </p:nvSpPr>
        <p:spPr>
          <a:xfrm>
            <a:off x="2957513" y="1388008"/>
            <a:ext cx="145018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b="1" dirty="0" sz="800" kern="0" lang="en-US" spc="32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</a:t>
            </a:r>
            <a:endParaRPr dirty="0" sz="800" lang="en-US"/>
          </a:p>
        </p:txBody>
      </p:sp>
      <p:sp>
        <p:nvSpPr>
          <p:cNvPr id="1049237" name="Text 52"/>
          <p:cNvSpPr/>
          <p:nvPr/>
        </p:nvSpPr>
        <p:spPr>
          <a:xfrm>
            <a:off x="2671763" y="1620180"/>
            <a:ext cx="1840087" cy="1536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Línea de desarrollo paralela.</a:t>
            </a:r>
            <a:endParaRPr dirty="0" sz="800" lang="en-US"/>
          </a:p>
        </p:txBody>
      </p:sp>
      <p:sp>
        <p:nvSpPr>
          <p:cNvPr id="1049238" name="Text 53"/>
          <p:cNvSpPr/>
          <p:nvPr/>
        </p:nvSpPr>
        <p:spPr>
          <a:xfrm>
            <a:off x="2671763" y="2611375"/>
            <a:ext cx="1735931" cy="158948"/>
          </a:xfrm>
          <a:prstGeom prst="rect"/>
          <a:noFill/>
        </p:spPr>
        <p:txBody>
          <a:bodyPr anchor="t" bIns="0" lIns="0" rIns="0" rtlCol="0" tIns="28575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feature/ldap-auth</a:t>
            </a:r>
            <a:endParaRPr dirty="0" sz="800" lang="en-US"/>
          </a:p>
        </p:txBody>
      </p:sp>
      <p:sp>
        <p:nvSpPr>
          <p:cNvPr id="1049239" name="Text 54"/>
          <p:cNvSpPr/>
          <p:nvPr/>
        </p:nvSpPr>
        <p:spPr>
          <a:xfrm>
            <a:off x="4614863" y="1241561"/>
            <a:ext cx="1993106" cy="1635919"/>
          </a:xfrm>
          <a:prstGeom prst="roundRect">
            <a:avLst>
              <a:gd name="adj" fmla="val 582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40" name="Text 55"/>
          <p:cNvSpPr/>
          <p:nvPr/>
        </p:nvSpPr>
        <p:spPr>
          <a:xfrm>
            <a:off x="4750594" y="1348718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27AE60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41" name="Text 56"/>
          <p:cNvSpPr/>
          <p:nvPr/>
        </p:nvSpPr>
        <p:spPr>
          <a:xfrm>
            <a:off x="4771668" y="1369792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266" lang="en-US"/>
          </a:p>
        </p:txBody>
      </p:sp>
      <p:sp>
        <p:nvSpPr>
          <p:cNvPr id="1049242" name="Text 57"/>
          <p:cNvSpPr/>
          <p:nvPr/>
        </p:nvSpPr>
        <p:spPr>
          <a:xfrm>
            <a:off x="5036344" y="1388008"/>
            <a:ext cx="145018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b="1" dirty="0" sz="800" kern="0" lang="en-US" spc="32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</a:t>
            </a:r>
            <a:endParaRPr dirty="0" sz="800" lang="en-US"/>
          </a:p>
        </p:txBody>
      </p:sp>
      <p:sp>
        <p:nvSpPr>
          <p:cNvPr id="1049243" name="Text 58"/>
          <p:cNvSpPr/>
          <p:nvPr/>
        </p:nvSpPr>
        <p:spPr>
          <a:xfrm>
            <a:off x="4750594" y="1620180"/>
            <a:ext cx="1840087" cy="1536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4"/>
              </a:lnSpc>
              <a:buNone/>
            </a:pPr>
            <a:r>
              <a:rPr dirty="0" sz="703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Combina el historial de dos ramas.</a:t>
            </a:r>
            <a:endParaRPr dirty="0" sz="703" lang="en-US"/>
          </a:p>
        </p:txBody>
      </p:sp>
      <p:sp>
        <p:nvSpPr>
          <p:cNvPr id="1049244" name="Text 59"/>
          <p:cNvSpPr/>
          <p:nvPr/>
        </p:nvSpPr>
        <p:spPr>
          <a:xfrm>
            <a:off x="4750594" y="2611375"/>
            <a:ext cx="1840087" cy="158948"/>
          </a:xfrm>
          <a:prstGeom prst="rect"/>
          <a:noFill/>
        </p:spPr>
        <p:txBody>
          <a:bodyPr anchor="t" bIns="0" lIns="0" rIns="0" rtlCol="0" tIns="28575" wrap="squar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merge --no-ff release/1.0</a:t>
            </a:r>
            <a:endParaRPr dirty="0" sz="800" lang="en-US"/>
          </a:p>
        </p:txBody>
      </p:sp>
      <p:sp>
        <p:nvSpPr>
          <p:cNvPr id="1049245" name="Text 60"/>
          <p:cNvSpPr/>
          <p:nvPr/>
        </p:nvSpPr>
        <p:spPr>
          <a:xfrm>
            <a:off x="6693694" y="1241561"/>
            <a:ext cx="1993106" cy="1635919"/>
          </a:xfrm>
          <a:prstGeom prst="roundRect">
            <a:avLst>
              <a:gd name="adj" fmla="val 582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46" name="Text 61"/>
          <p:cNvSpPr/>
          <p:nvPr/>
        </p:nvSpPr>
        <p:spPr>
          <a:xfrm>
            <a:off x="6829425" y="1348718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FF6B35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47" name="Text 62"/>
          <p:cNvSpPr/>
          <p:nvPr/>
        </p:nvSpPr>
        <p:spPr>
          <a:xfrm>
            <a:off x="6850499" y="1369792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dirty="0" sz="1266" lang="en-US"/>
          </a:p>
        </p:txBody>
      </p:sp>
      <p:sp>
        <p:nvSpPr>
          <p:cNvPr id="1049248" name="Text 63"/>
          <p:cNvSpPr/>
          <p:nvPr/>
        </p:nvSpPr>
        <p:spPr>
          <a:xfrm>
            <a:off x="7115175" y="1388008"/>
            <a:ext cx="145018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b="1" dirty="0" sz="800" kern="0" lang="en-US" spc="32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PULL REQUEST</a:t>
            </a:r>
            <a:endParaRPr dirty="0" sz="800" lang="en-US"/>
          </a:p>
        </p:txBody>
      </p:sp>
      <p:sp>
        <p:nvSpPr>
          <p:cNvPr id="1049249" name="Text 64"/>
          <p:cNvSpPr/>
          <p:nvPr/>
        </p:nvSpPr>
        <p:spPr>
          <a:xfrm>
            <a:off x="6829425" y="1620180"/>
            <a:ext cx="1840087" cy="1536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4"/>
              </a:lnSpc>
              <a:buNone/>
            </a:pPr>
            <a:r>
              <a:rPr dirty="0" sz="703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Solicitud de merge con revisión por pares.</a:t>
            </a:r>
            <a:endParaRPr dirty="0" sz="703" lang="en-US"/>
          </a:p>
        </p:txBody>
      </p:sp>
      <p:sp>
        <p:nvSpPr>
          <p:cNvPr id="1049250" name="Text 65"/>
          <p:cNvSpPr/>
          <p:nvPr/>
        </p:nvSpPr>
        <p:spPr>
          <a:xfrm>
            <a:off x="6829425" y="2611375"/>
            <a:ext cx="1840087" cy="158948"/>
          </a:xfrm>
          <a:prstGeom prst="rect"/>
          <a:noFill/>
        </p:spPr>
        <p:txBody>
          <a:bodyPr anchor="t" bIns="0" lIns="0" rIns="0" rtlCol="0" tIns="28575" wrap="squar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PR #14 feature/crud → develop</a:t>
            </a:r>
            <a:endParaRPr dirty="0" sz="800" lang="en-US"/>
          </a:p>
        </p:txBody>
      </p:sp>
      <p:sp>
        <p:nvSpPr>
          <p:cNvPr id="1049251" name="Text 66"/>
          <p:cNvSpPr/>
          <p:nvPr/>
        </p:nvSpPr>
        <p:spPr>
          <a:xfrm>
            <a:off x="457200" y="2963205"/>
            <a:ext cx="1993106" cy="1635919"/>
          </a:xfrm>
          <a:prstGeom prst="roundRect">
            <a:avLst>
              <a:gd name="adj" fmla="val 582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52" name="Text 67"/>
          <p:cNvSpPr/>
          <p:nvPr/>
        </p:nvSpPr>
        <p:spPr>
          <a:xfrm>
            <a:off x="592931" y="3070361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F39C1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53" name="Text 68"/>
          <p:cNvSpPr/>
          <p:nvPr/>
        </p:nvSpPr>
        <p:spPr>
          <a:xfrm>
            <a:off x="614005" y="3091435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dirty="0" sz="1266" lang="en-US"/>
          </a:p>
        </p:txBody>
      </p:sp>
      <p:sp>
        <p:nvSpPr>
          <p:cNvPr id="1049254" name="Text 69"/>
          <p:cNvSpPr/>
          <p:nvPr/>
        </p:nvSpPr>
        <p:spPr>
          <a:xfrm>
            <a:off x="878681" y="3109652"/>
            <a:ext cx="145018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b="1" dirty="0" sz="800" kern="0" lang="en-US" spc="32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TAG</a:t>
            </a:r>
            <a:endParaRPr dirty="0" sz="800" lang="en-US"/>
          </a:p>
        </p:txBody>
      </p:sp>
      <p:sp>
        <p:nvSpPr>
          <p:cNvPr id="1049255" name="Text 70"/>
          <p:cNvSpPr/>
          <p:nvPr/>
        </p:nvSpPr>
        <p:spPr>
          <a:xfrm>
            <a:off x="592931" y="3341824"/>
            <a:ext cx="1840087" cy="1536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4"/>
              </a:lnSpc>
              <a:buNone/>
            </a:pPr>
            <a:r>
              <a:rPr dirty="0" sz="703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Marcador inmutable sobre un commit.</a:t>
            </a:r>
            <a:endParaRPr dirty="0" sz="703" lang="en-US"/>
          </a:p>
        </p:txBody>
      </p:sp>
      <p:sp>
        <p:nvSpPr>
          <p:cNvPr id="1049256" name="Text 71"/>
          <p:cNvSpPr/>
          <p:nvPr/>
        </p:nvSpPr>
        <p:spPr>
          <a:xfrm>
            <a:off x="592931" y="4333019"/>
            <a:ext cx="1735931" cy="158948"/>
          </a:xfrm>
          <a:prstGeom prst="rect"/>
          <a:noFill/>
        </p:spPr>
        <p:txBody>
          <a:bodyPr anchor="t" bIns="0" lIns="0" rIns="0" rtlCol="0" tIns="28575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v1.0-E1</a:t>
            </a:r>
            <a:endParaRPr dirty="0" sz="800" lang="en-US"/>
          </a:p>
        </p:txBody>
      </p:sp>
      <p:sp>
        <p:nvSpPr>
          <p:cNvPr id="1049257" name="Text 72"/>
          <p:cNvSpPr/>
          <p:nvPr/>
        </p:nvSpPr>
        <p:spPr>
          <a:xfrm>
            <a:off x="2536031" y="2963205"/>
            <a:ext cx="1993106" cy="1635919"/>
          </a:xfrm>
          <a:prstGeom prst="roundRect">
            <a:avLst>
              <a:gd name="adj" fmla="val 582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58" name="Text 73"/>
          <p:cNvSpPr/>
          <p:nvPr/>
        </p:nvSpPr>
        <p:spPr>
          <a:xfrm>
            <a:off x="2671763" y="3070361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4A90E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59" name="Text 74"/>
          <p:cNvSpPr/>
          <p:nvPr/>
        </p:nvSpPr>
        <p:spPr>
          <a:xfrm>
            <a:off x="2692837" y="3091435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dirty="0" sz="1266" lang="en-US"/>
          </a:p>
        </p:txBody>
      </p:sp>
      <p:sp>
        <p:nvSpPr>
          <p:cNvPr id="1049260" name="Text 75"/>
          <p:cNvSpPr/>
          <p:nvPr/>
        </p:nvSpPr>
        <p:spPr>
          <a:xfrm>
            <a:off x="2957513" y="3109652"/>
            <a:ext cx="145018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b="1" dirty="0" sz="800" kern="0" lang="en-US" spc="32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</a:t>
            </a:r>
            <a:endParaRPr dirty="0" sz="800" lang="en-US"/>
          </a:p>
        </p:txBody>
      </p:sp>
      <p:sp>
        <p:nvSpPr>
          <p:cNvPr id="1049261" name="Text 76"/>
          <p:cNvSpPr/>
          <p:nvPr/>
        </p:nvSpPr>
        <p:spPr>
          <a:xfrm>
            <a:off x="2671763" y="3341824"/>
            <a:ext cx="1840087" cy="1536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Versión publicada con tag.</a:t>
            </a:r>
            <a:endParaRPr dirty="0" sz="800" lang="en-US"/>
          </a:p>
        </p:txBody>
      </p:sp>
      <p:sp>
        <p:nvSpPr>
          <p:cNvPr id="1049262" name="Text 77"/>
          <p:cNvSpPr/>
          <p:nvPr/>
        </p:nvSpPr>
        <p:spPr>
          <a:xfrm>
            <a:off x="2671763" y="4333019"/>
            <a:ext cx="1735931" cy="158948"/>
          </a:xfrm>
          <a:prstGeom prst="rect"/>
          <a:noFill/>
        </p:spPr>
        <p:txBody>
          <a:bodyPr anchor="t" bIns="0" lIns="0" rIns="0" rtlCol="0" tIns="28575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release/1.0 → v1.0-E1</a:t>
            </a:r>
            <a:endParaRPr dirty="0" sz="800" lang="en-US"/>
          </a:p>
        </p:txBody>
      </p:sp>
      <p:sp>
        <p:nvSpPr>
          <p:cNvPr id="1049263" name="Text 78"/>
          <p:cNvSpPr/>
          <p:nvPr/>
        </p:nvSpPr>
        <p:spPr>
          <a:xfrm>
            <a:off x="4614863" y="2963205"/>
            <a:ext cx="1993106" cy="1635919"/>
          </a:xfrm>
          <a:prstGeom prst="roundRect">
            <a:avLst>
              <a:gd name="adj" fmla="val 582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64" name="Text 79"/>
          <p:cNvSpPr/>
          <p:nvPr/>
        </p:nvSpPr>
        <p:spPr>
          <a:xfrm>
            <a:off x="4750594" y="3070361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F39C1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65" name="Text 80"/>
          <p:cNvSpPr/>
          <p:nvPr/>
        </p:nvSpPr>
        <p:spPr>
          <a:xfrm>
            <a:off x="4771668" y="3091435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dirty="0" sz="1266" lang="en-US"/>
          </a:p>
        </p:txBody>
      </p:sp>
      <p:sp>
        <p:nvSpPr>
          <p:cNvPr id="1049266" name="Text 81"/>
          <p:cNvSpPr/>
          <p:nvPr/>
        </p:nvSpPr>
        <p:spPr>
          <a:xfrm>
            <a:off x="5036344" y="3109652"/>
            <a:ext cx="145018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b="1" dirty="0" sz="800" kern="0" lang="en-US" spc="32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</a:t>
            </a:r>
            <a:endParaRPr dirty="0" sz="800" lang="en-US"/>
          </a:p>
        </p:txBody>
      </p:sp>
      <p:sp>
        <p:nvSpPr>
          <p:cNvPr id="1049267" name="Text 82"/>
          <p:cNvSpPr/>
          <p:nvPr/>
        </p:nvSpPr>
        <p:spPr>
          <a:xfrm>
            <a:off x="4750594" y="3341824"/>
            <a:ext cx="1840087" cy="1536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84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Parche urgente sobre producción.</a:t>
            </a:r>
            <a:endParaRPr dirty="0" sz="800" lang="en-US"/>
          </a:p>
        </p:txBody>
      </p:sp>
      <p:sp>
        <p:nvSpPr>
          <p:cNvPr id="1049268" name="Text 83"/>
          <p:cNvSpPr/>
          <p:nvPr/>
        </p:nvSpPr>
        <p:spPr>
          <a:xfrm>
            <a:off x="4750594" y="4333019"/>
            <a:ext cx="1735931" cy="158948"/>
          </a:xfrm>
          <a:prstGeom prst="rect"/>
          <a:noFill/>
        </p:spPr>
        <p:txBody>
          <a:bodyPr anchor="t" bIns="0" lIns="0" rIns="0" rtlCol="0" tIns="28575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hotfix/pdf-layout</a:t>
            </a:r>
            <a:endParaRPr dirty="0" sz="800" lang="en-US"/>
          </a:p>
        </p:txBody>
      </p:sp>
      <p:pic>
        <p:nvPicPr>
          <p:cNvPr id="2097175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693694" y="2963205"/>
            <a:ext cx="1993106" cy="1635919"/>
          </a:xfrm>
          <a:prstGeom prst="rect"/>
        </p:spPr>
      </p:pic>
      <p:sp>
        <p:nvSpPr>
          <p:cNvPr id="1049269" name="Text 84"/>
          <p:cNvSpPr/>
          <p:nvPr/>
        </p:nvSpPr>
        <p:spPr>
          <a:xfrm>
            <a:off x="6697266" y="2966777"/>
            <a:ext cx="1985963" cy="1628775"/>
          </a:xfrm>
          <a:prstGeom prst="roundRect">
            <a:avLst>
              <a:gd name="adj" fmla="val 5848"/>
            </a:avLst>
          </a:prstGeom>
          <a:noFill/>
          <a:ln w="7144">
            <a:solidFill>
              <a:srgbClr val="3A3A3A"/>
            </a:solidFill>
            <a:prstDash val="dash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70" name="Text 85"/>
          <p:cNvSpPr/>
          <p:nvPr/>
        </p:nvSpPr>
        <p:spPr>
          <a:xfrm>
            <a:off x="6815138" y="3070361"/>
            <a:ext cx="228600" cy="228600"/>
          </a:xfrm>
          <a:prstGeom prst="roundRect">
            <a:avLst>
              <a:gd name="adj" fmla="val 4162500"/>
            </a:avLst>
          </a:prstGeom>
          <a:solidFill>
            <a:srgbClr val="FFFFFF">
              <a:alpha val="5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271" name="Text 86"/>
          <p:cNvSpPr/>
          <p:nvPr/>
        </p:nvSpPr>
        <p:spPr>
          <a:xfrm>
            <a:off x="6836212" y="3091435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1266" lang="en-US"/>
          </a:p>
        </p:txBody>
      </p:sp>
      <p:sp>
        <p:nvSpPr>
          <p:cNvPr id="1049272" name="Text 87"/>
          <p:cNvSpPr/>
          <p:nvPr/>
        </p:nvSpPr>
        <p:spPr>
          <a:xfrm>
            <a:off x="7100888" y="3109652"/>
            <a:ext cx="1464469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b="1" dirty="0" sz="800" kern="0" lang="en-US" spc="32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ANALOGÍA</a:t>
            </a:r>
            <a:endParaRPr dirty="0" sz="800" lang="en-US"/>
          </a:p>
        </p:txBody>
      </p:sp>
      <p:sp>
        <p:nvSpPr>
          <p:cNvPr id="1049273" name="Text 88"/>
          <p:cNvSpPr/>
          <p:nvPr/>
        </p:nvSpPr>
        <p:spPr>
          <a:xfrm>
            <a:off x="6815138" y="3341824"/>
            <a:ext cx="1750219" cy="65836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55"/>
              </a:lnSpc>
              <a:buNone/>
            </a:pPr>
            <a:r>
              <a:rPr dirty="0" sz="800" i="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"Cada branch es un paralelo de una novela; el commit es un capítulo guardado; el merge es la edición final; el tag es la portada firmada."</a:t>
            </a:r>
            <a:endParaRPr dirty="0" sz="800" lang="en-US"/>
          </a:p>
        </p:txBody>
      </p:sp>
      <p:sp>
        <p:nvSpPr>
          <p:cNvPr id="1049274" name="Text 89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77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278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79" name="Shape 1"/>
          <p:cNvSpPr/>
          <p:nvPr/>
        </p:nvSpPr>
        <p:spPr>
          <a:xfrm>
            <a:off x="457200" y="1245133"/>
            <a:ext cx="365179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80" name="Shape 2"/>
          <p:cNvSpPr/>
          <p:nvPr/>
        </p:nvSpPr>
        <p:spPr>
          <a:xfrm>
            <a:off x="4105424" y="1241561"/>
            <a:ext cx="0" cy="3370064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81" name="Shape 3"/>
          <p:cNvSpPr/>
          <p:nvPr/>
        </p:nvSpPr>
        <p:spPr>
          <a:xfrm>
            <a:off x="457200" y="4608054"/>
            <a:ext cx="365179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82" name="Shape 4"/>
          <p:cNvSpPr/>
          <p:nvPr/>
        </p:nvSpPr>
        <p:spPr>
          <a:xfrm>
            <a:off x="467916" y="1241561"/>
            <a:ext cx="0" cy="3370064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9283" name="Shape 5"/>
          <p:cNvSpPr/>
          <p:nvPr/>
        </p:nvSpPr>
        <p:spPr>
          <a:xfrm>
            <a:off x="607219" y="2123815"/>
            <a:ext cx="336604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84" name="Shape 6"/>
          <p:cNvSpPr/>
          <p:nvPr/>
        </p:nvSpPr>
        <p:spPr>
          <a:xfrm>
            <a:off x="4223296" y="1245133"/>
            <a:ext cx="4463504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85" name="Shape 7"/>
          <p:cNvSpPr/>
          <p:nvPr/>
        </p:nvSpPr>
        <p:spPr>
          <a:xfrm>
            <a:off x="8683228" y="1241561"/>
            <a:ext cx="0" cy="3370064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86" name="Shape 8"/>
          <p:cNvSpPr/>
          <p:nvPr/>
        </p:nvSpPr>
        <p:spPr>
          <a:xfrm>
            <a:off x="4223296" y="4608054"/>
            <a:ext cx="4463504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287" name="Shape 9"/>
          <p:cNvSpPr/>
          <p:nvPr/>
        </p:nvSpPr>
        <p:spPr>
          <a:xfrm>
            <a:off x="4234011" y="1241561"/>
            <a:ext cx="0" cy="3370064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288" name="Shape 10"/>
          <p:cNvSpPr/>
          <p:nvPr/>
        </p:nvSpPr>
        <p:spPr>
          <a:xfrm>
            <a:off x="4373314" y="1541599"/>
            <a:ext cx="417775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289" name="Shape 11"/>
          <p:cNvSpPr/>
          <p:nvPr/>
        </p:nvSpPr>
        <p:spPr>
          <a:xfrm>
            <a:off x="8547497" y="1538027"/>
            <a:ext cx="0" cy="389334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290" name="Shape 12"/>
          <p:cNvSpPr/>
          <p:nvPr/>
        </p:nvSpPr>
        <p:spPr>
          <a:xfrm>
            <a:off x="4373314" y="1923790"/>
            <a:ext cx="417775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291" name="Shape 13"/>
          <p:cNvSpPr/>
          <p:nvPr/>
        </p:nvSpPr>
        <p:spPr>
          <a:xfrm>
            <a:off x="4384030" y="1538027"/>
            <a:ext cx="0" cy="389334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292" name="Shape 14"/>
          <p:cNvSpPr/>
          <p:nvPr/>
        </p:nvSpPr>
        <p:spPr>
          <a:xfrm>
            <a:off x="4373314" y="2102383"/>
            <a:ext cx="417775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293" name="Shape 15"/>
          <p:cNvSpPr/>
          <p:nvPr/>
        </p:nvSpPr>
        <p:spPr>
          <a:xfrm>
            <a:off x="8547497" y="2098811"/>
            <a:ext cx="0" cy="389334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294" name="Shape 16"/>
          <p:cNvSpPr/>
          <p:nvPr/>
        </p:nvSpPr>
        <p:spPr>
          <a:xfrm>
            <a:off x="4373314" y="2484574"/>
            <a:ext cx="417775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295" name="Shape 17"/>
          <p:cNvSpPr/>
          <p:nvPr/>
        </p:nvSpPr>
        <p:spPr>
          <a:xfrm>
            <a:off x="4384030" y="2098811"/>
            <a:ext cx="0" cy="389334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9296" name="Shape 18"/>
          <p:cNvSpPr/>
          <p:nvPr/>
        </p:nvSpPr>
        <p:spPr>
          <a:xfrm>
            <a:off x="4373314" y="2663168"/>
            <a:ext cx="417775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297" name="Shape 19"/>
          <p:cNvSpPr/>
          <p:nvPr/>
        </p:nvSpPr>
        <p:spPr>
          <a:xfrm>
            <a:off x="8547497" y="2659596"/>
            <a:ext cx="0" cy="389334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298" name="Shape 20"/>
          <p:cNvSpPr/>
          <p:nvPr/>
        </p:nvSpPr>
        <p:spPr>
          <a:xfrm>
            <a:off x="4373314" y="3045358"/>
            <a:ext cx="417775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299" name="Shape 21"/>
          <p:cNvSpPr/>
          <p:nvPr/>
        </p:nvSpPr>
        <p:spPr>
          <a:xfrm>
            <a:off x="4384030" y="2659596"/>
            <a:ext cx="0" cy="389334"/>
          </a:xfrm>
          <a:prstGeom prst="line"/>
          <a:noFill/>
          <a:ln w="21431">
            <a:solidFill>
              <a:srgbClr val="27AE60"/>
            </a:solidFill>
            <a:prstDash val="solid"/>
          </a:ln>
        </p:spPr>
      </p:sp>
      <p:sp>
        <p:nvSpPr>
          <p:cNvPr id="1049300" name="Shape 22"/>
          <p:cNvSpPr/>
          <p:nvPr/>
        </p:nvSpPr>
        <p:spPr>
          <a:xfrm>
            <a:off x="4373314" y="3223952"/>
            <a:ext cx="417775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301" name="Shape 23"/>
          <p:cNvSpPr/>
          <p:nvPr/>
        </p:nvSpPr>
        <p:spPr>
          <a:xfrm>
            <a:off x="8547497" y="3220380"/>
            <a:ext cx="0" cy="389334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302" name="Shape 24"/>
          <p:cNvSpPr/>
          <p:nvPr/>
        </p:nvSpPr>
        <p:spPr>
          <a:xfrm>
            <a:off x="4373314" y="3606143"/>
            <a:ext cx="417775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303" name="Shape 25"/>
          <p:cNvSpPr/>
          <p:nvPr/>
        </p:nvSpPr>
        <p:spPr>
          <a:xfrm>
            <a:off x="4384030" y="3220380"/>
            <a:ext cx="0" cy="389334"/>
          </a:xfrm>
          <a:prstGeom prst="line"/>
          <a:noFill/>
          <a:ln w="21431">
            <a:solidFill>
              <a:srgbClr val="F39C12"/>
            </a:solidFill>
            <a:prstDash val="solid"/>
          </a:ln>
        </p:spPr>
      </p:sp>
      <p:sp>
        <p:nvSpPr>
          <p:cNvPr id="1049304" name="Shape 26"/>
          <p:cNvSpPr/>
          <p:nvPr/>
        </p:nvSpPr>
        <p:spPr>
          <a:xfrm>
            <a:off x="4373314" y="3784736"/>
            <a:ext cx="417775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305" name="Shape 27"/>
          <p:cNvSpPr/>
          <p:nvPr/>
        </p:nvSpPr>
        <p:spPr>
          <a:xfrm>
            <a:off x="8547497" y="3781165"/>
            <a:ext cx="0" cy="389334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306" name="Shape 28"/>
          <p:cNvSpPr/>
          <p:nvPr/>
        </p:nvSpPr>
        <p:spPr>
          <a:xfrm>
            <a:off x="4373314" y="4166927"/>
            <a:ext cx="417775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307" name="Shape 29"/>
          <p:cNvSpPr/>
          <p:nvPr/>
        </p:nvSpPr>
        <p:spPr>
          <a:xfrm>
            <a:off x="4384030" y="3781165"/>
            <a:ext cx="0" cy="389334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308" name="Shape 30"/>
          <p:cNvSpPr/>
          <p:nvPr/>
        </p:nvSpPr>
        <p:spPr>
          <a:xfrm>
            <a:off x="4373314" y="4259796"/>
            <a:ext cx="4177754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309" name="Shape 31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310" name="Text 32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3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 GITFLOW Y CI/CD</a:t>
            </a:r>
            <a:endParaRPr dirty="0" sz="800" lang="en-US"/>
          </a:p>
        </p:txBody>
      </p:sp>
      <p:sp>
        <p:nvSpPr>
          <p:cNvPr id="1049311" name="Text 33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11 / 27</a:t>
            </a:r>
            <a:endParaRPr dirty="0" sz="619" lang="en-US"/>
          </a:p>
        </p:txBody>
      </p:sp>
      <p:sp>
        <p:nvSpPr>
          <p:cNvPr id="1049312" name="Text 34"/>
          <p:cNvSpPr/>
          <p:nvPr/>
        </p:nvSpPr>
        <p:spPr>
          <a:xfrm>
            <a:off x="457200" y="696516"/>
            <a:ext cx="3636294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¿Qué es CI </a:t>
            </a:r>
            <a:r>
              <a:rPr b="1" dirty="0" sz="1200" kern="0" lang="en-US" spc="-27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(Integración Continua)</a:t>
            </a: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?</a:t>
            </a:r>
            <a:endParaRPr dirty="0" sz="1200" lang="en-US"/>
          </a:p>
        </p:txBody>
      </p:sp>
      <p:sp>
        <p:nvSpPr>
          <p:cNvPr id="1049313" name="Text 35"/>
          <p:cNvSpPr/>
          <p:nvPr/>
        </p:nvSpPr>
        <p:spPr>
          <a:xfrm>
            <a:off x="457200" y="1021513"/>
            <a:ext cx="5364760" cy="20859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12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Integrar frecuentemente · detectar errores temprano · automatizar tests</a:t>
            </a:r>
            <a:endParaRPr dirty="0" sz="1200" lang="en-US"/>
          </a:p>
        </p:txBody>
      </p:sp>
      <p:sp>
        <p:nvSpPr>
          <p:cNvPr id="1049314" name="Text 36"/>
          <p:cNvSpPr/>
          <p:nvPr/>
        </p:nvSpPr>
        <p:spPr>
          <a:xfrm>
            <a:off x="8270051" y="941738"/>
            <a:ext cx="432777" cy="196025"/>
          </a:xfrm>
          <a:prstGeom prst="roundRect">
            <a:avLst>
              <a:gd name="adj" fmla="val 4854215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15" name="Text 37"/>
          <p:cNvSpPr/>
          <p:nvPr/>
        </p:nvSpPr>
        <p:spPr>
          <a:xfrm>
            <a:off x="8507537" y="995102"/>
            <a:ext cx="179263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</a:t>
            </a:r>
            <a:endParaRPr dirty="0" sz="800" lang="en-US"/>
          </a:p>
        </p:txBody>
      </p:sp>
      <p:sp>
        <p:nvSpPr>
          <p:cNvPr id="1049316" name="Text 38"/>
          <p:cNvSpPr/>
          <p:nvPr/>
        </p:nvSpPr>
        <p:spPr>
          <a:xfrm>
            <a:off x="8364662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dirty="0" sz="984" lang="en-US"/>
          </a:p>
        </p:txBody>
      </p:sp>
      <p:sp>
        <p:nvSpPr>
          <p:cNvPr id="1049317" name="Text 39"/>
          <p:cNvSpPr/>
          <p:nvPr/>
        </p:nvSpPr>
        <p:spPr>
          <a:xfrm>
            <a:off x="457200" y="1241561"/>
            <a:ext cx="3651796" cy="3370064"/>
          </a:xfrm>
          <a:prstGeom prst="roundRect">
            <a:avLst>
              <a:gd name="adj" fmla="val 2261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18" name="Text 40"/>
          <p:cNvSpPr/>
          <p:nvPr/>
        </p:nvSpPr>
        <p:spPr>
          <a:xfrm>
            <a:off x="607219" y="1363005"/>
            <a:ext cx="3366046" cy="147590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DEFINICIÓN</a:t>
            </a:r>
            <a:endParaRPr dirty="0" sz="800" lang="en-US"/>
          </a:p>
        </p:txBody>
      </p:sp>
      <p:sp>
        <p:nvSpPr>
          <p:cNvPr id="1049319" name="Text 41"/>
          <p:cNvSpPr/>
          <p:nvPr/>
        </p:nvSpPr>
        <p:spPr>
          <a:xfrm>
            <a:off x="607219" y="1538027"/>
            <a:ext cx="3366046" cy="53621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 es la práctica de </a:t>
            </a:r>
            <a:r>
              <a:rPr dirty="0" sz="844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integrar código</a:t>
            </a: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 todos los desarrolladores en una rama compartida </a:t>
            </a:r>
            <a:r>
              <a:rPr dirty="0" sz="844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(develop)</a:t>
            </a: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varias veces al día, con build automático y tests automáticos ejecutándose en cada push.</a:t>
            </a:r>
            <a:endParaRPr dirty="0" sz="844" lang="en-US"/>
          </a:p>
        </p:txBody>
      </p:sp>
      <p:sp>
        <p:nvSpPr>
          <p:cNvPr id="1049320" name="Text 42"/>
          <p:cNvSpPr/>
          <p:nvPr/>
        </p:nvSpPr>
        <p:spPr>
          <a:xfrm>
            <a:off x="607219" y="2198824"/>
            <a:ext cx="3366046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OBJETIVOS</a:t>
            </a:r>
            <a:endParaRPr dirty="0" sz="800" lang="en-US"/>
          </a:p>
        </p:txBody>
      </p:sp>
      <p:sp>
        <p:nvSpPr>
          <p:cNvPr id="1049321" name="Text 43"/>
          <p:cNvSpPr/>
          <p:nvPr/>
        </p:nvSpPr>
        <p:spPr>
          <a:xfrm>
            <a:off x="607219" y="2395277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1125" lang="en-US"/>
          </a:p>
        </p:txBody>
      </p:sp>
      <p:sp>
        <p:nvSpPr>
          <p:cNvPr id="1049322" name="Text 44"/>
          <p:cNvSpPr/>
          <p:nvPr/>
        </p:nvSpPr>
        <p:spPr>
          <a:xfrm>
            <a:off x="778669" y="2388133"/>
            <a:ext cx="3194596" cy="1735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Integrar código frecuentemente (varias veces al día)</a:t>
            </a:r>
            <a:endParaRPr dirty="0" sz="844" lang="en-US"/>
          </a:p>
        </p:txBody>
      </p:sp>
      <p:sp>
        <p:nvSpPr>
          <p:cNvPr id="1049323" name="Text 45"/>
          <p:cNvSpPr/>
          <p:nvPr/>
        </p:nvSpPr>
        <p:spPr>
          <a:xfrm>
            <a:off x="607219" y="2641736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1125" lang="en-US"/>
          </a:p>
        </p:txBody>
      </p:sp>
      <p:sp>
        <p:nvSpPr>
          <p:cNvPr id="1049324" name="Text 46"/>
          <p:cNvSpPr/>
          <p:nvPr/>
        </p:nvSpPr>
        <p:spPr>
          <a:xfrm>
            <a:off x="778669" y="2634593"/>
            <a:ext cx="3194596" cy="1735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Detectar errores en minutos, no en días</a:t>
            </a:r>
            <a:endParaRPr dirty="0" sz="844" lang="en-US"/>
          </a:p>
        </p:txBody>
      </p:sp>
      <p:sp>
        <p:nvSpPr>
          <p:cNvPr id="1049325" name="Text 47"/>
          <p:cNvSpPr/>
          <p:nvPr/>
        </p:nvSpPr>
        <p:spPr>
          <a:xfrm>
            <a:off x="607219" y="2888196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1125" lang="en-US"/>
          </a:p>
        </p:txBody>
      </p:sp>
      <p:sp>
        <p:nvSpPr>
          <p:cNvPr id="1049326" name="Text 48"/>
          <p:cNvSpPr/>
          <p:nvPr/>
        </p:nvSpPr>
        <p:spPr>
          <a:xfrm>
            <a:off x="778669" y="2881052"/>
            <a:ext cx="3194596" cy="1735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Ejecutar tests automáticos (xUnit + Moq)</a:t>
            </a:r>
            <a:endParaRPr dirty="0" sz="844" lang="en-US"/>
          </a:p>
        </p:txBody>
      </p:sp>
      <p:sp>
        <p:nvSpPr>
          <p:cNvPr id="1049327" name="Text 49"/>
          <p:cNvSpPr/>
          <p:nvPr/>
        </p:nvSpPr>
        <p:spPr>
          <a:xfrm>
            <a:off x="607219" y="3134655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1125" lang="en-US"/>
          </a:p>
        </p:txBody>
      </p:sp>
      <p:sp>
        <p:nvSpPr>
          <p:cNvPr id="1049328" name="Text 50"/>
          <p:cNvSpPr/>
          <p:nvPr/>
        </p:nvSpPr>
        <p:spPr>
          <a:xfrm>
            <a:off x="778669" y="3127511"/>
            <a:ext cx="3194596" cy="17359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266"/>
              </a:lnSpc>
              <a:buNone/>
            </a:pP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Mantener develop </a:t>
            </a:r>
            <a:r>
              <a:rPr dirty="0" sz="844" kern="0" lang="en-US" spc="8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SIEMPRE</a:t>
            </a:r>
            <a:r>
              <a:rPr dirty="0" sz="844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verde y desplegable</a:t>
            </a:r>
            <a:endParaRPr dirty="0" sz="844" lang="en-US"/>
          </a:p>
        </p:txBody>
      </p:sp>
      <p:sp>
        <p:nvSpPr>
          <p:cNvPr id="1049329" name="Text 51"/>
          <p:cNvSpPr/>
          <p:nvPr/>
        </p:nvSpPr>
        <p:spPr>
          <a:xfrm>
            <a:off x="610791" y="4200860"/>
            <a:ext cx="3358902" cy="285750"/>
          </a:xfrm>
          <a:prstGeom prst="roundRect">
            <a:avLst>
              <a:gd name="adj" fmla="val 3330000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30" name="Text 52"/>
          <p:cNvSpPr/>
          <p:nvPr/>
        </p:nvSpPr>
        <p:spPr>
          <a:xfrm>
            <a:off x="821531" y="4240150"/>
            <a:ext cx="2816870" cy="250031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HABANAENTREGAS: cada push a feature/* dispara build + tests xUnit en GitHub Actions</a:t>
            </a:r>
            <a:endParaRPr dirty="0" sz="619" lang="en-US"/>
          </a:p>
        </p:txBody>
      </p:sp>
      <p:sp>
        <p:nvSpPr>
          <p:cNvPr id="1049331" name="Text 53"/>
          <p:cNvSpPr/>
          <p:nvPr/>
        </p:nvSpPr>
        <p:spPr>
          <a:xfrm>
            <a:off x="685800" y="4297300"/>
            <a:ext cx="92869" cy="928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1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14" lang="en-US"/>
          </a:p>
        </p:txBody>
      </p:sp>
      <p:sp>
        <p:nvSpPr>
          <p:cNvPr id="1049332" name="Text 54"/>
          <p:cNvSpPr/>
          <p:nvPr/>
        </p:nvSpPr>
        <p:spPr>
          <a:xfrm>
            <a:off x="4223296" y="1241561"/>
            <a:ext cx="4463504" cy="3370064"/>
          </a:xfrm>
          <a:prstGeom prst="roundRect">
            <a:avLst>
              <a:gd name="adj" fmla="val 2261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33" name="Text 55"/>
          <p:cNvSpPr/>
          <p:nvPr/>
        </p:nvSpPr>
        <p:spPr>
          <a:xfrm>
            <a:off x="4373314" y="1363005"/>
            <a:ext cx="3507023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PIPELINE CI · 5 PASOS</a:t>
            </a:r>
            <a:endParaRPr dirty="0" sz="800" lang="en-US"/>
          </a:p>
        </p:txBody>
      </p:sp>
      <p:sp>
        <p:nvSpPr>
          <p:cNvPr id="1049334" name="Text 56"/>
          <p:cNvSpPr/>
          <p:nvPr/>
        </p:nvSpPr>
        <p:spPr>
          <a:xfrm>
            <a:off x="7894625" y="1363005"/>
            <a:ext cx="65644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GITHUB ACTIONS</a:t>
            </a:r>
            <a:endParaRPr dirty="0" sz="619" lang="en-US"/>
          </a:p>
        </p:txBody>
      </p:sp>
      <p:sp>
        <p:nvSpPr>
          <p:cNvPr id="1049335" name="Text 57"/>
          <p:cNvSpPr/>
          <p:nvPr/>
        </p:nvSpPr>
        <p:spPr>
          <a:xfrm>
            <a:off x="4373314" y="1538027"/>
            <a:ext cx="4177754" cy="389334"/>
          </a:xfrm>
          <a:prstGeom prst="roundRect">
            <a:avLst>
              <a:gd name="adj" fmla="val 19572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36" name="Text 58"/>
          <p:cNvSpPr/>
          <p:nvPr/>
        </p:nvSpPr>
        <p:spPr>
          <a:xfrm>
            <a:off x="4480471" y="1673758"/>
            <a:ext cx="20574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800" lang="en-US"/>
          </a:p>
        </p:txBody>
      </p:sp>
      <p:sp>
        <p:nvSpPr>
          <p:cNvPr id="1049337" name="Text 59"/>
          <p:cNvSpPr/>
          <p:nvPr/>
        </p:nvSpPr>
        <p:spPr>
          <a:xfrm>
            <a:off x="4694783" y="1625538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F6B35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38" name="Text 60"/>
          <p:cNvSpPr/>
          <p:nvPr/>
        </p:nvSpPr>
        <p:spPr>
          <a:xfrm>
            <a:off x="4708714" y="1639468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◎</a:t>
            </a:r>
            <a:endParaRPr dirty="0" sz="1266" lang="en-US"/>
          </a:p>
        </p:txBody>
      </p:sp>
      <p:sp>
        <p:nvSpPr>
          <p:cNvPr id="1049339" name="Text 61"/>
          <p:cNvSpPr/>
          <p:nvPr/>
        </p:nvSpPr>
        <p:spPr>
          <a:xfrm>
            <a:off x="4994821" y="1602321"/>
            <a:ext cx="3463379" cy="115443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1013"/>
              </a:lnSpc>
              <a:buNone/>
            </a:pPr>
            <a:r>
              <a:rPr dirty="0" sz="1200" kern="0" lang="en-US" spc="2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CODE</a:t>
            </a:r>
            <a:endParaRPr dirty="0" sz="1200" lang="en-US"/>
          </a:p>
        </p:txBody>
      </p:sp>
      <p:sp>
        <p:nvSpPr>
          <p:cNvPr id="1049340" name="Text 62"/>
          <p:cNvSpPr/>
          <p:nvPr/>
        </p:nvSpPr>
        <p:spPr>
          <a:xfrm>
            <a:off x="4994821" y="1745196"/>
            <a:ext cx="3573107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origin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feature/ldap-auth</a:t>
            </a:r>
            <a:endParaRPr dirty="0" sz="800" lang="en-US"/>
          </a:p>
        </p:txBody>
      </p:sp>
      <p:sp>
        <p:nvSpPr>
          <p:cNvPr id="1049341" name="Text 63"/>
          <p:cNvSpPr/>
          <p:nvPr/>
        </p:nvSpPr>
        <p:spPr>
          <a:xfrm>
            <a:off x="6405042" y="1955936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1125" lang="en-US"/>
          </a:p>
        </p:txBody>
      </p:sp>
      <p:sp>
        <p:nvSpPr>
          <p:cNvPr id="1049342" name="Text 64"/>
          <p:cNvSpPr/>
          <p:nvPr/>
        </p:nvSpPr>
        <p:spPr>
          <a:xfrm>
            <a:off x="4373314" y="2098811"/>
            <a:ext cx="4177754" cy="389334"/>
          </a:xfrm>
          <a:prstGeom prst="roundRect">
            <a:avLst>
              <a:gd name="adj" fmla="val 19572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43" name="Text 65"/>
          <p:cNvSpPr/>
          <p:nvPr/>
        </p:nvSpPr>
        <p:spPr>
          <a:xfrm>
            <a:off x="4480471" y="2234543"/>
            <a:ext cx="20574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800" lang="en-US"/>
          </a:p>
        </p:txBody>
      </p:sp>
      <p:sp>
        <p:nvSpPr>
          <p:cNvPr id="1049344" name="Text 66"/>
          <p:cNvSpPr/>
          <p:nvPr/>
        </p:nvSpPr>
        <p:spPr>
          <a:xfrm>
            <a:off x="4694783" y="2186322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4A90E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45" name="Text 67"/>
          <p:cNvSpPr/>
          <p:nvPr/>
        </p:nvSpPr>
        <p:spPr>
          <a:xfrm>
            <a:off x="4708714" y="2200253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dirty="0" sz="1266" lang="en-US"/>
          </a:p>
        </p:txBody>
      </p:sp>
      <p:sp>
        <p:nvSpPr>
          <p:cNvPr id="1049346" name="Text 68"/>
          <p:cNvSpPr/>
          <p:nvPr/>
        </p:nvSpPr>
        <p:spPr>
          <a:xfrm>
            <a:off x="4994821" y="2163105"/>
            <a:ext cx="3463379" cy="115443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1013"/>
              </a:lnSpc>
              <a:buNone/>
            </a:pPr>
            <a:r>
              <a:rPr dirty="0" sz="1200" kern="0" lang="en-US" spc="2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TRIGGER</a:t>
            </a:r>
            <a:endParaRPr dirty="0" sz="1200" lang="en-US"/>
          </a:p>
        </p:txBody>
      </p:sp>
      <p:sp>
        <p:nvSpPr>
          <p:cNvPr id="1049347" name="Text 69"/>
          <p:cNvSpPr/>
          <p:nvPr/>
        </p:nvSpPr>
        <p:spPr>
          <a:xfrm>
            <a:off x="4994821" y="2305980"/>
            <a:ext cx="3573107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 webhook → runner Ubuntu/Windows</a:t>
            </a:r>
            <a:endParaRPr dirty="0" sz="800" lang="en-US"/>
          </a:p>
        </p:txBody>
      </p:sp>
      <p:sp>
        <p:nvSpPr>
          <p:cNvPr id="1049348" name="Text 70"/>
          <p:cNvSpPr/>
          <p:nvPr/>
        </p:nvSpPr>
        <p:spPr>
          <a:xfrm>
            <a:off x="6405042" y="2516721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1125" lang="en-US"/>
          </a:p>
        </p:txBody>
      </p:sp>
      <p:sp>
        <p:nvSpPr>
          <p:cNvPr id="1049349" name="Text 71"/>
          <p:cNvSpPr/>
          <p:nvPr/>
        </p:nvSpPr>
        <p:spPr>
          <a:xfrm>
            <a:off x="4373314" y="2659596"/>
            <a:ext cx="4177754" cy="389334"/>
          </a:xfrm>
          <a:prstGeom prst="roundRect">
            <a:avLst>
              <a:gd name="adj" fmla="val 19572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50" name="Text 72"/>
          <p:cNvSpPr/>
          <p:nvPr/>
        </p:nvSpPr>
        <p:spPr>
          <a:xfrm>
            <a:off x="4480471" y="2795327"/>
            <a:ext cx="20574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800" lang="en-US"/>
          </a:p>
        </p:txBody>
      </p:sp>
      <p:sp>
        <p:nvSpPr>
          <p:cNvPr id="1049351" name="Text 73"/>
          <p:cNvSpPr/>
          <p:nvPr/>
        </p:nvSpPr>
        <p:spPr>
          <a:xfrm>
            <a:off x="4694783" y="2747107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27AE60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52" name="Text 74"/>
          <p:cNvSpPr/>
          <p:nvPr/>
        </p:nvSpPr>
        <p:spPr>
          <a:xfrm>
            <a:off x="4708714" y="2761037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dirty="0" sz="1266" lang="en-US"/>
          </a:p>
        </p:txBody>
      </p:sp>
      <p:sp>
        <p:nvSpPr>
          <p:cNvPr id="1049353" name="Text 75"/>
          <p:cNvSpPr/>
          <p:nvPr/>
        </p:nvSpPr>
        <p:spPr>
          <a:xfrm>
            <a:off x="4994821" y="2723890"/>
            <a:ext cx="3463379" cy="115443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1013"/>
              </a:lnSpc>
              <a:buNone/>
            </a:pPr>
            <a:r>
              <a:rPr dirty="0" sz="1200" kern="0" lang="en-US" spc="2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 + BUILD</a:t>
            </a:r>
            <a:endParaRPr dirty="0" sz="1200" lang="en-US"/>
          </a:p>
        </p:txBody>
      </p:sp>
      <p:sp>
        <p:nvSpPr>
          <p:cNvPr id="1049354" name="Text 76"/>
          <p:cNvSpPr/>
          <p:nvPr/>
        </p:nvSpPr>
        <p:spPr>
          <a:xfrm>
            <a:off x="4994821" y="2866765"/>
            <a:ext cx="3573107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restore &amp;&amp; </a:t>
            </a: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</a:t>
            </a:r>
            <a:endParaRPr dirty="0" sz="800" lang="en-US"/>
          </a:p>
        </p:txBody>
      </p:sp>
      <p:sp>
        <p:nvSpPr>
          <p:cNvPr id="1049355" name="Text 77"/>
          <p:cNvSpPr/>
          <p:nvPr/>
        </p:nvSpPr>
        <p:spPr>
          <a:xfrm>
            <a:off x="6405042" y="3077505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1125" lang="en-US"/>
          </a:p>
        </p:txBody>
      </p:sp>
      <p:sp>
        <p:nvSpPr>
          <p:cNvPr id="1049356" name="Text 78"/>
          <p:cNvSpPr/>
          <p:nvPr/>
        </p:nvSpPr>
        <p:spPr>
          <a:xfrm>
            <a:off x="4373314" y="3220380"/>
            <a:ext cx="4177754" cy="389334"/>
          </a:xfrm>
          <a:prstGeom prst="roundRect">
            <a:avLst>
              <a:gd name="adj" fmla="val 19572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57" name="Text 79"/>
          <p:cNvSpPr/>
          <p:nvPr/>
        </p:nvSpPr>
        <p:spPr>
          <a:xfrm>
            <a:off x="4480471" y="3356111"/>
            <a:ext cx="20574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800" lang="en-US"/>
          </a:p>
        </p:txBody>
      </p:sp>
      <p:sp>
        <p:nvSpPr>
          <p:cNvPr id="1049358" name="Text 80"/>
          <p:cNvSpPr/>
          <p:nvPr/>
        </p:nvSpPr>
        <p:spPr>
          <a:xfrm>
            <a:off x="4694783" y="3307891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39C1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59" name="Text 81"/>
          <p:cNvSpPr/>
          <p:nvPr/>
        </p:nvSpPr>
        <p:spPr>
          <a:xfrm>
            <a:off x="4708714" y="3321821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dirty="0" sz="1266" lang="en-US"/>
          </a:p>
        </p:txBody>
      </p:sp>
      <p:sp>
        <p:nvSpPr>
          <p:cNvPr id="1049360" name="Text 82"/>
          <p:cNvSpPr/>
          <p:nvPr/>
        </p:nvSpPr>
        <p:spPr>
          <a:xfrm>
            <a:off x="4994821" y="3284674"/>
            <a:ext cx="3463379" cy="115443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1013"/>
              </a:lnSpc>
              <a:buNone/>
            </a:pPr>
            <a:r>
              <a:rPr dirty="0" sz="1200" kern="0" lang="en-US" spc="2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dirty="0" sz="1200" lang="en-US"/>
          </a:p>
        </p:txBody>
      </p:sp>
      <p:sp>
        <p:nvSpPr>
          <p:cNvPr id="1049361" name="Text 83"/>
          <p:cNvSpPr/>
          <p:nvPr/>
        </p:nvSpPr>
        <p:spPr>
          <a:xfrm>
            <a:off x="4994821" y="3427549"/>
            <a:ext cx="3573107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dirty="0" sz="800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test (cobertura ≥60%)</a:t>
            </a:r>
            <a:endParaRPr dirty="0" sz="800" lang="en-US"/>
          </a:p>
        </p:txBody>
      </p:sp>
      <p:sp>
        <p:nvSpPr>
          <p:cNvPr id="1049362" name="Text 84"/>
          <p:cNvSpPr/>
          <p:nvPr/>
        </p:nvSpPr>
        <p:spPr>
          <a:xfrm>
            <a:off x="6405042" y="3638290"/>
            <a:ext cx="114300" cy="11430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1125" lang="en-US"/>
          </a:p>
        </p:txBody>
      </p:sp>
      <p:sp>
        <p:nvSpPr>
          <p:cNvPr id="1049363" name="Text 85"/>
          <p:cNvSpPr/>
          <p:nvPr/>
        </p:nvSpPr>
        <p:spPr>
          <a:xfrm>
            <a:off x="4373314" y="3781165"/>
            <a:ext cx="4177754" cy="389334"/>
          </a:xfrm>
          <a:prstGeom prst="roundRect">
            <a:avLst>
              <a:gd name="adj" fmla="val 19572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64" name="Text 86"/>
          <p:cNvSpPr/>
          <p:nvPr/>
        </p:nvSpPr>
        <p:spPr>
          <a:xfrm>
            <a:off x="4480471" y="3916896"/>
            <a:ext cx="20574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dirty="0" sz="800" lang="en-US"/>
          </a:p>
        </p:txBody>
      </p:sp>
      <p:sp>
        <p:nvSpPr>
          <p:cNvPr id="1049365" name="Text 87"/>
          <p:cNvSpPr/>
          <p:nvPr/>
        </p:nvSpPr>
        <p:spPr>
          <a:xfrm>
            <a:off x="4694783" y="3868675"/>
            <a:ext cx="214313" cy="214313"/>
          </a:xfrm>
          <a:prstGeom prst="roundRect">
            <a:avLst>
              <a:gd name="adj" fmla="val 35555"/>
            </a:avLst>
          </a:prstGeom>
          <a:solidFill>
            <a:srgbClr val="FF6B35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66" name="Text 88"/>
          <p:cNvSpPr/>
          <p:nvPr/>
        </p:nvSpPr>
        <p:spPr>
          <a:xfrm>
            <a:off x="4708714" y="3882606"/>
            <a:ext cx="186452" cy="18645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dirty="0" sz="1266" lang="en-US"/>
          </a:p>
        </p:txBody>
      </p:sp>
      <p:sp>
        <p:nvSpPr>
          <p:cNvPr id="1049367" name="Text 89"/>
          <p:cNvSpPr/>
          <p:nvPr/>
        </p:nvSpPr>
        <p:spPr>
          <a:xfrm>
            <a:off x="4994821" y="3845458"/>
            <a:ext cx="3463379" cy="115443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1013"/>
              </a:lnSpc>
              <a:buNone/>
            </a:pPr>
            <a:r>
              <a:rPr dirty="0" sz="1200" kern="0" lang="en-US" spc="2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FEEDBACK</a:t>
            </a:r>
            <a:endParaRPr dirty="0" sz="1200" lang="en-US"/>
          </a:p>
        </p:txBody>
      </p:sp>
      <p:sp>
        <p:nvSpPr>
          <p:cNvPr id="1049368" name="Text 90"/>
          <p:cNvSpPr/>
          <p:nvPr/>
        </p:nvSpPr>
        <p:spPr>
          <a:xfrm>
            <a:off x="4994821" y="3988333"/>
            <a:ext cx="3463379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checks </a:t>
            </a:r>
            <a:r>
              <a:rPr dirty="0" sz="800" kern="0" lang="en-US" spc="8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r>
              <a:rPr dirty="0" sz="800" kern="0" lang="en-US" spc="8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✗</a:t>
            </a:r>
            <a:endParaRPr dirty="0" sz="800" lang="en-US"/>
          </a:p>
        </p:txBody>
      </p:sp>
      <p:sp>
        <p:nvSpPr>
          <p:cNvPr id="1049369" name="Text 91"/>
          <p:cNvSpPr/>
          <p:nvPr/>
        </p:nvSpPr>
        <p:spPr>
          <a:xfrm>
            <a:off x="4376886" y="4324090"/>
            <a:ext cx="3242258" cy="162520"/>
          </a:xfrm>
          <a:prstGeom prst="roundRect">
            <a:avLst>
              <a:gd name="adj" fmla="val 5854956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70" name="Text 92"/>
          <p:cNvSpPr/>
          <p:nvPr/>
        </p:nvSpPr>
        <p:spPr>
          <a:xfrm>
            <a:off x="4587627" y="4356236"/>
            <a:ext cx="2956508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86"/>
              </a:lnSpc>
              <a:buNone/>
            </a:pPr>
            <a:r>
              <a:rPr dirty="0" sz="600" kern="0" lang="en-US" spc="2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RIESGOS MITIGADOS: (curva aprendizaje), (pérdida código)</a:t>
            </a:r>
            <a:endParaRPr dirty="0" sz="600" lang="en-US"/>
          </a:p>
        </p:txBody>
      </p:sp>
      <p:sp>
        <p:nvSpPr>
          <p:cNvPr id="1049371" name="Text 93"/>
          <p:cNvSpPr/>
          <p:nvPr/>
        </p:nvSpPr>
        <p:spPr>
          <a:xfrm>
            <a:off x="4451896" y="4358915"/>
            <a:ext cx="92869" cy="928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1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dirty="0" sz="914" lang="en-US"/>
          </a:p>
        </p:txBody>
      </p:sp>
      <p:sp>
        <p:nvSpPr>
          <p:cNvPr id="1049372" name="Text 94"/>
          <p:cNvSpPr/>
          <p:nvPr/>
        </p:nvSpPr>
        <p:spPr>
          <a:xfrm>
            <a:off x="5494772" y="4349093"/>
            <a:ext cx="1120676" cy="11251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24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R6</a:t>
            </a:r>
            <a:endParaRPr dirty="0" sz="800" lang="en-US"/>
          </a:p>
        </p:txBody>
      </p:sp>
      <p:sp>
        <p:nvSpPr>
          <p:cNvPr id="1049373" name="Text 95"/>
          <p:cNvSpPr/>
          <p:nvPr/>
        </p:nvSpPr>
        <p:spPr>
          <a:xfrm>
            <a:off x="6636879" y="4349093"/>
            <a:ext cx="907256" cy="11251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24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R7</a:t>
            </a:r>
            <a:endParaRPr dirty="0" sz="800" lang="en-US"/>
          </a:p>
        </p:txBody>
      </p:sp>
      <p:sp>
        <p:nvSpPr>
          <p:cNvPr id="1049374" name="Text 96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7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7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378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379" name="Shape 1"/>
          <p:cNvSpPr/>
          <p:nvPr/>
        </p:nvSpPr>
        <p:spPr>
          <a:xfrm>
            <a:off x="457200" y="1245133"/>
            <a:ext cx="4057650" cy="0"/>
          </a:xfrm>
          <a:prstGeom prst="line"/>
          <a:noFill/>
          <a:ln w="7144">
            <a:solidFill>
              <a:srgbClr val="4A90E2"/>
            </a:solidFill>
            <a:prstDash val="solid"/>
          </a:ln>
        </p:spPr>
      </p:sp>
      <p:sp>
        <p:nvSpPr>
          <p:cNvPr id="1049380" name="Shape 2"/>
          <p:cNvSpPr/>
          <p:nvPr/>
        </p:nvSpPr>
        <p:spPr>
          <a:xfrm>
            <a:off x="4511278" y="1241561"/>
            <a:ext cx="0" cy="2928938"/>
          </a:xfrm>
          <a:prstGeom prst="line"/>
          <a:noFill/>
          <a:ln w="7144">
            <a:solidFill>
              <a:srgbClr val="4A90E2"/>
            </a:solidFill>
            <a:prstDash val="solid"/>
          </a:ln>
        </p:spPr>
      </p:sp>
      <p:sp>
        <p:nvSpPr>
          <p:cNvPr id="1049381" name="Shape 3"/>
          <p:cNvSpPr/>
          <p:nvPr/>
        </p:nvSpPr>
        <p:spPr>
          <a:xfrm>
            <a:off x="457200" y="4166927"/>
            <a:ext cx="4057650" cy="0"/>
          </a:xfrm>
          <a:prstGeom prst="line"/>
          <a:noFill/>
          <a:ln w="7144">
            <a:solidFill>
              <a:srgbClr val="4A90E2"/>
            </a:solidFill>
            <a:prstDash val="solid"/>
          </a:ln>
        </p:spPr>
      </p:sp>
      <p:sp>
        <p:nvSpPr>
          <p:cNvPr id="1049382" name="Shape 4"/>
          <p:cNvSpPr/>
          <p:nvPr/>
        </p:nvSpPr>
        <p:spPr>
          <a:xfrm>
            <a:off x="471488" y="1241561"/>
            <a:ext cx="0" cy="2928938"/>
          </a:xfrm>
          <a:prstGeom prst="line"/>
          <a:noFill/>
          <a:ln w="28575">
            <a:solidFill>
              <a:srgbClr val="4A90E2"/>
            </a:solidFill>
            <a:prstDash val="solid"/>
          </a:ln>
        </p:spPr>
      </p:sp>
      <p:sp>
        <p:nvSpPr>
          <p:cNvPr id="1049383" name="Shape 5"/>
          <p:cNvSpPr/>
          <p:nvPr/>
        </p:nvSpPr>
        <p:spPr>
          <a:xfrm>
            <a:off x="4629150" y="1245133"/>
            <a:ext cx="4057650" cy="0"/>
          </a:xfrm>
          <a:prstGeom prst="line"/>
          <a:noFill/>
          <a:ln w="7144">
            <a:solidFill>
              <a:srgbClr val="FF6B35"/>
            </a:solidFill>
            <a:prstDash val="solid"/>
          </a:ln>
        </p:spPr>
      </p:sp>
      <p:sp>
        <p:nvSpPr>
          <p:cNvPr id="1049384" name="Shape 6"/>
          <p:cNvSpPr/>
          <p:nvPr/>
        </p:nvSpPr>
        <p:spPr>
          <a:xfrm>
            <a:off x="8683228" y="1241561"/>
            <a:ext cx="0" cy="2928938"/>
          </a:xfrm>
          <a:prstGeom prst="line"/>
          <a:noFill/>
          <a:ln w="7144">
            <a:solidFill>
              <a:srgbClr val="FF6B35"/>
            </a:solidFill>
            <a:prstDash val="solid"/>
          </a:ln>
        </p:spPr>
      </p:sp>
      <p:sp>
        <p:nvSpPr>
          <p:cNvPr id="1049385" name="Shape 7"/>
          <p:cNvSpPr/>
          <p:nvPr/>
        </p:nvSpPr>
        <p:spPr>
          <a:xfrm>
            <a:off x="4629150" y="4166927"/>
            <a:ext cx="4057650" cy="0"/>
          </a:xfrm>
          <a:prstGeom prst="line"/>
          <a:noFill/>
          <a:ln w="7144">
            <a:solidFill>
              <a:srgbClr val="FF6B35"/>
            </a:solidFill>
            <a:prstDash val="solid"/>
          </a:ln>
        </p:spPr>
      </p:sp>
      <p:sp>
        <p:nvSpPr>
          <p:cNvPr id="1049386" name="Shape 8"/>
          <p:cNvSpPr/>
          <p:nvPr/>
        </p:nvSpPr>
        <p:spPr>
          <a:xfrm>
            <a:off x="4643438" y="1241561"/>
            <a:ext cx="0" cy="2928938"/>
          </a:xfrm>
          <a:prstGeom prst="line"/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049387" name="Shape 9"/>
          <p:cNvSpPr/>
          <p:nvPr/>
        </p:nvSpPr>
        <p:spPr>
          <a:xfrm>
            <a:off x="457200" y="4259796"/>
            <a:ext cx="8229600" cy="0"/>
          </a:xfrm>
          <a:prstGeom prst="line"/>
          <a:noFill/>
          <a:ln w="7144">
            <a:solidFill>
              <a:srgbClr val="F39C12"/>
            </a:solidFill>
            <a:prstDash val="solid"/>
          </a:ln>
        </p:spPr>
      </p:sp>
      <p:sp>
        <p:nvSpPr>
          <p:cNvPr id="1049388" name="Shape 10"/>
          <p:cNvSpPr/>
          <p:nvPr/>
        </p:nvSpPr>
        <p:spPr>
          <a:xfrm>
            <a:off x="8683228" y="4256224"/>
            <a:ext cx="0" cy="300038"/>
          </a:xfrm>
          <a:prstGeom prst="line"/>
          <a:noFill/>
          <a:ln w="7144">
            <a:solidFill>
              <a:srgbClr val="F39C12"/>
            </a:solidFill>
            <a:prstDash val="solid"/>
          </a:ln>
        </p:spPr>
      </p:sp>
      <p:sp>
        <p:nvSpPr>
          <p:cNvPr id="1049389" name="Shape 11"/>
          <p:cNvSpPr/>
          <p:nvPr/>
        </p:nvSpPr>
        <p:spPr>
          <a:xfrm>
            <a:off x="457200" y="4552690"/>
            <a:ext cx="8229600" cy="0"/>
          </a:xfrm>
          <a:prstGeom prst="line"/>
          <a:noFill/>
          <a:ln w="7144">
            <a:solidFill>
              <a:srgbClr val="F39C12"/>
            </a:solidFill>
            <a:prstDash val="solid"/>
          </a:ln>
        </p:spPr>
      </p:sp>
      <p:sp>
        <p:nvSpPr>
          <p:cNvPr id="1049390" name="Shape 12"/>
          <p:cNvSpPr/>
          <p:nvPr/>
        </p:nvSpPr>
        <p:spPr>
          <a:xfrm>
            <a:off x="471488" y="4256224"/>
            <a:ext cx="0" cy="300038"/>
          </a:xfrm>
          <a:prstGeom prst="line"/>
          <a:noFill/>
          <a:ln w="28575">
            <a:solidFill>
              <a:srgbClr val="F39C12"/>
            </a:solidFill>
            <a:prstDash val="solid"/>
          </a:ln>
        </p:spPr>
      </p:sp>
      <p:sp>
        <p:nvSpPr>
          <p:cNvPr id="1049391" name="Shape 13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392" name="Text 14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3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 GITFLOW Y CI/CD</a:t>
            </a:r>
            <a:endParaRPr dirty="0" sz="800" lang="en-US"/>
          </a:p>
        </p:txBody>
      </p:sp>
      <p:sp>
        <p:nvSpPr>
          <p:cNvPr id="1049393" name="Text 15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 / 27</a:t>
            </a:r>
            <a:endParaRPr dirty="0" sz="619" lang="en-US"/>
          </a:p>
        </p:txBody>
      </p:sp>
      <p:sp>
        <p:nvSpPr>
          <p:cNvPr id="1049394" name="Text 16"/>
          <p:cNvSpPr/>
          <p:nvPr/>
        </p:nvSpPr>
        <p:spPr>
          <a:xfrm>
            <a:off x="457200" y="696516"/>
            <a:ext cx="3863170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¿Qué es CD? Delivery vs Deployment</a:t>
            </a:r>
            <a:endParaRPr dirty="0" sz="1200" lang="en-US"/>
          </a:p>
        </p:txBody>
      </p:sp>
      <p:sp>
        <p:nvSpPr>
          <p:cNvPr id="1049395" name="Text 17"/>
          <p:cNvSpPr/>
          <p:nvPr/>
        </p:nvSpPr>
        <p:spPr>
          <a:xfrm>
            <a:off x="457200" y="987958"/>
            <a:ext cx="3577010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Diferencias · cuándo usar cada uno · cómo aplica a HabanaEntregas</a:t>
            </a:r>
            <a:endParaRPr dirty="0" sz="800" lang="en-US"/>
          </a:p>
        </p:txBody>
      </p:sp>
      <p:sp>
        <p:nvSpPr>
          <p:cNvPr id="1049396" name="Text 18"/>
          <p:cNvSpPr/>
          <p:nvPr/>
        </p:nvSpPr>
        <p:spPr>
          <a:xfrm>
            <a:off x="8270051" y="941738"/>
            <a:ext cx="432777" cy="196025"/>
          </a:xfrm>
          <a:prstGeom prst="roundRect">
            <a:avLst>
              <a:gd name="adj" fmla="val 4854215"/>
            </a:avLst>
          </a:prstGeom>
          <a:solidFill>
            <a:srgbClr val="F39C12">
              <a:alpha val="8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397" name="Text 19"/>
          <p:cNvSpPr/>
          <p:nvPr/>
        </p:nvSpPr>
        <p:spPr>
          <a:xfrm>
            <a:off x="8507537" y="995102"/>
            <a:ext cx="179263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dirty="0" sz="800" lang="en-US"/>
          </a:p>
        </p:txBody>
      </p:sp>
      <p:sp>
        <p:nvSpPr>
          <p:cNvPr id="1049398" name="Text 20"/>
          <p:cNvSpPr/>
          <p:nvPr/>
        </p:nvSpPr>
        <p:spPr>
          <a:xfrm>
            <a:off x="8364662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dirty="0" sz="984" lang="en-US"/>
          </a:p>
        </p:txBody>
      </p:sp>
      <p:sp>
        <p:nvSpPr>
          <p:cNvPr id="1049399" name="Text 21"/>
          <p:cNvSpPr/>
          <p:nvPr/>
        </p:nvSpPr>
        <p:spPr>
          <a:xfrm>
            <a:off x="457200" y="1241561"/>
            <a:ext cx="4057650" cy="2928938"/>
          </a:xfrm>
          <a:prstGeom prst="roundRect">
            <a:avLst>
              <a:gd name="adj" fmla="val 325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00" name="Text 22"/>
          <p:cNvSpPr/>
          <p:nvPr/>
        </p:nvSpPr>
        <p:spPr>
          <a:xfrm>
            <a:off x="600075" y="1350504"/>
            <a:ext cx="3636169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44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CONTINUOUS DELIVERY</a:t>
            </a:r>
            <a:endParaRPr dirty="0" sz="800" lang="en-US"/>
          </a:p>
        </p:txBody>
      </p:sp>
      <p:sp>
        <p:nvSpPr>
          <p:cNvPr id="1049401" name="Text 23"/>
          <p:cNvSpPr/>
          <p:nvPr/>
        </p:nvSpPr>
        <p:spPr>
          <a:xfrm>
            <a:off x="4250531" y="1348718"/>
            <a:ext cx="142875" cy="14287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dirty="0" sz="1406" lang="en-US"/>
          </a:p>
        </p:txBody>
      </p:sp>
      <p:sp>
        <p:nvSpPr>
          <p:cNvPr id="1049402" name="Text 24"/>
          <p:cNvSpPr/>
          <p:nvPr/>
        </p:nvSpPr>
        <p:spPr>
          <a:xfrm>
            <a:off x="600075" y="1548743"/>
            <a:ext cx="3793331" cy="317254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1020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cambio que pasa CI está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LISTO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para desplegar a producción, pero el despliegue requiere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aprobación manual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dirty="0" sz="800" lang="en-US"/>
          </a:p>
        </p:txBody>
      </p:sp>
      <p:sp>
        <p:nvSpPr>
          <p:cNvPr id="1049403" name="Text 25"/>
          <p:cNvSpPr/>
          <p:nvPr/>
        </p:nvSpPr>
        <p:spPr>
          <a:xfrm>
            <a:off x="603647" y="1897000"/>
            <a:ext cx="3786188" cy="460772"/>
          </a:xfrm>
          <a:prstGeom prst="roundRect">
            <a:avLst>
              <a:gd name="adj" fmla="val 8269"/>
            </a:avLst>
          </a:prstGeom>
          <a:solidFill>
            <a:srgbClr val="131313"/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04" name="Text 26"/>
          <p:cNvSpPr/>
          <p:nvPr/>
        </p:nvSpPr>
        <p:spPr>
          <a:xfrm>
            <a:off x="664369" y="1957722"/>
            <a:ext cx="3664744" cy="133302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</a:t>
            </a:r>
            <a:endParaRPr dirty="0" sz="800" lang="en-US"/>
          </a:p>
        </p:txBody>
      </p:sp>
      <p:sp>
        <p:nvSpPr>
          <p:cNvPr id="1049405" name="Text 27"/>
          <p:cNvSpPr/>
          <p:nvPr/>
        </p:nvSpPr>
        <p:spPr>
          <a:xfrm>
            <a:off x="664369" y="2112742"/>
            <a:ext cx="298698" cy="190024"/>
          </a:xfrm>
          <a:prstGeom prst="roundRect">
            <a:avLst>
              <a:gd name="adj" fmla="val 30075"/>
            </a:avLst>
          </a:prstGeom>
          <a:solidFill>
            <a:srgbClr val="FF6B35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06" name="Text 28"/>
          <p:cNvSpPr/>
          <p:nvPr/>
        </p:nvSpPr>
        <p:spPr>
          <a:xfrm>
            <a:off x="664369" y="2122922"/>
            <a:ext cx="298698" cy="169664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dirty="0" sz="800" lang="en-US"/>
          </a:p>
        </p:txBody>
      </p:sp>
      <p:sp>
        <p:nvSpPr>
          <p:cNvPr id="1049407" name="Text 29"/>
          <p:cNvSpPr/>
          <p:nvPr/>
        </p:nvSpPr>
        <p:spPr>
          <a:xfrm>
            <a:off x="991642" y="215774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49408" name="Text 30"/>
          <p:cNvSpPr/>
          <p:nvPr/>
        </p:nvSpPr>
        <p:spPr>
          <a:xfrm>
            <a:off x="1120229" y="2112742"/>
            <a:ext cx="332296" cy="190024"/>
          </a:xfrm>
          <a:prstGeom prst="roundRect">
            <a:avLst>
              <a:gd name="adj" fmla="val 30075"/>
            </a:avLst>
          </a:prstGeom>
          <a:solidFill>
            <a:srgbClr val="27AE60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09" name="Text 31"/>
          <p:cNvSpPr/>
          <p:nvPr/>
        </p:nvSpPr>
        <p:spPr>
          <a:xfrm>
            <a:off x="1120229" y="2122922"/>
            <a:ext cx="332296" cy="169664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CI ✓</a:t>
            </a:r>
            <a:endParaRPr dirty="0" sz="800" lang="en-US"/>
          </a:p>
        </p:txBody>
      </p:sp>
      <p:sp>
        <p:nvSpPr>
          <p:cNvPr id="1049410" name="Text 32"/>
          <p:cNvSpPr/>
          <p:nvPr/>
        </p:nvSpPr>
        <p:spPr>
          <a:xfrm>
            <a:off x="1481100" y="215774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49411" name="Text 33"/>
          <p:cNvSpPr/>
          <p:nvPr/>
        </p:nvSpPr>
        <p:spPr>
          <a:xfrm>
            <a:off x="1609688" y="2112742"/>
            <a:ext cx="436997" cy="190024"/>
          </a:xfrm>
          <a:prstGeom prst="roundRect">
            <a:avLst>
              <a:gd name="adj" fmla="val 30075"/>
            </a:avLst>
          </a:prstGeom>
          <a:solidFill>
            <a:srgbClr val="4A90E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12" name="Text 34"/>
          <p:cNvSpPr/>
          <p:nvPr/>
        </p:nvSpPr>
        <p:spPr>
          <a:xfrm>
            <a:off x="1592210" y="2122922"/>
            <a:ext cx="471952" cy="169664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endParaRPr dirty="0" sz="800" lang="en-US"/>
          </a:p>
        </p:txBody>
      </p:sp>
      <p:sp>
        <p:nvSpPr>
          <p:cNvPr id="1049413" name="Text 35"/>
          <p:cNvSpPr/>
          <p:nvPr/>
        </p:nvSpPr>
        <p:spPr>
          <a:xfrm>
            <a:off x="2075259" y="215774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49414" name="Text 36"/>
          <p:cNvSpPr/>
          <p:nvPr/>
        </p:nvSpPr>
        <p:spPr>
          <a:xfrm>
            <a:off x="2203847" y="2107741"/>
            <a:ext cx="814164" cy="200025"/>
          </a:xfrm>
          <a:prstGeom prst="roundRect">
            <a:avLst>
              <a:gd name="adj" fmla="val 28571"/>
            </a:avLst>
          </a:prstGeom>
          <a:solidFill>
            <a:srgbClr val="4A90E2">
              <a:alpha val="15000"/>
            </a:srgbClr>
          </a:solidFill>
          <a:ln w="7144">
            <a:solidFill>
              <a:srgbClr val="4A90E2"/>
            </a:solidFill>
            <a:prstDash val="dash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15" name="Text 37"/>
          <p:cNvSpPr/>
          <p:nvPr/>
        </p:nvSpPr>
        <p:spPr>
          <a:xfrm>
            <a:off x="2354602" y="2168463"/>
            <a:ext cx="705536" cy="12070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44"/>
              </a:lnSpc>
              <a:buNone/>
            </a:pPr>
            <a:r>
              <a:rPr b="1" dirty="0" sz="6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BOTÓN APROBAR</a:t>
            </a:r>
            <a:endParaRPr dirty="0" sz="600" lang="en-US"/>
          </a:p>
        </p:txBody>
      </p:sp>
      <p:sp>
        <p:nvSpPr>
          <p:cNvPr id="1049416" name="Text 38"/>
          <p:cNvSpPr/>
          <p:nvPr/>
        </p:nvSpPr>
        <p:spPr>
          <a:xfrm>
            <a:off x="2268141" y="2164891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dirty="0" sz="844" lang="en-US"/>
          </a:p>
        </p:txBody>
      </p:sp>
      <p:sp>
        <p:nvSpPr>
          <p:cNvPr id="1049417" name="Text 39"/>
          <p:cNvSpPr/>
          <p:nvPr/>
        </p:nvSpPr>
        <p:spPr>
          <a:xfrm>
            <a:off x="3046586" y="215774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49418" name="Text 40"/>
          <p:cNvSpPr/>
          <p:nvPr/>
        </p:nvSpPr>
        <p:spPr>
          <a:xfrm>
            <a:off x="3175174" y="2112742"/>
            <a:ext cx="298698" cy="190024"/>
          </a:xfrm>
          <a:prstGeom prst="roundRect">
            <a:avLst>
              <a:gd name="adj" fmla="val 30075"/>
            </a:avLst>
          </a:prstGeom>
          <a:solidFill>
            <a:srgbClr val="27AE60">
              <a:alpha val="18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19" name="Text 41"/>
          <p:cNvSpPr/>
          <p:nvPr/>
        </p:nvSpPr>
        <p:spPr>
          <a:xfrm>
            <a:off x="3175174" y="2122922"/>
            <a:ext cx="298698" cy="169664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</a:t>
            </a:r>
            <a:endParaRPr dirty="0" sz="800" lang="en-US"/>
          </a:p>
        </p:txBody>
      </p:sp>
      <p:sp>
        <p:nvSpPr>
          <p:cNvPr id="1049420" name="Text 42"/>
          <p:cNvSpPr/>
          <p:nvPr/>
        </p:nvSpPr>
        <p:spPr>
          <a:xfrm>
            <a:off x="600075" y="2447069"/>
            <a:ext cx="2966085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</a:t>
            </a:r>
            <a:endParaRPr dirty="0" sz="800" lang="en-US"/>
          </a:p>
        </p:txBody>
      </p:sp>
      <p:sp>
        <p:nvSpPr>
          <p:cNvPr id="1049421" name="Text 43"/>
          <p:cNvSpPr/>
          <p:nvPr/>
        </p:nvSpPr>
        <p:spPr>
          <a:xfrm>
            <a:off x="600075" y="261494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dirty="0" sz="984" lang="en-US"/>
          </a:p>
        </p:txBody>
      </p:sp>
      <p:sp>
        <p:nvSpPr>
          <p:cNvPr id="1049422" name="Text 44"/>
          <p:cNvSpPr/>
          <p:nvPr/>
        </p:nvSpPr>
        <p:spPr>
          <a:xfrm>
            <a:off x="742950" y="2607804"/>
            <a:ext cx="1710928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Control humano</a:t>
            </a:r>
            <a:endParaRPr dirty="0" sz="800" lang="en-US"/>
          </a:p>
        </p:txBody>
      </p:sp>
      <p:sp>
        <p:nvSpPr>
          <p:cNvPr id="1049423" name="Text 45"/>
          <p:cNvSpPr/>
          <p:nvPr/>
        </p:nvSpPr>
        <p:spPr>
          <a:xfrm>
            <a:off x="600075" y="2763515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dirty="0" sz="984" lang="en-US"/>
          </a:p>
        </p:txBody>
      </p:sp>
      <p:sp>
        <p:nvSpPr>
          <p:cNvPr id="1049424" name="Text 46"/>
          <p:cNvSpPr/>
          <p:nvPr/>
        </p:nvSpPr>
        <p:spPr>
          <a:xfrm>
            <a:off x="742950" y="2756371"/>
            <a:ext cx="1710928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Sectores regulados</a:t>
            </a:r>
            <a:endParaRPr dirty="0" sz="800" lang="en-US"/>
          </a:p>
        </p:txBody>
      </p:sp>
      <p:sp>
        <p:nvSpPr>
          <p:cNvPr id="1049425" name="Text 47"/>
          <p:cNvSpPr/>
          <p:nvPr/>
        </p:nvSpPr>
        <p:spPr>
          <a:xfrm>
            <a:off x="600075" y="2912083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dirty="0" sz="984" lang="en-US"/>
          </a:p>
        </p:txBody>
      </p:sp>
      <p:sp>
        <p:nvSpPr>
          <p:cNvPr id="1049426" name="Text 48"/>
          <p:cNvSpPr/>
          <p:nvPr/>
        </p:nvSpPr>
        <p:spPr>
          <a:xfrm>
            <a:off x="742950" y="2904939"/>
            <a:ext cx="1710928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Soporta UAT</a:t>
            </a:r>
            <a:endParaRPr dirty="0" sz="800" lang="en-US"/>
          </a:p>
        </p:txBody>
      </p:sp>
      <p:sp>
        <p:nvSpPr>
          <p:cNvPr id="1049427" name="Text 49"/>
          <p:cNvSpPr/>
          <p:nvPr/>
        </p:nvSpPr>
        <p:spPr>
          <a:xfrm>
            <a:off x="2539603" y="2447069"/>
            <a:ext cx="1853803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CONTRAS</a:t>
            </a:r>
            <a:endParaRPr dirty="0" sz="800" lang="en-US"/>
          </a:p>
        </p:txBody>
      </p:sp>
      <p:sp>
        <p:nvSpPr>
          <p:cNvPr id="1049428" name="Text 50"/>
          <p:cNvSpPr/>
          <p:nvPr/>
        </p:nvSpPr>
        <p:spPr>
          <a:xfrm>
            <a:off x="2539603" y="261494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dirty="0" sz="984" lang="en-US"/>
          </a:p>
        </p:txBody>
      </p:sp>
      <p:sp>
        <p:nvSpPr>
          <p:cNvPr id="1049429" name="Text 51"/>
          <p:cNvSpPr/>
          <p:nvPr/>
        </p:nvSpPr>
        <p:spPr>
          <a:xfrm>
            <a:off x="2682478" y="2607804"/>
            <a:ext cx="1710928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Ciclo más lento</a:t>
            </a:r>
            <a:endParaRPr dirty="0" sz="800" lang="en-US"/>
          </a:p>
        </p:txBody>
      </p:sp>
      <p:sp>
        <p:nvSpPr>
          <p:cNvPr id="1049430" name="Text 52"/>
          <p:cNvSpPr/>
          <p:nvPr/>
        </p:nvSpPr>
        <p:spPr>
          <a:xfrm>
            <a:off x="2539603" y="2763515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dirty="0" sz="984" lang="en-US"/>
          </a:p>
        </p:txBody>
      </p:sp>
      <p:sp>
        <p:nvSpPr>
          <p:cNvPr id="1049431" name="Text 53"/>
          <p:cNvSpPr/>
          <p:nvPr/>
        </p:nvSpPr>
        <p:spPr>
          <a:xfrm>
            <a:off x="2682478" y="2756371"/>
            <a:ext cx="1710928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Cuello de botella humano</a:t>
            </a:r>
            <a:endParaRPr dirty="0" sz="800" lang="en-US"/>
          </a:p>
        </p:txBody>
      </p:sp>
      <p:sp>
        <p:nvSpPr>
          <p:cNvPr id="1049432" name="Text 54"/>
          <p:cNvSpPr/>
          <p:nvPr/>
        </p:nvSpPr>
        <p:spPr>
          <a:xfrm>
            <a:off x="603647" y="3904841"/>
            <a:ext cx="3742767" cy="154930"/>
          </a:xfrm>
          <a:prstGeom prst="roundRect">
            <a:avLst>
              <a:gd name="adj" fmla="val 6141790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33" name="Text 55"/>
          <p:cNvSpPr/>
          <p:nvPr/>
        </p:nvSpPr>
        <p:spPr>
          <a:xfrm>
            <a:off x="814388" y="3936988"/>
            <a:ext cx="3457017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27"/>
              </a:lnSpc>
              <a:buNone/>
            </a:pPr>
            <a:r>
              <a:rPr dirty="0" sz="600" kern="0" lang="en-US" spc="24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HABANAENTREGAS USA ESTE: entregas E1–E3 con aprobación del cliente y UAT</a:t>
            </a:r>
            <a:endParaRPr dirty="0" sz="600" lang="en-US"/>
          </a:p>
        </p:txBody>
      </p:sp>
      <p:sp>
        <p:nvSpPr>
          <p:cNvPr id="1049434" name="Text 56"/>
          <p:cNvSpPr/>
          <p:nvPr/>
        </p:nvSpPr>
        <p:spPr>
          <a:xfrm>
            <a:off x="678656" y="3935871"/>
            <a:ext cx="92869" cy="928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1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914" lang="en-US"/>
          </a:p>
        </p:txBody>
      </p:sp>
      <p:sp>
        <p:nvSpPr>
          <p:cNvPr id="1049435" name="Text 57"/>
          <p:cNvSpPr/>
          <p:nvPr/>
        </p:nvSpPr>
        <p:spPr>
          <a:xfrm>
            <a:off x="4629150" y="1241561"/>
            <a:ext cx="4057650" cy="2928938"/>
          </a:xfrm>
          <a:prstGeom prst="roundRect">
            <a:avLst>
              <a:gd name="adj" fmla="val 325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36" name="Text 58"/>
          <p:cNvSpPr/>
          <p:nvPr/>
        </p:nvSpPr>
        <p:spPr>
          <a:xfrm>
            <a:off x="4772025" y="1350504"/>
            <a:ext cx="3636169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44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CONTINUOUS DEPLOYMENT</a:t>
            </a:r>
            <a:endParaRPr dirty="0" sz="800" lang="en-US"/>
          </a:p>
        </p:txBody>
      </p:sp>
      <p:sp>
        <p:nvSpPr>
          <p:cNvPr id="1049437" name="Text 59"/>
          <p:cNvSpPr/>
          <p:nvPr/>
        </p:nvSpPr>
        <p:spPr>
          <a:xfrm>
            <a:off x="8422481" y="1348718"/>
            <a:ext cx="142875" cy="14287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dirty="0" sz="1406" lang="en-US"/>
          </a:p>
        </p:txBody>
      </p:sp>
      <p:sp>
        <p:nvSpPr>
          <p:cNvPr id="1049438" name="Text 60"/>
          <p:cNvSpPr/>
          <p:nvPr/>
        </p:nvSpPr>
        <p:spPr>
          <a:xfrm>
            <a:off x="4772025" y="1548743"/>
            <a:ext cx="3793331" cy="317254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1020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cambio que pasa CI se </a:t>
            </a:r>
            <a:r>
              <a:rPr dirty="0" sz="800" kern="0" lang="en-US" spc="8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DESPLIEGA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automáticamente a producción </a:t>
            </a:r>
            <a:r>
              <a:rPr dirty="0" sz="800" kern="0" lang="en-US" spc="8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 intervención humana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dirty="0" sz="800" lang="en-US"/>
          </a:p>
        </p:txBody>
      </p:sp>
      <p:sp>
        <p:nvSpPr>
          <p:cNvPr id="1049439" name="Text 61"/>
          <p:cNvSpPr/>
          <p:nvPr/>
        </p:nvSpPr>
        <p:spPr>
          <a:xfrm>
            <a:off x="4775597" y="1897000"/>
            <a:ext cx="3786188" cy="451842"/>
          </a:xfrm>
          <a:prstGeom prst="roundRect">
            <a:avLst>
              <a:gd name="adj" fmla="val 8432"/>
            </a:avLst>
          </a:prstGeom>
          <a:solidFill>
            <a:srgbClr val="131313"/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40" name="Text 62"/>
          <p:cNvSpPr/>
          <p:nvPr/>
        </p:nvSpPr>
        <p:spPr>
          <a:xfrm>
            <a:off x="4836319" y="1957722"/>
            <a:ext cx="3664744" cy="133302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</a:t>
            </a:r>
            <a:endParaRPr dirty="0" sz="800" lang="en-US"/>
          </a:p>
        </p:txBody>
      </p:sp>
      <p:sp>
        <p:nvSpPr>
          <p:cNvPr id="1049441" name="Text 63"/>
          <p:cNvSpPr/>
          <p:nvPr/>
        </p:nvSpPr>
        <p:spPr>
          <a:xfrm>
            <a:off x="4836319" y="2108277"/>
            <a:ext cx="298698" cy="190024"/>
          </a:xfrm>
          <a:prstGeom prst="roundRect">
            <a:avLst>
              <a:gd name="adj" fmla="val 30075"/>
            </a:avLst>
          </a:prstGeom>
          <a:solidFill>
            <a:srgbClr val="FF6B35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42" name="Text 64"/>
          <p:cNvSpPr/>
          <p:nvPr/>
        </p:nvSpPr>
        <p:spPr>
          <a:xfrm>
            <a:off x="4836319" y="2118457"/>
            <a:ext cx="298698" cy="169664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dirty="0" sz="800" lang="en-US"/>
          </a:p>
        </p:txBody>
      </p:sp>
      <p:sp>
        <p:nvSpPr>
          <p:cNvPr id="1049443" name="Text 65"/>
          <p:cNvSpPr/>
          <p:nvPr/>
        </p:nvSpPr>
        <p:spPr>
          <a:xfrm>
            <a:off x="5163592" y="2153283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49444" name="Text 66"/>
          <p:cNvSpPr/>
          <p:nvPr/>
        </p:nvSpPr>
        <p:spPr>
          <a:xfrm>
            <a:off x="5292179" y="2108277"/>
            <a:ext cx="332296" cy="190024"/>
          </a:xfrm>
          <a:prstGeom prst="roundRect">
            <a:avLst>
              <a:gd name="adj" fmla="val 30075"/>
            </a:avLst>
          </a:prstGeom>
          <a:solidFill>
            <a:srgbClr val="27AE60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45" name="Text 67"/>
          <p:cNvSpPr/>
          <p:nvPr/>
        </p:nvSpPr>
        <p:spPr>
          <a:xfrm>
            <a:off x="5292179" y="2118457"/>
            <a:ext cx="332296" cy="169664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CI ✓</a:t>
            </a:r>
            <a:endParaRPr dirty="0" sz="800" lang="en-US"/>
          </a:p>
        </p:txBody>
      </p:sp>
      <p:sp>
        <p:nvSpPr>
          <p:cNvPr id="1049446" name="Text 68"/>
          <p:cNvSpPr/>
          <p:nvPr/>
        </p:nvSpPr>
        <p:spPr>
          <a:xfrm>
            <a:off x="5653050" y="2153283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49447" name="Text 69"/>
          <p:cNvSpPr/>
          <p:nvPr/>
        </p:nvSpPr>
        <p:spPr>
          <a:xfrm>
            <a:off x="5781638" y="2108277"/>
            <a:ext cx="298698" cy="190024"/>
          </a:xfrm>
          <a:prstGeom prst="roundRect">
            <a:avLst>
              <a:gd name="adj" fmla="val 30075"/>
            </a:avLst>
          </a:prstGeom>
          <a:solidFill>
            <a:srgbClr val="27AE60">
              <a:alpha val="18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48" name="Text 70"/>
          <p:cNvSpPr/>
          <p:nvPr/>
        </p:nvSpPr>
        <p:spPr>
          <a:xfrm>
            <a:off x="5781638" y="2118457"/>
            <a:ext cx="298698" cy="169664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</a:t>
            </a:r>
            <a:endParaRPr dirty="0" sz="800" lang="en-US"/>
          </a:p>
        </p:txBody>
      </p:sp>
      <p:sp>
        <p:nvSpPr>
          <p:cNvPr id="1049449" name="Text 71"/>
          <p:cNvSpPr/>
          <p:nvPr/>
        </p:nvSpPr>
        <p:spPr>
          <a:xfrm>
            <a:off x="6137486" y="2144353"/>
            <a:ext cx="2363577" cy="143768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i="1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(SIN BOTÓN)</a:t>
            </a:r>
            <a:endParaRPr dirty="0" sz="800" lang="en-US"/>
          </a:p>
        </p:txBody>
      </p:sp>
      <p:sp>
        <p:nvSpPr>
          <p:cNvPr id="1049450" name="Text 72"/>
          <p:cNvSpPr/>
          <p:nvPr/>
        </p:nvSpPr>
        <p:spPr>
          <a:xfrm>
            <a:off x="4772025" y="2438140"/>
            <a:ext cx="2966085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PROS</a:t>
            </a:r>
            <a:endParaRPr dirty="0" sz="800" lang="en-US"/>
          </a:p>
        </p:txBody>
      </p:sp>
      <p:sp>
        <p:nvSpPr>
          <p:cNvPr id="1049451" name="Text 73"/>
          <p:cNvSpPr/>
          <p:nvPr/>
        </p:nvSpPr>
        <p:spPr>
          <a:xfrm>
            <a:off x="4772025" y="260601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dirty="0" sz="984" lang="en-US"/>
          </a:p>
        </p:txBody>
      </p:sp>
      <p:sp>
        <p:nvSpPr>
          <p:cNvPr id="1049452" name="Text 74"/>
          <p:cNvSpPr/>
          <p:nvPr/>
        </p:nvSpPr>
        <p:spPr>
          <a:xfrm>
            <a:off x="4914900" y="2598874"/>
            <a:ext cx="1710928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Ciclo mínimo</a:t>
            </a:r>
            <a:endParaRPr dirty="0" sz="800" lang="en-US"/>
          </a:p>
        </p:txBody>
      </p:sp>
      <p:sp>
        <p:nvSpPr>
          <p:cNvPr id="1049453" name="Text 75"/>
          <p:cNvSpPr/>
          <p:nvPr/>
        </p:nvSpPr>
        <p:spPr>
          <a:xfrm>
            <a:off x="4772025" y="2754585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＋</a:t>
            </a:r>
            <a:endParaRPr dirty="0" sz="984" lang="en-US"/>
          </a:p>
        </p:txBody>
      </p:sp>
      <p:sp>
        <p:nvSpPr>
          <p:cNvPr id="1049454" name="Text 76"/>
          <p:cNvSpPr/>
          <p:nvPr/>
        </p:nvSpPr>
        <p:spPr>
          <a:xfrm>
            <a:off x="4914900" y="2747442"/>
            <a:ext cx="1710928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Feedback real inmediato</a:t>
            </a:r>
            <a:endParaRPr dirty="0" sz="800" lang="en-US"/>
          </a:p>
        </p:txBody>
      </p:sp>
      <p:sp>
        <p:nvSpPr>
          <p:cNvPr id="1049455" name="Text 77"/>
          <p:cNvSpPr/>
          <p:nvPr/>
        </p:nvSpPr>
        <p:spPr>
          <a:xfrm>
            <a:off x="6711553" y="2438140"/>
            <a:ext cx="1853803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CONTRAS</a:t>
            </a:r>
            <a:endParaRPr dirty="0" sz="800" lang="en-US"/>
          </a:p>
        </p:txBody>
      </p:sp>
      <p:sp>
        <p:nvSpPr>
          <p:cNvPr id="1049456" name="Text 78"/>
          <p:cNvSpPr/>
          <p:nvPr/>
        </p:nvSpPr>
        <p:spPr>
          <a:xfrm>
            <a:off x="6711553" y="260601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dirty="0" sz="984" lang="en-US"/>
          </a:p>
        </p:txBody>
      </p:sp>
      <p:sp>
        <p:nvSpPr>
          <p:cNvPr id="1049457" name="Text 79"/>
          <p:cNvSpPr/>
          <p:nvPr/>
        </p:nvSpPr>
        <p:spPr>
          <a:xfrm>
            <a:off x="6854428" y="2598874"/>
            <a:ext cx="1710928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Requiere tests muy sólidos</a:t>
            </a:r>
            <a:endParaRPr dirty="0" sz="800" lang="en-US"/>
          </a:p>
        </p:txBody>
      </p:sp>
      <p:sp>
        <p:nvSpPr>
          <p:cNvPr id="1049458" name="Text 80"/>
          <p:cNvSpPr/>
          <p:nvPr/>
        </p:nvSpPr>
        <p:spPr>
          <a:xfrm>
            <a:off x="6711553" y="2754585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−</a:t>
            </a:r>
            <a:endParaRPr dirty="0" sz="984" lang="en-US"/>
          </a:p>
        </p:txBody>
      </p:sp>
      <p:sp>
        <p:nvSpPr>
          <p:cNvPr id="1049459" name="Text 81"/>
          <p:cNvSpPr/>
          <p:nvPr/>
        </p:nvSpPr>
        <p:spPr>
          <a:xfrm>
            <a:off x="6854428" y="2747442"/>
            <a:ext cx="1710928" cy="15359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45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apto para cambios breaking</a:t>
            </a:r>
            <a:endParaRPr dirty="0" sz="800" lang="en-US"/>
          </a:p>
        </p:txBody>
      </p:sp>
      <p:sp>
        <p:nvSpPr>
          <p:cNvPr id="1049460" name="Text 82"/>
          <p:cNvSpPr/>
          <p:nvPr/>
        </p:nvSpPr>
        <p:spPr>
          <a:xfrm>
            <a:off x="4775597" y="3904841"/>
            <a:ext cx="3358679" cy="154930"/>
          </a:xfrm>
          <a:prstGeom prst="roundRect">
            <a:avLst>
              <a:gd name="adj" fmla="val 6141790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61" name="Text 83"/>
          <p:cNvSpPr/>
          <p:nvPr/>
        </p:nvSpPr>
        <p:spPr>
          <a:xfrm>
            <a:off x="4986338" y="3936988"/>
            <a:ext cx="3072929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27"/>
              </a:lnSpc>
              <a:buNone/>
            </a:pPr>
            <a:r>
              <a:rPr dirty="0" sz="600" kern="0" lang="en-US" spc="24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HABANAENTREGAS NO USA ESTE: el cliente exige UAT formal por hito</a:t>
            </a:r>
            <a:endParaRPr dirty="0" sz="600" lang="en-US"/>
          </a:p>
        </p:txBody>
      </p:sp>
      <p:sp>
        <p:nvSpPr>
          <p:cNvPr id="1049462" name="Text 84"/>
          <p:cNvSpPr/>
          <p:nvPr/>
        </p:nvSpPr>
        <p:spPr>
          <a:xfrm>
            <a:off x="4850606" y="3935871"/>
            <a:ext cx="92869" cy="928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1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⊘</a:t>
            </a:r>
            <a:endParaRPr dirty="0" sz="914" lang="en-US"/>
          </a:p>
        </p:txBody>
      </p:sp>
      <p:sp>
        <p:nvSpPr>
          <p:cNvPr id="1049463" name="Text 85"/>
          <p:cNvSpPr/>
          <p:nvPr/>
        </p:nvSpPr>
        <p:spPr>
          <a:xfrm>
            <a:off x="457200" y="4256224"/>
            <a:ext cx="8229600" cy="300038"/>
          </a:xfrm>
          <a:prstGeom prst="roundRect">
            <a:avLst>
              <a:gd name="adj" fmla="val 25397"/>
            </a:avLst>
          </a:prstGeom>
          <a:solidFill>
            <a:srgbClr val="F39C12">
              <a:alpha val="8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464" name="Text 86"/>
          <p:cNvSpPr/>
          <p:nvPr/>
        </p:nvSpPr>
        <p:spPr>
          <a:xfrm>
            <a:off x="600075" y="4334805"/>
            <a:ext cx="142875" cy="14287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dirty="0" sz="1406" lang="en-US"/>
          </a:p>
        </p:txBody>
      </p:sp>
      <p:sp>
        <p:nvSpPr>
          <p:cNvPr id="1049465" name="Text 87"/>
          <p:cNvSpPr/>
          <p:nvPr/>
        </p:nvSpPr>
        <p:spPr>
          <a:xfrm>
            <a:off x="800100" y="4341949"/>
            <a:ext cx="1564990" cy="13573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13"/>
              </a:lnSpc>
              <a:buNone/>
            </a:pPr>
            <a:r>
              <a:rPr b="1" dirty="0" sz="675" kern="0" lang="en-US" spc="34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 TÍPICO · ENTORNOS</a:t>
            </a:r>
            <a:endParaRPr dirty="0" sz="675" lang="en-US"/>
          </a:p>
        </p:txBody>
      </p:sp>
      <p:sp>
        <p:nvSpPr>
          <p:cNvPr id="1049466" name="Text 88"/>
          <p:cNvSpPr/>
          <p:nvPr/>
        </p:nvSpPr>
        <p:spPr>
          <a:xfrm>
            <a:off x="2334890" y="4358915"/>
            <a:ext cx="238793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</a:t>
            </a:r>
            <a:endParaRPr dirty="0" sz="800" lang="en-US"/>
          </a:p>
        </p:txBody>
      </p:sp>
      <p:sp>
        <p:nvSpPr>
          <p:cNvPr id="1049467" name="Text 89"/>
          <p:cNvSpPr/>
          <p:nvPr/>
        </p:nvSpPr>
        <p:spPr>
          <a:xfrm>
            <a:off x="2536478" y="4358915"/>
            <a:ext cx="580358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(develop)</a:t>
            </a:r>
            <a:endParaRPr dirty="0" sz="800" lang="en-US"/>
          </a:p>
        </p:txBody>
      </p:sp>
      <p:sp>
        <p:nvSpPr>
          <p:cNvPr id="1049468" name="Text 90"/>
          <p:cNvSpPr/>
          <p:nvPr/>
        </p:nvSpPr>
        <p:spPr>
          <a:xfrm>
            <a:off x="3040335" y="4358915"/>
            <a:ext cx="100794" cy="928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kern="0" lang="en-US" spc="8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800" lang="en-US"/>
          </a:p>
        </p:txBody>
      </p:sp>
      <p:sp>
        <p:nvSpPr>
          <p:cNvPr id="1049469" name="Text 91"/>
          <p:cNvSpPr/>
          <p:nvPr/>
        </p:nvSpPr>
        <p:spPr>
          <a:xfrm>
            <a:off x="3130824" y="4358915"/>
            <a:ext cx="471952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staging</a:t>
            </a:r>
            <a:endParaRPr dirty="0" sz="800" lang="en-US"/>
          </a:p>
        </p:txBody>
      </p:sp>
      <p:sp>
        <p:nvSpPr>
          <p:cNvPr id="1049470" name="Text 92"/>
          <p:cNvSpPr/>
          <p:nvPr/>
        </p:nvSpPr>
        <p:spPr>
          <a:xfrm>
            <a:off x="3522488" y="4358915"/>
            <a:ext cx="633801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(release/)</a:t>
            </a:r>
            <a:endParaRPr dirty="0" sz="800" lang="en-US"/>
          </a:p>
        </p:txBody>
      </p:sp>
      <p:sp>
        <p:nvSpPr>
          <p:cNvPr id="1049471" name="Text 93"/>
          <p:cNvSpPr/>
          <p:nvPr/>
        </p:nvSpPr>
        <p:spPr>
          <a:xfrm>
            <a:off x="4098392" y="4358915"/>
            <a:ext cx="100794" cy="9286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00" kern="0" lang="en-US" spc="8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800" lang="en-US"/>
          </a:p>
        </p:txBody>
      </p:sp>
      <p:sp>
        <p:nvSpPr>
          <p:cNvPr id="1049472" name="Text 94"/>
          <p:cNvSpPr/>
          <p:nvPr/>
        </p:nvSpPr>
        <p:spPr>
          <a:xfrm>
            <a:off x="4199186" y="4358915"/>
            <a:ext cx="318509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</a:t>
            </a:r>
            <a:endParaRPr dirty="0" sz="800" lang="en-US"/>
          </a:p>
        </p:txBody>
      </p:sp>
      <p:sp>
        <p:nvSpPr>
          <p:cNvPr id="1049473" name="Text 95"/>
          <p:cNvSpPr/>
          <p:nvPr/>
        </p:nvSpPr>
        <p:spPr>
          <a:xfrm>
            <a:off x="4429521" y="4358915"/>
            <a:ext cx="633801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(main+tag)</a:t>
            </a:r>
            <a:endParaRPr dirty="0" sz="800" lang="en-US"/>
          </a:p>
        </p:txBody>
      </p:sp>
      <p:sp>
        <p:nvSpPr>
          <p:cNvPr id="1049474" name="Text 96"/>
          <p:cNvSpPr/>
          <p:nvPr/>
        </p:nvSpPr>
        <p:spPr>
          <a:xfrm>
            <a:off x="5005425" y="4358915"/>
            <a:ext cx="159254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dirty="0" sz="800" lang="en-US"/>
          </a:p>
        </p:txBody>
      </p:sp>
      <p:sp>
        <p:nvSpPr>
          <p:cNvPr id="1049475" name="Text 97"/>
          <p:cNvSpPr/>
          <p:nvPr/>
        </p:nvSpPr>
        <p:spPr>
          <a:xfrm>
            <a:off x="5098080" y="4358915"/>
            <a:ext cx="596636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artifacts</a:t>
            </a:r>
            <a:endParaRPr dirty="0" sz="800" lang="en-US"/>
          </a:p>
        </p:txBody>
      </p:sp>
      <p:sp>
        <p:nvSpPr>
          <p:cNvPr id="1049476" name="Text 98"/>
          <p:cNvSpPr/>
          <p:nvPr/>
        </p:nvSpPr>
        <p:spPr>
          <a:xfrm>
            <a:off x="5610076" y="4358915"/>
            <a:ext cx="826520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 publicados</a:t>
            </a:r>
            <a:endParaRPr dirty="0" sz="800" lang="en-US"/>
          </a:p>
        </p:txBody>
      </p:sp>
      <p:sp>
        <p:nvSpPr>
          <p:cNvPr id="1049477" name="Text 99"/>
          <p:cNvSpPr/>
          <p:nvPr/>
        </p:nvSpPr>
        <p:spPr>
          <a:xfrm>
            <a:off x="6365751" y="4358915"/>
            <a:ext cx="159254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</a:t>
            </a:r>
            <a:endParaRPr dirty="0" sz="800" lang="en-US"/>
          </a:p>
        </p:txBody>
      </p:sp>
      <p:sp>
        <p:nvSpPr>
          <p:cNvPr id="1049478" name="Text 100"/>
          <p:cNvSpPr/>
          <p:nvPr/>
        </p:nvSpPr>
        <p:spPr>
          <a:xfrm>
            <a:off x="6456240" y="4358915"/>
            <a:ext cx="471952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</a:t>
            </a:r>
            <a:endParaRPr dirty="0" sz="800" lang="en-US"/>
          </a:p>
        </p:txBody>
      </p:sp>
      <p:sp>
        <p:nvSpPr>
          <p:cNvPr id="1049479" name="Text 101"/>
          <p:cNvSpPr/>
          <p:nvPr/>
        </p:nvSpPr>
        <p:spPr>
          <a:xfrm>
            <a:off x="6869609" y="4358915"/>
            <a:ext cx="885651" cy="11876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647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 GitHub/Azure</a:t>
            </a:r>
            <a:endParaRPr dirty="0" sz="647" lang="en-US"/>
          </a:p>
        </p:txBody>
      </p:sp>
      <p:sp>
        <p:nvSpPr>
          <p:cNvPr id="1049480" name="Text 102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0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81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484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485" name="Shape 1"/>
          <p:cNvSpPr/>
          <p:nvPr/>
        </p:nvSpPr>
        <p:spPr>
          <a:xfrm>
            <a:off x="457200" y="1245133"/>
            <a:ext cx="365179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486" name="Shape 2"/>
          <p:cNvSpPr/>
          <p:nvPr/>
        </p:nvSpPr>
        <p:spPr>
          <a:xfrm>
            <a:off x="4105424" y="1241561"/>
            <a:ext cx="0" cy="3604022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487" name="Shape 3"/>
          <p:cNvSpPr/>
          <p:nvPr/>
        </p:nvSpPr>
        <p:spPr>
          <a:xfrm>
            <a:off x="457200" y="4842011"/>
            <a:ext cx="3651796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488" name="Shape 4"/>
          <p:cNvSpPr/>
          <p:nvPr/>
        </p:nvSpPr>
        <p:spPr>
          <a:xfrm>
            <a:off x="467916" y="1241561"/>
            <a:ext cx="0" cy="3604022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489" name="Shape 5"/>
          <p:cNvSpPr/>
          <p:nvPr/>
        </p:nvSpPr>
        <p:spPr>
          <a:xfrm>
            <a:off x="592931" y="1527311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490" name="Shape 6"/>
          <p:cNvSpPr/>
          <p:nvPr/>
        </p:nvSpPr>
        <p:spPr>
          <a:xfrm>
            <a:off x="3983980" y="1523740"/>
            <a:ext cx="0" cy="357188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491" name="Shape 7"/>
          <p:cNvSpPr/>
          <p:nvPr/>
        </p:nvSpPr>
        <p:spPr>
          <a:xfrm>
            <a:off x="592931" y="1877355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492" name="Shape 8"/>
          <p:cNvSpPr/>
          <p:nvPr/>
        </p:nvSpPr>
        <p:spPr>
          <a:xfrm>
            <a:off x="603647" y="1523740"/>
            <a:ext cx="0" cy="357188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493" name="Shape 9"/>
          <p:cNvSpPr/>
          <p:nvPr/>
        </p:nvSpPr>
        <p:spPr>
          <a:xfrm>
            <a:off x="592931" y="1998799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494" name="Shape 10"/>
          <p:cNvSpPr/>
          <p:nvPr/>
        </p:nvSpPr>
        <p:spPr>
          <a:xfrm>
            <a:off x="3983980" y="1995227"/>
            <a:ext cx="0" cy="357188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495" name="Shape 11"/>
          <p:cNvSpPr/>
          <p:nvPr/>
        </p:nvSpPr>
        <p:spPr>
          <a:xfrm>
            <a:off x="592931" y="2348843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496" name="Shape 12"/>
          <p:cNvSpPr/>
          <p:nvPr/>
        </p:nvSpPr>
        <p:spPr>
          <a:xfrm>
            <a:off x="603647" y="1995227"/>
            <a:ext cx="0" cy="357188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9497" name="Shape 13"/>
          <p:cNvSpPr/>
          <p:nvPr/>
        </p:nvSpPr>
        <p:spPr>
          <a:xfrm>
            <a:off x="592931" y="2470286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498" name="Shape 14"/>
          <p:cNvSpPr/>
          <p:nvPr/>
        </p:nvSpPr>
        <p:spPr>
          <a:xfrm>
            <a:off x="3983980" y="2466715"/>
            <a:ext cx="0" cy="357188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499" name="Shape 15"/>
          <p:cNvSpPr/>
          <p:nvPr/>
        </p:nvSpPr>
        <p:spPr>
          <a:xfrm>
            <a:off x="592931" y="2820330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00" name="Shape 16"/>
          <p:cNvSpPr/>
          <p:nvPr/>
        </p:nvSpPr>
        <p:spPr>
          <a:xfrm>
            <a:off x="603647" y="2466715"/>
            <a:ext cx="0" cy="357188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9501" name="Shape 17"/>
          <p:cNvSpPr/>
          <p:nvPr/>
        </p:nvSpPr>
        <p:spPr>
          <a:xfrm>
            <a:off x="592931" y="2941774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02" name="Shape 18"/>
          <p:cNvSpPr/>
          <p:nvPr/>
        </p:nvSpPr>
        <p:spPr>
          <a:xfrm>
            <a:off x="3983980" y="2938202"/>
            <a:ext cx="0" cy="357188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03" name="Shape 19"/>
          <p:cNvSpPr/>
          <p:nvPr/>
        </p:nvSpPr>
        <p:spPr>
          <a:xfrm>
            <a:off x="592931" y="3291818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04" name="Shape 20"/>
          <p:cNvSpPr/>
          <p:nvPr/>
        </p:nvSpPr>
        <p:spPr>
          <a:xfrm>
            <a:off x="603647" y="2938202"/>
            <a:ext cx="0" cy="357188"/>
          </a:xfrm>
          <a:prstGeom prst="line"/>
          <a:noFill/>
          <a:ln w="21431">
            <a:solidFill>
              <a:srgbClr val="27AE60"/>
            </a:solidFill>
            <a:prstDash val="solid"/>
          </a:ln>
        </p:spPr>
      </p:sp>
      <p:sp>
        <p:nvSpPr>
          <p:cNvPr id="1049505" name="Shape 21"/>
          <p:cNvSpPr/>
          <p:nvPr/>
        </p:nvSpPr>
        <p:spPr>
          <a:xfrm>
            <a:off x="592931" y="3413261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06" name="Shape 22"/>
          <p:cNvSpPr/>
          <p:nvPr/>
        </p:nvSpPr>
        <p:spPr>
          <a:xfrm>
            <a:off x="3983980" y="3409690"/>
            <a:ext cx="0" cy="357188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07" name="Shape 23"/>
          <p:cNvSpPr/>
          <p:nvPr/>
        </p:nvSpPr>
        <p:spPr>
          <a:xfrm>
            <a:off x="592931" y="3763305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08" name="Shape 24"/>
          <p:cNvSpPr/>
          <p:nvPr/>
        </p:nvSpPr>
        <p:spPr>
          <a:xfrm>
            <a:off x="603647" y="3409690"/>
            <a:ext cx="0" cy="357188"/>
          </a:xfrm>
          <a:prstGeom prst="line"/>
          <a:noFill/>
          <a:ln w="21431">
            <a:solidFill>
              <a:srgbClr val="F39C12"/>
            </a:solidFill>
            <a:prstDash val="solid"/>
          </a:ln>
        </p:spPr>
      </p:sp>
      <p:sp>
        <p:nvSpPr>
          <p:cNvPr id="1049509" name="Shape 25"/>
          <p:cNvSpPr/>
          <p:nvPr/>
        </p:nvSpPr>
        <p:spPr>
          <a:xfrm>
            <a:off x="592931" y="3884749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10" name="Shape 26"/>
          <p:cNvSpPr/>
          <p:nvPr/>
        </p:nvSpPr>
        <p:spPr>
          <a:xfrm>
            <a:off x="3983980" y="3881177"/>
            <a:ext cx="0" cy="357188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11" name="Shape 27"/>
          <p:cNvSpPr/>
          <p:nvPr/>
        </p:nvSpPr>
        <p:spPr>
          <a:xfrm>
            <a:off x="592931" y="4234793"/>
            <a:ext cx="3394621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12" name="Shape 28"/>
          <p:cNvSpPr/>
          <p:nvPr/>
        </p:nvSpPr>
        <p:spPr>
          <a:xfrm>
            <a:off x="603647" y="3881177"/>
            <a:ext cx="0" cy="357188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513" name="Shape 29"/>
          <p:cNvSpPr/>
          <p:nvPr/>
        </p:nvSpPr>
        <p:spPr>
          <a:xfrm>
            <a:off x="592931" y="4327661"/>
            <a:ext cx="3394621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514" name="Shape 30"/>
          <p:cNvSpPr/>
          <p:nvPr/>
        </p:nvSpPr>
        <p:spPr>
          <a:xfrm>
            <a:off x="4223296" y="1420155"/>
            <a:ext cx="446350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15" name="Shape 31"/>
          <p:cNvSpPr/>
          <p:nvPr/>
        </p:nvSpPr>
        <p:spPr>
          <a:xfrm>
            <a:off x="8683228" y="1416583"/>
            <a:ext cx="0" cy="3253978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16" name="Shape 32"/>
          <p:cNvSpPr/>
          <p:nvPr/>
        </p:nvSpPr>
        <p:spPr>
          <a:xfrm>
            <a:off x="4223296" y="4666990"/>
            <a:ext cx="4463504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17" name="Shape 33"/>
          <p:cNvSpPr/>
          <p:nvPr/>
        </p:nvSpPr>
        <p:spPr>
          <a:xfrm>
            <a:off x="4234011" y="1416583"/>
            <a:ext cx="0" cy="3253978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518" name="Shape 34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519" name="Text 35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3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FUNDAMENTOS GITFLOW Y CI/CD</a:t>
            </a:r>
            <a:endParaRPr dirty="0" sz="800" lang="en-US"/>
          </a:p>
        </p:txBody>
      </p:sp>
      <p:sp>
        <p:nvSpPr>
          <p:cNvPr id="1049520" name="Text 36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 / 27</a:t>
            </a:r>
            <a:endParaRPr dirty="0" sz="619" lang="en-US"/>
          </a:p>
        </p:txBody>
      </p:sp>
      <p:sp>
        <p:nvSpPr>
          <p:cNvPr id="1049521" name="Text 37"/>
          <p:cNvSpPr/>
          <p:nvPr/>
        </p:nvSpPr>
        <p:spPr>
          <a:xfrm>
            <a:off x="457200" y="696516"/>
            <a:ext cx="2844731" cy="264011"/>
          </a:xfrm>
          <a:prstGeom prst="rect"/>
          <a:noFill/>
        </p:spPr>
        <p:txBody>
          <a:bodyPr anchor="t" bIns="0" lIns="0" rIns="0" rtlCol="0" tIns="0" wrap="non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¿Qué es un pipeline CI/CD?</a:t>
            </a:r>
            <a:endParaRPr dirty="0" sz="1200" lang="en-US"/>
          </a:p>
        </p:txBody>
      </p:sp>
      <p:sp>
        <p:nvSpPr>
          <p:cNvPr id="1049522" name="Text 38"/>
          <p:cNvSpPr/>
          <p:nvPr/>
        </p:nvSpPr>
        <p:spPr>
          <a:xfrm>
            <a:off x="457200" y="987958"/>
            <a:ext cx="2709267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Etapas · runners · secrets · YAML mínimo para ASP.NET Core</a:t>
            </a:r>
            <a:endParaRPr dirty="0" sz="731" lang="en-US"/>
          </a:p>
        </p:txBody>
      </p:sp>
      <p:sp>
        <p:nvSpPr>
          <p:cNvPr id="1049523" name="Text 39"/>
          <p:cNvSpPr/>
          <p:nvPr/>
        </p:nvSpPr>
        <p:spPr>
          <a:xfrm>
            <a:off x="7961397" y="941738"/>
            <a:ext cx="748263" cy="196025"/>
          </a:xfrm>
          <a:prstGeom prst="roundRect">
            <a:avLst>
              <a:gd name="adj" fmla="val 4854215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24" name="Text 40"/>
          <p:cNvSpPr/>
          <p:nvPr/>
        </p:nvSpPr>
        <p:spPr>
          <a:xfrm>
            <a:off x="8205713" y="995102"/>
            <a:ext cx="481087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ETAPAS</a:t>
            </a:r>
            <a:endParaRPr dirty="0" sz="619" lang="en-US"/>
          </a:p>
        </p:txBody>
      </p:sp>
      <p:sp>
        <p:nvSpPr>
          <p:cNvPr id="1049525" name="Text 41"/>
          <p:cNvSpPr/>
          <p:nvPr/>
        </p:nvSpPr>
        <p:spPr>
          <a:xfrm>
            <a:off x="8062838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✿</a:t>
            </a:r>
            <a:endParaRPr dirty="0" sz="984" lang="en-US"/>
          </a:p>
        </p:txBody>
      </p:sp>
      <p:sp>
        <p:nvSpPr>
          <p:cNvPr id="1049526" name="Text 42"/>
          <p:cNvSpPr/>
          <p:nvPr/>
        </p:nvSpPr>
        <p:spPr>
          <a:xfrm>
            <a:off x="457200" y="1241561"/>
            <a:ext cx="3651796" cy="3604022"/>
          </a:xfrm>
          <a:prstGeom prst="roundRect">
            <a:avLst>
              <a:gd name="adj" fmla="val 2114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27" name="Text 43"/>
          <p:cNvSpPr/>
          <p:nvPr/>
        </p:nvSpPr>
        <p:spPr>
          <a:xfrm>
            <a:off x="592931" y="1348718"/>
            <a:ext cx="3394621" cy="147590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ETAPAS DEL PIPELINE</a:t>
            </a:r>
            <a:endParaRPr dirty="0" sz="800" lang="en-US"/>
          </a:p>
        </p:txBody>
      </p:sp>
      <p:sp>
        <p:nvSpPr>
          <p:cNvPr id="1049528" name="Text 44"/>
          <p:cNvSpPr/>
          <p:nvPr/>
        </p:nvSpPr>
        <p:spPr>
          <a:xfrm>
            <a:off x="592931" y="1523740"/>
            <a:ext cx="3394621" cy="357188"/>
          </a:xfrm>
          <a:prstGeom prst="roundRect">
            <a:avLst>
              <a:gd name="adj" fmla="val 18667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29" name="Text 45"/>
          <p:cNvSpPr/>
          <p:nvPr/>
        </p:nvSpPr>
        <p:spPr>
          <a:xfrm>
            <a:off x="700088" y="1643397"/>
            <a:ext cx="18288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800" lang="en-US"/>
          </a:p>
        </p:txBody>
      </p:sp>
      <p:sp>
        <p:nvSpPr>
          <p:cNvPr id="1049530" name="Text 46"/>
          <p:cNvSpPr/>
          <p:nvPr/>
        </p:nvSpPr>
        <p:spPr>
          <a:xfrm>
            <a:off x="885825" y="1609465"/>
            <a:ext cx="185738" cy="185738"/>
          </a:xfrm>
          <a:prstGeom prst="roundRect">
            <a:avLst>
              <a:gd name="adj" fmla="val 30769"/>
            </a:avLst>
          </a:prstGeom>
          <a:solidFill>
            <a:srgbClr val="FF6B35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31" name="Text 47"/>
          <p:cNvSpPr/>
          <p:nvPr/>
        </p:nvSpPr>
        <p:spPr>
          <a:xfrm>
            <a:off x="895826" y="1619466"/>
            <a:ext cx="165735" cy="16573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1125" lang="en-US"/>
          </a:p>
        </p:txBody>
      </p:sp>
      <p:sp>
        <p:nvSpPr>
          <p:cNvPr id="1049532" name="Text 48"/>
          <p:cNvSpPr/>
          <p:nvPr/>
        </p:nvSpPr>
        <p:spPr>
          <a:xfrm>
            <a:off x="1143000" y="1580890"/>
            <a:ext cx="2751683" cy="102941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b="1" dirty="0" sz="800" kern="0" lang="en-US" spc="26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CHECKOUT</a:t>
            </a:r>
            <a:endParaRPr dirty="0" sz="800" lang="en-US"/>
          </a:p>
        </p:txBody>
      </p:sp>
      <p:sp>
        <p:nvSpPr>
          <p:cNvPr id="1049533" name="Text 49"/>
          <p:cNvSpPr/>
          <p:nvPr/>
        </p:nvSpPr>
        <p:spPr>
          <a:xfrm>
            <a:off x="1143000" y="1711263"/>
            <a:ext cx="2751683" cy="11251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actions/checkout@v4</a:t>
            </a:r>
            <a:endParaRPr dirty="0" sz="800" lang="en-US"/>
          </a:p>
        </p:txBody>
      </p:sp>
      <p:sp>
        <p:nvSpPr>
          <p:cNvPr id="1049534" name="Text 50"/>
          <p:cNvSpPr/>
          <p:nvPr/>
        </p:nvSpPr>
        <p:spPr>
          <a:xfrm>
            <a:off x="2240235" y="1888071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984" lang="en-US"/>
          </a:p>
        </p:txBody>
      </p:sp>
      <p:sp>
        <p:nvSpPr>
          <p:cNvPr id="1049535" name="Text 51"/>
          <p:cNvSpPr/>
          <p:nvPr/>
        </p:nvSpPr>
        <p:spPr>
          <a:xfrm>
            <a:off x="592931" y="1995227"/>
            <a:ext cx="3394621" cy="357188"/>
          </a:xfrm>
          <a:prstGeom prst="roundRect">
            <a:avLst>
              <a:gd name="adj" fmla="val 18667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36" name="Text 52"/>
          <p:cNvSpPr/>
          <p:nvPr/>
        </p:nvSpPr>
        <p:spPr>
          <a:xfrm>
            <a:off x="700088" y="2114885"/>
            <a:ext cx="18288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800" lang="en-US"/>
          </a:p>
        </p:txBody>
      </p:sp>
      <p:sp>
        <p:nvSpPr>
          <p:cNvPr id="1049537" name="Text 53"/>
          <p:cNvSpPr/>
          <p:nvPr/>
        </p:nvSpPr>
        <p:spPr>
          <a:xfrm>
            <a:off x="885825" y="2080952"/>
            <a:ext cx="185738" cy="185738"/>
          </a:xfrm>
          <a:prstGeom prst="roundRect">
            <a:avLst>
              <a:gd name="adj" fmla="val 30769"/>
            </a:avLst>
          </a:prstGeom>
          <a:solidFill>
            <a:srgbClr val="4A90E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38" name="Text 54"/>
          <p:cNvSpPr/>
          <p:nvPr/>
        </p:nvSpPr>
        <p:spPr>
          <a:xfrm>
            <a:off x="895826" y="2090953"/>
            <a:ext cx="165735" cy="16573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1125" lang="en-US"/>
          </a:p>
        </p:txBody>
      </p:sp>
      <p:sp>
        <p:nvSpPr>
          <p:cNvPr id="1049539" name="Text 55"/>
          <p:cNvSpPr/>
          <p:nvPr/>
        </p:nvSpPr>
        <p:spPr>
          <a:xfrm>
            <a:off x="1143000" y="2052377"/>
            <a:ext cx="2751683" cy="102941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b="1" dirty="0" sz="800" kern="0" lang="en-US" spc="26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</a:t>
            </a:r>
            <a:endParaRPr dirty="0" sz="800" lang="en-US"/>
          </a:p>
        </p:txBody>
      </p:sp>
      <p:sp>
        <p:nvSpPr>
          <p:cNvPr id="1049540" name="Text 56"/>
          <p:cNvSpPr/>
          <p:nvPr/>
        </p:nvSpPr>
        <p:spPr>
          <a:xfrm>
            <a:off x="1143000" y="2182750"/>
            <a:ext cx="2751683" cy="11251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restore</a:t>
            </a:r>
            <a:endParaRPr dirty="0" sz="800" lang="en-US"/>
          </a:p>
        </p:txBody>
      </p:sp>
      <p:sp>
        <p:nvSpPr>
          <p:cNvPr id="1049541" name="Text 57"/>
          <p:cNvSpPr/>
          <p:nvPr/>
        </p:nvSpPr>
        <p:spPr>
          <a:xfrm>
            <a:off x="2240235" y="235955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984" lang="en-US"/>
          </a:p>
        </p:txBody>
      </p:sp>
      <p:sp>
        <p:nvSpPr>
          <p:cNvPr id="1049542" name="Text 58"/>
          <p:cNvSpPr/>
          <p:nvPr/>
        </p:nvSpPr>
        <p:spPr>
          <a:xfrm>
            <a:off x="592931" y="2466715"/>
            <a:ext cx="3394621" cy="357188"/>
          </a:xfrm>
          <a:prstGeom prst="roundRect">
            <a:avLst>
              <a:gd name="adj" fmla="val 18667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43" name="Text 59"/>
          <p:cNvSpPr/>
          <p:nvPr/>
        </p:nvSpPr>
        <p:spPr>
          <a:xfrm>
            <a:off x="700088" y="2586372"/>
            <a:ext cx="18288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800" lang="en-US"/>
          </a:p>
        </p:txBody>
      </p:sp>
      <p:sp>
        <p:nvSpPr>
          <p:cNvPr id="1049544" name="Text 60"/>
          <p:cNvSpPr/>
          <p:nvPr/>
        </p:nvSpPr>
        <p:spPr>
          <a:xfrm>
            <a:off x="885825" y="2552440"/>
            <a:ext cx="185738" cy="185738"/>
          </a:xfrm>
          <a:prstGeom prst="roundRect">
            <a:avLst>
              <a:gd name="adj" fmla="val 30769"/>
            </a:avLst>
          </a:prstGeom>
          <a:solidFill>
            <a:srgbClr val="4A90E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45" name="Text 61"/>
          <p:cNvSpPr/>
          <p:nvPr/>
        </p:nvSpPr>
        <p:spPr>
          <a:xfrm>
            <a:off x="895826" y="2562441"/>
            <a:ext cx="165735" cy="16573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dirty="0" sz="1125" lang="en-US"/>
          </a:p>
        </p:txBody>
      </p:sp>
      <p:sp>
        <p:nvSpPr>
          <p:cNvPr id="1049546" name="Text 62"/>
          <p:cNvSpPr/>
          <p:nvPr/>
        </p:nvSpPr>
        <p:spPr>
          <a:xfrm>
            <a:off x="1143000" y="2523865"/>
            <a:ext cx="2751683" cy="102941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b="1" dirty="0" sz="800" kern="0" lang="en-US" spc="26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dirty="0" sz="800" lang="en-US"/>
          </a:p>
        </p:txBody>
      </p:sp>
      <p:sp>
        <p:nvSpPr>
          <p:cNvPr id="1049547" name="Text 63"/>
          <p:cNvSpPr/>
          <p:nvPr/>
        </p:nvSpPr>
        <p:spPr>
          <a:xfrm>
            <a:off x="1143000" y="2654238"/>
            <a:ext cx="2751683" cy="11251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Release</a:t>
            </a:r>
            <a:endParaRPr dirty="0" sz="800" lang="en-US"/>
          </a:p>
        </p:txBody>
      </p:sp>
      <p:sp>
        <p:nvSpPr>
          <p:cNvPr id="1049548" name="Text 64"/>
          <p:cNvSpPr/>
          <p:nvPr/>
        </p:nvSpPr>
        <p:spPr>
          <a:xfrm>
            <a:off x="2240235" y="283104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984" lang="en-US"/>
          </a:p>
        </p:txBody>
      </p:sp>
      <p:sp>
        <p:nvSpPr>
          <p:cNvPr id="1049549" name="Text 65"/>
          <p:cNvSpPr/>
          <p:nvPr/>
        </p:nvSpPr>
        <p:spPr>
          <a:xfrm>
            <a:off x="592931" y="2938202"/>
            <a:ext cx="3394621" cy="357188"/>
          </a:xfrm>
          <a:prstGeom prst="roundRect">
            <a:avLst>
              <a:gd name="adj" fmla="val 18667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50" name="Text 66"/>
          <p:cNvSpPr/>
          <p:nvPr/>
        </p:nvSpPr>
        <p:spPr>
          <a:xfrm>
            <a:off x="700088" y="3057860"/>
            <a:ext cx="18288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800" lang="en-US"/>
          </a:p>
        </p:txBody>
      </p:sp>
      <p:sp>
        <p:nvSpPr>
          <p:cNvPr id="1049551" name="Text 67"/>
          <p:cNvSpPr/>
          <p:nvPr/>
        </p:nvSpPr>
        <p:spPr>
          <a:xfrm>
            <a:off x="885825" y="3023927"/>
            <a:ext cx="185738" cy="185738"/>
          </a:xfrm>
          <a:prstGeom prst="roundRect">
            <a:avLst>
              <a:gd name="adj" fmla="val 30769"/>
            </a:avLst>
          </a:prstGeom>
          <a:solidFill>
            <a:srgbClr val="27AE60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52" name="Text 68"/>
          <p:cNvSpPr/>
          <p:nvPr/>
        </p:nvSpPr>
        <p:spPr>
          <a:xfrm>
            <a:off x="895826" y="3033928"/>
            <a:ext cx="165735" cy="16573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dirty="0" sz="1125" lang="en-US"/>
          </a:p>
        </p:txBody>
      </p:sp>
      <p:sp>
        <p:nvSpPr>
          <p:cNvPr id="1049553" name="Text 69"/>
          <p:cNvSpPr/>
          <p:nvPr/>
        </p:nvSpPr>
        <p:spPr>
          <a:xfrm>
            <a:off x="1143000" y="2995352"/>
            <a:ext cx="2751683" cy="102941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b="1" dirty="0" sz="800" kern="0" lang="en-US" spc="26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dirty="0" sz="800" lang="en-US"/>
          </a:p>
        </p:txBody>
      </p:sp>
      <p:sp>
        <p:nvSpPr>
          <p:cNvPr id="1049554" name="Text 70"/>
          <p:cNvSpPr/>
          <p:nvPr/>
        </p:nvSpPr>
        <p:spPr>
          <a:xfrm>
            <a:off x="1143000" y="3125725"/>
            <a:ext cx="2751683" cy="11251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86"/>
              </a:lnSpc>
              <a:buNone/>
            </a:pPr>
            <a:r>
              <a:rPr dirty="0" sz="6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dirty="0" sz="6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</a:t>
            </a:r>
            <a:r>
              <a:rPr dirty="0" sz="6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--logger</a:t>
            </a:r>
            <a:r>
              <a:rPr dirty="0" sz="6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trx </a:t>
            </a:r>
            <a:r>
              <a:rPr dirty="0" sz="6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--collect:'XPlat Code Coverage'</a:t>
            </a:r>
            <a:endParaRPr dirty="0" sz="600" lang="en-US"/>
          </a:p>
        </p:txBody>
      </p:sp>
      <p:sp>
        <p:nvSpPr>
          <p:cNvPr id="1049555" name="Text 71"/>
          <p:cNvSpPr/>
          <p:nvPr/>
        </p:nvSpPr>
        <p:spPr>
          <a:xfrm>
            <a:off x="2240235" y="3302533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984" lang="en-US"/>
          </a:p>
        </p:txBody>
      </p:sp>
      <p:sp>
        <p:nvSpPr>
          <p:cNvPr id="1049556" name="Text 72"/>
          <p:cNvSpPr/>
          <p:nvPr/>
        </p:nvSpPr>
        <p:spPr>
          <a:xfrm>
            <a:off x="592931" y="3409690"/>
            <a:ext cx="3394621" cy="357188"/>
          </a:xfrm>
          <a:prstGeom prst="roundRect">
            <a:avLst>
              <a:gd name="adj" fmla="val 18667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57" name="Text 73"/>
          <p:cNvSpPr/>
          <p:nvPr/>
        </p:nvSpPr>
        <p:spPr>
          <a:xfrm>
            <a:off x="700088" y="3529347"/>
            <a:ext cx="18288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dirty="0" sz="800" lang="en-US"/>
          </a:p>
        </p:txBody>
      </p:sp>
      <p:sp>
        <p:nvSpPr>
          <p:cNvPr id="1049558" name="Text 74"/>
          <p:cNvSpPr/>
          <p:nvPr/>
        </p:nvSpPr>
        <p:spPr>
          <a:xfrm>
            <a:off x="885825" y="3495415"/>
            <a:ext cx="185738" cy="185738"/>
          </a:xfrm>
          <a:prstGeom prst="roundRect">
            <a:avLst>
              <a:gd name="adj" fmla="val 30769"/>
            </a:avLst>
          </a:prstGeom>
          <a:solidFill>
            <a:srgbClr val="F39C1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59" name="Text 75"/>
          <p:cNvSpPr/>
          <p:nvPr/>
        </p:nvSpPr>
        <p:spPr>
          <a:xfrm>
            <a:off x="895826" y="3505416"/>
            <a:ext cx="165735" cy="16573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125" lang="en-US"/>
          </a:p>
        </p:txBody>
      </p:sp>
      <p:sp>
        <p:nvSpPr>
          <p:cNvPr id="1049560" name="Text 76"/>
          <p:cNvSpPr/>
          <p:nvPr/>
        </p:nvSpPr>
        <p:spPr>
          <a:xfrm>
            <a:off x="1143000" y="3466840"/>
            <a:ext cx="2751683" cy="102941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b="1" dirty="0" sz="800" kern="0" lang="en-US" spc="26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PUBLISH</a:t>
            </a:r>
            <a:endParaRPr dirty="0" sz="800" lang="en-US"/>
          </a:p>
        </p:txBody>
      </p:sp>
      <p:sp>
        <p:nvSpPr>
          <p:cNvPr id="1049561" name="Text 77"/>
          <p:cNvSpPr/>
          <p:nvPr/>
        </p:nvSpPr>
        <p:spPr>
          <a:xfrm>
            <a:off x="1143000" y="3597213"/>
            <a:ext cx="2861411" cy="11251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publish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Release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artifact</a:t>
            </a:r>
            <a:endParaRPr dirty="0" sz="800" lang="en-US"/>
          </a:p>
        </p:txBody>
      </p:sp>
      <p:sp>
        <p:nvSpPr>
          <p:cNvPr id="1049562" name="Text 78"/>
          <p:cNvSpPr/>
          <p:nvPr/>
        </p:nvSpPr>
        <p:spPr>
          <a:xfrm>
            <a:off x="2240235" y="3774021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↓</a:t>
            </a:r>
            <a:endParaRPr dirty="0" sz="984" lang="en-US"/>
          </a:p>
        </p:txBody>
      </p:sp>
      <p:sp>
        <p:nvSpPr>
          <p:cNvPr id="1049563" name="Text 79"/>
          <p:cNvSpPr/>
          <p:nvPr/>
        </p:nvSpPr>
        <p:spPr>
          <a:xfrm>
            <a:off x="592931" y="3881177"/>
            <a:ext cx="3394621" cy="357188"/>
          </a:xfrm>
          <a:prstGeom prst="roundRect">
            <a:avLst>
              <a:gd name="adj" fmla="val 18667"/>
            </a:avLst>
          </a:prstGeom>
          <a:solidFill>
            <a:srgbClr val="131313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64" name="Text 80"/>
          <p:cNvSpPr/>
          <p:nvPr/>
        </p:nvSpPr>
        <p:spPr>
          <a:xfrm>
            <a:off x="700088" y="4000835"/>
            <a:ext cx="18288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dirty="0" sz="800" lang="en-US"/>
          </a:p>
        </p:txBody>
      </p:sp>
      <p:sp>
        <p:nvSpPr>
          <p:cNvPr id="1049565" name="Text 81"/>
          <p:cNvSpPr/>
          <p:nvPr/>
        </p:nvSpPr>
        <p:spPr>
          <a:xfrm>
            <a:off x="885825" y="3966902"/>
            <a:ext cx="185738" cy="185738"/>
          </a:xfrm>
          <a:prstGeom prst="roundRect">
            <a:avLst>
              <a:gd name="adj" fmla="val 30769"/>
            </a:avLst>
          </a:prstGeom>
          <a:solidFill>
            <a:srgbClr val="FF6B35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66" name="Text 82"/>
          <p:cNvSpPr/>
          <p:nvPr/>
        </p:nvSpPr>
        <p:spPr>
          <a:xfrm>
            <a:off x="895826" y="3976903"/>
            <a:ext cx="165735" cy="16573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125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dirty="0" sz="1125" lang="en-US"/>
          </a:p>
        </p:txBody>
      </p:sp>
      <p:sp>
        <p:nvSpPr>
          <p:cNvPr id="1049567" name="Text 83"/>
          <p:cNvSpPr/>
          <p:nvPr/>
        </p:nvSpPr>
        <p:spPr>
          <a:xfrm>
            <a:off x="1143000" y="3938327"/>
            <a:ext cx="2751683" cy="102941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b="1" dirty="0" sz="800" kern="0" lang="en-US" spc="26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dirty="0" sz="800" lang="en-US"/>
          </a:p>
        </p:txBody>
      </p:sp>
      <p:sp>
        <p:nvSpPr>
          <p:cNvPr id="1049568" name="Text 84"/>
          <p:cNvSpPr/>
          <p:nvPr/>
        </p:nvSpPr>
        <p:spPr>
          <a:xfrm>
            <a:off x="1143000" y="4068700"/>
            <a:ext cx="2861411" cy="11251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IIS via webdeploy o run-from-package</a:t>
            </a:r>
            <a:endParaRPr dirty="0" sz="800" lang="en-US"/>
          </a:p>
        </p:txBody>
      </p:sp>
      <p:sp>
        <p:nvSpPr>
          <p:cNvPr id="1049569" name="Text 85"/>
          <p:cNvSpPr/>
          <p:nvPr/>
        </p:nvSpPr>
        <p:spPr>
          <a:xfrm>
            <a:off x="596503" y="4399099"/>
            <a:ext cx="2061976" cy="150019"/>
          </a:xfrm>
          <a:prstGeom prst="roundRect">
            <a:avLst>
              <a:gd name="adj" fmla="val 634284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70" name="Text 86"/>
          <p:cNvSpPr/>
          <p:nvPr/>
        </p:nvSpPr>
        <p:spPr>
          <a:xfrm>
            <a:off x="800100" y="4431246"/>
            <a:ext cx="1783370" cy="120701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788"/>
              </a:lnSpc>
              <a:buNone/>
            </a:pPr>
            <a:r>
              <a:rPr dirty="0" sz="600" kern="0" lang="en-US" spc="23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RUNNERS: ubuntu-latest o windows-latest</a:t>
            </a:r>
            <a:endParaRPr dirty="0" sz="600" lang="en-US"/>
          </a:p>
        </p:txBody>
      </p:sp>
      <p:sp>
        <p:nvSpPr>
          <p:cNvPr id="1049571" name="Text 87"/>
          <p:cNvSpPr/>
          <p:nvPr/>
        </p:nvSpPr>
        <p:spPr>
          <a:xfrm>
            <a:off x="671513" y="4431246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844" lang="en-US"/>
          </a:p>
        </p:txBody>
      </p:sp>
      <p:sp>
        <p:nvSpPr>
          <p:cNvPr id="1049572" name="Text 88"/>
          <p:cNvSpPr/>
          <p:nvPr/>
        </p:nvSpPr>
        <p:spPr>
          <a:xfrm>
            <a:off x="596503" y="4584836"/>
            <a:ext cx="2702235" cy="150019"/>
          </a:xfrm>
          <a:prstGeom prst="roundRect">
            <a:avLst>
              <a:gd name="adj" fmla="val 6342847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73" name="Text 89"/>
          <p:cNvSpPr/>
          <p:nvPr/>
        </p:nvSpPr>
        <p:spPr>
          <a:xfrm>
            <a:off x="800100" y="4616983"/>
            <a:ext cx="2423629" cy="120701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788"/>
              </a:lnSpc>
              <a:buNone/>
            </a:pPr>
            <a:r>
              <a:rPr dirty="0" sz="600" kern="0" lang="en-US" spc="23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SECRETS: LDAP_HOST, SQL_CONN_STR, IIS_PUBLISH_PROFILE</a:t>
            </a:r>
            <a:endParaRPr dirty="0" sz="600" lang="en-US"/>
          </a:p>
        </p:txBody>
      </p:sp>
      <p:sp>
        <p:nvSpPr>
          <p:cNvPr id="1049574" name="Text 90"/>
          <p:cNvSpPr/>
          <p:nvPr/>
        </p:nvSpPr>
        <p:spPr>
          <a:xfrm>
            <a:off x="671513" y="4616983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dirty="0" sz="844" lang="en-US"/>
          </a:p>
        </p:txBody>
      </p:sp>
      <p:sp>
        <p:nvSpPr>
          <p:cNvPr id="1049575" name="Text 91"/>
          <p:cNvSpPr/>
          <p:nvPr/>
        </p:nvSpPr>
        <p:spPr>
          <a:xfrm>
            <a:off x="4223296" y="1241561"/>
            <a:ext cx="3273065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YAML MÍNIMO · GITHUB ACTIONS</a:t>
            </a:r>
            <a:endParaRPr dirty="0" sz="800" lang="en-US"/>
          </a:p>
        </p:txBody>
      </p:sp>
      <p:sp>
        <p:nvSpPr>
          <p:cNvPr id="1049576" name="Text 92"/>
          <p:cNvSpPr/>
          <p:nvPr/>
        </p:nvSpPr>
        <p:spPr>
          <a:xfrm>
            <a:off x="7510649" y="1241561"/>
            <a:ext cx="1270244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.GITHUB/WORKFLOWS/CI.YML</a:t>
            </a:r>
            <a:endParaRPr dirty="0" sz="619" lang="en-US"/>
          </a:p>
        </p:txBody>
      </p:sp>
      <p:sp>
        <p:nvSpPr>
          <p:cNvPr id="1049577" name="Text 93"/>
          <p:cNvSpPr/>
          <p:nvPr/>
        </p:nvSpPr>
        <p:spPr>
          <a:xfrm>
            <a:off x="4223296" y="1416583"/>
            <a:ext cx="4463504" cy="3253978"/>
          </a:xfrm>
          <a:prstGeom prst="roundRect">
            <a:avLst>
              <a:gd name="adj" fmla="val 1756"/>
            </a:avLst>
          </a:prstGeom>
          <a:solidFill>
            <a:srgbClr val="111111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578" name="Text 94"/>
          <p:cNvSpPr/>
          <p:nvPr/>
        </p:nvSpPr>
        <p:spPr>
          <a:xfrm>
            <a:off x="4223296" y="1416583"/>
            <a:ext cx="4463504" cy="3283696"/>
          </a:xfrm>
          <a:prstGeom prst="rect"/>
          <a:noFill/>
        </p:spPr>
        <p:txBody>
          <a:bodyPr anchor="t" bIns="100013" lIns="114300" rIns="114300" rtlCol="0" tIns="100013" wrap="none">
            <a:normAutofit/>
          </a:bodyPr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push: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branches: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</a:t>
            </a: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feature/*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build: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ubuntu-latest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actions/checkout@v4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Setup .NET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actions/setup-dotnet@v4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with: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dotnet-version: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'8.0.x'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Restore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restore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build -c Release --no-restore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dirty="0" sz="800" lang="en-US"/>
          </a:p>
          <a:p>
            <a:pPr algn="l" indent="0" marL="0">
              <a:lnSpc>
                <a:spcPts val="109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test --no-build --logger trx</a:t>
            </a:r>
            <a:endParaRPr dirty="0" sz="800" lang="en-US"/>
          </a:p>
        </p:txBody>
      </p:sp>
      <p:sp>
        <p:nvSpPr>
          <p:cNvPr id="1049579" name="Text 95"/>
          <p:cNvSpPr/>
          <p:nvPr/>
        </p:nvSpPr>
        <p:spPr>
          <a:xfrm>
            <a:off x="4223296" y="4727711"/>
            <a:ext cx="4463504" cy="164592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lnSpc>
                <a:spcPts val="928"/>
              </a:lnSpc>
              <a:buNone/>
            </a:pPr>
            <a:r>
              <a:rPr dirty="0" sz="619" i="1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PIPELINE MÍNIMO — EN PRODUCCIÓN SE AÑADEN JOBS DE PUBLISH Y DEPLOY CONDICIONALES AL BRANCH.</a:t>
            </a:r>
            <a:endParaRPr dirty="0" sz="619" lang="en-US"/>
          </a:p>
        </p:txBody>
      </p:sp>
      <p:sp>
        <p:nvSpPr>
          <p:cNvPr id="1049580" name="Text 96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2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83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584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585" name="Shape 1"/>
          <p:cNvSpPr/>
          <p:nvPr/>
        </p:nvSpPr>
        <p:spPr>
          <a:xfrm>
            <a:off x="457200" y="1216558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586" name="Shape 2"/>
          <p:cNvSpPr/>
          <p:nvPr/>
        </p:nvSpPr>
        <p:spPr>
          <a:xfrm>
            <a:off x="4511278" y="1212986"/>
            <a:ext cx="0" cy="34147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587" name="Shape 3"/>
          <p:cNvSpPr/>
          <p:nvPr/>
        </p:nvSpPr>
        <p:spPr>
          <a:xfrm>
            <a:off x="457200" y="4624127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588" name="Shape 4"/>
          <p:cNvSpPr/>
          <p:nvPr/>
        </p:nvSpPr>
        <p:spPr>
          <a:xfrm>
            <a:off x="467916" y="1212986"/>
            <a:ext cx="0" cy="3414713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589" name="Shape 5"/>
          <p:cNvSpPr/>
          <p:nvPr/>
        </p:nvSpPr>
        <p:spPr>
          <a:xfrm>
            <a:off x="592931" y="4293059"/>
            <a:ext cx="3800475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590" name="Shape 6"/>
          <p:cNvSpPr/>
          <p:nvPr/>
        </p:nvSpPr>
        <p:spPr>
          <a:xfrm>
            <a:off x="4629150" y="1216558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591" name="Shape 7"/>
          <p:cNvSpPr/>
          <p:nvPr/>
        </p:nvSpPr>
        <p:spPr>
          <a:xfrm>
            <a:off x="8683228" y="1212986"/>
            <a:ext cx="0" cy="34147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592" name="Shape 8"/>
          <p:cNvSpPr/>
          <p:nvPr/>
        </p:nvSpPr>
        <p:spPr>
          <a:xfrm>
            <a:off x="4629150" y="4624127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593" name="Shape 9"/>
          <p:cNvSpPr/>
          <p:nvPr/>
        </p:nvSpPr>
        <p:spPr>
          <a:xfrm>
            <a:off x="4639866" y="1212986"/>
            <a:ext cx="0" cy="3414713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pic>
        <p:nvPicPr>
          <p:cNvPr id="2097184" name="Image 2" descr="/tmp/h2p-svg-1791190573229-dm38th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800600" y="1691618"/>
            <a:ext cx="3729038" cy="1428750"/>
          </a:xfrm>
          <a:prstGeom prst="rect"/>
        </p:spPr>
      </p:pic>
      <p:sp>
        <p:nvSpPr>
          <p:cNvPr id="1049594" name="Shape 10"/>
          <p:cNvSpPr/>
          <p:nvPr/>
        </p:nvSpPr>
        <p:spPr>
          <a:xfrm>
            <a:off x="4764881" y="3245383"/>
            <a:ext cx="3800475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95" name="Shape 11"/>
          <p:cNvSpPr/>
          <p:nvPr/>
        </p:nvSpPr>
        <p:spPr>
          <a:xfrm>
            <a:off x="8561784" y="3241811"/>
            <a:ext cx="0" cy="568375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96" name="Shape 12"/>
          <p:cNvSpPr/>
          <p:nvPr/>
        </p:nvSpPr>
        <p:spPr>
          <a:xfrm>
            <a:off x="4764881" y="3806614"/>
            <a:ext cx="3800475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597" name="Shape 13"/>
          <p:cNvSpPr/>
          <p:nvPr/>
        </p:nvSpPr>
        <p:spPr>
          <a:xfrm>
            <a:off x="4775597" y="3241811"/>
            <a:ext cx="0" cy="568375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49598" name="Shape 14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599" name="Text 15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4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GITFLOW APLICADO A HABANAENTREGAS</a:t>
            </a:r>
            <a:endParaRPr dirty="0" sz="800" lang="en-US"/>
          </a:p>
        </p:txBody>
      </p:sp>
      <p:sp>
        <p:nvSpPr>
          <p:cNvPr id="1049600" name="Text 16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 / 27</a:t>
            </a:r>
            <a:endParaRPr dirty="0" sz="619" lang="en-US"/>
          </a:p>
        </p:txBody>
      </p:sp>
      <p:sp>
        <p:nvSpPr>
          <p:cNvPr id="1049601" name="Text 17"/>
          <p:cNvSpPr/>
          <p:nvPr/>
        </p:nvSpPr>
        <p:spPr>
          <a:xfrm>
            <a:off x="457200" y="696516"/>
            <a:ext cx="4486056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Mapeo Hito 1 → ramas </a:t>
            </a:r>
            <a:r>
              <a:rPr b="1" dirty="0" sz="1200" kern="0" lang="en-US" spc="-27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feature/</a:t>
            </a: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r>
              <a:rPr b="1" dirty="0" sz="1200" kern="0" lang="en-US" spc="-27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develop</a:t>
            </a:r>
            <a:endParaRPr dirty="0" sz="1200" lang="en-US"/>
          </a:p>
        </p:txBody>
      </p:sp>
      <p:sp>
        <p:nvSpPr>
          <p:cNvPr id="1049602" name="Text 18"/>
          <p:cNvSpPr/>
          <p:nvPr/>
        </p:nvSpPr>
        <p:spPr>
          <a:xfrm>
            <a:off x="457200" y="987958"/>
            <a:ext cx="4153756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Semana 1–2 · Configuración inicial · LDAP · CRUD básico</a:t>
            </a:r>
            <a:endParaRPr dirty="0" sz="800" lang="en-US"/>
          </a:p>
        </p:txBody>
      </p:sp>
      <p:sp>
        <p:nvSpPr>
          <p:cNvPr id="1049603" name="Text 19"/>
          <p:cNvSpPr/>
          <p:nvPr/>
        </p:nvSpPr>
        <p:spPr>
          <a:xfrm>
            <a:off x="8270051" y="941738"/>
            <a:ext cx="432777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604" name="Text 20"/>
          <p:cNvSpPr/>
          <p:nvPr/>
        </p:nvSpPr>
        <p:spPr>
          <a:xfrm>
            <a:off x="8507537" y="995102"/>
            <a:ext cx="179263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H1</a:t>
            </a:r>
            <a:endParaRPr dirty="0" sz="800" lang="en-US"/>
          </a:p>
        </p:txBody>
      </p:sp>
      <p:sp>
        <p:nvSpPr>
          <p:cNvPr id="1049605" name="Text 21"/>
          <p:cNvSpPr/>
          <p:nvPr/>
        </p:nvSpPr>
        <p:spPr>
          <a:xfrm>
            <a:off x="8364662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dirty="0" sz="984" lang="en-US"/>
          </a:p>
        </p:txBody>
      </p:sp>
      <p:sp>
        <p:nvSpPr>
          <p:cNvPr id="1049606" name="Text 22"/>
          <p:cNvSpPr/>
          <p:nvPr/>
        </p:nvSpPr>
        <p:spPr>
          <a:xfrm>
            <a:off x="457200" y="1212986"/>
            <a:ext cx="4057650" cy="3414713"/>
          </a:xfrm>
          <a:prstGeom prst="roundRect">
            <a:avLst>
              <a:gd name="adj" fmla="val 223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607" name="Text 23"/>
          <p:cNvSpPr/>
          <p:nvPr/>
        </p:nvSpPr>
        <p:spPr>
          <a:xfrm>
            <a:off x="592931" y="1320143"/>
            <a:ext cx="3800475" cy="10472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TAREAS DEL HITO 1</a:t>
            </a:r>
            <a:endParaRPr dirty="0" sz="800" lang="en-US"/>
          </a:p>
        </p:txBody>
      </p:sp>
      <p:sp>
        <p:nvSpPr>
          <p:cNvPr id="1049608" name="Text 24"/>
          <p:cNvSpPr/>
          <p:nvPr/>
        </p:nvSpPr>
        <p:spPr>
          <a:xfrm>
            <a:off x="592931" y="1452302"/>
            <a:ext cx="3800475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TAREAS · 2 SEMANAS</a:t>
            </a:r>
            <a:endParaRPr dirty="0" sz="800" lang="en-US"/>
          </a:p>
        </p:txBody>
      </p:sp>
      <p:sp>
        <p:nvSpPr>
          <p:cNvPr id="1049609" name="Text 25"/>
          <p:cNvSpPr/>
          <p:nvPr/>
        </p:nvSpPr>
        <p:spPr>
          <a:xfrm>
            <a:off x="592931" y="1684474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800" lang="en-US"/>
          </a:p>
        </p:txBody>
      </p:sp>
      <p:sp>
        <p:nvSpPr>
          <p:cNvPr id="1049610" name="Text 26"/>
          <p:cNvSpPr/>
          <p:nvPr/>
        </p:nvSpPr>
        <p:spPr>
          <a:xfrm>
            <a:off x="778669" y="169161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dirty="0" sz="984" lang="en-US"/>
          </a:p>
        </p:txBody>
      </p:sp>
      <p:sp>
        <p:nvSpPr>
          <p:cNvPr id="1049611" name="Text 27"/>
          <p:cNvSpPr/>
          <p:nvPr/>
        </p:nvSpPr>
        <p:spPr>
          <a:xfrm>
            <a:off x="935831" y="1684474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Configurar proyecto ASP.NET Core MVC + EF Core + SQL Server</a:t>
            </a:r>
            <a:endParaRPr dirty="0" sz="800" lang="en-US"/>
          </a:p>
        </p:txBody>
      </p:sp>
      <p:sp>
        <p:nvSpPr>
          <p:cNvPr id="1049612" name="Text 28"/>
          <p:cNvSpPr/>
          <p:nvPr/>
        </p:nvSpPr>
        <p:spPr>
          <a:xfrm>
            <a:off x="592931" y="1852464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800" lang="en-US"/>
          </a:p>
        </p:txBody>
      </p:sp>
      <p:sp>
        <p:nvSpPr>
          <p:cNvPr id="1049613" name="Text 29"/>
          <p:cNvSpPr/>
          <p:nvPr/>
        </p:nvSpPr>
        <p:spPr>
          <a:xfrm>
            <a:off x="778669" y="185960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⚿</a:t>
            </a:r>
            <a:endParaRPr dirty="0" sz="984" lang="en-US"/>
          </a:p>
        </p:txBody>
      </p:sp>
      <p:sp>
        <p:nvSpPr>
          <p:cNvPr id="1049614" name="Text 30"/>
          <p:cNvSpPr/>
          <p:nvPr/>
        </p:nvSpPr>
        <p:spPr>
          <a:xfrm>
            <a:off x="935831" y="1852464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Configurar autenticación LDAP (</a:t>
            </a:r>
            <a:r>
              <a:rPr dirty="0" sz="647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Novell.Directory.Ldap.NETStandard</a:t>
            </a: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dirty="0" sz="647" lang="en-US"/>
          </a:p>
        </p:txBody>
      </p:sp>
      <p:sp>
        <p:nvSpPr>
          <p:cNvPr id="1049615" name="Text 31"/>
          <p:cNvSpPr/>
          <p:nvPr/>
        </p:nvSpPr>
        <p:spPr>
          <a:xfrm>
            <a:off x="592931" y="202045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800" lang="en-US"/>
          </a:p>
        </p:txBody>
      </p:sp>
      <p:sp>
        <p:nvSpPr>
          <p:cNvPr id="1049616" name="Text 32"/>
          <p:cNvSpPr/>
          <p:nvPr/>
        </p:nvSpPr>
        <p:spPr>
          <a:xfrm>
            <a:off x="778669" y="202759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9617" name="Text 33"/>
          <p:cNvSpPr/>
          <p:nvPr/>
        </p:nvSpPr>
        <p:spPr>
          <a:xfrm>
            <a:off x="935831" y="202045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Diseñar BD: tablas Medios, EquiposElectronicos, Mobiliario, Sucursal</a:t>
            </a:r>
            <a:endParaRPr dirty="0" sz="647" lang="en-US"/>
          </a:p>
        </p:txBody>
      </p:sp>
      <p:sp>
        <p:nvSpPr>
          <p:cNvPr id="1049618" name="Text 34"/>
          <p:cNvSpPr/>
          <p:nvPr/>
        </p:nvSpPr>
        <p:spPr>
          <a:xfrm>
            <a:off x="592931" y="218844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800" lang="en-US"/>
          </a:p>
        </p:txBody>
      </p:sp>
      <p:sp>
        <p:nvSpPr>
          <p:cNvPr id="1049619" name="Text 35"/>
          <p:cNvSpPr/>
          <p:nvPr/>
        </p:nvSpPr>
        <p:spPr>
          <a:xfrm>
            <a:off x="778669" y="219558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9620" name="Text 36"/>
          <p:cNvSpPr/>
          <p:nvPr/>
        </p:nvSpPr>
        <p:spPr>
          <a:xfrm>
            <a:off x="935831" y="218844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Implementar patrón Repository + UnitOfWork</a:t>
            </a:r>
            <a:endParaRPr dirty="0" sz="800" lang="en-US"/>
          </a:p>
        </p:txBody>
      </p:sp>
      <p:sp>
        <p:nvSpPr>
          <p:cNvPr id="1049621" name="Text 37"/>
          <p:cNvSpPr/>
          <p:nvPr/>
        </p:nvSpPr>
        <p:spPr>
          <a:xfrm>
            <a:off x="592931" y="235643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dirty="0" sz="800" lang="en-US"/>
          </a:p>
        </p:txBody>
      </p:sp>
      <p:sp>
        <p:nvSpPr>
          <p:cNvPr id="1049622" name="Text 38"/>
          <p:cNvSpPr/>
          <p:nvPr/>
        </p:nvSpPr>
        <p:spPr>
          <a:xfrm>
            <a:off x="778669" y="236357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9623" name="Text 39"/>
          <p:cNvSpPr/>
          <p:nvPr/>
        </p:nvSpPr>
        <p:spPr>
          <a:xfrm>
            <a:off x="935831" y="235643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entidades (Medio abstracta, EquipoElectronico, Mobiliario)</a:t>
            </a:r>
            <a:endParaRPr dirty="0" sz="647" lang="en-US"/>
          </a:p>
        </p:txBody>
      </p:sp>
      <p:sp>
        <p:nvSpPr>
          <p:cNvPr id="1049624" name="Text 40"/>
          <p:cNvSpPr/>
          <p:nvPr/>
        </p:nvSpPr>
        <p:spPr>
          <a:xfrm>
            <a:off x="592931" y="252442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dirty="0" sz="800" lang="en-US"/>
          </a:p>
        </p:txBody>
      </p:sp>
      <p:sp>
        <p:nvSpPr>
          <p:cNvPr id="1049625" name="Text 41"/>
          <p:cNvSpPr/>
          <p:nvPr/>
        </p:nvSpPr>
        <p:spPr>
          <a:xfrm>
            <a:off x="778669" y="253156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9626" name="Text 42"/>
          <p:cNvSpPr/>
          <p:nvPr/>
        </p:nvSpPr>
        <p:spPr>
          <a:xfrm>
            <a:off x="935831" y="252442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Implementar login/logout con roles Admin/Sucursal</a:t>
            </a:r>
            <a:endParaRPr dirty="0" sz="800" lang="en-US"/>
          </a:p>
        </p:txBody>
      </p:sp>
      <p:sp>
        <p:nvSpPr>
          <p:cNvPr id="1049627" name="Text 43"/>
          <p:cNvSpPr/>
          <p:nvPr/>
        </p:nvSpPr>
        <p:spPr>
          <a:xfrm>
            <a:off x="592931" y="2692412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dirty="0" sz="800" lang="en-US"/>
          </a:p>
        </p:txBody>
      </p:sp>
      <p:sp>
        <p:nvSpPr>
          <p:cNvPr id="1049628" name="Text 44"/>
          <p:cNvSpPr/>
          <p:nvPr/>
        </p:nvSpPr>
        <p:spPr>
          <a:xfrm>
            <a:off x="778669" y="269955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dirty="0" sz="984" lang="en-US"/>
          </a:p>
        </p:txBody>
      </p:sp>
      <p:sp>
        <p:nvSpPr>
          <p:cNvPr id="1049629" name="Text 45"/>
          <p:cNvSpPr/>
          <p:nvPr/>
        </p:nvSpPr>
        <p:spPr>
          <a:xfrm>
            <a:off x="935831" y="2692412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básico para Sucursal</a:t>
            </a:r>
            <a:endParaRPr dirty="0" sz="800" lang="en-US"/>
          </a:p>
        </p:txBody>
      </p:sp>
      <p:sp>
        <p:nvSpPr>
          <p:cNvPr id="1049630" name="Text 46"/>
          <p:cNvSpPr/>
          <p:nvPr/>
        </p:nvSpPr>
        <p:spPr>
          <a:xfrm>
            <a:off x="592931" y="2860402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dirty="0" sz="800" lang="en-US"/>
          </a:p>
        </p:txBody>
      </p:sp>
      <p:sp>
        <p:nvSpPr>
          <p:cNvPr id="1049631" name="Text 47"/>
          <p:cNvSpPr/>
          <p:nvPr/>
        </p:nvSpPr>
        <p:spPr>
          <a:xfrm>
            <a:off x="778669" y="286754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9632" name="Text 48"/>
          <p:cNvSpPr/>
          <p:nvPr/>
        </p:nvSpPr>
        <p:spPr>
          <a:xfrm>
            <a:off x="935831" y="2860402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Migración inicial EF Core (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Add-Migration InitialCreate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dirty="0" sz="800" lang="en-US"/>
          </a:p>
        </p:txBody>
      </p:sp>
      <p:sp>
        <p:nvSpPr>
          <p:cNvPr id="1049633" name="Text 49"/>
          <p:cNvSpPr/>
          <p:nvPr/>
        </p:nvSpPr>
        <p:spPr>
          <a:xfrm>
            <a:off x="596503" y="4362041"/>
            <a:ext cx="3255541" cy="154930"/>
          </a:xfrm>
          <a:prstGeom prst="roundRect">
            <a:avLst>
              <a:gd name="adj" fmla="val 614179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634" name="Text 50"/>
          <p:cNvSpPr/>
          <p:nvPr/>
        </p:nvSpPr>
        <p:spPr>
          <a:xfrm>
            <a:off x="800100" y="4394188"/>
            <a:ext cx="2976935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27"/>
              </a:lnSpc>
              <a:buNone/>
            </a:pPr>
            <a:r>
              <a:rPr dirty="0" sz="600" kern="0" lang="en-US" spc="2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CRITERIOS: compila + login LDAP válido + rol Admin accede CRUD</a:t>
            </a:r>
            <a:endParaRPr dirty="0" sz="600" lang="en-US"/>
          </a:p>
        </p:txBody>
      </p:sp>
      <p:sp>
        <p:nvSpPr>
          <p:cNvPr id="1049635" name="Text 51"/>
          <p:cNvSpPr/>
          <p:nvPr/>
        </p:nvSpPr>
        <p:spPr>
          <a:xfrm>
            <a:off x="671513" y="4396643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844" lang="en-US"/>
          </a:p>
        </p:txBody>
      </p:sp>
      <p:sp>
        <p:nvSpPr>
          <p:cNvPr id="1049636" name="Text 52"/>
          <p:cNvSpPr/>
          <p:nvPr/>
        </p:nvSpPr>
        <p:spPr>
          <a:xfrm>
            <a:off x="4629150" y="1212986"/>
            <a:ext cx="4057650" cy="3414713"/>
          </a:xfrm>
          <a:prstGeom prst="roundRect">
            <a:avLst>
              <a:gd name="adj" fmla="val 223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637" name="Text 53"/>
          <p:cNvSpPr/>
          <p:nvPr/>
        </p:nvSpPr>
        <p:spPr>
          <a:xfrm>
            <a:off x="4764881" y="1320143"/>
            <a:ext cx="3800475" cy="10472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RAMAS SUGERIDAS</a:t>
            </a:r>
            <a:endParaRPr dirty="0" sz="800" lang="en-US"/>
          </a:p>
        </p:txBody>
      </p:sp>
      <p:sp>
        <p:nvSpPr>
          <p:cNvPr id="1049638" name="Text 54"/>
          <p:cNvSpPr/>
          <p:nvPr/>
        </p:nvSpPr>
        <p:spPr>
          <a:xfrm>
            <a:off x="4764881" y="1452302"/>
            <a:ext cx="3910203" cy="14759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 FEATURES → DEVELOP (SQUASH)</a:t>
            </a:r>
            <a:endParaRPr dirty="0" sz="800" lang="en-US"/>
          </a:p>
        </p:txBody>
      </p:sp>
      <p:sp>
        <p:nvSpPr>
          <p:cNvPr id="1049639" name="Text 55"/>
          <p:cNvSpPr/>
          <p:nvPr/>
        </p:nvSpPr>
        <p:spPr>
          <a:xfrm>
            <a:off x="4768453" y="1630896"/>
            <a:ext cx="3793331" cy="1550194"/>
          </a:xfrm>
          <a:prstGeom prst="roundRect">
            <a:avLst>
              <a:gd name="adj" fmla="val 4916"/>
            </a:avLst>
          </a:prstGeom>
          <a:solidFill>
            <a:srgbClr val="111111"/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640" name="Text 56"/>
          <p:cNvSpPr/>
          <p:nvPr/>
        </p:nvSpPr>
        <p:spPr>
          <a:xfrm>
            <a:off x="4764881" y="3241811"/>
            <a:ext cx="3800475" cy="568375"/>
          </a:xfrm>
          <a:prstGeom prst="roundRect">
            <a:avLst>
              <a:gd name="adj" fmla="val 10055"/>
            </a:avLst>
          </a:prstGeom>
          <a:solidFill>
            <a:srgbClr val="111111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641" name="Text 57"/>
          <p:cNvSpPr/>
          <p:nvPr/>
        </p:nvSpPr>
        <p:spPr>
          <a:xfrm>
            <a:off x="4764881" y="3241811"/>
            <a:ext cx="3800475" cy="793658"/>
          </a:xfrm>
          <a:prstGeom prst="rect"/>
          <a:noFill/>
        </p:spPr>
        <p:txBody>
          <a:bodyPr anchor="t" bIns="57150" lIns="85725" rIns="85725" rtlCol="0" tIns="57150" wrap="none"/>
          <a:p>
            <a:pPr algn="l" indent="0" marL="0">
              <a:lnSpc>
                <a:spcPts val="866"/>
              </a:lnSpc>
              <a:buNone/>
            </a:pPr>
            <a:r>
              <a:rPr dirty="0" sz="8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COMANDOS CLAVE</a:t>
            </a:r>
            <a:endParaRPr dirty="0" sz="800" lang="en-US"/>
          </a:p>
          <a:p>
            <a:pPr algn="l" indent="0" marL="0">
              <a:lnSpc>
                <a:spcPts val="86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checkout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feature/ldap-auth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</a:t>
            </a: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· </a:t>
            </a: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</a:t>
            </a:r>
            <a:endParaRPr dirty="0" sz="800" lang="en-US"/>
          </a:p>
          <a:p>
            <a:pPr algn="l" indent="0" marL="0">
              <a:lnSpc>
                <a:spcPts val="866"/>
              </a:lnSpc>
              <a:buNone/>
            </a:pP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 → merge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--squash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49642" name="Text 58"/>
          <p:cNvSpPr/>
          <p:nvPr/>
        </p:nvSpPr>
        <p:spPr>
          <a:xfrm>
            <a:off x="4768453" y="4362041"/>
            <a:ext cx="3634494" cy="154930"/>
          </a:xfrm>
          <a:prstGeom prst="roundRect">
            <a:avLst>
              <a:gd name="adj" fmla="val 6141790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643" name="Text 59"/>
          <p:cNvSpPr/>
          <p:nvPr/>
        </p:nvSpPr>
        <p:spPr>
          <a:xfrm>
            <a:off x="4972050" y="4394188"/>
            <a:ext cx="2928826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27"/>
              </a:lnSpc>
              <a:buNone/>
            </a:pPr>
            <a:r>
              <a:rPr dirty="0" sz="600" kern="0" lang="en-US" spc="24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NO PRODUCE ENTREGABLE FORMAL, pero internamente genera tag</a:t>
            </a:r>
            <a:endParaRPr dirty="0" sz="600" lang="en-US"/>
          </a:p>
        </p:txBody>
      </p:sp>
      <p:sp>
        <p:nvSpPr>
          <p:cNvPr id="1049644" name="Text 60"/>
          <p:cNvSpPr/>
          <p:nvPr/>
        </p:nvSpPr>
        <p:spPr>
          <a:xfrm>
            <a:off x="4843463" y="4396643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ⓘ</a:t>
            </a:r>
            <a:endParaRPr dirty="0" sz="844" lang="en-US"/>
          </a:p>
        </p:txBody>
      </p:sp>
      <p:sp>
        <p:nvSpPr>
          <p:cNvPr id="1049645" name="Text 61"/>
          <p:cNvSpPr/>
          <p:nvPr/>
        </p:nvSpPr>
        <p:spPr>
          <a:xfrm>
            <a:off x="7932781" y="4387044"/>
            <a:ext cx="406116" cy="10492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27"/>
              </a:lnSpc>
              <a:buNone/>
            </a:pPr>
            <a:r>
              <a:rPr dirty="0" sz="600" kern="0" lang="en-US" spc="24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v0.1-dev</a:t>
            </a:r>
            <a:endParaRPr dirty="0" sz="600" lang="en-US"/>
          </a:p>
        </p:txBody>
      </p:sp>
      <p:sp>
        <p:nvSpPr>
          <p:cNvPr id="1049646" name="Text 62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8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86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650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651" name="Shape 1"/>
          <p:cNvSpPr/>
          <p:nvPr/>
        </p:nvSpPr>
        <p:spPr>
          <a:xfrm>
            <a:off x="457200" y="1216558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652" name="Shape 2"/>
          <p:cNvSpPr/>
          <p:nvPr/>
        </p:nvSpPr>
        <p:spPr>
          <a:xfrm>
            <a:off x="4511278" y="1212986"/>
            <a:ext cx="0" cy="34147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653" name="Shape 3"/>
          <p:cNvSpPr/>
          <p:nvPr/>
        </p:nvSpPr>
        <p:spPr>
          <a:xfrm>
            <a:off x="457200" y="4624127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654" name="Shape 4"/>
          <p:cNvSpPr/>
          <p:nvPr/>
        </p:nvSpPr>
        <p:spPr>
          <a:xfrm>
            <a:off x="467916" y="1212986"/>
            <a:ext cx="0" cy="3414713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655" name="Shape 5"/>
          <p:cNvSpPr/>
          <p:nvPr/>
        </p:nvSpPr>
        <p:spPr>
          <a:xfrm>
            <a:off x="592931" y="4293059"/>
            <a:ext cx="3800475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656" name="Shape 6"/>
          <p:cNvSpPr/>
          <p:nvPr/>
        </p:nvSpPr>
        <p:spPr>
          <a:xfrm>
            <a:off x="4629150" y="1216558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657" name="Shape 7"/>
          <p:cNvSpPr/>
          <p:nvPr/>
        </p:nvSpPr>
        <p:spPr>
          <a:xfrm>
            <a:off x="8683228" y="1212986"/>
            <a:ext cx="0" cy="34147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658" name="Shape 8"/>
          <p:cNvSpPr/>
          <p:nvPr/>
        </p:nvSpPr>
        <p:spPr>
          <a:xfrm>
            <a:off x="4629150" y="4624127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659" name="Shape 9"/>
          <p:cNvSpPr/>
          <p:nvPr/>
        </p:nvSpPr>
        <p:spPr>
          <a:xfrm>
            <a:off x="4639866" y="1212986"/>
            <a:ext cx="0" cy="3414713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pic>
        <p:nvPicPr>
          <p:cNvPr id="2097187" name="Image 2" descr="/tmp/h2p-svg-1791190573225-61ywly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800600" y="1663043"/>
            <a:ext cx="3729038" cy="1214438"/>
          </a:xfrm>
          <a:prstGeom prst="rect"/>
        </p:spPr>
      </p:pic>
      <p:sp>
        <p:nvSpPr>
          <p:cNvPr id="1049660" name="Shape 10"/>
          <p:cNvSpPr/>
          <p:nvPr/>
        </p:nvSpPr>
        <p:spPr>
          <a:xfrm>
            <a:off x="4764881" y="2973921"/>
            <a:ext cx="3800475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661" name="Shape 11"/>
          <p:cNvSpPr/>
          <p:nvPr/>
        </p:nvSpPr>
        <p:spPr>
          <a:xfrm>
            <a:off x="8561784" y="2970349"/>
            <a:ext cx="0" cy="578644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662" name="Shape 12"/>
          <p:cNvSpPr/>
          <p:nvPr/>
        </p:nvSpPr>
        <p:spPr>
          <a:xfrm>
            <a:off x="4764881" y="3545421"/>
            <a:ext cx="3800475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663" name="Shape 13"/>
          <p:cNvSpPr/>
          <p:nvPr/>
        </p:nvSpPr>
        <p:spPr>
          <a:xfrm>
            <a:off x="4775597" y="2970349"/>
            <a:ext cx="0" cy="578644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664" name="Shape 14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665" name="Text 15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4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GITFLOW APLICADO A HABANAENTREGAS</a:t>
            </a:r>
            <a:endParaRPr dirty="0" sz="800" lang="en-US"/>
          </a:p>
        </p:txBody>
      </p:sp>
      <p:sp>
        <p:nvSpPr>
          <p:cNvPr id="1049666" name="Text 16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15 / 27</a:t>
            </a:r>
            <a:endParaRPr dirty="0" sz="619" lang="en-US"/>
          </a:p>
        </p:txBody>
      </p:sp>
      <p:sp>
        <p:nvSpPr>
          <p:cNvPr id="1049667" name="Text 17"/>
          <p:cNvSpPr/>
          <p:nvPr/>
        </p:nvSpPr>
        <p:spPr>
          <a:xfrm>
            <a:off x="457200" y="696516"/>
            <a:ext cx="4397934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Mapeo Hito 2 → </a:t>
            </a:r>
            <a:r>
              <a:rPr b="1" dirty="0" sz="1200" kern="0" lang="en-US" spc="-27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release/1.0</a:t>
            </a:r>
            <a:r>
              <a:rPr b="1" dirty="0" sz="1200" kern="0" lang="en-US" spc="-27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Entrega E1</a:t>
            </a:r>
            <a:endParaRPr dirty="0" sz="1200" lang="en-US"/>
          </a:p>
        </p:txBody>
      </p:sp>
      <p:sp>
        <p:nvSpPr>
          <p:cNvPr id="1049668" name="Text 18"/>
          <p:cNvSpPr/>
          <p:nvPr/>
        </p:nvSpPr>
        <p:spPr>
          <a:xfrm>
            <a:off x="457200" y="987958"/>
            <a:ext cx="4072161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Semana 3–4 · CRUD completo · reportes (a)(b) · tests ≥60%</a:t>
            </a:r>
            <a:endParaRPr dirty="0" sz="800" lang="en-US"/>
          </a:p>
        </p:txBody>
      </p:sp>
      <p:sp>
        <p:nvSpPr>
          <p:cNvPr id="1049669" name="Text 19"/>
          <p:cNvSpPr/>
          <p:nvPr/>
        </p:nvSpPr>
        <p:spPr>
          <a:xfrm>
            <a:off x="8011738" y="941738"/>
            <a:ext cx="697922" cy="196025"/>
          </a:xfrm>
          <a:prstGeom prst="roundRect">
            <a:avLst>
              <a:gd name="adj" fmla="val 4854215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670" name="Text 20"/>
          <p:cNvSpPr/>
          <p:nvPr/>
        </p:nvSpPr>
        <p:spPr>
          <a:xfrm>
            <a:off x="8244443" y="995102"/>
            <a:ext cx="453969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H2 · E1</a:t>
            </a:r>
            <a:endParaRPr dirty="0" sz="800" lang="en-US"/>
          </a:p>
        </p:txBody>
      </p:sp>
      <p:sp>
        <p:nvSpPr>
          <p:cNvPr id="1049671" name="Text 21"/>
          <p:cNvSpPr/>
          <p:nvPr/>
        </p:nvSpPr>
        <p:spPr>
          <a:xfrm>
            <a:off x="8113179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dirty="0" sz="984" lang="en-US"/>
          </a:p>
        </p:txBody>
      </p:sp>
      <p:sp>
        <p:nvSpPr>
          <p:cNvPr id="1049672" name="Text 22"/>
          <p:cNvSpPr/>
          <p:nvPr/>
        </p:nvSpPr>
        <p:spPr>
          <a:xfrm>
            <a:off x="457200" y="1212986"/>
            <a:ext cx="4057650" cy="3414713"/>
          </a:xfrm>
          <a:prstGeom prst="roundRect">
            <a:avLst>
              <a:gd name="adj" fmla="val 223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673" name="Text 23"/>
          <p:cNvSpPr/>
          <p:nvPr/>
        </p:nvSpPr>
        <p:spPr>
          <a:xfrm>
            <a:off x="592931" y="1320143"/>
            <a:ext cx="3800475" cy="10472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TAREAS DEL HITO 2</a:t>
            </a:r>
            <a:endParaRPr dirty="0" sz="800" lang="en-US"/>
          </a:p>
        </p:txBody>
      </p:sp>
      <p:sp>
        <p:nvSpPr>
          <p:cNvPr id="1049674" name="Text 24"/>
          <p:cNvSpPr/>
          <p:nvPr/>
        </p:nvSpPr>
        <p:spPr>
          <a:xfrm>
            <a:off x="592931" y="1452302"/>
            <a:ext cx="3800475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TAREAS · 2 SEMANAS</a:t>
            </a:r>
            <a:endParaRPr dirty="0" sz="800" lang="en-US"/>
          </a:p>
        </p:txBody>
      </p:sp>
      <p:sp>
        <p:nvSpPr>
          <p:cNvPr id="1049675" name="Text 25"/>
          <p:cNvSpPr/>
          <p:nvPr/>
        </p:nvSpPr>
        <p:spPr>
          <a:xfrm>
            <a:off x="592931" y="1684474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800" lang="en-US"/>
          </a:p>
        </p:txBody>
      </p:sp>
      <p:sp>
        <p:nvSpPr>
          <p:cNvPr id="1049676" name="Text 26"/>
          <p:cNvSpPr/>
          <p:nvPr/>
        </p:nvSpPr>
        <p:spPr>
          <a:xfrm>
            <a:off x="778669" y="169161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✎</a:t>
            </a:r>
            <a:endParaRPr dirty="0" sz="984" lang="en-US"/>
          </a:p>
        </p:txBody>
      </p:sp>
      <p:sp>
        <p:nvSpPr>
          <p:cNvPr id="1049677" name="Text 27"/>
          <p:cNvSpPr/>
          <p:nvPr/>
        </p:nvSpPr>
        <p:spPr>
          <a:xfrm>
            <a:off x="935831" y="1684474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completo EquiposElectronicos + Mobiliario (herencia </a:t>
            </a:r>
            <a:r>
              <a:rPr dirty="0" sz="647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TPH</a:t>
            </a: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</a:t>
            </a:r>
            <a:endParaRPr dirty="0" sz="647" lang="en-US"/>
          </a:p>
        </p:txBody>
      </p:sp>
      <p:sp>
        <p:nvSpPr>
          <p:cNvPr id="1049678" name="Text 28"/>
          <p:cNvSpPr/>
          <p:nvPr/>
        </p:nvSpPr>
        <p:spPr>
          <a:xfrm>
            <a:off x="592931" y="1852464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800" lang="en-US"/>
          </a:p>
        </p:txBody>
      </p:sp>
      <p:sp>
        <p:nvSpPr>
          <p:cNvPr id="1049679" name="Text 29"/>
          <p:cNvSpPr/>
          <p:nvPr/>
        </p:nvSpPr>
        <p:spPr>
          <a:xfrm>
            <a:off x="778669" y="185960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9680" name="Text 30"/>
          <p:cNvSpPr/>
          <p:nvPr/>
        </p:nvSpPr>
        <p:spPr>
          <a:xfrm>
            <a:off x="935831" y="1852464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Vistas específicas por tipo con dropdowns dinámicos</a:t>
            </a:r>
            <a:endParaRPr dirty="0" sz="800" lang="en-US"/>
          </a:p>
        </p:txBody>
      </p:sp>
      <p:sp>
        <p:nvSpPr>
          <p:cNvPr id="1049681" name="Text 31"/>
          <p:cNvSpPr/>
          <p:nvPr/>
        </p:nvSpPr>
        <p:spPr>
          <a:xfrm>
            <a:off x="592931" y="202045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800" lang="en-US"/>
          </a:p>
        </p:txBody>
      </p:sp>
      <p:sp>
        <p:nvSpPr>
          <p:cNvPr id="1049682" name="Text 32"/>
          <p:cNvSpPr/>
          <p:nvPr/>
        </p:nvSpPr>
        <p:spPr>
          <a:xfrm>
            <a:off x="778669" y="202759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9683" name="Text 33"/>
          <p:cNvSpPr/>
          <p:nvPr/>
        </p:nvSpPr>
        <p:spPr>
          <a:xfrm>
            <a:off x="935831" y="202045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ReporteService.GetEquiposPorTipoYMarca()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(LINQ GroupBy)</a:t>
            </a:r>
            <a:endParaRPr dirty="0" sz="800" lang="en-US"/>
          </a:p>
        </p:txBody>
      </p:sp>
      <p:sp>
        <p:nvSpPr>
          <p:cNvPr id="1049684" name="Text 34"/>
          <p:cNvSpPr/>
          <p:nvPr/>
        </p:nvSpPr>
        <p:spPr>
          <a:xfrm>
            <a:off x="592931" y="218844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800" lang="en-US"/>
          </a:p>
        </p:txBody>
      </p:sp>
      <p:sp>
        <p:nvSpPr>
          <p:cNvPr id="1049685" name="Text 35"/>
          <p:cNvSpPr/>
          <p:nvPr/>
        </p:nvSpPr>
        <p:spPr>
          <a:xfrm>
            <a:off x="778669" y="219558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9686" name="Text 36"/>
          <p:cNvSpPr/>
          <p:nvPr/>
        </p:nvSpPr>
        <p:spPr>
          <a:xfrm>
            <a:off x="935831" y="218844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ReporteService.GetMediosEnMalEstadoPorTipo()</a:t>
            </a:r>
            <a:endParaRPr dirty="0" sz="800" lang="en-US"/>
          </a:p>
        </p:txBody>
      </p:sp>
      <p:sp>
        <p:nvSpPr>
          <p:cNvPr id="1049687" name="Text 37"/>
          <p:cNvSpPr/>
          <p:nvPr/>
        </p:nvSpPr>
        <p:spPr>
          <a:xfrm>
            <a:off x="592931" y="235643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dirty="0" sz="800" lang="en-US"/>
          </a:p>
        </p:txBody>
      </p:sp>
      <p:sp>
        <p:nvSpPr>
          <p:cNvPr id="1049688" name="Text 38"/>
          <p:cNvSpPr/>
          <p:nvPr/>
        </p:nvSpPr>
        <p:spPr>
          <a:xfrm>
            <a:off x="778669" y="236357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9689" name="Text 39"/>
          <p:cNvSpPr/>
          <p:nvPr/>
        </p:nvSpPr>
        <p:spPr>
          <a:xfrm>
            <a:off x="935831" y="235643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Vistas de reportes con Chart.js + filtros</a:t>
            </a:r>
            <a:endParaRPr dirty="0" sz="800" lang="en-US"/>
          </a:p>
        </p:txBody>
      </p:sp>
      <p:sp>
        <p:nvSpPr>
          <p:cNvPr id="1049690" name="Text 40"/>
          <p:cNvSpPr/>
          <p:nvPr/>
        </p:nvSpPr>
        <p:spPr>
          <a:xfrm>
            <a:off x="592931" y="252442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dirty="0" sz="800" lang="en-US"/>
          </a:p>
        </p:txBody>
      </p:sp>
      <p:sp>
        <p:nvSpPr>
          <p:cNvPr id="1049691" name="Text 41"/>
          <p:cNvSpPr/>
          <p:nvPr/>
        </p:nvSpPr>
        <p:spPr>
          <a:xfrm>
            <a:off x="778669" y="253156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➤</a:t>
            </a:r>
            <a:endParaRPr dirty="0" sz="984" lang="en-US"/>
          </a:p>
        </p:txBody>
      </p:sp>
      <p:sp>
        <p:nvSpPr>
          <p:cNvPr id="1049692" name="Text 42"/>
          <p:cNvSpPr/>
          <p:nvPr/>
        </p:nvSpPr>
        <p:spPr>
          <a:xfrm>
            <a:off x="935831" y="252442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Navegación ≤3 niveles con Bootstrap 5 + datatables</a:t>
            </a:r>
            <a:endParaRPr dirty="0" sz="800" lang="en-US"/>
          </a:p>
        </p:txBody>
      </p:sp>
      <p:sp>
        <p:nvSpPr>
          <p:cNvPr id="1049693" name="Text 43"/>
          <p:cNvSpPr/>
          <p:nvPr/>
        </p:nvSpPr>
        <p:spPr>
          <a:xfrm>
            <a:off x="592931" y="2692412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dirty="0" sz="800" lang="en-US"/>
          </a:p>
        </p:txBody>
      </p:sp>
      <p:sp>
        <p:nvSpPr>
          <p:cNvPr id="1049694" name="Text 44"/>
          <p:cNvSpPr/>
          <p:nvPr/>
        </p:nvSpPr>
        <p:spPr>
          <a:xfrm>
            <a:off x="778669" y="269955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dirty="0" sz="984" lang="en-US"/>
          </a:p>
        </p:txBody>
      </p:sp>
      <p:sp>
        <p:nvSpPr>
          <p:cNvPr id="1049695" name="Text 45"/>
          <p:cNvSpPr/>
          <p:nvPr/>
        </p:nvSpPr>
        <p:spPr>
          <a:xfrm>
            <a:off x="935831" y="2692412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Pruebas xUnit con cobertura ≥60% en servicios y repositorios</a:t>
            </a:r>
            <a:endParaRPr dirty="0" sz="800" lang="en-US"/>
          </a:p>
        </p:txBody>
      </p:sp>
      <p:sp>
        <p:nvSpPr>
          <p:cNvPr id="1049696" name="Text 46"/>
          <p:cNvSpPr/>
          <p:nvPr/>
        </p:nvSpPr>
        <p:spPr>
          <a:xfrm>
            <a:off x="596503" y="4362041"/>
            <a:ext cx="3687626" cy="154930"/>
          </a:xfrm>
          <a:prstGeom prst="roundRect">
            <a:avLst>
              <a:gd name="adj" fmla="val 614179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697" name="Text 47"/>
          <p:cNvSpPr/>
          <p:nvPr/>
        </p:nvSpPr>
        <p:spPr>
          <a:xfrm>
            <a:off x="800100" y="4394188"/>
            <a:ext cx="3409020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27"/>
              </a:lnSpc>
              <a:buNone/>
            </a:pPr>
            <a:r>
              <a:rPr dirty="0" sz="600" kern="0" lang="en-US" spc="2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CRITERIOS: CRUD completo + reportes a/b + validaciones + cobertura ≥60%</a:t>
            </a:r>
            <a:endParaRPr dirty="0" sz="600" lang="en-US"/>
          </a:p>
        </p:txBody>
      </p:sp>
      <p:sp>
        <p:nvSpPr>
          <p:cNvPr id="1049698" name="Text 48"/>
          <p:cNvSpPr/>
          <p:nvPr/>
        </p:nvSpPr>
        <p:spPr>
          <a:xfrm>
            <a:off x="671513" y="4396643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844" lang="en-US"/>
          </a:p>
        </p:txBody>
      </p:sp>
      <p:sp>
        <p:nvSpPr>
          <p:cNvPr id="1049699" name="Text 49"/>
          <p:cNvSpPr/>
          <p:nvPr/>
        </p:nvSpPr>
        <p:spPr>
          <a:xfrm>
            <a:off x="4629150" y="1212986"/>
            <a:ext cx="4057650" cy="3414713"/>
          </a:xfrm>
          <a:prstGeom prst="roundRect">
            <a:avLst>
              <a:gd name="adj" fmla="val 223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00" name="Text 50"/>
          <p:cNvSpPr/>
          <p:nvPr/>
        </p:nvSpPr>
        <p:spPr>
          <a:xfrm>
            <a:off x="4764881" y="1320143"/>
            <a:ext cx="3910203" cy="104727"/>
          </a:xfrm>
          <a:prstGeom prst="rect"/>
          <a:noFill/>
        </p:spPr>
        <p:txBody>
          <a:bodyPr anchor="t" bIns="0" lIns="0" rIns="0" rtlCol="0" tIns="0" wrap="square">
            <a:normAutofit fontScale="25000" lnSpcReduction="20000"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RAMAS · FEATURE → RELEASE → MAIN</a:t>
            </a:r>
            <a:endParaRPr dirty="0" sz="800" lang="en-US"/>
          </a:p>
        </p:txBody>
      </p:sp>
      <p:sp>
        <p:nvSpPr>
          <p:cNvPr id="1049701" name="Text 51"/>
          <p:cNvSpPr/>
          <p:nvPr/>
        </p:nvSpPr>
        <p:spPr>
          <a:xfrm>
            <a:off x="4764881" y="1452302"/>
            <a:ext cx="3910203" cy="14759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3 FEATURES A DEVELOP · RELEASE/1.0 A MAIN + DEVELOP</a:t>
            </a:r>
            <a:endParaRPr dirty="0" sz="800" lang="en-US"/>
          </a:p>
        </p:txBody>
      </p:sp>
      <p:sp>
        <p:nvSpPr>
          <p:cNvPr id="1049702" name="Text 52"/>
          <p:cNvSpPr/>
          <p:nvPr/>
        </p:nvSpPr>
        <p:spPr>
          <a:xfrm>
            <a:off x="4768453" y="1630896"/>
            <a:ext cx="3793331" cy="1278731"/>
          </a:xfrm>
          <a:prstGeom prst="roundRect">
            <a:avLst>
              <a:gd name="adj" fmla="val 5959"/>
            </a:avLst>
          </a:prstGeom>
          <a:solidFill>
            <a:srgbClr val="111111"/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03" name="Text 53"/>
          <p:cNvSpPr/>
          <p:nvPr/>
        </p:nvSpPr>
        <p:spPr>
          <a:xfrm>
            <a:off x="4764881" y="2970349"/>
            <a:ext cx="3800475" cy="578644"/>
          </a:xfrm>
          <a:prstGeom prst="roundRect">
            <a:avLst>
              <a:gd name="adj" fmla="val 9877"/>
            </a:avLst>
          </a:prstGeom>
          <a:solidFill>
            <a:srgbClr val="111111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04" name="Text 54"/>
          <p:cNvSpPr/>
          <p:nvPr/>
        </p:nvSpPr>
        <p:spPr>
          <a:xfrm>
            <a:off x="4764881" y="2970349"/>
            <a:ext cx="3800475" cy="846473"/>
          </a:xfrm>
          <a:prstGeom prst="rect"/>
          <a:noFill/>
        </p:spPr>
        <p:txBody>
          <a:bodyPr anchor="t" bIns="57150" lIns="85725" rIns="85725" rtlCol="0" tIns="57150" wrap="none"/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checkout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release/1.0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congelar feature-list</a:t>
            </a:r>
            <a:endParaRPr dirty="0" sz="800" lang="en-US"/>
          </a:p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checkout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merge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--no-ff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release/1.0</a:t>
            </a:r>
            <a:endParaRPr dirty="0" sz="800" lang="en-US"/>
          </a:p>
          <a:p>
            <a:pPr algn="l" indent="0" marL="0">
              <a:lnSpc>
                <a:spcPts val="88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tag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v1.0-E1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'Entrega 1'</a:t>
            </a:r>
            <a:endParaRPr dirty="0" sz="800" lang="en-US"/>
          </a:p>
        </p:txBody>
      </p:sp>
      <p:sp>
        <p:nvSpPr>
          <p:cNvPr id="1049705" name="Text 55"/>
          <p:cNvSpPr/>
          <p:nvPr/>
        </p:nvSpPr>
        <p:spPr>
          <a:xfrm>
            <a:off x="4768453" y="4362041"/>
            <a:ext cx="3533366" cy="154930"/>
          </a:xfrm>
          <a:prstGeom prst="roundRect">
            <a:avLst>
              <a:gd name="adj" fmla="val 6141790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06" name="Text 56"/>
          <p:cNvSpPr/>
          <p:nvPr/>
        </p:nvSpPr>
        <p:spPr>
          <a:xfrm>
            <a:off x="4972050" y="4394188"/>
            <a:ext cx="3254759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27"/>
              </a:lnSpc>
              <a:buNone/>
            </a:pPr>
            <a:r>
              <a:rPr dirty="0" sz="800" kern="0" lang="en-US" spc="24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ARTIFACT E1: · zip subido a GitHub Release</a:t>
            </a:r>
            <a:endParaRPr dirty="0" sz="800" lang="en-US"/>
          </a:p>
        </p:txBody>
      </p:sp>
      <p:sp>
        <p:nvSpPr>
          <p:cNvPr id="1049707" name="Text 57"/>
          <p:cNvSpPr/>
          <p:nvPr/>
        </p:nvSpPr>
        <p:spPr>
          <a:xfrm>
            <a:off x="4843463" y="4396643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dirty="0" sz="844" lang="en-US"/>
          </a:p>
        </p:txBody>
      </p:sp>
      <p:sp>
        <p:nvSpPr>
          <p:cNvPr id="1049708" name="Text 58"/>
          <p:cNvSpPr/>
          <p:nvPr/>
        </p:nvSpPr>
        <p:spPr>
          <a:xfrm>
            <a:off x="5591101" y="4387044"/>
            <a:ext cx="2635709" cy="10492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27"/>
              </a:lnSpc>
              <a:buNone/>
            </a:pPr>
            <a:r>
              <a:rPr dirty="0" sz="800" kern="0" lang="en-US" spc="24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 publish -c Release</a:t>
            </a:r>
            <a:endParaRPr dirty="0" sz="800" lang="en-US"/>
          </a:p>
        </p:txBody>
      </p:sp>
      <p:sp>
        <p:nvSpPr>
          <p:cNvPr id="1049709" name="Text 59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8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89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713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14" name="Shape 1"/>
          <p:cNvSpPr/>
          <p:nvPr/>
        </p:nvSpPr>
        <p:spPr>
          <a:xfrm>
            <a:off x="457200" y="1216558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15" name="Shape 2"/>
          <p:cNvSpPr/>
          <p:nvPr/>
        </p:nvSpPr>
        <p:spPr>
          <a:xfrm>
            <a:off x="4511278" y="1212986"/>
            <a:ext cx="0" cy="34147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16" name="Shape 3"/>
          <p:cNvSpPr/>
          <p:nvPr/>
        </p:nvSpPr>
        <p:spPr>
          <a:xfrm>
            <a:off x="457200" y="4624127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17" name="Shape 4"/>
          <p:cNvSpPr/>
          <p:nvPr/>
        </p:nvSpPr>
        <p:spPr>
          <a:xfrm>
            <a:off x="467916" y="1212986"/>
            <a:ext cx="0" cy="3414713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718" name="Shape 5"/>
          <p:cNvSpPr/>
          <p:nvPr/>
        </p:nvSpPr>
        <p:spPr>
          <a:xfrm>
            <a:off x="592931" y="4293059"/>
            <a:ext cx="3800475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719" name="Shape 6"/>
          <p:cNvSpPr/>
          <p:nvPr/>
        </p:nvSpPr>
        <p:spPr>
          <a:xfrm>
            <a:off x="4629150" y="1216558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20" name="Shape 7"/>
          <p:cNvSpPr/>
          <p:nvPr/>
        </p:nvSpPr>
        <p:spPr>
          <a:xfrm>
            <a:off x="8683228" y="1212986"/>
            <a:ext cx="0" cy="34147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21" name="Shape 8"/>
          <p:cNvSpPr/>
          <p:nvPr/>
        </p:nvSpPr>
        <p:spPr>
          <a:xfrm>
            <a:off x="4629150" y="4624127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22" name="Shape 9"/>
          <p:cNvSpPr/>
          <p:nvPr/>
        </p:nvSpPr>
        <p:spPr>
          <a:xfrm>
            <a:off x="4639866" y="1212986"/>
            <a:ext cx="0" cy="3414713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pic>
        <p:nvPicPr>
          <p:cNvPr id="2097190" name="Image 2" descr="/tmp/h2p-svg-1791190573237-idja54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800600" y="1663043"/>
            <a:ext cx="3729038" cy="1250156"/>
          </a:xfrm>
          <a:prstGeom prst="rect"/>
        </p:spPr>
      </p:pic>
      <p:sp>
        <p:nvSpPr>
          <p:cNvPr id="1049723" name="Shape 10"/>
          <p:cNvSpPr/>
          <p:nvPr/>
        </p:nvSpPr>
        <p:spPr>
          <a:xfrm>
            <a:off x="4764881" y="3009640"/>
            <a:ext cx="3800475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724" name="Shape 11"/>
          <p:cNvSpPr/>
          <p:nvPr/>
        </p:nvSpPr>
        <p:spPr>
          <a:xfrm>
            <a:off x="8561784" y="3006068"/>
            <a:ext cx="0" cy="664369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725" name="Shape 12"/>
          <p:cNvSpPr/>
          <p:nvPr/>
        </p:nvSpPr>
        <p:spPr>
          <a:xfrm>
            <a:off x="4764881" y="3666865"/>
            <a:ext cx="3800475" cy="0"/>
          </a:xfrm>
          <a:prstGeom prst="line"/>
          <a:noFill/>
          <a:ln w="7144">
            <a:solidFill>
              <a:srgbClr val="3A3A3A"/>
            </a:solidFill>
            <a:prstDash val="solid"/>
          </a:ln>
        </p:spPr>
      </p:sp>
      <p:sp>
        <p:nvSpPr>
          <p:cNvPr id="1049726" name="Shape 13"/>
          <p:cNvSpPr/>
          <p:nvPr/>
        </p:nvSpPr>
        <p:spPr>
          <a:xfrm>
            <a:off x="4775597" y="3006068"/>
            <a:ext cx="0" cy="664369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727" name="Shape 14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28" name="Text 15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4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GITFLOW APLICADO A HABANAENTREGAS</a:t>
            </a:r>
            <a:endParaRPr dirty="0" sz="800" lang="en-US"/>
          </a:p>
        </p:txBody>
      </p:sp>
      <p:sp>
        <p:nvSpPr>
          <p:cNvPr id="1049729" name="Text 16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16 / 27</a:t>
            </a:r>
            <a:endParaRPr dirty="0" sz="619" lang="en-US"/>
          </a:p>
        </p:txBody>
      </p:sp>
      <p:sp>
        <p:nvSpPr>
          <p:cNvPr id="1049730" name="Text 17"/>
          <p:cNvSpPr/>
          <p:nvPr/>
        </p:nvSpPr>
        <p:spPr>
          <a:xfrm>
            <a:off x="457200" y="696516"/>
            <a:ext cx="5371863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Mapeo Hito 3 → </a:t>
            </a:r>
            <a:r>
              <a:rPr b="1" dirty="0" sz="1200" kern="0" lang="en-US" spc="-27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release/1.1</a:t>
            </a: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r>
              <a:rPr b="1" dirty="0" sz="1200" kern="0" lang="en-US" spc="-27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hotfix/</a:t>
            </a:r>
            <a:r>
              <a:rPr b="1" dirty="0" sz="1200" kern="0" lang="en-US" spc="-27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Entrega E2</a:t>
            </a:r>
            <a:endParaRPr dirty="0" sz="1200" lang="en-US"/>
          </a:p>
        </p:txBody>
      </p:sp>
      <p:sp>
        <p:nvSpPr>
          <p:cNvPr id="1049731" name="Text 18"/>
          <p:cNvSpPr/>
          <p:nvPr/>
        </p:nvSpPr>
        <p:spPr>
          <a:xfrm>
            <a:off x="457200" y="987958"/>
            <a:ext cx="5371863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Semana 5–6 · Reportes (c)(d) · exportación PDF</a:t>
            </a:r>
            <a:endParaRPr dirty="0" sz="800" lang="en-US"/>
          </a:p>
        </p:txBody>
      </p:sp>
      <p:sp>
        <p:nvSpPr>
          <p:cNvPr id="1049732" name="Text 19"/>
          <p:cNvSpPr/>
          <p:nvPr/>
        </p:nvSpPr>
        <p:spPr>
          <a:xfrm>
            <a:off x="8011738" y="941738"/>
            <a:ext cx="697922" cy="196025"/>
          </a:xfrm>
          <a:prstGeom prst="roundRect">
            <a:avLst>
              <a:gd name="adj" fmla="val 4854215"/>
            </a:avLst>
          </a:prstGeom>
          <a:solidFill>
            <a:srgbClr val="F39C12">
              <a:alpha val="8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33" name="Text 20"/>
          <p:cNvSpPr/>
          <p:nvPr/>
        </p:nvSpPr>
        <p:spPr>
          <a:xfrm>
            <a:off x="8244443" y="995102"/>
            <a:ext cx="453969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H3 · E2</a:t>
            </a:r>
            <a:endParaRPr dirty="0" sz="800" lang="en-US"/>
          </a:p>
        </p:txBody>
      </p:sp>
      <p:sp>
        <p:nvSpPr>
          <p:cNvPr id="1049734" name="Text 21"/>
          <p:cNvSpPr/>
          <p:nvPr/>
        </p:nvSpPr>
        <p:spPr>
          <a:xfrm>
            <a:off x="8113179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dirty="0" sz="984" lang="en-US"/>
          </a:p>
        </p:txBody>
      </p:sp>
      <p:sp>
        <p:nvSpPr>
          <p:cNvPr id="1049735" name="Text 22"/>
          <p:cNvSpPr/>
          <p:nvPr/>
        </p:nvSpPr>
        <p:spPr>
          <a:xfrm>
            <a:off x="457200" y="1212986"/>
            <a:ext cx="4057650" cy="3414713"/>
          </a:xfrm>
          <a:prstGeom prst="roundRect">
            <a:avLst>
              <a:gd name="adj" fmla="val 223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36" name="Text 23"/>
          <p:cNvSpPr/>
          <p:nvPr/>
        </p:nvSpPr>
        <p:spPr>
          <a:xfrm>
            <a:off x="592931" y="1320143"/>
            <a:ext cx="3800475" cy="10472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TAREAS DEL HITO 3</a:t>
            </a:r>
            <a:endParaRPr dirty="0" sz="800" lang="en-US"/>
          </a:p>
        </p:txBody>
      </p:sp>
      <p:sp>
        <p:nvSpPr>
          <p:cNvPr id="1049737" name="Text 24"/>
          <p:cNvSpPr/>
          <p:nvPr/>
        </p:nvSpPr>
        <p:spPr>
          <a:xfrm>
            <a:off x="592931" y="1452302"/>
            <a:ext cx="3800475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TAREAS · 2 SEMANAS</a:t>
            </a:r>
            <a:endParaRPr dirty="0" sz="800" lang="en-US"/>
          </a:p>
        </p:txBody>
      </p:sp>
      <p:sp>
        <p:nvSpPr>
          <p:cNvPr id="1049738" name="Text 25"/>
          <p:cNvSpPr/>
          <p:nvPr/>
        </p:nvSpPr>
        <p:spPr>
          <a:xfrm>
            <a:off x="592931" y="1684474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800" lang="en-US"/>
          </a:p>
        </p:txBody>
      </p:sp>
      <p:sp>
        <p:nvSpPr>
          <p:cNvPr id="1049739" name="Text 26"/>
          <p:cNvSpPr/>
          <p:nvPr/>
        </p:nvSpPr>
        <p:spPr>
          <a:xfrm>
            <a:off x="778669" y="169161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9740" name="Text 27"/>
          <p:cNvSpPr/>
          <p:nvPr/>
        </p:nvSpPr>
        <p:spPr>
          <a:xfrm>
            <a:off x="935831" y="1684474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Implementar reportes (c) principales proveedores y (d) costo promedio por tipo</a:t>
            </a:r>
            <a:endParaRPr dirty="0" sz="647" lang="en-US"/>
          </a:p>
        </p:txBody>
      </p:sp>
      <p:sp>
        <p:nvSpPr>
          <p:cNvPr id="1049741" name="Text 28"/>
          <p:cNvSpPr/>
          <p:nvPr/>
        </p:nvSpPr>
        <p:spPr>
          <a:xfrm>
            <a:off x="592931" y="1852464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800" lang="en-US"/>
          </a:p>
        </p:txBody>
      </p:sp>
      <p:sp>
        <p:nvSpPr>
          <p:cNvPr id="1049742" name="Text 29"/>
          <p:cNvSpPr/>
          <p:nvPr/>
        </p:nvSpPr>
        <p:spPr>
          <a:xfrm>
            <a:off x="778669" y="185960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9743" name="Text 30"/>
          <p:cNvSpPr/>
          <p:nvPr/>
        </p:nvSpPr>
        <p:spPr>
          <a:xfrm>
            <a:off x="935831" y="1852464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DTOs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ProveedorPrincipalDTO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CostoPromedioDTO</a:t>
            </a:r>
            <a:endParaRPr dirty="0" sz="800" lang="en-US"/>
          </a:p>
        </p:txBody>
      </p:sp>
      <p:sp>
        <p:nvSpPr>
          <p:cNvPr id="1049744" name="Text 31"/>
          <p:cNvSpPr/>
          <p:nvPr/>
        </p:nvSpPr>
        <p:spPr>
          <a:xfrm>
            <a:off x="592931" y="202045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800" lang="en-US"/>
          </a:p>
        </p:txBody>
      </p:sp>
      <p:sp>
        <p:nvSpPr>
          <p:cNvPr id="1049745" name="Text 32"/>
          <p:cNvSpPr/>
          <p:nvPr/>
        </p:nvSpPr>
        <p:spPr>
          <a:xfrm>
            <a:off x="778669" y="202759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dirty="0" sz="984" lang="en-US"/>
          </a:p>
        </p:txBody>
      </p:sp>
      <p:sp>
        <p:nvSpPr>
          <p:cNvPr id="1049746" name="Text 33"/>
          <p:cNvSpPr/>
          <p:nvPr/>
        </p:nvSpPr>
        <p:spPr>
          <a:xfrm>
            <a:off x="935831" y="202045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Implementar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PdfExportService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 QuestPDF/iTextSharp</a:t>
            </a:r>
            <a:endParaRPr dirty="0" sz="800" lang="en-US"/>
          </a:p>
        </p:txBody>
      </p:sp>
      <p:sp>
        <p:nvSpPr>
          <p:cNvPr id="1049747" name="Text 34"/>
          <p:cNvSpPr/>
          <p:nvPr/>
        </p:nvSpPr>
        <p:spPr>
          <a:xfrm>
            <a:off x="592931" y="218844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800" lang="en-US"/>
          </a:p>
        </p:txBody>
      </p:sp>
      <p:sp>
        <p:nvSpPr>
          <p:cNvPr id="1049748" name="Text 35"/>
          <p:cNvSpPr/>
          <p:nvPr/>
        </p:nvSpPr>
        <p:spPr>
          <a:xfrm>
            <a:off x="778669" y="219558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9749" name="Text 36"/>
          <p:cNvSpPr/>
          <p:nvPr/>
        </p:nvSpPr>
        <p:spPr>
          <a:xfrm>
            <a:off x="935831" y="218844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Diseñar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IReportExporter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(extensible a xlsx/csv)</a:t>
            </a:r>
            <a:endParaRPr dirty="0" sz="800" lang="en-US"/>
          </a:p>
        </p:txBody>
      </p:sp>
      <p:sp>
        <p:nvSpPr>
          <p:cNvPr id="1049750" name="Text 37"/>
          <p:cNvSpPr/>
          <p:nvPr/>
        </p:nvSpPr>
        <p:spPr>
          <a:xfrm>
            <a:off x="592931" y="235643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dirty="0" sz="800" lang="en-US"/>
          </a:p>
        </p:txBody>
      </p:sp>
      <p:sp>
        <p:nvSpPr>
          <p:cNvPr id="1049751" name="Text 38"/>
          <p:cNvSpPr/>
          <p:nvPr/>
        </p:nvSpPr>
        <p:spPr>
          <a:xfrm>
            <a:off x="778669" y="236357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49752" name="Text 39"/>
          <p:cNvSpPr/>
          <p:nvPr/>
        </p:nvSpPr>
        <p:spPr>
          <a:xfrm>
            <a:off x="935831" y="235643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Vistas de reportes (c)(d) con gráficos comparativos</a:t>
            </a:r>
            <a:endParaRPr dirty="0" sz="800" lang="en-US"/>
          </a:p>
        </p:txBody>
      </p:sp>
      <p:sp>
        <p:nvSpPr>
          <p:cNvPr id="1049753" name="Text 40"/>
          <p:cNvSpPr/>
          <p:nvPr/>
        </p:nvSpPr>
        <p:spPr>
          <a:xfrm>
            <a:off x="592931" y="252442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dirty="0" sz="800" lang="en-US"/>
          </a:p>
        </p:txBody>
      </p:sp>
      <p:sp>
        <p:nvSpPr>
          <p:cNvPr id="1049754" name="Text 41"/>
          <p:cNvSpPr/>
          <p:nvPr/>
        </p:nvSpPr>
        <p:spPr>
          <a:xfrm>
            <a:off x="778669" y="253156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▣</a:t>
            </a:r>
            <a:endParaRPr dirty="0" sz="984" lang="en-US"/>
          </a:p>
        </p:txBody>
      </p:sp>
      <p:sp>
        <p:nvSpPr>
          <p:cNvPr id="1049755" name="Text 42"/>
          <p:cNvSpPr/>
          <p:nvPr/>
        </p:nvSpPr>
        <p:spPr>
          <a:xfrm>
            <a:off x="935831" y="252442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Botones de exportación PDF en todas las vistas de reportes</a:t>
            </a:r>
            <a:endParaRPr dirty="0" sz="800" lang="en-US"/>
          </a:p>
        </p:txBody>
      </p:sp>
      <p:sp>
        <p:nvSpPr>
          <p:cNvPr id="1049756" name="Text 43"/>
          <p:cNvSpPr/>
          <p:nvPr/>
        </p:nvSpPr>
        <p:spPr>
          <a:xfrm>
            <a:off x="592931" y="2692412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dirty="0" sz="800" lang="en-US"/>
          </a:p>
        </p:txBody>
      </p:sp>
      <p:sp>
        <p:nvSpPr>
          <p:cNvPr id="1049757" name="Text 44"/>
          <p:cNvSpPr/>
          <p:nvPr/>
        </p:nvSpPr>
        <p:spPr>
          <a:xfrm>
            <a:off x="778669" y="269955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⚗</a:t>
            </a:r>
            <a:endParaRPr dirty="0" sz="984" lang="en-US"/>
          </a:p>
        </p:txBody>
      </p:sp>
      <p:sp>
        <p:nvSpPr>
          <p:cNvPr id="1049758" name="Text 45"/>
          <p:cNvSpPr/>
          <p:nvPr/>
        </p:nvSpPr>
        <p:spPr>
          <a:xfrm>
            <a:off x="935831" y="2692412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Tests unitarios ReporteService + tests integración PDF</a:t>
            </a:r>
            <a:endParaRPr dirty="0" sz="800" lang="en-US"/>
          </a:p>
        </p:txBody>
      </p:sp>
      <p:sp>
        <p:nvSpPr>
          <p:cNvPr id="1049759" name="Text 46"/>
          <p:cNvSpPr/>
          <p:nvPr/>
        </p:nvSpPr>
        <p:spPr>
          <a:xfrm>
            <a:off x="592931" y="2860402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dirty="0" sz="800" lang="en-US"/>
          </a:p>
        </p:txBody>
      </p:sp>
      <p:sp>
        <p:nvSpPr>
          <p:cNvPr id="1049760" name="Text 47"/>
          <p:cNvSpPr/>
          <p:nvPr/>
        </p:nvSpPr>
        <p:spPr>
          <a:xfrm>
            <a:off x="778669" y="286754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9761" name="Text 48"/>
          <p:cNvSpPr/>
          <p:nvPr/>
        </p:nvSpPr>
        <p:spPr>
          <a:xfrm>
            <a:off x="935831" y="2860402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Performance con grandes volúmenes de datos</a:t>
            </a:r>
            <a:endParaRPr dirty="0" sz="800" lang="en-US"/>
          </a:p>
        </p:txBody>
      </p:sp>
      <p:sp>
        <p:nvSpPr>
          <p:cNvPr id="1049762" name="Text 49"/>
          <p:cNvSpPr/>
          <p:nvPr/>
        </p:nvSpPr>
        <p:spPr>
          <a:xfrm>
            <a:off x="596503" y="4362041"/>
            <a:ext cx="3399532" cy="154930"/>
          </a:xfrm>
          <a:prstGeom prst="roundRect">
            <a:avLst>
              <a:gd name="adj" fmla="val 614179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63" name="Text 50"/>
          <p:cNvSpPr/>
          <p:nvPr/>
        </p:nvSpPr>
        <p:spPr>
          <a:xfrm>
            <a:off x="800100" y="4394188"/>
            <a:ext cx="3120926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27"/>
              </a:lnSpc>
              <a:buNone/>
            </a:pPr>
            <a:r>
              <a:rPr dirty="0" sz="600" kern="0" lang="en-US" spc="2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CRITERIOS: reportes c/d + PDF operativo + arquitectura extensible</a:t>
            </a:r>
            <a:endParaRPr dirty="0" sz="600" lang="en-US"/>
          </a:p>
        </p:txBody>
      </p:sp>
      <p:sp>
        <p:nvSpPr>
          <p:cNvPr id="1049764" name="Text 51"/>
          <p:cNvSpPr/>
          <p:nvPr/>
        </p:nvSpPr>
        <p:spPr>
          <a:xfrm>
            <a:off x="671513" y="4396643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844" lang="en-US"/>
          </a:p>
        </p:txBody>
      </p:sp>
      <p:sp>
        <p:nvSpPr>
          <p:cNvPr id="1049765" name="Text 52"/>
          <p:cNvSpPr/>
          <p:nvPr/>
        </p:nvSpPr>
        <p:spPr>
          <a:xfrm>
            <a:off x="4629150" y="1212986"/>
            <a:ext cx="4057650" cy="3414713"/>
          </a:xfrm>
          <a:prstGeom prst="roundRect">
            <a:avLst>
              <a:gd name="adj" fmla="val 223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66" name="Text 53"/>
          <p:cNvSpPr/>
          <p:nvPr/>
        </p:nvSpPr>
        <p:spPr>
          <a:xfrm>
            <a:off x="4764881" y="1320143"/>
            <a:ext cx="3800475" cy="10472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RAMAS + HOTFIX</a:t>
            </a:r>
            <a:endParaRPr dirty="0" sz="800" lang="en-US"/>
          </a:p>
        </p:txBody>
      </p:sp>
      <p:sp>
        <p:nvSpPr>
          <p:cNvPr id="1049767" name="Text 54"/>
          <p:cNvSpPr/>
          <p:nvPr/>
        </p:nvSpPr>
        <p:spPr>
          <a:xfrm>
            <a:off x="4764881" y="1452302"/>
            <a:ext cx="3910203" cy="14759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FEATURES · RELEASE/1.1 · HOTFIX/PDF-LAYOUT</a:t>
            </a:r>
            <a:endParaRPr dirty="0" sz="800" lang="en-US"/>
          </a:p>
        </p:txBody>
      </p:sp>
      <p:sp>
        <p:nvSpPr>
          <p:cNvPr id="1049768" name="Text 55"/>
          <p:cNvSpPr/>
          <p:nvPr/>
        </p:nvSpPr>
        <p:spPr>
          <a:xfrm>
            <a:off x="4768453" y="1630896"/>
            <a:ext cx="3793331" cy="1314450"/>
          </a:xfrm>
          <a:prstGeom prst="roundRect">
            <a:avLst>
              <a:gd name="adj" fmla="val 5797"/>
            </a:avLst>
          </a:prstGeom>
          <a:solidFill>
            <a:srgbClr val="111111"/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69" name="Text 56"/>
          <p:cNvSpPr/>
          <p:nvPr/>
        </p:nvSpPr>
        <p:spPr>
          <a:xfrm>
            <a:off x="4764881" y="3006068"/>
            <a:ext cx="3800475" cy="664369"/>
          </a:xfrm>
          <a:prstGeom prst="roundRect">
            <a:avLst>
              <a:gd name="adj" fmla="val 8602"/>
            </a:avLst>
          </a:prstGeom>
          <a:solidFill>
            <a:srgbClr val="111111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70" name="Text 57"/>
          <p:cNvSpPr/>
          <p:nvPr/>
        </p:nvSpPr>
        <p:spPr>
          <a:xfrm>
            <a:off x="4764881" y="3006068"/>
            <a:ext cx="3800475" cy="1020470"/>
          </a:xfrm>
          <a:prstGeom prst="rect"/>
          <a:noFill/>
        </p:spPr>
        <p:txBody>
          <a:bodyPr anchor="t" bIns="57150" lIns="85725" rIns="85725" rtlCol="0" tIns="57150" wrap="non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checkout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hotfix/pdf-layout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bug en producción</a:t>
            </a:r>
            <a:endParaRPr dirty="0" sz="800" lang="en-US"/>
          </a:p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commit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'fix(pdf): corregir encabezado QuestPDF'</a:t>
            </a:r>
            <a:endParaRPr dirty="0" sz="800" lang="en-US"/>
          </a:p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checkout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merge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--no-ff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hotfix/pdf-layout</a:t>
            </a:r>
            <a:endParaRPr dirty="0" sz="800" lang="en-US"/>
          </a:p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tag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v1.1.1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'Hotfix PDF'</a:t>
            </a:r>
            <a:endParaRPr dirty="0" sz="800" lang="en-US"/>
          </a:p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checkout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&amp;&amp; </a:t>
            </a: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merge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--no-ff</a:t>
            </a:r>
            <a:r>
              <a:rPr dirty="0" sz="800" kern="0" lang="en-US" spc="8">
                <a:solidFill>
                  <a:srgbClr val="D6D6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hotfix/pdf-layout</a:t>
            </a:r>
            <a:endParaRPr dirty="0" sz="800" lang="en-US"/>
          </a:p>
        </p:txBody>
      </p:sp>
      <p:sp>
        <p:nvSpPr>
          <p:cNvPr id="1049771" name="Text 58"/>
          <p:cNvSpPr/>
          <p:nvPr/>
        </p:nvSpPr>
        <p:spPr>
          <a:xfrm>
            <a:off x="4768453" y="4362041"/>
            <a:ext cx="1911065" cy="154930"/>
          </a:xfrm>
          <a:prstGeom prst="roundRect">
            <a:avLst>
              <a:gd name="adj" fmla="val 6141790"/>
            </a:avLst>
          </a:prstGeom>
          <a:solidFill>
            <a:srgbClr val="F39C12">
              <a:alpha val="8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72" name="Text 59"/>
          <p:cNvSpPr/>
          <p:nvPr/>
        </p:nvSpPr>
        <p:spPr>
          <a:xfrm>
            <a:off x="4972050" y="4394188"/>
            <a:ext cx="1632458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27"/>
              </a:lnSpc>
              <a:buNone/>
            </a:pPr>
            <a:r>
              <a:rPr dirty="0" sz="600" kern="0" lang="en-US" spc="24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 = resiliencia en producción</a:t>
            </a:r>
            <a:endParaRPr dirty="0" sz="600" lang="en-US"/>
          </a:p>
        </p:txBody>
      </p:sp>
      <p:sp>
        <p:nvSpPr>
          <p:cNvPr id="1049773" name="Text 60"/>
          <p:cNvSpPr/>
          <p:nvPr/>
        </p:nvSpPr>
        <p:spPr>
          <a:xfrm>
            <a:off x="4843463" y="4396643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✚</a:t>
            </a:r>
            <a:endParaRPr dirty="0" sz="844" lang="en-US"/>
          </a:p>
        </p:txBody>
      </p:sp>
      <p:sp>
        <p:nvSpPr>
          <p:cNvPr id="1049774" name="Text 61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9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1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92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778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79" name="Shape 1"/>
          <p:cNvSpPr/>
          <p:nvPr/>
        </p:nvSpPr>
        <p:spPr>
          <a:xfrm>
            <a:off x="457200" y="1216558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80" name="Shape 2"/>
          <p:cNvSpPr/>
          <p:nvPr/>
        </p:nvSpPr>
        <p:spPr>
          <a:xfrm>
            <a:off x="4511278" y="1212986"/>
            <a:ext cx="0" cy="34147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81" name="Shape 3"/>
          <p:cNvSpPr/>
          <p:nvPr/>
        </p:nvSpPr>
        <p:spPr>
          <a:xfrm>
            <a:off x="457200" y="4624127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82" name="Shape 4"/>
          <p:cNvSpPr/>
          <p:nvPr/>
        </p:nvSpPr>
        <p:spPr>
          <a:xfrm>
            <a:off x="467916" y="1212986"/>
            <a:ext cx="0" cy="3414713"/>
          </a:xfrm>
          <a:prstGeom prst="line"/>
          <a:noFill/>
          <a:ln w="21431">
            <a:solidFill>
              <a:srgbClr val="FF6B35"/>
            </a:solidFill>
            <a:prstDash val="solid"/>
          </a:ln>
        </p:spPr>
      </p:sp>
      <p:sp>
        <p:nvSpPr>
          <p:cNvPr id="1049783" name="Shape 5"/>
          <p:cNvSpPr/>
          <p:nvPr/>
        </p:nvSpPr>
        <p:spPr>
          <a:xfrm>
            <a:off x="592931" y="4293059"/>
            <a:ext cx="3800475" cy="0"/>
          </a:xfrm>
          <a:prstGeom prst="line"/>
          <a:noFill/>
          <a:ln w="7144">
            <a:solidFill>
              <a:srgbClr val="3A3A3A"/>
            </a:solidFill>
            <a:prstDash val="dash"/>
          </a:ln>
        </p:spPr>
      </p:sp>
      <p:sp>
        <p:nvSpPr>
          <p:cNvPr id="1049784" name="Shape 6"/>
          <p:cNvSpPr/>
          <p:nvPr/>
        </p:nvSpPr>
        <p:spPr>
          <a:xfrm>
            <a:off x="4629150" y="1216558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85" name="Shape 7"/>
          <p:cNvSpPr/>
          <p:nvPr/>
        </p:nvSpPr>
        <p:spPr>
          <a:xfrm>
            <a:off x="8683228" y="1212986"/>
            <a:ext cx="0" cy="34147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86" name="Shape 8"/>
          <p:cNvSpPr/>
          <p:nvPr/>
        </p:nvSpPr>
        <p:spPr>
          <a:xfrm>
            <a:off x="4629150" y="4624127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87" name="Shape 9"/>
          <p:cNvSpPr/>
          <p:nvPr/>
        </p:nvSpPr>
        <p:spPr>
          <a:xfrm>
            <a:off x="4639866" y="1212986"/>
            <a:ext cx="0" cy="3414713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pic>
        <p:nvPicPr>
          <p:cNvPr id="2097193" name="Image 2" descr="/tmp/h2p-svg-1791190574147-ze6vds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4800600" y="1663043"/>
            <a:ext cx="3729038" cy="1035844"/>
          </a:xfrm>
          <a:prstGeom prst="rect"/>
        </p:spPr>
      </p:pic>
      <p:sp>
        <p:nvSpPr>
          <p:cNvPr id="1049788" name="Shape 10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789" name="Text 11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4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GITFLOW APLICADO A HABANAENTREGAS</a:t>
            </a:r>
            <a:endParaRPr dirty="0" sz="800" lang="en-US"/>
          </a:p>
        </p:txBody>
      </p:sp>
      <p:sp>
        <p:nvSpPr>
          <p:cNvPr id="1049790" name="Text 12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/ 27</a:t>
            </a:r>
            <a:endParaRPr dirty="0" sz="619" lang="en-US"/>
          </a:p>
        </p:txBody>
      </p:sp>
      <p:sp>
        <p:nvSpPr>
          <p:cNvPr id="1049791" name="Text 13"/>
          <p:cNvSpPr/>
          <p:nvPr/>
        </p:nvSpPr>
        <p:spPr>
          <a:xfrm>
            <a:off x="457200" y="696516"/>
            <a:ext cx="5195739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Mapeo Hito 4 → </a:t>
            </a:r>
            <a:r>
              <a:rPr b="1" dirty="0" sz="1200" kern="0" lang="en-US" spc="-27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release/2.0</a:t>
            </a: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r>
              <a:rPr b="1" dirty="0" sz="1200" kern="0" lang="en-US" spc="-27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main</a:t>
            </a:r>
            <a:r>
              <a:rPr b="1" dirty="0" sz="1200" kern="0" lang="en-US" spc="-27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· Entrega E3</a:t>
            </a:r>
            <a:endParaRPr dirty="0" sz="1200" lang="en-US"/>
          </a:p>
        </p:txBody>
      </p:sp>
      <p:sp>
        <p:nvSpPr>
          <p:cNvPr id="1049792" name="Text 14"/>
          <p:cNvSpPr/>
          <p:nvPr/>
        </p:nvSpPr>
        <p:spPr>
          <a:xfrm>
            <a:off x="457200" y="987958"/>
            <a:ext cx="4810869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Semana 7–8 · Integración intranet · sistema final en IIS</a:t>
            </a:r>
            <a:endParaRPr dirty="0" sz="800" lang="en-US"/>
          </a:p>
        </p:txBody>
      </p:sp>
      <p:sp>
        <p:nvSpPr>
          <p:cNvPr id="1049793" name="Text 15"/>
          <p:cNvSpPr/>
          <p:nvPr/>
        </p:nvSpPr>
        <p:spPr>
          <a:xfrm>
            <a:off x="8011738" y="941738"/>
            <a:ext cx="697922" cy="196025"/>
          </a:xfrm>
          <a:prstGeom prst="roundRect">
            <a:avLst>
              <a:gd name="adj" fmla="val 4854215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94" name="Text 16"/>
          <p:cNvSpPr/>
          <p:nvPr/>
        </p:nvSpPr>
        <p:spPr>
          <a:xfrm>
            <a:off x="8244443" y="995102"/>
            <a:ext cx="453969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H4 · E3</a:t>
            </a:r>
            <a:endParaRPr dirty="0" sz="800" lang="en-US"/>
          </a:p>
        </p:txBody>
      </p:sp>
      <p:sp>
        <p:nvSpPr>
          <p:cNvPr id="1049795" name="Text 17"/>
          <p:cNvSpPr/>
          <p:nvPr/>
        </p:nvSpPr>
        <p:spPr>
          <a:xfrm>
            <a:off x="8113179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⚑</a:t>
            </a:r>
            <a:endParaRPr dirty="0" sz="984" lang="en-US"/>
          </a:p>
        </p:txBody>
      </p:sp>
      <p:sp>
        <p:nvSpPr>
          <p:cNvPr id="1049796" name="Text 18"/>
          <p:cNvSpPr/>
          <p:nvPr/>
        </p:nvSpPr>
        <p:spPr>
          <a:xfrm>
            <a:off x="457200" y="1212986"/>
            <a:ext cx="4057650" cy="3414713"/>
          </a:xfrm>
          <a:prstGeom prst="roundRect">
            <a:avLst>
              <a:gd name="adj" fmla="val 223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797" name="Text 19"/>
          <p:cNvSpPr/>
          <p:nvPr/>
        </p:nvSpPr>
        <p:spPr>
          <a:xfrm>
            <a:off x="592931" y="1320143"/>
            <a:ext cx="3800475" cy="10472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TAREAS DEL HITO 4</a:t>
            </a:r>
            <a:endParaRPr dirty="0" sz="800" lang="en-US"/>
          </a:p>
        </p:txBody>
      </p:sp>
      <p:sp>
        <p:nvSpPr>
          <p:cNvPr id="1049798" name="Text 20"/>
          <p:cNvSpPr/>
          <p:nvPr/>
        </p:nvSpPr>
        <p:spPr>
          <a:xfrm>
            <a:off x="592931" y="1452302"/>
            <a:ext cx="3910203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TAREAS · 2 SEMANAS · CIERRE</a:t>
            </a:r>
            <a:endParaRPr dirty="0" sz="800" lang="en-US"/>
          </a:p>
        </p:txBody>
      </p:sp>
      <p:sp>
        <p:nvSpPr>
          <p:cNvPr id="1049799" name="Text 21"/>
          <p:cNvSpPr/>
          <p:nvPr/>
        </p:nvSpPr>
        <p:spPr>
          <a:xfrm>
            <a:off x="592931" y="1684474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800" lang="en-US"/>
          </a:p>
        </p:txBody>
      </p:sp>
      <p:sp>
        <p:nvSpPr>
          <p:cNvPr id="1049800" name="Text 22"/>
          <p:cNvSpPr/>
          <p:nvPr/>
        </p:nvSpPr>
        <p:spPr>
          <a:xfrm>
            <a:off x="778669" y="169161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dirty="0" sz="984" lang="en-US"/>
          </a:p>
        </p:txBody>
      </p:sp>
      <p:sp>
        <p:nvSpPr>
          <p:cNvPr id="1049801" name="Text 23"/>
          <p:cNvSpPr/>
          <p:nvPr/>
        </p:nvSpPr>
        <p:spPr>
          <a:xfrm>
            <a:off x="935831" y="1684474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Definir contrato JSON/XML con intranet (reunión con equipo intranet)</a:t>
            </a:r>
            <a:endParaRPr dirty="0" sz="647" lang="en-US"/>
          </a:p>
        </p:txBody>
      </p:sp>
      <p:sp>
        <p:nvSpPr>
          <p:cNvPr id="1049802" name="Text 24"/>
          <p:cNvSpPr/>
          <p:nvPr/>
        </p:nvSpPr>
        <p:spPr>
          <a:xfrm>
            <a:off x="592931" y="1852464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800" lang="en-US"/>
          </a:p>
        </p:txBody>
      </p:sp>
      <p:sp>
        <p:nvSpPr>
          <p:cNvPr id="1049803" name="Text 25"/>
          <p:cNvSpPr/>
          <p:nvPr/>
        </p:nvSpPr>
        <p:spPr>
          <a:xfrm>
            <a:off x="778669" y="185960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9804" name="Text 26"/>
          <p:cNvSpPr/>
          <p:nvPr/>
        </p:nvSpPr>
        <p:spPr>
          <a:xfrm>
            <a:off x="935831" y="1852464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</a:t>
            </a:r>
            <a:r>
              <a:rPr dirty="0" sz="647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IntranetService</a:t>
            </a: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: PrepareDashboardData(), SendToIntranet()</a:t>
            </a:r>
            <a:endParaRPr dirty="0" sz="647" lang="en-US"/>
          </a:p>
        </p:txBody>
      </p:sp>
      <p:sp>
        <p:nvSpPr>
          <p:cNvPr id="1049805" name="Text 27"/>
          <p:cNvSpPr/>
          <p:nvPr/>
        </p:nvSpPr>
        <p:spPr>
          <a:xfrm>
            <a:off x="592931" y="202045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800" lang="en-US"/>
          </a:p>
        </p:txBody>
      </p:sp>
      <p:sp>
        <p:nvSpPr>
          <p:cNvPr id="1049806" name="Text 28"/>
          <p:cNvSpPr/>
          <p:nvPr/>
        </p:nvSpPr>
        <p:spPr>
          <a:xfrm>
            <a:off x="778669" y="202759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dirty="0" sz="984" lang="en-US"/>
          </a:p>
        </p:txBody>
      </p:sp>
      <p:sp>
        <p:nvSpPr>
          <p:cNvPr id="1049807" name="Text 29"/>
          <p:cNvSpPr/>
          <p:nvPr/>
        </p:nvSpPr>
        <p:spPr>
          <a:xfrm>
            <a:off x="935831" y="202045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API Controller </a:t>
            </a:r>
            <a:r>
              <a:rPr dirty="0" sz="647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DashboardController</a:t>
            </a: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con [Authorize(Roles=Admin)]</a:t>
            </a:r>
            <a:endParaRPr dirty="0" sz="647" lang="en-US"/>
          </a:p>
        </p:txBody>
      </p:sp>
      <p:sp>
        <p:nvSpPr>
          <p:cNvPr id="1049808" name="Text 30"/>
          <p:cNvSpPr/>
          <p:nvPr/>
        </p:nvSpPr>
        <p:spPr>
          <a:xfrm>
            <a:off x="592931" y="218844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800" lang="en-US"/>
          </a:p>
        </p:txBody>
      </p:sp>
      <p:sp>
        <p:nvSpPr>
          <p:cNvPr id="1049809" name="Text 31"/>
          <p:cNvSpPr/>
          <p:nvPr/>
        </p:nvSpPr>
        <p:spPr>
          <a:xfrm>
            <a:off x="778669" y="219558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49810" name="Text 32"/>
          <p:cNvSpPr/>
          <p:nvPr/>
        </p:nvSpPr>
        <p:spPr>
          <a:xfrm>
            <a:off x="935831" y="218844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Pruebas de integración intranet (cliente HTTP, tests E2E)</a:t>
            </a:r>
            <a:endParaRPr dirty="0" sz="800" lang="en-US"/>
          </a:p>
        </p:txBody>
      </p:sp>
      <p:sp>
        <p:nvSpPr>
          <p:cNvPr id="1049811" name="Text 33"/>
          <p:cNvSpPr/>
          <p:nvPr/>
        </p:nvSpPr>
        <p:spPr>
          <a:xfrm>
            <a:off x="592931" y="235643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dirty="0" sz="800" lang="en-US"/>
          </a:p>
        </p:txBody>
      </p:sp>
      <p:sp>
        <p:nvSpPr>
          <p:cNvPr id="1049812" name="Text 34"/>
          <p:cNvSpPr/>
          <p:nvPr/>
        </p:nvSpPr>
        <p:spPr>
          <a:xfrm>
            <a:off x="778669" y="236357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⚙</a:t>
            </a:r>
            <a:endParaRPr dirty="0" sz="984" lang="en-US"/>
          </a:p>
        </p:txBody>
      </p:sp>
      <p:sp>
        <p:nvSpPr>
          <p:cNvPr id="1049813" name="Text 35"/>
          <p:cNvSpPr/>
          <p:nvPr/>
        </p:nvSpPr>
        <p:spPr>
          <a:xfrm>
            <a:off x="935831" y="235643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Ajustes finales según feedback del cliente (UI/UX, performance, bugs)</a:t>
            </a:r>
            <a:endParaRPr dirty="0" sz="647" lang="en-US"/>
          </a:p>
        </p:txBody>
      </p:sp>
      <p:sp>
        <p:nvSpPr>
          <p:cNvPr id="1049814" name="Text 36"/>
          <p:cNvSpPr/>
          <p:nvPr/>
        </p:nvSpPr>
        <p:spPr>
          <a:xfrm>
            <a:off x="592931" y="2524423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dirty="0" sz="800" lang="en-US"/>
          </a:p>
        </p:txBody>
      </p:sp>
      <p:sp>
        <p:nvSpPr>
          <p:cNvPr id="1049815" name="Text 37"/>
          <p:cNvSpPr/>
          <p:nvPr/>
        </p:nvSpPr>
        <p:spPr>
          <a:xfrm>
            <a:off x="778669" y="253156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49816" name="Text 38"/>
          <p:cNvSpPr/>
          <p:nvPr/>
        </p:nvSpPr>
        <p:spPr>
          <a:xfrm>
            <a:off x="935831" y="2524423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Documentación final: arquitectura, manual usuario, manual admin</a:t>
            </a:r>
            <a:endParaRPr dirty="0" sz="647" lang="en-US"/>
          </a:p>
        </p:txBody>
      </p:sp>
      <p:sp>
        <p:nvSpPr>
          <p:cNvPr id="1049817" name="Text 39"/>
          <p:cNvSpPr/>
          <p:nvPr/>
        </p:nvSpPr>
        <p:spPr>
          <a:xfrm>
            <a:off x="592931" y="2692412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dirty="0" sz="800" lang="en-US"/>
          </a:p>
        </p:txBody>
      </p:sp>
      <p:sp>
        <p:nvSpPr>
          <p:cNvPr id="1049818" name="Text 40"/>
          <p:cNvSpPr/>
          <p:nvPr/>
        </p:nvSpPr>
        <p:spPr>
          <a:xfrm>
            <a:off x="778669" y="269955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☁</a:t>
            </a:r>
            <a:endParaRPr dirty="0" sz="984" lang="en-US"/>
          </a:p>
        </p:txBody>
      </p:sp>
      <p:sp>
        <p:nvSpPr>
          <p:cNvPr id="1049819" name="Text 41"/>
          <p:cNvSpPr/>
          <p:nvPr/>
        </p:nvSpPr>
        <p:spPr>
          <a:xfrm>
            <a:off x="935831" y="2692412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Despliegue en IIS sobre Windows Server con SQL Server 2017</a:t>
            </a:r>
            <a:endParaRPr dirty="0" sz="800" lang="en-US"/>
          </a:p>
        </p:txBody>
      </p:sp>
      <p:sp>
        <p:nvSpPr>
          <p:cNvPr id="1049820" name="Text 42"/>
          <p:cNvSpPr/>
          <p:nvPr/>
        </p:nvSpPr>
        <p:spPr>
          <a:xfrm>
            <a:off x="592931" y="2860402"/>
            <a:ext cx="205740" cy="14807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35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dirty="0" sz="800" lang="en-US"/>
          </a:p>
        </p:txBody>
      </p:sp>
      <p:sp>
        <p:nvSpPr>
          <p:cNvPr id="1049821" name="Text 43"/>
          <p:cNvSpPr/>
          <p:nvPr/>
        </p:nvSpPr>
        <p:spPr>
          <a:xfrm>
            <a:off x="778669" y="286754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6B728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dirty="0" sz="984" lang="en-US"/>
          </a:p>
        </p:txBody>
      </p:sp>
      <p:sp>
        <p:nvSpPr>
          <p:cNvPr id="1049822" name="Text 44"/>
          <p:cNvSpPr/>
          <p:nvPr/>
        </p:nvSpPr>
        <p:spPr>
          <a:xfrm>
            <a:off x="935831" y="2860402"/>
            <a:ext cx="3457575" cy="14804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73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Pruebas UAT con cliente + acta de aceptación formal</a:t>
            </a:r>
            <a:endParaRPr dirty="0" sz="800" lang="en-US"/>
          </a:p>
        </p:txBody>
      </p:sp>
      <p:sp>
        <p:nvSpPr>
          <p:cNvPr id="1049823" name="Text 45"/>
          <p:cNvSpPr/>
          <p:nvPr/>
        </p:nvSpPr>
        <p:spPr>
          <a:xfrm>
            <a:off x="596503" y="4362041"/>
            <a:ext cx="3207432" cy="154930"/>
          </a:xfrm>
          <a:prstGeom prst="roundRect">
            <a:avLst>
              <a:gd name="adj" fmla="val 6141790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824" name="Text 46"/>
          <p:cNvSpPr/>
          <p:nvPr/>
        </p:nvSpPr>
        <p:spPr>
          <a:xfrm>
            <a:off x="800100" y="4394188"/>
            <a:ext cx="2928826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27"/>
              </a:lnSpc>
              <a:buNone/>
            </a:pPr>
            <a:r>
              <a:rPr dirty="0" sz="600" kern="0" lang="en-US" spc="2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CRITERIOS: intranet recibe datos + doc completa + IIS+SQL2017</a:t>
            </a:r>
            <a:endParaRPr dirty="0" sz="600" lang="en-US"/>
          </a:p>
        </p:txBody>
      </p:sp>
      <p:sp>
        <p:nvSpPr>
          <p:cNvPr id="1049825" name="Text 47"/>
          <p:cNvSpPr/>
          <p:nvPr/>
        </p:nvSpPr>
        <p:spPr>
          <a:xfrm>
            <a:off x="671513" y="4396643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844" lang="en-US"/>
          </a:p>
        </p:txBody>
      </p:sp>
      <p:sp>
        <p:nvSpPr>
          <p:cNvPr id="1049826" name="Text 48"/>
          <p:cNvSpPr/>
          <p:nvPr/>
        </p:nvSpPr>
        <p:spPr>
          <a:xfrm>
            <a:off x="4629150" y="1212986"/>
            <a:ext cx="4057650" cy="3414713"/>
          </a:xfrm>
          <a:prstGeom prst="roundRect">
            <a:avLst>
              <a:gd name="adj" fmla="val 2232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827" name="Text 49"/>
          <p:cNvSpPr/>
          <p:nvPr/>
        </p:nvSpPr>
        <p:spPr>
          <a:xfrm>
            <a:off x="4764881" y="1320143"/>
            <a:ext cx="3800475" cy="10472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RAMAS Y CIERRE</a:t>
            </a:r>
            <a:endParaRPr dirty="0" sz="800" lang="en-US"/>
          </a:p>
        </p:txBody>
      </p:sp>
      <p:sp>
        <p:nvSpPr>
          <p:cNvPr id="1049828" name="Text 50"/>
          <p:cNvSpPr/>
          <p:nvPr/>
        </p:nvSpPr>
        <p:spPr>
          <a:xfrm>
            <a:off x="4764881" y="1452302"/>
            <a:ext cx="3910203" cy="147590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2 FEATURES · RELEASE/2.0 · MAIN · TAG V2.0-E3</a:t>
            </a:r>
            <a:endParaRPr dirty="0" sz="800" lang="en-US"/>
          </a:p>
        </p:txBody>
      </p:sp>
      <p:sp>
        <p:nvSpPr>
          <p:cNvPr id="1049829" name="Text 51"/>
          <p:cNvSpPr/>
          <p:nvPr/>
        </p:nvSpPr>
        <p:spPr>
          <a:xfrm>
            <a:off x="4768453" y="1630896"/>
            <a:ext cx="3793331" cy="1100138"/>
          </a:xfrm>
          <a:prstGeom prst="roundRect">
            <a:avLst>
              <a:gd name="adj" fmla="val 6926"/>
            </a:avLst>
          </a:prstGeom>
          <a:solidFill>
            <a:srgbClr val="111111"/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pic>
        <p:nvPicPr>
          <p:cNvPr id="2097194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4764881" y="2791755"/>
            <a:ext cx="3800475" cy="307181"/>
          </a:xfrm>
          <a:prstGeom prst="rect"/>
        </p:spPr>
      </p:pic>
      <p:sp>
        <p:nvSpPr>
          <p:cNvPr id="1049830" name="Text 52"/>
          <p:cNvSpPr/>
          <p:nvPr/>
        </p:nvSpPr>
        <p:spPr>
          <a:xfrm>
            <a:off x="4768453" y="2795327"/>
            <a:ext cx="3793331" cy="300038"/>
          </a:xfrm>
          <a:prstGeom prst="roundRect">
            <a:avLst>
              <a:gd name="adj" fmla="val 25397"/>
            </a:avLst>
          </a:prstGeom>
          <a:noFill/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831" name="Text 53"/>
          <p:cNvSpPr/>
          <p:nvPr/>
        </p:nvSpPr>
        <p:spPr>
          <a:xfrm>
            <a:off x="4872038" y="2873908"/>
            <a:ext cx="142875" cy="14287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406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1406" lang="en-US"/>
          </a:p>
        </p:txBody>
      </p:sp>
      <p:sp>
        <p:nvSpPr>
          <p:cNvPr id="1049832" name="Text 54"/>
          <p:cNvSpPr/>
          <p:nvPr/>
        </p:nvSpPr>
        <p:spPr>
          <a:xfrm>
            <a:off x="5086350" y="2870336"/>
            <a:ext cx="3378994" cy="150019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b="1" dirty="0" sz="800" kern="0" lang="en-US" spc="32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v2.0-E3 = SISTEMA FINAL EN PRODUCCIÓN</a:t>
            </a:r>
            <a:endParaRPr dirty="0" sz="800" lang="en-US"/>
          </a:p>
        </p:txBody>
      </p:sp>
      <p:sp>
        <p:nvSpPr>
          <p:cNvPr id="1049833" name="Text 55"/>
          <p:cNvSpPr/>
          <p:nvPr/>
        </p:nvSpPr>
        <p:spPr>
          <a:xfrm>
            <a:off x="4768453" y="3159658"/>
            <a:ext cx="3793331" cy="386432"/>
          </a:xfrm>
          <a:prstGeom prst="roundRect">
            <a:avLst>
              <a:gd name="adj" fmla="val 19719"/>
            </a:avLst>
          </a:prstGeom>
          <a:solidFill>
            <a:srgbClr val="131313"/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834" name="Text 56"/>
          <p:cNvSpPr/>
          <p:nvPr/>
        </p:nvSpPr>
        <p:spPr>
          <a:xfrm>
            <a:off x="4857750" y="3234668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▿</a:t>
            </a:r>
            <a:endParaRPr dirty="0" sz="1266" lang="en-US"/>
          </a:p>
        </p:txBody>
      </p:sp>
      <p:sp>
        <p:nvSpPr>
          <p:cNvPr id="1049835" name="Text 57"/>
          <p:cNvSpPr/>
          <p:nvPr/>
        </p:nvSpPr>
        <p:spPr>
          <a:xfrm>
            <a:off x="5043488" y="3234668"/>
            <a:ext cx="3429000" cy="23641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06"/>
              </a:lnSpc>
              <a:buNone/>
            </a:pPr>
            <a:r>
              <a:rPr b="1" dirty="0" sz="800" kern="0" lang="en-US" spc="23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ENTREGA FORMAL (sección 9.7 Guía)</a:t>
            </a:r>
            <a:endParaRPr dirty="0" sz="800" lang="en-US"/>
          </a:p>
          <a:p>
            <a:pPr algn="l" indent="0" marL="0">
              <a:lnSpc>
                <a:spcPts val="906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acta firmada + transición al equipo de mantenimiento + plan de soporte 3 meses</a:t>
            </a:r>
            <a:endParaRPr dirty="0" sz="800" lang="en-US"/>
          </a:p>
        </p:txBody>
      </p:sp>
      <p:sp>
        <p:nvSpPr>
          <p:cNvPr id="1049836" name="Text 58"/>
          <p:cNvSpPr/>
          <p:nvPr/>
        </p:nvSpPr>
        <p:spPr>
          <a:xfrm>
            <a:off x="4768453" y="4362041"/>
            <a:ext cx="3255541" cy="154930"/>
          </a:xfrm>
          <a:prstGeom prst="roundRect">
            <a:avLst>
              <a:gd name="adj" fmla="val 6141790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837" name="Text 59"/>
          <p:cNvSpPr/>
          <p:nvPr/>
        </p:nvSpPr>
        <p:spPr>
          <a:xfrm>
            <a:off x="4972050" y="4394188"/>
            <a:ext cx="2976935" cy="1254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27"/>
              </a:lnSpc>
              <a:buNone/>
            </a:pPr>
            <a:r>
              <a:rPr dirty="0" sz="600" kern="0" lang="en-US" spc="24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UAT: el cliente valida con datos reales antes del merge a main</a:t>
            </a:r>
            <a:endParaRPr dirty="0" sz="600" lang="en-US"/>
          </a:p>
        </p:txBody>
      </p:sp>
      <p:sp>
        <p:nvSpPr>
          <p:cNvPr id="1049838" name="Text 60"/>
          <p:cNvSpPr/>
          <p:nvPr/>
        </p:nvSpPr>
        <p:spPr>
          <a:xfrm>
            <a:off x="4843463" y="4396643"/>
            <a:ext cx="91440" cy="91440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84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844" lang="en-US"/>
          </a:p>
        </p:txBody>
      </p:sp>
      <p:sp>
        <p:nvSpPr>
          <p:cNvPr id="1049839" name="Text 61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96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843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844" name="Shape 1"/>
          <p:cNvSpPr/>
          <p:nvPr/>
        </p:nvSpPr>
        <p:spPr>
          <a:xfrm>
            <a:off x="457200" y="1245133"/>
            <a:ext cx="32060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845" name="Shape 2"/>
          <p:cNvSpPr/>
          <p:nvPr/>
        </p:nvSpPr>
        <p:spPr>
          <a:xfrm>
            <a:off x="3659721" y="1241561"/>
            <a:ext cx="0" cy="335756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846" name="Shape 3"/>
          <p:cNvSpPr/>
          <p:nvPr/>
        </p:nvSpPr>
        <p:spPr>
          <a:xfrm>
            <a:off x="457200" y="4595552"/>
            <a:ext cx="32060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847" name="Shape 4"/>
          <p:cNvSpPr/>
          <p:nvPr/>
        </p:nvSpPr>
        <p:spPr>
          <a:xfrm>
            <a:off x="471488" y="1241561"/>
            <a:ext cx="0" cy="3357563"/>
          </a:xfrm>
          <a:prstGeom prst="line"/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049848" name="Shape 5"/>
          <p:cNvSpPr/>
          <p:nvPr/>
        </p:nvSpPr>
        <p:spPr>
          <a:xfrm>
            <a:off x="628650" y="4081202"/>
            <a:ext cx="2884624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849" name="Shape 6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850" name="Text 7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5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PRÁCTICO PASO A PASO</a:t>
            </a:r>
            <a:endParaRPr dirty="0" sz="800" lang="en-US"/>
          </a:p>
        </p:txBody>
      </p:sp>
      <p:sp>
        <p:nvSpPr>
          <p:cNvPr id="1049851" name="Text 8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 / 27</a:t>
            </a:r>
            <a:endParaRPr dirty="0" sz="619" lang="en-US"/>
          </a:p>
        </p:txBody>
      </p:sp>
      <p:sp>
        <p:nvSpPr>
          <p:cNvPr id="1049852" name="Text 9"/>
          <p:cNvSpPr/>
          <p:nvPr/>
        </p:nvSpPr>
        <p:spPr>
          <a:xfrm>
            <a:off x="457200" y="696516"/>
            <a:ext cx="4631137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Paso 1 · Inicializar repositorio y ramas base</a:t>
            </a:r>
            <a:endParaRPr dirty="0" sz="1200" lang="en-US"/>
          </a:p>
        </p:txBody>
      </p:sp>
      <p:sp>
        <p:nvSpPr>
          <p:cNvPr id="1049853" name="Text 10"/>
          <p:cNvSpPr/>
          <p:nvPr/>
        </p:nvSpPr>
        <p:spPr>
          <a:xfrm>
            <a:off x="457200" y="987958"/>
            <a:ext cx="4210124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Configurar remoto · proteger main/develop · políticas de merge</a:t>
            </a:r>
            <a:endParaRPr dirty="0" sz="800" lang="en-US"/>
          </a:p>
        </p:txBody>
      </p:sp>
      <p:sp>
        <p:nvSpPr>
          <p:cNvPr id="1049854" name="Text 11"/>
          <p:cNvSpPr/>
          <p:nvPr/>
        </p:nvSpPr>
        <p:spPr>
          <a:xfrm>
            <a:off x="7257291" y="941738"/>
            <a:ext cx="1452369" cy="196025"/>
          </a:xfrm>
          <a:prstGeom prst="roundRect">
            <a:avLst>
              <a:gd name="adj" fmla="val 4854215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855" name="Text 12"/>
          <p:cNvSpPr/>
          <p:nvPr/>
        </p:nvSpPr>
        <p:spPr>
          <a:xfrm>
            <a:off x="7501607" y="995102"/>
            <a:ext cx="1185193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TIEMPO ESTIMADO: 5 min</a:t>
            </a:r>
            <a:endParaRPr dirty="0" sz="619" lang="en-US"/>
          </a:p>
        </p:txBody>
      </p:sp>
      <p:sp>
        <p:nvSpPr>
          <p:cNvPr id="1049856" name="Text 13"/>
          <p:cNvSpPr/>
          <p:nvPr/>
        </p:nvSpPr>
        <p:spPr>
          <a:xfrm>
            <a:off x="7358732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dirty="0" sz="984" lang="en-US"/>
          </a:p>
        </p:txBody>
      </p:sp>
      <p:sp>
        <p:nvSpPr>
          <p:cNvPr id="1049857" name="Text 14"/>
          <p:cNvSpPr/>
          <p:nvPr/>
        </p:nvSpPr>
        <p:spPr>
          <a:xfrm>
            <a:off x="457200" y="1241561"/>
            <a:ext cx="3206093" cy="3357563"/>
          </a:xfrm>
          <a:prstGeom prst="roundRect">
            <a:avLst>
              <a:gd name="adj" fmla="val 237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858" name="Text 15"/>
          <p:cNvSpPr/>
          <p:nvPr/>
        </p:nvSpPr>
        <p:spPr>
          <a:xfrm>
            <a:off x="632222" y="1380865"/>
            <a:ext cx="392906" cy="392906"/>
          </a:xfrm>
          <a:prstGeom prst="roundRect">
            <a:avLst>
              <a:gd name="adj" fmla="val 2421820"/>
            </a:avLst>
          </a:prstGeom>
          <a:solidFill>
            <a:srgbClr val="FF6B35">
              <a:alpha val="12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859" name="Text 16"/>
          <p:cNvSpPr/>
          <p:nvPr/>
        </p:nvSpPr>
        <p:spPr>
          <a:xfrm>
            <a:off x="673298" y="1421941"/>
            <a:ext cx="310753" cy="31075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2109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2109" lang="en-US"/>
          </a:p>
        </p:txBody>
      </p:sp>
      <p:sp>
        <p:nvSpPr>
          <p:cNvPr id="1049860" name="Text 17"/>
          <p:cNvSpPr/>
          <p:nvPr/>
        </p:nvSpPr>
        <p:spPr>
          <a:xfrm>
            <a:off x="2842662" y="1377293"/>
            <a:ext cx="828995" cy="49377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3600"/>
              </a:lnSpc>
              <a:buNone/>
            </a:pPr>
            <a:r>
              <a:rPr b="1" dirty="0" sz="3600" kern="0" lang="en-US" spc="-144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3600" lang="en-US"/>
          </a:p>
        </p:txBody>
      </p:sp>
      <p:sp>
        <p:nvSpPr>
          <p:cNvPr id="1049861" name="Text 18"/>
          <p:cNvSpPr/>
          <p:nvPr/>
        </p:nvSpPr>
        <p:spPr>
          <a:xfrm>
            <a:off x="628650" y="1920218"/>
            <a:ext cx="288462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SUBTAREAS</a:t>
            </a:r>
            <a:endParaRPr dirty="0" sz="800" lang="en-US"/>
          </a:p>
        </p:txBody>
      </p:sp>
      <p:sp>
        <p:nvSpPr>
          <p:cNvPr id="1049862" name="Text 19"/>
          <p:cNvSpPr/>
          <p:nvPr/>
        </p:nvSpPr>
        <p:spPr>
          <a:xfrm>
            <a:off x="628650" y="2123815"/>
            <a:ext cx="2884624" cy="1980176"/>
          </a:xfrm>
          <a:prstGeom prst="rect"/>
          <a:noFill/>
        </p:spPr>
        <p:txBody>
          <a:bodyPr anchor="t" bIns="0" lIns="0" rIns="0" rtlCol="0" tIns="0" wrap="square"/>
          <a:p>
            <a:pPr algn="l" indent="-342900" marL="342900">
              <a:lnSpc>
                <a:spcPts val="1097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01Crear repo en GitHub/Azure DevOps</a:t>
            </a:r>
            <a:endParaRPr dirty="0" sz="800" lang="en-US"/>
          </a:p>
          <a:p>
            <a:pPr algn="l" indent="-342900" marL="342900">
              <a:lnSpc>
                <a:spcPts val="1097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02Clonar a local</a:t>
            </a:r>
            <a:endParaRPr dirty="0" sz="800" lang="en-US"/>
          </a:p>
          <a:p>
            <a:pPr algn="l" indent="-342900" marL="342900">
              <a:lnSpc>
                <a:spcPts val="1097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03Crear ramas base main y develop</a:t>
            </a:r>
            <a:endParaRPr dirty="0" sz="800" lang="en-US"/>
          </a:p>
          <a:p>
            <a:pPr algn="l" indent="-342900" marL="342900">
              <a:lnSpc>
                <a:spcPts val="1097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04Empujar ambas al remoto</a:t>
            </a:r>
            <a:endParaRPr dirty="0" sz="800" lang="en-US"/>
          </a:p>
          <a:p>
            <a:pPr algn="l" indent="-342900" marL="342900">
              <a:lnSpc>
                <a:spcPts val="1097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05Activar branch protection en GitHub</a:t>
            </a:r>
            <a:endParaRPr dirty="0" sz="800" lang="en-US"/>
          </a:p>
          <a:p>
            <a:pPr algn="l" indent="-342900" marL="342900">
              <a:lnSpc>
                <a:spcPts val="1097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06Definir CODEOWNERS para revisión obligatoria</a:t>
            </a:r>
            <a:endParaRPr dirty="0" sz="800" lang="en-US"/>
          </a:p>
        </p:txBody>
      </p:sp>
      <p:sp>
        <p:nvSpPr>
          <p:cNvPr id="1049863" name="Text 20"/>
          <p:cNvSpPr/>
          <p:nvPr/>
        </p:nvSpPr>
        <p:spPr>
          <a:xfrm>
            <a:off x="628650" y="4170499"/>
            <a:ext cx="2884624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OBJETIVO</a:t>
            </a:r>
            <a:endParaRPr dirty="0" sz="800" lang="en-US"/>
          </a:p>
        </p:txBody>
      </p:sp>
      <p:sp>
        <p:nvSpPr>
          <p:cNvPr id="1049864" name="Text 21"/>
          <p:cNvSpPr/>
          <p:nvPr/>
        </p:nvSpPr>
        <p:spPr>
          <a:xfrm>
            <a:off x="628650" y="4316946"/>
            <a:ext cx="2884624" cy="146447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Tener </a:t>
            </a:r>
            <a:r>
              <a:rPr dirty="0" sz="731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r>
              <a:rPr dirty="0" sz="731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protegidas y listas para feature/.</a:t>
            </a:r>
            <a:endParaRPr dirty="0" sz="731" lang="en-US"/>
          </a:p>
        </p:txBody>
      </p:sp>
      <p:sp>
        <p:nvSpPr>
          <p:cNvPr id="1049865" name="Text 22"/>
          <p:cNvSpPr/>
          <p:nvPr/>
        </p:nvSpPr>
        <p:spPr>
          <a:xfrm>
            <a:off x="3941899" y="1363005"/>
            <a:ext cx="2495522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Clonar el repo vacío desde GitHub/Azure</a:t>
            </a:r>
            <a:endParaRPr dirty="0" sz="800" lang="en-US"/>
          </a:p>
        </p:txBody>
      </p:sp>
      <p:sp>
        <p:nvSpPr>
          <p:cNvPr id="1049866" name="Text 23"/>
          <p:cNvSpPr/>
          <p:nvPr/>
        </p:nvSpPr>
        <p:spPr>
          <a:xfrm>
            <a:off x="3941899" y="1495834"/>
            <a:ext cx="252174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867" name="Text 24"/>
          <p:cNvSpPr/>
          <p:nvPr/>
        </p:nvSpPr>
        <p:spPr>
          <a:xfrm>
            <a:off x="3941899" y="1628663"/>
            <a:ext cx="168057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</a:t>
            </a:r>
            <a:endParaRPr dirty="0" sz="800" lang="en-US"/>
          </a:p>
        </p:txBody>
      </p:sp>
      <p:sp>
        <p:nvSpPr>
          <p:cNvPr id="1049868" name="Text 25"/>
          <p:cNvSpPr/>
          <p:nvPr/>
        </p:nvSpPr>
        <p:spPr>
          <a:xfrm>
            <a:off x="3941899" y="1894322"/>
            <a:ext cx="2552301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Crear rama main (si no existe) y develop</a:t>
            </a:r>
            <a:endParaRPr dirty="0" sz="800" lang="en-US"/>
          </a:p>
        </p:txBody>
      </p:sp>
      <p:sp>
        <p:nvSpPr>
          <p:cNvPr id="1049869" name="Text 26"/>
          <p:cNvSpPr/>
          <p:nvPr/>
        </p:nvSpPr>
        <p:spPr>
          <a:xfrm>
            <a:off x="3941899" y="2027151"/>
            <a:ext cx="252174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870" name="Text 27"/>
          <p:cNvSpPr/>
          <p:nvPr/>
        </p:nvSpPr>
        <p:spPr>
          <a:xfrm>
            <a:off x="4624685" y="2027151"/>
            <a:ext cx="168057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endParaRPr dirty="0" sz="800" lang="en-US"/>
          </a:p>
        </p:txBody>
      </p:sp>
      <p:sp>
        <p:nvSpPr>
          <p:cNvPr id="1049871" name="Text 28"/>
          <p:cNvSpPr/>
          <p:nvPr/>
        </p:nvSpPr>
        <p:spPr>
          <a:xfrm>
            <a:off x="4782294" y="2027151"/>
            <a:ext cx="336113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49872" name="Text 29"/>
          <p:cNvSpPr/>
          <p:nvPr/>
        </p:nvSpPr>
        <p:spPr>
          <a:xfrm>
            <a:off x="3941899" y="2159980"/>
            <a:ext cx="252174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873" name="Text 30"/>
          <p:cNvSpPr/>
          <p:nvPr/>
        </p:nvSpPr>
        <p:spPr>
          <a:xfrm>
            <a:off x="4624685" y="2159980"/>
            <a:ext cx="168057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endParaRPr dirty="0" sz="800" lang="en-US"/>
          </a:p>
        </p:txBody>
      </p:sp>
      <p:sp>
        <p:nvSpPr>
          <p:cNvPr id="1049874" name="Text 31"/>
          <p:cNvSpPr/>
          <p:nvPr/>
        </p:nvSpPr>
        <p:spPr>
          <a:xfrm>
            <a:off x="4782294" y="2159980"/>
            <a:ext cx="525782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49875" name="Text 32"/>
          <p:cNvSpPr/>
          <p:nvPr/>
        </p:nvSpPr>
        <p:spPr>
          <a:xfrm>
            <a:off x="3941899" y="2425638"/>
            <a:ext cx="1928451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i="1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3. Empujar ambas ramas al remoto</a:t>
            </a:r>
            <a:endParaRPr dirty="0" sz="800" lang="en-US"/>
          </a:p>
        </p:txBody>
      </p:sp>
      <p:sp>
        <p:nvSpPr>
          <p:cNvPr id="1049876" name="Text 33"/>
          <p:cNvSpPr/>
          <p:nvPr/>
        </p:nvSpPr>
        <p:spPr>
          <a:xfrm>
            <a:off x="3941899" y="2558467"/>
            <a:ext cx="252174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877" name="Text 34"/>
          <p:cNvSpPr/>
          <p:nvPr/>
        </p:nvSpPr>
        <p:spPr>
          <a:xfrm>
            <a:off x="4414614" y="2558467"/>
            <a:ext cx="168057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endParaRPr dirty="0" sz="800" lang="en-US"/>
          </a:p>
        </p:txBody>
      </p:sp>
      <p:sp>
        <p:nvSpPr>
          <p:cNvPr id="1049878" name="Text 35"/>
          <p:cNvSpPr/>
          <p:nvPr/>
        </p:nvSpPr>
        <p:spPr>
          <a:xfrm>
            <a:off x="4939792" y="2558467"/>
            <a:ext cx="336113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49879" name="Text 36"/>
          <p:cNvSpPr/>
          <p:nvPr/>
        </p:nvSpPr>
        <p:spPr>
          <a:xfrm>
            <a:off x="3941899" y="2691296"/>
            <a:ext cx="252174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880" name="Text 37"/>
          <p:cNvSpPr/>
          <p:nvPr/>
        </p:nvSpPr>
        <p:spPr>
          <a:xfrm>
            <a:off x="4414614" y="2691296"/>
            <a:ext cx="168057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endParaRPr dirty="0" sz="800" lang="en-US"/>
          </a:p>
        </p:txBody>
      </p:sp>
      <p:sp>
        <p:nvSpPr>
          <p:cNvPr id="1049881" name="Text 38"/>
          <p:cNvSpPr/>
          <p:nvPr/>
        </p:nvSpPr>
        <p:spPr>
          <a:xfrm>
            <a:off x="4939792" y="2691296"/>
            <a:ext cx="525782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49882" name="Text 39"/>
          <p:cNvSpPr/>
          <p:nvPr/>
        </p:nvSpPr>
        <p:spPr>
          <a:xfrm>
            <a:off x="3941899" y="2956954"/>
            <a:ext cx="2041889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i="1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4. Configurar .gitignore para .NET</a:t>
            </a:r>
            <a:endParaRPr dirty="0" sz="800" lang="en-US"/>
          </a:p>
        </p:txBody>
      </p:sp>
      <p:sp>
        <p:nvSpPr>
          <p:cNvPr id="1049883" name="Text 40"/>
          <p:cNvSpPr/>
          <p:nvPr/>
        </p:nvSpPr>
        <p:spPr>
          <a:xfrm>
            <a:off x="3941899" y="3089783"/>
            <a:ext cx="336113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</a:t>
            </a:r>
            <a:endParaRPr dirty="0" sz="800" lang="en-US"/>
          </a:p>
        </p:txBody>
      </p:sp>
      <p:sp>
        <p:nvSpPr>
          <p:cNvPr id="1049884" name="Text 41"/>
          <p:cNvSpPr/>
          <p:nvPr/>
        </p:nvSpPr>
        <p:spPr>
          <a:xfrm>
            <a:off x="4204543" y="3089783"/>
            <a:ext cx="1474698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'bin/\nobj/\n*.user\n.vs/'</a:t>
            </a:r>
            <a:endParaRPr dirty="0" sz="800" lang="en-US"/>
          </a:p>
        </p:txBody>
      </p:sp>
      <p:sp>
        <p:nvSpPr>
          <p:cNvPr id="1049885" name="Text 42"/>
          <p:cNvSpPr/>
          <p:nvPr/>
        </p:nvSpPr>
        <p:spPr>
          <a:xfrm>
            <a:off x="3941899" y="3222613"/>
            <a:ext cx="252174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886" name="Text 43"/>
          <p:cNvSpPr/>
          <p:nvPr/>
        </p:nvSpPr>
        <p:spPr>
          <a:xfrm>
            <a:off x="3941899" y="3355442"/>
            <a:ext cx="252174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887" name="Text 44"/>
          <p:cNvSpPr/>
          <p:nvPr/>
        </p:nvSpPr>
        <p:spPr>
          <a:xfrm>
            <a:off x="4519650" y="3355442"/>
            <a:ext cx="168057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49888" name="Text 45"/>
          <p:cNvSpPr/>
          <p:nvPr/>
        </p:nvSpPr>
        <p:spPr>
          <a:xfrm>
            <a:off x="4677259" y="3355442"/>
            <a:ext cx="1509815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'chore: add .gitignore'</a:t>
            </a:r>
            <a:endParaRPr dirty="0" sz="800" lang="en-US"/>
          </a:p>
        </p:txBody>
      </p:sp>
      <p:sp>
        <p:nvSpPr>
          <p:cNvPr id="1049889" name="Text 46"/>
          <p:cNvSpPr/>
          <p:nvPr/>
        </p:nvSpPr>
        <p:spPr>
          <a:xfrm>
            <a:off x="3941899" y="3488271"/>
            <a:ext cx="252174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890" name="Text 47"/>
          <p:cNvSpPr/>
          <p:nvPr/>
        </p:nvSpPr>
        <p:spPr>
          <a:xfrm>
            <a:off x="3941899" y="3753929"/>
            <a:ext cx="2608960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En GitHub: Settings &gt; Branches &gt; Add rule</a:t>
            </a:r>
            <a:endParaRPr dirty="0" sz="800" lang="en-US"/>
          </a:p>
        </p:txBody>
      </p:sp>
      <p:sp>
        <p:nvSpPr>
          <p:cNvPr id="1049891" name="Text 48"/>
          <p:cNvSpPr/>
          <p:nvPr/>
        </p:nvSpPr>
        <p:spPr>
          <a:xfrm>
            <a:off x="3941899" y="3886758"/>
            <a:ext cx="1644795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Require PR before merging</a:t>
            </a:r>
            <a:endParaRPr dirty="0" sz="800" lang="en-US"/>
          </a:p>
        </p:txBody>
      </p:sp>
      <p:sp>
        <p:nvSpPr>
          <p:cNvPr id="1049892" name="Text 49"/>
          <p:cNvSpPr/>
          <p:nvPr/>
        </p:nvSpPr>
        <p:spPr>
          <a:xfrm>
            <a:off x="3941899" y="4019587"/>
            <a:ext cx="2041889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Require status checks (CI verde)</a:t>
            </a:r>
            <a:endParaRPr dirty="0" sz="800" lang="en-US"/>
          </a:p>
        </p:txBody>
      </p:sp>
      <p:sp>
        <p:nvSpPr>
          <p:cNvPr id="1049893" name="Text 50"/>
          <p:cNvSpPr/>
          <p:nvPr/>
        </p:nvSpPr>
        <p:spPr>
          <a:xfrm>
            <a:off x="3941899" y="4152416"/>
            <a:ext cx="1644795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675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 Require CODEOWNERS review</a:t>
            </a:r>
            <a:endParaRPr dirty="0" sz="675" lang="en-US"/>
          </a:p>
        </p:txBody>
      </p:sp>
      <p:sp>
        <p:nvSpPr>
          <p:cNvPr id="1049894" name="Text 51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9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198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898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899" name="Shape 1"/>
          <p:cNvSpPr/>
          <p:nvPr/>
        </p:nvSpPr>
        <p:spPr>
          <a:xfrm>
            <a:off x="457200" y="1216558"/>
            <a:ext cx="32060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900" name="Shape 2"/>
          <p:cNvSpPr/>
          <p:nvPr/>
        </p:nvSpPr>
        <p:spPr>
          <a:xfrm>
            <a:off x="3659721" y="1212986"/>
            <a:ext cx="0" cy="3612952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901" name="Shape 3"/>
          <p:cNvSpPr/>
          <p:nvPr/>
        </p:nvSpPr>
        <p:spPr>
          <a:xfrm>
            <a:off x="457200" y="4822366"/>
            <a:ext cx="32060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902" name="Shape 4"/>
          <p:cNvSpPr/>
          <p:nvPr/>
        </p:nvSpPr>
        <p:spPr>
          <a:xfrm>
            <a:off x="471488" y="1212986"/>
            <a:ext cx="0" cy="3612952"/>
          </a:xfrm>
          <a:prstGeom prst="line"/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049903" name="Shape 5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904" name="Text 6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5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PRÁCTICO PASO A PASO</a:t>
            </a:r>
            <a:endParaRPr dirty="0" sz="800" lang="en-US"/>
          </a:p>
        </p:txBody>
      </p:sp>
      <p:sp>
        <p:nvSpPr>
          <p:cNvPr id="1049905" name="Text 7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/ 27</a:t>
            </a:r>
            <a:endParaRPr dirty="0" sz="619" lang="en-US"/>
          </a:p>
        </p:txBody>
      </p:sp>
      <p:sp>
        <p:nvSpPr>
          <p:cNvPr id="1049906" name="Text 8"/>
          <p:cNvSpPr/>
          <p:nvPr/>
        </p:nvSpPr>
        <p:spPr>
          <a:xfrm>
            <a:off x="457200" y="696516"/>
            <a:ext cx="4541382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Paso 2 · Crear feature y commits atómicos</a:t>
            </a:r>
            <a:endParaRPr dirty="0" sz="1200" lang="en-US"/>
          </a:p>
        </p:txBody>
      </p:sp>
      <p:sp>
        <p:nvSpPr>
          <p:cNvPr id="1049907" name="Text 9"/>
          <p:cNvSpPr/>
          <p:nvPr/>
        </p:nvSpPr>
        <p:spPr>
          <a:xfrm>
            <a:off x="457200" y="987958"/>
            <a:ext cx="4128529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Conventional Commits · tamaño de commit · frecuencia de push</a:t>
            </a:r>
            <a:endParaRPr dirty="0" sz="800" lang="en-US"/>
          </a:p>
        </p:txBody>
      </p:sp>
      <p:sp>
        <p:nvSpPr>
          <p:cNvPr id="1049908" name="Text 10"/>
          <p:cNvSpPr/>
          <p:nvPr/>
        </p:nvSpPr>
        <p:spPr>
          <a:xfrm>
            <a:off x="7206950" y="941738"/>
            <a:ext cx="1502710" cy="196025"/>
          </a:xfrm>
          <a:prstGeom prst="roundRect">
            <a:avLst>
              <a:gd name="adj" fmla="val 4854215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09" name="Text 11"/>
          <p:cNvSpPr/>
          <p:nvPr/>
        </p:nvSpPr>
        <p:spPr>
          <a:xfrm>
            <a:off x="7451266" y="995102"/>
            <a:ext cx="1235534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TIEMPO ESTIMADO: 10 min</a:t>
            </a:r>
            <a:endParaRPr dirty="0" sz="619" lang="en-US"/>
          </a:p>
        </p:txBody>
      </p:sp>
      <p:sp>
        <p:nvSpPr>
          <p:cNvPr id="1049910" name="Text 12"/>
          <p:cNvSpPr/>
          <p:nvPr/>
        </p:nvSpPr>
        <p:spPr>
          <a:xfrm>
            <a:off x="7308391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dirty="0" sz="984" lang="en-US"/>
          </a:p>
        </p:txBody>
      </p:sp>
      <p:sp>
        <p:nvSpPr>
          <p:cNvPr id="1049911" name="Text 13"/>
          <p:cNvSpPr/>
          <p:nvPr/>
        </p:nvSpPr>
        <p:spPr>
          <a:xfrm>
            <a:off x="457200" y="1212986"/>
            <a:ext cx="3206093" cy="3612952"/>
          </a:xfrm>
          <a:prstGeom prst="roundRect">
            <a:avLst>
              <a:gd name="adj" fmla="val 237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12" name="Text 14"/>
          <p:cNvSpPr/>
          <p:nvPr/>
        </p:nvSpPr>
        <p:spPr>
          <a:xfrm>
            <a:off x="632222" y="1338002"/>
            <a:ext cx="392906" cy="392906"/>
          </a:xfrm>
          <a:prstGeom prst="roundRect">
            <a:avLst>
              <a:gd name="adj" fmla="val 2421820"/>
            </a:avLst>
          </a:prstGeom>
          <a:solidFill>
            <a:srgbClr val="FF6B35">
              <a:alpha val="12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13" name="Text 15"/>
          <p:cNvSpPr/>
          <p:nvPr/>
        </p:nvSpPr>
        <p:spPr>
          <a:xfrm>
            <a:off x="673298" y="1379079"/>
            <a:ext cx="310753" cy="31075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2109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☎</a:t>
            </a:r>
            <a:endParaRPr dirty="0" sz="2109" lang="en-US"/>
          </a:p>
        </p:txBody>
      </p:sp>
      <p:sp>
        <p:nvSpPr>
          <p:cNvPr id="1049914" name="Text 16"/>
          <p:cNvSpPr/>
          <p:nvPr/>
        </p:nvSpPr>
        <p:spPr>
          <a:xfrm>
            <a:off x="2842662" y="1334430"/>
            <a:ext cx="828995" cy="49377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3600"/>
              </a:lnSpc>
              <a:buNone/>
            </a:pPr>
            <a:r>
              <a:rPr b="1" dirty="0" sz="3600" kern="0" lang="en-US" spc="-144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3600" lang="en-US"/>
          </a:p>
        </p:txBody>
      </p:sp>
      <p:sp>
        <p:nvSpPr>
          <p:cNvPr id="1049915" name="Text 17"/>
          <p:cNvSpPr/>
          <p:nvPr/>
        </p:nvSpPr>
        <p:spPr>
          <a:xfrm>
            <a:off x="628650" y="1848780"/>
            <a:ext cx="2884624" cy="147590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SUBTAREAS</a:t>
            </a:r>
            <a:endParaRPr dirty="0" sz="800" lang="en-US"/>
          </a:p>
        </p:txBody>
      </p:sp>
      <p:sp>
        <p:nvSpPr>
          <p:cNvPr id="1049916" name="Text 18"/>
          <p:cNvSpPr/>
          <p:nvPr/>
        </p:nvSpPr>
        <p:spPr>
          <a:xfrm>
            <a:off x="628650" y="2023802"/>
            <a:ext cx="2884624" cy="2841534"/>
          </a:xfrm>
          <a:prstGeom prst="rect"/>
          <a:noFill/>
        </p:spPr>
        <p:txBody>
          <a:bodyPr anchor="t" bIns="0" lIns="0" rIns="0" rtlCol="0" tIns="0" wrap="square"/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01Crear rama feature/ desde develop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02Implementar LDAP con Novell.Directory.Ldap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03Hacer commits atómicos (1 idea = 1 commit)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04Usar Conventional Commits (feat/fix/docs/chore)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05Empujar la feature al remoto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06Abrir PR hacia develop</a:t>
            </a:r>
            <a:endParaRPr dirty="0" sz="800" lang="en-US"/>
          </a:p>
        </p:txBody>
      </p:sp>
      <p:sp>
        <p:nvSpPr>
          <p:cNvPr id="1049917" name="Text 19"/>
          <p:cNvSpPr/>
          <p:nvPr/>
        </p:nvSpPr>
        <p:spPr>
          <a:xfrm>
            <a:off x="3941899" y="1320143"/>
            <a:ext cx="2669753" cy="9579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dirty="0" sz="647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Crear rama feature desde develop (NO desde main)</a:t>
            </a:r>
            <a:endParaRPr dirty="0" sz="647" lang="en-US"/>
          </a:p>
        </p:txBody>
      </p:sp>
      <p:sp>
        <p:nvSpPr>
          <p:cNvPr id="1049918" name="Text 20"/>
          <p:cNvSpPr/>
          <p:nvPr/>
        </p:nvSpPr>
        <p:spPr>
          <a:xfrm>
            <a:off x="3941899" y="1443372"/>
            <a:ext cx="241816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919" name="Text 21"/>
          <p:cNvSpPr/>
          <p:nvPr/>
        </p:nvSpPr>
        <p:spPr>
          <a:xfrm>
            <a:off x="4596780" y="1443372"/>
            <a:ext cx="504234" cy="9579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49920" name="Text 22"/>
          <p:cNvSpPr/>
          <p:nvPr/>
        </p:nvSpPr>
        <p:spPr>
          <a:xfrm>
            <a:off x="3941899" y="1566602"/>
            <a:ext cx="241816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921" name="Text 23"/>
          <p:cNvSpPr/>
          <p:nvPr/>
        </p:nvSpPr>
        <p:spPr>
          <a:xfrm>
            <a:off x="4747915" y="1566602"/>
            <a:ext cx="504234" cy="9579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49922" name="Text 24"/>
          <p:cNvSpPr/>
          <p:nvPr/>
        </p:nvSpPr>
        <p:spPr>
          <a:xfrm>
            <a:off x="3941899" y="1689832"/>
            <a:ext cx="241816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923" name="Text 25"/>
          <p:cNvSpPr/>
          <p:nvPr/>
        </p:nvSpPr>
        <p:spPr>
          <a:xfrm>
            <a:off x="4596780" y="1689832"/>
            <a:ext cx="161270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endParaRPr dirty="0" sz="800" lang="en-US"/>
          </a:p>
        </p:txBody>
      </p:sp>
      <p:sp>
        <p:nvSpPr>
          <p:cNvPr id="1049924" name="Text 26"/>
          <p:cNvSpPr/>
          <p:nvPr/>
        </p:nvSpPr>
        <p:spPr>
          <a:xfrm>
            <a:off x="4748026" y="1689832"/>
            <a:ext cx="1070446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feature/ldap-auth</a:t>
            </a:r>
            <a:endParaRPr dirty="0" sz="800" lang="en-US"/>
          </a:p>
        </p:txBody>
      </p:sp>
      <p:sp>
        <p:nvSpPr>
          <p:cNvPr id="1049925" name="Text 27"/>
          <p:cNvSpPr/>
          <p:nvPr/>
        </p:nvSpPr>
        <p:spPr>
          <a:xfrm>
            <a:off x="5654836" y="1689832"/>
            <a:ext cx="504234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49926" name="Text 28"/>
          <p:cNvSpPr/>
          <p:nvPr/>
        </p:nvSpPr>
        <p:spPr>
          <a:xfrm>
            <a:off x="3941899" y="1936291"/>
            <a:ext cx="2871229" cy="9579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dirty="0" sz="647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Implementar LDAP (Novell.Directory.Ldap.NETStandard)</a:t>
            </a:r>
            <a:endParaRPr dirty="0" sz="647" lang="en-US"/>
          </a:p>
        </p:txBody>
      </p:sp>
      <p:sp>
        <p:nvSpPr>
          <p:cNvPr id="1049927" name="Text 29"/>
          <p:cNvSpPr/>
          <p:nvPr/>
        </p:nvSpPr>
        <p:spPr>
          <a:xfrm>
            <a:off x="3941899" y="2059521"/>
            <a:ext cx="1795242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647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...editar LdapAuthService.cs...</a:t>
            </a:r>
            <a:endParaRPr dirty="0" sz="647" lang="en-US"/>
          </a:p>
        </p:txBody>
      </p:sp>
      <p:sp>
        <p:nvSpPr>
          <p:cNvPr id="1049928" name="Text 30"/>
          <p:cNvSpPr/>
          <p:nvPr/>
        </p:nvSpPr>
        <p:spPr>
          <a:xfrm>
            <a:off x="3941899" y="2305980"/>
            <a:ext cx="2393656" cy="9579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dirty="0" sz="647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Commit atómico con Conventional Commits</a:t>
            </a:r>
            <a:endParaRPr dirty="0" sz="647" lang="en-US"/>
          </a:p>
        </p:txBody>
      </p:sp>
      <p:sp>
        <p:nvSpPr>
          <p:cNvPr id="1049929" name="Text 31"/>
          <p:cNvSpPr/>
          <p:nvPr/>
        </p:nvSpPr>
        <p:spPr>
          <a:xfrm>
            <a:off x="3941899" y="2429210"/>
            <a:ext cx="241816" cy="9579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930" name="Text 32"/>
          <p:cNvSpPr/>
          <p:nvPr/>
        </p:nvSpPr>
        <p:spPr>
          <a:xfrm>
            <a:off x="3941899" y="2552440"/>
            <a:ext cx="241816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931" name="Text 33"/>
          <p:cNvSpPr/>
          <p:nvPr/>
        </p:nvSpPr>
        <p:spPr>
          <a:xfrm>
            <a:off x="4496098" y="2552440"/>
            <a:ext cx="161270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49932" name="Text 34"/>
          <p:cNvSpPr/>
          <p:nvPr/>
        </p:nvSpPr>
        <p:spPr>
          <a:xfrm>
            <a:off x="4647344" y="2552440"/>
            <a:ext cx="2669753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647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'feat(auth): integrar LDAP con Novell.Directory.Ldap'</a:t>
            </a:r>
            <a:endParaRPr dirty="0" sz="647" lang="en-US"/>
          </a:p>
        </p:txBody>
      </p:sp>
      <p:sp>
        <p:nvSpPr>
          <p:cNvPr id="1049933" name="Text 35"/>
          <p:cNvSpPr/>
          <p:nvPr/>
        </p:nvSpPr>
        <p:spPr>
          <a:xfrm>
            <a:off x="3941899" y="2798899"/>
            <a:ext cx="2339288" cy="9579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dirty="0" sz="647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4. Si hay refactor adicional, OTRO commit</a:t>
            </a:r>
            <a:endParaRPr dirty="0" sz="647" lang="en-US"/>
          </a:p>
        </p:txBody>
      </p:sp>
      <p:sp>
        <p:nvSpPr>
          <p:cNvPr id="1049934" name="Text 36"/>
          <p:cNvSpPr/>
          <p:nvPr/>
        </p:nvSpPr>
        <p:spPr>
          <a:xfrm>
            <a:off x="3941899" y="2922129"/>
            <a:ext cx="241816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935" name="Text 37"/>
          <p:cNvSpPr/>
          <p:nvPr/>
        </p:nvSpPr>
        <p:spPr>
          <a:xfrm>
            <a:off x="4496098" y="2922129"/>
            <a:ext cx="161270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49936" name="Text 38"/>
          <p:cNvSpPr/>
          <p:nvPr/>
        </p:nvSpPr>
        <p:spPr>
          <a:xfrm>
            <a:off x="4647344" y="2922129"/>
            <a:ext cx="2417936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647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'refactor(auth): extraer ILdapService interface'</a:t>
            </a:r>
            <a:endParaRPr dirty="0" sz="647" lang="en-US"/>
          </a:p>
        </p:txBody>
      </p:sp>
      <p:sp>
        <p:nvSpPr>
          <p:cNvPr id="1049937" name="Text 39"/>
          <p:cNvSpPr/>
          <p:nvPr/>
        </p:nvSpPr>
        <p:spPr>
          <a:xfrm>
            <a:off x="3941899" y="3168588"/>
            <a:ext cx="1795242" cy="95798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970"/>
              </a:lnSpc>
              <a:buNone/>
            </a:pPr>
            <a:r>
              <a:rPr dirty="0" sz="647" i="1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5. Empujar la feature al remoto</a:t>
            </a:r>
            <a:endParaRPr dirty="0" sz="647" lang="en-US"/>
          </a:p>
        </p:txBody>
      </p:sp>
      <p:sp>
        <p:nvSpPr>
          <p:cNvPr id="1049938" name="Text 40"/>
          <p:cNvSpPr/>
          <p:nvPr/>
        </p:nvSpPr>
        <p:spPr>
          <a:xfrm>
            <a:off x="3941899" y="3291818"/>
            <a:ext cx="241816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49939" name="Text 41"/>
          <p:cNvSpPr/>
          <p:nvPr/>
        </p:nvSpPr>
        <p:spPr>
          <a:xfrm>
            <a:off x="4395304" y="3291818"/>
            <a:ext cx="161270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-u</a:t>
            </a:r>
            <a:endParaRPr dirty="0" sz="800" lang="en-US"/>
          </a:p>
        </p:txBody>
      </p:sp>
      <p:sp>
        <p:nvSpPr>
          <p:cNvPr id="1049940" name="Text 42"/>
          <p:cNvSpPr/>
          <p:nvPr/>
        </p:nvSpPr>
        <p:spPr>
          <a:xfrm>
            <a:off x="4899161" y="3291818"/>
            <a:ext cx="1070446" cy="12404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feature/ldap-auth</a:t>
            </a:r>
            <a:endParaRPr dirty="0" sz="800" lang="en-US"/>
          </a:p>
        </p:txBody>
      </p:sp>
      <p:sp>
        <p:nvSpPr>
          <p:cNvPr id="1049941" name="Text 43"/>
          <p:cNvSpPr/>
          <p:nvPr/>
        </p:nvSpPr>
        <p:spPr>
          <a:xfrm>
            <a:off x="3941899" y="3538277"/>
            <a:ext cx="2012957" cy="10894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70"/>
              </a:lnSpc>
              <a:buNone/>
            </a:pPr>
            <a:r>
              <a:rPr dirty="0" sz="647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Abrir PR hacia develop en GitHub</a:t>
            </a:r>
            <a:endParaRPr dirty="0" sz="647" lang="en-US"/>
          </a:p>
        </p:txBody>
      </p:sp>
      <p:sp>
        <p:nvSpPr>
          <p:cNvPr id="1049942" name="Text 44"/>
          <p:cNvSpPr/>
          <p:nvPr/>
        </p:nvSpPr>
        <p:spPr>
          <a:xfrm>
            <a:off x="3809740" y="3829385"/>
            <a:ext cx="4873377" cy="732234"/>
          </a:xfrm>
          <a:prstGeom prst="roundRect">
            <a:avLst>
              <a:gd name="adj" fmla="val 10407"/>
            </a:avLst>
          </a:prstGeom>
          <a:solidFill>
            <a:srgbClr val="1A1A1A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43" name="Text 45"/>
          <p:cNvSpPr/>
          <p:nvPr/>
        </p:nvSpPr>
        <p:spPr>
          <a:xfrm>
            <a:off x="3913324" y="3904394"/>
            <a:ext cx="4666208" cy="147590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CONVENTIONAL COMMITS</a:t>
            </a:r>
            <a:endParaRPr dirty="0" sz="800" lang="en-US"/>
          </a:p>
        </p:txBody>
      </p:sp>
      <p:sp>
        <p:nvSpPr>
          <p:cNvPr id="1049944" name="Text 46"/>
          <p:cNvSpPr/>
          <p:nvPr/>
        </p:nvSpPr>
        <p:spPr>
          <a:xfrm>
            <a:off x="3916896" y="4082988"/>
            <a:ext cx="722858" cy="400050"/>
          </a:xfrm>
          <a:prstGeom prst="roundRect">
            <a:avLst>
              <a:gd name="adj" fmla="val 9524"/>
            </a:avLst>
          </a:prstGeom>
          <a:solidFill>
            <a:srgbClr val="232323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45" name="Text 47"/>
          <p:cNvSpPr/>
          <p:nvPr/>
        </p:nvSpPr>
        <p:spPr>
          <a:xfrm>
            <a:off x="3977618" y="4165141"/>
            <a:ext cx="331912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13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</a:t>
            </a:r>
            <a:endParaRPr dirty="0" sz="800" lang="en-US"/>
          </a:p>
        </p:txBody>
      </p:sp>
      <p:sp>
        <p:nvSpPr>
          <p:cNvPr id="1049946" name="Text 48"/>
          <p:cNvSpPr/>
          <p:nvPr/>
        </p:nvSpPr>
        <p:spPr>
          <a:xfrm>
            <a:off x="3977618" y="4157997"/>
            <a:ext cx="576076" cy="28575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NUEVA FEATURE</a:t>
            </a:r>
            <a:endParaRPr dirty="0" sz="800" lang="en-US"/>
          </a:p>
        </p:txBody>
      </p:sp>
      <p:sp>
        <p:nvSpPr>
          <p:cNvPr id="1049947" name="Text 49"/>
          <p:cNvSpPr/>
          <p:nvPr/>
        </p:nvSpPr>
        <p:spPr>
          <a:xfrm>
            <a:off x="4704048" y="4082988"/>
            <a:ext cx="722970" cy="400050"/>
          </a:xfrm>
          <a:prstGeom prst="roundRect">
            <a:avLst>
              <a:gd name="adj" fmla="val 9524"/>
            </a:avLst>
          </a:prstGeom>
          <a:solidFill>
            <a:srgbClr val="232323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48" name="Text 50"/>
          <p:cNvSpPr/>
          <p:nvPr/>
        </p:nvSpPr>
        <p:spPr>
          <a:xfrm>
            <a:off x="4764770" y="4165141"/>
            <a:ext cx="249022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13"/>
              </a:lnSpc>
              <a:buNone/>
            </a:pP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</a:t>
            </a:r>
            <a:endParaRPr dirty="0" sz="800" lang="en-US"/>
          </a:p>
        </p:txBody>
      </p:sp>
      <p:sp>
        <p:nvSpPr>
          <p:cNvPr id="1049949" name="Text 51"/>
          <p:cNvSpPr/>
          <p:nvPr/>
        </p:nvSpPr>
        <p:spPr>
          <a:xfrm>
            <a:off x="4922379" y="4157997"/>
            <a:ext cx="443917" cy="13965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BUGFIX</a:t>
            </a:r>
            <a:endParaRPr dirty="0" sz="619" lang="en-US"/>
          </a:p>
        </p:txBody>
      </p:sp>
      <p:sp>
        <p:nvSpPr>
          <p:cNvPr id="1049950" name="Text 52"/>
          <p:cNvSpPr/>
          <p:nvPr/>
        </p:nvSpPr>
        <p:spPr>
          <a:xfrm>
            <a:off x="5491311" y="4082988"/>
            <a:ext cx="722858" cy="400050"/>
          </a:xfrm>
          <a:prstGeom prst="roundRect">
            <a:avLst>
              <a:gd name="adj" fmla="val 9524"/>
            </a:avLst>
          </a:prstGeom>
          <a:solidFill>
            <a:srgbClr val="232323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51" name="Text 53"/>
          <p:cNvSpPr/>
          <p:nvPr/>
        </p:nvSpPr>
        <p:spPr>
          <a:xfrm>
            <a:off x="5552033" y="4165141"/>
            <a:ext cx="331912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13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</a:t>
            </a:r>
            <a:endParaRPr dirty="0" sz="800" lang="en-US"/>
          </a:p>
        </p:txBody>
      </p:sp>
      <p:sp>
        <p:nvSpPr>
          <p:cNvPr id="1049952" name="Text 54"/>
          <p:cNvSpPr/>
          <p:nvPr/>
        </p:nvSpPr>
        <p:spPr>
          <a:xfrm>
            <a:off x="5762104" y="4157997"/>
            <a:ext cx="391344" cy="139654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DOC</a:t>
            </a:r>
            <a:endParaRPr dirty="0" sz="800" lang="en-US"/>
          </a:p>
        </p:txBody>
      </p:sp>
      <p:sp>
        <p:nvSpPr>
          <p:cNvPr id="1049953" name="Text 55"/>
          <p:cNvSpPr/>
          <p:nvPr/>
        </p:nvSpPr>
        <p:spPr>
          <a:xfrm>
            <a:off x="6278463" y="4082988"/>
            <a:ext cx="722970" cy="400050"/>
          </a:xfrm>
          <a:prstGeom prst="roundRect">
            <a:avLst>
              <a:gd name="adj" fmla="val 9524"/>
            </a:avLst>
          </a:prstGeom>
          <a:solidFill>
            <a:srgbClr val="232323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54" name="Text 56"/>
          <p:cNvSpPr/>
          <p:nvPr/>
        </p:nvSpPr>
        <p:spPr>
          <a:xfrm>
            <a:off x="6339185" y="4165141"/>
            <a:ext cx="537782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13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refactor</a:t>
            </a:r>
            <a:endParaRPr dirty="0" sz="800" lang="en-US"/>
          </a:p>
        </p:txBody>
      </p:sp>
      <p:sp>
        <p:nvSpPr>
          <p:cNvPr id="1049955" name="Text 57"/>
          <p:cNvSpPr/>
          <p:nvPr/>
        </p:nvSpPr>
        <p:spPr>
          <a:xfrm>
            <a:off x="6339185" y="4157997"/>
            <a:ext cx="601526" cy="28575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REFACTOR</a:t>
            </a:r>
            <a:endParaRPr dirty="0" sz="800" lang="en-US"/>
          </a:p>
        </p:txBody>
      </p:sp>
      <p:sp>
        <p:nvSpPr>
          <p:cNvPr id="1049956" name="Text 58"/>
          <p:cNvSpPr/>
          <p:nvPr/>
        </p:nvSpPr>
        <p:spPr>
          <a:xfrm>
            <a:off x="7065727" y="4082988"/>
            <a:ext cx="722970" cy="400050"/>
          </a:xfrm>
          <a:prstGeom prst="roundRect">
            <a:avLst>
              <a:gd name="adj" fmla="val 9524"/>
            </a:avLst>
          </a:prstGeom>
          <a:solidFill>
            <a:srgbClr val="232323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57" name="Text 59"/>
          <p:cNvSpPr/>
          <p:nvPr/>
        </p:nvSpPr>
        <p:spPr>
          <a:xfrm>
            <a:off x="7126449" y="4165141"/>
            <a:ext cx="414978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13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chore</a:t>
            </a:r>
            <a:endParaRPr dirty="0" sz="800" lang="en-US"/>
          </a:p>
        </p:txBody>
      </p:sp>
      <p:sp>
        <p:nvSpPr>
          <p:cNvPr id="1049958" name="Text 60"/>
          <p:cNvSpPr/>
          <p:nvPr/>
        </p:nvSpPr>
        <p:spPr>
          <a:xfrm>
            <a:off x="7126449" y="4157997"/>
            <a:ext cx="454677" cy="28575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MANT.</a:t>
            </a:r>
            <a:endParaRPr dirty="0" sz="800" lang="en-US"/>
          </a:p>
        </p:txBody>
      </p:sp>
      <p:sp>
        <p:nvSpPr>
          <p:cNvPr id="1049959" name="Text 61"/>
          <p:cNvSpPr/>
          <p:nvPr/>
        </p:nvSpPr>
        <p:spPr>
          <a:xfrm>
            <a:off x="7852990" y="4082988"/>
            <a:ext cx="722858" cy="400050"/>
          </a:xfrm>
          <a:prstGeom prst="roundRect">
            <a:avLst>
              <a:gd name="adj" fmla="val 9524"/>
            </a:avLst>
          </a:prstGeom>
          <a:solidFill>
            <a:srgbClr val="232323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60" name="Text 62"/>
          <p:cNvSpPr/>
          <p:nvPr/>
        </p:nvSpPr>
        <p:spPr>
          <a:xfrm>
            <a:off x="7913712" y="4165141"/>
            <a:ext cx="331912" cy="12801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13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dirty="0" sz="800" lang="en-US"/>
          </a:p>
        </p:txBody>
      </p:sp>
      <p:sp>
        <p:nvSpPr>
          <p:cNvPr id="1049961" name="Text 63"/>
          <p:cNvSpPr/>
          <p:nvPr/>
        </p:nvSpPr>
        <p:spPr>
          <a:xfrm>
            <a:off x="7913712" y="4157997"/>
            <a:ext cx="361206" cy="28575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= PRUEBAS</a:t>
            </a:r>
            <a:endParaRPr dirty="0" sz="800" lang="en-US"/>
          </a:p>
        </p:txBody>
      </p:sp>
      <p:sp>
        <p:nvSpPr>
          <p:cNvPr id="1049962" name="Text 64"/>
          <p:cNvSpPr/>
          <p:nvPr/>
        </p:nvSpPr>
        <p:spPr>
          <a:xfrm>
            <a:off x="3809740" y="4654488"/>
            <a:ext cx="4873377" cy="167878"/>
          </a:xfrm>
          <a:prstGeom prst="roundRect">
            <a:avLst>
              <a:gd name="adj" fmla="val 5668089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63" name="Text 65"/>
          <p:cNvSpPr/>
          <p:nvPr/>
        </p:nvSpPr>
        <p:spPr>
          <a:xfrm>
            <a:off x="4027624" y="4693779"/>
            <a:ext cx="2967782" cy="1197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REGLA: 1 idea = 1 commit · frecuencia push = cada 30-60 min</a:t>
            </a:r>
            <a:endParaRPr dirty="0" sz="619" lang="en-US"/>
          </a:p>
        </p:txBody>
      </p:sp>
      <p:sp>
        <p:nvSpPr>
          <p:cNvPr id="1049964" name="Text 66"/>
          <p:cNvSpPr/>
          <p:nvPr/>
        </p:nvSpPr>
        <p:spPr>
          <a:xfrm>
            <a:off x="3884749" y="4688421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49965" name="Text 67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0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200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49969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970" name="Shape 1"/>
          <p:cNvSpPr/>
          <p:nvPr/>
        </p:nvSpPr>
        <p:spPr>
          <a:xfrm>
            <a:off x="457200" y="1216558"/>
            <a:ext cx="404336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971" name="Shape 2"/>
          <p:cNvSpPr/>
          <p:nvPr/>
        </p:nvSpPr>
        <p:spPr>
          <a:xfrm>
            <a:off x="4496991" y="1212986"/>
            <a:ext cx="0" cy="3286125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972" name="Shape 3"/>
          <p:cNvSpPr/>
          <p:nvPr/>
        </p:nvSpPr>
        <p:spPr>
          <a:xfrm>
            <a:off x="457200" y="4495540"/>
            <a:ext cx="404336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973" name="Shape 4"/>
          <p:cNvSpPr/>
          <p:nvPr/>
        </p:nvSpPr>
        <p:spPr>
          <a:xfrm>
            <a:off x="471488" y="1212986"/>
            <a:ext cx="0" cy="3286125"/>
          </a:xfrm>
          <a:prstGeom prst="line"/>
          <a:noFill/>
          <a:ln w="28575">
            <a:solidFill>
              <a:srgbClr val="4A90E2"/>
            </a:solidFill>
            <a:prstDash val="solid"/>
          </a:ln>
        </p:spPr>
      </p:sp>
      <p:sp>
        <p:nvSpPr>
          <p:cNvPr id="1049974" name="Shape 5"/>
          <p:cNvSpPr/>
          <p:nvPr/>
        </p:nvSpPr>
        <p:spPr>
          <a:xfrm>
            <a:off x="628650" y="3856174"/>
            <a:ext cx="3721894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975" name="Shape 6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49976" name="Text 7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5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PRÁCTICO PASO A PASO</a:t>
            </a:r>
            <a:endParaRPr dirty="0" sz="800" lang="en-US"/>
          </a:p>
        </p:txBody>
      </p:sp>
      <p:sp>
        <p:nvSpPr>
          <p:cNvPr id="1049977" name="Text 8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21 / 27</a:t>
            </a:r>
            <a:endParaRPr dirty="0" sz="619" lang="en-US"/>
          </a:p>
        </p:txBody>
      </p:sp>
      <p:sp>
        <p:nvSpPr>
          <p:cNvPr id="1049978" name="Text 9"/>
          <p:cNvSpPr/>
          <p:nvPr/>
        </p:nvSpPr>
        <p:spPr>
          <a:xfrm>
            <a:off x="457200" y="696516"/>
            <a:ext cx="4287589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Paso 3 · Pull Request y merge a develop</a:t>
            </a:r>
            <a:endParaRPr dirty="0" sz="1200" lang="en-US"/>
          </a:p>
        </p:txBody>
      </p:sp>
      <p:sp>
        <p:nvSpPr>
          <p:cNvPr id="1049979" name="Text 10"/>
          <p:cNvSpPr/>
          <p:nvPr/>
        </p:nvSpPr>
        <p:spPr>
          <a:xfrm>
            <a:off x="457200" y="987958"/>
            <a:ext cx="3897809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Checklist de PR · protección de ramas · merge squash</a:t>
            </a:r>
            <a:endParaRPr dirty="0" sz="800" lang="en-US"/>
          </a:p>
        </p:txBody>
      </p:sp>
      <p:sp>
        <p:nvSpPr>
          <p:cNvPr id="1049980" name="Text 11"/>
          <p:cNvSpPr/>
          <p:nvPr/>
        </p:nvSpPr>
        <p:spPr>
          <a:xfrm>
            <a:off x="6328023" y="955811"/>
            <a:ext cx="2355205" cy="167878"/>
          </a:xfrm>
          <a:prstGeom prst="roundRect">
            <a:avLst>
              <a:gd name="adj" fmla="val 566808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81" name="Text 12"/>
          <p:cNvSpPr/>
          <p:nvPr/>
        </p:nvSpPr>
        <p:spPr>
          <a:xfrm>
            <a:off x="6545907" y="995102"/>
            <a:ext cx="2140893" cy="1197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ESTIMADO: 8 min · revisión ~15 min</a:t>
            </a:r>
            <a:endParaRPr dirty="0" sz="619" lang="en-US"/>
          </a:p>
        </p:txBody>
      </p:sp>
      <p:sp>
        <p:nvSpPr>
          <p:cNvPr id="1049982" name="Text 13"/>
          <p:cNvSpPr/>
          <p:nvPr/>
        </p:nvSpPr>
        <p:spPr>
          <a:xfrm>
            <a:off x="6403032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dirty="0" sz="984" lang="en-US"/>
          </a:p>
        </p:txBody>
      </p:sp>
      <p:sp>
        <p:nvSpPr>
          <p:cNvPr id="1049983" name="Text 14"/>
          <p:cNvSpPr/>
          <p:nvPr/>
        </p:nvSpPr>
        <p:spPr>
          <a:xfrm>
            <a:off x="457200" y="1212986"/>
            <a:ext cx="4043363" cy="3286125"/>
          </a:xfrm>
          <a:prstGeom prst="roundRect">
            <a:avLst>
              <a:gd name="adj" fmla="val 2319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84" name="Text 15"/>
          <p:cNvSpPr/>
          <p:nvPr/>
        </p:nvSpPr>
        <p:spPr>
          <a:xfrm>
            <a:off x="632222" y="1338002"/>
            <a:ext cx="392906" cy="392906"/>
          </a:xfrm>
          <a:prstGeom prst="roundRect">
            <a:avLst>
              <a:gd name="adj" fmla="val 2421820"/>
            </a:avLst>
          </a:prstGeom>
          <a:solidFill>
            <a:srgbClr val="4A90E2">
              <a:alpha val="12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85" name="Text 16"/>
          <p:cNvSpPr/>
          <p:nvPr/>
        </p:nvSpPr>
        <p:spPr>
          <a:xfrm>
            <a:off x="673298" y="1379079"/>
            <a:ext cx="310753" cy="31075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2109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◉</a:t>
            </a:r>
            <a:endParaRPr dirty="0" sz="2109" lang="en-US"/>
          </a:p>
        </p:txBody>
      </p:sp>
      <p:sp>
        <p:nvSpPr>
          <p:cNvPr id="1049986" name="Text 17"/>
          <p:cNvSpPr/>
          <p:nvPr/>
        </p:nvSpPr>
        <p:spPr>
          <a:xfrm>
            <a:off x="3679932" y="1334430"/>
            <a:ext cx="828995" cy="49377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3600"/>
              </a:lnSpc>
              <a:buNone/>
            </a:pPr>
            <a:r>
              <a:rPr b="1" dirty="0" sz="3600" kern="0" lang="en-US" spc="-144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3600" lang="en-US"/>
          </a:p>
        </p:txBody>
      </p:sp>
      <p:sp>
        <p:nvSpPr>
          <p:cNvPr id="1049987" name="Text 18"/>
          <p:cNvSpPr/>
          <p:nvPr/>
        </p:nvSpPr>
        <p:spPr>
          <a:xfrm>
            <a:off x="628650" y="1877355"/>
            <a:ext cx="372189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FLUJO DE PULL REQUEST</a:t>
            </a:r>
            <a:endParaRPr dirty="0" sz="800" lang="en-US"/>
          </a:p>
        </p:txBody>
      </p:sp>
      <p:sp>
        <p:nvSpPr>
          <p:cNvPr id="1049988" name="Text 19"/>
          <p:cNvSpPr/>
          <p:nvPr/>
        </p:nvSpPr>
        <p:spPr>
          <a:xfrm>
            <a:off x="660797" y="2084524"/>
            <a:ext cx="250031" cy="250031"/>
          </a:xfrm>
          <a:prstGeom prst="roundRect">
            <a:avLst>
              <a:gd name="adj" fmla="val 3805718"/>
            </a:avLst>
          </a:prstGeom>
          <a:solidFill>
            <a:srgbClr val="FF6B35">
              <a:alpha val="15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89" name="Text 20"/>
          <p:cNvSpPr/>
          <p:nvPr/>
        </p:nvSpPr>
        <p:spPr>
          <a:xfrm>
            <a:off x="657225" y="2080952"/>
            <a:ext cx="271463" cy="25717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181"/>
              </a:lnSpc>
              <a:buNone/>
            </a:pPr>
            <a:r>
              <a:rPr b="1" dirty="0" sz="8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dirty="0" sz="800" lang="en-US"/>
          </a:p>
        </p:txBody>
      </p:sp>
      <p:sp>
        <p:nvSpPr>
          <p:cNvPr id="1049990" name="Text 21"/>
          <p:cNvSpPr/>
          <p:nvPr/>
        </p:nvSpPr>
        <p:spPr>
          <a:xfrm>
            <a:off x="942975" y="2202396"/>
            <a:ext cx="821531" cy="14288"/>
          </a:xfrm>
          <a:prstGeom prst="rect"/>
          <a:solidFill>
            <a:srgbClr val="3A3A3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91" name="Text 22"/>
          <p:cNvSpPr/>
          <p:nvPr/>
        </p:nvSpPr>
        <p:spPr>
          <a:xfrm>
            <a:off x="1796653" y="2084524"/>
            <a:ext cx="250031" cy="250031"/>
          </a:xfrm>
          <a:prstGeom prst="roundRect">
            <a:avLst>
              <a:gd name="adj" fmla="val 3805718"/>
            </a:avLst>
          </a:prstGeom>
          <a:solidFill>
            <a:srgbClr val="4A90E2">
              <a:alpha val="15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92" name="Text 23"/>
          <p:cNvSpPr/>
          <p:nvPr/>
        </p:nvSpPr>
        <p:spPr>
          <a:xfrm>
            <a:off x="1793081" y="2080952"/>
            <a:ext cx="271463" cy="25717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181"/>
              </a:lnSpc>
              <a:buNone/>
            </a:pPr>
            <a:r>
              <a:rPr b="1"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dirty="0" sz="800" lang="en-US"/>
          </a:p>
        </p:txBody>
      </p:sp>
      <p:sp>
        <p:nvSpPr>
          <p:cNvPr id="1049993" name="Text 24"/>
          <p:cNvSpPr/>
          <p:nvPr/>
        </p:nvSpPr>
        <p:spPr>
          <a:xfrm>
            <a:off x="2078831" y="2202396"/>
            <a:ext cx="821531" cy="14288"/>
          </a:xfrm>
          <a:prstGeom prst="rect"/>
          <a:solidFill>
            <a:srgbClr val="3A3A3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94" name="Text 25"/>
          <p:cNvSpPr/>
          <p:nvPr/>
        </p:nvSpPr>
        <p:spPr>
          <a:xfrm>
            <a:off x="2932509" y="2084524"/>
            <a:ext cx="250031" cy="250031"/>
          </a:xfrm>
          <a:prstGeom prst="roundRect">
            <a:avLst>
              <a:gd name="adj" fmla="val 3805718"/>
            </a:avLst>
          </a:prstGeom>
          <a:solidFill>
            <a:srgbClr val="27AE60">
              <a:alpha val="15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95" name="Text 26"/>
          <p:cNvSpPr/>
          <p:nvPr/>
        </p:nvSpPr>
        <p:spPr>
          <a:xfrm>
            <a:off x="2928938" y="2080952"/>
            <a:ext cx="271463" cy="25717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181"/>
              </a:lnSpc>
              <a:buNone/>
            </a:pPr>
            <a:r>
              <a:rPr b="1" dirty="0" sz="800" kern="0" lang="en-US" spc="8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dirty="0" sz="800" lang="en-US"/>
          </a:p>
        </p:txBody>
      </p:sp>
      <p:sp>
        <p:nvSpPr>
          <p:cNvPr id="1049996" name="Text 27"/>
          <p:cNvSpPr/>
          <p:nvPr/>
        </p:nvSpPr>
        <p:spPr>
          <a:xfrm>
            <a:off x="3214688" y="2202396"/>
            <a:ext cx="821531" cy="14288"/>
          </a:xfrm>
          <a:prstGeom prst="rect"/>
          <a:solidFill>
            <a:srgbClr val="3A3A3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97" name="Text 28"/>
          <p:cNvSpPr/>
          <p:nvPr/>
        </p:nvSpPr>
        <p:spPr>
          <a:xfrm>
            <a:off x="4068366" y="2084524"/>
            <a:ext cx="250031" cy="250031"/>
          </a:xfrm>
          <a:prstGeom prst="roundRect">
            <a:avLst>
              <a:gd name="adj" fmla="val 3805718"/>
            </a:avLst>
          </a:prstGeom>
          <a:solidFill>
            <a:srgbClr val="27AE60">
              <a:alpha val="15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49998" name="Text 29"/>
          <p:cNvSpPr/>
          <p:nvPr/>
        </p:nvSpPr>
        <p:spPr>
          <a:xfrm>
            <a:off x="4064794" y="2080952"/>
            <a:ext cx="257175" cy="257175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1181"/>
              </a:lnSpc>
              <a:buNone/>
            </a:pPr>
            <a:r>
              <a:rPr b="1" dirty="0" sz="800" kern="0" lang="en-US" spc="8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dirty="0" sz="800" lang="en-US"/>
          </a:p>
        </p:txBody>
      </p:sp>
      <p:sp>
        <p:nvSpPr>
          <p:cNvPr id="1049999" name="Text 30"/>
          <p:cNvSpPr/>
          <p:nvPr/>
        </p:nvSpPr>
        <p:spPr>
          <a:xfrm>
            <a:off x="628650" y="2395277"/>
            <a:ext cx="909042" cy="438096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lnSpc>
                <a:spcPts val="768"/>
              </a:lnSpc>
              <a:buNone/>
            </a:pP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Abrir PR</a:t>
            </a:r>
            <a:endParaRPr dirty="0" sz="800" lang="en-US"/>
          </a:p>
          <a:p>
            <a:pPr algn="ctr" indent="0" marL="0">
              <a:lnSpc>
                <a:spcPts val="768"/>
              </a:lnSpc>
              <a:buNone/>
            </a:pPr>
            <a:r>
              <a:rPr dirty="0" sz="800" kern="0" lang="en-US" spc="8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feature → develop</a:t>
            </a:r>
            <a:endParaRPr dirty="0" sz="800" lang="en-US"/>
          </a:p>
        </p:txBody>
      </p:sp>
      <p:sp>
        <p:nvSpPr>
          <p:cNvPr id="1050000" name="Text 31"/>
          <p:cNvSpPr/>
          <p:nvPr/>
        </p:nvSpPr>
        <p:spPr>
          <a:xfrm>
            <a:off x="1566267" y="2395277"/>
            <a:ext cx="909042" cy="438096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lnSpc>
                <a:spcPts val="768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Revisión por pares</a:t>
            </a:r>
            <a:endParaRPr dirty="0" sz="800" lang="en-US"/>
          </a:p>
          <a:p>
            <a:pPr algn="ctr" indent="0" marL="0">
              <a:lnSpc>
                <a:spcPts val="768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QA/DevOps + Líder técnico</a:t>
            </a:r>
            <a:endParaRPr dirty="0" sz="800" lang="en-US"/>
          </a:p>
        </p:txBody>
      </p:sp>
      <p:sp>
        <p:nvSpPr>
          <p:cNvPr id="1050001" name="Text 32"/>
          <p:cNvSpPr/>
          <p:nvPr/>
        </p:nvSpPr>
        <p:spPr>
          <a:xfrm>
            <a:off x="2503884" y="2395277"/>
            <a:ext cx="909042" cy="438096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lnSpc>
                <a:spcPts val="768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 verde</a:t>
            </a:r>
            <a:endParaRPr dirty="0" sz="800" lang="en-US"/>
          </a:p>
          <a:p>
            <a:pPr algn="ctr" indent="0" marL="0">
              <a:lnSpc>
                <a:spcPts val="768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obligatorio</a:t>
            </a:r>
            <a:endParaRPr dirty="0" sz="800" lang="en-US"/>
          </a:p>
        </p:txBody>
      </p:sp>
      <p:sp>
        <p:nvSpPr>
          <p:cNvPr id="1050002" name="Text 33"/>
          <p:cNvSpPr/>
          <p:nvPr/>
        </p:nvSpPr>
        <p:spPr>
          <a:xfrm>
            <a:off x="3441502" y="2395277"/>
            <a:ext cx="909042" cy="438096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lnSpc>
                <a:spcPts val="768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squash</a:t>
            </a:r>
            <a:endParaRPr dirty="0" sz="800" lang="en-US"/>
          </a:p>
          <a:p>
            <a:pPr algn="ctr" indent="0" marL="0">
              <a:lnSpc>
                <a:spcPts val="768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develop</a:t>
            </a:r>
            <a:endParaRPr dirty="0" sz="800" lang="en-US"/>
          </a:p>
        </p:txBody>
      </p:sp>
      <p:sp>
        <p:nvSpPr>
          <p:cNvPr id="1050003" name="Text 34"/>
          <p:cNvSpPr/>
          <p:nvPr/>
        </p:nvSpPr>
        <p:spPr>
          <a:xfrm>
            <a:off x="628650" y="3945471"/>
            <a:ext cx="3721894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PROTECCIÓN DE RAMAS</a:t>
            </a:r>
            <a:endParaRPr dirty="0" sz="800" lang="en-US"/>
          </a:p>
        </p:txBody>
      </p:sp>
      <p:sp>
        <p:nvSpPr>
          <p:cNvPr id="1050004" name="Text 35"/>
          <p:cNvSpPr/>
          <p:nvPr/>
        </p:nvSpPr>
        <p:spPr>
          <a:xfrm>
            <a:off x="628650" y="4091918"/>
            <a:ext cx="3721894" cy="28575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 branch protection, el flujo PR es optativo. Con ella,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y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solo reciben commits vía PR aprobado.</a:t>
            </a:r>
            <a:endParaRPr dirty="0" sz="800" lang="en-US"/>
          </a:p>
        </p:txBody>
      </p:sp>
      <p:sp>
        <p:nvSpPr>
          <p:cNvPr id="1050005" name="Text 36"/>
          <p:cNvSpPr/>
          <p:nvPr/>
        </p:nvSpPr>
        <p:spPr>
          <a:xfrm>
            <a:off x="4647009" y="1216558"/>
            <a:ext cx="4036219" cy="2363242"/>
          </a:xfrm>
          <a:prstGeom prst="roundRect">
            <a:avLst>
              <a:gd name="adj" fmla="val 3224"/>
            </a:avLst>
          </a:prstGeom>
          <a:solidFill>
            <a:srgbClr val="1A1A1A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006" name="Text 37"/>
          <p:cNvSpPr/>
          <p:nvPr/>
        </p:nvSpPr>
        <p:spPr>
          <a:xfrm>
            <a:off x="4779169" y="1320143"/>
            <a:ext cx="3881628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CHECKLIST DE REVISIÓN POR PARES</a:t>
            </a:r>
            <a:endParaRPr dirty="0" sz="800" lang="en-US"/>
          </a:p>
        </p:txBody>
      </p:sp>
      <p:sp>
        <p:nvSpPr>
          <p:cNvPr id="1050007" name="Text 38"/>
          <p:cNvSpPr/>
          <p:nvPr/>
        </p:nvSpPr>
        <p:spPr>
          <a:xfrm>
            <a:off x="4779169" y="1523740"/>
            <a:ext cx="3771900" cy="1590199"/>
          </a:xfrm>
          <a:prstGeom prst="rect"/>
          <a:noFill/>
        </p:spPr>
        <p:txBody>
          <a:bodyPr anchor="t" bIns="0" lIns="0" rIns="0" rtlCol="0" tIns="0" wrap="square"/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✓¿Pasa tests xUnit con cobertura ≥60%?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✓¿Sigue arquitectura 3 capas (Controller→Service→Repository)?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✓¿No rompe navegación (≤3 niveles)?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✓¿Documenta la API pública con comentarios XML?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✓¿No introduce secretos en el código (LDAP_HOST, etc.)?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✓¿Usa Conventional Commits en el mensaje de merge?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✓¿No hay console.log ni código comentado?</a:t>
            </a:r>
            <a:endParaRPr dirty="0" sz="800" lang="en-US"/>
          </a:p>
          <a:p>
            <a:pPr algn="l" indent="-342900" marL="342900">
              <a:lnSpc>
                <a:spcPts val="1055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✓¿Actualiza el CHANGELOG.md si aplica?</a:t>
            </a:r>
            <a:endParaRPr dirty="0" sz="800" lang="en-US"/>
          </a:p>
        </p:txBody>
      </p:sp>
      <p:sp>
        <p:nvSpPr>
          <p:cNvPr id="1050008" name="Text 39"/>
          <p:cNvSpPr/>
          <p:nvPr/>
        </p:nvSpPr>
        <p:spPr>
          <a:xfrm>
            <a:off x="4647009" y="3672669"/>
            <a:ext cx="4036219" cy="285750"/>
          </a:xfrm>
          <a:prstGeom prst="roundRect">
            <a:avLst>
              <a:gd name="adj" fmla="val 3330000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009" name="Text 40"/>
          <p:cNvSpPr/>
          <p:nvPr/>
        </p:nvSpPr>
        <p:spPr>
          <a:xfrm>
            <a:off x="4864894" y="3711959"/>
            <a:ext cx="3621658" cy="284295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 SQUASH = 1 commit limpio en develop por cada feature · conserva el histórico de la feature dentro del PR pero colapsa el ruido</a:t>
            </a:r>
            <a:endParaRPr dirty="0" sz="619" lang="en-US"/>
          </a:p>
        </p:txBody>
      </p:sp>
      <p:sp>
        <p:nvSpPr>
          <p:cNvPr id="1050010" name="Text 41"/>
          <p:cNvSpPr/>
          <p:nvPr/>
        </p:nvSpPr>
        <p:spPr>
          <a:xfrm>
            <a:off x="4722019" y="376553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50011" name="Text 42"/>
          <p:cNvSpPr/>
          <p:nvPr/>
        </p:nvSpPr>
        <p:spPr>
          <a:xfrm>
            <a:off x="4779169" y="4154872"/>
            <a:ext cx="2041889" cy="105397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1046"/>
              </a:lnSpc>
              <a:buNone/>
            </a:pPr>
            <a:r>
              <a:rPr dirty="0" sz="8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Merge squash desde GitHub UI o CLI</a:t>
            </a:r>
            <a:endParaRPr dirty="0" sz="800" lang="en-US"/>
          </a:p>
        </p:txBody>
      </p:sp>
      <p:sp>
        <p:nvSpPr>
          <p:cNvPr id="1050012" name="Text 43"/>
          <p:cNvSpPr/>
          <p:nvPr/>
        </p:nvSpPr>
        <p:spPr>
          <a:xfrm>
            <a:off x="4779169" y="4287701"/>
            <a:ext cx="168057" cy="11854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endParaRPr dirty="0" sz="800" lang="en-US"/>
          </a:p>
        </p:txBody>
      </p:sp>
      <p:sp>
        <p:nvSpPr>
          <p:cNvPr id="1050013" name="Text 44"/>
          <p:cNvSpPr/>
          <p:nvPr/>
        </p:nvSpPr>
        <p:spPr>
          <a:xfrm>
            <a:off x="5401299" y="4287701"/>
            <a:ext cx="184221" cy="11854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14</a:t>
            </a:r>
            <a:endParaRPr dirty="0" sz="800" lang="en-US"/>
          </a:p>
        </p:txBody>
      </p:sp>
      <p:sp>
        <p:nvSpPr>
          <p:cNvPr id="1050014" name="Text 45"/>
          <p:cNvSpPr/>
          <p:nvPr/>
        </p:nvSpPr>
        <p:spPr>
          <a:xfrm>
            <a:off x="5566990" y="4287701"/>
            <a:ext cx="600803" cy="11854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--squash</a:t>
            </a:r>
            <a:endParaRPr dirty="0" sz="800" lang="en-US"/>
          </a:p>
        </p:txBody>
      </p:sp>
      <p:sp>
        <p:nvSpPr>
          <p:cNvPr id="1050015" name="Text 46"/>
          <p:cNvSpPr/>
          <p:nvPr/>
        </p:nvSpPr>
        <p:spPr>
          <a:xfrm>
            <a:off x="6039706" y="4287701"/>
            <a:ext cx="984777" cy="11854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4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--delete-branch</a:t>
            </a:r>
            <a:endParaRPr dirty="0" sz="800" lang="en-US"/>
          </a:p>
        </p:txBody>
      </p:sp>
      <p:sp>
        <p:nvSpPr>
          <p:cNvPr id="1050016" name="Text 47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0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1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202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50020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021" name="Shape 1"/>
          <p:cNvSpPr/>
          <p:nvPr/>
        </p:nvSpPr>
        <p:spPr>
          <a:xfrm>
            <a:off x="457200" y="1216558"/>
            <a:ext cx="32060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022" name="Shape 2"/>
          <p:cNvSpPr/>
          <p:nvPr/>
        </p:nvSpPr>
        <p:spPr>
          <a:xfrm>
            <a:off x="3659721" y="1212986"/>
            <a:ext cx="0" cy="342900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023" name="Shape 3"/>
          <p:cNvSpPr/>
          <p:nvPr/>
        </p:nvSpPr>
        <p:spPr>
          <a:xfrm>
            <a:off x="457200" y="4638415"/>
            <a:ext cx="32060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024" name="Shape 4"/>
          <p:cNvSpPr/>
          <p:nvPr/>
        </p:nvSpPr>
        <p:spPr>
          <a:xfrm>
            <a:off x="471488" y="1212986"/>
            <a:ext cx="0" cy="3429000"/>
          </a:xfrm>
          <a:prstGeom prst="line"/>
          <a:noFill/>
          <a:ln w="28575">
            <a:solidFill>
              <a:srgbClr val="4A90E2"/>
            </a:solidFill>
            <a:prstDash val="solid"/>
          </a:ln>
        </p:spPr>
      </p:sp>
      <p:sp>
        <p:nvSpPr>
          <p:cNvPr id="1050025" name="Shape 5"/>
          <p:cNvSpPr/>
          <p:nvPr/>
        </p:nvSpPr>
        <p:spPr>
          <a:xfrm>
            <a:off x="628650" y="4145496"/>
            <a:ext cx="2884624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026" name="Shape 6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027" name="Text 7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5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PRÁCTICO PASO A PASO</a:t>
            </a:r>
            <a:endParaRPr dirty="0" sz="800" lang="en-US"/>
          </a:p>
        </p:txBody>
      </p:sp>
      <p:sp>
        <p:nvSpPr>
          <p:cNvPr id="1050028" name="Text 8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22 / 27</a:t>
            </a:r>
            <a:endParaRPr dirty="0" sz="619" lang="en-US"/>
          </a:p>
        </p:txBody>
      </p:sp>
      <p:sp>
        <p:nvSpPr>
          <p:cNvPr id="1050029" name="Text 9"/>
          <p:cNvSpPr/>
          <p:nvPr/>
        </p:nvSpPr>
        <p:spPr>
          <a:xfrm>
            <a:off x="457200" y="696516"/>
            <a:ext cx="4626962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Paso 4 · Release, tag y artifact · Entrega E1</a:t>
            </a:r>
            <a:endParaRPr dirty="0" sz="1200" lang="en-US"/>
          </a:p>
        </p:txBody>
      </p:sp>
      <p:sp>
        <p:nvSpPr>
          <p:cNvPr id="1050030" name="Text 10"/>
          <p:cNvSpPr/>
          <p:nvPr/>
        </p:nvSpPr>
        <p:spPr>
          <a:xfrm>
            <a:off x="457200" y="987958"/>
            <a:ext cx="4206329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Versionado semántico · artifacts en pipeline · despliegue a staging</a:t>
            </a:r>
            <a:endParaRPr dirty="0" sz="800" lang="en-US"/>
          </a:p>
        </p:txBody>
      </p:sp>
      <p:sp>
        <p:nvSpPr>
          <p:cNvPr id="1050031" name="Text 11"/>
          <p:cNvSpPr/>
          <p:nvPr/>
        </p:nvSpPr>
        <p:spPr>
          <a:xfrm>
            <a:off x="7206950" y="941738"/>
            <a:ext cx="1502710" cy="196025"/>
          </a:xfrm>
          <a:prstGeom prst="roundRect">
            <a:avLst>
              <a:gd name="adj" fmla="val 4854215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032" name="Text 12"/>
          <p:cNvSpPr/>
          <p:nvPr/>
        </p:nvSpPr>
        <p:spPr>
          <a:xfrm>
            <a:off x="7451266" y="995102"/>
            <a:ext cx="1235534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TIEMPO ESTIMADO: 12 min</a:t>
            </a:r>
            <a:endParaRPr dirty="0" sz="619" lang="en-US"/>
          </a:p>
        </p:txBody>
      </p:sp>
      <p:sp>
        <p:nvSpPr>
          <p:cNvPr id="1050033" name="Text 13"/>
          <p:cNvSpPr/>
          <p:nvPr/>
        </p:nvSpPr>
        <p:spPr>
          <a:xfrm>
            <a:off x="7308391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dirty="0" sz="984" lang="en-US"/>
          </a:p>
        </p:txBody>
      </p:sp>
      <p:sp>
        <p:nvSpPr>
          <p:cNvPr id="1050034" name="Text 14"/>
          <p:cNvSpPr/>
          <p:nvPr/>
        </p:nvSpPr>
        <p:spPr>
          <a:xfrm>
            <a:off x="457200" y="1212986"/>
            <a:ext cx="3206093" cy="3429000"/>
          </a:xfrm>
          <a:prstGeom prst="roundRect">
            <a:avLst>
              <a:gd name="adj" fmla="val 237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035" name="Text 15"/>
          <p:cNvSpPr/>
          <p:nvPr/>
        </p:nvSpPr>
        <p:spPr>
          <a:xfrm>
            <a:off x="632222" y="1338002"/>
            <a:ext cx="392906" cy="392906"/>
          </a:xfrm>
          <a:prstGeom prst="roundRect">
            <a:avLst>
              <a:gd name="adj" fmla="val 2421820"/>
            </a:avLst>
          </a:prstGeom>
          <a:solidFill>
            <a:srgbClr val="4A90E2">
              <a:alpha val="12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036" name="Text 16"/>
          <p:cNvSpPr/>
          <p:nvPr/>
        </p:nvSpPr>
        <p:spPr>
          <a:xfrm>
            <a:off x="673298" y="1379079"/>
            <a:ext cx="310753" cy="31075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2109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dirty="0" sz="2109" lang="en-US"/>
          </a:p>
        </p:txBody>
      </p:sp>
      <p:sp>
        <p:nvSpPr>
          <p:cNvPr id="1050037" name="Text 17"/>
          <p:cNvSpPr/>
          <p:nvPr/>
        </p:nvSpPr>
        <p:spPr>
          <a:xfrm>
            <a:off x="2842662" y="1334430"/>
            <a:ext cx="828995" cy="49377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3600"/>
              </a:lnSpc>
              <a:buNone/>
            </a:pPr>
            <a:r>
              <a:rPr b="1" dirty="0" sz="3600" kern="0" lang="en-US" spc="-144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3600" lang="en-US"/>
          </a:p>
        </p:txBody>
      </p:sp>
      <p:sp>
        <p:nvSpPr>
          <p:cNvPr id="1050038" name="Text 18"/>
          <p:cNvSpPr/>
          <p:nvPr/>
        </p:nvSpPr>
        <p:spPr>
          <a:xfrm>
            <a:off x="628650" y="1877355"/>
            <a:ext cx="288462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PASOS DEL RELEASE</a:t>
            </a:r>
            <a:endParaRPr dirty="0" sz="800" lang="en-US"/>
          </a:p>
        </p:txBody>
      </p:sp>
      <p:sp>
        <p:nvSpPr>
          <p:cNvPr id="1050039" name="Text 19"/>
          <p:cNvSpPr/>
          <p:nvPr/>
        </p:nvSpPr>
        <p:spPr>
          <a:xfrm>
            <a:off x="628650" y="2080952"/>
            <a:ext cx="2884624" cy="2093762"/>
          </a:xfrm>
          <a:prstGeom prst="rect"/>
          <a:noFill/>
        </p:spPr>
        <p:txBody>
          <a:bodyPr anchor="t" bIns="0" lIns="0" rIns="0" rtlCol="0" tIns="0" wrap="square"/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01Congelar feature-list (cerrar nuevas features)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02Abrir release/1.0 desde develop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03Bugfixes de última hora solo en release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04Merge --no-ff a main con tag v1.0-E1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05Merge --no-ff a develop (conservar fixes)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06Publicar artifact en GitHub Releases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07Desplegar a staging para UAT</a:t>
            </a:r>
            <a:endParaRPr dirty="0" sz="800" lang="en-US"/>
          </a:p>
        </p:txBody>
      </p:sp>
      <p:sp>
        <p:nvSpPr>
          <p:cNvPr id="1050040" name="Text 20"/>
          <p:cNvSpPr/>
          <p:nvPr/>
        </p:nvSpPr>
        <p:spPr>
          <a:xfrm>
            <a:off x="628650" y="4234793"/>
            <a:ext cx="2884624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ENTREGA E1</a:t>
            </a:r>
            <a:endParaRPr dirty="0" sz="800" lang="en-US"/>
          </a:p>
        </p:txBody>
      </p:sp>
      <p:sp>
        <p:nvSpPr>
          <p:cNvPr id="1050041" name="Text 21"/>
          <p:cNvSpPr/>
          <p:nvPr/>
        </p:nvSpPr>
        <p:spPr>
          <a:xfrm>
            <a:off x="628650" y="4381240"/>
            <a:ext cx="2884624" cy="13930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CRUD + reportes (a)(b) — primera validación formal del cliente.</a:t>
            </a:r>
            <a:endParaRPr dirty="0" sz="731" lang="en-US"/>
          </a:p>
        </p:txBody>
      </p:sp>
      <p:sp>
        <p:nvSpPr>
          <p:cNvPr id="1050042" name="Text 22"/>
          <p:cNvSpPr/>
          <p:nvPr/>
        </p:nvSpPr>
        <p:spPr>
          <a:xfrm>
            <a:off x="3927611" y="1298711"/>
            <a:ext cx="1592717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1. Abrir release desde develop</a:t>
            </a:r>
            <a:endParaRPr dirty="0" sz="600" lang="en-US"/>
          </a:p>
        </p:txBody>
      </p:sp>
      <p:sp>
        <p:nvSpPr>
          <p:cNvPr id="1050043" name="Text 23"/>
          <p:cNvSpPr/>
          <p:nvPr/>
        </p:nvSpPr>
        <p:spPr>
          <a:xfrm>
            <a:off x="3927611" y="1407430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44" name="Text 24"/>
          <p:cNvSpPr/>
          <p:nvPr/>
        </p:nvSpPr>
        <p:spPr>
          <a:xfrm>
            <a:off x="4521545" y="1407430"/>
            <a:ext cx="471952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50045" name="Text 25"/>
          <p:cNvSpPr/>
          <p:nvPr/>
        </p:nvSpPr>
        <p:spPr>
          <a:xfrm>
            <a:off x="3927611" y="1516149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46" name="Text 26"/>
          <p:cNvSpPr/>
          <p:nvPr/>
        </p:nvSpPr>
        <p:spPr>
          <a:xfrm>
            <a:off x="4659844" y="1516149"/>
            <a:ext cx="471952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50047" name="Text 27"/>
          <p:cNvSpPr/>
          <p:nvPr/>
        </p:nvSpPr>
        <p:spPr>
          <a:xfrm>
            <a:off x="3927611" y="1624868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48" name="Text 28"/>
          <p:cNvSpPr/>
          <p:nvPr/>
        </p:nvSpPr>
        <p:spPr>
          <a:xfrm>
            <a:off x="4526793" y="1624868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endParaRPr dirty="0" sz="800" lang="en-US"/>
          </a:p>
        </p:txBody>
      </p:sp>
      <p:sp>
        <p:nvSpPr>
          <p:cNvPr id="1050049" name="Text 29"/>
          <p:cNvSpPr/>
          <p:nvPr/>
        </p:nvSpPr>
        <p:spPr>
          <a:xfrm>
            <a:off x="4665092" y="1624868"/>
            <a:ext cx="633729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release/1.0</a:t>
            </a:r>
            <a:endParaRPr dirty="0" sz="600" lang="en-US"/>
          </a:p>
        </p:txBody>
      </p:sp>
      <p:sp>
        <p:nvSpPr>
          <p:cNvPr id="1050050" name="Text 30"/>
          <p:cNvSpPr/>
          <p:nvPr/>
        </p:nvSpPr>
        <p:spPr>
          <a:xfrm>
            <a:off x="3927611" y="1842306"/>
            <a:ext cx="1941109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(Opcional) bugfixes de última hora</a:t>
            </a:r>
            <a:endParaRPr dirty="0" sz="600" lang="en-US"/>
          </a:p>
        </p:txBody>
      </p:sp>
      <p:sp>
        <p:nvSpPr>
          <p:cNvPr id="1050051" name="Text 31"/>
          <p:cNvSpPr/>
          <p:nvPr/>
        </p:nvSpPr>
        <p:spPr>
          <a:xfrm>
            <a:off x="3927611" y="1951025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52" name="Text 32"/>
          <p:cNvSpPr/>
          <p:nvPr/>
        </p:nvSpPr>
        <p:spPr>
          <a:xfrm>
            <a:off x="4434594" y="1951025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50053" name="Text 33"/>
          <p:cNvSpPr/>
          <p:nvPr/>
        </p:nvSpPr>
        <p:spPr>
          <a:xfrm>
            <a:off x="4572893" y="1951025"/>
            <a:ext cx="2212107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'fix(reportes): corregir ordenamiento por marca'</a:t>
            </a:r>
            <a:endParaRPr dirty="0" sz="600" lang="en-US"/>
          </a:p>
        </p:txBody>
      </p:sp>
      <p:sp>
        <p:nvSpPr>
          <p:cNvPr id="1050054" name="Text 34"/>
          <p:cNvSpPr/>
          <p:nvPr/>
        </p:nvSpPr>
        <p:spPr>
          <a:xfrm>
            <a:off x="3927611" y="2168463"/>
            <a:ext cx="1642504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3. Merge a main con tag anotado</a:t>
            </a:r>
            <a:endParaRPr dirty="0" sz="600" lang="en-US"/>
          </a:p>
        </p:txBody>
      </p:sp>
      <p:sp>
        <p:nvSpPr>
          <p:cNvPr id="1050055" name="Text 35"/>
          <p:cNvSpPr/>
          <p:nvPr/>
        </p:nvSpPr>
        <p:spPr>
          <a:xfrm>
            <a:off x="3927611" y="2277182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56" name="Text 36"/>
          <p:cNvSpPr/>
          <p:nvPr/>
        </p:nvSpPr>
        <p:spPr>
          <a:xfrm>
            <a:off x="4526793" y="2277182"/>
            <a:ext cx="295037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50057" name="Text 37"/>
          <p:cNvSpPr/>
          <p:nvPr/>
        </p:nvSpPr>
        <p:spPr>
          <a:xfrm>
            <a:off x="3927611" y="2385901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58" name="Text 38"/>
          <p:cNvSpPr/>
          <p:nvPr/>
        </p:nvSpPr>
        <p:spPr>
          <a:xfrm>
            <a:off x="4388607" y="2385901"/>
            <a:ext cx="461456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--no-ff</a:t>
            </a:r>
            <a:endParaRPr dirty="0" sz="800" lang="en-US"/>
          </a:p>
        </p:txBody>
      </p:sp>
      <p:sp>
        <p:nvSpPr>
          <p:cNvPr id="1050059" name="Text 39"/>
          <p:cNvSpPr/>
          <p:nvPr/>
        </p:nvSpPr>
        <p:spPr>
          <a:xfrm>
            <a:off x="4757403" y="2385901"/>
            <a:ext cx="633729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release/1.0</a:t>
            </a:r>
            <a:endParaRPr dirty="0" sz="600" lang="en-US"/>
          </a:p>
        </p:txBody>
      </p:sp>
      <p:sp>
        <p:nvSpPr>
          <p:cNvPr id="1050060" name="Text 40"/>
          <p:cNvSpPr/>
          <p:nvPr/>
        </p:nvSpPr>
        <p:spPr>
          <a:xfrm>
            <a:off x="5310485" y="2385901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50061" name="Text 41"/>
          <p:cNvSpPr/>
          <p:nvPr/>
        </p:nvSpPr>
        <p:spPr>
          <a:xfrm>
            <a:off x="5448784" y="2385901"/>
            <a:ext cx="1443475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'Merge release/1.0 into main'</a:t>
            </a:r>
            <a:endParaRPr dirty="0" sz="600" lang="en-US"/>
          </a:p>
        </p:txBody>
      </p:sp>
      <p:sp>
        <p:nvSpPr>
          <p:cNvPr id="1050062" name="Text 42"/>
          <p:cNvSpPr/>
          <p:nvPr/>
        </p:nvSpPr>
        <p:spPr>
          <a:xfrm>
            <a:off x="3927611" y="2494620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63" name="Text 43"/>
          <p:cNvSpPr/>
          <p:nvPr/>
        </p:nvSpPr>
        <p:spPr>
          <a:xfrm>
            <a:off x="4296408" y="2494620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endParaRPr dirty="0" sz="800" lang="en-US"/>
          </a:p>
        </p:txBody>
      </p:sp>
      <p:sp>
        <p:nvSpPr>
          <p:cNvPr id="1050064" name="Text 44"/>
          <p:cNvSpPr/>
          <p:nvPr/>
        </p:nvSpPr>
        <p:spPr>
          <a:xfrm>
            <a:off x="4413873" y="2494620"/>
            <a:ext cx="503123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v1.0-E1</a:t>
            </a:r>
            <a:endParaRPr dirty="0" sz="800" lang="en-US"/>
          </a:p>
        </p:txBody>
      </p:sp>
      <p:sp>
        <p:nvSpPr>
          <p:cNvPr id="1050065" name="Text 45"/>
          <p:cNvSpPr/>
          <p:nvPr/>
        </p:nvSpPr>
        <p:spPr>
          <a:xfrm>
            <a:off x="4803502" y="2494620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50066" name="Text 46"/>
          <p:cNvSpPr/>
          <p:nvPr/>
        </p:nvSpPr>
        <p:spPr>
          <a:xfrm>
            <a:off x="4941801" y="2494620"/>
            <a:ext cx="1742079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'Entrega 1: CRUD + reportes (a)(b)'</a:t>
            </a:r>
            <a:endParaRPr dirty="0" sz="600" lang="en-US"/>
          </a:p>
        </p:txBody>
      </p:sp>
      <p:sp>
        <p:nvSpPr>
          <p:cNvPr id="1050067" name="Text 47"/>
          <p:cNvSpPr/>
          <p:nvPr/>
        </p:nvSpPr>
        <p:spPr>
          <a:xfrm>
            <a:off x="3927611" y="2603339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68" name="Text 48"/>
          <p:cNvSpPr/>
          <p:nvPr/>
        </p:nvSpPr>
        <p:spPr>
          <a:xfrm>
            <a:off x="4665092" y="2603339"/>
            <a:ext cx="295037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50069" name="Text 49"/>
          <p:cNvSpPr/>
          <p:nvPr/>
        </p:nvSpPr>
        <p:spPr>
          <a:xfrm>
            <a:off x="4895590" y="2603339"/>
            <a:ext cx="395534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--tags</a:t>
            </a:r>
            <a:endParaRPr dirty="0" sz="800" lang="en-US"/>
          </a:p>
        </p:txBody>
      </p:sp>
      <p:sp>
        <p:nvSpPr>
          <p:cNvPr id="1050070" name="Text 50"/>
          <p:cNvSpPr/>
          <p:nvPr/>
        </p:nvSpPr>
        <p:spPr>
          <a:xfrm>
            <a:off x="3927611" y="2820777"/>
            <a:ext cx="1393688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4. Merge también a develop</a:t>
            </a:r>
            <a:endParaRPr dirty="0" sz="600" lang="en-US"/>
          </a:p>
        </p:txBody>
      </p:sp>
      <p:sp>
        <p:nvSpPr>
          <p:cNvPr id="1050071" name="Text 51"/>
          <p:cNvSpPr/>
          <p:nvPr/>
        </p:nvSpPr>
        <p:spPr>
          <a:xfrm>
            <a:off x="3927611" y="2929496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72" name="Text 52"/>
          <p:cNvSpPr/>
          <p:nvPr/>
        </p:nvSpPr>
        <p:spPr>
          <a:xfrm>
            <a:off x="4521545" y="2929496"/>
            <a:ext cx="471952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50073" name="Text 53"/>
          <p:cNvSpPr/>
          <p:nvPr/>
        </p:nvSpPr>
        <p:spPr>
          <a:xfrm>
            <a:off x="3927611" y="3038215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74" name="Text 54"/>
          <p:cNvSpPr/>
          <p:nvPr/>
        </p:nvSpPr>
        <p:spPr>
          <a:xfrm>
            <a:off x="4388607" y="3038215"/>
            <a:ext cx="461456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--no-ff</a:t>
            </a:r>
            <a:endParaRPr dirty="0" sz="800" lang="en-US"/>
          </a:p>
        </p:txBody>
      </p:sp>
      <p:sp>
        <p:nvSpPr>
          <p:cNvPr id="1050075" name="Text 55"/>
          <p:cNvSpPr/>
          <p:nvPr/>
        </p:nvSpPr>
        <p:spPr>
          <a:xfrm>
            <a:off x="4757403" y="3038215"/>
            <a:ext cx="633729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release/1.0</a:t>
            </a:r>
            <a:endParaRPr dirty="0" sz="600" lang="en-US"/>
          </a:p>
        </p:txBody>
      </p:sp>
      <p:sp>
        <p:nvSpPr>
          <p:cNvPr id="1050076" name="Text 56"/>
          <p:cNvSpPr/>
          <p:nvPr/>
        </p:nvSpPr>
        <p:spPr>
          <a:xfrm>
            <a:off x="5310485" y="3038215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50077" name="Text 57"/>
          <p:cNvSpPr/>
          <p:nvPr/>
        </p:nvSpPr>
        <p:spPr>
          <a:xfrm>
            <a:off x="5448784" y="3038215"/>
            <a:ext cx="1841654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'Back-merge release/1.0 into develop'</a:t>
            </a:r>
            <a:endParaRPr dirty="0" sz="600" lang="en-US"/>
          </a:p>
        </p:txBody>
      </p:sp>
      <p:sp>
        <p:nvSpPr>
          <p:cNvPr id="1050078" name="Text 58"/>
          <p:cNvSpPr/>
          <p:nvPr/>
        </p:nvSpPr>
        <p:spPr>
          <a:xfrm>
            <a:off x="3927611" y="3146933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079" name="Text 59"/>
          <p:cNvSpPr/>
          <p:nvPr/>
        </p:nvSpPr>
        <p:spPr>
          <a:xfrm>
            <a:off x="4659844" y="3146933"/>
            <a:ext cx="471952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50080" name="Text 60"/>
          <p:cNvSpPr/>
          <p:nvPr/>
        </p:nvSpPr>
        <p:spPr>
          <a:xfrm>
            <a:off x="3927611" y="3364371"/>
            <a:ext cx="1990896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Generar artifact con dotnet publish</a:t>
            </a:r>
            <a:endParaRPr dirty="0" sz="600" lang="en-US"/>
          </a:p>
        </p:txBody>
      </p:sp>
      <p:sp>
        <p:nvSpPr>
          <p:cNvPr id="1050081" name="Text 61"/>
          <p:cNvSpPr/>
          <p:nvPr/>
        </p:nvSpPr>
        <p:spPr>
          <a:xfrm>
            <a:off x="3920573" y="3473090"/>
            <a:ext cx="409611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endParaRPr dirty="0" sz="800" lang="en-US"/>
          </a:p>
        </p:txBody>
      </p:sp>
      <p:sp>
        <p:nvSpPr>
          <p:cNvPr id="1050082" name="Text 62"/>
          <p:cNvSpPr/>
          <p:nvPr/>
        </p:nvSpPr>
        <p:spPr>
          <a:xfrm>
            <a:off x="4618992" y="3473090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endParaRPr dirty="0" sz="800" lang="en-US"/>
          </a:p>
        </p:txBody>
      </p:sp>
      <p:sp>
        <p:nvSpPr>
          <p:cNvPr id="1050083" name="Text 63"/>
          <p:cNvSpPr/>
          <p:nvPr/>
        </p:nvSpPr>
        <p:spPr>
          <a:xfrm>
            <a:off x="5125975" y="3473090"/>
            <a:ext cx="147518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</a:t>
            </a:r>
            <a:endParaRPr dirty="0" sz="800" lang="en-US"/>
          </a:p>
        </p:txBody>
      </p:sp>
      <p:sp>
        <p:nvSpPr>
          <p:cNvPr id="1050084" name="Text 64"/>
          <p:cNvSpPr/>
          <p:nvPr/>
        </p:nvSpPr>
        <p:spPr>
          <a:xfrm>
            <a:off x="3927611" y="3581809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endParaRPr dirty="0" sz="800" lang="en-US"/>
          </a:p>
        </p:txBody>
      </p:sp>
      <p:sp>
        <p:nvSpPr>
          <p:cNvPr id="1050085" name="Text 65"/>
          <p:cNvSpPr/>
          <p:nvPr/>
        </p:nvSpPr>
        <p:spPr>
          <a:xfrm>
            <a:off x="4112009" y="3581809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endParaRPr dirty="0" sz="800" lang="en-US"/>
          </a:p>
        </p:txBody>
      </p:sp>
      <p:sp>
        <p:nvSpPr>
          <p:cNvPr id="1050086" name="Text 66"/>
          <p:cNvSpPr/>
          <p:nvPr/>
        </p:nvSpPr>
        <p:spPr>
          <a:xfrm>
            <a:off x="3927611" y="3799247"/>
            <a:ext cx="2040684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6. Subir a GitHub Releases (vía gh CLI)</a:t>
            </a:r>
            <a:endParaRPr dirty="0" sz="600" lang="en-US"/>
          </a:p>
        </p:txBody>
      </p:sp>
      <p:sp>
        <p:nvSpPr>
          <p:cNvPr id="1050087" name="Text 67"/>
          <p:cNvSpPr/>
          <p:nvPr/>
        </p:nvSpPr>
        <p:spPr>
          <a:xfrm>
            <a:off x="3927611" y="3907966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endParaRPr dirty="0" sz="800" lang="en-US"/>
          </a:p>
        </p:txBody>
      </p:sp>
      <p:sp>
        <p:nvSpPr>
          <p:cNvPr id="1050088" name="Text 68"/>
          <p:cNvSpPr/>
          <p:nvPr/>
        </p:nvSpPr>
        <p:spPr>
          <a:xfrm>
            <a:off x="4736346" y="3907966"/>
            <a:ext cx="503123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v1.0-E1</a:t>
            </a:r>
            <a:endParaRPr dirty="0" sz="800" lang="en-US"/>
          </a:p>
        </p:txBody>
      </p:sp>
      <p:sp>
        <p:nvSpPr>
          <p:cNvPr id="1050089" name="Text 69"/>
          <p:cNvSpPr/>
          <p:nvPr/>
        </p:nvSpPr>
        <p:spPr>
          <a:xfrm>
            <a:off x="6139830" y="3907966"/>
            <a:ext cx="461456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--title</a:t>
            </a:r>
            <a:endParaRPr dirty="0" sz="800" lang="en-US"/>
          </a:p>
        </p:txBody>
      </p:sp>
      <p:sp>
        <p:nvSpPr>
          <p:cNvPr id="1050090" name="Text 70"/>
          <p:cNvSpPr/>
          <p:nvPr/>
        </p:nvSpPr>
        <p:spPr>
          <a:xfrm>
            <a:off x="6508626" y="3907966"/>
            <a:ext cx="691353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'Entrega E1'</a:t>
            </a:r>
            <a:endParaRPr dirty="0" sz="600" lang="en-US"/>
          </a:p>
        </p:txBody>
      </p:sp>
      <p:sp>
        <p:nvSpPr>
          <p:cNvPr id="1050091" name="Text 71"/>
          <p:cNvSpPr/>
          <p:nvPr/>
        </p:nvSpPr>
        <p:spPr>
          <a:xfrm>
            <a:off x="3809740" y="4470536"/>
            <a:ext cx="4873377" cy="167878"/>
          </a:xfrm>
          <a:prstGeom prst="roundRect">
            <a:avLst>
              <a:gd name="adj" fmla="val 5668089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092" name="Text 72"/>
          <p:cNvSpPr/>
          <p:nvPr/>
        </p:nvSpPr>
        <p:spPr>
          <a:xfrm>
            <a:off x="4027624" y="4509827"/>
            <a:ext cx="3269493" cy="1197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SEMVER: MAJOR.MINOR.PATCH · v1.0-E1 = primera entrega del cliente</a:t>
            </a:r>
            <a:endParaRPr dirty="0" sz="619" lang="en-US"/>
          </a:p>
        </p:txBody>
      </p:sp>
      <p:sp>
        <p:nvSpPr>
          <p:cNvPr id="1050093" name="Text 73"/>
          <p:cNvSpPr/>
          <p:nvPr/>
        </p:nvSpPr>
        <p:spPr>
          <a:xfrm>
            <a:off x="3884749" y="4504469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984" lang="en-US"/>
          </a:p>
        </p:txBody>
      </p:sp>
      <p:sp>
        <p:nvSpPr>
          <p:cNvPr id="1050094" name="Text 74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20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50098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099" name="Shape 1"/>
          <p:cNvSpPr/>
          <p:nvPr/>
        </p:nvSpPr>
        <p:spPr>
          <a:xfrm>
            <a:off x="457200" y="1216558"/>
            <a:ext cx="32060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100" name="Shape 2"/>
          <p:cNvSpPr/>
          <p:nvPr/>
        </p:nvSpPr>
        <p:spPr>
          <a:xfrm>
            <a:off x="3659721" y="1212986"/>
            <a:ext cx="0" cy="342900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101" name="Shape 3"/>
          <p:cNvSpPr/>
          <p:nvPr/>
        </p:nvSpPr>
        <p:spPr>
          <a:xfrm>
            <a:off x="457200" y="4638415"/>
            <a:ext cx="32060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102" name="Shape 4"/>
          <p:cNvSpPr/>
          <p:nvPr/>
        </p:nvSpPr>
        <p:spPr>
          <a:xfrm>
            <a:off x="471488" y="1212986"/>
            <a:ext cx="0" cy="3429000"/>
          </a:xfrm>
          <a:prstGeom prst="line"/>
          <a:noFill/>
          <a:ln w="28575">
            <a:solidFill>
              <a:srgbClr val="F39C12"/>
            </a:solidFill>
            <a:prstDash val="solid"/>
          </a:ln>
        </p:spPr>
      </p:sp>
      <p:sp>
        <p:nvSpPr>
          <p:cNvPr id="1050103" name="Shape 5"/>
          <p:cNvSpPr/>
          <p:nvPr/>
        </p:nvSpPr>
        <p:spPr>
          <a:xfrm>
            <a:off x="628650" y="3999049"/>
            <a:ext cx="2884624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104" name="Shape 6"/>
          <p:cNvSpPr/>
          <p:nvPr/>
        </p:nvSpPr>
        <p:spPr>
          <a:xfrm>
            <a:off x="3924040" y="4277655"/>
            <a:ext cx="0" cy="285750"/>
          </a:xfrm>
          <a:prstGeom prst="line"/>
          <a:noFill/>
          <a:ln w="21431">
            <a:solidFill>
              <a:srgbClr val="F39C12"/>
            </a:solidFill>
            <a:prstDash val="solid"/>
          </a:ln>
        </p:spPr>
      </p:sp>
      <p:sp>
        <p:nvSpPr>
          <p:cNvPr id="1050105" name="Shape 7"/>
          <p:cNvSpPr/>
          <p:nvPr/>
        </p:nvSpPr>
        <p:spPr>
          <a:xfrm>
            <a:off x="6300006" y="4277655"/>
            <a:ext cx="0" cy="285750"/>
          </a:xfrm>
          <a:prstGeom prst="line"/>
          <a:noFill/>
          <a:ln w="21431">
            <a:solidFill>
              <a:srgbClr val="4A90E2"/>
            </a:solidFill>
            <a:prstDash val="solid"/>
          </a:ln>
        </p:spPr>
      </p:sp>
      <p:sp>
        <p:nvSpPr>
          <p:cNvPr id="1050106" name="Shape 8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107" name="Text 9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5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TALLER PRÁCTICO PASO A PASO</a:t>
            </a:r>
            <a:endParaRPr dirty="0" sz="800" lang="en-US"/>
          </a:p>
        </p:txBody>
      </p:sp>
      <p:sp>
        <p:nvSpPr>
          <p:cNvPr id="1050108" name="Text 10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23 / 27</a:t>
            </a:r>
            <a:endParaRPr dirty="0" sz="619" lang="en-US"/>
          </a:p>
        </p:txBody>
      </p:sp>
      <p:sp>
        <p:nvSpPr>
          <p:cNvPr id="1050109" name="Text 11"/>
          <p:cNvSpPr/>
          <p:nvPr/>
        </p:nvSpPr>
        <p:spPr>
          <a:xfrm>
            <a:off x="457200" y="696516"/>
            <a:ext cx="3114764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Paso 5 · Hotfix en producción</a:t>
            </a:r>
            <a:endParaRPr dirty="0" sz="1200" lang="en-US"/>
          </a:p>
        </p:txBody>
      </p:sp>
      <p:sp>
        <p:nvSpPr>
          <p:cNvPr id="1050110" name="Text 12"/>
          <p:cNvSpPr/>
          <p:nvPr/>
        </p:nvSpPr>
        <p:spPr>
          <a:xfrm>
            <a:off x="457200" y="987958"/>
            <a:ext cx="2831604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Cuándo usar hotfix vs release · relación con R7 (pérdida de código)</a:t>
            </a:r>
            <a:endParaRPr dirty="0" sz="731" lang="en-US"/>
          </a:p>
        </p:txBody>
      </p:sp>
      <p:sp>
        <p:nvSpPr>
          <p:cNvPr id="1050111" name="Text 13"/>
          <p:cNvSpPr/>
          <p:nvPr/>
        </p:nvSpPr>
        <p:spPr>
          <a:xfrm>
            <a:off x="5724376" y="955811"/>
            <a:ext cx="2958852" cy="167878"/>
          </a:xfrm>
          <a:prstGeom prst="roundRect">
            <a:avLst>
              <a:gd name="adj" fmla="val 5668089"/>
            </a:avLst>
          </a:prstGeom>
          <a:solidFill>
            <a:srgbClr val="F39C12">
              <a:alpha val="8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112" name="Text 14"/>
          <p:cNvSpPr/>
          <p:nvPr/>
        </p:nvSpPr>
        <p:spPr>
          <a:xfrm>
            <a:off x="5942261" y="995102"/>
            <a:ext cx="2744539" cy="1197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TIEMPO ESTIMADO: 15 min · HOTFIX = RIESGO R7 MITIGADO</a:t>
            </a:r>
            <a:endParaRPr dirty="0" sz="619" lang="en-US"/>
          </a:p>
        </p:txBody>
      </p:sp>
      <p:sp>
        <p:nvSpPr>
          <p:cNvPr id="1050113" name="Text 15"/>
          <p:cNvSpPr/>
          <p:nvPr/>
        </p:nvSpPr>
        <p:spPr>
          <a:xfrm>
            <a:off x="5799386" y="989744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dirty="0" sz="984" lang="en-US"/>
          </a:p>
        </p:txBody>
      </p:sp>
      <p:sp>
        <p:nvSpPr>
          <p:cNvPr id="1050114" name="Text 16"/>
          <p:cNvSpPr/>
          <p:nvPr/>
        </p:nvSpPr>
        <p:spPr>
          <a:xfrm>
            <a:off x="457200" y="1212986"/>
            <a:ext cx="3206093" cy="3429000"/>
          </a:xfrm>
          <a:prstGeom prst="roundRect">
            <a:avLst>
              <a:gd name="adj" fmla="val 237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115" name="Text 17"/>
          <p:cNvSpPr/>
          <p:nvPr/>
        </p:nvSpPr>
        <p:spPr>
          <a:xfrm>
            <a:off x="632222" y="1338002"/>
            <a:ext cx="392906" cy="392906"/>
          </a:xfrm>
          <a:prstGeom prst="roundRect">
            <a:avLst>
              <a:gd name="adj" fmla="val 2421820"/>
            </a:avLst>
          </a:prstGeom>
          <a:solidFill>
            <a:srgbClr val="F39C12">
              <a:alpha val="12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116" name="Text 18"/>
          <p:cNvSpPr/>
          <p:nvPr/>
        </p:nvSpPr>
        <p:spPr>
          <a:xfrm>
            <a:off x="673298" y="1379079"/>
            <a:ext cx="310753" cy="31075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2109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dirty="0" sz="2109" lang="en-US"/>
          </a:p>
        </p:txBody>
      </p:sp>
      <p:sp>
        <p:nvSpPr>
          <p:cNvPr id="1050117" name="Text 19"/>
          <p:cNvSpPr/>
          <p:nvPr/>
        </p:nvSpPr>
        <p:spPr>
          <a:xfrm>
            <a:off x="2842662" y="1334430"/>
            <a:ext cx="828995" cy="493776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3600"/>
              </a:lnSpc>
              <a:buNone/>
            </a:pPr>
            <a:r>
              <a:rPr b="1" dirty="0" sz="3600" kern="0" lang="en-US" spc="-144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dirty="0" sz="3600" lang="en-US"/>
          </a:p>
        </p:txBody>
      </p:sp>
      <p:sp>
        <p:nvSpPr>
          <p:cNvPr id="1050118" name="Text 20"/>
          <p:cNvSpPr/>
          <p:nvPr/>
        </p:nvSpPr>
        <p:spPr>
          <a:xfrm>
            <a:off x="628650" y="1877355"/>
            <a:ext cx="2884624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PROTOCOLO DE HOTFIX</a:t>
            </a:r>
            <a:endParaRPr dirty="0" sz="800" lang="en-US"/>
          </a:p>
        </p:txBody>
      </p:sp>
      <p:sp>
        <p:nvSpPr>
          <p:cNvPr id="1050119" name="Text 21"/>
          <p:cNvSpPr/>
          <p:nvPr/>
        </p:nvSpPr>
        <p:spPr>
          <a:xfrm>
            <a:off x="628650" y="2080952"/>
            <a:ext cx="2884624" cy="1938528"/>
          </a:xfrm>
          <a:prstGeom prst="rect"/>
          <a:noFill/>
        </p:spPr>
        <p:txBody>
          <a:bodyPr anchor="t" bIns="0" lIns="0" rIns="0" rtlCol="0" tIns="0" wrap="square"/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01Detectar bug crítico en producción (E2 ya entregado)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02Abrir hotfix/ desde main (NO desde develop)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03Corregir y commit con Conventional Commits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04Merge --no-ff a main con tag v1.1.1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05Merge --no-ff a develop (no perder el fix)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06Publicar artifact actualizado</a:t>
            </a:r>
            <a:endParaRPr dirty="0" sz="800" lang="en-US"/>
          </a:p>
          <a:p>
            <a:pPr algn="l" indent="-342900" marL="342900">
              <a:lnSpc>
                <a:spcPts val="1013"/>
              </a:lnSpc>
              <a:buSzPct val="100000"/>
              <a:buChar char="•"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07Smoke tests en producción</a:t>
            </a:r>
            <a:endParaRPr dirty="0" sz="800" lang="en-US"/>
          </a:p>
        </p:txBody>
      </p:sp>
      <p:sp>
        <p:nvSpPr>
          <p:cNvPr id="1050120" name="Text 22"/>
          <p:cNvSpPr/>
          <p:nvPr/>
        </p:nvSpPr>
        <p:spPr>
          <a:xfrm>
            <a:off x="628650" y="4088346"/>
            <a:ext cx="2884624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REGLA DE ORO</a:t>
            </a:r>
            <a:endParaRPr dirty="0" sz="800" lang="en-US"/>
          </a:p>
        </p:txBody>
      </p:sp>
      <p:sp>
        <p:nvSpPr>
          <p:cNvPr id="1050121" name="Text 23"/>
          <p:cNvSpPr/>
          <p:nvPr/>
        </p:nvSpPr>
        <p:spPr>
          <a:xfrm>
            <a:off x="628650" y="4234793"/>
            <a:ext cx="2884624" cy="28575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Hotfix nace de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no de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develop puede tener features inestables.</a:t>
            </a:r>
            <a:endParaRPr dirty="0" sz="800" lang="en-US"/>
          </a:p>
        </p:txBody>
      </p:sp>
      <p:sp>
        <p:nvSpPr>
          <p:cNvPr id="1050122" name="Text 24"/>
          <p:cNvSpPr/>
          <p:nvPr/>
        </p:nvSpPr>
        <p:spPr>
          <a:xfrm>
            <a:off x="3927611" y="1298711"/>
            <a:ext cx="2339288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 Crear hotfix desde main (NO desde develop)</a:t>
            </a:r>
            <a:endParaRPr dirty="0" sz="600" lang="en-US"/>
          </a:p>
        </p:txBody>
      </p:sp>
      <p:sp>
        <p:nvSpPr>
          <p:cNvPr id="1050123" name="Text 25"/>
          <p:cNvSpPr/>
          <p:nvPr/>
        </p:nvSpPr>
        <p:spPr>
          <a:xfrm>
            <a:off x="3927611" y="1407430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24" name="Text 26"/>
          <p:cNvSpPr/>
          <p:nvPr/>
        </p:nvSpPr>
        <p:spPr>
          <a:xfrm>
            <a:off x="4526793" y="1407430"/>
            <a:ext cx="295037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50125" name="Text 27"/>
          <p:cNvSpPr/>
          <p:nvPr/>
        </p:nvSpPr>
        <p:spPr>
          <a:xfrm>
            <a:off x="3927611" y="1516149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26" name="Text 28"/>
          <p:cNvSpPr/>
          <p:nvPr/>
        </p:nvSpPr>
        <p:spPr>
          <a:xfrm>
            <a:off x="4665092" y="1516149"/>
            <a:ext cx="295037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50127" name="Text 29"/>
          <p:cNvSpPr/>
          <p:nvPr/>
        </p:nvSpPr>
        <p:spPr>
          <a:xfrm>
            <a:off x="3927611" y="1624868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28" name="Text 30"/>
          <p:cNvSpPr/>
          <p:nvPr/>
        </p:nvSpPr>
        <p:spPr>
          <a:xfrm>
            <a:off x="4526793" y="1624868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-b</a:t>
            </a:r>
            <a:endParaRPr dirty="0" sz="800" lang="en-US"/>
          </a:p>
        </p:txBody>
      </p:sp>
      <p:sp>
        <p:nvSpPr>
          <p:cNvPr id="1050129" name="Text 31"/>
          <p:cNvSpPr/>
          <p:nvPr/>
        </p:nvSpPr>
        <p:spPr>
          <a:xfrm>
            <a:off x="4665092" y="1624868"/>
            <a:ext cx="979336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hotfix/pdf-layout</a:t>
            </a:r>
            <a:endParaRPr dirty="0" sz="600" lang="en-US"/>
          </a:p>
        </p:txBody>
      </p:sp>
      <p:sp>
        <p:nvSpPr>
          <p:cNvPr id="1050130" name="Text 32"/>
          <p:cNvSpPr/>
          <p:nvPr/>
        </p:nvSpPr>
        <p:spPr>
          <a:xfrm>
            <a:off x="5494660" y="1624868"/>
            <a:ext cx="295037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50131" name="Text 33"/>
          <p:cNvSpPr/>
          <p:nvPr/>
        </p:nvSpPr>
        <p:spPr>
          <a:xfrm>
            <a:off x="3927611" y="1842306"/>
            <a:ext cx="2438863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2. Corregir el bug (encabezado PDF en QuestPDF)</a:t>
            </a:r>
            <a:endParaRPr dirty="0" sz="600" lang="en-US"/>
          </a:p>
        </p:txBody>
      </p:sp>
      <p:sp>
        <p:nvSpPr>
          <p:cNvPr id="1050132" name="Text 34"/>
          <p:cNvSpPr/>
          <p:nvPr/>
        </p:nvSpPr>
        <p:spPr>
          <a:xfrm>
            <a:off x="3927611" y="1951025"/>
            <a:ext cx="1742079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...editar PdfReportExporter.cs...</a:t>
            </a:r>
            <a:endParaRPr dirty="0" sz="600" lang="en-US"/>
          </a:p>
        </p:txBody>
      </p:sp>
      <p:sp>
        <p:nvSpPr>
          <p:cNvPr id="1050133" name="Text 35"/>
          <p:cNvSpPr/>
          <p:nvPr/>
        </p:nvSpPr>
        <p:spPr>
          <a:xfrm>
            <a:off x="3927611" y="2059744"/>
            <a:ext cx="221278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34" name="Text 36"/>
          <p:cNvSpPr/>
          <p:nvPr/>
        </p:nvSpPr>
        <p:spPr>
          <a:xfrm>
            <a:off x="3927611" y="2168463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35" name="Text 37"/>
          <p:cNvSpPr/>
          <p:nvPr/>
        </p:nvSpPr>
        <p:spPr>
          <a:xfrm>
            <a:off x="4434594" y="2168463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50136" name="Text 38"/>
          <p:cNvSpPr/>
          <p:nvPr/>
        </p:nvSpPr>
        <p:spPr>
          <a:xfrm>
            <a:off x="4572893" y="2168463"/>
            <a:ext cx="2140259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'fix(pdf): corregir encabezado en QuestPDF'</a:t>
            </a:r>
            <a:endParaRPr dirty="0" sz="600" lang="en-US"/>
          </a:p>
        </p:txBody>
      </p:sp>
      <p:sp>
        <p:nvSpPr>
          <p:cNvPr id="1050137" name="Text 39"/>
          <p:cNvSpPr/>
          <p:nvPr/>
        </p:nvSpPr>
        <p:spPr>
          <a:xfrm>
            <a:off x="3927611" y="2385901"/>
            <a:ext cx="1891321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 Merge a main con tag patch v1.1.1</a:t>
            </a:r>
            <a:endParaRPr dirty="0" sz="600" lang="en-US"/>
          </a:p>
        </p:txBody>
      </p:sp>
      <p:sp>
        <p:nvSpPr>
          <p:cNvPr id="1050138" name="Text 40"/>
          <p:cNvSpPr/>
          <p:nvPr/>
        </p:nvSpPr>
        <p:spPr>
          <a:xfrm>
            <a:off x="3927611" y="2494620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39" name="Text 41"/>
          <p:cNvSpPr/>
          <p:nvPr/>
        </p:nvSpPr>
        <p:spPr>
          <a:xfrm>
            <a:off x="4526793" y="2494620"/>
            <a:ext cx="295037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50140" name="Text 42"/>
          <p:cNvSpPr/>
          <p:nvPr/>
        </p:nvSpPr>
        <p:spPr>
          <a:xfrm>
            <a:off x="3927611" y="2603339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41" name="Text 43"/>
          <p:cNvSpPr/>
          <p:nvPr/>
        </p:nvSpPr>
        <p:spPr>
          <a:xfrm>
            <a:off x="4388607" y="2603339"/>
            <a:ext cx="461456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--no-ff</a:t>
            </a:r>
            <a:endParaRPr dirty="0" sz="800" lang="en-US"/>
          </a:p>
        </p:txBody>
      </p:sp>
      <p:sp>
        <p:nvSpPr>
          <p:cNvPr id="1050142" name="Text 44"/>
          <p:cNvSpPr/>
          <p:nvPr/>
        </p:nvSpPr>
        <p:spPr>
          <a:xfrm>
            <a:off x="4757403" y="2603339"/>
            <a:ext cx="979336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hotfix/pdf-layout</a:t>
            </a:r>
            <a:endParaRPr dirty="0" sz="600" lang="en-US"/>
          </a:p>
        </p:txBody>
      </p:sp>
      <p:sp>
        <p:nvSpPr>
          <p:cNvPr id="1050143" name="Text 45"/>
          <p:cNvSpPr/>
          <p:nvPr/>
        </p:nvSpPr>
        <p:spPr>
          <a:xfrm>
            <a:off x="5586971" y="2603339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50144" name="Text 46"/>
          <p:cNvSpPr/>
          <p:nvPr/>
        </p:nvSpPr>
        <p:spPr>
          <a:xfrm>
            <a:off x="5725269" y="2603339"/>
            <a:ext cx="1742079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'Merge hotfix/pdf-layout into main'</a:t>
            </a:r>
            <a:endParaRPr dirty="0" sz="600" lang="en-US"/>
          </a:p>
        </p:txBody>
      </p:sp>
      <p:sp>
        <p:nvSpPr>
          <p:cNvPr id="1050145" name="Text 47"/>
          <p:cNvSpPr/>
          <p:nvPr/>
        </p:nvSpPr>
        <p:spPr>
          <a:xfrm>
            <a:off x="3927611" y="2712058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46" name="Text 48"/>
          <p:cNvSpPr/>
          <p:nvPr/>
        </p:nvSpPr>
        <p:spPr>
          <a:xfrm>
            <a:off x="4296408" y="2712058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endParaRPr dirty="0" sz="800" lang="en-US"/>
          </a:p>
        </p:txBody>
      </p:sp>
      <p:sp>
        <p:nvSpPr>
          <p:cNvPr id="1050147" name="Text 49"/>
          <p:cNvSpPr/>
          <p:nvPr/>
        </p:nvSpPr>
        <p:spPr>
          <a:xfrm>
            <a:off x="4418077" y="2712058"/>
            <a:ext cx="428793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v1.1.1</a:t>
            </a:r>
            <a:endParaRPr dirty="0" sz="800" lang="en-US"/>
          </a:p>
        </p:txBody>
      </p:sp>
      <p:sp>
        <p:nvSpPr>
          <p:cNvPr id="1050148" name="Text 50"/>
          <p:cNvSpPr/>
          <p:nvPr/>
        </p:nvSpPr>
        <p:spPr>
          <a:xfrm>
            <a:off x="4757403" y="2712058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50149" name="Text 51"/>
          <p:cNvSpPr/>
          <p:nvPr/>
        </p:nvSpPr>
        <p:spPr>
          <a:xfrm>
            <a:off x="4895701" y="2712058"/>
            <a:ext cx="1692292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'Hotfix PDF: encabezado corregido'</a:t>
            </a:r>
            <a:endParaRPr dirty="0" sz="600" lang="en-US"/>
          </a:p>
        </p:txBody>
      </p:sp>
      <p:sp>
        <p:nvSpPr>
          <p:cNvPr id="1050150" name="Text 52"/>
          <p:cNvSpPr/>
          <p:nvPr/>
        </p:nvSpPr>
        <p:spPr>
          <a:xfrm>
            <a:off x="3927611" y="2820777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51" name="Text 53"/>
          <p:cNvSpPr/>
          <p:nvPr/>
        </p:nvSpPr>
        <p:spPr>
          <a:xfrm>
            <a:off x="4665092" y="2820777"/>
            <a:ext cx="295037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dirty="0" sz="800" lang="en-US"/>
          </a:p>
        </p:txBody>
      </p:sp>
      <p:sp>
        <p:nvSpPr>
          <p:cNvPr id="1050152" name="Text 54"/>
          <p:cNvSpPr/>
          <p:nvPr/>
        </p:nvSpPr>
        <p:spPr>
          <a:xfrm>
            <a:off x="4895590" y="2820777"/>
            <a:ext cx="395534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--tags</a:t>
            </a:r>
            <a:endParaRPr dirty="0" sz="800" lang="en-US"/>
          </a:p>
        </p:txBody>
      </p:sp>
      <p:sp>
        <p:nvSpPr>
          <p:cNvPr id="1050153" name="Text 55"/>
          <p:cNvSpPr/>
          <p:nvPr/>
        </p:nvSpPr>
        <p:spPr>
          <a:xfrm>
            <a:off x="3927611" y="3038215"/>
            <a:ext cx="1393688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# 4. Merge TAMBIÉN a develop</a:t>
            </a:r>
            <a:endParaRPr dirty="0" sz="600" lang="en-US"/>
          </a:p>
        </p:txBody>
      </p:sp>
      <p:sp>
        <p:nvSpPr>
          <p:cNvPr id="1050154" name="Text 56"/>
          <p:cNvSpPr/>
          <p:nvPr/>
        </p:nvSpPr>
        <p:spPr>
          <a:xfrm>
            <a:off x="3927611" y="3146933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55" name="Text 57"/>
          <p:cNvSpPr/>
          <p:nvPr/>
        </p:nvSpPr>
        <p:spPr>
          <a:xfrm>
            <a:off x="4521545" y="3146933"/>
            <a:ext cx="471952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50156" name="Text 58"/>
          <p:cNvSpPr/>
          <p:nvPr/>
        </p:nvSpPr>
        <p:spPr>
          <a:xfrm>
            <a:off x="3927611" y="3255652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57" name="Text 59"/>
          <p:cNvSpPr/>
          <p:nvPr/>
        </p:nvSpPr>
        <p:spPr>
          <a:xfrm>
            <a:off x="4388607" y="3255652"/>
            <a:ext cx="461456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--no-ff</a:t>
            </a:r>
            <a:endParaRPr dirty="0" sz="800" lang="en-US"/>
          </a:p>
        </p:txBody>
      </p:sp>
      <p:sp>
        <p:nvSpPr>
          <p:cNvPr id="1050158" name="Text 60"/>
          <p:cNvSpPr/>
          <p:nvPr/>
        </p:nvSpPr>
        <p:spPr>
          <a:xfrm>
            <a:off x="4757403" y="3255652"/>
            <a:ext cx="979336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hotfix/pdf-layout</a:t>
            </a:r>
            <a:endParaRPr dirty="0" sz="600" lang="en-US"/>
          </a:p>
        </p:txBody>
      </p:sp>
      <p:sp>
        <p:nvSpPr>
          <p:cNvPr id="1050159" name="Text 61"/>
          <p:cNvSpPr/>
          <p:nvPr/>
        </p:nvSpPr>
        <p:spPr>
          <a:xfrm>
            <a:off x="5586971" y="3255652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-m</a:t>
            </a:r>
            <a:endParaRPr dirty="0" sz="800" lang="en-US"/>
          </a:p>
        </p:txBody>
      </p:sp>
      <p:sp>
        <p:nvSpPr>
          <p:cNvPr id="1050160" name="Text 62"/>
          <p:cNvSpPr/>
          <p:nvPr/>
        </p:nvSpPr>
        <p:spPr>
          <a:xfrm>
            <a:off x="5725269" y="3255652"/>
            <a:ext cx="2140259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'Back-merge hotfix/pdf-layout into develop'</a:t>
            </a:r>
            <a:endParaRPr dirty="0" sz="600" lang="en-US"/>
          </a:p>
        </p:txBody>
      </p:sp>
      <p:sp>
        <p:nvSpPr>
          <p:cNvPr id="1050161" name="Text 63"/>
          <p:cNvSpPr/>
          <p:nvPr/>
        </p:nvSpPr>
        <p:spPr>
          <a:xfrm>
            <a:off x="3927611" y="3364371"/>
            <a:ext cx="22127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</a:t>
            </a:r>
            <a:endParaRPr dirty="0" sz="800" lang="en-US"/>
          </a:p>
        </p:txBody>
      </p:sp>
      <p:sp>
        <p:nvSpPr>
          <p:cNvPr id="1050162" name="Text 64"/>
          <p:cNvSpPr/>
          <p:nvPr/>
        </p:nvSpPr>
        <p:spPr>
          <a:xfrm>
            <a:off x="4659844" y="3364371"/>
            <a:ext cx="471952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endParaRPr dirty="0" sz="800" lang="en-US"/>
          </a:p>
        </p:txBody>
      </p:sp>
      <p:sp>
        <p:nvSpPr>
          <p:cNvPr id="1050163" name="Text 65"/>
          <p:cNvSpPr/>
          <p:nvPr/>
        </p:nvSpPr>
        <p:spPr>
          <a:xfrm>
            <a:off x="3927611" y="3581809"/>
            <a:ext cx="2339288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600" i="1" kern="0" lang="en-US" spc="8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5. Publicar nuevo artifact y desplegar a prod</a:t>
            </a:r>
            <a:endParaRPr dirty="0" sz="600" lang="en-US"/>
          </a:p>
        </p:txBody>
      </p:sp>
      <p:sp>
        <p:nvSpPr>
          <p:cNvPr id="1050164" name="Text 66"/>
          <p:cNvSpPr/>
          <p:nvPr/>
        </p:nvSpPr>
        <p:spPr>
          <a:xfrm>
            <a:off x="3920573" y="3690528"/>
            <a:ext cx="409611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dotnet</a:t>
            </a:r>
            <a:endParaRPr dirty="0" sz="800" lang="en-US"/>
          </a:p>
        </p:txBody>
      </p:sp>
      <p:sp>
        <p:nvSpPr>
          <p:cNvPr id="1050165" name="Text 67"/>
          <p:cNvSpPr/>
          <p:nvPr/>
        </p:nvSpPr>
        <p:spPr>
          <a:xfrm>
            <a:off x="4618992" y="3690528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-c</a:t>
            </a:r>
            <a:endParaRPr dirty="0" sz="800" lang="en-US"/>
          </a:p>
        </p:txBody>
      </p:sp>
      <p:sp>
        <p:nvSpPr>
          <p:cNvPr id="1050166" name="Text 68"/>
          <p:cNvSpPr/>
          <p:nvPr/>
        </p:nvSpPr>
        <p:spPr>
          <a:xfrm>
            <a:off x="5125975" y="3690528"/>
            <a:ext cx="147518" cy="91440"/>
          </a:xfrm>
          <a:prstGeom prst="rect"/>
          <a:noFill/>
        </p:spPr>
        <p:txBody>
          <a:bodyPr anchor="t" bIns="0" lIns="0" rIns="0" rtlCol="0" tIns="0" wrap="none">
            <a:normAutofit fontScale="25000" lnSpcReduction="20000"/>
          </a:bodyPr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-o</a:t>
            </a:r>
            <a:endParaRPr dirty="0" sz="800" lang="en-US"/>
          </a:p>
        </p:txBody>
      </p:sp>
      <p:sp>
        <p:nvSpPr>
          <p:cNvPr id="1050167" name="Text 69"/>
          <p:cNvSpPr/>
          <p:nvPr/>
        </p:nvSpPr>
        <p:spPr>
          <a:xfrm>
            <a:off x="3927611" y="3799247"/>
            <a:ext cx="147518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</a:t>
            </a:r>
            <a:endParaRPr dirty="0" sz="800" lang="en-US"/>
          </a:p>
        </p:txBody>
      </p:sp>
      <p:sp>
        <p:nvSpPr>
          <p:cNvPr id="1050168" name="Text 70"/>
          <p:cNvSpPr/>
          <p:nvPr/>
        </p:nvSpPr>
        <p:spPr>
          <a:xfrm>
            <a:off x="4740550" y="3799247"/>
            <a:ext cx="428793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v1.1.1</a:t>
            </a:r>
            <a:endParaRPr dirty="0" sz="800" lang="en-US"/>
          </a:p>
        </p:txBody>
      </p:sp>
      <p:sp>
        <p:nvSpPr>
          <p:cNvPr id="1050169" name="Text 71"/>
          <p:cNvSpPr/>
          <p:nvPr/>
        </p:nvSpPr>
        <p:spPr>
          <a:xfrm>
            <a:off x="6093730" y="3799247"/>
            <a:ext cx="461456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--title</a:t>
            </a:r>
            <a:endParaRPr dirty="0" sz="800" lang="en-US"/>
          </a:p>
        </p:txBody>
      </p:sp>
      <p:sp>
        <p:nvSpPr>
          <p:cNvPr id="1050170" name="Text 72"/>
          <p:cNvSpPr/>
          <p:nvPr/>
        </p:nvSpPr>
        <p:spPr>
          <a:xfrm>
            <a:off x="6462526" y="3799247"/>
            <a:ext cx="691353" cy="1254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856"/>
              </a:lnSpc>
              <a:buNone/>
            </a:pPr>
            <a:r>
              <a:rPr dirty="0" sz="6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'Hotfix PDF'</a:t>
            </a:r>
            <a:endParaRPr dirty="0" sz="600" lang="en-US"/>
          </a:p>
        </p:txBody>
      </p:sp>
      <p:sp>
        <p:nvSpPr>
          <p:cNvPr id="1050171" name="Text 73"/>
          <p:cNvSpPr/>
          <p:nvPr/>
        </p:nvSpPr>
        <p:spPr>
          <a:xfrm>
            <a:off x="3809740" y="4202646"/>
            <a:ext cx="4873377" cy="435769"/>
          </a:xfrm>
          <a:prstGeom prst="roundRect">
            <a:avLst>
              <a:gd name="adj" fmla="val 17486"/>
            </a:avLst>
          </a:prstGeom>
          <a:solidFill>
            <a:srgbClr val="1A1A1A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172" name="Text 74"/>
          <p:cNvSpPr/>
          <p:nvPr/>
        </p:nvSpPr>
        <p:spPr>
          <a:xfrm>
            <a:off x="4006193" y="4277655"/>
            <a:ext cx="2197373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HOTFIX</a:t>
            </a:r>
            <a:endParaRPr dirty="0" sz="800" lang="en-US"/>
          </a:p>
        </p:txBody>
      </p:sp>
      <p:sp>
        <p:nvSpPr>
          <p:cNvPr id="1050173" name="Text 75"/>
          <p:cNvSpPr/>
          <p:nvPr/>
        </p:nvSpPr>
        <p:spPr>
          <a:xfrm>
            <a:off x="4006193" y="4424102"/>
            <a:ext cx="2307101" cy="13930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 crítico en prod, </a:t>
            </a:r>
            <a:r>
              <a:rPr dirty="0" sz="800" kern="0" lang="en-US" spc="8">
                <a:solidFill>
                  <a:srgbClr val="F39C1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no puede esperar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dirty="0" sz="800" lang="en-US"/>
          </a:p>
        </p:txBody>
      </p:sp>
      <p:sp>
        <p:nvSpPr>
          <p:cNvPr id="1050174" name="Text 76"/>
          <p:cNvSpPr/>
          <p:nvPr/>
        </p:nvSpPr>
        <p:spPr>
          <a:xfrm>
            <a:off x="6382159" y="4277655"/>
            <a:ext cx="2197373" cy="119015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37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RELEASE</a:t>
            </a:r>
            <a:endParaRPr dirty="0" sz="800" lang="en-US"/>
          </a:p>
        </p:txBody>
      </p:sp>
      <p:sp>
        <p:nvSpPr>
          <p:cNvPr id="1050175" name="Text 77"/>
          <p:cNvSpPr/>
          <p:nvPr/>
        </p:nvSpPr>
        <p:spPr>
          <a:xfrm>
            <a:off x="6382159" y="4424102"/>
            <a:ext cx="2307101" cy="139303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Nueva feature </a:t>
            </a:r>
            <a:r>
              <a:rPr dirty="0" sz="800" kern="0" lang="en-US" spc="8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planificada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en el backlog.</a:t>
            </a:r>
            <a:endParaRPr dirty="0" sz="800" lang="en-US"/>
          </a:p>
        </p:txBody>
      </p:sp>
      <p:sp>
        <p:nvSpPr>
          <p:cNvPr id="1050176" name="Text 78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206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50180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181" name="Shape 1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182" name="Text 2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6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RIESGOS CON GITFLOW</a:t>
            </a:r>
            <a:endParaRPr dirty="0" sz="800" lang="en-US"/>
          </a:p>
        </p:txBody>
      </p:sp>
      <p:sp>
        <p:nvSpPr>
          <p:cNvPr id="1050183" name="Text 3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24 / 27</a:t>
            </a:r>
            <a:endParaRPr dirty="0" sz="619" lang="en-US"/>
          </a:p>
        </p:txBody>
      </p:sp>
      <p:sp>
        <p:nvSpPr>
          <p:cNvPr id="1050184" name="Text 4"/>
          <p:cNvSpPr/>
          <p:nvPr/>
        </p:nvSpPr>
        <p:spPr>
          <a:xfrm>
            <a:off x="457200" y="696516"/>
            <a:ext cx="5968246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Matriz de riesgos R1–R8 y mitigación con GitFlow/CI-CD</a:t>
            </a:r>
            <a:endParaRPr dirty="0" sz="1200" lang="en-US"/>
          </a:p>
        </p:txBody>
      </p:sp>
      <p:sp>
        <p:nvSpPr>
          <p:cNvPr id="1050185" name="Text 5"/>
          <p:cNvSpPr/>
          <p:nvPr/>
        </p:nvSpPr>
        <p:spPr>
          <a:xfrm>
            <a:off x="457200" y="987958"/>
            <a:ext cx="5425678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Cómo el flujo Git mitiga riesgos concretos del caso HabanaEntregas</a:t>
            </a:r>
            <a:endParaRPr dirty="0" sz="800" lang="en-US"/>
          </a:p>
        </p:txBody>
      </p:sp>
      <p:sp>
        <p:nvSpPr>
          <p:cNvPr id="1050186" name="Text 6"/>
          <p:cNvSpPr/>
          <p:nvPr/>
        </p:nvSpPr>
        <p:spPr>
          <a:xfrm>
            <a:off x="7057690" y="941738"/>
            <a:ext cx="760809" cy="196025"/>
          </a:xfrm>
          <a:prstGeom prst="roundRect">
            <a:avLst>
              <a:gd name="adj" fmla="val 4854215"/>
            </a:avLst>
          </a:prstGeom>
          <a:solidFill>
            <a:srgbClr val="F39C12">
              <a:alpha val="8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187" name="Text 7"/>
          <p:cNvSpPr/>
          <p:nvPr/>
        </p:nvSpPr>
        <p:spPr>
          <a:xfrm>
            <a:off x="6994712" y="952240"/>
            <a:ext cx="886765" cy="17502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 ALTO</a:t>
            </a:r>
            <a:endParaRPr dirty="0" sz="800" lang="en-US"/>
          </a:p>
        </p:txBody>
      </p:sp>
      <p:sp>
        <p:nvSpPr>
          <p:cNvPr id="1050188" name="Text 8"/>
          <p:cNvSpPr/>
          <p:nvPr/>
        </p:nvSpPr>
        <p:spPr>
          <a:xfrm>
            <a:off x="7875650" y="941738"/>
            <a:ext cx="811150" cy="196025"/>
          </a:xfrm>
          <a:prstGeom prst="roundRect">
            <a:avLst>
              <a:gd name="adj" fmla="val 4854215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189" name="Text 9"/>
          <p:cNvSpPr/>
          <p:nvPr/>
        </p:nvSpPr>
        <p:spPr>
          <a:xfrm>
            <a:off x="7800677" y="952240"/>
            <a:ext cx="961095" cy="17502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IMPACTO MEDIO</a:t>
            </a:r>
            <a:endParaRPr dirty="0" sz="800" lang="en-US"/>
          </a:p>
        </p:txBody>
      </p:sp>
      <p:graphicFrame>
        <p:nvGraphicFramePr>
          <p:cNvPr id="4194306" name="Table 0"/>
          <p:cNvGraphicFramePr>
            <a:graphicFrameLocks noGrp="1"/>
          </p:cNvGraphicFramePr>
          <p:nvPr/>
        </p:nvGraphicFramePr>
        <p:xfrm>
          <a:off x="457200" y="1212986"/>
          <a:ext cx="8215314" cy="3602355"/>
        </p:xfrm>
        <a:graphic>
          <a:graphicData uri="http://schemas.openxmlformats.org/drawingml/2006/table">
            <a:tbl>
              <a:tblPr/>
              <a:tblGrid>
                <a:gridCol w="357188"/>
                <a:gridCol w="1428750"/>
                <a:gridCol w="785813"/>
                <a:gridCol w="5643563"/>
              </a:tblGrid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ID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Riesgo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Prob / Impacto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E8E8E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Mitigación con GitFlow / CI-CD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 anchor="ctr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3"/>
                    </a:solidFill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R1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Cambios de requisitos (agregar medios de transporte)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Media / Alto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Backlog priorizado + ramas feature/ cortas + validación cliente por hito.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R2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Expectativas no cubiertas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Media / Alto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Demos al final de cada release + acta de acuerdos en GitHub Issues.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R3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Límites del proyecto poco definidos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Alta / Alto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Releases por hito + tags firmados + documento de alcance versionado en repo.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R4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Incompatibilidad con bibliotecas intranet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Media / Alto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Prototipo en H1 en feature/intranet-api + formato JSON validado en CI.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R5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Dependencia del directorio LDAP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Baja / Alto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Capa IAuthenticationService + mock LDAP en tests xUnit + feature/ldap-auth aislada.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R6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Curva de aprendizaje ASP.NET / EF Core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Media / Medio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Pair programming en cada rotación + CI temprano con tests xUnit como red de seguridad.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R7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Pérdida de código o datos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Baja / Alto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Git + ramas + commits frecuentes + backups + hotfix como última línea.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b="1" dirty="0" sz="800" lang="en-US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R8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FFFFFF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Baja usabilidad de la interfaz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9CA3A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Media / Medio</a:t>
                      </a:r>
                      <a:endParaRPr dirty="0" sz="800" lang="en-US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p>
                      <a:pPr algn="l" indent="0" marL="0">
                        <a:buNone/>
                      </a:pPr>
                      <a:r>
                        <a:rPr dirty="0" sz="800" lang="en-US">
                          <a:solidFill>
                            <a:srgbClr val="E8E8E8"/>
                          </a:solidFill>
                          <a:latin typeface="Carlito" pitchFamily="34" charset="0"/>
                          <a:ea typeface="Carlito" pitchFamily="34" charset="-122"/>
                          <a:cs typeface="Carlito" pitchFamily="34" charset="-120"/>
                        </a:rPr>
                        <a:t>Pruebas con usuarios por release + revisión navegación (≤3 niveles) en PR checklist.</a:t>
                      </a:r>
                      <a:endParaRPr dirty="0" sz="800" lang="en-US">
                        <a:latin typeface="Carlito" charset="0"/>
                        <a:ea typeface="Carlito" charset="0"/>
                        <a:cs typeface="Carlito" charset="0"/>
                      </a:endParaRPr>
                    </a:p>
                  </a:txBody>
                  <a:tcPr marL="57150" marR="85725" marT="85725" marB="57150">
                    <a:lnL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44" cap="flat" cmpd="sng" algn="ctr">
                      <a:solidFill>
                        <a:srgbClr val="2A2A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50190" name="Text 10"/>
          <p:cNvSpPr/>
          <p:nvPr/>
        </p:nvSpPr>
        <p:spPr>
          <a:xfrm>
            <a:off x="460772" y="4062115"/>
            <a:ext cx="3310905" cy="167878"/>
          </a:xfrm>
          <a:prstGeom prst="roundRect">
            <a:avLst>
              <a:gd name="adj" fmla="val 566808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191" name="Text 11"/>
          <p:cNvSpPr/>
          <p:nvPr/>
        </p:nvSpPr>
        <p:spPr>
          <a:xfrm>
            <a:off x="678656" y="4101405"/>
            <a:ext cx="3018011" cy="119703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Ref. Guía · Sección 10.1 · Matriz de riesgos y oportunidades</a:t>
            </a:r>
            <a:endParaRPr dirty="0" sz="619" lang="en-US"/>
          </a:p>
        </p:txBody>
      </p:sp>
      <p:sp>
        <p:nvSpPr>
          <p:cNvPr id="1050192" name="Text 12"/>
          <p:cNvSpPr/>
          <p:nvPr/>
        </p:nvSpPr>
        <p:spPr>
          <a:xfrm>
            <a:off x="535781" y="4096048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50193" name="Text 13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7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208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50197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198" name="Shape 1"/>
          <p:cNvSpPr/>
          <p:nvPr/>
        </p:nvSpPr>
        <p:spPr>
          <a:xfrm>
            <a:off x="457200" y="1216558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199" name="Shape 2"/>
          <p:cNvSpPr/>
          <p:nvPr/>
        </p:nvSpPr>
        <p:spPr>
          <a:xfrm>
            <a:off x="4511278" y="1212986"/>
            <a:ext cx="0" cy="15859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00" name="Shape 3"/>
          <p:cNvSpPr/>
          <p:nvPr/>
        </p:nvSpPr>
        <p:spPr>
          <a:xfrm>
            <a:off x="457200" y="2795327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01" name="Shape 4"/>
          <p:cNvSpPr/>
          <p:nvPr/>
        </p:nvSpPr>
        <p:spPr>
          <a:xfrm>
            <a:off x="471488" y="1212986"/>
            <a:ext cx="0" cy="1585913"/>
          </a:xfrm>
          <a:prstGeom prst="line"/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050202" name="Shape 5"/>
          <p:cNvSpPr/>
          <p:nvPr/>
        </p:nvSpPr>
        <p:spPr>
          <a:xfrm>
            <a:off x="4629150" y="1216558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03" name="Shape 6"/>
          <p:cNvSpPr/>
          <p:nvPr/>
        </p:nvSpPr>
        <p:spPr>
          <a:xfrm>
            <a:off x="8683228" y="1212986"/>
            <a:ext cx="0" cy="15859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04" name="Shape 7"/>
          <p:cNvSpPr/>
          <p:nvPr/>
        </p:nvSpPr>
        <p:spPr>
          <a:xfrm>
            <a:off x="4629150" y="2795327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05" name="Shape 8"/>
          <p:cNvSpPr/>
          <p:nvPr/>
        </p:nvSpPr>
        <p:spPr>
          <a:xfrm>
            <a:off x="4643438" y="1212986"/>
            <a:ext cx="0" cy="1585913"/>
          </a:xfrm>
          <a:prstGeom prst="line"/>
          <a:noFill/>
          <a:ln w="28575">
            <a:solidFill>
              <a:srgbClr val="4A90E2"/>
            </a:solidFill>
            <a:prstDash val="solid"/>
          </a:ln>
        </p:spPr>
      </p:sp>
      <p:sp>
        <p:nvSpPr>
          <p:cNvPr id="1050206" name="Shape 9"/>
          <p:cNvSpPr/>
          <p:nvPr/>
        </p:nvSpPr>
        <p:spPr>
          <a:xfrm>
            <a:off x="457200" y="2916771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07" name="Shape 10"/>
          <p:cNvSpPr/>
          <p:nvPr/>
        </p:nvSpPr>
        <p:spPr>
          <a:xfrm>
            <a:off x="4511278" y="2913199"/>
            <a:ext cx="0" cy="15859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08" name="Shape 11"/>
          <p:cNvSpPr/>
          <p:nvPr/>
        </p:nvSpPr>
        <p:spPr>
          <a:xfrm>
            <a:off x="457200" y="4495540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09" name="Shape 12"/>
          <p:cNvSpPr/>
          <p:nvPr/>
        </p:nvSpPr>
        <p:spPr>
          <a:xfrm>
            <a:off x="471488" y="2913199"/>
            <a:ext cx="0" cy="1585913"/>
          </a:xfrm>
          <a:prstGeom prst="line"/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050210" name="Shape 13"/>
          <p:cNvSpPr/>
          <p:nvPr/>
        </p:nvSpPr>
        <p:spPr>
          <a:xfrm>
            <a:off x="4629150" y="2916771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11" name="Shape 14"/>
          <p:cNvSpPr/>
          <p:nvPr/>
        </p:nvSpPr>
        <p:spPr>
          <a:xfrm>
            <a:off x="8683228" y="2913199"/>
            <a:ext cx="0" cy="158591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12" name="Shape 15"/>
          <p:cNvSpPr/>
          <p:nvPr/>
        </p:nvSpPr>
        <p:spPr>
          <a:xfrm>
            <a:off x="4629150" y="4495540"/>
            <a:ext cx="405765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13" name="Shape 16"/>
          <p:cNvSpPr/>
          <p:nvPr/>
        </p:nvSpPr>
        <p:spPr>
          <a:xfrm>
            <a:off x="4643438" y="2913199"/>
            <a:ext cx="0" cy="1585913"/>
          </a:xfrm>
          <a:prstGeom prst="line"/>
          <a:noFill/>
          <a:ln w="28575">
            <a:solidFill>
              <a:srgbClr val="F39C12"/>
            </a:solidFill>
            <a:prstDash val="solid"/>
          </a:ln>
        </p:spPr>
      </p:sp>
      <p:sp>
        <p:nvSpPr>
          <p:cNvPr id="1050214" name="Shape 17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15" name="Text 18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6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GESTIÓN DE RIESGOS CON GITFLOW</a:t>
            </a:r>
            <a:endParaRPr dirty="0" sz="800" lang="en-US"/>
          </a:p>
        </p:txBody>
      </p:sp>
      <p:sp>
        <p:nvSpPr>
          <p:cNvPr id="1050216" name="Text 19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 / 27</a:t>
            </a:r>
            <a:endParaRPr dirty="0" sz="619" lang="en-US"/>
          </a:p>
        </p:txBody>
      </p:sp>
      <p:sp>
        <p:nvSpPr>
          <p:cNvPr id="1050217" name="Text 20"/>
          <p:cNvSpPr/>
          <p:nvPr/>
        </p:nvSpPr>
        <p:spPr>
          <a:xfrm>
            <a:off x="457200" y="696516"/>
            <a:ext cx="4157071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Oportunidades O1–O4 y su explotación</a:t>
            </a:r>
            <a:endParaRPr dirty="0" sz="1200" lang="en-US"/>
          </a:p>
        </p:txBody>
      </p:sp>
      <p:sp>
        <p:nvSpPr>
          <p:cNvPr id="1050218" name="Text 21"/>
          <p:cNvSpPr/>
          <p:nvPr/>
        </p:nvSpPr>
        <p:spPr>
          <a:xfrm>
            <a:off x="457200" y="987958"/>
            <a:ext cx="3779155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731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Cómo convertir oportunidades del contexto en ventajas concretas con el flujo Git</a:t>
            </a:r>
            <a:endParaRPr dirty="0" sz="731" lang="en-US"/>
          </a:p>
        </p:txBody>
      </p:sp>
      <p:sp>
        <p:nvSpPr>
          <p:cNvPr id="1050219" name="Text 22"/>
          <p:cNvSpPr/>
          <p:nvPr/>
        </p:nvSpPr>
        <p:spPr>
          <a:xfrm>
            <a:off x="457200" y="1212986"/>
            <a:ext cx="4057650" cy="1585913"/>
          </a:xfrm>
          <a:prstGeom prst="roundRect">
            <a:avLst>
              <a:gd name="adj" fmla="val 6006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20" name="Text 23"/>
          <p:cNvSpPr/>
          <p:nvPr/>
        </p:nvSpPr>
        <p:spPr>
          <a:xfrm>
            <a:off x="614363" y="133443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27AE60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21" name="Text 24"/>
          <p:cNvSpPr/>
          <p:nvPr/>
        </p:nvSpPr>
        <p:spPr>
          <a:xfrm>
            <a:off x="651153" y="1371220"/>
            <a:ext cx="269319" cy="26931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828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dirty="0" sz="1828" lang="en-US"/>
          </a:p>
        </p:txBody>
      </p:sp>
      <p:sp>
        <p:nvSpPr>
          <p:cNvPr id="1050222" name="Text 25"/>
          <p:cNvSpPr/>
          <p:nvPr/>
        </p:nvSpPr>
        <p:spPr>
          <a:xfrm>
            <a:off x="3822699" y="1312999"/>
            <a:ext cx="556420" cy="336899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r" indent="0" marL="0">
              <a:lnSpc>
                <a:spcPts val="2475"/>
              </a:lnSpc>
              <a:buNone/>
            </a:pPr>
            <a:r>
              <a:rPr b="1" dirty="0" sz="2475" kern="0" lang="en-US" spc="-99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O1</a:t>
            </a:r>
            <a:endParaRPr dirty="0" sz="2475" lang="en-US"/>
          </a:p>
        </p:txBody>
      </p:sp>
      <p:sp>
        <p:nvSpPr>
          <p:cNvPr id="1050223" name="Text 26"/>
          <p:cNvSpPr/>
          <p:nvPr/>
        </p:nvSpPr>
        <p:spPr>
          <a:xfrm>
            <a:off x="2978617" y="1677330"/>
            <a:ext cx="1400502" cy="164592"/>
          </a:xfrm>
          <a:prstGeom prst="rect"/>
          <a:noFill/>
        </p:spPr>
        <p:txBody>
          <a:bodyPr anchor="t" bIns="0" lIns="0" rIns="0" rtlCol="0" tIns="0" wrap="none"/>
          <a:p>
            <a:pPr algn="r" indent="0" marL="0">
              <a:lnSpc>
                <a:spcPts val="844"/>
              </a:lnSpc>
              <a:buNone/>
            </a:pPr>
            <a:r>
              <a:rPr dirty="0" sz="600" kern="0" lang="en-US" spc="3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PROB: </a:t>
            </a:r>
            <a:r>
              <a:rPr dirty="0" sz="600" kern="0" lang="en-US" spc="34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r>
              <a:rPr dirty="0" sz="600" kern="0" lang="en-US" spc="3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IMPACTO: </a:t>
            </a:r>
            <a:r>
              <a:rPr dirty="0" sz="600" kern="0" lang="en-US" spc="34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dirty="0" sz="600" lang="en-US"/>
          </a:p>
        </p:txBody>
      </p:sp>
      <p:sp>
        <p:nvSpPr>
          <p:cNvPr id="1050224" name="Text 27"/>
          <p:cNvSpPr/>
          <p:nvPr/>
        </p:nvSpPr>
        <p:spPr>
          <a:xfrm>
            <a:off x="614363" y="1841636"/>
            <a:ext cx="3874484" cy="1573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48"/>
              </a:lnSpc>
              <a:buNone/>
            </a:pPr>
            <a:r>
              <a:rPr dirty="0" sz="956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Clientes disponibles y colaborativos</a:t>
            </a:r>
            <a:endParaRPr dirty="0" sz="956" lang="en-US"/>
          </a:p>
        </p:txBody>
      </p:sp>
      <p:sp>
        <p:nvSpPr>
          <p:cNvPr id="1050225" name="Text 28"/>
          <p:cNvSpPr/>
          <p:nvPr/>
        </p:nvSpPr>
        <p:spPr>
          <a:xfrm>
            <a:off x="614363" y="2044452"/>
            <a:ext cx="3764756" cy="15910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cliente asiste a demos y valida funcionalidad real, no simulada.</a:t>
            </a:r>
            <a:endParaRPr dirty="0" sz="800" lang="en-US"/>
          </a:p>
        </p:txBody>
      </p:sp>
      <p:sp>
        <p:nvSpPr>
          <p:cNvPr id="1050226" name="Text 29"/>
          <p:cNvSpPr/>
          <p:nvPr/>
        </p:nvSpPr>
        <p:spPr>
          <a:xfrm>
            <a:off x="617934" y="2398849"/>
            <a:ext cx="3757613" cy="275034"/>
          </a:xfrm>
          <a:prstGeom prst="roundRect">
            <a:avLst>
              <a:gd name="adj" fmla="val 3459745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27" name="Text 30"/>
          <p:cNvSpPr/>
          <p:nvPr/>
        </p:nvSpPr>
        <p:spPr>
          <a:xfrm>
            <a:off x="835819" y="2430996"/>
            <a:ext cx="3457017" cy="246459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86"/>
              </a:lnSpc>
              <a:buNone/>
            </a:pPr>
            <a:r>
              <a:rPr dirty="0" sz="600" kern="0" lang="en-US" spc="24">
                <a:solidFill>
                  <a:srgbClr val="27AE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ACCIÓN: demos al final de cada release (E1, E2, E3) + feedback en GitHub Issues + acta firmada</a:t>
            </a:r>
            <a:endParaRPr dirty="0" sz="600" lang="en-US"/>
          </a:p>
        </p:txBody>
      </p:sp>
      <p:sp>
        <p:nvSpPr>
          <p:cNvPr id="1050228" name="Text 31"/>
          <p:cNvSpPr/>
          <p:nvPr/>
        </p:nvSpPr>
        <p:spPr>
          <a:xfrm>
            <a:off x="692944" y="248636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◖</a:t>
            </a:r>
            <a:endParaRPr dirty="0" sz="984" lang="en-US"/>
          </a:p>
        </p:txBody>
      </p:sp>
      <p:sp>
        <p:nvSpPr>
          <p:cNvPr id="1050229" name="Text 32"/>
          <p:cNvSpPr/>
          <p:nvPr/>
        </p:nvSpPr>
        <p:spPr>
          <a:xfrm>
            <a:off x="4629150" y="1212986"/>
            <a:ext cx="4057650" cy="1585913"/>
          </a:xfrm>
          <a:prstGeom prst="roundRect">
            <a:avLst>
              <a:gd name="adj" fmla="val 6006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30" name="Text 33"/>
          <p:cNvSpPr/>
          <p:nvPr/>
        </p:nvSpPr>
        <p:spPr>
          <a:xfrm>
            <a:off x="4786313" y="1334430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4A90E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31" name="Text 34"/>
          <p:cNvSpPr/>
          <p:nvPr/>
        </p:nvSpPr>
        <p:spPr>
          <a:xfrm>
            <a:off x="4823103" y="1371220"/>
            <a:ext cx="269319" cy="26931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828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1828" lang="en-US"/>
          </a:p>
        </p:txBody>
      </p:sp>
      <p:sp>
        <p:nvSpPr>
          <p:cNvPr id="1050232" name="Text 35"/>
          <p:cNvSpPr/>
          <p:nvPr/>
        </p:nvSpPr>
        <p:spPr>
          <a:xfrm>
            <a:off x="7994649" y="1312999"/>
            <a:ext cx="556420" cy="336899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r" indent="0" marL="0">
              <a:lnSpc>
                <a:spcPts val="2475"/>
              </a:lnSpc>
              <a:buNone/>
            </a:pPr>
            <a:r>
              <a:rPr b="1" dirty="0" sz="2475" kern="0" lang="en-US" spc="-99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O2</a:t>
            </a:r>
            <a:endParaRPr dirty="0" sz="2475" lang="en-US"/>
          </a:p>
        </p:txBody>
      </p:sp>
      <p:sp>
        <p:nvSpPr>
          <p:cNvPr id="1050233" name="Text 36"/>
          <p:cNvSpPr/>
          <p:nvPr/>
        </p:nvSpPr>
        <p:spPr>
          <a:xfrm>
            <a:off x="7175825" y="1677330"/>
            <a:ext cx="1375243" cy="164592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lnSpc>
                <a:spcPts val="844"/>
              </a:lnSpc>
              <a:buNone/>
            </a:pPr>
            <a:r>
              <a:rPr dirty="0" sz="600" kern="0" lang="en-US" spc="3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PROB: </a:t>
            </a:r>
            <a:r>
              <a:rPr dirty="0" sz="600" kern="0" lang="en-US" spc="34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r>
              <a:rPr dirty="0" sz="600" kern="0" lang="en-US" spc="3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IMPACTO: </a:t>
            </a:r>
            <a:r>
              <a:rPr dirty="0" sz="600" kern="0" lang="en-US" spc="34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Medio</a:t>
            </a:r>
            <a:endParaRPr dirty="0" sz="600" lang="en-US"/>
          </a:p>
        </p:txBody>
      </p:sp>
      <p:sp>
        <p:nvSpPr>
          <p:cNvPr id="1050234" name="Text 37"/>
          <p:cNvSpPr/>
          <p:nvPr/>
        </p:nvSpPr>
        <p:spPr>
          <a:xfrm>
            <a:off x="4786313" y="1841636"/>
            <a:ext cx="3874484" cy="1573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48"/>
              </a:lnSpc>
              <a:buNone/>
            </a:pPr>
            <a:r>
              <a:rPr dirty="0" sz="956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Licencia SQL Server 2017 e IIS disponibles</a:t>
            </a:r>
            <a:endParaRPr dirty="0" sz="956" lang="en-US"/>
          </a:p>
        </p:txBody>
      </p:sp>
      <p:sp>
        <p:nvSpPr>
          <p:cNvPr id="1050235" name="Text 38"/>
          <p:cNvSpPr/>
          <p:nvPr/>
        </p:nvSpPr>
        <p:spPr>
          <a:xfrm>
            <a:off x="4786313" y="2044452"/>
            <a:ext cx="3764756" cy="15910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0"/>
              </a:lnSpc>
              <a:buNone/>
            </a:pPr>
            <a:r>
              <a:rPr dirty="0" sz="703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cliente provee servidor Windows + SQL Server + IIS desde el inicio del proyecto.</a:t>
            </a:r>
            <a:endParaRPr dirty="0" sz="703" lang="en-US"/>
          </a:p>
        </p:txBody>
      </p:sp>
      <p:sp>
        <p:nvSpPr>
          <p:cNvPr id="1050236" name="Text 39"/>
          <p:cNvSpPr/>
          <p:nvPr/>
        </p:nvSpPr>
        <p:spPr>
          <a:xfrm>
            <a:off x="4789884" y="2398849"/>
            <a:ext cx="3757613" cy="275034"/>
          </a:xfrm>
          <a:prstGeom prst="roundRect">
            <a:avLst>
              <a:gd name="adj" fmla="val 3459745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37" name="Text 40"/>
          <p:cNvSpPr/>
          <p:nvPr/>
        </p:nvSpPr>
        <p:spPr>
          <a:xfrm>
            <a:off x="5007769" y="2430996"/>
            <a:ext cx="3409020" cy="246459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86"/>
              </a:lnSpc>
              <a:buNone/>
            </a:pPr>
            <a:r>
              <a:rPr dirty="0" sz="600" kern="0" lang="en-US" spc="24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ACCIÓN: desplegar en entorno real desde H2 (staging) + pruebas de carga + smoke tests post-deploy</a:t>
            </a:r>
            <a:endParaRPr dirty="0" sz="600" lang="en-US"/>
          </a:p>
        </p:txBody>
      </p:sp>
      <p:sp>
        <p:nvSpPr>
          <p:cNvPr id="1050238" name="Text 41"/>
          <p:cNvSpPr/>
          <p:nvPr/>
        </p:nvSpPr>
        <p:spPr>
          <a:xfrm>
            <a:off x="4864894" y="248636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↑</a:t>
            </a:r>
            <a:endParaRPr dirty="0" sz="984" lang="en-US"/>
          </a:p>
        </p:txBody>
      </p:sp>
      <p:sp>
        <p:nvSpPr>
          <p:cNvPr id="1050239" name="Text 42"/>
          <p:cNvSpPr/>
          <p:nvPr/>
        </p:nvSpPr>
        <p:spPr>
          <a:xfrm>
            <a:off x="457200" y="2913199"/>
            <a:ext cx="4057650" cy="1585913"/>
          </a:xfrm>
          <a:prstGeom prst="roundRect">
            <a:avLst>
              <a:gd name="adj" fmla="val 6006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40" name="Text 43"/>
          <p:cNvSpPr/>
          <p:nvPr/>
        </p:nvSpPr>
        <p:spPr>
          <a:xfrm>
            <a:off x="614363" y="3034643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F6B35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41" name="Text 44"/>
          <p:cNvSpPr/>
          <p:nvPr/>
        </p:nvSpPr>
        <p:spPr>
          <a:xfrm>
            <a:off x="651153" y="3071433"/>
            <a:ext cx="269319" cy="26931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828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◯</a:t>
            </a:r>
            <a:endParaRPr dirty="0" sz="1828" lang="en-US"/>
          </a:p>
        </p:txBody>
      </p:sp>
      <p:sp>
        <p:nvSpPr>
          <p:cNvPr id="1050242" name="Text 45"/>
          <p:cNvSpPr/>
          <p:nvPr/>
        </p:nvSpPr>
        <p:spPr>
          <a:xfrm>
            <a:off x="3822699" y="3013211"/>
            <a:ext cx="556420" cy="336899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r" indent="0" marL="0">
              <a:lnSpc>
                <a:spcPts val="2475"/>
              </a:lnSpc>
              <a:buNone/>
            </a:pPr>
            <a:r>
              <a:rPr b="1" dirty="0" sz="2475" kern="0" lang="en-US" spc="-99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O3</a:t>
            </a:r>
            <a:endParaRPr dirty="0" sz="2475" lang="en-US"/>
          </a:p>
        </p:txBody>
      </p:sp>
      <p:sp>
        <p:nvSpPr>
          <p:cNvPr id="1050243" name="Text 46"/>
          <p:cNvSpPr/>
          <p:nvPr/>
        </p:nvSpPr>
        <p:spPr>
          <a:xfrm>
            <a:off x="3003875" y="3377543"/>
            <a:ext cx="1375243" cy="164592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lnSpc>
                <a:spcPts val="844"/>
              </a:lnSpc>
              <a:buNone/>
            </a:pPr>
            <a:r>
              <a:rPr dirty="0" sz="600" kern="0" lang="en-US" spc="3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PROB: </a:t>
            </a:r>
            <a:r>
              <a:rPr dirty="0" sz="600" kern="0" lang="en-US" spc="34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r>
              <a:rPr dirty="0" sz="600" kern="0" lang="en-US" spc="3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IMPACTO: </a:t>
            </a:r>
            <a:r>
              <a:rPr dirty="0" sz="600" kern="0" lang="en-US" spc="34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Medio</a:t>
            </a:r>
            <a:endParaRPr dirty="0" sz="600" lang="en-US"/>
          </a:p>
        </p:txBody>
      </p:sp>
      <p:sp>
        <p:nvSpPr>
          <p:cNvPr id="1050244" name="Text 47"/>
          <p:cNvSpPr/>
          <p:nvPr/>
        </p:nvSpPr>
        <p:spPr>
          <a:xfrm>
            <a:off x="614363" y="3541849"/>
            <a:ext cx="3874484" cy="1573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48"/>
              </a:lnSpc>
              <a:buNone/>
            </a:pPr>
            <a:r>
              <a:rPr dirty="0" sz="956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Conocimiento TI del cliente</a:t>
            </a:r>
            <a:endParaRPr dirty="0" sz="956" lang="en-US"/>
          </a:p>
        </p:txBody>
      </p:sp>
      <p:sp>
        <p:nvSpPr>
          <p:cNvPr id="1050245" name="Text 48"/>
          <p:cNvSpPr/>
          <p:nvPr/>
        </p:nvSpPr>
        <p:spPr>
          <a:xfrm>
            <a:off x="614363" y="3744664"/>
            <a:ext cx="3764756" cy="15910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0"/>
              </a:lnSpc>
              <a:buNone/>
            </a:pPr>
            <a:r>
              <a:rPr dirty="0" sz="703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cliente entiende de TI y puede validar prototipos técnicos antes de cada hito.</a:t>
            </a:r>
            <a:endParaRPr dirty="0" sz="703" lang="en-US"/>
          </a:p>
        </p:txBody>
      </p:sp>
      <p:sp>
        <p:nvSpPr>
          <p:cNvPr id="1050246" name="Text 49"/>
          <p:cNvSpPr/>
          <p:nvPr/>
        </p:nvSpPr>
        <p:spPr>
          <a:xfrm>
            <a:off x="617934" y="4099061"/>
            <a:ext cx="3757613" cy="275034"/>
          </a:xfrm>
          <a:prstGeom prst="roundRect">
            <a:avLst>
              <a:gd name="adj" fmla="val 345974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47" name="Text 50"/>
          <p:cNvSpPr/>
          <p:nvPr/>
        </p:nvSpPr>
        <p:spPr>
          <a:xfrm>
            <a:off x="835819" y="4131208"/>
            <a:ext cx="3457017" cy="246459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86"/>
              </a:lnSpc>
              <a:buNone/>
            </a:pPr>
            <a:r>
              <a:rPr dirty="0" sz="600" kern="0" lang="en-US" spc="24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ACCIÓN: co-crear prototipos en feature/intranet-api y feature/pdf-export + revisión técnica por par</a:t>
            </a:r>
            <a:endParaRPr dirty="0" sz="600" lang="en-US"/>
          </a:p>
        </p:txBody>
      </p:sp>
      <p:sp>
        <p:nvSpPr>
          <p:cNvPr id="1050248" name="Text 51"/>
          <p:cNvSpPr/>
          <p:nvPr/>
        </p:nvSpPr>
        <p:spPr>
          <a:xfrm>
            <a:off x="692944" y="4186572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✻</a:t>
            </a:r>
            <a:endParaRPr dirty="0" sz="984" lang="en-US"/>
          </a:p>
        </p:txBody>
      </p:sp>
      <p:sp>
        <p:nvSpPr>
          <p:cNvPr id="1050249" name="Text 52"/>
          <p:cNvSpPr/>
          <p:nvPr/>
        </p:nvSpPr>
        <p:spPr>
          <a:xfrm>
            <a:off x="4629150" y="2913199"/>
            <a:ext cx="4057650" cy="1585913"/>
          </a:xfrm>
          <a:prstGeom prst="roundRect">
            <a:avLst>
              <a:gd name="adj" fmla="val 6006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50" name="Text 53"/>
          <p:cNvSpPr/>
          <p:nvPr/>
        </p:nvSpPr>
        <p:spPr>
          <a:xfrm>
            <a:off x="4786313" y="3034643"/>
            <a:ext cx="342900" cy="342900"/>
          </a:xfrm>
          <a:prstGeom prst="roundRect">
            <a:avLst>
              <a:gd name="adj" fmla="val 33333"/>
            </a:avLst>
          </a:prstGeom>
          <a:solidFill>
            <a:srgbClr val="F39C1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51" name="Text 54"/>
          <p:cNvSpPr/>
          <p:nvPr/>
        </p:nvSpPr>
        <p:spPr>
          <a:xfrm>
            <a:off x="4823103" y="3071433"/>
            <a:ext cx="269319" cy="269319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828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♟</a:t>
            </a:r>
            <a:endParaRPr dirty="0" sz="1828" lang="en-US"/>
          </a:p>
        </p:txBody>
      </p:sp>
      <p:sp>
        <p:nvSpPr>
          <p:cNvPr id="1050252" name="Text 55"/>
          <p:cNvSpPr/>
          <p:nvPr/>
        </p:nvSpPr>
        <p:spPr>
          <a:xfrm>
            <a:off x="7994649" y="3013211"/>
            <a:ext cx="556420" cy="336899"/>
          </a:xfrm>
          <a:prstGeom prst="rect"/>
          <a:noFill/>
        </p:spPr>
        <p:txBody>
          <a:bodyPr anchor="t" bIns="0" lIns="0" rIns="0" rtlCol="0" tIns="0" wrap="none">
            <a:normAutofit/>
          </a:bodyPr>
          <a:p>
            <a:pPr algn="r" indent="0" marL="0">
              <a:lnSpc>
                <a:spcPts val="2475"/>
              </a:lnSpc>
              <a:buNone/>
            </a:pPr>
            <a:r>
              <a:rPr b="1" dirty="0" sz="2475" kern="0" lang="en-US" spc="-99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O4</a:t>
            </a:r>
            <a:endParaRPr dirty="0" sz="2475" lang="en-US"/>
          </a:p>
        </p:txBody>
      </p:sp>
      <p:sp>
        <p:nvSpPr>
          <p:cNvPr id="1050253" name="Text 56"/>
          <p:cNvSpPr/>
          <p:nvPr/>
        </p:nvSpPr>
        <p:spPr>
          <a:xfrm>
            <a:off x="7150567" y="3377543"/>
            <a:ext cx="1400502" cy="164592"/>
          </a:xfrm>
          <a:prstGeom prst="rect"/>
          <a:noFill/>
        </p:spPr>
        <p:txBody>
          <a:bodyPr anchor="t" bIns="0" lIns="0" rIns="0" rtlCol="0" tIns="0" wrap="none"/>
          <a:p>
            <a:pPr algn="r" indent="0" marL="0">
              <a:lnSpc>
                <a:spcPts val="844"/>
              </a:lnSpc>
              <a:buNone/>
            </a:pPr>
            <a:r>
              <a:rPr dirty="0" sz="600" kern="0" lang="en-US" spc="3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PROB: </a:t>
            </a:r>
            <a:r>
              <a:rPr dirty="0" sz="600" kern="0" lang="en-US" spc="34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Alta</a:t>
            </a:r>
            <a:r>
              <a:rPr dirty="0" sz="600" kern="0" lang="en-US" spc="34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· IMPACTO: </a:t>
            </a:r>
            <a:r>
              <a:rPr dirty="0" sz="600" kern="0" lang="en-US" spc="34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Alto</a:t>
            </a:r>
            <a:endParaRPr dirty="0" sz="600" lang="en-US"/>
          </a:p>
        </p:txBody>
      </p:sp>
      <p:sp>
        <p:nvSpPr>
          <p:cNvPr id="1050254" name="Text 57"/>
          <p:cNvSpPr/>
          <p:nvPr/>
        </p:nvSpPr>
        <p:spPr>
          <a:xfrm>
            <a:off x="4786313" y="3541849"/>
            <a:ext cx="3874484" cy="15731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148"/>
              </a:lnSpc>
              <a:buNone/>
            </a:pPr>
            <a:r>
              <a:rPr dirty="0" sz="956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Equipo de 5 estudiantes con roles definidos</a:t>
            </a:r>
            <a:endParaRPr dirty="0" sz="956" lang="en-US"/>
          </a:p>
        </p:txBody>
      </p:sp>
      <p:sp>
        <p:nvSpPr>
          <p:cNvPr id="1050255" name="Text 58"/>
          <p:cNvSpPr/>
          <p:nvPr/>
        </p:nvSpPr>
        <p:spPr>
          <a:xfrm>
            <a:off x="4786313" y="3744664"/>
            <a:ext cx="3764756" cy="15910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20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5 roles rotativos garantizan cobertura integral del proyecto.</a:t>
            </a:r>
            <a:endParaRPr dirty="0" sz="800" lang="en-US"/>
          </a:p>
        </p:txBody>
      </p:sp>
      <p:sp>
        <p:nvSpPr>
          <p:cNvPr id="1050256" name="Text 59"/>
          <p:cNvSpPr/>
          <p:nvPr/>
        </p:nvSpPr>
        <p:spPr>
          <a:xfrm>
            <a:off x="4789884" y="4099061"/>
            <a:ext cx="3757613" cy="275034"/>
          </a:xfrm>
          <a:prstGeom prst="roundRect">
            <a:avLst>
              <a:gd name="adj" fmla="val 3459745"/>
            </a:avLst>
          </a:prstGeom>
          <a:solidFill>
            <a:srgbClr val="F39C12">
              <a:alpha val="8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57" name="Text 60"/>
          <p:cNvSpPr/>
          <p:nvPr/>
        </p:nvSpPr>
        <p:spPr>
          <a:xfrm>
            <a:off x="5007769" y="4131208"/>
            <a:ext cx="3264917" cy="246459"/>
          </a:xfrm>
          <a:prstGeom prst="rect"/>
          <a:noFill/>
        </p:spPr>
        <p:txBody>
          <a:bodyPr anchor="t" bIns="21431" lIns="71438" rIns="71438" rtlCol="0" tIns="21431" wrap="square"/>
          <a:p>
            <a:pPr algn="l" indent="0" marL="0">
              <a:lnSpc>
                <a:spcPts val="886"/>
              </a:lnSpc>
              <a:buNone/>
            </a:pPr>
            <a:r>
              <a:rPr dirty="0" sz="600" kern="0" lang="en-US" spc="24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ACCIÓN: rotación de roles por release + especialización progresiva + mentoría interna documentada en wiki del repo</a:t>
            </a:r>
            <a:endParaRPr dirty="0" sz="600" lang="en-US"/>
          </a:p>
        </p:txBody>
      </p:sp>
      <p:sp>
        <p:nvSpPr>
          <p:cNvPr id="1050258" name="Text 61"/>
          <p:cNvSpPr/>
          <p:nvPr/>
        </p:nvSpPr>
        <p:spPr>
          <a:xfrm>
            <a:off x="4864894" y="4186572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dirty="0" sz="984" lang="en-US"/>
          </a:p>
        </p:txBody>
      </p:sp>
      <p:sp>
        <p:nvSpPr>
          <p:cNvPr id="1050259" name="Text 62"/>
          <p:cNvSpPr/>
          <p:nvPr/>
        </p:nvSpPr>
        <p:spPr>
          <a:xfrm>
            <a:off x="460772" y="4588408"/>
            <a:ext cx="1902582" cy="167878"/>
          </a:xfrm>
          <a:prstGeom prst="roundRect">
            <a:avLst>
              <a:gd name="adj" fmla="val 5668089"/>
            </a:avLst>
          </a:prstGeom>
          <a:solidFill>
            <a:srgbClr val="FFFFFF">
              <a:alpha val="2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60" name="Text 63"/>
          <p:cNvSpPr/>
          <p:nvPr/>
        </p:nvSpPr>
        <p:spPr>
          <a:xfrm>
            <a:off x="678656" y="4627699"/>
            <a:ext cx="1609688" cy="119703"/>
          </a:xfrm>
          <a:prstGeom prst="rect"/>
          <a:noFill/>
        </p:spPr>
        <p:txBody>
          <a:bodyPr anchor="t" bIns="21431" lIns="71438" rIns="71438" rtlCol="0" tIns="21431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Ref. Guía · Sección 10.1 · O1–O4</a:t>
            </a:r>
            <a:endParaRPr dirty="0" sz="619" lang="en-US"/>
          </a:p>
        </p:txBody>
      </p:sp>
      <p:sp>
        <p:nvSpPr>
          <p:cNvPr id="1050261" name="Text 64"/>
          <p:cNvSpPr/>
          <p:nvPr/>
        </p:nvSpPr>
        <p:spPr>
          <a:xfrm>
            <a:off x="535781" y="4622341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50262" name="Text 65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0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210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50266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67" name="Shape 1"/>
          <p:cNvSpPr/>
          <p:nvPr/>
        </p:nvSpPr>
        <p:spPr>
          <a:xfrm>
            <a:off x="457200" y="1245133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68" name="Shape 2"/>
          <p:cNvSpPr/>
          <p:nvPr/>
        </p:nvSpPr>
        <p:spPr>
          <a:xfrm>
            <a:off x="8683228" y="1241561"/>
            <a:ext cx="0" cy="50006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69" name="Shape 3"/>
          <p:cNvSpPr/>
          <p:nvPr/>
        </p:nvSpPr>
        <p:spPr>
          <a:xfrm>
            <a:off x="457200" y="1738052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70" name="Shape 4"/>
          <p:cNvSpPr/>
          <p:nvPr/>
        </p:nvSpPr>
        <p:spPr>
          <a:xfrm>
            <a:off x="471488" y="1241561"/>
            <a:ext cx="0" cy="500063"/>
          </a:xfrm>
          <a:prstGeom prst="line"/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050271" name="Shape 5"/>
          <p:cNvSpPr/>
          <p:nvPr/>
        </p:nvSpPr>
        <p:spPr>
          <a:xfrm>
            <a:off x="457200" y="1816633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72" name="Shape 6"/>
          <p:cNvSpPr/>
          <p:nvPr/>
        </p:nvSpPr>
        <p:spPr>
          <a:xfrm>
            <a:off x="8683228" y="1813061"/>
            <a:ext cx="0" cy="50006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73" name="Shape 7"/>
          <p:cNvSpPr/>
          <p:nvPr/>
        </p:nvSpPr>
        <p:spPr>
          <a:xfrm>
            <a:off x="457200" y="2309552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74" name="Shape 8"/>
          <p:cNvSpPr/>
          <p:nvPr/>
        </p:nvSpPr>
        <p:spPr>
          <a:xfrm>
            <a:off x="471488" y="1813061"/>
            <a:ext cx="0" cy="500063"/>
          </a:xfrm>
          <a:prstGeom prst="line"/>
          <a:noFill/>
          <a:ln w="28575">
            <a:solidFill>
              <a:srgbClr val="FF6B35"/>
            </a:solidFill>
            <a:prstDash val="solid"/>
          </a:ln>
        </p:spPr>
      </p:sp>
      <p:sp>
        <p:nvSpPr>
          <p:cNvPr id="1050275" name="Shape 9"/>
          <p:cNvSpPr/>
          <p:nvPr/>
        </p:nvSpPr>
        <p:spPr>
          <a:xfrm>
            <a:off x="457200" y="2388133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76" name="Shape 10"/>
          <p:cNvSpPr/>
          <p:nvPr/>
        </p:nvSpPr>
        <p:spPr>
          <a:xfrm>
            <a:off x="8683228" y="2384561"/>
            <a:ext cx="0" cy="50006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77" name="Shape 11"/>
          <p:cNvSpPr/>
          <p:nvPr/>
        </p:nvSpPr>
        <p:spPr>
          <a:xfrm>
            <a:off x="457200" y="2881052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78" name="Shape 12"/>
          <p:cNvSpPr/>
          <p:nvPr/>
        </p:nvSpPr>
        <p:spPr>
          <a:xfrm>
            <a:off x="471488" y="2384561"/>
            <a:ext cx="0" cy="500063"/>
          </a:xfrm>
          <a:prstGeom prst="line"/>
          <a:noFill/>
          <a:ln w="28575">
            <a:solidFill>
              <a:srgbClr val="4A90E2"/>
            </a:solidFill>
            <a:prstDash val="solid"/>
          </a:ln>
        </p:spPr>
      </p:sp>
      <p:sp>
        <p:nvSpPr>
          <p:cNvPr id="1050279" name="Shape 13"/>
          <p:cNvSpPr/>
          <p:nvPr/>
        </p:nvSpPr>
        <p:spPr>
          <a:xfrm>
            <a:off x="457200" y="2959633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80" name="Shape 14"/>
          <p:cNvSpPr/>
          <p:nvPr/>
        </p:nvSpPr>
        <p:spPr>
          <a:xfrm>
            <a:off x="8683228" y="2956061"/>
            <a:ext cx="0" cy="50006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81" name="Shape 15"/>
          <p:cNvSpPr/>
          <p:nvPr/>
        </p:nvSpPr>
        <p:spPr>
          <a:xfrm>
            <a:off x="457200" y="3452552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82" name="Shape 16"/>
          <p:cNvSpPr/>
          <p:nvPr/>
        </p:nvSpPr>
        <p:spPr>
          <a:xfrm>
            <a:off x="471488" y="2956061"/>
            <a:ext cx="0" cy="500063"/>
          </a:xfrm>
          <a:prstGeom prst="line"/>
          <a:noFill/>
          <a:ln w="28575">
            <a:solidFill>
              <a:srgbClr val="F39C12"/>
            </a:solidFill>
            <a:prstDash val="solid"/>
          </a:ln>
        </p:spPr>
      </p:sp>
      <p:sp>
        <p:nvSpPr>
          <p:cNvPr id="1050283" name="Shape 17"/>
          <p:cNvSpPr/>
          <p:nvPr/>
        </p:nvSpPr>
        <p:spPr>
          <a:xfrm>
            <a:off x="457200" y="3531133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84" name="Shape 18"/>
          <p:cNvSpPr/>
          <p:nvPr/>
        </p:nvSpPr>
        <p:spPr>
          <a:xfrm>
            <a:off x="8683228" y="3527561"/>
            <a:ext cx="0" cy="500063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85" name="Shape 19"/>
          <p:cNvSpPr/>
          <p:nvPr/>
        </p:nvSpPr>
        <p:spPr>
          <a:xfrm>
            <a:off x="457200" y="4024052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86" name="Shape 20"/>
          <p:cNvSpPr/>
          <p:nvPr/>
        </p:nvSpPr>
        <p:spPr>
          <a:xfrm>
            <a:off x="471488" y="3527561"/>
            <a:ext cx="0" cy="500063"/>
          </a:xfrm>
          <a:prstGeom prst="line"/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050287" name="Shape 21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288" name="Text 22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7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</a:t>
            </a:r>
            <a:endParaRPr dirty="0" sz="800" lang="en-US"/>
          </a:p>
        </p:txBody>
      </p:sp>
      <p:sp>
        <p:nvSpPr>
          <p:cNvPr id="1050289" name="Text 23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26 / 27</a:t>
            </a:r>
            <a:endParaRPr dirty="0" sz="619" lang="en-US"/>
          </a:p>
        </p:txBody>
      </p:sp>
      <p:sp>
        <p:nvSpPr>
          <p:cNvPr id="1050290" name="Text 24"/>
          <p:cNvSpPr/>
          <p:nvPr/>
        </p:nvSpPr>
        <p:spPr>
          <a:xfrm>
            <a:off x="457200" y="696516"/>
            <a:ext cx="8636000" cy="264011"/>
          </a:xfrm>
          <a:prstGeom prst="rect"/>
          <a:noFill/>
        </p:spPr>
        <p:txBody>
          <a:bodyPr anchor="t" bIns="0" lIns="0" rIns="0" rtlCol="0" tIns="0" wrap="square">
            <a:noAutofit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2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Conclusiones y buenas prácticas</a:t>
            </a:r>
            <a:endParaRPr dirty="0" sz="1200" lang="en-US"/>
          </a:p>
        </p:txBody>
      </p:sp>
      <p:sp>
        <p:nvSpPr>
          <p:cNvPr id="1050291" name="Text 25"/>
          <p:cNvSpPr/>
          <p:nvPr/>
        </p:nvSpPr>
        <p:spPr>
          <a:xfrm>
            <a:off x="457200" y="987958"/>
            <a:ext cx="8229600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Síntesis del taller · conexión con el proyecto final</a:t>
            </a:r>
            <a:endParaRPr dirty="0" sz="800" lang="en-US"/>
          </a:p>
        </p:txBody>
      </p:sp>
      <p:sp>
        <p:nvSpPr>
          <p:cNvPr id="1050292" name="Text 26"/>
          <p:cNvSpPr/>
          <p:nvPr/>
        </p:nvSpPr>
        <p:spPr>
          <a:xfrm>
            <a:off x="457200" y="1241561"/>
            <a:ext cx="8229600" cy="500063"/>
          </a:xfrm>
          <a:prstGeom prst="roundRect">
            <a:avLst>
              <a:gd name="adj" fmla="val 15238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93" name="Text 27"/>
          <p:cNvSpPr/>
          <p:nvPr/>
        </p:nvSpPr>
        <p:spPr>
          <a:xfrm>
            <a:off x="600075" y="1334430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27AE60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94" name="Text 28"/>
          <p:cNvSpPr/>
          <p:nvPr/>
        </p:nvSpPr>
        <p:spPr>
          <a:xfrm>
            <a:off x="632936" y="1367291"/>
            <a:ext cx="248602" cy="24860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688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⌇</a:t>
            </a:r>
            <a:endParaRPr dirty="0" sz="1688" lang="en-US"/>
          </a:p>
        </p:txBody>
      </p:sp>
      <p:sp>
        <p:nvSpPr>
          <p:cNvPr id="1050295" name="Text 29"/>
          <p:cNvSpPr/>
          <p:nvPr/>
        </p:nvSpPr>
        <p:spPr>
          <a:xfrm>
            <a:off x="1005348" y="1372270"/>
            <a:ext cx="18422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b="1" dirty="0" sz="800" kern="0" lang="en-US" spc="37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800" lang="en-US"/>
          </a:p>
        </p:txBody>
      </p:sp>
      <p:sp>
        <p:nvSpPr>
          <p:cNvPr id="1050296" name="Text 30"/>
          <p:cNvSpPr/>
          <p:nvPr/>
        </p:nvSpPr>
        <p:spPr>
          <a:xfrm>
            <a:off x="1175370" y="1343695"/>
            <a:ext cx="7389986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GITFLOW DA TRAZABILIDAD</a:t>
            </a:r>
            <a:endParaRPr dirty="0" sz="800" lang="en-US"/>
          </a:p>
        </p:txBody>
      </p:sp>
      <p:sp>
        <p:nvSpPr>
          <p:cNvPr id="1050297" name="Text 31"/>
          <p:cNvSpPr/>
          <p:nvPr/>
        </p:nvSpPr>
        <p:spPr>
          <a:xfrm>
            <a:off x="1014413" y="1508001"/>
            <a:ext cx="7550944" cy="14075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675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hito (H1–H4) se entrega como release etiquetada (</a:t>
            </a:r>
            <a:r>
              <a:rPr dirty="0" sz="675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v1.0-E1</a:t>
            </a:r>
            <a:r>
              <a:rPr dirty="0" sz="675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dirty="0" sz="675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v1.1-E2</a:t>
            </a:r>
            <a:r>
              <a:rPr dirty="0" sz="675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</a:t>
            </a:r>
            <a:r>
              <a:rPr dirty="0" sz="675" kern="0" lang="en-US" spc="8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v2.0-E3</a:t>
            </a:r>
            <a:r>
              <a:rPr dirty="0" sz="675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) sobre </a:t>
            </a:r>
            <a:r>
              <a:rPr dirty="0" sz="675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dirty="0" sz="675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con histórico completo de features, releases y hotfixes.</a:t>
            </a:r>
            <a:endParaRPr dirty="0" sz="675" lang="en-US"/>
          </a:p>
        </p:txBody>
      </p:sp>
      <p:sp>
        <p:nvSpPr>
          <p:cNvPr id="1050298" name="Text 32"/>
          <p:cNvSpPr/>
          <p:nvPr/>
        </p:nvSpPr>
        <p:spPr>
          <a:xfrm>
            <a:off x="457200" y="1813061"/>
            <a:ext cx="8229600" cy="500063"/>
          </a:xfrm>
          <a:prstGeom prst="roundRect">
            <a:avLst>
              <a:gd name="adj" fmla="val 15238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299" name="Text 33"/>
          <p:cNvSpPr/>
          <p:nvPr/>
        </p:nvSpPr>
        <p:spPr>
          <a:xfrm>
            <a:off x="600075" y="1905930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FF6B35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00" name="Text 34"/>
          <p:cNvSpPr/>
          <p:nvPr/>
        </p:nvSpPr>
        <p:spPr>
          <a:xfrm>
            <a:off x="632936" y="1938791"/>
            <a:ext cx="248602" cy="24860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688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dirty="0" sz="1688" lang="en-US"/>
          </a:p>
        </p:txBody>
      </p:sp>
      <p:sp>
        <p:nvSpPr>
          <p:cNvPr id="1050301" name="Text 35"/>
          <p:cNvSpPr/>
          <p:nvPr/>
        </p:nvSpPr>
        <p:spPr>
          <a:xfrm>
            <a:off x="1005348" y="1943770"/>
            <a:ext cx="18422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b="1" dirty="0" sz="800" kern="0" lang="en-US" spc="37">
                <a:solidFill>
                  <a:srgbClr val="FF6B35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dirty="0" sz="800" lang="en-US"/>
          </a:p>
        </p:txBody>
      </p:sp>
      <p:sp>
        <p:nvSpPr>
          <p:cNvPr id="1050302" name="Text 36"/>
          <p:cNvSpPr/>
          <p:nvPr/>
        </p:nvSpPr>
        <p:spPr>
          <a:xfrm>
            <a:off x="1175370" y="1915195"/>
            <a:ext cx="7389986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 REDUCE RIESGO E INTEGRA TEMPRANO</a:t>
            </a:r>
            <a:endParaRPr dirty="0" sz="800" lang="en-US"/>
          </a:p>
        </p:txBody>
      </p:sp>
      <p:sp>
        <p:nvSpPr>
          <p:cNvPr id="1050303" name="Text 37"/>
          <p:cNvSpPr/>
          <p:nvPr/>
        </p:nvSpPr>
        <p:spPr>
          <a:xfrm>
            <a:off x="1014413" y="2079501"/>
            <a:ext cx="7550944" cy="14075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675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Cada push dispara build + tests </a:t>
            </a:r>
            <a:r>
              <a:rPr dirty="0" sz="675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xUnit</a:t>
            </a:r>
            <a:r>
              <a:rPr dirty="0" sz="675" kern="0" lang="en-US" spc="8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+ cobertura ≥60%, garantizando que </a:t>
            </a:r>
            <a:r>
              <a:rPr dirty="0" sz="675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r>
              <a:rPr dirty="0" sz="675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siempre sea desplegable y mitigando R6 (curva aprendizaje) y R7 (pérdida de código).</a:t>
            </a:r>
            <a:endParaRPr dirty="0" sz="675" lang="en-US"/>
          </a:p>
        </p:txBody>
      </p:sp>
      <p:sp>
        <p:nvSpPr>
          <p:cNvPr id="1050304" name="Text 38"/>
          <p:cNvSpPr/>
          <p:nvPr/>
        </p:nvSpPr>
        <p:spPr>
          <a:xfrm>
            <a:off x="457200" y="2384561"/>
            <a:ext cx="8229600" cy="500063"/>
          </a:xfrm>
          <a:prstGeom prst="roundRect">
            <a:avLst>
              <a:gd name="adj" fmla="val 15238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05" name="Text 39"/>
          <p:cNvSpPr/>
          <p:nvPr/>
        </p:nvSpPr>
        <p:spPr>
          <a:xfrm>
            <a:off x="600075" y="2477430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4A90E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06" name="Text 40"/>
          <p:cNvSpPr/>
          <p:nvPr/>
        </p:nvSpPr>
        <p:spPr>
          <a:xfrm>
            <a:off x="632936" y="2510291"/>
            <a:ext cx="248602" cy="24860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688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⌧</a:t>
            </a:r>
            <a:endParaRPr dirty="0" sz="1688" lang="en-US"/>
          </a:p>
        </p:txBody>
      </p:sp>
      <p:sp>
        <p:nvSpPr>
          <p:cNvPr id="1050307" name="Text 41"/>
          <p:cNvSpPr/>
          <p:nvPr/>
        </p:nvSpPr>
        <p:spPr>
          <a:xfrm>
            <a:off x="1005348" y="2515270"/>
            <a:ext cx="18422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b="1" dirty="0" sz="800" kern="0" lang="en-US" spc="37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dirty="0" sz="800" lang="en-US"/>
          </a:p>
        </p:txBody>
      </p:sp>
      <p:sp>
        <p:nvSpPr>
          <p:cNvPr id="1050308" name="Text 42"/>
          <p:cNvSpPr/>
          <p:nvPr/>
        </p:nvSpPr>
        <p:spPr>
          <a:xfrm>
            <a:off x="1175370" y="2486695"/>
            <a:ext cx="7389986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TAGS Y RELEASES = ENTREGABLES E1–E3</a:t>
            </a:r>
            <a:endParaRPr dirty="0" sz="800" lang="en-US"/>
          </a:p>
        </p:txBody>
      </p:sp>
      <p:sp>
        <p:nvSpPr>
          <p:cNvPr id="1050309" name="Text 43"/>
          <p:cNvSpPr/>
          <p:nvPr/>
        </p:nvSpPr>
        <p:spPr>
          <a:xfrm>
            <a:off x="1014413" y="2651001"/>
            <a:ext cx="7550944" cy="14075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El cliente recibe artifacts 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zip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publicados en </a:t>
            </a:r>
            <a:r>
              <a:rPr dirty="0" sz="800" kern="0" lang="en-US" spc="8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Releases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con acta firmada y UAT previo.</a:t>
            </a:r>
            <a:endParaRPr dirty="0" sz="800" lang="en-US"/>
          </a:p>
        </p:txBody>
      </p:sp>
      <p:sp>
        <p:nvSpPr>
          <p:cNvPr id="1050310" name="Text 44"/>
          <p:cNvSpPr/>
          <p:nvPr/>
        </p:nvSpPr>
        <p:spPr>
          <a:xfrm>
            <a:off x="457200" y="2956061"/>
            <a:ext cx="8229600" cy="500063"/>
          </a:xfrm>
          <a:prstGeom prst="roundRect">
            <a:avLst>
              <a:gd name="adj" fmla="val 15238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11" name="Text 45"/>
          <p:cNvSpPr/>
          <p:nvPr/>
        </p:nvSpPr>
        <p:spPr>
          <a:xfrm>
            <a:off x="600075" y="3048930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F39C12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12" name="Text 46"/>
          <p:cNvSpPr/>
          <p:nvPr/>
        </p:nvSpPr>
        <p:spPr>
          <a:xfrm>
            <a:off x="632936" y="3081791"/>
            <a:ext cx="248602" cy="24860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688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⚒</a:t>
            </a:r>
            <a:endParaRPr dirty="0" sz="1688" lang="en-US"/>
          </a:p>
        </p:txBody>
      </p:sp>
      <p:sp>
        <p:nvSpPr>
          <p:cNvPr id="1050313" name="Text 47"/>
          <p:cNvSpPr/>
          <p:nvPr/>
        </p:nvSpPr>
        <p:spPr>
          <a:xfrm>
            <a:off x="1005348" y="3086770"/>
            <a:ext cx="18422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b="1" dirty="0" sz="800" kern="0" lang="en-US" spc="37">
                <a:solidFill>
                  <a:srgbClr val="F39C1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dirty="0" sz="800" lang="en-US"/>
          </a:p>
        </p:txBody>
      </p:sp>
      <p:sp>
        <p:nvSpPr>
          <p:cNvPr id="1050314" name="Text 48"/>
          <p:cNvSpPr/>
          <p:nvPr/>
        </p:nvSpPr>
        <p:spPr>
          <a:xfrm>
            <a:off x="1175370" y="3058195"/>
            <a:ext cx="7389986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HOTFIX = RESILIENCIA EN PRODUCCIÓN</a:t>
            </a:r>
            <a:endParaRPr dirty="0" sz="800" lang="en-US"/>
          </a:p>
        </p:txBody>
      </p:sp>
      <p:sp>
        <p:nvSpPr>
          <p:cNvPr id="1050315" name="Text 49"/>
          <p:cNvSpPr/>
          <p:nvPr/>
        </p:nvSpPr>
        <p:spPr>
          <a:xfrm>
            <a:off x="1014413" y="3222501"/>
            <a:ext cx="7550944" cy="140754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Bugs críticos post-entrega se corrigen en minutos con rama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hotfix/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desde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, sin esperar al próximo release planificado.</a:t>
            </a:r>
            <a:endParaRPr dirty="0" sz="800" lang="en-US"/>
          </a:p>
        </p:txBody>
      </p:sp>
      <p:sp>
        <p:nvSpPr>
          <p:cNvPr id="1050316" name="Text 50"/>
          <p:cNvSpPr/>
          <p:nvPr/>
        </p:nvSpPr>
        <p:spPr>
          <a:xfrm>
            <a:off x="457200" y="3527561"/>
            <a:ext cx="8229600" cy="500063"/>
          </a:xfrm>
          <a:prstGeom prst="roundRect">
            <a:avLst>
              <a:gd name="adj" fmla="val 15238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17" name="Text 51"/>
          <p:cNvSpPr/>
          <p:nvPr/>
        </p:nvSpPr>
        <p:spPr>
          <a:xfrm>
            <a:off x="600075" y="3620430"/>
            <a:ext cx="314325" cy="314325"/>
          </a:xfrm>
          <a:prstGeom prst="roundRect">
            <a:avLst>
              <a:gd name="adj" fmla="val 30303"/>
            </a:avLst>
          </a:prstGeom>
          <a:solidFill>
            <a:srgbClr val="27AE60">
              <a:alpha val="1200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18" name="Text 52"/>
          <p:cNvSpPr/>
          <p:nvPr/>
        </p:nvSpPr>
        <p:spPr>
          <a:xfrm>
            <a:off x="632936" y="3653291"/>
            <a:ext cx="248602" cy="248602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688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1688" lang="en-US"/>
          </a:p>
        </p:txBody>
      </p:sp>
      <p:sp>
        <p:nvSpPr>
          <p:cNvPr id="1050319" name="Text 53"/>
          <p:cNvSpPr/>
          <p:nvPr/>
        </p:nvSpPr>
        <p:spPr>
          <a:xfrm>
            <a:off x="1005348" y="3661842"/>
            <a:ext cx="184221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b="1" dirty="0" sz="800" kern="0" lang="en-US" spc="37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dirty="0" sz="800" lang="en-US"/>
          </a:p>
        </p:txBody>
      </p:sp>
      <p:sp>
        <p:nvSpPr>
          <p:cNvPr id="1050320" name="Text 54"/>
          <p:cNvSpPr/>
          <p:nvPr/>
        </p:nvSpPr>
        <p:spPr>
          <a:xfrm>
            <a:off x="1175370" y="3633267"/>
            <a:ext cx="7389986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181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DOCUMENTACIÓN CONTINUA Y REVISIÓN POR PARES</a:t>
            </a:r>
            <a:endParaRPr dirty="0" sz="800" lang="en-US"/>
          </a:p>
        </p:txBody>
      </p:sp>
      <p:sp>
        <p:nvSpPr>
          <p:cNvPr id="1050321" name="Text 55"/>
          <p:cNvSpPr/>
          <p:nvPr/>
        </p:nvSpPr>
        <p:spPr>
          <a:xfrm>
            <a:off x="1014413" y="3797573"/>
            <a:ext cx="7550944" cy="13718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79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Wiki del repo + checklist de PR + Conventional Commits garantizan que la rotación de 5 roles funcione sin pérdida de conocimiento.</a:t>
            </a:r>
            <a:endParaRPr dirty="0" sz="800" lang="en-US"/>
          </a:p>
        </p:txBody>
      </p:sp>
      <p:sp>
        <p:nvSpPr>
          <p:cNvPr id="1050322" name="Text 58"/>
          <p:cNvSpPr/>
          <p:nvPr/>
        </p:nvSpPr>
        <p:spPr>
          <a:xfrm>
            <a:off x="535781" y="4393741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→</a:t>
            </a:r>
            <a:endParaRPr dirty="0" sz="984" lang="en-US"/>
          </a:p>
        </p:txBody>
      </p:sp>
      <p:sp>
        <p:nvSpPr>
          <p:cNvPr id="1050323" name="Text 59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1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212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50327" name="Shape 0"/>
          <p:cNvSpPr/>
          <p:nvPr/>
        </p:nvSpPr>
        <p:spPr>
          <a:xfrm>
            <a:off x="457200" y="535781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28" name="Shape 1"/>
          <p:cNvSpPr/>
          <p:nvPr/>
        </p:nvSpPr>
        <p:spPr>
          <a:xfrm>
            <a:off x="564356" y="1808373"/>
            <a:ext cx="4666208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29" name="Shape 2"/>
          <p:cNvSpPr/>
          <p:nvPr/>
        </p:nvSpPr>
        <p:spPr>
          <a:xfrm>
            <a:off x="564356" y="2060191"/>
            <a:ext cx="4666208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30" name="Shape 3"/>
          <p:cNvSpPr/>
          <p:nvPr/>
        </p:nvSpPr>
        <p:spPr>
          <a:xfrm>
            <a:off x="564356" y="2413806"/>
            <a:ext cx="4666208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31" name="Shape 4"/>
          <p:cNvSpPr/>
          <p:nvPr/>
        </p:nvSpPr>
        <p:spPr>
          <a:xfrm>
            <a:off x="564356" y="2759162"/>
            <a:ext cx="4666208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32" name="Shape 5"/>
          <p:cNvSpPr/>
          <p:nvPr/>
        </p:nvSpPr>
        <p:spPr>
          <a:xfrm>
            <a:off x="564356" y="3104517"/>
            <a:ext cx="4666208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33" name="Shape 6"/>
          <p:cNvSpPr/>
          <p:nvPr/>
        </p:nvSpPr>
        <p:spPr>
          <a:xfrm>
            <a:off x="5480596" y="1216558"/>
            <a:ext cx="32060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34" name="Shape 7"/>
          <p:cNvSpPr/>
          <p:nvPr/>
        </p:nvSpPr>
        <p:spPr>
          <a:xfrm>
            <a:off x="8683117" y="1212986"/>
            <a:ext cx="0" cy="342900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35" name="Shape 8"/>
          <p:cNvSpPr/>
          <p:nvPr/>
        </p:nvSpPr>
        <p:spPr>
          <a:xfrm>
            <a:off x="5480596" y="4638415"/>
            <a:ext cx="3206093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36" name="Shape 9"/>
          <p:cNvSpPr/>
          <p:nvPr/>
        </p:nvSpPr>
        <p:spPr>
          <a:xfrm>
            <a:off x="5494883" y="1212986"/>
            <a:ext cx="0" cy="3429000"/>
          </a:xfrm>
          <a:prstGeom prst="line"/>
          <a:noFill/>
          <a:ln w="28575">
            <a:solidFill>
              <a:srgbClr val="27AE60"/>
            </a:solidFill>
            <a:prstDash val="solid"/>
          </a:ln>
        </p:spPr>
      </p:sp>
      <p:sp>
        <p:nvSpPr>
          <p:cNvPr id="1050337" name="Shape 10"/>
          <p:cNvSpPr/>
          <p:nvPr/>
        </p:nvSpPr>
        <p:spPr>
          <a:xfrm>
            <a:off x="457200" y="4832747"/>
            <a:ext cx="82296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38" name="Text 11"/>
          <p:cNvSpPr/>
          <p:nvPr/>
        </p:nvSpPr>
        <p:spPr>
          <a:xfrm>
            <a:off x="457200" y="342900"/>
            <a:ext cx="7877659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BLOQUE 7 · </a:t>
            </a:r>
            <a:r>
              <a:rPr dirty="0" sz="800" kern="0" lang="en-US" spc="50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CIERRE</a:t>
            </a:r>
            <a:endParaRPr dirty="0" sz="800" lang="en-US"/>
          </a:p>
        </p:txBody>
      </p:sp>
      <p:sp>
        <p:nvSpPr>
          <p:cNvPr id="1050339" name="Text 12"/>
          <p:cNvSpPr/>
          <p:nvPr/>
        </p:nvSpPr>
        <p:spPr>
          <a:xfrm>
            <a:off x="8342415" y="342900"/>
            <a:ext cx="351117" cy="11787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8">
                <a:solidFill>
                  <a:srgbClr val="6B728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27 / 27</a:t>
            </a:r>
            <a:endParaRPr dirty="0" sz="619" lang="en-US"/>
          </a:p>
        </p:txBody>
      </p:sp>
      <p:sp>
        <p:nvSpPr>
          <p:cNvPr id="1050340" name="Text 13"/>
          <p:cNvSpPr/>
          <p:nvPr/>
        </p:nvSpPr>
        <p:spPr>
          <a:xfrm>
            <a:off x="457200" y="696516"/>
            <a:ext cx="8636000" cy="264011"/>
          </a:xfrm>
          <a:prstGeom prst="rect"/>
          <a:noFill/>
        </p:spPr>
        <p:txBody>
          <a:bodyPr anchor="t" bIns="0" lIns="0" rIns="0" rtlCol="0" tIns="0" wrap="square">
            <a:normAutofit fontScale="25000" lnSpcReduction="20000"/>
          </a:bodyPr>
          <a:p>
            <a:pPr algn="l" indent="0" marL="0">
              <a:lnSpc>
                <a:spcPts val="2070"/>
              </a:lnSpc>
              <a:buNone/>
            </a:pPr>
            <a:r>
              <a:rPr b="1" dirty="0" sz="1800" kern="0" lang="en-US" spc="-27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Bibliografía y materiales de consulta</a:t>
            </a:r>
            <a:endParaRPr dirty="0" sz="1800" lang="en-US"/>
          </a:p>
        </p:txBody>
      </p:sp>
      <p:sp>
        <p:nvSpPr>
          <p:cNvPr id="1050341" name="Text 14"/>
          <p:cNvSpPr/>
          <p:nvPr/>
        </p:nvSpPr>
        <p:spPr>
          <a:xfrm>
            <a:off x="457200" y="987958"/>
            <a:ext cx="8229600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97"/>
              </a:lnSpc>
              <a:buNone/>
            </a:pPr>
            <a:r>
              <a:rPr dirty="0" sz="800" kern="0" lang="en-US" spc="8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Lectura obligatoria · lectura recomendada · práctica esta semana</a:t>
            </a:r>
            <a:endParaRPr dirty="0" sz="800" lang="en-US"/>
          </a:p>
        </p:txBody>
      </p:sp>
      <p:sp>
        <p:nvSpPr>
          <p:cNvPr id="1050342" name="Text 15"/>
          <p:cNvSpPr/>
          <p:nvPr/>
        </p:nvSpPr>
        <p:spPr>
          <a:xfrm>
            <a:off x="460772" y="1216558"/>
            <a:ext cx="4873377" cy="3421856"/>
          </a:xfrm>
          <a:prstGeom prst="roundRect">
            <a:avLst>
              <a:gd name="adj" fmla="val 2227"/>
            </a:avLst>
          </a:prstGeom>
          <a:solidFill>
            <a:srgbClr val="1A1A1A"/>
          </a:solidFill>
          <a:ln w="7144">
            <a:solidFill>
              <a:srgbClr val="2A2A2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43" name="Text 16"/>
          <p:cNvSpPr/>
          <p:nvPr/>
        </p:nvSpPr>
        <p:spPr>
          <a:xfrm>
            <a:off x="564356" y="1320143"/>
            <a:ext cx="4775936" cy="119015"/>
          </a:xfrm>
          <a:prstGeom prst="rect"/>
          <a:noFill/>
        </p:spPr>
        <p:txBody>
          <a:bodyPr anchor="t" bIns="0" lIns="0" rIns="0" rtlCol="0" tIns="0" wrap="square">
            <a:normAutofit/>
          </a:bodyPr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9CA3A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REFERENCIAS BIBLIOGRÁFICAS (APA)</a:t>
            </a:r>
            <a:endParaRPr dirty="0" sz="800" lang="en-US"/>
          </a:p>
        </p:txBody>
      </p:sp>
      <p:sp>
        <p:nvSpPr>
          <p:cNvPr id="1050344" name="Text 17"/>
          <p:cNvSpPr/>
          <p:nvPr/>
        </p:nvSpPr>
        <p:spPr>
          <a:xfrm>
            <a:off x="635794" y="1516596"/>
            <a:ext cx="32004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8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dirty="0" sz="800" lang="en-US"/>
          </a:p>
        </p:txBody>
      </p:sp>
      <p:sp>
        <p:nvSpPr>
          <p:cNvPr id="1050345" name="Text 18"/>
          <p:cNvSpPr/>
          <p:nvPr/>
        </p:nvSpPr>
        <p:spPr>
          <a:xfrm>
            <a:off x="892969" y="1530883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50346" name="Text 19"/>
          <p:cNvSpPr/>
          <p:nvPr/>
        </p:nvSpPr>
        <p:spPr>
          <a:xfrm>
            <a:off x="1078706" y="1516596"/>
            <a:ext cx="3394621" cy="23819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38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Guía Metodológica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</a:t>
            </a:r>
            <a:r>
              <a:rPr dirty="0" sz="800" i="1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'Solución al Ejercicio HabanaEntregas'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Documento base de la asignatura. Planificación por hitos, arquitectura 3 capas, matriz R1–R8.</a:t>
            </a:r>
            <a:endParaRPr dirty="0" sz="800" lang="en-US"/>
          </a:p>
        </p:txBody>
      </p:sp>
      <p:sp>
        <p:nvSpPr>
          <p:cNvPr id="1050347" name="Text 20"/>
          <p:cNvSpPr/>
          <p:nvPr/>
        </p:nvSpPr>
        <p:spPr>
          <a:xfrm>
            <a:off x="4530477" y="1507916"/>
            <a:ext cx="628650" cy="162020"/>
          </a:xfrm>
          <a:prstGeom prst="roundRect">
            <a:avLst>
              <a:gd name="adj" fmla="val 17637"/>
            </a:avLst>
          </a:prstGeom>
          <a:solidFill>
            <a:srgbClr val="FF6B35">
              <a:alpha val="14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48" name="Text 21"/>
          <p:cNvSpPr/>
          <p:nvPr/>
        </p:nvSpPr>
        <p:spPr>
          <a:xfrm>
            <a:off x="4418204" y="1516596"/>
            <a:ext cx="853196" cy="144661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02"/>
              </a:lnSpc>
              <a:buNone/>
            </a:pPr>
            <a:r>
              <a:rPr dirty="0" sz="800" kern="0" lang="en-US" spc="32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OBLIGATORIA</a:t>
            </a:r>
            <a:endParaRPr dirty="0" sz="800" lang="en-US"/>
          </a:p>
        </p:txBody>
      </p:sp>
      <p:sp>
        <p:nvSpPr>
          <p:cNvPr id="1050349" name="Text 22"/>
          <p:cNvSpPr/>
          <p:nvPr/>
        </p:nvSpPr>
        <p:spPr>
          <a:xfrm>
            <a:off x="635794" y="1861951"/>
            <a:ext cx="320040" cy="144661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8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dirty="0" sz="800" lang="en-US"/>
          </a:p>
        </p:txBody>
      </p:sp>
      <p:sp>
        <p:nvSpPr>
          <p:cNvPr id="1050350" name="Text 23"/>
          <p:cNvSpPr/>
          <p:nvPr/>
        </p:nvSpPr>
        <p:spPr>
          <a:xfrm>
            <a:off x="892969" y="1876239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50351" name="Text 24"/>
          <p:cNvSpPr/>
          <p:nvPr/>
        </p:nvSpPr>
        <p:spPr>
          <a:xfrm>
            <a:off x="1078706" y="1861951"/>
            <a:ext cx="3394621" cy="14466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38"/>
              </a:lnSpc>
              <a:buNone/>
            </a:pPr>
            <a:r>
              <a:rPr dirty="0" sz="647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Driessen, V.</a:t>
            </a:r>
            <a:r>
              <a:rPr dirty="0" sz="647" kern="0" lang="en-US" spc="8">
                <a:solidFill>
                  <a:srgbClr val="E8E8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(2010). </a:t>
            </a:r>
            <a:r>
              <a:rPr dirty="0" sz="647" i="1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'A successful Git branching model'</a:t>
            </a: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nvie.com.</a:t>
            </a:r>
            <a:endParaRPr dirty="0" sz="647" lang="en-US"/>
          </a:p>
        </p:txBody>
      </p:sp>
      <p:sp>
        <p:nvSpPr>
          <p:cNvPr id="1050352" name="Text 25"/>
          <p:cNvSpPr/>
          <p:nvPr/>
        </p:nvSpPr>
        <p:spPr>
          <a:xfrm>
            <a:off x="4530477" y="1853272"/>
            <a:ext cx="628650" cy="162020"/>
          </a:xfrm>
          <a:prstGeom prst="roundRect">
            <a:avLst>
              <a:gd name="adj" fmla="val 17637"/>
            </a:avLst>
          </a:prstGeom>
          <a:solidFill>
            <a:srgbClr val="FF6B35">
              <a:alpha val="14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53" name="Text 26"/>
          <p:cNvSpPr/>
          <p:nvPr/>
        </p:nvSpPr>
        <p:spPr>
          <a:xfrm>
            <a:off x="4418204" y="1861951"/>
            <a:ext cx="853196" cy="144661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02"/>
              </a:lnSpc>
              <a:buNone/>
            </a:pPr>
            <a:r>
              <a:rPr dirty="0" sz="800" kern="0" lang="en-US" spc="32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OBLIGATORIA</a:t>
            </a:r>
            <a:endParaRPr dirty="0" sz="800" lang="en-US"/>
          </a:p>
        </p:txBody>
      </p:sp>
      <p:sp>
        <p:nvSpPr>
          <p:cNvPr id="1050354" name="Text 27"/>
          <p:cNvSpPr/>
          <p:nvPr/>
        </p:nvSpPr>
        <p:spPr>
          <a:xfrm>
            <a:off x="635794" y="2113769"/>
            <a:ext cx="32004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8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dirty="0" sz="800" lang="en-US"/>
          </a:p>
        </p:txBody>
      </p:sp>
      <p:sp>
        <p:nvSpPr>
          <p:cNvPr id="1050355" name="Text 28"/>
          <p:cNvSpPr/>
          <p:nvPr/>
        </p:nvSpPr>
        <p:spPr>
          <a:xfrm>
            <a:off x="892969" y="2128056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dirty="0" sz="984" lang="en-US"/>
          </a:p>
        </p:txBody>
      </p:sp>
      <p:sp>
        <p:nvSpPr>
          <p:cNvPr id="1050356" name="Text 29"/>
          <p:cNvSpPr/>
          <p:nvPr/>
        </p:nvSpPr>
        <p:spPr>
          <a:xfrm>
            <a:off x="1078706" y="2113769"/>
            <a:ext cx="3394621" cy="24645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38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Humble, J. &amp; Farley, D.</a:t>
            </a:r>
            <a:r>
              <a:rPr dirty="0" sz="800" kern="0" lang="en-US" spc="8">
                <a:solidFill>
                  <a:srgbClr val="E8E8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(2010). </a:t>
            </a:r>
            <a:r>
              <a:rPr dirty="0" sz="800" i="1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'Continuous Delivery: Reliable Software Releases through Build, Test, and Deployment Automation'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Addison-Wesley.</a:t>
            </a:r>
            <a:endParaRPr dirty="0" sz="800" lang="en-US"/>
          </a:p>
        </p:txBody>
      </p:sp>
      <p:sp>
        <p:nvSpPr>
          <p:cNvPr id="1050357" name="Text 30"/>
          <p:cNvSpPr/>
          <p:nvPr/>
        </p:nvSpPr>
        <p:spPr>
          <a:xfrm>
            <a:off x="4530477" y="2100967"/>
            <a:ext cx="628650" cy="272063"/>
          </a:xfrm>
          <a:prstGeom prst="roundRect">
            <a:avLst>
              <a:gd name="adj" fmla="val 10503"/>
            </a:avLst>
          </a:prstGeom>
          <a:solidFill>
            <a:srgbClr val="FF6B35">
              <a:alpha val="14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58" name="Text 31"/>
          <p:cNvSpPr/>
          <p:nvPr/>
        </p:nvSpPr>
        <p:spPr>
          <a:xfrm>
            <a:off x="4530477" y="2113769"/>
            <a:ext cx="628650" cy="246459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lnSpc>
                <a:spcPts val="802"/>
              </a:lnSpc>
              <a:buNone/>
            </a:pPr>
            <a:r>
              <a:rPr dirty="0" sz="800" kern="0" lang="en-US" spc="32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OBL. SEMESTRE</a:t>
            </a:r>
            <a:endParaRPr dirty="0" sz="800" lang="en-US"/>
          </a:p>
        </p:txBody>
      </p:sp>
      <p:sp>
        <p:nvSpPr>
          <p:cNvPr id="1050359" name="Text 32"/>
          <p:cNvSpPr/>
          <p:nvPr/>
        </p:nvSpPr>
        <p:spPr>
          <a:xfrm>
            <a:off x="635794" y="2467384"/>
            <a:ext cx="32004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8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dirty="0" sz="800" lang="en-US"/>
          </a:p>
        </p:txBody>
      </p:sp>
      <p:sp>
        <p:nvSpPr>
          <p:cNvPr id="1050360" name="Text 33"/>
          <p:cNvSpPr/>
          <p:nvPr/>
        </p:nvSpPr>
        <p:spPr>
          <a:xfrm>
            <a:off x="892969" y="2481672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dirty="0" sz="984" lang="en-US"/>
          </a:p>
        </p:txBody>
      </p:sp>
      <p:sp>
        <p:nvSpPr>
          <p:cNvPr id="1050361" name="Text 34"/>
          <p:cNvSpPr/>
          <p:nvPr/>
        </p:nvSpPr>
        <p:spPr>
          <a:xfrm>
            <a:off x="1078706" y="2467384"/>
            <a:ext cx="3394621" cy="23819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38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Microsoft Learn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ASP.NET Core MVC, EF Core, GitHub Actions Documentation. learn.microsoft.com.</a:t>
            </a:r>
            <a:endParaRPr dirty="0" sz="800" lang="en-US"/>
          </a:p>
        </p:txBody>
      </p:sp>
      <p:sp>
        <p:nvSpPr>
          <p:cNvPr id="1050362" name="Text 35"/>
          <p:cNvSpPr/>
          <p:nvPr/>
        </p:nvSpPr>
        <p:spPr>
          <a:xfrm>
            <a:off x="4530477" y="2458705"/>
            <a:ext cx="628650" cy="162020"/>
          </a:xfrm>
          <a:prstGeom prst="roundRect">
            <a:avLst>
              <a:gd name="adj" fmla="val 17637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63" name="Text 36"/>
          <p:cNvSpPr/>
          <p:nvPr/>
        </p:nvSpPr>
        <p:spPr>
          <a:xfrm>
            <a:off x="4529700" y="2467384"/>
            <a:ext cx="630204" cy="144661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02"/>
              </a:lnSpc>
              <a:buNone/>
            </a:pPr>
            <a:r>
              <a:rPr dirty="0" sz="800" kern="0" lang="en-US" spc="32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endParaRPr dirty="0" sz="800" lang="en-US"/>
          </a:p>
        </p:txBody>
      </p:sp>
      <p:sp>
        <p:nvSpPr>
          <p:cNvPr id="1050364" name="Text 37"/>
          <p:cNvSpPr/>
          <p:nvPr/>
        </p:nvSpPr>
        <p:spPr>
          <a:xfrm>
            <a:off x="635794" y="2812740"/>
            <a:ext cx="32004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8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dirty="0" sz="800" lang="en-US"/>
          </a:p>
        </p:txBody>
      </p:sp>
      <p:sp>
        <p:nvSpPr>
          <p:cNvPr id="1050365" name="Text 38"/>
          <p:cNvSpPr/>
          <p:nvPr/>
        </p:nvSpPr>
        <p:spPr>
          <a:xfrm>
            <a:off x="892969" y="2827027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dirty="0" sz="984" lang="en-US"/>
          </a:p>
        </p:txBody>
      </p:sp>
      <p:sp>
        <p:nvSpPr>
          <p:cNvPr id="1050366" name="Text 39"/>
          <p:cNvSpPr/>
          <p:nvPr/>
        </p:nvSpPr>
        <p:spPr>
          <a:xfrm>
            <a:off x="1078706" y="2812740"/>
            <a:ext cx="3394621" cy="238199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38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Atlassian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— </a:t>
            </a:r>
            <a:r>
              <a:rPr dirty="0" sz="800" i="1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'Gitflow Workflow'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tutorial. atlassian.com/git/tutorials/comparing-workflows/gitflow-workflow.</a:t>
            </a:r>
            <a:endParaRPr dirty="0" sz="800" lang="en-US"/>
          </a:p>
        </p:txBody>
      </p:sp>
      <p:sp>
        <p:nvSpPr>
          <p:cNvPr id="1050367" name="Text 40"/>
          <p:cNvSpPr/>
          <p:nvPr/>
        </p:nvSpPr>
        <p:spPr>
          <a:xfrm>
            <a:off x="4530477" y="2804060"/>
            <a:ext cx="628650" cy="162020"/>
          </a:xfrm>
          <a:prstGeom prst="roundRect">
            <a:avLst>
              <a:gd name="adj" fmla="val 17637"/>
            </a:avLst>
          </a:prstGeom>
          <a:solidFill>
            <a:srgbClr val="4A90E2">
              <a:alpha val="14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68" name="Text 41"/>
          <p:cNvSpPr/>
          <p:nvPr/>
        </p:nvSpPr>
        <p:spPr>
          <a:xfrm>
            <a:off x="4418204" y="2812740"/>
            <a:ext cx="853196" cy="144661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02"/>
              </a:lnSpc>
              <a:buNone/>
            </a:pPr>
            <a:r>
              <a:rPr dirty="0" sz="800" kern="0" lang="en-US" spc="32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RECOMENDADA</a:t>
            </a:r>
            <a:endParaRPr dirty="0" sz="800" lang="en-US"/>
          </a:p>
        </p:txBody>
      </p:sp>
      <p:sp>
        <p:nvSpPr>
          <p:cNvPr id="1050369" name="Text 42"/>
          <p:cNvSpPr/>
          <p:nvPr/>
        </p:nvSpPr>
        <p:spPr>
          <a:xfrm>
            <a:off x="635794" y="3158096"/>
            <a:ext cx="320040" cy="164592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097"/>
              </a:lnSpc>
              <a:buNone/>
            </a:pPr>
            <a:r>
              <a:rPr b="1" dirty="0" sz="800" kern="0" lang="en-US" spc="8">
                <a:solidFill>
                  <a:srgbClr val="FFFFFF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dirty="0" sz="800" lang="en-US"/>
          </a:p>
        </p:txBody>
      </p:sp>
      <p:sp>
        <p:nvSpPr>
          <p:cNvPr id="1050370" name="Text 43"/>
          <p:cNvSpPr/>
          <p:nvPr/>
        </p:nvSpPr>
        <p:spPr>
          <a:xfrm>
            <a:off x="892969" y="3172383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9CA3AF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⌘</a:t>
            </a:r>
            <a:endParaRPr dirty="0" sz="984" lang="en-US"/>
          </a:p>
        </p:txBody>
      </p:sp>
      <p:sp>
        <p:nvSpPr>
          <p:cNvPr id="1050371" name="Text 44"/>
          <p:cNvSpPr/>
          <p:nvPr/>
        </p:nvSpPr>
        <p:spPr>
          <a:xfrm>
            <a:off x="1078706" y="3158096"/>
            <a:ext cx="3394621" cy="31815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38"/>
              </a:lnSpc>
              <a:buNone/>
            </a:pPr>
            <a:r>
              <a:rPr dirty="0" sz="800" kern="0" lang="en-US" spc="8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Documentación oficial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Git (git-scm.com), GitHub Docs (docs.github.com), Azure DevOps Docs (learn.microsoft.com/azure/devops).</a:t>
            </a:r>
            <a:endParaRPr dirty="0" sz="800" lang="en-US"/>
          </a:p>
        </p:txBody>
      </p:sp>
      <p:sp>
        <p:nvSpPr>
          <p:cNvPr id="1050372" name="Text 45"/>
          <p:cNvSpPr/>
          <p:nvPr/>
        </p:nvSpPr>
        <p:spPr>
          <a:xfrm>
            <a:off x="4530477" y="3149416"/>
            <a:ext cx="628650" cy="162020"/>
          </a:xfrm>
          <a:prstGeom prst="roundRect">
            <a:avLst>
              <a:gd name="adj" fmla="val 17637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3A3A3A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73" name="Text 46"/>
          <p:cNvSpPr/>
          <p:nvPr/>
        </p:nvSpPr>
        <p:spPr>
          <a:xfrm>
            <a:off x="4529700" y="3158096"/>
            <a:ext cx="630204" cy="144661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lnSpc>
                <a:spcPts val="802"/>
              </a:lnSpc>
              <a:buNone/>
            </a:pPr>
            <a:r>
              <a:rPr dirty="0" sz="800" kern="0" lang="en-US" spc="32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CONSULTA</a:t>
            </a:r>
            <a:endParaRPr dirty="0" sz="800" lang="en-US"/>
          </a:p>
        </p:txBody>
      </p:sp>
      <p:sp>
        <p:nvSpPr>
          <p:cNvPr id="1050374" name="Text 47"/>
          <p:cNvSpPr/>
          <p:nvPr/>
        </p:nvSpPr>
        <p:spPr>
          <a:xfrm>
            <a:off x="5480596" y="1212986"/>
            <a:ext cx="3206093" cy="3429000"/>
          </a:xfrm>
          <a:prstGeom prst="roundRect">
            <a:avLst>
              <a:gd name="adj" fmla="val 2377"/>
            </a:avLst>
          </a:prstGeom>
          <a:solidFill>
            <a:srgbClr val="1A1A1A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75" name="Text 48"/>
          <p:cNvSpPr/>
          <p:nvPr/>
        </p:nvSpPr>
        <p:spPr>
          <a:xfrm>
            <a:off x="5637758" y="1320143"/>
            <a:ext cx="128588" cy="128588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1266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dirty="0" sz="1266" lang="en-US"/>
          </a:p>
        </p:txBody>
      </p:sp>
      <p:sp>
        <p:nvSpPr>
          <p:cNvPr id="1050376" name="Text 49"/>
          <p:cNvSpPr/>
          <p:nvPr/>
        </p:nvSpPr>
        <p:spPr>
          <a:xfrm>
            <a:off x="5823496" y="1325500"/>
            <a:ext cx="2727461" cy="164592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50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PRÁCTICA </a:t>
            </a:r>
            <a:r>
              <a:rPr dirty="0" sz="800" kern="0" lang="en-US" spc="50" smtClean="0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OPCIONAL ESTA </a:t>
            </a:r>
            <a:r>
              <a:rPr dirty="0" sz="800" kern="0" lang="en-US" spc="50">
                <a:solidFill>
                  <a:srgbClr val="27AE6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SEMANA</a:t>
            </a:r>
            <a:endParaRPr dirty="0" sz="800" lang="en-US"/>
          </a:p>
        </p:txBody>
      </p:sp>
      <p:sp>
        <p:nvSpPr>
          <p:cNvPr id="1050377" name="Text 50"/>
          <p:cNvSpPr/>
          <p:nvPr/>
        </p:nvSpPr>
        <p:spPr>
          <a:xfrm>
            <a:off x="5641330" y="1595177"/>
            <a:ext cx="92869" cy="92869"/>
          </a:xfrm>
          <a:prstGeom prst="roundRect">
            <a:avLst>
              <a:gd name="adj" fmla="val 30769"/>
            </a:avLst>
          </a:prstGeom>
          <a:noFill/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78" name="Text 51"/>
          <p:cNvSpPr/>
          <p:nvPr/>
        </p:nvSpPr>
        <p:spPr>
          <a:xfrm>
            <a:off x="5809208" y="1577318"/>
            <a:ext cx="2741749" cy="1535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06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Crear repo GitHub para el proyecto final.</a:t>
            </a:r>
            <a:endParaRPr dirty="0" sz="800" lang="en-US"/>
          </a:p>
        </p:txBody>
      </p:sp>
      <p:sp>
        <p:nvSpPr>
          <p:cNvPr id="1050379" name="Text 52"/>
          <p:cNvSpPr/>
          <p:nvPr/>
        </p:nvSpPr>
        <p:spPr>
          <a:xfrm>
            <a:off x="5641330" y="1795872"/>
            <a:ext cx="92869" cy="92869"/>
          </a:xfrm>
          <a:prstGeom prst="roundRect">
            <a:avLst>
              <a:gd name="adj" fmla="val 30769"/>
            </a:avLst>
          </a:prstGeom>
          <a:noFill/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80" name="Text 53"/>
          <p:cNvSpPr/>
          <p:nvPr/>
        </p:nvSpPr>
        <p:spPr>
          <a:xfrm>
            <a:off x="5809208" y="1778012"/>
            <a:ext cx="2741749" cy="16310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06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Configurar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</a:t>
            </a:r>
            <a:r>
              <a:rPr dirty="0" sz="800" kern="0" lang="en-US" spc="8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+ branch protection.</a:t>
            </a:r>
            <a:endParaRPr dirty="0" sz="800" lang="en-US"/>
          </a:p>
        </p:txBody>
      </p:sp>
      <p:sp>
        <p:nvSpPr>
          <p:cNvPr id="1050381" name="Text 54"/>
          <p:cNvSpPr/>
          <p:nvPr/>
        </p:nvSpPr>
        <p:spPr>
          <a:xfrm>
            <a:off x="5641330" y="2003710"/>
            <a:ext cx="92869" cy="92869"/>
          </a:xfrm>
          <a:prstGeom prst="roundRect">
            <a:avLst>
              <a:gd name="adj" fmla="val 30769"/>
            </a:avLst>
          </a:prstGeom>
          <a:noFill/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82" name="Text 55"/>
          <p:cNvSpPr/>
          <p:nvPr/>
        </p:nvSpPr>
        <p:spPr>
          <a:xfrm>
            <a:off x="5809208" y="1985851"/>
            <a:ext cx="2741749" cy="16310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06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Abrir </a:t>
            </a:r>
            <a:r>
              <a:rPr dirty="0" sz="800" kern="0" lang="en-US" spc="8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feature/setup-proyecto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dirty="0" sz="800" lang="en-US"/>
          </a:p>
        </p:txBody>
      </p:sp>
      <p:sp>
        <p:nvSpPr>
          <p:cNvPr id="1050383" name="Text 56"/>
          <p:cNvSpPr/>
          <p:nvPr/>
        </p:nvSpPr>
        <p:spPr>
          <a:xfrm>
            <a:off x="5641330" y="2211549"/>
            <a:ext cx="92869" cy="92869"/>
          </a:xfrm>
          <a:prstGeom prst="roundRect">
            <a:avLst>
              <a:gd name="adj" fmla="val 30769"/>
            </a:avLst>
          </a:prstGeom>
          <a:noFill/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84" name="Text 57"/>
          <p:cNvSpPr/>
          <p:nvPr/>
        </p:nvSpPr>
        <p:spPr>
          <a:xfrm>
            <a:off x="5809208" y="2193689"/>
            <a:ext cx="2741749" cy="1535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06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Hacer 3 commits con Conventional Commits.</a:t>
            </a:r>
            <a:endParaRPr dirty="0" sz="800" lang="en-US"/>
          </a:p>
        </p:txBody>
      </p:sp>
      <p:sp>
        <p:nvSpPr>
          <p:cNvPr id="1050385" name="Text 58"/>
          <p:cNvSpPr/>
          <p:nvPr/>
        </p:nvSpPr>
        <p:spPr>
          <a:xfrm>
            <a:off x="5641330" y="2412243"/>
            <a:ext cx="92869" cy="92869"/>
          </a:xfrm>
          <a:prstGeom prst="roundRect">
            <a:avLst>
              <a:gd name="adj" fmla="val 30769"/>
            </a:avLst>
          </a:prstGeom>
          <a:noFill/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86" name="Text 59"/>
          <p:cNvSpPr/>
          <p:nvPr/>
        </p:nvSpPr>
        <p:spPr>
          <a:xfrm>
            <a:off x="5809208" y="2394384"/>
            <a:ext cx="2741749" cy="163101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06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Abrir PR y merguear con </a:t>
            </a:r>
            <a:r>
              <a:rPr dirty="0" sz="800" kern="0" lang="en-US" spc="8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squash</a:t>
            </a: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</a:t>
            </a:r>
            <a:endParaRPr dirty="0" sz="800" lang="en-US"/>
          </a:p>
        </p:txBody>
      </p:sp>
      <p:sp>
        <p:nvSpPr>
          <p:cNvPr id="1050387" name="Text 60"/>
          <p:cNvSpPr/>
          <p:nvPr/>
        </p:nvSpPr>
        <p:spPr>
          <a:xfrm>
            <a:off x="5641330" y="2620082"/>
            <a:ext cx="92869" cy="92869"/>
          </a:xfrm>
          <a:prstGeom prst="roundRect">
            <a:avLst>
              <a:gd name="adj" fmla="val 30769"/>
            </a:avLst>
          </a:prstGeom>
          <a:noFill/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88" name="Text 61"/>
          <p:cNvSpPr/>
          <p:nvPr/>
        </p:nvSpPr>
        <p:spPr>
          <a:xfrm>
            <a:off x="5809208" y="2602223"/>
            <a:ext cx="2741749" cy="1535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06"/>
              </a:lnSpc>
              <a:buNone/>
            </a:pPr>
            <a:r>
              <a:rPr dirty="0" sz="647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Activar GitHub Actions con YAML mínimo del slide 13.</a:t>
            </a:r>
            <a:endParaRPr dirty="0" sz="647" lang="en-US"/>
          </a:p>
        </p:txBody>
      </p:sp>
      <p:sp>
        <p:nvSpPr>
          <p:cNvPr id="1050389" name="Text 62"/>
          <p:cNvSpPr/>
          <p:nvPr/>
        </p:nvSpPr>
        <p:spPr>
          <a:xfrm>
            <a:off x="5641330" y="2820777"/>
            <a:ext cx="92869" cy="92869"/>
          </a:xfrm>
          <a:prstGeom prst="roundRect">
            <a:avLst>
              <a:gd name="adj" fmla="val 30769"/>
            </a:avLst>
          </a:prstGeom>
          <a:noFill/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90" name="Text 63"/>
          <p:cNvSpPr/>
          <p:nvPr/>
        </p:nvSpPr>
        <p:spPr>
          <a:xfrm>
            <a:off x="5809208" y="2802917"/>
            <a:ext cx="2741749" cy="1535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06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Leer Driessen (2010) — GitFlow original.</a:t>
            </a:r>
            <a:endParaRPr dirty="0" sz="800" lang="en-US"/>
          </a:p>
        </p:txBody>
      </p:sp>
      <p:sp>
        <p:nvSpPr>
          <p:cNvPr id="1050391" name="Text 64"/>
          <p:cNvSpPr/>
          <p:nvPr/>
        </p:nvSpPr>
        <p:spPr>
          <a:xfrm>
            <a:off x="5641330" y="3021471"/>
            <a:ext cx="92869" cy="92869"/>
          </a:xfrm>
          <a:prstGeom prst="roundRect">
            <a:avLst>
              <a:gd name="adj" fmla="val 30769"/>
            </a:avLst>
          </a:prstGeom>
          <a:noFill/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392" name="Text 65"/>
          <p:cNvSpPr/>
          <p:nvPr/>
        </p:nvSpPr>
        <p:spPr>
          <a:xfrm>
            <a:off x="5809208" y="3003612"/>
            <a:ext cx="2741749" cy="15356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906"/>
              </a:lnSpc>
              <a:buNone/>
            </a:pPr>
            <a:r>
              <a:rPr dirty="0" sz="800" kern="0" lang="en-US" spc="8">
                <a:solidFill>
                  <a:srgbClr val="E8E8E8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Empezar Humble &amp; Farley cap. 1–3.</a:t>
            </a:r>
            <a:endParaRPr dirty="0" sz="800" lang="en-US"/>
          </a:p>
        </p:txBody>
      </p:sp>
      <p:sp>
        <p:nvSpPr>
          <p:cNvPr id="1050393" name="Text 69"/>
          <p:cNvSpPr/>
          <p:nvPr/>
        </p:nvSpPr>
        <p:spPr>
          <a:xfrm>
            <a:off x="457200" y="4907756"/>
            <a:ext cx="7885137" cy="10715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844"/>
              </a:lnSpc>
              <a:buNone/>
            </a:pPr>
            <a:r>
              <a:rPr dirty="0" sz="800" kern="0" lang="en-US" spc="34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SOFTWARE · HABANAENTREGAS · GITFLOW + CI/CD</a:t>
            </a:r>
            <a:endParaRPr dirty="0" sz="800" lang="en-US"/>
          </a:p>
        </p:txBody>
      </p:sp>
    </p:spTree>
  </p:cSld>
  <p:clrMapOvr>
    <a:masterClrMapping/>
  </p:clrMapOvr>
  <p:timing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21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pic>
        <p:nvPicPr>
          <p:cNvPr id="209721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/>
        </p:spPr>
      </p:pic>
      <p:sp>
        <p:nvSpPr>
          <p:cNvPr id="1050397" name="Shape 0"/>
          <p:cNvSpPr/>
          <p:nvPr/>
        </p:nvSpPr>
        <p:spPr>
          <a:xfrm>
            <a:off x="0" y="464344"/>
            <a:ext cx="91440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98" name="Shape 1"/>
          <p:cNvSpPr/>
          <p:nvPr/>
        </p:nvSpPr>
        <p:spPr>
          <a:xfrm>
            <a:off x="685800" y="4025503"/>
            <a:ext cx="7772400" cy="0"/>
          </a:xfrm>
          <a:prstGeom prst="line"/>
          <a:noFill/>
          <a:ln w="7144">
            <a:solidFill>
              <a:srgbClr val="2A2A2A"/>
            </a:solidFill>
            <a:prstDash val="solid"/>
          </a:ln>
        </p:spPr>
      </p:sp>
      <p:sp>
        <p:nvSpPr>
          <p:cNvPr id="1050399" name="Text 2"/>
          <p:cNvSpPr/>
          <p:nvPr/>
        </p:nvSpPr>
        <p:spPr>
          <a:xfrm>
            <a:off x="5517147" y="3429000"/>
            <a:ext cx="3626853" cy="171450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15750"/>
              </a:lnSpc>
              <a:buNone/>
            </a:pPr>
            <a:r>
              <a:rPr b="1" dirty="0" sz="15750" kern="0" lang="en-US" spc="-787">
                <a:solidFill>
                  <a:srgbClr val="FF6B35">
                    <a:alpha val="5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dirty="0" sz="15750" lang="en-US"/>
          </a:p>
        </p:txBody>
      </p:sp>
      <p:sp>
        <p:nvSpPr>
          <p:cNvPr id="1050400" name="Text 3"/>
          <p:cNvSpPr/>
          <p:nvPr/>
        </p:nvSpPr>
        <p:spPr>
          <a:xfrm>
            <a:off x="457200" y="18038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50401" name="Text 4"/>
          <p:cNvSpPr/>
          <p:nvPr/>
        </p:nvSpPr>
        <p:spPr>
          <a:xfrm>
            <a:off x="642938" y="166092"/>
            <a:ext cx="3738547" cy="151805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1013"/>
              </a:lnSpc>
              <a:buNone/>
            </a:pPr>
            <a:r>
              <a:rPr dirty="0" sz="800" kern="0" lang="en-US" spc="122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INGENIERÍA DE </a:t>
            </a:r>
            <a:r>
              <a:rPr dirty="0" sz="800" kern="0" lang="en-US" spc="122" smtClean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SOFTWARE</a:t>
            </a:r>
            <a:endParaRPr dirty="0" sz="800" lang="en-US"/>
          </a:p>
        </p:txBody>
      </p:sp>
      <p:sp>
        <p:nvSpPr>
          <p:cNvPr id="1050402" name="Text 5"/>
          <p:cNvSpPr/>
          <p:nvPr/>
        </p:nvSpPr>
        <p:spPr>
          <a:xfrm>
            <a:off x="7307520" y="132374"/>
            <a:ext cx="1402140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403" name="Text 6"/>
          <p:cNvSpPr/>
          <p:nvPr/>
        </p:nvSpPr>
        <p:spPr>
          <a:xfrm>
            <a:off x="7551837" y="185738"/>
            <a:ext cx="1134963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/ AZURE DEVOPS</a:t>
            </a:r>
            <a:endParaRPr dirty="0" sz="619" lang="en-US"/>
          </a:p>
        </p:txBody>
      </p:sp>
      <p:sp>
        <p:nvSpPr>
          <p:cNvPr id="1050404" name="Text 7"/>
          <p:cNvSpPr/>
          <p:nvPr/>
        </p:nvSpPr>
        <p:spPr>
          <a:xfrm>
            <a:off x="7408962" y="18038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↻</a:t>
            </a:r>
            <a:endParaRPr dirty="0" sz="984" lang="en-US"/>
          </a:p>
        </p:txBody>
      </p:sp>
      <p:pic>
        <p:nvPicPr>
          <p:cNvPr id="2097215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228600" y="685800"/>
            <a:ext cx="14288" cy="857250"/>
          </a:xfrm>
          <a:prstGeom prst="rect"/>
        </p:spPr>
      </p:pic>
      <p:sp>
        <p:nvSpPr>
          <p:cNvPr id="1050405" name="Text 13"/>
          <p:cNvSpPr/>
          <p:nvPr/>
        </p:nvSpPr>
        <p:spPr>
          <a:xfrm>
            <a:off x="685800" y="1285875"/>
            <a:ext cx="8458200" cy="144407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3510"/>
              </a:lnSpc>
              <a:buNone/>
            </a:pPr>
            <a:r>
              <a:rPr b="1" dirty="0" sz="3375" kern="0" lang="en-US" spc="-84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GitFlow aplicado al caso de estudio</a:t>
            </a:r>
            <a:endParaRPr dirty="0" sz="3375" lang="en-US"/>
          </a:p>
          <a:p>
            <a:pPr algn="l" indent="0" marL="0">
              <a:lnSpc>
                <a:spcPts val="3510"/>
              </a:lnSpc>
              <a:buNone/>
            </a:pPr>
            <a:r>
              <a:rPr b="1" dirty="0" sz="3375" kern="0" lang="en-US" spc="-84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HabanaEntregas: </a:t>
            </a:r>
            <a:r>
              <a:rPr b="1" dirty="0" sz="3375" kern="0" lang="en-US" spc="-84">
                <a:solidFill>
                  <a:srgbClr val="FF6B35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del commit a producción</a:t>
            </a:r>
            <a:endParaRPr dirty="0" sz="3375" lang="en-US"/>
          </a:p>
          <a:p>
            <a:pPr algn="l" indent="0" marL="0">
              <a:lnSpc>
                <a:spcPts val="3510"/>
              </a:lnSpc>
              <a:buNone/>
            </a:pPr>
            <a:r>
              <a:rPr b="1" dirty="0" sz="3375" kern="0" lang="en-US" spc="-84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 </a:t>
            </a:r>
            <a:r>
              <a:rPr b="1" dirty="0" sz="3375" kern="0" lang="en-US" spc="-84">
                <a:solidFill>
                  <a:srgbClr val="4A90E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CI/CD</a:t>
            </a:r>
            <a:endParaRPr dirty="0" sz="3375" lang="en-US"/>
          </a:p>
        </p:txBody>
      </p:sp>
      <p:sp>
        <p:nvSpPr>
          <p:cNvPr id="1050406" name="Text 14"/>
          <p:cNvSpPr/>
          <p:nvPr/>
        </p:nvSpPr>
        <p:spPr>
          <a:xfrm>
            <a:off x="685800" y="2794434"/>
            <a:ext cx="428625" cy="28575"/>
          </a:xfrm>
          <a:prstGeom prst="roundRect">
            <a:avLst>
              <a:gd name="adj" fmla="val 66667"/>
            </a:avLst>
          </a:prstGeom>
          <a:solidFill>
            <a:srgbClr val="FF6B35"/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407" name="Text 16"/>
          <p:cNvSpPr/>
          <p:nvPr/>
        </p:nvSpPr>
        <p:spPr>
          <a:xfrm>
            <a:off x="685800" y="3319714"/>
            <a:ext cx="601861" cy="196025"/>
          </a:xfrm>
          <a:prstGeom prst="roundRect">
            <a:avLst>
              <a:gd name="adj" fmla="val 4854215"/>
            </a:avLst>
          </a:prstGeom>
          <a:solidFill>
            <a:srgbClr val="27AE60">
              <a:alpha val="8000"/>
            </a:srgbClr>
          </a:solidFill>
          <a:ln w="7144">
            <a:solidFill>
              <a:srgbClr val="27AE60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408" name="Text 17"/>
          <p:cNvSpPr/>
          <p:nvPr/>
        </p:nvSpPr>
        <p:spPr>
          <a:xfrm>
            <a:off x="901546" y="3373078"/>
            <a:ext cx="420400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27AE60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.NET 8</a:t>
            </a:r>
            <a:endParaRPr dirty="0" sz="800" lang="en-US"/>
          </a:p>
        </p:txBody>
      </p:sp>
      <p:sp>
        <p:nvSpPr>
          <p:cNvPr id="1050409" name="Text 18"/>
          <p:cNvSpPr/>
          <p:nvPr/>
        </p:nvSpPr>
        <p:spPr>
          <a:xfrm>
            <a:off x="764381" y="336772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27AE60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50410" name="Text 19"/>
          <p:cNvSpPr/>
          <p:nvPr/>
        </p:nvSpPr>
        <p:spPr>
          <a:xfrm>
            <a:off x="1344811" y="3319714"/>
            <a:ext cx="1104937" cy="196025"/>
          </a:xfrm>
          <a:prstGeom prst="roundRect">
            <a:avLst>
              <a:gd name="adj" fmla="val 4854215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411" name="Text 20"/>
          <p:cNvSpPr/>
          <p:nvPr/>
        </p:nvSpPr>
        <p:spPr>
          <a:xfrm>
            <a:off x="1566267" y="3373078"/>
            <a:ext cx="912056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4A90E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ASP.NET Core MVC</a:t>
            </a:r>
            <a:endParaRPr dirty="0" sz="619" lang="en-US"/>
          </a:p>
        </p:txBody>
      </p:sp>
      <p:sp>
        <p:nvSpPr>
          <p:cNvPr id="1050412" name="Text 21"/>
          <p:cNvSpPr/>
          <p:nvPr/>
        </p:nvSpPr>
        <p:spPr>
          <a:xfrm>
            <a:off x="1423392" y="336772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50413" name="Text 22"/>
          <p:cNvSpPr/>
          <p:nvPr/>
        </p:nvSpPr>
        <p:spPr>
          <a:xfrm>
            <a:off x="2510470" y="3333787"/>
            <a:ext cx="1550417" cy="167878"/>
          </a:xfrm>
          <a:prstGeom prst="roundRect">
            <a:avLst>
              <a:gd name="adj" fmla="val 5668089"/>
            </a:avLst>
          </a:prstGeom>
          <a:solidFill>
            <a:srgbClr val="4A90E2">
              <a:alpha val="8000"/>
            </a:srgbClr>
          </a:solidFill>
          <a:ln w="7144">
            <a:solidFill>
              <a:srgbClr val="4A90E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414" name="Text 23"/>
          <p:cNvSpPr/>
          <p:nvPr/>
        </p:nvSpPr>
        <p:spPr>
          <a:xfrm>
            <a:off x="2728354" y="3373078"/>
            <a:ext cx="1364679" cy="119703"/>
          </a:xfrm>
          <a:prstGeom prst="rect"/>
          <a:noFill/>
        </p:spPr>
        <p:txBody>
          <a:bodyPr anchor="t" bIns="21431" lIns="71438" rIns="71438" rtlCol="0" tIns="21431" wrap="none"/>
          <a:p>
            <a:pPr algn="l" indent="0" marL="0">
              <a:lnSpc>
                <a:spcPts val="928"/>
              </a:lnSpc>
              <a:buNone/>
            </a:pPr>
            <a:r>
              <a:rPr dirty="0" sz="619" kern="0" lang="en-US" spc="25">
                <a:solidFill>
                  <a:srgbClr val="4A90E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EF Core + SQL Server 2017</a:t>
            </a:r>
            <a:endParaRPr dirty="0" sz="619" lang="en-US"/>
          </a:p>
        </p:txBody>
      </p:sp>
      <p:sp>
        <p:nvSpPr>
          <p:cNvPr id="1050415" name="Text 24"/>
          <p:cNvSpPr/>
          <p:nvPr/>
        </p:nvSpPr>
        <p:spPr>
          <a:xfrm>
            <a:off x="2585479" y="336772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4A90E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▦</a:t>
            </a:r>
            <a:endParaRPr dirty="0" sz="984" lang="en-US"/>
          </a:p>
        </p:txBody>
      </p:sp>
      <p:sp>
        <p:nvSpPr>
          <p:cNvPr id="1050416" name="Text 25"/>
          <p:cNvSpPr/>
          <p:nvPr/>
        </p:nvSpPr>
        <p:spPr>
          <a:xfrm>
            <a:off x="4121609" y="3319714"/>
            <a:ext cx="652202" cy="196025"/>
          </a:xfrm>
          <a:prstGeom prst="roundRect">
            <a:avLst>
              <a:gd name="adj" fmla="val 4854215"/>
            </a:avLst>
          </a:prstGeom>
          <a:solidFill>
            <a:srgbClr val="FF6B35">
              <a:alpha val="8000"/>
            </a:srgbClr>
          </a:solidFill>
          <a:ln w="7144">
            <a:solidFill>
              <a:srgbClr val="FF6B35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417" name="Text 26"/>
          <p:cNvSpPr/>
          <p:nvPr/>
        </p:nvSpPr>
        <p:spPr>
          <a:xfrm>
            <a:off x="4324761" y="3373078"/>
            <a:ext cx="495930" cy="119703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F6B3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GitFlow</a:t>
            </a:r>
            <a:endParaRPr dirty="0" sz="800" lang="en-US"/>
          </a:p>
        </p:txBody>
      </p:sp>
      <p:sp>
        <p:nvSpPr>
          <p:cNvPr id="1050418" name="Text 27"/>
          <p:cNvSpPr/>
          <p:nvPr/>
        </p:nvSpPr>
        <p:spPr>
          <a:xfrm>
            <a:off x="4200190" y="336772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F6B35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dirty="0" sz="984" lang="en-US"/>
          </a:p>
        </p:txBody>
      </p:sp>
      <p:sp>
        <p:nvSpPr>
          <p:cNvPr id="1050419" name="Text 28"/>
          <p:cNvSpPr/>
          <p:nvPr/>
        </p:nvSpPr>
        <p:spPr>
          <a:xfrm>
            <a:off x="4834532" y="3333787"/>
            <a:ext cx="2533069" cy="181952"/>
          </a:xfrm>
          <a:prstGeom prst="roundRect">
            <a:avLst>
              <a:gd name="adj" fmla="val 5668089"/>
            </a:avLst>
          </a:prstGeom>
          <a:solidFill>
            <a:srgbClr val="F39C12">
              <a:alpha val="8000"/>
            </a:srgbClr>
          </a:solidFill>
          <a:ln w="7144">
            <a:solidFill>
              <a:srgbClr val="F39C12"/>
            </a:solidFill>
            <a:prstDash val="solid"/>
          </a:ln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  <p:sp>
        <p:nvSpPr>
          <p:cNvPr id="1050420" name="Text 29"/>
          <p:cNvSpPr/>
          <p:nvPr/>
        </p:nvSpPr>
        <p:spPr>
          <a:xfrm>
            <a:off x="5052417" y="3373078"/>
            <a:ext cx="3405783" cy="119703"/>
          </a:xfrm>
          <a:prstGeom prst="rect"/>
          <a:noFill/>
        </p:spPr>
        <p:txBody>
          <a:bodyPr anchor="t" bIns="21431" lIns="71438" rIns="71438" rtlCol="0" tIns="21431" wrap="none"/>
          <a:p>
            <a:pPr algn="l" indent="0" marL="0">
              <a:lnSpc>
                <a:spcPts val="928"/>
              </a:lnSpc>
              <a:buNone/>
            </a:pPr>
            <a:r>
              <a:rPr dirty="0" sz="800" kern="0" lang="en-US" spc="25">
                <a:solidFill>
                  <a:srgbClr val="F39C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 Actions / Azure Pipelines</a:t>
            </a:r>
            <a:endParaRPr dirty="0" sz="800" lang="en-US"/>
          </a:p>
        </p:txBody>
      </p:sp>
      <p:sp>
        <p:nvSpPr>
          <p:cNvPr id="1050421" name="Text 30"/>
          <p:cNvSpPr/>
          <p:nvPr/>
        </p:nvSpPr>
        <p:spPr>
          <a:xfrm>
            <a:off x="4909542" y="3367720"/>
            <a:ext cx="100013" cy="100013"/>
          </a:xfrm>
          <a:prstGeom prst="rect"/>
          <a:noFill/>
        </p:spPr>
        <p:txBody>
          <a:bodyPr anchor="ctr" bIns="0" lIns="0" rIns="0" rtlCol="0" tIns="0" wrap="none"/>
          <a:p>
            <a:pPr algn="ctr" indent="0" marL="0">
              <a:buNone/>
            </a:pPr>
            <a:r>
              <a:rPr dirty="0" sz="984" lang="en-US">
                <a:solidFill>
                  <a:srgbClr val="F39C1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dirty="0" sz="984" lang="en-US"/>
          </a:p>
        </p:txBody>
      </p:sp>
      <p:pic>
        <p:nvPicPr>
          <p:cNvPr id="2097216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6715125" y="0"/>
            <a:ext cx="2428875" cy="2428875"/>
          </a:xfrm>
          <a:prstGeom prst="rect"/>
        </p:spPr>
      </p:pic>
      <p:sp>
        <p:nvSpPr>
          <p:cNvPr id="1050422" name="Text 39"/>
          <p:cNvSpPr/>
          <p:nvPr/>
        </p:nvSpPr>
        <p:spPr>
          <a:xfrm>
            <a:off x="6715125" y="0"/>
            <a:ext cx="2428875" cy="2428875"/>
          </a:xfrm>
          <a:prstGeom prst="rect"/>
          <a:solidFill>
            <a:srgbClr val="FFFFFF">
              <a:alpha val="0"/>
            </a:srgbClr>
          </a:solidFill>
        </p:spPr>
        <p:txBody>
          <a:bodyPr anchor="ctr" rtlCol="0" wrap="square"/>
          <a:p>
            <a:pPr indent="0" marL="0">
              <a:buNone/>
            </a:pPr>
            <a:endParaRPr dirty="0" lang="en-US"/>
          </a:p>
        </p:txBody>
      </p:sp>
    </p:spTree>
  </p:cSld>
  <p:clrMapOvr>
    <a:masterClrMapping/>
  </p:clrMapOvr>
  <p:timing/>
</p:sld>
</file>

<file path=ppt/theme/theme1.xml><?xml version="1.0" encoding="utf-8"?>
<a:theme xmlns:a="http://schemas.openxmlformats.org/drawingml/2006/main" name="Office Theme">
  <a:themeElements>
    <a:clrScheme name="Tema de 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Tema de Offic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ACER</cp:lastModifiedBy>
  <dcterms:created xsi:type="dcterms:W3CDTF">2026-10-05T16:56:15Z</dcterms:created>
  <dcterms:modified xsi:type="dcterms:W3CDTF">2026-10-05T16:50:26Z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22bb273d27c640dcb767f6ad80523d51_23</vt:lpwstr>
  </property>
</Properties>
</file>